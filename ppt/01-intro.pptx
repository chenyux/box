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5875">
              <a:lnSpc>
                <a:spcPts val="9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5875">
              <a:lnSpc>
                <a:spcPts val="9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5875">
              <a:lnSpc>
                <a:spcPts val="9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5875">
              <a:lnSpc>
                <a:spcPts val="9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5875">
              <a:lnSpc>
                <a:spcPts val="9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8108" y="1348740"/>
            <a:ext cx="8079105" cy="1491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5671" y="1805940"/>
            <a:ext cx="8312657" cy="4649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4227" y="6723724"/>
            <a:ext cx="353059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673615" y="6723724"/>
            <a:ext cx="3065779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11760" y="6723724"/>
            <a:ext cx="16129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5875">
              <a:lnSpc>
                <a:spcPts val="9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10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hyperlink" Target="http://cs224w.stanford.edu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hyperlink" Target="http://piazza.com/stanford/win2021/cs224w" TargetMode="External"/><Relationship Id="rId4" Type="http://schemas.openxmlformats.org/officeDocument/2006/relationships/hyperlink" Target="mailto:cs224w-win2021-staff@lists.stanford.edu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hyperlink" Target="http://cs224w.stanford.edu/info.html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26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Relationship Id="rId8" Type="http://schemas.openxmlformats.org/officeDocument/2006/relationships/image" Target="../media/image40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42.jpg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pn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53.jp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png"/><Relationship Id="rId3" Type="http://schemas.openxmlformats.org/officeDocument/2006/relationships/image" Target="../media/image59.jpg"/><Relationship Id="rId4" Type="http://schemas.openxmlformats.org/officeDocument/2006/relationships/image" Target="../media/image60.png"/><Relationship Id="rId5" Type="http://schemas.openxmlformats.org/officeDocument/2006/relationships/image" Target="../media/image61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.png"/><Relationship Id="rId3" Type="http://schemas.openxmlformats.org/officeDocument/2006/relationships/image" Target="../media/image68.jpg"/><Relationship Id="rId4" Type="http://schemas.openxmlformats.org/officeDocument/2006/relationships/image" Target="../media/image69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0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4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78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9.png"/><Relationship Id="rId3" Type="http://schemas.openxmlformats.org/officeDocument/2006/relationships/image" Target="../media/image80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7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jpg"/><Relationship Id="rId3" Type="http://schemas.openxmlformats.org/officeDocument/2006/relationships/image" Target="../media/image89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.png"/><Relationship Id="rId3" Type="http://schemas.openxmlformats.org/officeDocument/2006/relationships/image" Target="../media/image91.jpg"/><Relationship Id="rId4" Type="http://schemas.openxmlformats.org/officeDocument/2006/relationships/image" Target="../media/image92.jpg"/><Relationship Id="rId5" Type="http://schemas.openxmlformats.org/officeDocument/2006/relationships/image" Target="../media/image93.jpg"/><Relationship Id="rId6" Type="http://schemas.openxmlformats.org/officeDocument/2006/relationships/image" Target="../media/image94.png"/><Relationship Id="rId7" Type="http://schemas.openxmlformats.org/officeDocument/2006/relationships/image" Target="../media/image95.jpg"/><Relationship Id="rId8" Type="http://schemas.openxmlformats.org/officeDocument/2006/relationships/image" Target="../media/image96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9.png"/><Relationship Id="rId3" Type="http://schemas.openxmlformats.org/officeDocument/2006/relationships/image" Target="../media/image100.png"/><Relationship Id="rId4" Type="http://schemas.openxmlformats.org/officeDocument/2006/relationships/image" Target="../media/image101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Relationship Id="rId3" Type="http://schemas.openxmlformats.org/officeDocument/2006/relationships/image" Target="../media/image103.jpg"/><Relationship Id="rId4" Type="http://schemas.openxmlformats.org/officeDocument/2006/relationships/image" Target="../media/image104.jpg"/><Relationship Id="rId5" Type="http://schemas.openxmlformats.org/officeDocument/2006/relationships/image" Target="../media/image105.jpg"/><Relationship Id="rId6" Type="http://schemas.openxmlformats.org/officeDocument/2006/relationships/image" Target="../media/image106.jpg"/><Relationship Id="rId7" Type="http://schemas.openxmlformats.org/officeDocument/2006/relationships/image" Target="../media/image107.png"/><Relationship Id="rId8" Type="http://schemas.openxmlformats.org/officeDocument/2006/relationships/image" Target="../media/image108.png"/><Relationship Id="rId9" Type="http://schemas.openxmlformats.org/officeDocument/2006/relationships/image" Target="../media/image109.png"/><Relationship Id="rId10" Type="http://schemas.openxmlformats.org/officeDocument/2006/relationships/image" Target="../media/image110.png"/><Relationship Id="rId11" Type="http://schemas.openxmlformats.org/officeDocument/2006/relationships/image" Target="../media/image111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2.jpg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5" Type="http://schemas.openxmlformats.org/officeDocument/2006/relationships/image" Target="../media/image115.jpg"/><Relationship Id="rId6" Type="http://schemas.openxmlformats.org/officeDocument/2006/relationships/image" Target="../media/image116.jpg"/><Relationship Id="rId7" Type="http://schemas.openxmlformats.org/officeDocument/2006/relationships/image" Target="../media/image117.jpg"/><Relationship Id="rId8" Type="http://schemas.openxmlformats.org/officeDocument/2006/relationships/image" Target="../media/image118.jpg"/><Relationship Id="rId9" Type="http://schemas.openxmlformats.org/officeDocument/2006/relationships/image" Target="../media/image119.jpg"/><Relationship Id="rId10" Type="http://schemas.openxmlformats.org/officeDocument/2006/relationships/image" Target="../media/image120.jp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5.png"/><Relationship Id="rId3" Type="http://schemas.openxmlformats.org/officeDocument/2006/relationships/image" Target="../media/image126.jpg"/><Relationship Id="rId4" Type="http://schemas.openxmlformats.org/officeDocument/2006/relationships/image" Target="../media/image127.jp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0.jp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3" Type="http://schemas.openxmlformats.org/officeDocument/2006/relationships/image" Target="../media/image137.jp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8.jpg"/><Relationship Id="rId3" Type="http://schemas.openxmlformats.org/officeDocument/2006/relationships/image" Target="../media/image139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Relationship Id="rId4" Type="http://schemas.openxmlformats.org/officeDocument/2006/relationships/image" Target="../media/image142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3.jpg"/><Relationship Id="rId3" Type="http://schemas.openxmlformats.org/officeDocument/2006/relationships/image" Target="../media/image144.png"/><Relationship Id="rId4" Type="http://schemas.openxmlformats.org/officeDocument/2006/relationships/image" Target="../media/image145.jp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6.png"/><Relationship Id="rId3" Type="http://schemas.openxmlformats.org/officeDocument/2006/relationships/image" Target="../media/image147.jp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8.png"/><Relationship Id="rId3" Type="http://schemas.openxmlformats.org/officeDocument/2006/relationships/image" Target="../media/image149.jpg"/><Relationship Id="rId4" Type="http://schemas.openxmlformats.org/officeDocument/2006/relationships/image" Target="../media/image150.jpg"/><Relationship Id="rId5" Type="http://schemas.openxmlformats.org/officeDocument/2006/relationships/image" Target="../media/image151.jpg"/><Relationship Id="rId6" Type="http://schemas.openxmlformats.org/officeDocument/2006/relationships/image" Target="../media/image152.jp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3.png"/><Relationship Id="rId3" Type="http://schemas.openxmlformats.org/officeDocument/2006/relationships/image" Target="../media/image154.jpg"/><Relationship Id="rId4" Type="http://schemas.openxmlformats.org/officeDocument/2006/relationships/image" Target="../media/image155.jpg"/><Relationship Id="rId5" Type="http://schemas.openxmlformats.org/officeDocument/2006/relationships/image" Target="../media/image156.jpg"/><Relationship Id="rId6" Type="http://schemas.openxmlformats.org/officeDocument/2006/relationships/image" Target="../media/image157.jpg"/><Relationship Id="rId7" Type="http://schemas.openxmlformats.org/officeDocument/2006/relationships/image" Target="../media/image158.jpg"/><Relationship Id="rId8" Type="http://schemas.openxmlformats.org/officeDocument/2006/relationships/image" Target="../media/image159.jp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161.jp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2.png"/><Relationship Id="rId3" Type="http://schemas.openxmlformats.org/officeDocument/2006/relationships/image" Target="../media/image163.png"/><Relationship Id="rId4" Type="http://schemas.openxmlformats.org/officeDocument/2006/relationships/image" Target="../media/image16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165.jp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6.png"/><Relationship Id="rId3" Type="http://schemas.openxmlformats.org/officeDocument/2006/relationships/image" Target="../media/image167.png"/><Relationship Id="rId4" Type="http://schemas.openxmlformats.org/officeDocument/2006/relationships/image" Target="../media/image168.png"/><Relationship Id="rId5" Type="http://schemas.openxmlformats.org/officeDocument/2006/relationships/image" Target="../media/image169.png"/><Relationship Id="rId6" Type="http://schemas.openxmlformats.org/officeDocument/2006/relationships/image" Target="../media/image170.png"/><Relationship Id="rId7" Type="http://schemas.openxmlformats.org/officeDocument/2006/relationships/image" Target="../media/image171.png"/><Relationship Id="rId8" Type="http://schemas.openxmlformats.org/officeDocument/2006/relationships/image" Target="../media/image172.png"/><Relationship Id="rId9" Type="http://schemas.openxmlformats.org/officeDocument/2006/relationships/image" Target="../media/image173.png"/><Relationship Id="rId10" Type="http://schemas.openxmlformats.org/officeDocument/2006/relationships/image" Target="../media/image174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Relationship Id="rId4" Type="http://schemas.openxmlformats.org/officeDocument/2006/relationships/image" Target="../media/image177.png"/><Relationship Id="rId5" Type="http://schemas.openxmlformats.org/officeDocument/2006/relationships/image" Target="../media/image178.png"/><Relationship Id="rId6" Type="http://schemas.openxmlformats.org/officeDocument/2006/relationships/image" Target="../media/image179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0.png"/><Relationship Id="rId3" Type="http://schemas.openxmlformats.org/officeDocument/2006/relationships/image" Target="../media/image181.jpg"/><Relationship Id="rId4" Type="http://schemas.openxmlformats.org/officeDocument/2006/relationships/image" Target="../media/image182.png"/><Relationship Id="rId5" Type="http://schemas.openxmlformats.org/officeDocument/2006/relationships/image" Target="../media/image183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4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5.png"/><Relationship Id="rId3" Type="http://schemas.openxmlformats.org/officeDocument/2006/relationships/image" Target="../media/image186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7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8.png"/><Relationship Id="rId3" Type="http://schemas.openxmlformats.org/officeDocument/2006/relationships/image" Target="../media/image189.png"/><Relationship Id="rId4" Type="http://schemas.openxmlformats.org/officeDocument/2006/relationships/image" Target="../media/image190.png"/><Relationship Id="rId5" Type="http://schemas.openxmlformats.org/officeDocument/2006/relationships/image" Target="../media/image191.png"/><Relationship Id="rId6" Type="http://schemas.openxmlformats.org/officeDocument/2006/relationships/image" Target="../media/image192.png"/><Relationship Id="rId7" Type="http://schemas.openxmlformats.org/officeDocument/2006/relationships/image" Target="../media/image193.png"/><Relationship Id="rId8" Type="http://schemas.openxmlformats.org/officeDocument/2006/relationships/image" Target="../media/image194.png"/><Relationship Id="rId9" Type="http://schemas.openxmlformats.org/officeDocument/2006/relationships/image" Target="../media/image195.png"/><Relationship Id="rId10" Type="http://schemas.openxmlformats.org/officeDocument/2006/relationships/image" Target="../media/image196.png"/><Relationship Id="rId11" Type="http://schemas.openxmlformats.org/officeDocument/2006/relationships/image" Target="../media/image197.png"/><Relationship Id="rId12" Type="http://schemas.openxmlformats.org/officeDocument/2006/relationships/image" Target="../media/image198.png"/><Relationship Id="rId13" Type="http://schemas.openxmlformats.org/officeDocument/2006/relationships/image" Target="../media/image199.png"/><Relationship Id="rId14" Type="http://schemas.openxmlformats.org/officeDocument/2006/relationships/image" Target="../media/image200.png"/><Relationship Id="rId15" Type="http://schemas.openxmlformats.org/officeDocument/2006/relationships/image" Target="../media/image201.png"/><Relationship Id="rId16" Type="http://schemas.openxmlformats.org/officeDocument/2006/relationships/image" Target="../media/image202.pn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3.png"/><Relationship Id="rId3" Type="http://schemas.openxmlformats.org/officeDocument/2006/relationships/image" Target="../media/image204.png"/><Relationship Id="rId4" Type="http://schemas.openxmlformats.org/officeDocument/2006/relationships/image" Target="../media/image205.png"/><Relationship Id="rId5" Type="http://schemas.openxmlformats.org/officeDocument/2006/relationships/image" Target="../media/image206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7.png"/><Relationship Id="rId3" Type="http://schemas.openxmlformats.org/officeDocument/2006/relationships/image" Target="../media/image208.png"/><Relationship Id="rId4" Type="http://schemas.openxmlformats.org/officeDocument/2006/relationships/image" Target="../media/image209.png"/><Relationship Id="rId5" Type="http://schemas.openxmlformats.org/officeDocument/2006/relationships/image" Target="../media/image210.png"/><Relationship Id="rId6" Type="http://schemas.openxmlformats.org/officeDocument/2006/relationships/image" Target="../media/image211.png"/><Relationship Id="rId7" Type="http://schemas.openxmlformats.org/officeDocument/2006/relationships/image" Target="../media/image212.png"/><Relationship Id="rId8" Type="http://schemas.openxmlformats.org/officeDocument/2006/relationships/image" Target="../media/image213.png"/><Relationship Id="rId9" Type="http://schemas.openxmlformats.org/officeDocument/2006/relationships/image" Target="../media/image214.png"/><Relationship Id="rId10" Type="http://schemas.openxmlformats.org/officeDocument/2006/relationships/image" Target="../media/image215.pn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6.png"/><Relationship Id="rId3" Type="http://schemas.openxmlformats.org/officeDocument/2006/relationships/image" Target="../media/image217.png"/><Relationship Id="rId4" Type="http://schemas.openxmlformats.org/officeDocument/2006/relationships/image" Target="../media/image218.png"/><Relationship Id="rId5" Type="http://schemas.openxmlformats.org/officeDocument/2006/relationships/image" Target="../media/image219.png"/><Relationship Id="rId6" Type="http://schemas.openxmlformats.org/officeDocument/2006/relationships/image" Target="../media/image220.png"/><Relationship Id="rId7" Type="http://schemas.openxmlformats.org/officeDocument/2006/relationships/image" Target="../media/image221.png"/><Relationship Id="rId8" Type="http://schemas.openxmlformats.org/officeDocument/2006/relationships/image" Target="../media/image222.png"/><Relationship Id="rId9" Type="http://schemas.openxmlformats.org/officeDocument/2006/relationships/image" Target="../media/image223.png"/><Relationship Id="rId10" Type="http://schemas.openxmlformats.org/officeDocument/2006/relationships/image" Target="../media/image224.png"/><Relationship Id="rId11" Type="http://schemas.openxmlformats.org/officeDocument/2006/relationships/image" Target="../media/image225.png"/><Relationship Id="rId12" Type="http://schemas.openxmlformats.org/officeDocument/2006/relationships/image" Target="../media/image226.png"/><Relationship Id="rId13" Type="http://schemas.openxmlformats.org/officeDocument/2006/relationships/image" Target="../media/image227.png"/><Relationship Id="rId14" Type="http://schemas.openxmlformats.org/officeDocument/2006/relationships/image" Target="../media/image228.png"/><Relationship Id="rId15" Type="http://schemas.openxmlformats.org/officeDocument/2006/relationships/image" Target="../media/image229.png"/><Relationship Id="rId16" Type="http://schemas.openxmlformats.org/officeDocument/2006/relationships/image" Target="../media/image230.png"/><Relationship Id="rId17" Type="http://schemas.openxmlformats.org/officeDocument/2006/relationships/image" Target="../media/image231.png"/><Relationship Id="rId18" Type="http://schemas.openxmlformats.org/officeDocument/2006/relationships/image" Target="../media/image232.pn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3.png"/><Relationship Id="rId3" Type="http://schemas.openxmlformats.org/officeDocument/2006/relationships/image" Target="../media/image234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5.png"/><Relationship Id="rId3" Type="http://schemas.openxmlformats.org/officeDocument/2006/relationships/image" Target="../media/image236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7.png"/><Relationship Id="rId3" Type="http://schemas.openxmlformats.org/officeDocument/2006/relationships/image" Target="../media/image238.png"/><Relationship Id="rId4" Type="http://schemas.openxmlformats.org/officeDocument/2006/relationships/image" Target="../media/image239.png"/><Relationship Id="rId5" Type="http://schemas.openxmlformats.org/officeDocument/2006/relationships/image" Target="../media/image240.png"/><Relationship Id="rId6" Type="http://schemas.openxmlformats.org/officeDocument/2006/relationships/image" Target="../media/image241.png"/><Relationship Id="rId7" Type="http://schemas.openxmlformats.org/officeDocument/2006/relationships/image" Target="../media/image242.png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Relationship Id="rId4" Type="http://schemas.openxmlformats.org/officeDocument/2006/relationships/image" Target="../media/image245.png"/><Relationship Id="rId5" Type="http://schemas.openxmlformats.org/officeDocument/2006/relationships/image" Target="../media/image246.png"/><Relationship Id="rId6" Type="http://schemas.openxmlformats.org/officeDocument/2006/relationships/image" Target="../media/image247.png"/><Relationship Id="rId7" Type="http://schemas.openxmlformats.org/officeDocument/2006/relationships/image" Target="../media/image248.png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9.png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0.png"/><Relationship Id="rId3" Type="http://schemas.openxmlformats.org/officeDocument/2006/relationships/image" Target="../media/image251.png"/><Relationship Id="rId4" Type="http://schemas.openxmlformats.org/officeDocument/2006/relationships/image" Target="../media/image252.png"/><Relationship Id="rId5" Type="http://schemas.openxmlformats.org/officeDocument/2006/relationships/image" Target="../media/image253.png"/><Relationship Id="rId6" Type="http://schemas.openxmlformats.org/officeDocument/2006/relationships/image" Target="../media/image254.png"/><Relationship Id="rId7" Type="http://schemas.openxmlformats.org/officeDocument/2006/relationships/image" Target="../media/image255.png"/><Relationship Id="rId8" Type="http://schemas.openxmlformats.org/officeDocument/2006/relationships/image" Target="../media/image256.png"/><Relationship Id="rId9" Type="http://schemas.openxmlformats.org/officeDocument/2006/relationships/image" Target="../media/image257.png"/><Relationship Id="rId10" Type="http://schemas.openxmlformats.org/officeDocument/2006/relationships/image" Target="../media/image258.pn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9.png"/><Relationship Id="rId3" Type="http://schemas.openxmlformats.org/officeDocument/2006/relationships/image" Target="../media/image260.png"/><Relationship Id="rId4" Type="http://schemas.openxmlformats.org/officeDocument/2006/relationships/image" Target="../media/image261.png"/><Relationship Id="rId5" Type="http://schemas.openxmlformats.org/officeDocument/2006/relationships/image" Target="../media/image262.png"/><Relationship Id="rId6" Type="http://schemas.openxmlformats.org/officeDocument/2006/relationships/image" Target="../media/image263.png"/><Relationship Id="rId7" Type="http://schemas.openxmlformats.org/officeDocument/2006/relationships/image" Target="../media/image264.png"/><Relationship Id="rId8" Type="http://schemas.openxmlformats.org/officeDocument/2006/relationships/image" Target="../media/image265.png"/><Relationship Id="rId9" Type="http://schemas.openxmlformats.org/officeDocument/2006/relationships/image" Target="../media/image266.png"/><Relationship Id="rId10" Type="http://schemas.openxmlformats.org/officeDocument/2006/relationships/image" Target="../media/image267.png"/><Relationship Id="rId11" Type="http://schemas.openxmlformats.org/officeDocument/2006/relationships/image" Target="../media/image268.png"/><Relationship Id="rId12" Type="http://schemas.openxmlformats.org/officeDocument/2006/relationships/image" Target="../media/image269.png"/><Relationship Id="rId13" Type="http://schemas.openxmlformats.org/officeDocument/2006/relationships/image" Target="../media/image270.png"/><Relationship Id="rId14" Type="http://schemas.openxmlformats.org/officeDocument/2006/relationships/image" Target="../media/image271.png"/><Relationship Id="rId15" Type="http://schemas.openxmlformats.org/officeDocument/2006/relationships/image" Target="../media/image272.png"/><Relationship Id="rId16" Type="http://schemas.openxmlformats.org/officeDocument/2006/relationships/image" Target="../media/image273.png"/><Relationship Id="rId17" Type="http://schemas.openxmlformats.org/officeDocument/2006/relationships/image" Target="../media/image274.png"/><Relationship Id="rId18" Type="http://schemas.openxmlformats.org/officeDocument/2006/relationships/image" Target="../media/image275.png"/><Relationship Id="rId19" Type="http://schemas.openxmlformats.org/officeDocument/2006/relationships/image" Target="../media/image276.png"/><Relationship Id="rId20" Type="http://schemas.openxmlformats.org/officeDocument/2006/relationships/image" Target="../media/image277.png"/><Relationship Id="rId21" Type="http://schemas.openxmlformats.org/officeDocument/2006/relationships/image" Target="../media/image278.png"/><Relationship Id="rId22" Type="http://schemas.openxmlformats.org/officeDocument/2006/relationships/image" Target="../media/image279.png"/><Relationship Id="rId23" Type="http://schemas.openxmlformats.org/officeDocument/2006/relationships/image" Target="../media/image280.png"/><Relationship Id="rId24" Type="http://schemas.openxmlformats.org/officeDocument/2006/relationships/image" Target="../media/image281.png"/><Relationship Id="rId25" Type="http://schemas.openxmlformats.org/officeDocument/2006/relationships/image" Target="../media/image282.png"/><Relationship Id="rId26" Type="http://schemas.openxmlformats.org/officeDocument/2006/relationships/image" Target="../media/image283.png"/><Relationship Id="rId27" Type="http://schemas.openxmlformats.org/officeDocument/2006/relationships/image" Target="../media/image284.png"/><Relationship Id="rId28" Type="http://schemas.openxmlformats.org/officeDocument/2006/relationships/image" Target="../media/image285.png"/><Relationship Id="rId29" Type="http://schemas.openxmlformats.org/officeDocument/2006/relationships/image" Target="../media/image286.png"/><Relationship Id="rId30" Type="http://schemas.openxmlformats.org/officeDocument/2006/relationships/image" Target="../media/image287.pn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8.png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9.png"/><Relationship Id="rId3" Type="http://schemas.openxmlformats.org/officeDocument/2006/relationships/image" Target="../media/image290.png"/><Relationship Id="rId4" Type="http://schemas.openxmlformats.org/officeDocument/2006/relationships/image" Target="../media/image291.png"/><Relationship Id="rId5" Type="http://schemas.openxmlformats.org/officeDocument/2006/relationships/image" Target="../media/image292.png"/><Relationship Id="rId6" Type="http://schemas.openxmlformats.org/officeDocument/2006/relationships/image" Target="../media/image293.png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4.png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5.png"/><Relationship Id="rId3" Type="http://schemas.openxmlformats.org/officeDocument/2006/relationships/image" Target="../media/image296.png"/><Relationship Id="rId4" Type="http://schemas.openxmlformats.org/officeDocument/2006/relationships/image" Target="../media/image297.png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8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3270503"/>
            <a:ext cx="7757159" cy="13136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0960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6160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0000"/>
                </a:solidFill>
                <a:latin typeface="Calibri"/>
                <a:cs typeface="Calibri"/>
              </a:rPr>
              <a:t>The class </a:t>
            </a:r>
            <a:r>
              <a:rPr dirty="0" sz="3200" spc="-10" b="1">
                <a:solidFill>
                  <a:srgbClr val="000000"/>
                </a:solidFill>
                <a:latin typeface="Calibri"/>
                <a:cs typeface="Calibri"/>
              </a:rPr>
              <a:t>meets </a:t>
            </a:r>
            <a:r>
              <a:rPr dirty="0" sz="3200" spc="-60" b="1">
                <a:solidFill>
                  <a:srgbClr val="000000"/>
                </a:solidFill>
                <a:latin typeface="Calibri"/>
                <a:cs typeface="Calibri"/>
              </a:rPr>
              <a:t>Tue </a:t>
            </a:r>
            <a:r>
              <a:rPr dirty="0" sz="3200" spc="-5" b="1">
                <a:solidFill>
                  <a:srgbClr val="000000"/>
                </a:solidFill>
                <a:latin typeface="Calibri"/>
                <a:cs typeface="Calibri"/>
              </a:rPr>
              <a:t>and Thu 10:30-11:50am  </a:t>
            </a:r>
            <a:r>
              <a:rPr dirty="0" sz="3200" spc="-15" b="1">
                <a:solidFill>
                  <a:srgbClr val="000000"/>
                </a:solidFill>
                <a:latin typeface="Calibri"/>
                <a:cs typeface="Calibri"/>
              </a:rPr>
              <a:t>Pacific </a:t>
            </a:r>
            <a:r>
              <a:rPr dirty="0" sz="3200" spc="-5" b="1">
                <a:solidFill>
                  <a:srgbClr val="000000"/>
                </a:solidFill>
                <a:latin typeface="Calibri"/>
                <a:cs typeface="Calibri"/>
              </a:rPr>
              <a:t>Time </a:t>
            </a:r>
            <a:r>
              <a:rPr dirty="0" sz="3200" b="1">
                <a:solidFill>
                  <a:srgbClr val="000000"/>
                </a:solidFill>
                <a:latin typeface="Calibri"/>
                <a:cs typeface="Calibri"/>
              </a:rPr>
              <a:t>on</a:t>
            </a:r>
            <a:r>
              <a:rPr dirty="0" sz="32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0000"/>
                </a:solidFill>
                <a:latin typeface="Calibri"/>
                <a:cs typeface="Calibri"/>
              </a:rPr>
              <a:t>Zoom.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414523"/>
            <a:ext cx="7880984" cy="290322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625475" marR="5080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Videos of the </a:t>
            </a:r>
            <a:r>
              <a:rPr dirty="0" sz="2800" spc="-10">
                <a:latin typeface="Calibri"/>
                <a:cs typeface="Calibri"/>
              </a:rPr>
              <a:t>lectures will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20">
                <a:latin typeface="Calibri"/>
                <a:cs typeface="Calibri"/>
              </a:rPr>
              <a:t>recorded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10">
                <a:latin typeface="Calibri"/>
                <a:cs typeface="Calibri"/>
              </a:rPr>
              <a:t>posted  </a:t>
            </a:r>
            <a:r>
              <a:rPr dirty="0" sz="2800" spc="-5">
                <a:latin typeface="Calibri"/>
                <a:cs typeface="Calibri"/>
              </a:rPr>
              <a:t>on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Canvas.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7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Structure </a:t>
            </a:r>
            <a:r>
              <a:rPr dirty="0" sz="3200" b="1">
                <a:latin typeface="Calibri"/>
                <a:cs typeface="Calibri"/>
              </a:rPr>
              <a:t>of</a:t>
            </a:r>
            <a:r>
              <a:rPr dirty="0" sz="3200" spc="-2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lectures: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60 </a:t>
            </a:r>
            <a:r>
              <a:rPr dirty="0" sz="2800" spc="-10">
                <a:latin typeface="Calibri"/>
                <a:cs typeface="Calibri"/>
              </a:rPr>
              <a:t>minutes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20">
                <a:latin typeface="Calibri"/>
                <a:cs typeface="Calibri"/>
              </a:rPr>
              <a:t>prerecorded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lecture.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During this time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will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5">
                <a:latin typeface="Calibri"/>
                <a:cs typeface="Calibri"/>
              </a:rPr>
              <a:t>using </a:t>
            </a:r>
            <a:r>
              <a:rPr dirty="0" sz="2800" spc="-15">
                <a:latin typeface="Calibri"/>
                <a:cs typeface="Calibri"/>
              </a:rPr>
              <a:t>Piazza </a:t>
            </a:r>
            <a:r>
              <a:rPr dirty="0" sz="2800" spc="-10">
                <a:latin typeface="Calibri"/>
                <a:cs typeface="Calibri"/>
              </a:rPr>
              <a:t>Live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Q&amp;A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20 </a:t>
            </a:r>
            <a:r>
              <a:rPr dirty="0" sz="2800" spc="-10">
                <a:latin typeface="Calibri"/>
                <a:cs typeface="Calibri"/>
              </a:rPr>
              <a:t>minutes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live </a:t>
            </a:r>
            <a:r>
              <a:rPr dirty="0" sz="2800">
                <a:latin typeface="Calibri"/>
                <a:cs typeface="Calibri"/>
              </a:rPr>
              <a:t>Q&amp;A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session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3530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1/13/21</a:t>
            </a:r>
            <a:endParaRPr sz="9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30657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Jure Leskovec, Stanford CS224W: Machine Learning with</a:t>
            </a:r>
            <a:r>
              <a:rPr dirty="0" sz="900" spc="5">
                <a:solidFill>
                  <a:srgbClr val="3F3F3F"/>
                </a:solidFill>
                <a:latin typeface="Corbel"/>
                <a:cs typeface="Corbe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Graphs</a:t>
            </a:r>
            <a:endParaRPr sz="9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83197" y="6694423"/>
            <a:ext cx="768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1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8576" y="3270503"/>
            <a:ext cx="4626864" cy="13136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4424"/>
            <a:ext cx="5952744" cy="5608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2940" y="1570399"/>
            <a:ext cx="8941866" cy="40011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60972" y="6723724"/>
            <a:ext cx="11176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67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3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359664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72702" y="1318661"/>
          <a:ext cx="7910830" cy="5167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2506"/>
                <a:gridCol w="2774881"/>
                <a:gridCol w="1452164"/>
                <a:gridCol w="2290854"/>
              </a:tblGrid>
              <a:tr h="355600">
                <a:tc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Date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152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000" spc="-3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Topic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152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480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Date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152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000" spc="-3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Topic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15240">
                    <a:solidFill>
                      <a:srgbClr val="000000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r" marR="20256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Jan</a:t>
                      </a:r>
                      <a:r>
                        <a:rPr dirty="0" sz="14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255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1770" marR="274955">
                        <a:lnSpc>
                          <a:spcPct val="101400"/>
                        </a:lnSpc>
                        <a:spcBef>
                          <a:spcPts val="100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Introduction; Machine Learning  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400" spc="-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Graphs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70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4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2555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3040" marR="144780">
                        <a:lnSpc>
                          <a:spcPct val="101400"/>
                        </a:lnSpc>
                        <a:spcBef>
                          <a:spcPts val="100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Reasoning over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Knowledge 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Graphs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700">
                    <a:solidFill>
                      <a:srgbClr val="E7E7E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r" marR="19431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Jan</a:t>
                      </a:r>
                      <a:r>
                        <a:rPr dirty="0" sz="1400" spc="-1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1770" marR="354965">
                        <a:lnSpc>
                          <a:spcPct val="101400"/>
                        </a:lnSpc>
                        <a:spcBef>
                          <a:spcPts val="110"/>
                        </a:spcBef>
                      </a:pPr>
                      <a:r>
                        <a:rPr dirty="0" sz="1400" spc="-15">
                          <a:latin typeface="Calibri"/>
                          <a:cs typeface="Calibri"/>
                        </a:rPr>
                        <a:t>Traditional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Methods 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ML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on  Graphs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400" spc="-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3040" marR="163195">
                        <a:lnSpc>
                          <a:spcPct val="101400"/>
                        </a:lnSpc>
                        <a:spcBef>
                          <a:spcPts val="110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Frequent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Subgraph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Mining 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GNNs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r" marR="20256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Jan</a:t>
                      </a:r>
                      <a:r>
                        <a:rPr dirty="0" sz="14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Node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Embeddings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4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3040" marR="360045">
                        <a:lnSpc>
                          <a:spcPct val="101400"/>
                        </a:lnSpc>
                        <a:spcBef>
                          <a:spcPts val="95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Community Structure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in 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Networks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solidFill>
                      <a:srgbClr val="E7E7E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r" marR="19431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Jan</a:t>
                      </a:r>
                      <a:r>
                        <a:rPr dirty="0" sz="1400" spc="-1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Link Analysis: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PageRank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400" spc="-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3040" marR="483870">
                        <a:lnSpc>
                          <a:spcPct val="101400"/>
                        </a:lnSpc>
                        <a:spcBef>
                          <a:spcPts val="110"/>
                        </a:spcBef>
                      </a:pPr>
                      <a:r>
                        <a:rPr dirty="0" sz="1400" spc="-15">
                          <a:latin typeface="Calibri"/>
                          <a:cs typeface="Calibri"/>
                        </a:rPr>
                        <a:t>Traditional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Generative 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Models 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4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Graphs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r" marR="20256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Jan</a:t>
                      </a:r>
                      <a:r>
                        <a:rPr dirty="0" sz="14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1770" marR="579120">
                        <a:lnSpc>
                          <a:spcPct val="101400"/>
                        </a:lnSpc>
                        <a:spcBef>
                          <a:spcPts val="110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Label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Propagation 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Node  Classification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Mar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3040" marR="47625">
                        <a:lnSpc>
                          <a:spcPct val="101400"/>
                        </a:lnSpc>
                        <a:spcBef>
                          <a:spcPts val="11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Deep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Generative Models</a:t>
                      </a:r>
                      <a:r>
                        <a:rPr dirty="0"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for 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Graphs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r" marR="19431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Jan</a:t>
                      </a:r>
                      <a:r>
                        <a:rPr dirty="0" sz="1400" spc="-1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1770" marR="299085">
                        <a:lnSpc>
                          <a:spcPct val="101400"/>
                        </a:lnSpc>
                        <a:spcBef>
                          <a:spcPts val="110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Graph Neural Networks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1: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GNN 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Model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Mar</a:t>
                      </a:r>
                      <a:r>
                        <a:rPr dirty="0" sz="1400" spc="-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Scaling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Up</a:t>
                      </a:r>
                      <a:r>
                        <a:rPr dirty="0"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GNNs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r" marR="23749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4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1770" marR="153670">
                        <a:lnSpc>
                          <a:spcPct val="101400"/>
                        </a:lnSpc>
                        <a:spcBef>
                          <a:spcPts val="95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Graph Neural Networks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2: Design 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Space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Mar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3040" marR="570865">
                        <a:lnSpc>
                          <a:spcPct val="101400"/>
                        </a:lnSpc>
                        <a:spcBef>
                          <a:spcPts val="95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Learning on Dynamic  Graphs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solidFill>
                      <a:srgbClr val="E7E7E7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r" marR="22923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400" spc="-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1770" marR="474980">
                        <a:lnSpc>
                          <a:spcPct val="101400"/>
                        </a:lnSpc>
                        <a:spcBef>
                          <a:spcPts val="110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Applications of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Graph Neural  Networks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Mar</a:t>
                      </a:r>
                      <a:r>
                        <a:rPr dirty="0" sz="1400" spc="-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3040" marR="318135">
                        <a:lnSpc>
                          <a:spcPct val="101400"/>
                        </a:lnSpc>
                        <a:spcBef>
                          <a:spcPts val="110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GNNs 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Computational  Biology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r" marR="23749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4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Theory of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Graph Neural</a:t>
                      </a:r>
                      <a:r>
                        <a:rPr dirty="0" sz="14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Networks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568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Mar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GNNs 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Science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solidFill>
                      <a:srgbClr val="E7E7E7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r" marR="184150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400" spc="-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081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Knowledge Graph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Embeddings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0815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Mar</a:t>
                      </a:r>
                      <a:r>
                        <a:rPr dirty="0" sz="1400" spc="-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0815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3040" marR="289560">
                        <a:lnSpc>
                          <a:spcPct val="101400"/>
                        </a:lnSpc>
                        <a:spcBef>
                          <a:spcPts val="480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Industrial Applications of  GNNs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60972" y="6723724"/>
            <a:ext cx="11176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67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4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38302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0018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5" b="1" u="heavy">
                <a:solidFill>
                  <a:srgbClr val="168BBA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0972" y="6723724"/>
            <a:ext cx="11176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67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5</a:t>
            </a:r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920747"/>
            <a:ext cx="7007225" cy="3905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Slides </a:t>
            </a:r>
            <a:r>
              <a:rPr dirty="0" sz="2800" spc="-15">
                <a:latin typeface="Calibri"/>
                <a:cs typeface="Calibri"/>
              </a:rPr>
              <a:t>posted </a:t>
            </a:r>
            <a:r>
              <a:rPr dirty="0" sz="2800" spc="-25">
                <a:latin typeface="Calibri"/>
                <a:cs typeface="Calibri"/>
              </a:rPr>
              <a:t>before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class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Readings: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ct val="101400"/>
              </a:lnSpc>
              <a:spcBef>
                <a:spcPts val="6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 u="heavy">
                <a:solidFill>
                  <a:srgbClr val="168BBA"/>
                </a:solidFill>
                <a:latin typeface="Calibri"/>
                <a:cs typeface="Calibri"/>
              </a:rPr>
              <a:t>Graph </a:t>
            </a:r>
            <a:r>
              <a:rPr dirty="0" sz="2800" spc="-20" u="heavy">
                <a:solidFill>
                  <a:srgbClr val="168BBA"/>
                </a:solidFill>
                <a:latin typeface="Calibri"/>
                <a:cs typeface="Calibri"/>
              </a:rPr>
              <a:t>Representation </a:t>
            </a:r>
            <a:r>
              <a:rPr dirty="0" sz="2800" spc="-5" u="heavy">
                <a:solidFill>
                  <a:srgbClr val="168BBA"/>
                </a:solidFill>
                <a:latin typeface="Calibri"/>
                <a:cs typeface="Calibri"/>
              </a:rPr>
              <a:t>Learning Book</a:t>
            </a:r>
            <a:r>
              <a:rPr dirty="0" sz="2800" spc="-5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by </a:t>
            </a:r>
            <a:r>
              <a:rPr dirty="0" sz="2800" spc="-160">
                <a:latin typeface="Calibri"/>
                <a:cs typeface="Calibri"/>
              </a:rPr>
              <a:t>Will  </a:t>
            </a:r>
            <a:r>
              <a:rPr dirty="0" sz="2800" spc="-10">
                <a:latin typeface="Calibri"/>
                <a:cs typeface="Calibri"/>
              </a:rPr>
              <a:t>Hamilton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ts val="3329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Research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papers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Optional</a:t>
            </a:r>
            <a:r>
              <a:rPr dirty="0" sz="3200" spc="-6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readings: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5">
                <a:latin typeface="Calibri"/>
                <a:cs typeface="Calibri"/>
              </a:rPr>
              <a:t>Papers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20">
                <a:latin typeface="Calibri"/>
                <a:cs typeface="Calibri"/>
              </a:rPr>
              <a:t>pointers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additional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literature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This will be very </a:t>
            </a:r>
            <a:r>
              <a:rPr dirty="0" sz="2800" spc="-10" b="1">
                <a:latin typeface="Calibri"/>
                <a:cs typeface="Calibri"/>
              </a:rPr>
              <a:t>useful </a:t>
            </a:r>
            <a:r>
              <a:rPr dirty="0" sz="2800" spc="-20" b="1">
                <a:latin typeface="Calibri"/>
                <a:cs typeface="Calibri"/>
              </a:rPr>
              <a:t>for </a:t>
            </a:r>
            <a:r>
              <a:rPr dirty="0" sz="2800" spc="-15" b="1">
                <a:latin typeface="Calibri"/>
                <a:cs typeface="Calibri"/>
              </a:rPr>
              <a:t>course</a:t>
            </a:r>
            <a:r>
              <a:rPr dirty="0" sz="2800" spc="7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projects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30326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381063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Piazza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Q&amp;A</a:t>
            </a:r>
            <a:r>
              <a:rPr dirty="0" sz="3200" spc="-6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website: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0972" y="6723724"/>
            <a:ext cx="11176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67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6</a:t>
            </a:r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783757"/>
            <a:ext cx="7856220" cy="462597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48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 u="heavy">
                <a:solidFill>
                  <a:srgbClr val="168BBA"/>
                </a:solidFill>
                <a:latin typeface="Calibri"/>
                <a:cs typeface="Calibri"/>
                <a:hlinkClick r:id="rId3"/>
              </a:rPr>
              <a:t>http://piazza.com/stanford/win2021/cs224w</a:t>
            </a:r>
            <a:endParaRPr sz="2800">
              <a:latin typeface="Calibri"/>
              <a:cs typeface="Calibri"/>
            </a:endParaRPr>
          </a:p>
          <a:p>
            <a:pPr lvl="1" marL="890269" indent="-228600">
              <a:lnSpc>
                <a:spcPct val="100000"/>
              </a:lnSpc>
              <a:spcBef>
                <a:spcPts val="325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400" spc="-15">
                <a:latin typeface="Calibri"/>
                <a:cs typeface="Calibri"/>
              </a:rPr>
              <a:t>Register </a:t>
            </a:r>
            <a:r>
              <a:rPr dirty="0" sz="2400" spc="-5">
                <a:latin typeface="Calibri"/>
                <a:cs typeface="Calibri"/>
              </a:rPr>
              <a:t>with </a:t>
            </a:r>
            <a:r>
              <a:rPr dirty="0" sz="2400" spc="-10">
                <a:latin typeface="Calibri"/>
                <a:cs typeface="Calibri"/>
              </a:rPr>
              <a:t>your </a:t>
            </a:r>
            <a:r>
              <a:rPr dirty="0" sz="2400" spc="-15">
                <a:latin typeface="Calibri"/>
                <a:cs typeface="Calibri"/>
              </a:rPr>
              <a:t>@stanford.edu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email</a:t>
            </a:r>
            <a:endParaRPr sz="24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3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Please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participate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and help </a:t>
            </a:r>
            <a:r>
              <a:rPr dirty="0" sz="2800" b="1">
                <a:solidFill>
                  <a:srgbClr val="D60093"/>
                </a:solidFill>
                <a:latin typeface="Calibri"/>
                <a:cs typeface="Calibri"/>
              </a:rPr>
              <a:t>each</a:t>
            </a:r>
            <a:r>
              <a:rPr dirty="0" sz="2800" spc="2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other!</a:t>
            </a:r>
            <a:endParaRPr sz="2800">
              <a:latin typeface="Calibri"/>
              <a:cs typeface="Calibri"/>
            </a:endParaRPr>
          </a:p>
          <a:p>
            <a:pPr lvl="1" marL="890269" marR="461645" indent="-228600">
              <a:lnSpc>
                <a:spcPts val="2500"/>
              </a:lnSpc>
              <a:spcBef>
                <a:spcPts val="750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400" spc="-5">
                <a:latin typeface="Calibri"/>
                <a:cs typeface="Calibri"/>
              </a:rPr>
              <a:t>Don’t </a:t>
            </a:r>
            <a:r>
              <a:rPr dirty="0" sz="2400" spc="-10">
                <a:latin typeface="Calibri"/>
                <a:cs typeface="Calibri"/>
              </a:rPr>
              <a:t>post code, </a:t>
            </a:r>
            <a:r>
              <a:rPr dirty="0" sz="2400" spc="-15">
                <a:latin typeface="Calibri"/>
                <a:cs typeface="Calibri"/>
              </a:rPr>
              <a:t>annotate </a:t>
            </a:r>
            <a:r>
              <a:rPr dirty="0" sz="2400" spc="-10">
                <a:latin typeface="Calibri"/>
                <a:cs typeface="Calibri"/>
              </a:rPr>
              <a:t>your </a:t>
            </a:r>
            <a:r>
              <a:rPr dirty="0" sz="2400" spc="-5">
                <a:latin typeface="Calibri"/>
                <a:cs typeface="Calibri"/>
              </a:rPr>
              <a:t>questions, </a:t>
            </a:r>
            <a:r>
              <a:rPr dirty="0" sz="2400" spc="-10">
                <a:latin typeface="Calibri"/>
                <a:cs typeface="Calibri"/>
              </a:rPr>
              <a:t>search </a:t>
            </a:r>
            <a:r>
              <a:rPr dirty="0" sz="2400" spc="-195">
                <a:latin typeface="Calibri"/>
                <a:cs typeface="Calibri"/>
              </a:rPr>
              <a:t>for  </a:t>
            </a:r>
            <a:r>
              <a:rPr dirty="0" sz="2400" spc="-15">
                <a:latin typeface="Calibri"/>
                <a:cs typeface="Calibri"/>
              </a:rPr>
              <a:t>answers </a:t>
            </a:r>
            <a:r>
              <a:rPr dirty="0" sz="2400" spc="-20">
                <a:latin typeface="Calibri"/>
                <a:cs typeface="Calibri"/>
              </a:rPr>
              <a:t>before </a:t>
            </a:r>
            <a:r>
              <a:rPr dirty="0" sz="2400" spc="-15">
                <a:latin typeface="Calibri"/>
                <a:cs typeface="Calibri"/>
              </a:rPr>
              <a:t>you </a:t>
            </a:r>
            <a:r>
              <a:rPr dirty="0" sz="2400" spc="-5">
                <a:latin typeface="Calibri"/>
                <a:cs typeface="Calibri"/>
              </a:rPr>
              <a:t>ask</a:t>
            </a:r>
            <a:endParaRPr sz="2400">
              <a:latin typeface="Calibri"/>
              <a:cs typeface="Calibri"/>
            </a:endParaRPr>
          </a:p>
          <a:p>
            <a:pPr lvl="1" marL="890269" marR="78105" indent="-228600">
              <a:lnSpc>
                <a:spcPts val="2590"/>
              </a:lnSpc>
              <a:spcBef>
                <a:spcPts val="615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400" spc="-10">
                <a:latin typeface="Calibri"/>
                <a:cs typeface="Calibri"/>
              </a:rPr>
              <a:t>Given COVID/virtual </a:t>
            </a:r>
            <a:r>
              <a:rPr dirty="0" sz="2400" spc="-5">
                <a:latin typeface="Calibri"/>
                <a:cs typeface="Calibri"/>
              </a:rPr>
              <a:t>class, this will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5">
                <a:latin typeface="Calibri"/>
                <a:cs typeface="Calibri"/>
              </a:rPr>
              <a:t>the main mode </a:t>
            </a:r>
            <a:r>
              <a:rPr dirty="0" sz="2400" spc="-250">
                <a:latin typeface="Calibri"/>
                <a:cs typeface="Calibri"/>
              </a:rPr>
              <a:t>of  </a:t>
            </a:r>
            <a:r>
              <a:rPr dirty="0" sz="2400" spc="-10">
                <a:latin typeface="Calibri"/>
                <a:cs typeface="Calibri"/>
              </a:rPr>
              <a:t>communication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334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40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reach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course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staff </a:t>
            </a:r>
            <a:r>
              <a:rPr dirty="0" sz="3200" spc="-30" b="1">
                <a:solidFill>
                  <a:srgbClr val="0000FF"/>
                </a:solidFill>
                <a:latin typeface="Calibri"/>
                <a:cs typeface="Calibri"/>
              </a:rPr>
              <a:t>(prof/TAs), </a:t>
            </a:r>
            <a:r>
              <a:rPr dirty="0" sz="3200" spc="-25" b="1" u="heavy">
                <a:solidFill>
                  <a:srgbClr val="0000FF"/>
                </a:solidFill>
                <a:latin typeface="Calibri"/>
                <a:cs typeface="Calibri"/>
              </a:rPr>
              <a:t>always</a:t>
            </a:r>
            <a:r>
              <a:rPr dirty="0" sz="3200" spc="17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use: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ts val="3185"/>
              </a:lnSpc>
              <a:spcBef>
                <a:spcPts val="3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 u="heavy">
                <a:solidFill>
                  <a:srgbClr val="168BBA"/>
                </a:solidFill>
                <a:latin typeface="Calibri"/>
                <a:cs typeface="Calibri"/>
                <a:hlinkClick r:id="rId4"/>
              </a:rPr>
              <a:t>cs224w-win2021-staff@lists.stanford.edu</a:t>
            </a:r>
            <a:endParaRPr sz="2800">
              <a:latin typeface="Calibri"/>
              <a:cs typeface="Calibri"/>
            </a:endParaRPr>
          </a:p>
          <a:p>
            <a:pPr marL="332740" marR="5080" indent="-320040">
              <a:lnSpc>
                <a:spcPts val="3500"/>
              </a:lnSpc>
              <a:spcBef>
                <a:spcPts val="2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>
                <a:latin typeface="Calibri"/>
                <a:cs typeface="Calibri"/>
              </a:rPr>
              <a:t>will </a:t>
            </a:r>
            <a:r>
              <a:rPr dirty="0" sz="3200" spc="-15">
                <a:latin typeface="Calibri"/>
                <a:cs typeface="Calibri"/>
              </a:rPr>
              <a:t>post </a:t>
            </a:r>
            <a:r>
              <a:rPr dirty="0" sz="3200" spc="-20">
                <a:latin typeface="Calibri"/>
                <a:cs typeface="Calibri"/>
              </a:rPr>
              <a:t>course </a:t>
            </a:r>
            <a:r>
              <a:rPr dirty="0" sz="3200" spc="-5">
                <a:latin typeface="Calibri"/>
                <a:cs typeface="Calibri"/>
              </a:rPr>
              <a:t>announcements </a:t>
            </a:r>
            <a:r>
              <a:rPr dirty="0" sz="3200" spc="-15">
                <a:latin typeface="Calibri"/>
                <a:cs typeface="Calibri"/>
              </a:rPr>
              <a:t>to Piazza  </a:t>
            </a:r>
            <a:r>
              <a:rPr dirty="0" sz="3200" spc="-25">
                <a:latin typeface="Calibri"/>
                <a:cs typeface="Calibri"/>
              </a:rPr>
              <a:t>(make </a:t>
            </a:r>
            <a:r>
              <a:rPr dirty="0" sz="3200" spc="-15">
                <a:latin typeface="Calibri"/>
                <a:cs typeface="Calibri"/>
              </a:rPr>
              <a:t>sure you </a:t>
            </a:r>
            <a:r>
              <a:rPr dirty="0" sz="3200" spc="-5">
                <a:latin typeface="Calibri"/>
                <a:cs typeface="Calibri"/>
              </a:rPr>
              <a:t>check </a:t>
            </a:r>
            <a:r>
              <a:rPr dirty="0" sz="3200">
                <a:latin typeface="Calibri"/>
                <a:cs typeface="Calibri"/>
              </a:rPr>
              <a:t>it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regularly)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1375"/>
            <a:ext cx="7424928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78294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Final </a:t>
            </a: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grade </a:t>
            </a: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will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be composed</a:t>
            </a:r>
            <a:r>
              <a:rPr dirty="0" sz="3200" spc="-6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of: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0972" y="6723724"/>
            <a:ext cx="11176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67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7</a:t>
            </a:r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825921"/>
            <a:ext cx="7854315" cy="428307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Homework: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30%</a:t>
            </a:r>
            <a:endParaRPr sz="28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 spc="-10">
                <a:latin typeface="Calibri"/>
                <a:cs typeface="Calibri"/>
              </a:rPr>
              <a:t>Homework </a:t>
            </a:r>
            <a:r>
              <a:rPr dirty="0" sz="2400" spc="-5">
                <a:latin typeface="Calibri"/>
                <a:cs typeface="Calibri"/>
              </a:rPr>
              <a:t>1, 2, 3, each </a:t>
            </a:r>
            <a:r>
              <a:rPr dirty="0" sz="2400" spc="-10">
                <a:latin typeface="Calibri"/>
                <a:cs typeface="Calibri"/>
              </a:rPr>
              <a:t>worth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10%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Coding </a:t>
            </a:r>
            <a:r>
              <a:rPr dirty="0" sz="2800" spc="-10" b="1">
                <a:latin typeface="Calibri"/>
                <a:cs typeface="Calibri"/>
              </a:rPr>
              <a:t>assignment:</a:t>
            </a:r>
            <a:r>
              <a:rPr dirty="0" sz="2800" spc="-1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30%</a:t>
            </a:r>
            <a:endParaRPr sz="28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640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>
                <a:latin typeface="Calibri"/>
                <a:cs typeface="Calibri"/>
              </a:rPr>
              <a:t>5 </a:t>
            </a:r>
            <a:r>
              <a:rPr dirty="0" sz="2400" spc="-5">
                <a:latin typeface="Calibri"/>
                <a:cs typeface="Calibri"/>
              </a:rPr>
              <a:t>Coding assignments using Google Colab, each </a:t>
            </a:r>
            <a:r>
              <a:rPr dirty="0" sz="2400" spc="-10">
                <a:latin typeface="Calibri"/>
                <a:cs typeface="Calibri"/>
              </a:rPr>
              <a:t>worth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6%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3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Course project:</a:t>
            </a:r>
            <a:r>
              <a:rPr dirty="0" sz="2800" spc="-2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40%</a:t>
            </a:r>
            <a:endParaRPr sz="28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 spc="-10">
                <a:latin typeface="Calibri"/>
                <a:cs typeface="Calibri"/>
              </a:rPr>
              <a:t>Proposal: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30%</a:t>
            </a:r>
            <a:endParaRPr sz="24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500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 spc="-5">
                <a:latin typeface="Calibri"/>
                <a:cs typeface="Calibri"/>
              </a:rPr>
              <a:t>Final </a:t>
            </a:r>
            <a:r>
              <a:rPr dirty="0" sz="2400" spc="-10">
                <a:latin typeface="Calibri"/>
                <a:cs typeface="Calibri"/>
              </a:rPr>
              <a:t>report: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70%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latin typeface="Calibri"/>
                <a:cs typeface="Calibri"/>
              </a:rPr>
              <a:t>Extra </a:t>
            </a:r>
            <a:r>
              <a:rPr dirty="0" sz="2800" spc="-10" b="1">
                <a:latin typeface="Calibri"/>
                <a:cs typeface="Calibri"/>
              </a:rPr>
              <a:t>credit: Piazza </a:t>
            </a:r>
            <a:r>
              <a:rPr dirty="0" sz="2800" spc="-5" b="1">
                <a:latin typeface="Calibri"/>
                <a:cs typeface="Calibri"/>
              </a:rPr>
              <a:t>participation, </a:t>
            </a:r>
            <a:r>
              <a:rPr dirty="0" sz="2800" spc="-10" b="1">
                <a:latin typeface="Calibri"/>
                <a:cs typeface="Calibri"/>
              </a:rPr>
              <a:t>code</a:t>
            </a:r>
            <a:r>
              <a:rPr dirty="0" sz="2800" spc="125" b="1">
                <a:latin typeface="Calibri"/>
                <a:cs typeface="Calibri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contribution</a:t>
            </a:r>
            <a:endParaRPr sz="28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 spc="-5">
                <a:latin typeface="Calibri"/>
                <a:cs typeface="Calibri"/>
              </a:rPr>
              <a:t>Used </a:t>
            </a:r>
            <a:r>
              <a:rPr dirty="0" sz="2400">
                <a:latin typeface="Calibri"/>
                <a:cs typeface="Calibri"/>
              </a:rPr>
              <a:t>if </a:t>
            </a:r>
            <a:r>
              <a:rPr dirty="0" sz="2400" spc="-15">
                <a:latin typeface="Calibri"/>
                <a:cs typeface="Calibri"/>
              </a:rPr>
              <a:t>you are </a:t>
            </a:r>
            <a:r>
              <a:rPr dirty="0" sz="2400" spc="-5">
                <a:latin typeface="Calibri"/>
                <a:cs typeface="Calibri"/>
              </a:rPr>
              <a:t>on the </a:t>
            </a:r>
            <a:r>
              <a:rPr dirty="0" sz="2400">
                <a:latin typeface="Calibri"/>
                <a:cs typeface="Calibri"/>
              </a:rPr>
              <a:t>boundary </a:t>
            </a:r>
            <a:r>
              <a:rPr dirty="0" sz="2400" spc="-10">
                <a:latin typeface="Calibri"/>
                <a:cs typeface="Calibri"/>
              </a:rPr>
              <a:t>between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grades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38581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7081520" cy="900430"/>
          </a:xfrm>
          <a:prstGeom prst="rect"/>
        </p:spPr>
        <p:txBody>
          <a:bodyPr wrap="square" lIns="0" tIns="59055" rIns="0" bIns="0" rtlCol="0" vert="horz">
            <a:spAutoFit/>
          </a:bodyPr>
          <a:lstStyle/>
          <a:p>
            <a:pPr marL="332740" marR="5080" indent="-320040">
              <a:lnSpc>
                <a:spcPts val="3290"/>
              </a:lnSpc>
              <a:spcBef>
                <a:spcPts val="46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Assignments </a:t>
            </a:r>
            <a:r>
              <a:rPr dirty="0" sz="3000" spc="-15" b="1">
                <a:solidFill>
                  <a:srgbClr val="0000FF"/>
                </a:solidFill>
                <a:latin typeface="Calibri"/>
                <a:cs typeface="Calibri"/>
              </a:rPr>
              <a:t>are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long and </a:t>
            </a:r>
            <a:r>
              <a:rPr dirty="0" sz="3000" spc="-35" b="1">
                <a:solidFill>
                  <a:srgbClr val="0000FF"/>
                </a:solidFill>
                <a:latin typeface="Calibri"/>
                <a:cs typeface="Calibri"/>
              </a:rPr>
              <a:t>take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time </a:t>
            </a:r>
            <a:r>
              <a:rPr dirty="0" sz="3000" b="1">
                <a:solidFill>
                  <a:srgbClr val="0000FF"/>
                </a:solidFill>
                <a:latin typeface="Calibri"/>
                <a:cs typeface="Calibri"/>
              </a:rPr>
              <a:t>(~10h)  </a:t>
            </a:r>
            <a:r>
              <a:rPr dirty="0" sz="3000" spc="-15" b="1">
                <a:solidFill>
                  <a:srgbClr val="0000FF"/>
                </a:solidFill>
                <a:latin typeface="Calibri"/>
                <a:cs typeface="Calibri"/>
              </a:rPr>
              <a:t>Start</a:t>
            </a:r>
            <a:r>
              <a:rPr dirty="0" sz="3000" spc="-8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early!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0972" y="6723724"/>
            <a:ext cx="11176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67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8</a:t>
            </a:r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182875"/>
            <a:ext cx="8166734" cy="457708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890269" indent="-228600">
              <a:lnSpc>
                <a:spcPct val="100000"/>
              </a:lnSpc>
              <a:spcBef>
                <a:spcPts val="340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200">
                <a:latin typeface="Calibri"/>
                <a:cs typeface="Calibri"/>
              </a:rPr>
              <a:t>A </a:t>
            </a:r>
            <a:r>
              <a:rPr dirty="0" sz="2200" spc="-10">
                <a:latin typeface="Calibri"/>
                <a:cs typeface="Calibri"/>
              </a:rPr>
              <a:t>combination </a:t>
            </a:r>
            <a:r>
              <a:rPr dirty="0" sz="2200">
                <a:latin typeface="Calibri"/>
                <a:cs typeface="Calibri"/>
              </a:rPr>
              <a:t>of </a:t>
            </a:r>
            <a:r>
              <a:rPr dirty="0" sz="2200" spc="-20">
                <a:latin typeface="Calibri"/>
                <a:cs typeface="Calibri"/>
              </a:rPr>
              <a:t>data </a:t>
            </a:r>
            <a:r>
              <a:rPr dirty="0" sz="2200" spc="-10">
                <a:latin typeface="Calibri"/>
                <a:cs typeface="Calibri"/>
              </a:rPr>
              <a:t>analysis, </a:t>
            </a:r>
            <a:r>
              <a:rPr dirty="0" sz="2200" spc="-5">
                <a:latin typeface="Calibri"/>
                <a:cs typeface="Calibri"/>
              </a:rPr>
              <a:t>algorithm design, and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math</a:t>
            </a:r>
            <a:endParaRPr sz="2200">
              <a:latin typeface="Calibri"/>
              <a:cs typeface="Calibri"/>
            </a:endParaRPr>
          </a:p>
          <a:p>
            <a:pPr marL="890269" indent="-228600">
              <a:lnSpc>
                <a:spcPts val="2420"/>
              </a:lnSpc>
              <a:spcBef>
                <a:spcPts val="240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200" spc="-10">
                <a:latin typeface="Calibri"/>
                <a:cs typeface="Calibri"/>
              </a:rPr>
              <a:t>Generally due </a:t>
            </a:r>
            <a:r>
              <a:rPr dirty="0" sz="2200">
                <a:latin typeface="Calibri"/>
                <a:cs typeface="Calibri"/>
              </a:rPr>
              <a:t>on </a:t>
            </a:r>
            <a:r>
              <a:rPr dirty="0" sz="2200" spc="-20">
                <a:latin typeface="Calibri"/>
                <a:cs typeface="Calibri"/>
              </a:rPr>
              <a:t>Thursdays </a:t>
            </a:r>
            <a:r>
              <a:rPr dirty="0" sz="2200" spc="-5">
                <a:latin typeface="Calibri"/>
                <a:cs typeface="Calibri"/>
              </a:rPr>
              <a:t>23:59 </a:t>
            </a:r>
            <a:r>
              <a:rPr dirty="0" sz="2200" spc="-10">
                <a:latin typeface="Calibri"/>
                <a:cs typeface="Calibri"/>
              </a:rPr>
              <a:t>Pacific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Time</a:t>
            </a:r>
            <a:endParaRPr sz="2200">
              <a:latin typeface="Calibri"/>
              <a:cs typeface="Calibri"/>
            </a:endParaRPr>
          </a:p>
          <a:p>
            <a:pPr marL="332740" indent="-320040">
              <a:lnSpc>
                <a:spcPts val="3379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How </a:t>
            </a:r>
            <a:r>
              <a:rPr dirty="0" sz="3000" spc="-20" b="1">
                <a:solidFill>
                  <a:srgbClr val="D60093"/>
                </a:solidFill>
                <a:latin typeface="Calibri"/>
                <a:cs typeface="Calibri"/>
              </a:rPr>
              <a:t>to</a:t>
            </a:r>
            <a:r>
              <a:rPr dirty="0" sz="3000" spc="-7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submit?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4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 b="1">
                <a:latin typeface="Calibri"/>
                <a:cs typeface="Calibri"/>
              </a:rPr>
              <a:t>Upload via </a:t>
            </a:r>
            <a:r>
              <a:rPr dirty="0" sz="2600" spc="-10" b="1">
                <a:latin typeface="Calibri"/>
                <a:cs typeface="Calibri"/>
              </a:rPr>
              <a:t>Gradescope</a:t>
            </a:r>
            <a:r>
              <a:rPr dirty="0" sz="2600" spc="-3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(</a:t>
            </a:r>
            <a:r>
              <a:rPr dirty="0" sz="2600" spc="-10" b="1" u="heavy">
                <a:solidFill>
                  <a:srgbClr val="168BBA"/>
                </a:solidFill>
                <a:latin typeface="Calibri"/>
                <a:cs typeface="Calibri"/>
              </a:rPr>
              <a:t>http://gradescope.com</a:t>
            </a:r>
            <a:r>
              <a:rPr dirty="0" sz="2600" spc="-10" b="1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  <a:p>
            <a:pPr lvl="2" marL="890269" marR="281305" indent="-228600">
              <a:lnSpc>
                <a:spcPts val="2400"/>
              </a:lnSpc>
              <a:spcBef>
                <a:spcPts val="560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200" spc="-65" b="1">
                <a:latin typeface="Calibri"/>
                <a:cs typeface="Calibri"/>
              </a:rPr>
              <a:t>You </a:t>
            </a:r>
            <a:r>
              <a:rPr dirty="0" sz="2200" spc="-5" b="1">
                <a:latin typeface="Calibri"/>
                <a:cs typeface="Calibri"/>
              </a:rPr>
              <a:t>will be </a:t>
            </a:r>
            <a:r>
              <a:rPr dirty="0" sz="2200" spc="-10" b="1">
                <a:latin typeface="Calibri"/>
                <a:cs typeface="Calibri"/>
              </a:rPr>
              <a:t>automatically </a:t>
            </a:r>
            <a:r>
              <a:rPr dirty="0" sz="2200" spc="-15" b="1">
                <a:latin typeface="Calibri"/>
                <a:cs typeface="Calibri"/>
              </a:rPr>
              <a:t>registered to </a:t>
            </a:r>
            <a:r>
              <a:rPr dirty="0" sz="2200" spc="-10" b="1">
                <a:latin typeface="Calibri"/>
                <a:cs typeface="Calibri"/>
              </a:rPr>
              <a:t>Gradescope </a:t>
            </a:r>
            <a:r>
              <a:rPr dirty="0" sz="2200" spc="-5" b="1">
                <a:latin typeface="Calibri"/>
                <a:cs typeface="Calibri"/>
              </a:rPr>
              <a:t>once </a:t>
            </a:r>
            <a:r>
              <a:rPr dirty="0" sz="2200" spc="-105" b="1">
                <a:latin typeface="Calibri"/>
                <a:cs typeface="Calibri"/>
              </a:rPr>
              <a:t>you  </a:t>
            </a:r>
            <a:r>
              <a:rPr dirty="0" sz="2200" spc="-5" b="1">
                <a:latin typeface="Calibri"/>
                <a:cs typeface="Calibri"/>
              </a:rPr>
              <a:t>officially </a:t>
            </a:r>
            <a:r>
              <a:rPr dirty="0" sz="2200" spc="-10" b="1">
                <a:latin typeface="Calibri"/>
                <a:cs typeface="Calibri"/>
              </a:rPr>
              <a:t>enroll </a:t>
            </a:r>
            <a:r>
              <a:rPr dirty="0" sz="2200" spc="-5" b="1">
                <a:latin typeface="Calibri"/>
                <a:cs typeface="Calibri"/>
              </a:rPr>
              <a:t>in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spc="-5" b="1">
                <a:latin typeface="Calibri"/>
                <a:cs typeface="Calibri"/>
              </a:rPr>
              <a:t>CS224W</a:t>
            </a:r>
            <a:endParaRPr sz="2200">
              <a:latin typeface="Calibri"/>
              <a:cs typeface="Calibri"/>
            </a:endParaRPr>
          </a:p>
          <a:p>
            <a:pPr lvl="2" marL="890269" indent="-228600">
              <a:lnSpc>
                <a:spcPts val="2470"/>
              </a:lnSpc>
              <a:spcBef>
                <a:spcPts val="220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200" spc="-10" b="1">
                <a:latin typeface="Calibri"/>
                <a:cs typeface="Calibri"/>
              </a:rPr>
              <a:t>Each answer </a:t>
            </a:r>
            <a:r>
              <a:rPr dirty="0" sz="2200" spc="-15" b="1">
                <a:latin typeface="Calibri"/>
                <a:cs typeface="Calibri"/>
              </a:rPr>
              <a:t>must start </a:t>
            </a:r>
            <a:r>
              <a:rPr dirty="0" sz="2200" b="1">
                <a:latin typeface="Calibri"/>
                <a:cs typeface="Calibri"/>
              </a:rPr>
              <a:t>on a </a:t>
            </a:r>
            <a:r>
              <a:rPr dirty="0" sz="2200" spc="-10" b="1">
                <a:latin typeface="Calibri"/>
                <a:cs typeface="Calibri"/>
              </a:rPr>
              <a:t>new</a:t>
            </a:r>
            <a:r>
              <a:rPr dirty="0" sz="2200" spc="3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page.</a:t>
            </a:r>
            <a:endParaRPr sz="2200">
              <a:latin typeface="Calibri"/>
              <a:cs typeface="Calibri"/>
            </a:endParaRPr>
          </a:p>
          <a:p>
            <a:pPr marL="890269">
              <a:lnSpc>
                <a:spcPts val="2470"/>
              </a:lnSpc>
            </a:pPr>
            <a:r>
              <a:rPr dirty="0" sz="2200" spc="-10" b="1">
                <a:latin typeface="Calibri"/>
                <a:cs typeface="Calibri"/>
              </a:rPr>
              <a:t>Read carefully </a:t>
            </a:r>
            <a:r>
              <a:rPr dirty="0" sz="2200" spc="-5" b="1">
                <a:latin typeface="Calibri"/>
                <a:cs typeface="Calibri"/>
              </a:rPr>
              <a:t>the </a:t>
            </a:r>
            <a:r>
              <a:rPr dirty="0" sz="2200" spc="-10" b="1">
                <a:latin typeface="Calibri"/>
                <a:cs typeface="Calibri"/>
              </a:rPr>
              <a:t>course </a:t>
            </a:r>
            <a:r>
              <a:rPr dirty="0" sz="2200" spc="-15" b="1">
                <a:latin typeface="Calibri"/>
                <a:cs typeface="Calibri"/>
              </a:rPr>
              <a:t>info</a:t>
            </a:r>
            <a:r>
              <a:rPr dirty="0" sz="2200" spc="1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page!</a:t>
            </a:r>
            <a:endParaRPr sz="2200">
              <a:latin typeface="Calibri"/>
              <a:cs typeface="Calibri"/>
            </a:endParaRPr>
          </a:p>
          <a:p>
            <a:pPr lvl="1" marL="625475" marR="1249680" indent="-274320">
              <a:lnSpc>
                <a:spcPts val="278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 b="1">
                <a:solidFill>
                  <a:srgbClr val="0000FF"/>
                </a:solidFill>
                <a:latin typeface="Calibri"/>
                <a:cs typeface="Calibri"/>
              </a:rPr>
              <a:t>Both homework (including code) </a:t>
            </a:r>
            <a:r>
              <a:rPr dirty="0" sz="2600" b="1">
                <a:solidFill>
                  <a:srgbClr val="0000FF"/>
                </a:solidFill>
                <a:latin typeface="Calibri"/>
                <a:cs typeface="Calibri"/>
              </a:rPr>
              <a:t>and </a:t>
            </a:r>
            <a:r>
              <a:rPr dirty="0" sz="2600" spc="-10" b="1">
                <a:solidFill>
                  <a:srgbClr val="0000FF"/>
                </a:solidFill>
                <a:latin typeface="Calibri"/>
                <a:cs typeface="Calibri"/>
              </a:rPr>
              <a:t>project  deliverables </a:t>
            </a:r>
            <a:r>
              <a:rPr dirty="0" sz="2600" spc="-15">
                <a:latin typeface="Calibri"/>
                <a:cs typeface="Calibri"/>
              </a:rPr>
              <a:t>must </a:t>
            </a:r>
            <a:r>
              <a:rPr dirty="0" sz="2600" spc="-5">
                <a:latin typeface="Calibri"/>
                <a:cs typeface="Calibri"/>
              </a:rPr>
              <a:t>be uploaded </a:t>
            </a:r>
            <a:r>
              <a:rPr dirty="0" sz="2600" spc="-15">
                <a:latin typeface="Calibri"/>
                <a:cs typeface="Calibri"/>
              </a:rPr>
              <a:t>to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Gradescope!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16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65" b="1">
                <a:solidFill>
                  <a:srgbClr val="D60093"/>
                </a:solidFill>
                <a:latin typeface="Calibri"/>
                <a:cs typeface="Calibri"/>
              </a:rPr>
              <a:t>Total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of </a:t>
            </a:r>
            <a:r>
              <a:rPr dirty="0" sz="3000" b="1" u="heavy">
                <a:solidFill>
                  <a:srgbClr val="D60093"/>
                </a:solidFill>
                <a:latin typeface="Calibri"/>
                <a:cs typeface="Calibri"/>
              </a:rPr>
              <a:t>2 </a:t>
            </a:r>
            <a:r>
              <a:rPr dirty="0" sz="3000" spc="-25" b="1" u="heavy">
                <a:solidFill>
                  <a:srgbClr val="D60093"/>
                </a:solidFill>
                <a:latin typeface="Calibri"/>
                <a:cs typeface="Calibri"/>
              </a:rPr>
              <a:t>Late </a:t>
            </a:r>
            <a:r>
              <a:rPr dirty="0" sz="3000" spc="-10" b="1" u="heavy">
                <a:solidFill>
                  <a:srgbClr val="D60093"/>
                </a:solidFill>
                <a:latin typeface="Calibri"/>
                <a:cs typeface="Calibri"/>
              </a:rPr>
              <a:t>Periods </a:t>
            </a:r>
            <a:r>
              <a:rPr dirty="0" sz="3000" spc="-5" b="1" u="heavy">
                <a:solidFill>
                  <a:srgbClr val="D60093"/>
                </a:solidFill>
                <a:latin typeface="Calibri"/>
                <a:cs typeface="Calibri"/>
              </a:rPr>
              <a:t>(LP)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D60093"/>
                </a:solidFill>
                <a:latin typeface="Calibri"/>
                <a:cs typeface="Calibri"/>
              </a:rPr>
              <a:t>per</a:t>
            </a:r>
            <a:r>
              <a:rPr dirty="0" sz="3000" spc="5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D60093"/>
                </a:solidFill>
                <a:latin typeface="Calibri"/>
                <a:cs typeface="Calibri"/>
              </a:rPr>
              <a:t>student: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8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>
                <a:latin typeface="Calibri"/>
                <a:cs typeface="Calibri"/>
              </a:rPr>
              <a:t>Max </a:t>
            </a:r>
            <a:r>
              <a:rPr dirty="0" sz="2600">
                <a:latin typeface="Calibri"/>
                <a:cs typeface="Calibri"/>
              </a:rPr>
              <a:t>1 </a:t>
            </a:r>
            <a:r>
              <a:rPr dirty="0" sz="2600" spc="-15">
                <a:latin typeface="Calibri"/>
                <a:cs typeface="Calibri"/>
              </a:rPr>
              <a:t>late </a:t>
            </a:r>
            <a:r>
              <a:rPr dirty="0" sz="2600" spc="-5">
                <a:latin typeface="Calibri"/>
                <a:cs typeface="Calibri"/>
              </a:rPr>
              <a:t>period per </a:t>
            </a:r>
            <a:r>
              <a:rPr dirty="0" sz="2600" spc="-10">
                <a:latin typeface="Calibri"/>
                <a:cs typeface="Calibri"/>
              </a:rPr>
              <a:t>assignment </a:t>
            </a:r>
            <a:r>
              <a:rPr dirty="0" sz="2600" spc="-5">
                <a:latin typeface="Calibri"/>
                <a:cs typeface="Calibri"/>
              </a:rPr>
              <a:t>(no LP </a:t>
            </a:r>
            <a:r>
              <a:rPr dirty="0" sz="2600" spc="-25">
                <a:latin typeface="Calibri"/>
                <a:cs typeface="Calibri"/>
              </a:rPr>
              <a:t>for </a:t>
            </a:r>
            <a:r>
              <a:rPr dirty="0" sz="2600" spc="-5">
                <a:latin typeface="Calibri"/>
                <a:cs typeface="Calibri"/>
              </a:rPr>
              <a:t>final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 spc="-65">
                <a:latin typeface="Calibri"/>
                <a:cs typeface="Calibri"/>
              </a:rPr>
              <a:t>report)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284988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32599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5" b="1">
                <a:solidFill>
                  <a:srgbClr val="D60093"/>
                </a:solidFill>
                <a:latin typeface="Calibri"/>
                <a:cs typeface="Calibri"/>
              </a:rPr>
              <a:t>We </a:t>
            </a:r>
            <a:r>
              <a:rPr dirty="0" sz="3000" spc="-10" b="1">
                <a:solidFill>
                  <a:srgbClr val="D60093"/>
                </a:solidFill>
                <a:latin typeface="Calibri"/>
                <a:cs typeface="Calibri"/>
              </a:rPr>
              <a:t>strictly </a:t>
            </a:r>
            <a:r>
              <a:rPr dirty="0" sz="3000" spc="-20" b="1">
                <a:solidFill>
                  <a:srgbClr val="D60093"/>
                </a:solidFill>
                <a:latin typeface="Calibri"/>
                <a:cs typeface="Calibri"/>
              </a:rPr>
              <a:t>enforce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the</a:t>
            </a:r>
            <a:r>
              <a:rPr dirty="0" sz="3000" spc="-5" b="1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3000" spc="-20" b="1" u="heavy">
                <a:solidFill>
                  <a:srgbClr val="168BBA"/>
                </a:solidFill>
                <a:latin typeface="Calibri"/>
                <a:cs typeface="Calibri"/>
              </a:rPr>
              <a:t>Stanford </a:t>
            </a:r>
            <a:r>
              <a:rPr dirty="0" sz="3000" spc="-5" b="1" u="heavy">
                <a:solidFill>
                  <a:srgbClr val="168BBA"/>
                </a:solidFill>
                <a:latin typeface="Calibri"/>
                <a:cs typeface="Calibri"/>
              </a:rPr>
              <a:t>Honor</a:t>
            </a:r>
            <a:r>
              <a:rPr dirty="0" sz="3000" spc="55" b="1" u="heavy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3000" spc="-5" b="1" u="heavy">
                <a:solidFill>
                  <a:srgbClr val="168BBA"/>
                </a:solidFill>
                <a:latin typeface="Calibri"/>
                <a:cs typeface="Calibri"/>
              </a:rPr>
              <a:t>Code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60972" y="6723724"/>
            <a:ext cx="11176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67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9</a:t>
            </a:r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823489"/>
            <a:ext cx="7866380" cy="444309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5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Violations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the Honor Code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include:</a:t>
            </a:r>
            <a:endParaRPr sz="26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470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200" spc="-5">
                <a:latin typeface="Calibri"/>
                <a:cs typeface="Calibri"/>
              </a:rPr>
              <a:t>Copying </a:t>
            </a:r>
            <a:r>
              <a:rPr dirty="0" sz="2200">
                <a:latin typeface="Calibri"/>
                <a:cs typeface="Calibri"/>
              </a:rPr>
              <a:t>or </a:t>
            </a:r>
            <a:r>
              <a:rPr dirty="0" sz="2200" spc="-10">
                <a:latin typeface="Calibri"/>
                <a:cs typeface="Calibri"/>
              </a:rPr>
              <a:t>allowing </a:t>
            </a:r>
            <a:r>
              <a:rPr dirty="0" sz="2200" spc="-5">
                <a:latin typeface="Calibri"/>
                <a:cs typeface="Calibri"/>
              </a:rPr>
              <a:t>another </a:t>
            </a:r>
            <a:r>
              <a:rPr dirty="0" sz="2200" spc="-15">
                <a:latin typeface="Calibri"/>
                <a:cs typeface="Calibri"/>
              </a:rPr>
              <a:t>to copy from </a:t>
            </a:r>
            <a:r>
              <a:rPr dirty="0" sz="2200" spc="-30">
                <a:latin typeface="Calibri"/>
                <a:cs typeface="Calibri"/>
              </a:rPr>
              <a:t>one’s </a:t>
            </a:r>
            <a:r>
              <a:rPr dirty="0" sz="2200" spc="-5">
                <a:latin typeface="Calibri"/>
                <a:cs typeface="Calibri"/>
              </a:rPr>
              <a:t>own</a:t>
            </a:r>
            <a:r>
              <a:rPr dirty="0" sz="2200" spc="8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paper</a:t>
            </a:r>
            <a:endParaRPr sz="22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575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200" spc="-10">
                <a:latin typeface="Calibri"/>
                <a:cs typeface="Calibri"/>
              </a:rPr>
              <a:t>Unpermitted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collaboration</a:t>
            </a:r>
            <a:endParaRPr sz="22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550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200" spc="-5" u="sng">
                <a:solidFill>
                  <a:srgbClr val="168BBA"/>
                </a:solidFill>
                <a:latin typeface="Calibri"/>
                <a:cs typeface="Calibri"/>
              </a:rPr>
              <a:t>Plagiarism</a:t>
            </a:r>
            <a:endParaRPr sz="22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455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200" spc="-10">
                <a:latin typeface="Calibri"/>
                <a:cs typeface="Calibri"/>
              </a:rPr>
              <a:t>Giving </a:t>
            </a:r>
            <a:r>
              <a:rPr dirty="0" sz="2200">
                <a:latin typeface="Calibri"/>
                <a:cs typeface="Calibri"/>
              </a:rPr>
              <a:t>or </a:t>
            </a:r>
            <a:r>
              <a:rPr dirty="0" sz="2200" spc="-10">
                <a:latin typeface="Calibri"/>
                <a:cs typeface="Calibri"/>
              </a:rPr>
              <a:t>receiving unpermitted </a:t>
            </a:r>
            <a:r>
              <a:rPr dirty="0" sz="2200" spc="-5">
                <a:latin typeface="Calibri"/>
                <a:cs typeface="Calibri"/>
              </a:rPr>
              <a:t>aid </a:t>
            </a:r>
            <a:r>
              <a:rPr dirty="0" sz="2200">
                <a:latin typeface="Calibri"/>
                <a:cs typeface="Calibri"/>
              </a:rPr>
              <a:t>on a </a:t>
            </a:r>
            <a:r>
              <a:rPr dirty="0" sz="2200" spc="-15">
                <a:latin typeface="Calibri"/>
                <a:cs typeface="Calibri"/>
              </a:rPr>
              <a:t>take-home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40">
                <a:latin typeface="Calibri"/>
                <a:cs typeface="Calibri"/>
              </a:rPr>
              <a:t>examination</a:t>
            </a:r>
            <a:endParaRPr sz="22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575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200" spc="-15">
                <a:latin typeface="Calibri"/>
                <a:cs typeface="Calibri"/>
              </a:rPr>
              <a:t>Representing </a:t>
            </a:r>
            <a:r>
              <a:rPr dirty="0" sz="2200" spc="-5">
                <a:latin typeface="Calibri"/>
                <a:cs typeface="Calibri"/>
              </a:rPr>
              <a:t>as </a:t>
            </a:r>
            <a:r>
              <a:rPr dirty="0" sz="2200" spc="-30">
                <a:latin typeface="Calibri"/>
                <a:cs typeface="Calibri"/>
              </a:rPr>
              <a:t>one’s </a:t>
            </a:r>
            <a:r>
              <a:rPr dirty="0" sz="2200" spc="-5">
                <a:latin typeface="Calibri"/>
                <a:cs typeface="Calibri"/>
              </a:rPr>
              <a:t>own </a:t>
            </a:r>
            <a:r>
              <a:rPr dirty="0" sz="2200" spc="-10">
                <a:latin typeface="Calibri"/>
                <a:cs typeface="Calibri"/>
              </a:rPr>
              <a:t>work </a:t>
            </a:r>
            <a:r>
              <a:rPr dirty="0" sz="2200" spc="-5">
                <a:latin typeface="Calibri"/>
                <a:cs typeface="Calibri"/>
              </a:rPr>
              <a:t>the </a:t>
            </a:r>
            <a:r>
              <a:rPr dirty="0" sz="2200" spc="-10">
                <a:latin typeface="Calibri"/>
                <a:cs typeface="Calibri"/>
              </a:rPr>
              <a:t>work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11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another</a:t>
            </a:r>
            <a:endParaRPr sz="2200">
              <a:latin typeface="Calibri"/>
              <a:cs typeface="Calibri"/>
            </a:endParaRPr>
          </a:p>
          <a:p>
            <a:pPr algn="just" lvl="1" marL="551815" marR="5715" indent="-228600">
              <a:lnSpc>
                <a:spcPct val="100499"/>
              </a:lnSpc>
              <a:spcBef>
                <a:spcPts val="535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200" spc="-10">
                <a:latin typeface="Calibri"/>
                <a:cs typeface="Calibri"/>
              </a:rPr>
              <a:t>Giving </a:t>
            </a:r>
            <a:r>
              <a:rPr dirty="0" sz="2200">
                <a:latin typeface="Calibri"/>
                <a:cs typeface="Calibri"/>
              </a:rPr>
              <a:t>or </a:t>
            </a:r>
            <a:r>
              <a:rPr dirty="0" sz="2200" spc="-10">
                <a:latin typeface="Calibri"/>
                <a:cs typeface="Calibri"/>
              </a:rPr>
              <a:t>receiving </a:t>
            </a:r>
            <a:r>
              <a:rPr dirty="0" sz="2200" spc="-5">
                <a:latin typeface="Calibri"/>
                <a:cs typeface="Calibri"/>
              </a:rPr>
              <a:t>aid </a:t>
            </a:r>
            <a:r>
              <a:rPr dirty="0" sz="2200">
                <a:latin typeface="Calibri"/>
                <a:cs typeface="Calibri"/>
              </a:rPr>
              <a:t>on </a:t>
            </a:r>
            <a:r>
              <a:rPr dirty="0" sz="2200" spc="-5">
                <a:latin typeface="Calibri"/>
                <a:cs typeface="Calibri"/>
              </a:rPr>
              <a:t>an assignment </a:t>
            </a:r>
            <a:r>
              <a:rPr dirty="0" sz="2200" spc="-10">
                <a:latin typeface="Calibri"/>
                <a:cs typeface="Calibri"/>
              </a:rPr>
              <a:t>under </a:t>
            </a:r>
            <a:r>
              <a:rPr dirty="0" sz="2200" spc="-15">
                <a:latin typeface="Calibri"/>
                <a:cs typeface="Calibri"/>
              </a:rPr>
              <a:t>circumstances </a:t>
            </a:r>
            <a:r>
              <a:rPr dirty="0" sz="2200" spc="-5">
                <a:latin typeface="Calibri"/>
                <a:cs typeface="Calibri"/>
              </a:rPr>
              <a:t>in  which </a:t>
            </a:r>
            <a:r>
              <a:rPr dirty="0" sz="2200">
                <a:latin typeface="Calibri"/>
                <a:cs typeface="Calibri"/>
              </a:rPr>
              <a:t>a </a:t>
            </a:r>
            <a:r>
              <a:rPr dirty="0" sz="2200" spc="-10">
                <a:latin typeface="Calibri"/>
                <a:cs typeface="Calibri"/>
              </a:rPr>
              <a:t>reasonable person </a:t>
            </a:r>
            <a:r>
              <a:rPr dirty="0" sz="2200" spc="-5">
                <a:latin typeface="Calibri"/>
                <a:cs typeface="Calibri"/>
              </a:rPr>
              <a:t>should </a:t>
            </a:r>
            <a:r>
              <a:rPr dirty="0" sz="2200" spc="-20">
                <a:latin typeface="Calibri"/>
                <a:cs typeface="Calibri"/>
              </a:rPr>
              <a:t>have </a:t>
            </a:r>
            <a:r>
              <a:rPr dirty="0" sz="2200" spc="-5">
                <a:latin typeface="Calibri"/>
                <a:cs typeface="Calibri"/>
              </a:rPr>
              <a:t>known </a:t>
            </a:r>
            <a:r>
              <a:rPr dirty="0" sz="2200" spc="-10">
                <a:latin typeface="Calibri"/>
                <a:cs typeface="Calibri"/>
              </a:rPr>
              <a:t>that </a:t>
            </a:r>
            <a:r>
              <a:rPr dirty="0" sz="2200" spc="-5">
                <a:latin typeface="Calibri"/>
                <a:cs typeface="Calibri"/>
              </a:rPr>
              <a:t>such aid </a:t>
            </a:r>
            <a:r>
              <a:rPr dirty="0" sz="2200" spc="-10">
                <a:latin typeface="Calibri"/>
                <a:cs typeface="Calibri"/>
              </a:rPr>
              <a:t>was  </a:t>
            </a:r>
            <a:r>
              <a:rPr dirty="0" sz="2200" spc="-5">
                <a:latin typeface="Calibri"/>
                <a:cs typeface="Calibri"/>
              </a:rPr>
              <a:t>not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permitted</a:t>
            </a:r>
            <a:endParaRPr sz="2200">
              <a:latin typeface="Calibri"/>
              <a:cs typeface="Calibri"/>
            </a:endParaRPr>
          </a:p>
          <a:p>
            <a:pPr marL="287020" marR="132715" indent="-274320">
              <a:lnSpc>
                <a:spcPts val="3100"/>
              </a:lnSpc>
              <a:spcBef>
                <a:spcPts val="6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5">
                <a:latin typeface="Calibri"/>
                <a:cs typeface="Calibri"/>
              </a:rPr>
              <a:t>standard </a:t>
            </a:r>
            <a:r>
              <a:rPr dirty="0" sz="2600" spc="-5">
                <a:latin typeface="Calibri"/>
                <a:cs typeface="Calibri"/>
              </a:rPr>
              <a:t>sanction </a:t>
            </a:r>
            <a:r>
              <a:rPr dirty="0" sz="2600" spc="-25">
                <a:latin typeface="Calibri"/>
                <a:cs typeface="Calibri"/>
              </a:rPr>
              <a:t>for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20">
                <a:latin typeface="Calibri"/>
                <a:cs typeface="Calibri"/>
              </a:rPr>
              <a:t>first offense </a:t>
            </a:r>
            <a:r>
              <a:rPr dirty="0" sz="2600" spc="-5">
                <a:latin typeface="Calibri"/>
                <a:cs typeface="Calibri"/>
              </a:rPr>
              <a:t>includes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90">
                <a:latin typeface="Calibri"/>
                <a:cs typeface="Calibri"/>
              </a:rPr>
              <a:t>one-  </a:t>
            </a:r>
            <a:r>
              <a:rPr dirty="0" sz="2600" spc="-10">
                <a:latin typeface="Calibri"/>
                <a:cs typeface="Calibri"/>
              </a:rPr>
              <a:t>quarter </a:t>
            </a:r>
            <a:r>
              <a:rPr dirty="0" sz="2600" spc="-5">
                <a:latin typeface="Calibri"/>
                <a:cs typeface="Calibri"/>
              </a:rPr>
              <a:t>suspension and 40 </a:t>
            </a:r>
            <a:r>
              <a:rPr dirty="0" sz="2600" spc="-10">
                <a:latin typeface="Calibri"/>
                <a:cs typeface="Calibri"/>
              </a:rPr>
              <a:t>hours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community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service.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09418" y="33019"/>
            <a:ext cx="256984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5" b="1">
                <a:solidFill>
                  <a:srgbClr val="FF0000"/>
                </a:solidFill>
                <a:latin typeface="Corbel"/>
                <a:cs typeface="Corbel"/>
              </a:rPr>
              <a:t>Make </a:t>
            </a:r>
            <a:r>
              <a:rPr dirty="0" sz="2400" spc="-5" b="1">
                <a:solidFill>
                  <a:srgbClr val="FF0000"/>
                </a:solidFill>
                <a:latin typeface="Corbel"/>
                <a:cs typeface="Corbel"/>
              </a:rPr>
              <a:t>sure you</a:t>
            </a:r>
            <a:r>
              <a:rPr dirty="0" sz="2400" spc="-45" b="1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Corbel"/>
                <a:cs typeface="Corbel"/>
              </a:rPr>
              <a:t>read  </a:t>
            </a:r>
            <a:r>
              <a:rPr dirty="0" sz="2400" b="1">
                <a:solidFill>
                  <a:srgbClr val="FF0000"/>
                </a:solidFill>
                <a:latin typeface="Corbel"/>
                <a:cs typeface="Corbel"/>
              </a:rPr>
              <a:t>and </a:t>
            </a:r>
            <a:r>
              <a:rPr dirty="0" sz="2400" spc="-5" b="1">
                <a:solidFill>
                  <a:srgbClr val="FF0000"/>
                </a:solidFill>
                <a:latin typeface="Corbel"/>
                <a:cs typeface="Corbel"/>
              </a:rPr>
              <a:t>understand</a:t>
            </a:r>
            <a:r>
              <a:rPr dirty="0" sz="2400" spc="-55" b="1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Corbel"/>
                <a:cs typeface="Corbel"/>
              </a:rPr>
              <a:t>it!</a:t>
            </a:r>
            <a:endParaRPr sz="2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379476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9038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Course</a:t>
            </a:r>
            <a:r>
              <a:rPr dirty="0" sz="3200" spc="-6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project: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4460" y="6723724"/>
            <a:ext cx="13462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10</a:t>
            </a:r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920747"/>
            <a:ext cx="8364220" cy="4754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5">
                <a:latin typeface="Calibri"/>
                <a:cs typeface="Calibri"/>
              </a:rPr>
              <a:t>Make </a:t>
            </a:r>
            <a:r>
              <a:rPr dirty="0" sz="2800" spc="-10">
                <a:latin typeface="Calibri"/>
                <a:cs typeface="Calibri"/>
              </a:rPr>
              <a:t>predictions </a:t>
            </a:r>
            <a:r>
              <a:rPr dirty="0" sz="2800" spc="-5">
                <a:latin typeface="Calibri"/>
                <a:cs typeface="Calibri"/>
              </a:rPr>
              <a:t>on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network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dataset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Performed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in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groups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up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students: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ct val="100200"/>
              </a:lnSpc>
              <a:spcBef>
                <a:spcPts val="6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Fine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have </a:t>
            </a:r>
            <a:r>
              <a:rPr dirty="0" sz="2800" spc="-15">
                <a:latin typeface="Calibri"/>
                <a:cs typeface="Calibri"/>
              </a:rPr>
              <a:t>groups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1 </a:t>
            </a:r>
            <a:r>
              <a:rPr dirty="0" sz="2800" spc="-5">
                <a:latin typeface="Calibri"/>
                <a:cs typeface="Calibri"/>
              </a:rPr>
              <a:t>or </a:t>
            </a:r>
            <a:r>
              <a:rPr dirty="0" sz="2800">
                <a:latin typeface="Calibri"/>
                <a:cs typeface="Calibri"/>
              </a:rPr>
              <a:t>2.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team </a:t>
            </a:r>
            <a:r>
              <a:rPr dirty="0" sz="2800" spc="-20">
                <a:latin typeface="Calibri"/>
                <a:cs typeface="Calibri"/>
              </a:rPr>
              <a:t>size </a:t>
            </a:r>
            <a:r>
              <a:rPr dirty="0" sz="2800" spc="-5">
                <a:latin typeface="Calibri"/>
                <a:cs typeface="Calibri"/>
              </a:rPr>
              <a:t>will </a:t>
            </a:r>
            <a:r>
              <a:rPr dirty="0" sz="2800">
                <a:latin typeface="Calibri"/>
                <a:cs typeface="Calibri"/>
              </a:rPr>
              <a:t>be  </a:t>
            </a:r>
            <a:r>
              <a:rPr dirty="0" sz="2800" spc="-30">
                <a:latin typeface="Calibri"/>
                <a:cs typeface="Calibri"/>
              </a:rPr>
              <a:t>taken </a:t>
            </a:r>
            <a:r>
              <a:rPr dirty="0" sz="2800" spc="-5">
                <a:latin typeface="Calibri"/>
                <a:cs typeface="Calibri"/>
              </a:rPr>
              <a:t>under </a:t>
            </a:r>
            <a:r>
              <a:rPr dirty="0" sz="2800" spc="-15">
                <a:latin typeface="Calibri"/>
                <a:cs typeface="Calibri"/>
              </a:rPr>
              <a:t>consideration </a:t>
            </a:r>
            <a:r>
              <a:rPr dirty="0" sz="2800" spc="-5">
                <a:latin typeface="Calibri"/>
                <a:cs typeface="Calibri"/>
              </a:rPr>
              <a:t>when </a:t>
            </a:r>
            <a:r>
              <a:rPr dirty="0" sz="2800" spc="-15">
                <a:latin typeface="Calibri"/>
                <a:cs typeface="Calibri"/>
              </a:rPr>
              <a:t>evaluating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scope  </a:t>
            </a:r>
            <a:r>
              <a:rPr dirty="0" sz="2800" spc="-5">
                <a:latin typeface="Calibri"/>
                <a:cs typeface="Calibri"/>
              </a:rPr>
              <a:t>of the </a:t>
            </a:r>
            <a:r>
              <a:rPr dirty="0" sz="2800" spc="-10">
                <a:latin typeface="Calibri"/>
                <a:cs typeface="Calibri"/>
              </a:rPr>
              <a:t>project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0">
                <a:latin typeface="Calibri"/>
                <a:cs typeface="Calibri"/>
              </a:rPr>
              <a:t>breadth </a:t>
            </a:r>
            <a:r>
              <a:rPr dirty="0" sz="2800" spc="-5">
                <a:latin typeface="Calibri"/>
                <a:cs typeface="Calibri"/>
              </a:rPr>
              <a:t>and depth. </a:t>
            </a:r>
            <a:r>
              <a:rPr dirty="0" sz="2800">
                <a:latin typeface="Calibri"/>
                <a:cs typeface="Calibri"/>
              </a:rPr>
              <a:t>But 3 </a:t>
            </a:r>
            <a:r>
              <a:rPr dirty="0" sz="2800" spc="-15">
                <a:latin typeface="Calibri"/>
                <a:cs typeface="Calibri"/>
              </a:rPr>
              <a:t>person  </a:t>
            </a:r>
            <a:r>
              <a:rPr dirty="0" sz="2800" spc="-10">
                <a:latin typeface="Calibri"/>
                <a:cs typeface="Calibri"/>
              </a:rPr>
              <a:t>teams can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15">
                <a:latin typeface="Calibri"/>
                <a:cs typeface="Calibri"/>
              </a:rPr>
              <a:t>more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efficient.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Project </a:t>
            </a:r>
            <a:r>
              <a:rPr dirty="0" sz="2800" spc="-5">
                <a:latin typeface="Calibri"/>
                <a:cs typeface="Calibri"/>
              </a:rPr>
              <a:t>is the </a:t>
            </a:r>
            <a:r>
              <a:rPr dirty="0" sz="2800" spc="-10" b="1">
                <a:latin typeface="Calibri"/>
                <a:cs typeface="Calibri"/>
              </a:rPr>
              <a:t>important work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class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35">
                <a:latin typeface="Calibri"/>
                <a:cs typeface="Calibri"/>
              </a:rPr>
              <a:t>Teaching </a:t>
            </a:r>
            <a:r>
              <a:rPr dirty="0" sz="2800" spc="-25">
                <a:latin typeface="Calibri"/>
                <a:cs typeface="Calibri"/>
              </a:rPr>
              <a:t>staff </a:t>
            </a:r>
            <a:r>
              <a:rPr dirty="0" sz="2800" spc="-10">
                <a:latin typeface="Calibri"/>
                <a:cs typeface="Calibri"/>
              </a:rPr>
              <a:t>will </a:t>
            </a:r>
            <a:r>
              <a:rPr dirty="0" sz="2800" spc="-5">
                <a:latin typeface="Calibri"/>
                <a:cs typeface="Calibri"/>
              </a:rPr>
              <a:t>help with </a:t>
            </a:r>
            <a:r>
              <a:rPr dirty="0" sz="2800" spc="-10">
                <a:latin typeface="Calibri"/>
                <a:cs typeface="Calibri"/>
              </a:rPr>
              <a:t>problems </a:t>
            </a:r>
            <a:r>
              <a:rPr dirty="0" sz="2800" spc="-5">
                <a:latin typeface="Calibri"/>
                <a:cs typeface="Calibri"/>
              </a:rPr>
              <a:t>and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ts val="3329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More </a:t>
            </a:r>
            <a:r>
              <a:rPr dirty="0" sz="2800" spc="-15">
                <a:latin typeface="Calibri"/>
                <a:cs typeface="Calibri"/>
              </a:rPr>
              <a:t>details to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40">
                <a:latin typeface="Calibri"/>
                <a:cs typeface="Calibri"/>
              </a:rPr>
              <a:t>follow.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Read:</a:t>
            </a:r>
            <a:r>
              <a:rPr dirty="0" sz="3200" spc="-55" b="1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3200" spc="-20" b="1" u="heavy">
                <a:solidFill>
                  <a:srgbClr val="168BBA"/>
                </a:solidFill>
                <a:latin typeface="Calibri"/>
                <a:cs typeface="Calibri"/>
                <a:hlinkClick r:id="rId3"/>
              </a:rPr>
              <a:t>http://cs224w.stanford.edu/info.html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02336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62000" y="1219198"/>
          <a:ext cx="7041515" cy="5193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0690"/>
                <a:gridCol w="2585211"/>
                <a:gridCol w="3195356"/>
              </a:tblGrid>
              <a:tr h="660400">
                <a:tc>
                  <a:txBody>
                    <a:bodyPr/>
                    <a:lstStyle/>
                    <a:p>
                      <a:pPr algn="ctr" marL="19558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2000" spc="-2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Week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16637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Assignment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16637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436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Due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on  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(11:59pm</a:t>
                      </a:r>
                      <a:r>
                        <a:rPr dirty="0" sz="2000" spc="-6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PT)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166370">
                    <a:solidFill>
                      <a:srgbClr val="00000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marL="1962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000" b="1">
                          <a:latin typeface="Corbel"/>
                          <a:cs typeface="Corbel"/>
                        </a:rPr>
                        <a:t>1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1524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000" spc="-5" b="1">
                          <a:latin typeface="Calibri"/>
                          <a:cs typeface="Calibri"/>
                        </a:rPr>
                        <a:t>Colab</a:t>
                      </a:r>
                      <a:r>
                        <a:rPr dirty="0" sz="2000" spc="-9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7E7E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marL="1962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000" b="1">
                          <a:latin typeface="Corbel"/>
                          <a:cs typeface="Corbel"/>
                        </a:rPr>
                        <a:t>1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000" spc="-5" b="1">
                          <a:latin typeface="Calibri"/>
                          <a:cs typeface="Calibri"/>
                        </a:rPr>
                        <a:t>Colab</a:t>
                      </a:r>
                      <a:r>
                        <a:rPr dirty="0" sz="2000" spc="-9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43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000" spc="-5">
                          <a:latin typeface="Calibri"/>
                          <a:cs typeface="Calibri"/>
                        </a:rPr>
                        <a:t>Thu, Jan</a:t>
                      </a:r>
                      <a:r>
                        <a:rPr dirty="0" sz="20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5">
                          <a:latin typeface="Calibri"/>
                          <a:cs typeface="Calibri"/>
                        </a:rPr>
                        <a:t>28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marL="1955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000" b="1">
                          <a:latin typeface="Corbel"/>
                          <a:cs typeface="Corbel"/>
                        </a:rPr>
                        <a:t>2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4127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000" spc="-5" b="1">
                          <a:latin typeface="Calibri"/>
                          <a:cs typeface="Calibri"/>
                        </a:rPr>
                        <a:t>Homework</a:t>
                      </a:r>
                      <a:r>
                        <a:rPr dirty="0" sz="2000" spc="-1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43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000" spc="-5">
                          <a:latin typeface="Calibri"/>
                          <a:cs typeface="Calibri"/>
                        </a:rPr>
                        <a:t>Thu,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20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solidFill>
                      <a:srgbClr val="E7E7E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marL="1955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000" b="1">
                          <a:latin typeface="Corbel"/>
                          <a:cs typeface="Corbel"/>
                        </a:rPr>
                        <a:t>3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4127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000" spc="-5" b="1">
                          <a:latin typeface="Calibri"/>
                          <a:cs typeface="Calibri"/>
                        </a:rPr>
                        <a:t>Colab</a:t>
                      </a:r>
                      <a:r>
                        <a:rPr dirty="0" sz="2000" spc="-9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43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000" spc="-5">
                          <a:latin typeface="Calibri"/>
                          <a:cs typeface="Calibri"/>
                        </a:rPr>
                        <a:t>Thu,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20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5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solidFill>
                      <a:srgbClr val="E7E7E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000" spc="-10" b="1">
                          <a:latin typeface="Calibri"/>
                          <a:cs typeface="Calibri"/>
                        </a:rPr>
                        <a:t>Project</a:t>
                      </a:r>
                      <a:r>
                        <a:rPr dirty="0" sz="20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latin typeface="Calibri"/>
                          <a:cs typeface="Calibri"/>
                        </a:rPr>
                        <a:t>Proposal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43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000" spc="-5">
                          <a:latin typeface="Calibri"/>
                          <a:cs typeface="Calibri"/>
                        </a:rPr>
                        <a:t>Thu,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20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5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marL="1962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000" b="1">
                          <a:latin typeface="Corbel"/>
                          <a:cs typeface="Corbel"/>
                        </a:rPr>
                        <a:t>4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1270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000" spc="-5" b="1">
                          <a:latin typeface="Calibri"/>
                          <a:cs typeface="Calibri"/>
                        </a:rPr>
                        <a:t>Homework</a:t>
                      </a:r>
                      <a:r>
                        <a:rPr dirty="0" sz="2000" spc="-1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270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43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000" spc="-5">
                          <a:latin typeface="Calibri"/>
                          <a:cs typeface="Calibri"/>
                        </a:rPr>
                        <a:t>Thu,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20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5">
                          <a:latin typeface="Calibri"/>
                          <a:cs typeface="Calibri"/>
                        </a:rPr>
                        <a:t>18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2700">
                    <a:solidFill>
                      <a:srgbClr val="E7E7E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marL="1962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000" b="1">
                          <a:latin typeface="Corbel"/>
                          <a:cs typeface="Corbel"/>
                        </a:rPr>
                        <a:t>5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000" spc="-5" b="1">
                          <a:latin typeface="Calibri"/>
                          <a:cs typeface="Calibri"/>
                        </a:rPr>
                        <a:t>Colab</a:t>
                      </a:r>
                      <a:r>
                        <a:rPr dirty="0" sz="2000" spc="-9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43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000" spc="-5">
                          <a:latin typeface="Calibri"/>
                          <a:cs typeface="Calibri"/>
                        </a:rPr>
                        <a:t>Thu,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20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5">
                          <a:latin typeface="Calibri"/>
                          <a:cs typeface="Calibri"/>
                        </a:rPr>
                        <a:t>25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marL="1955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000" b="1">
                          <a:latin typeface="Corbel"/>
                          <a:cs typeface="Corbel"/>
                        </a:rPr>
                        <a:t>6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000" spc="-5" b="1">
                          <a:latin typeface="Calibri"/>
                          <a:cs typeface="Calibri"/>
                        </a:rPr>
                        <a:t>Homework</a:t>
                      </a:r>
                      <a:r>
                        <a:rPr dirty="0" sz="2000" spc="-1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43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000" spc="-5">
                          <a:latin typeface="Calibri"/>
                          <a:cs typeface="Calibri"/>
                        </a:rPr>
                        <a:t>Thu,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Mar</a:t>
                      </a:r>
                      <a:r>
                        <a:rPr dirty="0" sz="20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marL="1962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b="1">
                          <a:latin typeface="Corbel"/>
                          <a:cs typeface="Corbel"/>
                        </a:rPr>
                        <a:t>7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3810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spc="-5" b="1">
                          <a:latin typeface="Calibri"/>
                          <a:cs typeface="Calibri"/>
                        </a:rPr>
                        <a:t>Colab</a:t>
                      </a:r>
                      <a:r>
                        <a:rPr dirty="0" sz="2000" spc="-9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43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spc="-5">
                          <a:latin typeface="Calibri"/>
                          <a:cs typeface="Calibri"/>
                        </a:rPr>
                        <a:t>Thu,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Mar</a:t>
                      </a:r>
                      <a:r>
                        <a:rPr dirty="0" sz="20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5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E7E7E7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marL="19558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000" b="1">
                          <a:latin typeface="Corbel"/>
                          <a:cs typeface="Corbel"/>
                        </a:rPr>
                        <a:t>8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6096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000" spc="-5" b="1">
                          <a:latin typeface="Calibri"/>
                          <a:cs typeface="Calibri"/>
                        </a:rPr>
                        <a:t>Colab</a:t>
                      </a:r>
                      <a:r>
                        <a:rPr dirty="0" sz="2000" spc="-9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436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2000" spc="-5">
                          <a:latin typeface="Calibri"/>
                          <a:cs typeface="Calibri"/>
                        </a:rPr>
                        <a:t>Thu,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Mar</a:t>
                      </a:r>
                      <a:r>
                        <a:rPr dirty="0" sz="20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5">
                          <a:latin typeface="Calibri"/>
                          <a:cs typeface="Calibri"/>
                        </a:rPr>
                        <a:t>18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solidFill>
                      <a:srgbClr val="E7E7E7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dirty="0" sz="2000" spc="-10" b="1">
                          <a:latin typeface="Calibri"/>
                          <a:cs typeface="Calibri"/>
                        </a:rPr>
                        <a:t>Project</a:t>
                      </a:r>
                      <a:r>
                        <a:rPr dirty="0" sz="20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latin typeface="Calibri"/>
                          <a:cs typeface="Calibri"/>
                        </a:rPr>
                        <a:t>Report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15875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43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000" spc="-5">
                          <a:latin typeface="Calibri"/>
                          <a:cs typeface="Calibri"/>
                        </a:rPr>
                        <a:t>Sun,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Mar</a:t>
                      </a:r>
                      <a:r>
                        <a:rPr dirty="0" sz="20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5">
                          <a:latin typeface="Calibri"/>
                          <a:cs typeface="Calibri"/>
                        </a:rPr>
                        <a:t>21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343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600" spc="-5" b="1">
                          <a:latin typeface="Corbel"/>
                          <a:cs typeface="Corbel"/>
                        </a:rPr>
                        <a:t>(No </a:t>
                      </a:r>
                      <a:r>
                        <a:rPr dirty="0" sz="1600" b="1">
                          <a:latin typeface="Corbel"/>
                          <a:cs typeface="Corbel"/>
                        </a:rPr>
                        <a:t>Late</a:t>
                      </a:r>
                      <a:r>
                        <a:rPr dirty="0" sz="1600" spc="-95" b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600" spc="-10" b="1">
                          <a:latin typeface="Corbel"/>
                          <a:cs typeface="Corbel"/>
                        </a:rPr>
                        <a:t>Periods!)</a:t>
                      </a:r>
                      <a:endParaRPr sz="1600">
                        <a:latin typeface="Corbel"/>
                        <a:cs typeface="Corbel"/>
                      </a:endParaRPr>
                    </a:p>
                  </a:txBody>
                  <a:tcPr marL="0" marR="0" marB="0" marT="36830"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11760" y="6723724"/>
            <a:ext cx="16065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11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18516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24014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course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self-contained.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No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single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topic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is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too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hard by</a:t>
            </a:r>
            <a:r>
              <a:rPr dirty="0" sz="3200" spc="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30" b="1">
                <a:solidFill>
                  <a:srgbClr val="0000FF"/>
                </a:solidFill>
                <a:latin typeface="Calibri"/>
                <a:cs typeface="Calibri"/>
              </a:rPr>
              <a:t>itself.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1760" y="6723724"/>
            <a:ext cx="16065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12</a:t>
            </a:r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327148"/>
            <a:ext cx="8285480" cy="378206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1828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But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we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will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cover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and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touch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upon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many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topics 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and this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is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what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makes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the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course</a:t>
            </a:r>
            <a:r>
              <a:rPr dirty="0" sz="3200" spc="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hard.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Good </a:t>
            </a: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background</a:t>
            </a:r>
            <a:r>
              <a:rPr dirty="0" sz="2800" spc="-4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in:</a:t>
            </a:r>
            <a:endParaRPr sz="2800">
              <a:latin typeface="Calibri"/>
              <a:cs typeface="Calibri"/>
            </a:endParaRPr>
          </a:p>
          <a:p>
            <a:pPr lvl="2" marL="890269" indent="-228600">
              <a:lnSpc>
                <a:spcPct val="100000"/>
              </a:lnSpc>
              <a:spcBef>
                <a:spcPts val="545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400" spc="-5">
                <a:latin typeface="Calibri"/>
                <a:cs typeface="Calibri"/>
              </a:rPr>
              <a:t>Machine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  <a:p>
            <a:pPr lvl="2" marL="890269" indent="-228600">
              <a:lnSpc>
                <a:spcPct val="100000"/>
              </a:lnSpc>
              <a:spcBef>
                <a:spcPts val="625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400" spc="-5">
                <a:latin typeface="Calibri"/>
                <a:cs typeface="Calibri"/>
              </a:rPr>
              <a:t>Algorithms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15">
                <a:latin typeface="Calibri"/>
                <a:cs typeface="Calibri"/>
              </a:rPr>
              <a:t>graph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theory</a:t>
            </a:r>
            <a:endParaRPr sz="2400">
              <a:latin typeface="Calibri"/>
              <a:cs typeface="Calibri"/>
            </a:endParaRPr>
          </a:p>
          <a:p>
            <a:pPr lvl="2" marL="890269" indent="-228600">
              <a:lnSpc>
                <a:spcPct val="100000"/>
              </a:lnSpc>
              <a:spcBef>
                <a:spcPts val="505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400" spc="-5">
                <a:latin typeface="Calibri"/>
                <a:cs typeface="Calibri"/>
              </a:rPr>
              <a:t>Probability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statistics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Programming:</a:t>
            </a:r>
            <a:endParaRPr sz="2800">
              <a:latin typeface="Calibri"/>
              <a:cs typeface="Calibri"/>
            </a:endParaRPr>
          </a:p>
          <a:p>
            <a:pPr lvl="2" marL="890269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400" spc="-60">
                <a:latin typeface="Calibri"/>
                <a:cs typeface="Calibri"/>
              </a:rPr>
              <a:t>You </a:t>
            </a:r>
            <a:r>
              <a:rPr dirty="0" sz="2400" spc="-5">
                <a:latin typeface="Calibri"/>
                <a:cs typeface="Calibri"/>
              </a:rPr>
              <a:t>should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5">
                <a:latin typeface="Calibri"/>
                <a:cs typeface="Calibri"/>
              </a:rPr>
              <a:t>able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10">
                <a:latin typeface="Calibri"/>
                <a:cs typeface="Calibri"/>
              </a:rPr>
              <a:t>write </a:t>
            </a:r>
            <a:r>
              <a:rPr dirty="0" sz="2400" spc="-5">
                <a:latin typeface="Calibri"/>
                <a:cs typeface="Calibri"/>
              </a:rPr>
              <a:t>non-trivial </a:t>
            </a:r>
            <a:r>
              <a:rPr dirty="0" sz="2400" spc="-15">
                <a:latin typeface="Calibri"/>
                <a:cs typeface="Calibri"/>
              </a:rPr>
              <a:t>programs </a:t>
            </a:r>
            <a:r>
              <a:rPr dirty="0" sz="2400" spc="-5">
                <a:latin typeface="Calibri"/>
                <a:cs typeface="Calibri"/>
              </a:rPr>
              <a:t>(in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Python)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373111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552831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5" b="1">
                <a:solidFill>
                  <a:srgbClr val="000000"/>
                </a:solidFill>
                <a:latin typeface="Calibri"/>
                <a:cs typeface="Calibri"/>
              </a:rPr>
              <a:t>We </a:t>
            </a:r>
            <a:r>
              <a:rPr dirty="0" sz="3000" b="1">
                <a:solidFill>
                  <a:srgbClr val="000000"/>
                </a:solidFill>
                <a:latin typeface="Calibri"/>
                <a:cs typeface="Calibri"/>
              </a:rPr>
              <a:t>use</a:t>
            </a:r>
            <a:r>
              <a:rPr dirty="0" sz="3000" b="1">
                <a:latin typeface="Calibri"/>
                <a:cs typeface="Calibri"/>
              </a:rPr>
              <a:t> </a:t>
            </a:r>
            <a:r>
              <a:rPr dirty="0" sz="3000" spc="-45" b="1" u="heavy">
                <a:latin typeface="Calibri"/>
                <a:cs typeface="Calibri"/>
              </a:rPr>
              <a:t>PyTorch </a:t>
            </a:r>
            <a:r>
              <a:rPr dirty="0" sz="3000" spc="-5" b="1" u="heavy">
                <a:latin typeface="Calibri"/>
                <a:cs typeface="Calibri"/>
              </a:rPr>
              <a:t>Geometric</a:t>
            </a:r>
            <a:r>
              <a:rPr dirty="0" sz="3000" spc="5" b="1" u="heavy">
                <a:latin typeface="Calibri"/>
                <a:cs typeface="Calibri"/>
              </a:rPr>
              <a:t> </a:t>
            </a:r>
            <a:r>
              <a:rPr dirty="0" sz="3000" spc="0" b="1" u="heavy">
                <a:latin typeface="Calibri"/>
                <a:cs typeface="Calibri"/>
              </a:rPr>
              <a:t>(PyG)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5" b="1">
                <a:solidFill>
                  <a:srgbClr val="000000"/>
                </a:solidFill>
                <a:latin typeface="Calibri"/>
                <a:cs typeface="Calibri"/>
              </a:rPr>
              <a:t>We </a:t>
            </a:r>
            <a:r>
              <a:rPr dirty="0" sz="3000" spc="-5" b="1">
                <a:solidFill>
                  <a:srgbClr val="000000"/>
                </a:solidFill>
                <a:latin typeface="Calibri"/>
                <a:cs typeface="Calibri"/>
              </a:rPr>
              <a:t>further</a:t>
            </a:r>
            <a:r>
              <a:rPr dirty="0" sz="30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000000"/>
                </a:solidFill>
                <a:latin typeface="Calibri"/>
                <a:cs typeface="Calibri"/>
              </a:rPr>
              <a:t>recommend: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1760" y="6723724"/>
            <a:ext cx="16065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13</a:t>
            </a:r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280689"/>
            <a:ext cx="8152130" cy="422465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6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 b="1" u="heavy">
                <a:solidFill>
                  <a:srgbClr val="C00000"/>
                </a:solidFill>
                <a:latin typeface="Calibri"/>
                <a:cs typeface="Calibri"/>
              </a:rPr>
              <a:t>DeepSNAP</a:t>
            </a:r>
            <a:r>
              <a:rPr dirty="0" sz="2600" spc="-5" b="1">
                <a:latin typeface="Calibri"/>
                <a:cs typeface="Calibri"/>
              </a:rPr>
              <a:t>: </a:t>
            </a:r>
            <a:r>
              <a:rPr dirty="0" sz="2600" spc="-10">
                <a:latin typeface="Calibri"/>
                <a:cs typeface="Calibri"/>
              </a:rPr>
              <a:t>Library that assists deep </a:t>
            </a:r>
            <a:r>
              <a:rPr dirty="0" sz="2600" spc="-5">
                <a:latin typeface="Calibri"/>
                <a:cs typeface="Calibri"/>
              </a:rPr>
              <a:t>learning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 spc="-65">
                <a:latin typeface="Calibri"/>
                <a:cs typeface="Calibri"/>
              </a:rPr>
              <a:t>graphs.</a:t>
            </a:r>
            <a:endParaRPr sz="2600">
              <a:latin typeface="Calibri"/>
              <a:cs typeface="Calibri"/>
            </a:endParaRPr>
          </a:p>
          <a:p>
            <a:pPr lvl="1" marL="890269" indent="-228600">
              <a:lnSpc>
                <a:spcPct val="100000"/>
              </a:lnSpc>
              <a:spcBef>
                <a:spcPts val="470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200" spc="-10">
                <a:latin typeface="Calibri"/>
                <a:cs typeface="Calibri"/>
              </a:rPr>
              <a:t>Flexible </a:t>
            </a:r>
            <a:r>
              <a:rPr dirty="0" sz="2200" spc="-15">
                <a:latin typeface="Calibri"/>
                <a:cs typeface="Calibri"/>
              </a:rPr>
              <a:t>graph </a:t>
            </a:r>
            <a:r>
              <a:rPr dirty="0" sz="2200" spc="-10">
                <a:latin typeface="Calibri"/>
                <a:cs typeface="Calibri"/>
              </a:rPr>
              <a:t>manipulation, </a:t>
            </a:r>
            <a:r>
              <a:rPr dirty="0" sz="2200" spc="-15">
                <a:latin typeface="Calibri"/>
                <a:cs typeface="Calibri"/>
              </a:rPr>
              <a:t>standard </a:t>
            </a:r>
            <a:r>
              <a:rPr dirty="0" sz="2200" spc="-20">
                <a:latin typeface="Calibri"/>
                <a:cs typeface="Calibri"/>
              </a:rPr>
              <a:t>data </a:t>
            </a:r>
            <a:r>
              <a:rPr dirty="0" sz="2200" spc="-5">
                <a:latin typeface="Calibri"/>
                <a:cs typeface="Calibri"/>
              </a:rPr>
              <a:t>split pipeline,</a:t>
            </a:r>
            <a:r>
              <a:rPr dirty="0" sz="2200" spc="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…</a:t>
            </a:r>
            <a:endParaRPr sz="2200">
              <a:latin typeface="Calibri"/>
              <a:cs typeface="Calibri"/>
            </a:endParaRPr>
          </a:p>
          <a:p>
            <a:pPr marL="625475" marR="1049655" indent="-274320">
              <a:lnSpc>
                <a:spcPts val="3100"/>
              </a:lnSpc>
              <a:spcBef>
                <a:spcPts val="8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5" b="1" u="heavy">
                <a:solidFill>
                  <a:srgbClr val="168BBA"/>
                </a:solidFill>
                <a:latin typeface="Calibri"/>
                <a:cs typeface="Calibri"/>
              </a:rPr>
              <a:t>GraphGym</a:t>
            </a:r>
            <a:r>
              <a:rPr dirty="0" sz="2600" spc="-15" b="1">
                <a:latin typeface="Calibri"/>
                <a:cs typeface="Calibri"/>
              </a:rPr>
              <a:t>: </a:t>
            </a:r>
            <a:r>
              <a:rPr dirty="0" sz="2600" spc="-15">
                <a:latin typeface="Calibri"/>
                <a:cs typeface="Calibri"/>
              </a:rPr>
              <a:t>Platform </a:t>
            </a:r>
            <a:r>
              <a:rPr dirty="0" sz="2600" spc="-25">
                <a:latin typeface="Calibri"/>
                <a:cs typeface="Calibri"/>
              </a:rPr>
              <a:t>for </a:t>
            </a:r>
            <a:r>
              <a:rPr dirty="0" sz="2600" spc="-5">
                <a:latin typeface="Calibri"/>
                <a:cs typeface="Calibri"/>
              </a:rPr>
              <a:t>designing </a:t>
            </a:r>
            <a:r>
              <a:rPr dirty="0" sz="2600" spc="-15">
                <a:latin typeface="Calibri"/>
                <a:cs typeface="Calibri"/>
              </a:rPr>
              <a:t>Graph </a:t>
            </a:r>
            <a:r>
              <a:rPr dirty="0" sz="2600" spc="-90">
                <a:latin typeface="Calibri"/>
                <a:cs typeface="Calibri"/>
              </a:rPr>
              <a:t>Neural  </a:t>
            </a:r>
            <a:r>
              <a:rPr dirty="0" sz="2600" spc="-10">
                <a:latin typeface="Calibri"/>
                <a:cs typeface="Calibri"/>
              </a:rPr>
              <a:t>Networks.</a:t>
            </a:r>
            <a:endParaRPr sz="2600">
              <a:latin typeface="Calibri"/>
              <a:cs typeface="Calibri"/>
            </a:endParaRPr>
          </a:p>
          <a:p>
            <a:pPr lvl="1" marL="890269" marR="560070" indent="-228600">
              <a:lnSpc>
                <a:spcPts val="2620"/>
              </a:lnSpc>
              <a:spcBef>
                <a:spcPts val="570"/>
              </a:spcBef>
              <a:buClr>
                <a:srgbClr val="E66C7D"/>
              </a:buClr>
              <a:buFont typeface="Malgun Gothic"/>
              <a:buChar char="▪"/>
              <a:tabLst>
                <a:tab pos="890269" algn="l"/>
              </a:tabLst>
            </a:pPr>
            <a:r>
              <a:rPr dirty="0" sz="2200" spc="-10">
                <a:latin typeface="Calibri"/>
                <a:cs typeface="Calibri"/>
              </a:rPr>
              <a:t>Modularized </a:t>
            </a:r>
            <a:r>
              <a:rPr dirty="0" sz="2200" spc="-5">
                <a:latin typeface="Calibri"/>
                <a:cs typeface="Calibri"/>
              </a:rPr>
              <a:t>GNN </a:t>
            </a:r>
            <a:r>
              <a:rPr dirty="0" sz="2200" spc="-10">
                <a:latin typeface="Calibri"/>
                <a:cs typeface="Calibri"/>
              </a:rPr>
              <a:t>implementation, </a:t>
            </a:r>
            <a:r>
              <a:rPr dirty="0" sz="2200" spc="-5">
                <a:latin typeface="Calibri"/>
                <a:cs typeface="Calibri"/>
              </a:rPr>
              <a:t>simple </a:t>
            </a:r>
            <a:r>
              <a:rPr dirty="0" sz="2200" spc="-50">
                <a:latin typeface="Calibri"/>
                <a:cs typeface="Calibri"/>
              </a:rPr>
              <a:t>hyperparameter  </a:t>
            </a:r>
            <a:r>
              <a:rPr dirty="0" sz="2200" spc="-5">
                <a:latin typeface="Calibri"/>
                <a:cs typeface="Calibri"/>
              </a:rPr>
              <a:t>tuning, </a:t>
            </a:r>
            <a:r>
              <a:rPr dirty="0" sz="2200" spc="-10">
                <a:latin typeface="Calibri"/>
                <a:cs typeface="Calibri"/>
              </a:rPr>
              <a:t>flexible </a:t>
            </a:r>
            <a:r>
              <a:rPr dirty="0" sz="2200" spc="-5">
                <a:latin typeface="Calibri"/>
                <a:cs typeface="Calibri"/>
              </a:rPr>
              <a:t>user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customization</a:t>
            </a:r>
            <a:endParaRPr sz="2200">
              <a:latin typeface="Calibri"/>
              <a:cs typeface="Calibri"/>
            </a:endParaRPr>
          </a:p>
          <a:p>
            <a:pPr marL="625475" marR="379730" indent="-274320">
              <a:lnSpc>
                <a:spcPct val="100800"/>
              </a:lnSpc>
              <a:spcBef>
                <a:spcPts val="4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Both </a:t>
            </a:r>
            <a:r>
              <a:rPr dirty="0" sz="2600" spc="-15">
                <a:latin typeface="Calibri"/>
                <a:cs typeface="Calibri"/>
              </a:rPr>
              <a:t>platforms </a:t>
            </a:r>
            <a:r>
              <a:rPr dirty="0" sz="2600" spc="-10">
                <a:latin typeface="Calibri"/>
                <a:cs typeface="Calibri"/>
              </a:rPr>
              <a:t>are very helpful </a:t>
            </a:r>
            <a:r>
              <a:rPr dirty="0" sz="2600" spc="-25">
                <a:latin typeface="Calibri"/>
                <a:cs typeface="Calibri"/>
              </a:rPr>
              <a:t>for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5">
                <a:latin typeface="Calibri"/>
                <a:cs typeface="Calibri"/>
              </a:rPr>
              <a:t>course </a:t>
            </a:r>
            <a:r>
              <a:rPr dirty="0" sz="2600" spc="-75">
                <a:latin typeface="Calibri"/>
                <a:cs typeface="Calibri"/>
              </a:rPr>
              <a:t>project  </a:t>
            </a:r>
            <a:r>
              <a:rPr dirty="0" sz="2600" spc="-15">
                <a:latin typeface="Calibri"/>
                <a:cs typeface="Calibri"/>
              </a:rPr>
              <a:t>(save </a:t>
            </a:r>
            <a:r>
              <a:rPr dirty="0" sz="2600" spc="-10">
                <a:latin typeface="Calibri"/>
                <a:cs typeface="Calibri"/>
              </a:rPr>
              <a:t>your </a:t>
            </a:r>
            <a:r>
              <a:rPr dirty="0" sz="2600" spc="-5">
                <a:latin typeface="Calibri"/>
                <a:cs typeface="Calibri"/>
              </a:rPr>
              <a:t>time </a:t>
            </a:r>
            <a:r>
              <a:rPr dirty="0" sz="2600">
                <a:latin typeface="Calibri"/>
                <a:cs typeface="Calibri"/>
              </a:rPr>
              <a:t>&amp; </a:t>
            </a:r>
            <a:r>
              <a:rPr dirty="0" sz="2600" spc="-10">
                <a:latin typeface="Calibri"/>
                <a:cs typeface="Calibri"/>
              </a:rPr>
              <a:t>provide advanced </a:t>
            </a:r>
            <a:r>
              <a:rPr dirty="0" sz="2600" spc="-5">
                <a:latin typeface="Calibri"/>
                <a:cs typeface="Calibri"/>
              </a:rPr>
              <a:t>GNN  functionalities)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58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latin typeface="Calibri"/>
                <a:cs typeface="Calibri"/>
              </a:rPr>
              <a:t>Other </a:t>
            </a:r>
            <a:r>
              <a:rPr dirty="0" sz="3000" spc="-10" b="1">
                <a:latin typeface="Calibri"/>
                <a:cs typeface="Calibri"/>
              </a:rPr>
              <a:t>network </a:t>
            </a:r>
            <a:r>
              <a:rPr dirty="0" sz="3000" spc="-5" b="1">
                <a:latin typeface="Calibri"/>
                <a:cs typeface="Calibri"/>
              </a:rPr>
              <a:t>analytics </a:t>
            </a:r>
            <a:r>
              <a:rPr dirty="0" sz="3000" spc="-10" b="1">
                <a:latin typeface="Calibri"/>
                <a:cs typeface="Calibri"/>
              </a:rPr>
              <a:t>tools</a:t>
            </a:r>
            <a:r>
              <a:rPr dirty="0" sz="3000" spc="-10">
                <a:latin typeface="Calibri"/>
                <a:cs typeface="Calibri"/>
              </a:rPr>
              <a:t>: </a:t>
            </a:r>
            <a:r>
              <a:rPr dirty="0" sz="3000" spc="-100">
                <a:latin typeface="Calibri"/>
                <a:cs typeface="Calibri"/>
              </a:rPr>
              <a:t>SNAP.PY,</a:t>
            </a:r>
            <a:r>
              <a:rPr dirty="0" sz="3000" spc="1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NetworkX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3270503"/>
            <a:ext cx="7757159" cy="13136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694297" y="6710388"/>
            <a:ext cx="178435" cy="1606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r>
              <a:rPr dirty="0" sz="900" spc="-5">
                <a:latin typeface="Arial"/>
                <a:cs typeface="Arial"/>
              </a:rPr>
              <a:t>15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6847" y="729996"/>
            <a:ext cx="578612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5" b="1">
                <a:solidFill>
                  <a:srgbClr val="F0AD00"/>
                </a:solidFill>
                <a:latin typeface="Corbel"/>
                <a:cs typeface="Corbel"/>
              </a:rPr>
              <a:t>Why</a:t>
            </a:r>
            <a:r>
              <a:rPr dirty="0" sz="8000" spc="-380" b="1">
                <a:solidFill>
                  <a:srgbClr val="F0AD00"/>
                </a:solidFill>
                <a:latin typeface="Corbel"/>
                <a:cs typeface="Corbel"/>
              </a:rPr>
              <a:t> </a:t>
            </a:r>
            <a:r>
              <a:rPr dirty="0" sz="8000" spc="-5" b="1">
                <a:solidFill>
                  <a:srgbClr val="F0AD00"/>
                </a:solidFill>
                <a:latin typeface="Corbel"/>
                <a:cs typeface="Corbel"/>
              </a:rPr>
              <a:t>Graphs?</a:t>
            </a:r>
            <a:endParaRPr sz="8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2698" y="1974595"/>
            <a:ext cx="8194675" cy="33147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99900"/>
              </a:lnSpc>
              <a:spcBef>
                <a:spcPts val="105"/>
              </a:spcBef>
            </a:pPr>
            <a:r>
              <a:rPr dirty="0" sz="5400" spc="-5" b="1">
                <a:latin typeface="Corbel"/>
                <a:cs typeface="Corbel"/>
              </a:rPr>
              <a:t>Graphs are </a:t>
            </a:r>
            <a:r>
              <a:rPr dirty="0" sz="5400" b="1">
                <a:latin typeface="Corbel"/>
                <a:cs typeface="Corbel"/>
              </a:rPr>
              <a:t>a </a:t>
            </a:r>
            <a:r>
              <a:rPr dirty="0" sz="5400" spc="-5" b="1">
                <a:latin typeface="Corbel"/>
                <a:cs typeface="Corbel"/>
              </a:rPr>
              <a:t>general  language for describing</a:t>
            </a:r>
            <a:r>
              <a:rPr dirty="0" sz="5400" spc="-40" b="1">
                <a:latin typeface="Corbel"/>
                <a:cs typeface="Corbel"/>
              </a:rPr>
              <a:t> </a:t>
            </a:r>
            <a:r>
              <a:rPr dirty="0" sz="5400" spc="-5" b="1">
                <a:latin typeface="Corbel"/>
                <a:cs typeface="Corbel"/>
              </a:rPr>
              <a:t>and  analyzing entities with  relations/interactions</a:t>
            </a:r>
            <a:endParaRPr sz="5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67000" y="1295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643029" y="1272379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60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29"/>
                </a:lnTo>
                <a:lnTo>
                  <a:pt x="84324" y="85089"/>
                </a:lnTo>
                <a:lnTo>
                  <a:pt x="49006" y="128269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29"/>
                </a:lnTo>
                <a:lnTo>
                  <a:pt x="67110" y="476250"/>
                </a:lnTo>
                <a:lnTo>
                  <a:pt x="106650" y="515619"/>
                </a:lnTo>
                <a:lnTo>
                  <a:pt x="153128" y="546100"/>
                </a:lnTo>
                <a:lnTo>
                  <a:pt x="205384" y="567689"/>
                </a:lnTo>
                <a:lnTo>
                  <a:pt x="262191" y="579119"/>
                </a:lnTo>
                <a:lnTo>
                  <a:pt x="291880" y="580389"/>
                </a:lnTo>
                <a:lnTo>
                  <a:pt x="321558" y="579119"/>
                </a:lnTo>
                <a:lnTo>
                  <a:pt x="350395" y="575310"/>
                </a:lnTo>
                <a:lnTo>
                  <a:pt x="378227" y="567689"/>
                </a:lnTo>
                <a:lnTo>
                  <a:pt x="404897" y="557529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79"/>
                </a:lnTo>
                <a:lnTo>
                  <a:pt x="212557" y="541019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89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89"/>
                </a:lnTo>
                <a:lnTo>
                  <a:pt x="40609" y="212089"/>
                </a:lnTo>
                <a:lnTo>
                  <a:pt x="60483" y="165100"/>
                </a:lnTo>
                <a:lnTo>
                  <a:pt x="88715" y="123189"/>
                </a:lnTo>
                <a:lnTo>
                  <a:pt x="124251" y="87629"/>
                </a:lnTo>
                <a:lnTo>
                  <a:pt x="166037" y="59689"/>
                </a:lnTo>
                <a:lnTo>
                  <a:pt x="213010" y="40639"/>
                </a:lnTo>
                <a:lnTo>
                  <a:pt x="264125" y="29210"/>
                </a:lnTo>
                <a:lnTo>
                  <a:pt x="290912" y="27939"/>
                </a:lnTo>
                <a:lnTo>
                  <a:pt x="415470" y="27939"/>
                </a:lnTo>
                <a:lnTo>
                  <a:pt x="402730" y="21589"/>
                </a:lnTo>
                <a:lnTo>
                  <a:pt x="375955" y="12700"/>
                </a:lnTo>
                <a:lnTo>
                  <a:pt x="348039" y="5079"/>
                </a:lnTo>
                <a:lnTo>
                  <a:pt x="319148" y="1269"/>
                </a:lnTo>
                <a:lnTo>
                  <a:pt x="289459" y="0"/>
                </a:lnTo>
                <a:close/>
              </a:path>
              <a:path w="581660" h="580389">
                <a:moveTo>
                  <a:pt x="415470" y="27939"/>
                </a:moveTo>
                <a:lnTo>
                  <a:pt x="290912" y="27939"/>
                </a:lnTo>
                <a:lnTo>
                  <a:pt x="317696" y="29210"/>
                </a:lnTo>
                <a:lnTo>
                  <a:pt x="343695" y="34289"/>
                </a:lnTo>
                <a:lnTo>
                  <a:pt x="392831" y="49529"/>
                </a:lnTo>
                <a:lnTo>
                  <a:pt x="437292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29"/>
                </a:lnTo>
                <a:lnTo>
                  <a:pt x="547302" y="237489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29"/>
                </a:lnTo>
                <a:lnTo>
                  <a:pt x="507719" y="436879"/>
                </a:lnTo>
                <a:lnTo>
                  <a:pt x="475702" y="476250"/>
                </a:lnTo>
                <a:lnTo>
                  <a:pt x="436910" y="508000"/>
                </a:lnTo>
                <a:lnTo>
                  <a:pt x="392398" y="532129"/>
                </a:lnTo>
                <a:lnTo>
                  <a:pt x="343223" y="547369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60"/>
                </a:lnTo>
                <a:lnTo>
                  <a:pt x="497015" y="495300"/>
                </a:lnTo>
                <a:lnTo>
                  <a:pt x="532333" y="452119"/>
                </a:lnTo>
                <a:lnTo>
                  <a:pt x="558948" y="402589"/>
                </a:lnTo>
                <a:lnTo>
                  <a:pt x="575677" y="347979"/>
                </a:lnTo>
                <a:lnTo>
                  <a:pt x="581339" y="289560"/>
                </a:lnTo>
                <a:lnTo>
                  <a:pt x="579718" y="259079"/>
                </a:lnTo>
                <a:lnTo>
                  <a:pt x="567917" y="203200"/>
                </a:lnTo>
                <a:lnTo>
                  <a:pt x="545692" y="151129"/>
                </a:lnTo>
                <a:lnTo>
                  <a:pt x="514229" y="104139"/>
                </a:lnTo>
                <a:lnTo>
                  <a:pt x="474689" y="64769"/>
                </a:lnTo>
                <a:lnTo>
                  <a:pt x="428210" y="34289"/>
                </a:lnTo>
                <a:lnTo>
                  <a:pt x="415470" y="27939"/>
                </a:lnTo>
                <a:close/>
              </a:path>
              <a:path w="581660" h="580389">
                <a:moveTo>
                  <a:pt x="291396" y="38100"/>
                </a:moveTo>
                <a:lnTo>
                  <a:pt x="240506" y="43179"/>
                </a:lnTo>
                <a:lnTo>
                  <a:pt x="193107" y="57150"/>
                </a:lnTo>
                <a:lnTo>
                  <a:pt x="150178" y="81279"/>
                </a:lnTo>
                <a:lnTo>
                  <a:pt x="112740" y="111760"/>
                </a:lnTo>
                <a:lnTo>
                  <a:pt x="81824" y="148589"/>
                </a:lnTo>
                <a:lnTo>
                  <a:pt x="58451" y="191769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89"/>
                </a:lnTo>
                <a:lnTo>
                  <a:pt x="68465" y="410210"/>
                </a:lnTo>
                <a:lnTo>
                  <a:pt x="95528" y="450850"/>
                </a:lnTo>
                <a:lnTo>
                  <a:pt x="129647" y="485139"/>
                </a:lnTo>
                <a:lnTo>
                  <a:pt x="169793" y="511810"/>
                </a:lnTo>
                <a:lnTo>
                  <a:pt x="214947" y="530860"/>
                </a:lnTo>
                <a:lnTo>
                  <a:pt x="264126" y="541019"/>
                </a:lnTo>
                <a:lnTo>
                  <a:pt x="289943" y="542289"/>
                </a:lnTo>
                <a:lnTo>
                  <a:pt x="315766" y="541019"/>
                </a:lnTo>
                <a:lnTo>
                  <a:pt x="340833" y="537210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29"/>
                </a:lnTo>
                <a:lnTo>
                  <a:pt x="217337" y="521969"/>
                </a:lnTo>
                <a:lnTo>
                  <a:pt x="173960" y="502919"/>
                </a:lnTo>
                <a:lnTo>
                  <a:pt x="135397" y="477519"/>
                </a:lnTo>
                <a:lnTo>
                  <a:pt x="102631" y="443229"/>
                </a:lnTo>
                <a:lnTo>
                  <a:pt x="76671" y="405129"/>
                </a:lnTo>
                <a:lnTo>
                  <a:pt x="58497" y="361950"/>
                </a:lnTo>
                <a:lnTo>
                  <a:pt x="49071" y="313689"/>
                </a:lnTo>
                <a:lnTo>
                  <a:pt x="47939" y="289560"/>
                </a:lnTo>
                <a:lnTo>
                  <a:pt x="49316" y="264160"/>
                </a:lnTo>
                <a:lnTo>
                  <a:pt x="59203" y="217169"/>
                </a:lnTo>
                <a:lnTo>
                  <a:pt x="77781" y="173989"/>
                </a:lnTo>
                <a:lnTo>
                  <a:pt x="104091" y="134619"/>
                </a:lnTo>
                <a:lnTo>
                  <a:pt x="137166" y="102869"/>
                </a:lnTo>
                <a:lnTo>
                  <a:pt x="176005" y="76200"/>
                </a:lnTo>
                <a:lnTo>
                  <a:pt x="219610" y="58419"/>
                </a:lnTo>
                <a:lnTo>
                  <a:pt x="267022" y="48260"/>
                </a:lnTo>
                <a:lnTo>
                  <a:pt x="291880" y="46989"/>
                </a:lnTo>
                <a:lnTo>
                  <a:pt x="356734" y="46989"/>
                </a:lnTo>
                <a:lnTo>
                  <a:pt x="342247" y="43179"/>
                </a:lnTo>
                <a:lnTo>
                  <a:pt x="317211" y="39369"/>
                </a:lnTo>
                <a:lnTo>
                  <a:pt x="291396" y="38100"/>
                </a:lnTo>
                <a:close/>
              </a:path>
              <a:path w="581660" h="580389">
                <a:moveTo>
                  <a:pt x="356734" y="46989"/>
                </a:moveTo>
                <a:lnTo>
                  <a:pt x="291880" y="46989"/>
                </a:lnTo>
                <a:lnTo>
                  <a:pt x="316727" y="49529"/>
                </a:lnTo>
                <a:lnTo>
                  <a:pt x="340798" y="53339"/>
                </a:lnTo>
                <a:lnTo>
                  <a:pt x="386232" y="67310"/>
                </a:lnTo>
                <a:lnTo>
                  <a:pt x="427323" y="90169"/>
                </a:lnTo>
                <a:lnTo>
                  <a:pt x="463113" y="119379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69"/>
                </a:lnTo>
                <a:lnTo>
                  <a:pt x="533400" y="292100"/>
                </a:lnTo>
                <a:lnTo>
                  <a:pt x="532023" y="316229"/>
                </a:lnTo>
                <a:lnTo>
                  <a:pt x="522135" y="363219"/>
                </a:lnTo>
                <a:lnTo>
                  <a:pt x="503558" y="407669"/>
                </a:lnTo>
                <a:lnTo>
                  <a:pt x="477248" y="445769"/>
                </a:lnTo>
                <a:lnTo>
                  <a:pt x="444173" y="478789"/>
                </a:lnTo>
                <a:lnTo>
                  <a:pt x="405334" y="504189"/>
                </a:lnTo>
                <a:lnTo>
                  <a:pt x="361729" y="521969"/>
                </a:lnTo>
                <a:lnTo>
                  <a:pt x="314317" y="532129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79"/>
                </a:lnTo>
                <a:lnTo>
                  <a:pt x="450630" y="485139"/>
                </a:lnTo>
                <a:lnTo>
                  <a:pt x="484936" y="450850"/>
                </a:lnTo>
                <a:lnTo>
                  <a:pt x="512207" y="411479"/>
                </a:lnTo>
                <a:lnTo>
                  <a:pt x="531432" y="365760"/>
                </a:lnTo>
                <a:lnTo>
                  <a:pt x="541611" y="317500"/>
                </a:lnTo>
                <a:lnTo>
                  <a:pt x="542926" y="289560"/>
                </a:lnTo>
                <a:lnTo>
                  <a:pt x="541757" y="265429"/>
                </a:lnTo>
                <a:lnTo>
                  <a:pt x="531856" y="215900"/>
                </a:lnTo>
                <a:lnTo>
                  <a:pt x="512874" y="170179"/>
                </a:lnTo>
                <a:lnTo>
                  <a:pt x="485811" y="130810"/>
                </a:lnTo>
                <a:lnTo>
                  <a:pt x="451692" y="96519"/>
                </a:lnTo>
                <a:lnTo>
                  <a:pt x="411546" y="68579"/>
                </a:lnTo>
                <a:lnTo>
                  <a:pt x="366392" y="49529"/>
                </a:lnTo>
                <a:lnTo>
                  <a:pt x="356734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572000" y="1143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48030" y="1119979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60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29"/>
                </a:lnTo>
                <a:lnTo>
                  <a:pt x="84324" y="85089"/>
                </a:lnTo>
                <a:lnTo>
                  <a:pt x="49006" y="128269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29"/>
                </a:lnTo>
                <a:lnTo>
                  <a:pt x="67110" y="476250"/>
                </a:lnTo>
                <a:lnTo>
                  <a:pt x="106650" y="515619"/>
                </a:lnTo>
                <a:lnTo>
                  <a:pt x="153128" y="546100"/>
                </a:lnTo>
                <a:lnTo>
                  <a:pt x="205384" y="567689"/>
                </a:lnTo>
                <a:lnTo>
                  <a:pt x="262191" y="579119"/>
                </a:lnTo>
                <a:lnTo>
                  <a:pt x="291880" y="580389"/>
                </a:lnTo>
                <a:lnTo>
                  <a:pt x="321558" y="579119"/>
                </a:lnTo>
                <a:lnTo>
                  <a:pt x="350395" y="575310"/>
                </a:lnTo>
                <a:lnTo>
                  <a:pt x="378227" y="567689"/>
                </a:lnTo>
                <a:lnTo>
                  <a:pt x="404897" y="557529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79"/>
                </a:lnTo>
                <a:lnTo>
                  <a:pt x="212557" y="541019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89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89"/>
                </a:lnTo>
                <a:lnTo>
                  <a:pt x="40609" y="212089"/>
                </a:lnTo>
                <a:lnTo>
                  <a:pt x="60483" y="165100"/>
                </a:lnTo>
                <a:lnTo>
                  <a:pt x="88715" y="123189"/>
                </a:lnTo>
                <a:lnTo>
                  <a:pt x="124251" y="87629"/>
                </a:lnTo>
                <a:lnTo>
                  <a:pt x="166037" y="59689"/>
                </a:lnTo>
                <a:lnTo>
                  <a:pt x="213010" y="40639"/>
                </a:lnTo>
                <a:lnTo>
                  <a:pt x="264125" y="29210"/>
                </a:lnTo>
                <a:lnTo>
                  <a:pt x="290912" y="27939"/>
                </a:lnTo>
                <a:lnTo>
                  <a:pt x="415470" y="27939"/>
                </a:lnTo>
                <a:lnTo>
                  <a:pt x="402730" y="21589"/>
                </a:lnTo>
                <a:lnTo>
                  <a:pt x="375954" y="12700"/>
                </a:lnTo>
                <a:lnTo>
                  <a:pt x="348039" y="5079"/>
                </a:lnTo>
                <a:lnTo>
                  <a:pt x="319148" y="1269"/>
                </a:lnTo>
                <a:lnTo>
                  <a:pt x="289459" y="0"/>
                </a:lnTo>
                <a:close/>
              </a:path>
              <a:path w="581660" h="580389">
                <a:moveTo>
                  <a:pt x="415470" y="27939"/>
                </a:moveTo>
                <a:lnTo>
                  <a:pt x="290912" y="27939"/>
                </a:lnTo>
                <a:lnTo>
                  <a:pt x="317696" y="29210"/>
                </a:lnTo>
                <a:lnTo>
                  <a:pt x="343695" y="34289"/>
                </a:lnTo>
                <a:lnTo>
                  <a:pt x="392831" y="49529"/>
                </a:lnTo>
                <a:lnTo>
                  <a:pt x="437292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29"/>
                </a:lnTo>
                <a:lnTo>
                  <a:pt x="547302" y="237489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29"/>
                </a:lnTo>
                <a:lnTo>
                  <a:pt x="507719" y="436879"/>
                </a:lnTo>
                <a:lnTo>
                  <a:pt x="475702" y="476250"/>
                </a:lnTo>
                <a:lnTo>
                  <a:pt x="436909" y="508000"/>
                </a:lnTo>
                <a:lnTo>
                  <a:pt x="392398" y="532129"/>
                </a:lnTo>
                <a:lnTo>
                  <a:pt x="343223" y="547369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60"/>
                </a:lnTo>
                <a:lnTo>
                  <a:pt x="497015" y="495300"/>
                </a:lnTo>
                <a:lnTo>
                  <a:pt x="532333" y="452119"/>
                </a:lnTo>
                <a:lnTo>
                  <a:pt x="558948" y="402589"/>
                </a:lnTo>
                <a:lnTo>
                  <a:pt x="575677" y="347979"/>
                </a:lnTo>
                <a:lnTo>
                  <a:pt x="581338" y="289560"/>
                </a:lnTo>
                <a:lnTo>
                  <a:pt x="579718" y="259079"/>
                </a:lnTo>
                <a:lnTo>
                  <a:pt x="567917" y="203200"/>
                </a:lnTo>
                <a:lnTo>
                  <a:pt x="545692" y="151129"/>
                </a:lnTo>
                <a:lnTo>
                  <a:pt x="514229" y="104139"/>
                </a:lnTo>
                <a:lnTo>
                  <a:pt x="474689" y="64769"/>
                </a:lnTo>
                <a:lnTo>
                  <a:pt x="428210" y="34289"/>
                </a:lnTo>
                <a:lnTo>
                  <a:pt x="415470" y="27939"/>
                </a:lnTo>
                <a:close/>
              </a:path>
              <a:path w="581660" h="580389">
                <a:moveTo>
                  <a:pt x="291396" y="38100"/>
                </a:moveTo>
                <a:lnTo>
                  <a:pt x="240506" y="43179"/>
                </a:lnTo>
                <a:lnTo>
                  <a:pt x="193107" y="57150"/>
                </a:lnTo>
                <a:lnTo>
                  <a:pt x="150178" y="81279"/>
                </a:lnTo>
                <a:lnTo>
                  <a:pt x="112740" y="111760"/>
                </a:lnTo>
                <a:lnTo>
                  <a:pt x="81824" y="148589"/>
                </a:lnTo>
                <a:lnTo>
                  <a:pt x="58451" y="191769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89"/>
                </a:lnTo>
                <a:lnTo>
                  <a:pt x="68465" y="410210"/>
                </a:lnTo>
                <a:lnTo>
                  <a:pt x="95528" y="450850"/>
                </a:lnTo>
                <a:lnTo>
                  <a:pt x="129647" y="485139"/>
                </a:lnTo>
                <a:lnTo>
                  <a:pt x="169793" y="511810"/>
                </a:lnTo>
                <a:lnTo>
                  <a:pt x="214947" y="530860"/>
                </a:lnTo>
                <a:lnTo>
                  <a:pt x="264126" y="541019"/>
                </a:lnTo>
                <a:lnTo>
                  <a:pt x="289943" y="542289"/>
                </a:lnTo>
                <a:lnTo>
                  <a:pt x="315766" y="541019"/>
                </a:lnTo>
                <a:lnTo>
                  <a:pt x="340833" y="537210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29"/>
                </a:lnTo>
                <a:lnTo>
                  <a:pt x="217337" y="521969"/>
                </a:lnTo>
                <a:lnTo>
                  <a:pt x="173960" y="502919"/>
                </a:lnTo>
                <a:lnTo>
                  <a:pt x="135397" y="477519"/>
                </a:lnTo>
                <a:lnTo>
                  <a:pt x="102631" y="443229"/>
                </a:lnTo>
                <a:lnTo>
                  <a:pt x="76671" y="405129"/>
                </a:lnTo>
                <a:lnTo>
                  <a:pt x="58497" y="361950"/>
                </a:lnTo>
                <a:lnTo>
                  <a:pt x="49071" y="313689"/>
                </a:lnTo>
                <a:lnTo>
                  <a:pt x="47939" y="289560"/>
                </a:lnTo>
                <a:lnTo>
                  <a:pt x="49316" y="264160"/>
                </a:lnTo>
                <a:lnTo>
                  <a:pt x="59203" y="217169"/>
                </a:lnTo>
                <a:lnTo>
                  <a:pt x="77781" y="173989"/>
                </a:lnTo>
                <a:lnTo>
                  <a:pt x="104091" y="134619"/>
                </a:lnTo>
                <a:lnTo>
                  <a:pt x="137166" y="102869"/>
                </a:lnTo>
                <a:lnTo>
                  <a:pt x="176005" y="76200"/>
                </a:lnTo>
                <a:lnTo>
                  <a:pt x="219610" y="58419"/>
                </a:lnTo>
                <a:lnTo>
                  <a:pt x="267022" y="48260"/>
                </a:lnTo>
                <a:lnTo>
                  <a:pt x="291880" y="46989"/>
                </a:lnTo>
                <a:lnTo>
                  <a:pt x="356734" y="46989"/>
                </a:lnTo>
                <a:lnTo>
                  <a:pt x="342247" y="43179"/>
                </a:lnTo>
                <a:lnTo>
                  <a:pt x="317211" y="39369"/>
                </a:lnTo>
                <a:lnTo>
                  <a:pt x="291396" y="38100"/>
                </a:lnTo>
                <a:close/>
              </a:path>
              <a:path w="581660" h="580389">
                <a:moveTo>
                  <a:pt x="356734" y="46989"/>
                </a:moveTo>
                <a:lnTo>
                  <a:pt x="291880" y="46989"/>
                </a:lnTo>
                <a:lnTo>
                  <a:pt x="316727" y="49529"/>
                </a:lnTo>
                <a:lnTo>
                  <a:pt x="340798" y="53339"/>
                </a:lnTo>
                <a:lnTo>
                  <a:pt x="386232" y="67310"/>
                </a:lnTo>
                <a:lnTo>
                  <a:pt x="427323" y="90169"/>
                </a:lnTo>
                <a:lnTo>
                  <a:pt x="463113" y="119379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69"/>
                </a:lnTo>
                <a:lnTo>
                  <a:pt x="533400" y="292100"/>
                </a:lnTo>
                <a:lnTo>
                  <a:pt x="532023" y="316229"/>
                </a:lnTo>
                <a:lnTo>
                  <a:pt x="522135" y="363219"/>
                </a:lnTo>
                <a:lnTo>
                  <a:pt x="503558" y="407669"/>
                </a:lnTo>
                <a:lnTo>
                  <a:pt x="477248" y="445769"/>
                </a:lnTo>
                <a:lnTo>
                  <a:pt x="444173" y="478789"/>
                </a:lnTo>
                <a:lnTo>
                  <a:pt x="405334" y="504189"/>
                </a:lnTo>
                <a:lnTo>
                  <a:pt x="361729" y="521969"/>
                </a:lnTo>
                <a:lnTo>
                  <a:pt x="314317" y="532129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79"/>
                </a:lnTo>
                <a:lnTo>
                  <a:pt x="450630" y="485139"/>
                </a:lnTo>
                <a:lnTo>
                  <a:pt x="484936" y="450850"/>
                </a:lnTo>
                <a:lnTo>
                  <a:pt x="512207" y="411479"/>
                </a:lnTo>
                <a:lnTo>
                  <a:pt x="531432" y="365760"/>
                </a:lnTo>
                <a:lnTo>
                  <a:pt x="541611" y="317500"/>
                </a:lnTo>
                <a:lnTo>
                  <a:pt x="542926" y="289560"/>
                </a:lnTo>
                <a:lnTo>
                  <a:pt x="541757" y="265429"/>
                </a:lnTo>
                <a:lnTo>
                  <a:pt x="531856" y="215900"/>
                </a:lnTo>
                <a:lnTo>
                  <a:pt x="512874" y="170179"/>
                </a:lnTo>
                <a:lnTo>
                  <a:pt x="485811" y="130810"/>
                </a:lnTo>
                <a:lnTo>
                  <a:pt x="451692" y="96519"/>
                </a:lnTo>
                <a:lnTo>
                  <a:pt x="411544" y="68579"/>
                </a:lnTo>
                <a:lnTo>
                  <a:pt x="366392" y="49529"/>
                </a:lnTo>
                <a:lnTo>
                  <a:pt x="356734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33800" y="3124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09830" y="3101179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60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29"/>
                </a:lnTo>
                <a:lnTo>
                  <a:pt x="84324" y="85089"/>
                </a:lnTo>
                <a:lnTo>
                  <a:pt x="49006" y="128269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29"/>
                </a:lnTo>
                <a:lnTo>
                  <a:pt x="67110" y="476250"/>
                </a:lnTo>
                <a:lnTo>
                  <a:pt x="106650" y="515619"/>
                </a:lnTo>
                <a:lnTo>
                  <a:pt x="153128" y="546100"/>
                </a:lnTo>
                <a:lnTo>
                  <a:pt x="205384" y="567689"/>
                </a:lnTo>
                <a:lnTo>
                  <a:pt x="262191" y="579119"/>
                </a:lnTo>
                <a:lnTo>
                  <a:pt x="291880" y="580389"/>
                </a:lnTo>
                <a:lnTo>
                  <a:pt x="321558" y="579119"/>
                </a:lnTo>
                <a:lnTo>
                  <a:pt x="350395" y="575309"/>
                </a:lnTo>
                <a:lnTo>
                  <a:pt x="378227" y="567689"/>
                </a:lnTo>
                <a:lnTo>
                  <a:pt x="404897" y="557529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79"/>
                </a:lnTo>
                <a:lnTo>
                  <a:pt x="212557" y="541019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89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89"/>
                </a:lnTo>
                <a:lnTo>
                  <a:pt x="40609" y="212089"/>
                </a:lnTo>
                <a:lnTo>
                  <a:pt x="60483" y="165100"/>
                </a:lnTo>
                <a:lnTo>
                  <a:pt x="88715" y="123189"/>
                </a:lnTo>
                <a:lnTo>
                  <a:pt x="124251" y="87629"/>
                </a:lnTo>
                <a:lnTo>
                  <a:pt x="166037" y="59689"/>
                </a:lnTo>
                <a:lnTo>
                  <a:pt x="213010" y="40639"/>
                </a:lnTo>
                <a:lnTo>
                  <a:pt x="264125" y="29210"/>
                </a:lnTo>
                <a:lnTo>
                  <a:pt x="290912" y="27939"/>
                </a:lnTo>
                <a:lnTo>
                  <a:pt x="415470" y="27939"/>
                </a:lnTo>
                <a:lnTo>
                  <a:pt x="402730" y="21589"/>
                </a:lnTo>
                <a:lnTo>
                  <a:pt x="375954" y="12700"/>
                </a:lnTo>
                <a:lnTo>
                  <a:pt x="348039" y="5079"/>
                </a:lnTo>
                <a:lnTo>
                  <a:pt x="319148" y="1269"/>
                </a:lnTo>
                <a:lnTo>
                  <a:pt x="289459" y="0"/>
                </a:lnTo>
                <a:close/>
              </a:path>
              <a:path w="581660" h="580389">
                <a:moveTo>
                  <a:pt x="415470" y="27939"/>
                </a:moveTo>
                <a:lnTo>
                  <a:pt x="290912" y="27939"/>
                </a:lnTo>
                <a:lnTo>
                  <a:pt x="317696" y="29210"/>
                </a:lnTo>
                <a:lnTo>
                  <a:pt x="343695" y="34289"/>
                </a:lnTo>
                <a:lnTo>
                  <a:pt x="392831" y="49529"/>
                </a:lnTo>
                <a:lnTo>
                  <a:pt x="437292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29"/>
                </a:lnTo>
                <a:lnTo>
                  <a:pt x="547302" y="237489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29"/>
                </a:lnTo>
                <a:lnTo>
                  <a:pt x="507719" y="436879"/>
                </a:lnTo>
                <a:lnTo>
                  <a:pt x="475702" y="476250"/>
                </a:lnTo>
                <a:lnTo>
                  <a:pt x="436909" y="508000"/>
                </a:lnTo>
                <a:lnTo>
                  <a:pt x="392398" y="532129"/>
                </a:lnTo>
                <a:lnTo>
                  <a:pt x="343223" y="547369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59"/>
                </a:lnTo>
                <a:lnTo>
                  <a:pt x="497015" y="495300"/>
                </a:lnTo>
                <a:lnTo>
                  <a:pt x="532333" y="452119"/>
                </a:lnTo>
                <a:lnTo>
                  <a:pt x="558948" y="402589"/>
                </a:lnTo>
                <a:lnTo>
                  <a:pt x="575677" y="347979"/>
                </a:lnTo>
                <a:lnTo>
                  <a:pt x="581338" y="289560"/>
                </a:lnTo>
                <a:lnTo>
                  <a:pt x="579718" y="259079"/>
                </a:lnTo>
                <a:lnTo>
                  <a:pt x="567917" y="203200"/>
                </a:lnTo>
                <a:lnTo>
                  <a:pt x="545692" y="151129"/>
                </a:lnTo>
                <a:lnTo>
                  <a:pt x="514229" y="104139"/>
                </a:lnTo>
                <a:lnTo>
                  <a:pt x="474689" y="64769"/>
                </a:lnTo>
                <a:lnTo>
                  <a:pt x="428210" y="34289"/>
                </a:lnTo>
                <a:lnTo>
                  <a:pt x="415470" y="27939"/>
                </a:lnTo>
                <a:close/>
              </a:path>
              <a:path w="581660" h="580389">
                <a:moveTo>
                  <a:pt x="291396" y="38100"/>
                </a:moveTo>
                <a:lnTo>
                  <a:pt x="240506" y="43179"/>
                </a:lnTo>
                <a:lnTo>
                  <a:pt x="193107" y="57150"/>
                </a:lnTo>
                <a:lnTo>
                  <a:pt x="150178" y="81279"/>
                </a:lnTo>
                <a:lnTo>
                  <a:pt x="112740" y="111760"/>
                </a:lnTo>
                <a:lnTo>
                  <a:pt x="81824" y="148589"/>
                </a:lnTo>
                <a:lnTo>
                  <a:pt x="58451" y="191769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89"/>
                </a:lnTo>
                <a:lnTo>
                  <a:pt x="68465" y="410210"/>
                </a:lnTo>
                <a:lnTo>
                  <a:pt x="95528" y="450850"/>
                </a:lnTo>
                <a:lnTo>
                  <a:pt x="129647" y="485139"/>
                </a:lnTo>
                <a:lnTo>
                  <a:pt x="169793" y="511809"/>
                </a:lnTo>
                <a:lnTo>
                  <a:pt x="214947" y="530859"/>
                </a:lnTo>
                <a:lnTo>
                  <a:pt x="264126" y="541019"/>
                </a:lnTo>
                <a:lnTo>
                  <a:pt x="289943" y="542289"/>
                </a:lnTo>
                <a:lnTo>
                  <a:pt x="315766" y="541019"/>
                </a:lnTo>
                <a:lnTo>
                  <a:pt x="340833" y="537209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29"/>
                </a:lnTo>
                <a:lnTo>
                  <a:pt x="217337" y="521969"/>
                </a:lnTo>
                <a:lnTo>
                  <a:pt x="173960" y="502919"/>
                </a:lnTo>
                <a:lnTo>
                  <a:pt x="135397" y="477519"/>
                </a:lnTo>
                <a:lnTo>
                  <a:pt x="102631" y="443229"/>
                </a:lnTo>
                <a:lnTo>
                  <a:pt x="76671" y="405129"/>
                </a:lnTo>
                <a:lnTo>
                  <a:pt x="58497" y="361950"/>
                </a:lnTo>
                <a:lnTo>
                  <a:pt x="49071" y="313689"/>
                </a:lnTo>
                <a:lnTo>
                  <a:pt x="47939" y="289560"/>
                </a:lnTo>
                <a:lnTo>
                  <a:pt x="49316" y="264160"/>
                </a:lnTo>
                <a:lnTo>
                  <a:pt x="59203" y="217169"/>
                </a:lnTo>
                <a:lnTo>
                  <a:pt x="77781" y="173989"/>
                </a:lnTo>
                <a:lnTo>
                  <a:pt x="104091" y="134619"/>
                </a:lnTo>
                <a:lnTo>
                  <a:pt x="137166" y="102869"/>
                </a:lnTo>
                <a:lnTo>
                  <a:pt x="176005" y="76200"/>
                </a:lnTo>
                <a:lnTo>
                  <a:pt x="219610" y="58419"/>
                </a:lnTo>
                <a:lnTo>
                  <a:pt x="267022" y="48260"/>
                </a:lnTo>
                <a:lnTo>
                  <a:pt x="291880" y="46989"/>
                </a:lnTo>
                <a:lnTo>
                  <a:pt x="356734" y="46989"/>
                </a:lnTo>
                <a:lnTo>
                  <a:pt x="342247" y="43179"/>
                </a:lnTo>
                <a:lnTo>
                  <a:pt x="317211" y="39369"/>
                </a:lnTo>
                <a:lnTo>
                  <a:pt x="291396" y="38100"/>
                </a:lnTo>
                <a:close/>
              </a:path>
              <a:path w="581660" h="580389">
                <a:moveTo>
                  <a:pt x="356734" y="46989"/>
                </a:moveTo>
                <a:lnTo>
                  <a:pt x="291880" y="46989"/>
                </a:lnTo>
                <a:lnTo>
                  <a:pt x="316727" y="49529"/>
                </a:lnTo>
                <a:lnTo>
                  <a:pt x="340798" y="53339"/>
                </a:lnTo>
                <a:lnTo>
                  <a:pt x="386232" y="67310"/>
                </a:lnTo>
                <a:lnTo>
                  <a:pt x="427323" y="90169"/>
                </a:lnTo>
                <a:lnTo>
                  <a:pt x="463113" y="119379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69"/>
                </a:lnTo>
                <a:lnTo>
                  <a:pt x="533400" y="292100"/>
                </a:lnTo>
                <a:lnTo>
                  <a:pt x="532023" y="316229"/>
                </a:lnTo>
                <a:lnTo>
                  <a:pt x="522135" y="363219"/>
                </a:lnTo>
                <a:lnTo>
                  <a:pt x="503558" y="407669"/>
                </a:lnTo>
                <a:lnTo>
                  <a:pt x="477248" y="445769"/>
                </a:lnTo>
                <a:lnTo>
                  <a:pt x="444173" y="478789"/>
                </a:lnTo>
                <a:lnTo>
                  <a:pt x="405334" y="504189"/>
                </a:lnTo>
                <a:lnTo>
                  <a:pt x="361729" y="521969"/>
                </a:lnTo>
                <a:lnTo>
                  <a:pt x="314317" y="532129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79"/>
                </a:lnTo>
                <a:lnTo>
                  <a:pt x="450630" y="485139"/>
                </a:lnTo>
                <a:lnTo>
                  <a:pt x="484936" y="450850"/>
                </a:lnTo>
                <a:lnTo>
                  <a:pt x="512207" y="411479"/>
                </a:lnTo>
                <a:lnTo>
                  <a:pt x="531432" y="365760"/>
                </a:lnTo>
                <a:lnTo>
                  <a:pt x="541611" y="317500"/>
                </a:lnTo>
                <a:lnTo>
                  <a:pt x="542926" y="289560"/>
                </a:lnTo>
                <a:lnTo>
                  <a:pt x="541757" y="265429"/>
                </a:lnTo>
                <a:lnTo>
                  <a:pt x="531856" y="215900"/>
                </a:lnTo>
                <a:lnTo>
                  <a:pt x="512874" y="170179"/>
                </a:lnTo>
                <a:lnTo>
                  <a:pt x="485811" y="130810"/>
                </a:lnTo>
                <a:lnTo>
                  <a:pt x="451692" y="96519"/>
                </a:lnTo>
                <a:lnTo>
                  <a:pt x="411546" y="68579"/>
                </a:lnTo>
                <a:lnTo>
                  <a:pt x="366392" y="49529"/>
                </a:lnTo>
                <a:lnTo>
                  <a:pt x="356734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05400" y="2743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81430" y="2720179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60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29"/>
                </a:lnTo>
                <a:lnTo>
                  <a:pt x="84324" y="85089"/>
                </a:lnTo>
                <a:lnTo>
                  <a:pt x="49006" y="128269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29"/>
                </a:lnTo>
                <a:lnTo>
                  <a:pt x="67110" y="476250"/>
                </a:lnTo>
                <a:lnTo>
                  <a:pt x="106650" y="515619"/>
                </a:lnTo>
                <a:lnTo>
                  <a:pt x="153128" y="546100"/>
                </a:lnTo>
                <a:lnTo>
                  <a:pt x="205384" y="567689"/>
                </a:lnTo>
                <a:lnTo>
                  <a:pt x="262191" y="579119"/>
                </a:lnTo>
                <a:lnTo>
                  <a:pt x="291880" y="580389"/>
                </a:lnTo>
                <a:lnTo>
                  <a:pt x="321558" y="579119"/>
                </a:lnTo>
                <a:lnTo>
                  <a:pt x="350395" y="575310"/>
                </a:lnTo>
                <a:lnTo>
                  <a:pt x="378227" y="567689"/>
                </a:lnTo>
                <a:lnTo>
                  <a:pt x="404897" y="557529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79"/>
                </a:lnTo>
                <a:lnTo>
                  <a:pt x="212557" y="541019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89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89"/>
                </a:lnTo>
                <a:lnTo>
                  <a:pt x="40609" y="212089"/>
                </a:lnTo>
                <a:lnTo>
                  <a:pt x="60483" y="165100"/>
                </a:lnTo>
                <a:lnTo>
                  <a:pt x="88715" y="123189"/>
                </a:lnTo>
                <a:lnTo>
                  <a:pt x="124251" y="87629"/>
                </a:lnTo>
                <a:lnTo>
                  <a:pt x="166037" y="59689"/>
                </a:lnTo>
                <a:lnTo>
                  <a:pt x="213010" y="40639"/>
                </a:lnTo>
                <a:lnTo>
                  <a:pt x="264125" y="29210"/>
                </a:lnTo>
                <a:lnTo>
                  <a:pt x="290912" y="27939"/>
                </a:lnTo>
                <a:lnTo>
                  <a:pt x="415470" y="27939"/>
                </a:lnTo>
                <a:lnTo>
                  <a:pt x="402730" y="21589"/>
                </a:lnTo>
                <a:lnTo>
                  <a:pt x="375954" y="12700"/>
                </a:lnTo>
                <a:lnTo>
                  <a:pt x="348039" y="5079"/>
                </a:lnTo>
                <a:lnTo>
                  <a:pt x="319148" y="1269"/>
                </a:lnTo>
                <a:lnTo>
                  <a:pt x="289459" y="0"/>
                </a:lnTo>
                <a:close/>
              </a:path>
              <a:path w="581660" h="580389">
                <a:moveTo>
                  <a:pt x="415470" y="27939"/>
                </a:moveTo>
                <a:lnTo>
                  <a:pt x="290912" y="27939"/>
                </a:lnTo>
                <a:lnTo>
                  <a:pt x="317696" y="29210"/>
                </a:lnTo>
                <a:lnTo>
                  <a:pt x="343695" y="34289"/>
                </a:lnTo>
                <a:lnTo>
                  <a:pt x="392831" y="49529"/>
                </a:lnTo>
                <a:lnTo>
                  <a:pt x="437292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29"/>
                </a:lnTo>
                <a:lnTo>
                  <a:pt x="547302" y="237489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29"/>
                </a:lnTo>
                <a:lnTo>
                  <a:pt x="507719" y="436879"/>
                </a:lnTo>
                <a:lnTo>
                  <a:pt x="475702" y="476250"/>
                </a:lnTo>
                <a:lnTo>
                  <a:pt x="436909" y="508000"/>
                </a:lnTo>
                <a:lnTo>
                  <a:pt x="392398" y="532129"/>
                </a:lnTo>
                <a:lnTo>
                  <a:pt x="343223" y="547369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60"/>
                </a:lnTo>
                <a:lnTo>
                  <a:pt x="497015" y="495300"/>
                </a:lnTo>
                <a:lnTo>
                  <a:pt x="532333" y="452119"/>
                </a:lnTo>
                <a:lnTo>
                  <a:pt x="558948" y="402589"/>
                </a:lnTo>
                <a:lnTo>
                  <a:pt x="575677" y="347979"/>
                </a:lnTo>
                <a:lnTo>
                  <a:pt x="581338" y="289560"/>
                </a:lnTo>
                <a:lnTo>
                  <a:pt x="579718" y="259079"/>
                </a:lnTo>
                <a:lnTo>
                  <a:pt x="567917" y="203200"/>
                </a:lnTo>
                <a:lnTo>
                  <a:pt x="545692" y="151129"/>
                </a:lnTo>
                <a:lnTo>
                  <a:pt x="514229" y="104139"/>
                </a:lnTo>
                <a:lnTo>
                  <a:pt x="474689" y="64769"/>
                </a:lnTo>
                <a:lnTo>
                  <a:pt x="428210" y="34289"/>
                </a:lnTo>
                <a:lnTo>
                  <a:pt x="415470" y="27939"/>
                </a:lnTo>
                <a:close/>
              </a:path>
              <a:path w="581660" h="580389">
                <a:moveTo>
                  <a:pt x="291396" y="38100"/>
                </a:moveTo>
                <a:lnTo>
                  <a:pt x="240506" y="43179"/>
                </a:lnTo>
                <a:lnTo>
                  <a:pt x="193107" y="57150"/>
                </a:lnTo>
                <a:lnTo>
                  <a:pt x="150178" y="81279"/>
                </a:lnTo>
                <a:lnTo>
                  <a:pt x="112740" y="111760"/>
                </a:lnTo>
                <a:lnTo>
                  <a:pt x="81824" y="148589"/>
                </a:lnTo>
                <a:lnTo>
                  <a:pt x="58451" y="191769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89"/>
                </a:lnTo>
                <a:lnTo>
                  <a:pt x="68465" y="410210"/>
                </a:lnTo>
                <a:lnTo>
                  <a:pt x="95528" y="450850"/>
                </a:lnTo>
                <a:lnTo>
                  <a:pt x="129647" y="485139"/>
                </a:lnTo>
                <a:lnTo>
                  <a:pt x="169793" y="511810"/>
                </a:lnTo>
                <a:lnTo>
                  <a:pt x="214947" y="530860"/>
                </a:lnTo>
                <a:lnTo>
                  <a:pt x="264126" y="541019"/>
                </a:lnTo>
                <a:lnTo>
                  <a:pt x="289943" y="542289"/>
                </a:lnTo>
                <a:lnTo>
                  <a:pt x="315766" y="541019"/>
                </a:lnTo>
                <a:lnTo>
                  <a:pt x="340833" y="537210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29"/>
                </a:lnTo>
                <a:lnTo>
                  <a:pt x="217337" y="521969"/>
                </a:lnTo>
                <a:lnTo>
                  <a:pt x="173960" y="502919"/>
                </a:lnTo>
                <a:lnTo>
                  <a:pt x="135397" y="477519"/>
                </a:lnTo>
                <a:lnTo>
                  <a:pt x="102631" y="443229"/>
                </a:lnTo>
                <a:lnTo>
                  <a:pt x="76671" y="405129"/>
                </a:lnTo>
                <a:lnTo>
                  <a:pt x="58497" y="361950"/>
                </a:lnTo>
                <a:lnTo>
                  <a:pt x="49071" y="313689"/>
                </a:lnTo>
                <a:lnTo>
                  <a:pt x="47939" y="289560"/>
                </a:lnTo>
                <a:lnTo>
                  <a:pt x="49316" y="264160"/>
                </a:lnTo>
                <a:lnTo>
                  <a:pt x="59203" y="217169"/>
                </a:lnTo>
                <a:lnTo>
                  <a:pt x="77781" y="173989"/>
                </a:lnTo>
                <a:lnTo>
                  <a:pt x="104091" y="134619"/>
                </a:lnTo>
                <a:lnTo>
                  <a:pt x="137166" y="102869"/>
                </a:lnTo>
                <a:lnTo>
                  <a:pt x="176005" y="76200"/>
                </a:lnTo>
                <a:lnTo>
                  <a:pt x="219610" y="58419"/>
                </a:lnTo>
                <a:lnTo>
                  <a:pt x="267022" y="48260"/>
                </a:lnTo>
                <a:lnTo>
                  <a:pt x="291880" y="46989"/>
                </a:lnTo>
                <a:lnTo>
                  <a:pt x="356734" y="46989"/>
                </a:lnTo>
                <a:lnTo>
                  <a:pt x="342247" y="43179"/>
                </a:lnTo>
                <a:lnTo>
                  <a:pt x="317211" y="39369"/>
                </a:lnTo>
                <a:lnTo>
                  <a:pt x="291396" y="38100"/>
                </a:lnTo>
                <a:close/>
              </a:path>
              <a:path w="581660" h="580389">
                <a:moveTo>
                  <a:pt x="356734" y="46989"/>
                </a:moveTo>
                <a:lnTo>
                  <a:pt x="291880" y="46989"/>
                </a:lnTo>
                <a:lnTo>
                  <a:pt x="316727" y="49529"/>
                </a:lnTo>
                <a:lnTo>
                  <a:pt x="340798" y="53339"/>
                </a:lnTo>
                <a:lnTo>
                  <a:pt x="386232" y="67310"/>
                </a:lnTo>
                <a:lnTo>
                  <a:pt x="427323" y="90169"/>
                </a:lnTo>
                <a:lnTo>
                  <a:pt x="463113" y="119379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69"/>
                </a:lnTo>
                <a:lnTo>
                  <a:pt x="533400" y="292100"/>
                </a:lnTo>
                <a:lnTo>
                  <a:pt x="532023" y="316229"/>
                </a:lnTo>
                <a:lnTo>
                  <a:pt x="522135" y="363219"/>
                </a:lnTo>
                <a:lnTo>
                  <a:pt x="503558" y="407669"/>
                </a:lnTo>
                <a:lnTo>
                  <a:pt x="477248" y="445769"/>
                </a:lnTo>
                <a:lnTo>
                  <a:pt x="444173" y="478789"/>
                </a:lnTo>
                <a:lnTo>
                  <a:pt x="405333" y="504189"/>
                </a:lnTo>
                <a:lnTo>
                  <a:pt x="361729" y="521969"/>
                </a:lnTo>
                <a:lnTo>
                  <a:pt x="314317" y="532129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79"/>
                </a:lnTo>
                <a:lnTo>
                  <a:pt x="450630" y="485139"/>
                </a:lnTo>
                <a:lnTo>
                  <a:pt x="484936" y="450850"/>
                </a:lnTo>
                <a:lnTo>
                  <a:pt x="512207" y="411479"/>
                </a:lnTo>
                <a:lnTo>
                  <a:pt x="531432" y="365760"/>
                </a:lnTo>
                <a:lnTo>
                  <a:pt x="541611" y="317500"/>
                </a:lnTo>
                <a:lnTo>
                  <a:pt x="542926" y="289560"/>
                </a:lnTo>
                <a:lnTo>
                  <a:pt x="541757" y="265429"/>
                </a:lnTo>
                <a:lnTo>
                  <a:pt x="531856" y="215900"/>
                </a:lnTo>
                <a:lnTo>
                  <a:pt x="512874" y="170179"/>
                </a:lnTo>
                <a:lnTo>
                  <a:pt x="485811" y="130810"/>
                </a:lnTo>
                <a:lnTo>
                  <a:pt x="451692" y="96519"/>
                </a:lnTo>
                <a:lnTo>
                  <a:pt x="411544" y="68579"/>
                </a:lnTo>
                <a:lnTo>
                  <a:pt x="366392" y="49529"/>
                </a:lnTo>
                <a:lnTo>
                  <a:pt x="356734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95600" y="419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71629" y="4167978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60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30"/>
                </a:lnTo>
                <a:lnTo>
                  <a:pt x="84324" y="85090"/>
                </a:lnTo>
                <a:lnTo>
                  <a:pt x="49006" y="128270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30"/>
                </a:lnTo>
                <a:lnTo>
                  <a:pt x="67110" y="476250"/>
                </a:lnTo>
                <a:lnTo>
                  <a:pt x="106650" y="515620"/>
                </a:lnTo>
                <a:lnTo>
                  <a:pt x="153128" y="546100"/>
                </a:lnTo>
                <a:lnTo>
                  <a:pt x="205384" y="567690"/>
                </a:lnTo>
                <a:lnTo>
                  <a:pt x="262191" y="579120"/>
                </a:lnTo>
                <a:lnTo>
                  <a:pt x="291880" y="580390"/>
                </a:lnTo>
                <a:lnTo>
                  <a:pt x="321558" y="579120"/>
                </a:lnTo>
                <a:lnTo>
                  <a:pt x="350395" y="575310"/>
                </a:lnTo>
                <a:lnTo>
                  <a:pt x="378227" y="567690"/>
                </a:lnTo>
                <a:lnTo>
                  <a:pt x="404897" y="557530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80"/>
                </a:lnTo>
                <a:lnTo>
                  <a:pt x="212557" y="541020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90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90"/>
                </a:lnTo>
                <a:lnTo>
                  <a:pt x="40609" y="212090"/>
                </a:lnTo>
                <a:lnTo>
                  <a:pt x="60483" y="165100"/>
                </a:lnTo>
                <a:lnTo>
                  <a:pt x="88715" y="123190"/>
                </a:lnTo>
                <a:lnTo>
                  <a:pt x="124251" y="87630"/>
                </a:lnTo>
                <a:lnTo>
                  <a:pt x="166037" y="59690"/>
                </a:lnTo>
                <a:lnTo>
                  <a:pt x="213010" y="40640"/>
                </a:lnTo>
                <a:lnTo>
                  <a:pt x="264125" y="29210"/>
                </a:lnTo>
                <a:lnTo>
                  <a:pt x="290912" y="27940"/>
                </a:lnTo>
                <a:lnTo>
                  <a:pt x="415470" y="27940"/>
                </a:lnTo>
                <a:lnTo>
                  <a:pt x="402730" y="21590"/>
                </a:lnTo>
                <a:lnTo>
                  <a:pt x="375955" y="12700"/>
                </a:lnTo>
                <a:lnTo>
                  <a:pt x="348039" y="5080"/>
                </a:lnTo>
                <a:lnTo>
                  <a:pt x="319148" y="1270"/>
                </a:lnTo>
                <a:lnTo>
                  <a:pt x="289459" y="0"/>
                </a:lnTo>
                <a:close/>
              </a:path>
              <a:path w="581660" h="580389">
                <a:moveTo>
                  <a:pt x="415470" y="27940"/>
                </a:moveTo>
                <a:lnTo>
                  <a:pt x="290912" y="27940"/>
                </a:lnTo>
                <a:lnTo>
                  <a:pt x="317696" y="29210"/>
                </a:lnTo>
                <a:lnTo>
                  <a:pt x="343695" y="34290"/>
                </a:lnTo>
                <a:lnTo>
                  <a:pt x="392831" y="49530"/>
                </a:lnTo>
                <a:lnTo>
                  <a:pt x="437292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30"/>
                </a:lnTo>
                <a:lnTo>
                  <a:pt x="547302" y="237490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30"/>
                </a:lnTo>
                <a:lnTo>
                  <a:pt x="507719" y="436880"/>
                </a:lnTo>
                <a:lnTo>
                  <a:pt x="475702" y="476250"/>
                </a:lnTo>
                <a:lnTo>
                  <a:pt x="436909" y="508000"/>
                </a:lnTo>
                <a:lnTo>
                  <a:pt x="392398" y="532130"/>
                </a:lnTo>
                <a:lnTo>
                  <a:pt x="343223" y="547370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60"/>
                </a:lnTo>
                <a:lnTo>
                  <a:pt x="497015" y="495300"/>
                </a:lnTo>
                <a:lnTo>
                  <a:pt x="532333" y="452120"/>
                </a:lnTo>
                <a:lnTo>
                  <a:pt x="558948" y="402590"/>
                </a:lnTo>
                <a:lnTo>
                  <a:pt x="575677" y="347980"/>
                </a:lnTo>
                <a:lnTo>
                  <a:pt x="581339" y="289560"/>
                </a:lnTo>
                <a:lnTo>
                  <a:pt x="579718" y="259080"/>
                </a:lnTo>
                <a:lnTo>
                  <a:pt x="567917" y="203200"/>
                </a:lnTo>
                <a:lnTo>
                  <a:pt x="545692" y="151130"/>
                </a:lnTo>
                <a:lnTo>
                  <a:pt x="514229" y="104140"/>
                </a:lnTo>
                <a:lnTo>
                  <a:pt x="474689" y="64770"/>
                </a:lnTo>
                <a:lnTo>
                  <a:pt x="428210" y="34290"/>
                </a:lnTo>
                <a:lnTo>
                  <a:pt x="415470" y="27940"/>
                </a:lnTo>
                <a:close/>
              </a:path>
              <a:path w="581660" h="580389">
                <a:moveTo>
                  <a:pt x="291396" y="38100"/>
                </a:moveTo>
                <a:lnTo>
                  <a:pt x="240506" y="43180"/>
                </a:lnTo>
                <a:lnTo>
                  <a:pt x="193107" y="57150"/>
                </a:lnTo>
                <a:lnTo>
                  <a:pt x="150178" y="81280"/>
                </a:lnTo>
                <a:lnTo>
                  <a:pt x="112740" y="111760"/>
                </a:lnTo>
                <a:lnTo>
                  <a:pt x="81824" y="148590"/>
                </a:lnTo>
                <a:lnTo>
                  <a:pt x="58451" y="191770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90"/>
                </a:lnTo>
                <a:lnTo>
                  <a:pt x="68465" y="410210"/>
                </a:lnTo>
                <a:lnTo>
                  <a:pt x="95528" y="450850"/>
                </a:lnTo>
                <a:lnTo>
                  <a:pt x="129647" y="485140"/>
                </a:lnTo>
                <a:lnTo>
                  <a:pt x="169793" y="511810"/>
                </a:lnTo>
                <a:lnTo>
                  <a:pt x="214947" y="530860"/>
                </a:lnTo>
                <a:lnTo>
                  <a:pt x="264126" y="541020"/>
                </a:lnTo>
                <a:lnTo>
                  <a:pt x="289943" y="542290"/>
                </a:lnTo>
                <a:lnTo>
                  <a:pt x="315766" y="541020"/>
                </a:lnTo>
                <a:lnTo>
                  <a:pt x="340833" y="537210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30"/>
                </a:lnTo>
                <a:lnTo>
                  <a:pt x="217337" y="521970"/>
                </a:lnTo>
                <a:lnTo>
                  <a:pt x="173960" y="502920"/>
                </a:lnTo>
                <a:lnTo>
                  <a:pt x="135397" y="477520"/>
                </a:lnTo>
                <a:lnTo>
                  <a:pt x="102631" y="443230"/>
                </a:lnTo>
                <a:lnTo>
                  <a:pt x="76671" y="405130"/>
                </a:lnTo>
                <a:lnTo>
                  <a:pt x="58497" y="361950"/>
                </a:lnTo>
                <a:lnTo>
                  <a:pt x="49071" y="313690"/>
                </a:lnTo>
                <a:lnTo>
                  <a:pt x="47939" y="289560"/>
                </a:lnTo>
                <a:lnTo>
                  <a:pt x="49316" y="264160"/>
                </a:lnTo>
                <a:lnTo>
                  <a:pt x="59203" y="217170"/>
                </a:lnTo>
                <a:lnTo>
                  <a:pt x="77781" y="173990"/>
                </a:lnTo>
                <a:lnTo>
                  <a:pt x="104091" y="134620"/>
                </a:lnTo>
                <a:lnTo>
                  <a:pt x="137166" y="102870"/>
                </a:lnTo>
                <a:lnTo>
                  <a:pt x="176005" y="76200"/>
                </a:lnTo>
                <a:lnTo>
                  <a:pt x="219610" y="58420"/>
                </a:lnTo>
                <a:lnTo>
                  <a:pt x="267022" y="48260"/>
                </a:lnTo>
                <a:lnTo>
                  <a:pt x="361563" y="48260"/>
                </a:lnTo>
                <a:lnTo>
                  <a:pt x="342247" y="43180"/>
                </a:lnTo>
                <a:lnTo>
                  <a:pt x="317211" y="39370"/>
                </a:lnTo>
                <a:lnTo>
                  <a:pt x="291396" y="38100"/>
                </a:lnTo>
                <a:close/>
              </a:path>
              <a:path w="581660" h="580389">
                <a:moveTo>
                  <a:pt x="361563" y="48260"/>
                </a:moveTo>
                <a:lnTo>
                  <a:pt x="291880" y="48260"/>
                </a:lnTo>
                <a:lnTo>
                  <a:pt x="316727" y="49530"/>
                </a:lnTo>
                <a:lnTo>
                  <a:pt x="340798" y="53340"/>
                </a:lnTo>
                <a:lnTo>
                  <a:pt x="386232" y="67310"/>
                </a:lnTo>
                <a:lnTo>
                  <a:pt x="427323" y="90170"/>
                </a:lnTo>
                <a:lnTo>
                  <a:pt x="463113" y="119380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70"/>
                </a:lnTo>
                <a:lnTo>
                  <a:pt x="533400" y="292100"/>
                </a:lnTo>
                <a:lnTo>
                  <a:pt x="532023" y="316230"/>
                </a:lnTo>
                <a:lnTo>
                  <a:pt x="522135" y="363220"/>
                </a:lnTo>
                <a:lnTo>
                  <a:pt x="503558" y="407670"/>
                </a:lnTo>
                <a:lnTo>
                  <a:pt x="477248" y="445770"/>
                </a:lnTo>
                <a:lnTo>
                  <a:pt x="444173" y="478790"/>
                </a:lnTo>
                <a:lnTo>
                  <a:pt x="405334" y="504190"/>
                </a:lnTo>
                <a:lnTo>
                  <a:pt x="361729" y="521970"/>
                </a:lnTo>
                <a:lnTo>
                  <a:pt x="314317" y="532130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80"/>
                </a:lnTo>
                <a:lnTo>
                  <a:pt x="450630" y="485140"/>
                </a:lnTo>
                <a:lnTo>
                  <a:pt x="484936" y="450850"/>
                </a:lnTo>
                <a:lnTo>
                  <a:pt x="512207" y="411480"/>
                </a:lnTo>
                <a:lnTo>
                  <a:pt x="531432" y="365760"/>
                </a:lnTo>
                <a:lnTo>
                  <a:pt x="541611" y="317500"/>
                </a:lnTo>
                <a:lnTo>
                  <a:pt x="542926" y="289560"/>
                </a:lnTo>
                <a:lnTo>
                  <a:pt x="541757" y="265430"/>
                </a:lnTo>
                <a:lnTo>
                  <a:pt x="531856" y="215900"/>
                </a:lnTo>
                <a:lnTo>
                  <a:pt x="512874" y="170180"/>
                </a:lnTo>
                <a:lnTo>
                  <a:pt x="485811" y="130810"/>
                </a:lnTo>
                <a:lnTo>
                  <a:pt x="451692" y="96520"/>
                </a:lnTo>
                <a:lnTo>
                  <a:pt x="411546" y="68580"/>
                </a:lnTo>
                <a:lnTo>
                  <a:pt x="366392" y="49530"/>
                </a:lnTo>
                <a:lnTo>
                  <a:pt x="361563" y="48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960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72030" y="1577179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59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29"/>
                </a:lnTo>
                <a:lnTo>
                  <a:pt x="84324" y="85089"/>
                </a:lnTo>
                <a:lnTo>
                  <a:pt x="49006" y="128269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29"/>
                </a:lnTo>
                <a:lnTo>
                  <a:pt x="67110" y="476250"/>
                </a:lnTo>
                <a:lnTo>
                  <a:pt x="106650" y="515619"/>
                </a:lnTo>
                <a:lnTo>
                  <a:pt x="153128" y="546100"/>
                </a:lnTo>
                <a:lnTo>
                  <a:pt x="205384" y="567689"/>
                </a:lnTo>
                <a:lnTo>
                  <a:pt x="262191" y="579119"/>
                </a:lnTo>
                <a:lnTo>
                  <a:pt x="291880" y="580389"/>
                </a:lnTo>
                <a:lnTo>
                  <a:pt x="321558" y="579119"/>
                </a:lnTo>
                <a:lnTo>
                  <a:pt x="350395" y="575310"/>
                </a:lnTo>
                <a:lnTo>
                  <a:pt x="378227" y="567689"/>
                </a:lnTo>
                <a:lnTo>
                  <a:pt x="404897" y="557529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79"/>
                </a:lnTo>
                <a:lnTo>
                  <a:pt x="212557" y="541019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89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89"/>
                </a:lnTo>
                <a:lnTo>
                  <a:pt x="40609" y="212089"/>
                </a:lnTo>
                <a:lnTo>
                  <a:pt x="60483" y="165100"/>
                </a:lnTo>
                <a:lnTo>
                  <a:pt x="88715" y="123189"/>
                </a:lnTo>
                <a:lnTo>
                  <a:pt x="124251" y="87629"/>
                </a:lnTo>
                <a:lnTo>
                  <a:pt x="166037" y="59689"/>
                </a:lnTo>
                <a:lnTo>
                  <a:pt x="213010" y="40639"/>
                </a:lnTo>
                <a:lnTo>
                  <a:pt x="264125" y="29210"/>
                </a:lnTo>
                <a:lnTo>
                  <a:pt x="290911" y="27939"/>
                </a:lnTo>
                <a:lnTo>
                  <a:pt x="415470" y="27939"/>
                </a:lnTo>
                <a:lnTo>
                  <a:pt x="402730" y="21589"/>
                </a:lnTo>
                <a:lnTo>
                  <a:pt x="375954" y="12700"/>
                </a:lnTo>
                <a:lnTo>
                  <a:pt x="348039" y="5079"/>
                </a:lnTo>
                <a:lnTo>
                  <a:pt x="319148" y="1269"/>
                </a:lnTo>
                <a:lnTo>
                  <a:pt x="289459" y="0"/>
                </a:lnTo>
                <a:close/>
              </a:path>
              <a:path w="581659" h="580389">
                <a:moveTo>
                  <a:pt x="415470" y="27939"/>
                </a:moveTo>
                <a:lnTo>
                  <a:pt x="290911" y="27939"/>
                </a:lnTo>
                <a:lnTo>
                  <a:pt x="317696" y="29210"/>
                </a:lnTo>
                <a:lnTo>
                  <a:pt x="343695" y="34289"/>
                </a:lnTo>
                <a:lnTo>
                  <a:pt x="392831" y="49529"/>
                </a:lnTo>
                <a:lnTo>
                  <a:pt x="437291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29"/>
                </a:lnTo>
                <a:lnTo>
                  <a:pt x="547302" y="237489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29"/>
                </a:lnTo>
                <a:lnTo>
                  <a:pt x="507719" y="436879"/>
                </a:lnTo>
                <a:lnTo>
                  <a:pt x="475702" y="476250"/>
                </a:lnTo>
                <a:lnTo>
                  <a:pt x="436909" y="508000"/>
                </a:lnTo>
                <a:lnTo>
                  <a:pt x="392398" y="532129"/>
                </a:lnTo>
                <a:lnTo>
                  <a:pt x="343223" y="547369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60"/>
                </a:lnTo>
                <a:lnTo>
                  <a:pt x="497015" y="495300"/>
                </a:lnTo>
                <a:lnTo>
                  <a:pt x="532333" y="452119"/>
                </a:lnTo>
                <a:lnTo>
                  <a:pt x="558948" y="402589"/>
                </a:lnTo>
                <a:lnTo>
                  <a:pt x="575677" y="347979"/>
                </a:lnTo>
                <a:lnTo>
                  <a:pt x="581338" y="289560"/>
                </a:lnTo>
                <a:lnTo>
                  <a:pt x="579718" y="259079"/>
                </a:lnTo>
                <a:lnTo>
                  <a:pt x="567917" y="203200"/>
                </a:lnTo>
                <a:lnTo>
                  <a:pt x="545692" y="151129"/>
                </a:lnTo>
                <a:lnTo>
                  <a:pt x="514229" y="104139"/>
                </a:lnTo>
                <a:lnTo>
                  <a:pt x="474689" y="64769"/>
                </a:lnTo>
                <a:lnTo>
                  <a:pt x="428210" y="34289"/>
                </a:lnTo>
                <a:lnTo>
                  <a:pt x="415470" y="27939"/>
                </a:lnTo>
                <a:close/>
              </a:path>
              <a:path w="581659" h="580389">
                <a:moveTo>
                  <a:pt x="291396" y="38100"/>
                </a:moveTo>
                <a:lnTo>
                  <a:pt x="240506" y="43179"/>
                </a:lnTo>
                <a:lnTo>
                  <a:pt x="193107" y="57150"/>
                </a:lnTo>
                <a:lnTo>
                  <a:pt x="150178" y="81279"/>
                </a:lnTo>
                <a:lnTo>
                  <a:pt x="112740" y="111760"/>
                </a:lnTo>
                <a:lnTo>
                  <a:pt x="81824" y="148589"/>
                </a:lnTo>
                <a:lnTo>
                  <a:pt x="58451" y="191769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89"/>
                </a:lnTo>
                <a:lnTo>
                  <a:pt x="68465" y="410210"/>
                </a:lnTo>
                <a:lnTo>
                  <a:pt x="95528" y="450850"/>
                </a:lnTo>
                <a:lnTo>
                  <a:pt x="129647" y="485139"/>
                </a:lnTo>
                <a:lnTo>
                  <a:pt x="169793" y="511810"/>
                </a:lnTo>
                <a:lnTo>
                  <a:pt x="214947" y="530860"/>
                </a:lnTo>
                <a:lnTo>
                  <a:pt x="264126" y="541019"/>
                </a:lnTo>
                <a:lnTo>
                  <a:pt x="289943" y="542289"/>
                </a:lnTo>
                <a:lnTo>
                  <a:pt x="315766" y="541019"/>
                </a:lnTo>
                <a:lnTo>
                  <a:pt x="340833" y="537210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29"/>
                </a:lnTo>
                <a:lnTo>
                  <a:pt x="217337" y="521969"/>
                </a:lnTo>
                <a:lnTo>
                  <a:pt x="173960" y="502919"/>
                </a:lnTo>
                <a:lnTo>
                  <a:pt x="135397" y="477519"/>
                </a:lnTo>
                <a:lnTo>
                  <a:pt x="102631" y="443229"/>
                </a:lnTo>
                <a:lnTo>
                  <a:pt x="76671" y="405129"/>
                </a:lnTo>
                <a:lnTo>
                  <a:pt x="58497" y="361950"/>
                </a:lnTo>
                <a:lnTo>
                  <a:pt x="49071" y="313689"/>
                </a:lnTo>
                <a:lnTo>
                  <a:pt x="47938" y="289560"/>
                </a:lnTo>
                <a:lnTo>
                  <a:pt x="49316" y="264160"/>
                </a:lnTo>
                <a:lnTo>
                  <a:pt x="59203" y="217169"/>
                </a:lnTo>
                <a:lnTo>
                  <a:pt x="77781" y="173989"/>
                </a:lnTo>
                <a:lnTo>
                  <a:pt x="104091" y="134619"/>
                </a:lnTo>
                <a:lnTo>
                  <a:pt x="137166" y="102869"/>
                </a:lnTo>
                <a:lnTo>
                  <a:pt x="176005" y="76200"/>
                </a:lnTo>
                <a:lnTo>
                  <a:pt x="219610" y="58419"/>
                </a:lnTo>
                <a:lnTo>
                  <a:pt x="267022" y="48260"/>
                </a:lnTo>
                <a:lnTo>
                  <a:pt x="291880" y="46989"/>
                </a:lnTo>
                <a:lnTo>
                  <a:pt x="356734" y="46989"/>
                </a:lnTo>
                <a:lnTo>
                  <a:pt x="342247" y="43179"/>
                </a:lnTo>
                <a:lnTo>
                  <a:pt x="317211" y="39369"/>
                </a:lnTo>
                <a:lnTo>
                  <a:pt x="291396" y="38100"/>
                </a:lnTo>
                <a:close/>
              </a:path>
              <a:path w="581659" h="580389">
                <a:moveTo>
                  <a:pt x="356734" y="46989"/>
                </a:moveTo>
                <a:lnTo>
                  <a:pt x="291880" y="46989"/>
                </a:lnTo>
                <a:lnTo>
                  <a:pt x="316727" y="49529"/>
                </a:lnTo>
                <a:lnTo>
                  <a:pt x="340798" y="53339"/>
                </a:lnTo>
                <a:lnTo>
                  <a:pt x="386232" y="67310"/>
                </a:lnTo>
                <a:lnTo>
                  <a:pt x="427323" y="90169"/>
                </a:lnTo>
                <a:lnTo>
                  <a:pt x="463113" y="119379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69"/>
                </a:lnTo>
                <a:lnTo>
                  <a:pt x="533400" y="292100"/>
                </a:lnTo>
                <a:lnTo>
                  <a:pt x="532023" y="316229"/>
                </a:lnTo>
                <a:lnTo>
                  <a:pt x="522135" y="363219"/>
                </a:lnTo>
                <a:lnTo>
                  <a:pt x="503558" y="407669"/>
                </a:lnTo>
                <a:lnTo>
                  <a:pt x="477248" y="445769"/>
                </a:lnTo>
                <a:lnTo>
                  <a:pt x="444173" y="478789"/>
                </a:lnTo>
                <a:lnTo>
                  <a:pt x="405333" y="504189"/>
                </a:lnTo>
                <a:lnTo>
                  <a:pt x="361729" y="521969"/>
                </a:lnTo>
                <a:lnTo>
                  <a:pt x="314317" y="532129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79"/>
                </a:lnTo>
                <a:lnTo>
                  <a:pt x="450630" y="485139"/>
                </a:lnTo>
                <a:lnTo>
                  <a:pt x="484936" y="450850"/>
                </a:lnTo>
                <a:lnTo>
                  <a:pt x="512207" y="411479"/>
                </a:lnTo>
                <a:lnTo>
                  <a:pt x="531432" y="365760"/>
                </a:lnTo>
                <a:lnTo>
                  <a:pt x="541611" y="317500"/>
                </a:lnTo>
                <a:lnTo>
                  <a:pt x="542926" y="289560"/>
                </a:lnTo>
                <a:lnTo>
                  <a:pt x="541757" y="265429"/>
                </a:lnTo>
                <a:lnTo>
                  <a:pt x="531856" y="215900"/>
                </a:lnTo>
                <a:lnTo>
                  <a:pt x="512874" y="170179"/>
                </a:lnTo>
                <a:lnTo>
                  <a:pt x="485811" y="130810"/>
                </a:lnTo>
                <a:lnTo>
                  <a:pt x="451692" y="96519"/>
                </a:lnTo>
                <a:lnTo>
                  <a:pt x="411544" y="68579"/>
                </a:lnTo>
                <a:lnTo>
                  <a:pt x="366392" y="49529"/>
                </a:lnTo>
                <a:lnTo>
                  <a:pt x="356734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715000" y="4267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691030" y="4244178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60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30"/>
                </a:lnTo>
                <a:lnTo>
                  <a:pt x="84324" y="85090"/>
                </a:lnTo>
                <a:lnTo>
                  <a:pt x="49006" y="128270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30"/>
                </a:lnTo>
                <a:lnTo>
                  <a:pt x="67110" y="476250"/>
                </a:lnTo>
                <a:lnTo>
                  <a:pt x="106650" y="515620"/>
                </a:lnTo>
                <a:lnTo>
                  <a:pt x="153128" y="546100"/>
                </a:lnTo>
                <a:lnTo>
                  <a:pt x="205384" y="567690"/>
                </a:lnTo>
                <a:lnTo>
                  <a:pt x="262191" y="579120"/>
                </a:lnTo>
                <a:lnTo>
                  <a:pt x="291880" y="580390"/>
                </a:lnTo>
                <a:lnTo>
                  <a:pt x="321558" y="579120"/>
                </a:lnTo>
                <a:lnTo>
                  <a:pt x="350395" y="575310"/>
                </a:lnTo>
                <a:lnTo>
                  <a:pt x="378227" y="567690"/>
                </a:lnTo>
                <a:lnTo>
                  <a:pt x="404897" y="557530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80"/>
                </a:lnTo>
                <a:lnTo>
                  <a:pt x="212557" y="541020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90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90"/>
                </a:lnTo>
                <a:lnTo>
                  <a:pt x="40609" y="212090"/>
                </a:lnTo>
                <a:lnTo>
                  <a:pt x="60483" y="165100"/>
                </a:lnTo>
                <a:lnTo>
                  <a:pt x="88715" y="123190"/>
                </a:lnTo>
                <a:lnTo>
                  <a:pt x="124251" y="87630"/>
                </a:lnTo>
                <a:lnTo>
                  <a:pt x="166037" y="59690"/>
                </a:lnTo>
                <a:lnTo>
                  <a:pt x="213010" y="40640"/>
                </a:lnTo>
                <a:lnTo>
                  <a:pt x="264125" y="29210"/>
                </a:lnTo>
                <a:lnTo>
                  <a:pt x="290911" y="27940"/>
                </a:lnTo>
                <a:lnTo>
                  <a:pt x="415470" y="27940"/>
                </a:lnTo>
                <a:lnTo>
                  <a:pt x="402730" y="21590"/>
                </a:lnTo>
                <a:lnTo>
                  <a:pt x="375954" y="12700"/>
                </a:lnTo>
                <a:lnTo>
                  <a:pt x="348039" y="5080"/>
                </a:lnTo>
                <a:lnTo>
                  <a:pt x="319148" y="1270"/>
                </a:lnTo>
                <a:lnTo>
                  <a:pt x="289459" y="0"/>
                </a:lnTo>
                <a:close/>
              </a:path>
              <a:path w="581660" h="580389">
                <a:moveTo>
                  <a:pt x="415470" y="27940"/>
                </a:moveTo>
                <a:lnTo>
                  <a:pt x="290911" y="27940"/>
                </a:lnTo>
                <a:lnTo>
                  <a:pt x="317696" y="29210"/>
                </a:lnTo>
                <a:lnTo>
                  <a:pt x="343695" y="34290"/>
                </a:lnTo>
                <a:lnTo>
                  <a:pt x="392831" y="49530"/>
                </a:lnTo>
                <a:lnTo>
                  <a:pt x="437292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30"/>
                </a:lnTo>
                <a:lnTo>
                  <a:pt x="547302" y="237490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30"/>
                </a:lnTo>
                <a:lnTo>
                  <a:pt x="507719" y="436880"/>
                </a:lnTo>
                <a:lnTo>
                  <a:pt x="475702" y="476250"/>
                </a:lnTo>
                <a:lnTo>
                  <a:pt x="436909" y="508000"/>
                </a:lnTo>
                <a:lnTo>
                  <a:pt x="392398" y="532130"/>
                </a:lnTo>
                <a:lnTo>
                  <a:pt x="343223" y="547370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60"/>
                </a:lnTo>
                <a:lnTo>
                  <a:pt x="497015" y="495300"/>
                </a:lnTo>
                <a:lnTo>
                  <a:pt x="532333" y="452120"/>
                </a:lnTo>
                <a:lnTo>
                  <a:pt x="558948" y="402590"/>
                </a:lnTo>
                <a:lnTo>
                  <a:pt x="575677" y="347980"/>
                </a:lnTo>
                <a:lnTo>
                  <a:pt x="581338" y="289560"/>
                </a:lnTo>
                <a:lnTo>
                  <a:pt x="579718" y="259080"/>
                </a:lnTo>
                <a:lnTo>
                  <a:pt x="567917" y="203200"/>
                </a:lnTo>
                <a:lnTo>
                  <a:pt x="545692" y="151130"/>
                </a:lnTo>
                <a:lnTo>
                  <a:pt x="514229" y="104140"/>
                </a:lnTo>
                <a:lnTo>
                  <a:pt x="474689" y="64770"/>
                </a:lnTo>
                <a:lnTo>
                  <a:pt x="428210" y="34290"/>
                </a:lnTo>
                <a:lnTo>
                  <a:pt x="415470" y="27940"/>
                </a:lnTo>
                <a:close/>
              </a:path>
              <a:path w="581660" h="580389">
                <a:moveTo>
                  <a:pt x="291396" y="38100"/>
                </a:moveTo>
                <a:lnTo>
                  <a:pt x="240506" y="43180"/>
                </a:lnTo>
                <a:lnTo>
                  <a:pt x="193107" y="57150"/>
                </a:lnTo>
                <a:lnTo>
                  <a:pt x="150178" y="81280"/>
                </a:lnTo>
                <a:lnTo>
                  <a:pt x="112740" y="111760"/>
                </a:lnTo>
                <a:lnTo>
                  <a:pt x="81824" y="148590"/>
                </a:lnTo>
                <a:lnTo>
                  <a:pt x="58451" y="191770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90"/>
                </a:lnTo>
                <a:lnTo>
                  <a:pt x="68465" y="410210"/>
                </a:lnTo>
                <a:lnTo>
                  <a:pt x="95528" y="450850"/>
                </a:lnTo>
                <a:lnTo>
                  <a:pt x="129647" y="485140"/>
                </a:lnTo>
                <a:lnTo>
                  <a:pt x="169793" y="511810"/>
                </a:lnTo>
                <a:lnTo>
                  <a:pt x="214947" y="530860"/>
                </a:lnTo>
                <a:lnTo>
                  <a:pt x="264126" y="541020"/>
                </a:lnTo>
                <a:lnTo>
                  <a:pt x="289943" y="542290"/>
                </a:lnTo>
                <a:lnTo>
                  <a:pt x="315766" y="541020"/>
                </a:lnTo>
                <a:lnTo>
                  <a:pt x="340833" y="537210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30"/>
                </a:lnTo>
                <a:lnTo>
                  <a:pt x="217337" y="521970"/>
                </a:lnTo>
                <a:lnTo>
                  <a:pt x="173960" y="502920"/>
                </a:lnTo>
                <a:lnTo>
                  <a:pt x="135397" y="477520"/>
                </a:lnTo>
                <a:lnTo>
                  <a:pt x="102631" y="443230"/>
                </a:lnTo>
                <a:lnTo>
                  <a:pt x="76671" y="405130"/>
                </a:lnTo>
                <a:lnTo>
                  <a:pt x="58497" y="361950"/>
                </a:lnTo>
                <a:lnTo>
                  <a:pt x="49071" y="313690"/>
                </a:lnTo>
                <a:lnTo>
                  <a:pt x="47938" y="289560"/>
                </a:lnTo>
                <a:lnTo>
                  <a:pt x="49316" y="264160"/>
                </a:lnTo>
                <a:lnTo>
                  <a:pt x="59203" y="217170"/>
                </a:lnTo>
                <a:lnTo>
                  <a:pt x="77781" y="173990"/>
                </a:lnTo>
                <a:lnTo>
                  <a:pt x="104091" y="134620"/>
                </a:lnTo>
                <a:lnTo>
                  <a:pt x="137166" y="102870"/>
                </a:lnTo>
                <a:lnTo>
                  <a:pt x="176005" y="76200"/>
                </a:lnTo>
                <a:lnTo>
                  <a:pt x="219610" y="58420"/>
                </a:lnTo>
                <a:lnTo>
                  <a:pt x="267022" y="48260"/>
                </a:lnTo>
                <a:lnTo>
                  <a:pt x="361563" y="48260"/>
                </a:lnTo>
                <a:lnTo>
                  <a:pt x="342247" y="43180"/>
                </a:lnTo>
                <a:lnTo>
                  <a:pt x="317211" y="39370"/>
                </a:lnTo>
                <a:lnTo>
                  <a:pt x="291396" y="38100"/>
                </a:lnTo>
                <a:close/>
              </a:path>
              <a:path w="581660" h="580389">
                <a:moveTo>
                  <a:pt x="361563" y="48260"/>
                </a:moveTo>
                <a:lnTo>
                  <a:pt x="291880" y="48260"/>
                </a:lnTo>
                <a:lnTo>
                  <a:pt x="316727" y="49530"/>
                </a:lnTo>
                <a:lnTo>
                  <a:pt x="340798" y="53340"/>
                </a:lnTo>
                <a:lnTo>
                  <a:pt x="386232" y="67310"/>
                </a:lnTo>
                <a:lnTo>
                  <a:pt x="427323" y="90170"/>
                </a:lnTo>
                <a:lnTo>
                  <a:pt x="463113" y="119380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70"/>
                </a:lnTo>
                <a:lnTo>
                  <a:pt x="533400" y="292100"/>
                </a:lnTo>
                <a:lnTo>
                  <a:pt x="532023" y="316230"/>
                </a:lnTo>
                <a:lnTo>
                  <a:pt x="522135" y="363220"/>
                </a:lnTo>
                <a:lnTo>
                  <a:pt x="503558" y="407670"/>
                </a:lnTo>
                <a:lnTo>
                  <a:pt x="477248" y="445770"/>
                </a:lnTo>
                <a:lnTo>
                  <a:pt x="444173" y="478790"/>
                </a:lnTo>
                <a:lnTo>
                  <a:pt x="405333" y="504190"/>
                </a:lnTo>
                <a:lnTo>
                  <a:pt x="361729" y="521970"/>
                </a:lnTo>
                <a:lnTo>
                  <a:pt x="314317" y="532130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80"/>
                </a:lnTo>
                <a:lnTo>
                  <a:pt x="450630" y="485140"/>
                </a:lnTo>
                <a:lnTo>
                  <a:pt x="484936" y="450850"/>
                </a:lnTo>
                <a:lnTo>
                  <a:pt x="512207" y="411480"/>
                </a:lnTo>
                <a:lnTo>
                  <a:pt x="531432" y="365760"/>
                </a:lnTo>
                <a:lnTo>
                  <a:pt x="541611" y="317500"/>
                </a:lnTo>
                <a:lnTo>
                  <a:pt x="542926" y="289560"/>
                </a:lnTo>
                <a:lnTo>
                  <a:pt x="541757" y="265430"/>
                </a:lnTo>
                <a:lnTo>
                  <a:pt x="531856" y="215900"/>
                </a:lnTo>
                <a:lnTo>
                  <a:pt x="512874" y="170180"/>
                </a:lnTo>
                <a:lnTo>
                  <a:pt x="485811" y="130810"/>
                </a:lnTo>
                <a:lnTo>
                  <a:pt x="451692" y="96520"/>
                </a:lnTo>
                <a:lnTo>
                  <a:pt x="411544" y="68580"/>
                </a:lnTo>
                <a:lnTo>
                  <a:pt x="366392" y="49530"/>
                </a:lnTo>
                <a:lnTo>
                  <a:pt x="361563" y="48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086600" y="2819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062630" y="2796379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59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29"/>
                </a:lnTo>
                <a:lnTo>
                  <a:pt x="84324" y="85089"/>
                </a:lnTo>
                <a:lnTo>
                  <a:pt x="49006" y="128269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29"/>
                </a:lnTo>
                <a:lnTo>
                  <a:pt x="67110" y="476250"/>
                </a:lnTo>
                <a:lnTo>
                  <a:pt x="106650" y="515619"/>
                </a:lnTo>
                <a:lnTo>
                  <a:pt x="153128" y="546100"/>
                </a:lnTo>
                <a:lnTo>
                  <a:pt x="205384" y="567689"/>
                </a:lnTo>
                <a:lnTo>
                  <a:pt x="262191" y="579119"/>
                </a:lnTo>
                <a:lnTo>
                  <a:pt x="291880" y="580389"/>
                </a:lnTo>
                <a:lnTo>
                  <a:pt x="321558" y="579119"/>
                </a:lnTo>
                <a:lnTo>
                  <a:pt x="350395" y="575310"/>
                </a:lnTo>
                <a:lnTo>
                  <a:pt x="378227" y="567689"/>
                </a:lnTo>
                <a:lnTo>
                  <a:pt x="404897" y="557529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79"/>
                </a:lnTo>
                <a:lnTo>
                  <a:pt x="212556" y="541019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89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89"/>
                </a:lnTo>
                <a:lnTo>
                  <a:pt x="40609" y="212089"/>
                </a:lnTo>
                <a:lnTo>
                  <a:pt x="60483" y="165100"/>
                </a:lnTo>
                <a:lnTo>
                  <a:pt x="88714" y="123189"/>
                </a:lnTo>
                <a:lnTo>
                  <a:pt x="124251" y="87629"/>
                </a:lnTo>
                <a:lnTo>
                  <a:pt x="166037" y="59689"/>
                </a:lnTo>
                <a:lnTo>
                  <a:pt x="213010" y="40639"/>
                </a:lnTo>
                <a:lnTo>
                  <a:pt x="264125" y="29210"/>
                </a:lnTo>
                <a:lnTo>
                  <a:pt x="290911" y="27939"/>
                </a:lnTo>
                <a:lnTo>
                  <a:pt x="415470" y="27939"/>
                </a:lnTo>
                <a:lnTo>
                  <a:pt x="402730" y="21589"/>
                </a:lnTo>
                <a:lnTo>
                  <a:pt x="375954" y="12700"/>
                </a:lnTo>
                <a:lnTo>
                  <a:pt x="348039" y="5079"/>
                </a:lnTo>
                <a:lnTo>
                  <a:pt x="319148" y="1269"/>
                </a:lnTo>
                <a:lnTo>
                  <a:pt x="289459" y="0"/>
                </a:lnTo>
                <a:close/>
              </a:path>
              <a:path w="581659" h="580389">
                <a:moveTo>
                  <a:pt x="415470" y="27939"/>
                </a:moveTo>
                <a:lnTo>
                  <a:pt x="290911" y="27939"/>
                </a:lnTo>
                <a:lnTo>
                  <a:pt x="317696" y="29210"/>
                </a:lnTo>
                <a:lnTo>
                  <a:pt x="343695" y="34289"/>
                </a:lnTo>
                <a:lnTo>
                  <a:pt x="392831" y="49529"/>
                </a:lnTo>
                <a:lnTo>
                  <a:pt x="437291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29"/>
                </a:lnTo>
                <a:lnTo>
                  <a:pt x="547302" y="237489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29"/>
                </a:lnTo>
                <a:lnTo>
                  <a:pt x="507719" y="436879"/>
                </a:lnTo>
                <a:lnTo>
                  <a:pt x="475702" y="476250"/>
                </a:lnTo>
                <a:lnTo>
                  <a:pt x="436909" y="508000"/>
                </a:lnTo>
                <a:lnTo>
                  <a:pt x="392398" y="532129"/>
                </a:lnTo>
                <a:lnTo>
                  <a:pt x="343223" y="547369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60"/>
                </a:lnTo>
                <a:lnTo>
                  <a:pt x="497015" y="495300"/>
                </a:lnTo>
                <a:lnTo>
                  <a:pt x="532333" y="452119"/>
                </a:lnTo>
                <a:lnTo>
                  <a:pt x="558948" y="402589"/>
                </a:lnTo>
                <a:lnTo>
                  <a:pt x="575677" y="347979"/>
                </a:lnTo>
                <a:lnTo>
                  <a:pt x="581338" y="289560"/>
                </a:lnTo>
                <a:lnTo>
                  <a:pt x="579718" y="259079"/>
                </a:lnTo>
                <a:lnTo>
                  <a:pt x="567917" y="203200"/>
                </a:lnTo>
                <a:lnTo>
                  <a:pt x="545692" y="151129"/>
                </a:lnTo>
                <a:lnTo>
                  <a:pt x="514229" y="104139"/>
                </a:lnTo>
                <a:lnTo>
                  <a:pt x="474687" y="64769"/>
                </a:lnTo>
                <a:lnTo>
                  <a:pt x="428210" y="34289"/>
                </a:lnTo>
                <a:lnTo>
                  <a:pt x="415470" y="27939"/>
                </a:lnTo>
                <a:close/>
              </a:path>
              <a:path w="581659" h="580389">
                <a:moveTo>
                  <a:pt x="291396" y="38100"/>
                </a:moveTo>
                <a:lnTo>
                  <a:pt x="240506" y="43179"/>
                </a:lnTo>
                <a:lnTo>
                  <a:pt x="193107" y="57150"/>
                </a:lnTo>
                <a:lnTo>
                  <a:pt x="150178" y="81279"/>
                </a:lnTo>
                <a:lnTo>
                  <a:pt x="112740" y="111760"/>
                </a:lnTo>
                <a:lnTo>
                  <a:pt x="81824" y="148589"/>
                </a:lnTo>
                <a:lnTo>
                  <a:pt x="58451" y="191769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89"/>
                </a:lnTo>
                <a:lnTo>
                  <a:pt x="68465" y="410210"/>
                </a:lnTo>
                <a:lnTo>
                  <a:pt x="95526" y="450850"/>
                </a:lnTo>
                <a:lnTo>
                  <a:pt x="129647" y="485139"/>
                </a:lnTo>
                <a:lnTo>
                  <a:pt x="169793" y="511810"/>
                </a:lnTo>
                <a:lnTo>
                  <a:pt x="214947" y="530860"/>
                </a:lnTo>
                <a:lnTo>
                  <a:pt x="264126" y="541019"/>
                </a:lnTo>
                <a:lnTo>
                  <a:pt x="289943" y="542289"/>
                </a:lnTo>
                <a:lnTo>
                  <a:pt x="315765" y="541019"/>
                </a:lnTo>
                <a:lnTo>
                  <a:pt x="340833" y="537210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29"/>
                </a:lnTo>
                <a:lnTo>
                  <a:pt x="217337" y="521969"/>
                </a:lnTo>
                <a:lnTo>
                  <a:pt x="173960" y="502919"/>
                </a:lnTo>
                <a:lnTo>
                  <a:pt x="135395" y="477519"/>
                </a:lnTo>
                <a:lnTo>
                  <a:pt x="102631" y="443229"/>
                </a:lnTo>
                <a:lnTo>
                  <a:pt x="76671" y="405129"/>
                </a:lnTo>
                <a:lnTo>
                  <a:pt x="58497" y="361950"/>
                </a:lnTo>
                <a:lnTo>
                  <a:pt x="49071" y="313689"/>
                </a:lnTo>
                <a:lnTo>
                  <a:pt x="47938" y="289560"/>
                </a:lnTo>
                <a:lnTo>
                  <a:pt x="49316" y="264160"/>
                </a:lnTo>
                <a:lnTo>
                  <a:pt x="59203" y="217169"/>
                </a:lnTo>
                <a:lnTo>
                  <a:pt x="77781" y="173989"/>
                </a:lnTo>
                <a:lnTo>
                  <a:pt x="104091" y="134619"/>
                </a:lnTo>
                <a:lnTo>
                  <a:pt x="137166" y="102869"/>
                </a:lnTo>
                <a:lnTo>
                  <a:pt x="176005" y="76200"/>
                </a:lnTo>
                <a:lnTo>
                  <a:pt x="219610" y="58419"/>
                </a:lnTo>
                <a:lnTo>
                  <a:pt x="267022" y="48260"/>
                </a:lnTo>
                <a:lnTo>
                  <a:pt x="291880" y="46989"/>
                </a:lnTo>
                <a:lnTo>
                  <a:pt x="356734" y="46989"/>
                </a:lnTo>
                <a:lnTo>
                  <a:pt x="342247" y="43179"/>
                </a:lnTo>
                <a:lnTo>
                  <a:pt x="317211" y="39369"/>
                </a:lnTo>
                <a:lnTo>
                  <a:pt x="291396" y="38100"/>
                </a:lnTo>
                <a:close/>
              </a:path>
              <a:path w="581659" h="580389">
                <a:moveTo>
                  <a:pt x="356734" y="46989"/>
                </a:moveTo>
                <a:lnTo>
                  <a:pt x="291880" y="46989"/>
                </a:lnTo>
                <a:lnTo>
                  <a:pt x="316727" y="49529"/>
                </a:lnTo>
                <a:lnTo>
                  <a:pt x="340798" y="53339"/>
                </a:lnTo>
                <a:lnTo>
                  <a:pt x="386232" y="67310"/>
                </a:lnTo>
                <a:lnTo>
                  <a:pt x="427323" y="90169"/>
                </a:lnTo>
                <a:lnTo>
                  <a:pt x="463113" y="119379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69"/>
                </a:lnTo>
                <a:lnTo>
                  <a:pt x="533400" y="292100"/>
                </a:lnTo>
                <a:lnTo>
                  <a:pt x="532023" y="316229"/>
                </a:lnTo>
                <a:lnTo>
                  <a:pt x="522135" y="363219"/>
                </a:lnTo>
                <a:lnTo>
                  <a:pt x="503558" y="407669"/>
                </a:lnTo>
                <a:lnTo>
                  <a:pt x="477248" y="445769"/>
                </a:lnTo>
                <a:lnTo>
                  <a:pt x="444173" y="478789"/>
                </a:lnTo>
                <a:lnTo>
                  <a:pt x="405333" y="504189"/>
                </a:lnTo>
                <a:lnTo>
                  <a:pt x="361729" y="521969"/>
                </a:lnTo>
                <a:lnTo>
                  <a:pt x="314317" y="532129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79"/>
                </a:lnTo>
                <a:lnTo>
                  <a:pt x="450630" y="485139"/>
                </a:lnTo>
                <a:lnTo>
                  <a:pt x="484936" y="450850"/>
                </a:lnTo>
                <a:lnTo>
                  <a:pt x="512207" y="411479"/>
                </a:lnTo>
                <a:lnTo>
                  <a:pt x="531432" y="365760"/>
                </a:lnTo>
                <a:lnTo>
                  <a:pt x="541610" y="317500"/>
                </a:lnTo>
                <a:lnTo>
                  <a:pt x="542926" y="289560"/>
                </a:lnTo>
                <a:lnTo>
                  <a:pt x="541757" y="265429"/>
                </a:lnTo>
                <a:lnTo>
                  <a:pt x="531856" y="215900"/>
                </a:lnTo>
                <a:lnTo>
                  <a:pt x="512874" y="170179"/>
                </a:lnTo>
                <a:lnTo>
                  <a:pt x="485811" y="130810"/>
                </a:lnTo>
                <a:lnTo>
                  <a:pt x="451692" y="96519"/>
                </a:lnTo>
                <a:lnTo>
                  <a:pt x="411544" y="68579"/>
                </a:lnTo>
                <a:lnTo>
                  <a:pt x="366392" y="49529"/>
                </a:lnTo>
                <a:lnTo>
                  <a:pt x="356734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81200" y="2743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57229" y="2720179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60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29"/>
                </a:lnTo>
                <a:lnTo>
                  <a:pt x="84324" y="85089"/>
                </a:lnTo>
                <a:lnTo>
                  <a:pt x="49006" y="128269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29"/>
                </a:lnTo>
                <a:lnTo>
                  <a:pt x="67110" y="476250"/>
                </a:lnTo>
                <a:lnTo>
                  <a:pt x="106650" y="515619"/>
                </a:lnTo>
                <a:lnTo>
                  <a:pt x="153128" y="546100"/>
                </a:lnTo>
                <a:lnTo>
                  <a:pt x="205384" y="567689"/>
                </a:lnTo>
                <a:lnTo>
                  <a:pt x="262191" y="579119"/>
                </a:lnTo>
                <a:lnTo>
                  <a:pt x="291880" y="580389"/>
                </a:lnTo>
                <a:lnTo>
                  <a:pt x="321558" y="579119"/>
                </a:lnTo>
                <a:lnTo>
                  <a:pt x="350395" y="575310"/>
                </a:lnTo>
                <a:lnTo>
                  <a:pt x="378227" y="567689"/>
                </a:lnTo>
                <a:lnTo>
                  <a:pt x="404897" y="557529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79"/>
                </a:lnTo>
                <a:lnTo>
                  <a:pt x="212557" y="541019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89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89"/>
                </a:lnTo>
                <a:lnTo>
                  <a:pt x="40609" y="212089"/>
                </a:lnTo>
                <a:lnTo>
                  <a:pt x="60483" y="165100"/>
                </a:lnTo>
                <a:lnTo>
                  <a:pt x="88715" y="123189"/>
                </a:lnTo>
                <a:lnTo>
                  <a:pt x="124251" y="87629"/>
                </a:lnTo>
                <a:lnTo>
                  <a:pt x="166037" y="59689"/>
                </a:lnTo>
                <a:lnTo>
                  <a:pt x="213010" y="40639"/>
                </a:lnTo>
                <a:lnTo>
                  <a:pt x="264125" y="29210"/>
                </a:lnTo>
                <a:lnTo>
                  <a:pt x="290912" y="27939"/>
                </a:lnTo>
                <a:lnTo>
                  <a:pt x="415470" y="27939"/>
                </a:lnTo>
                <a:lnTo>
                  <a:pt x="402730" y="21589"/>
                </a:lnTo>
                <a:lnTo>
                  <a:pt x="375955" y="12700"/>
                </a:lnTo>
                <a:lnTo>
                  <a:pt x="348039" y="5079"/>
                </a:lnTo>
                <a:lnTo>
                  <a:pt x="319148" y="1269"/>
                </a:lnTo>
                <a:lnTo>
                  <a:pt x="289459" y="0"/>
                </a:lnTo>
                <a:close/>
              </a:path>
              <a:path w="581660" h="580389">
                <a:moveTo>
                  <a:pt x="415470" y="27939"/>
                </a:moveTo>
                <a:lnTo>
                  <a:pt x="290912" y="27939"/>
                </a:lnTo>
                <a:lnTo>
                  <a:pt x="317696" y="29210"/>
                </a:lnTo>
                <a:lnTo>
                  <a:pt x="343695" y="34289"/>
                </a:lnTo>
                <a:lnTo>
                  <a:pt x="392831" y="49529"/>
                </a:lnTo>
                <a:lnTo>
                  <a:pt x="437292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29"/>
                </a:lnTo>
                <a:lnTo>
                  <a:pt x="547302" y="237489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29"/>
                </a:lnTo>
                <a:lnTo>
                  <a:pt x="507719" y="436879"/>
                </a:lnTo>
                <a:lnTo>
                  <a:pt x="475702" y="476250"/>
                </a:lnTo>
                <a:lnTo>
                  <a:pt x="436910" y="508000"/>
                </a:lnTo>
                <a:lnTo>
                  <a:pt x="392398" y="532129"/>
                </a:lnTo>
                <a:lnTo>
                  <a:pt x="343223" y="547369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60"/>
                </a:lnTo>
                <a:lnTo>
                  <a:pt x="497015" y="495300"/>
                </a:lnTo>
                <a:lnTo>
                  <a:pt x="532333" y="452119"/>
                </a:lnTo>
                <a:lnTo>
                  <a:pt x="558948" y="402589"/>
                </a:lnTo>
                <a:lnTo>
                  <a:pt x="575677" y="347979"/>
                </a:lnTo>
                <a:lnTo>
                  <a:pt x="581339" y="289560"/>
                </a:lnTo>
                <a:lnTo>
                  <a:pt x="579718" y="259079"/>
                </a:lnTo>
                <a:lnTo>
                  <a:pt x="567917" y="203200"/>
                </a:lnTo>
                <a:lnTo>
                  <a:pt x="545692" y="151129"/>
                </a:lnTo>
                <a:lnTo>
                  <a:pt x="514229" y="104139"/>
                </a:lnTo>
                <a:lnTo>
                  <a:pt x="474689" y="64769"/>
                </a:lnTo>
                <a:lnTo>
                  <a:pt x="428210" y="34289"/>
                </a:lnTo>
                <a:lnTo>
                  <a:pt x="415470" y="27939"/>
                </a:lnTo>
                <a:close/>
              </a:path>
              <a:path w="581660" h="580389">
                <a:moveTo>
                  <a:pt x="291396" y="38100"/>
                </a:moveTo>
                <a:lnTo>
                  <a:pt x="240506" y="43179"/>
                </a:lnTo>
                <a:lnTo>
                  <a:pt x="193107" y="57150"/>
                </a:lnTo>
                <a:lnTo>
                  <a:pt x="150178" y="81279"/>
                </a:lnTo>
                <a:lnTo>
                  <a:pt x="112740" y="111760"/>
                </a:lnTo>
                <a:lnTo>
                  <a:pt x="81824" y="148589"/>
                </a:lnTo>
                <a:lnTo>
                  <a:pt x="58451" y="191769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89"/>
                </a:lnTo>
                <a:lnTo>
                  <a:pt x="68465" y="410210"/>
                </a:lnTo>
                <a:lnTo>
                  <a:pt x="95528" y="450850"/>
                </a:lnTo>
                <a:lnTo>
                  <a:pt x="129647" y="485139"/>
                </a:lnTo>
                <a:lnTo>
                  <a:pt x="169793" y="511810"/>
                </a:lnTo>
                <a:lnTo>
                  <a:pt x="214947" y="530860"/>
                </a:lnTo>
                <a:lnTo>
                  <a:pt x="264126" y="541019"/>
                </a:lnTo>
                <a:lnTo>
                  <a:pt x="289943" y="542289"/>
                </a:lnTo>
                <a:lnTo>
                  <a:pt x="315766" y="541019"/>
                </a:lnTo>
                <a:lnTo>
                  <a:pt x="340833" y="537210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29"/>
                </a:lnTo>
                <a:lnTo>
                  <a:pt x="217337" y="521969"/>
                </a:lnTo>
                <a:lnTo>
                  <a:pt x="173960" y="502919"/>
                </a:lnTo>
                <a:lnTo>
                  <a:pt x="135397" y="477519"/>
                </a:lnTo>
                <a:lnTo>
                  <a:pt x="102631" y="443229"/>
                </a:lnTo>
                <a:lnTo>
                  <a:pt x="76671" y="405129"/>
                </a:lnTo>
                <a:lnTo>
                  <a:pt x="58497" y="361950"/>
                </a:lnTo>
                <a:lnTo>
                  <a:pt x="49071" y="313689"/>
                </a:lnTo>
                <a:lnTo>
                  <a:pt x="47939" y="289560"/>
                </a:lnTo>
                <a:lnTo>
                  <a:pt x="49316" y="264160"/>
                </a:lnTo>
                <a:lnTo>
                  <a:pt x="59203" y="217169"/>
                </a:lnTo>
                <a:lnTo>
                  <a:pt x="77781" y="173989"/>
                </a:lnTo>
                <a:lnTo>
                  <a:pt x="104091" y="134619"/>
                </a:lnTo>
                <a:lnTo>
                  <a:pt x="137166" y="102869"/>
                </a:lnTo>
                <a:lnTo>
                  <a:pt x="176005" y="76200"/>
                </a:lnTo>
                <a:lnTo>
                  <a:pt x="219610" y="58419"/>
                </a:lnTo>
                <a:lnTo>
                  <a:pt x="267022" y="48260"/>
                </a:lnTo>
                <a:lnTo>
                  <a:pt x="291880" y="46989"/>
                </a:lnTo>
                <a:lnTo>
                  <a:pt x="356734" y="46989"/>
                </a:lnTo>
                <a:lnTo>
                  <a:pt x="342247" y="43179"/>
                </a:lnTo>
                <a:lnTo>
                  <a:pt x="317211" y="39369"/>
                </a:lnTo>
                <a:lnTo>
                  <a:pt x="291396" y="38100"/>
                </a:lnTo>
                <a:close/>
              </a:path>
              <a:path w="581660" h="580389">
                <a:moveTo>
                  <a:pt x="356734" y="46989"/>
                </a:moveTo>
                <a:lnTo>
                  <a:pt x="291880" y="46989"/>
                </a:lnTo>
                <a:lnTo>
                  <a:pt x="316727" y="49529"/>
                </a:lnTo>
                <a:lnTo>
                  <a:pt x="340798" y="53339"/>
                </a:lnTo>
                <a:lnTo>
                  <a:pt x="386232" y="67310"/>
                </a:lnTo>
                <a:lnTo>
                  <a:pt x="427323" y="90169"/>
                </a:lnTo>
                <a:lnTo>
                  <a:pt x="463113" y="119379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69"/>
                </a:lnTo>
                <a:lnTo>
                  <a:pt x="533400" y="292100"/>
                </a:lnTo>
                <a:lnTo>
                  <a:pt x="532023" y="316229"/>
                </a:lnTo>
                <a:lnTo>
                  <a:pt x="522135" y="363219"/>
                </a:lnTo>
                <a:lnTo>
                  <a:pt x="503558" y="407669"/>
                </a:lnTo>
                <a:lnTo>
                  <a:pt x="477248" y="445769"/>
                </a:lnTo>
                <a:lnTo>
                  <a:pt x="444173" y="478789"/>
                </a:lnTo>
                <a:lnTo>
                  <a:pt x="405334" y="504189"/>
                </a:lnTo>
                <a:lnTo>
                  <a:pt x="361729" y="521969"/>
                </a:lnTo>
                <a:lnTo>
                  <a:pt x="314317" y="532129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79"/>
                </a:lnTo>
                <a:lnTo>
                  <a:pt x="450630" y="485139"/>
                </a:lnTo>
                <a:lnTo>
                  <a:pt x="484936" y="450850"/>
                </a:lnTo>
                <a:lnTo>
                  <a:pt x="512207" y="411479"/>
                </a:lnTo>
                <a:lnTo>
                  <a:pt x="531432" y="365760"/>
                </a:lnTo>
                <a:lnTo>
                  <a:pt x="541611" y="317500"/>
                </a:lnTo>
                <a:lnTo>
                  <a:pt x="542926" y="289560"/>
                </a:lnTo>
                <a:lnTo>
                  <a:pt x="541757" y="265429"/>
                </a:lnTo>
                <a:lnTo>
                  <a:pt x="531856" y="215900"/>
                </a:lnTo>
                <a:lnTo>
                  <a:pt x="512874" y="170179"/>
                </a:lnTo>
                <a:lnTo>
                  <a:pt x="485811" y="130810"/>
                </a:lnTo>
                <a:lnTo>
                  <a:pt x="451692" y="96519"/>
                </a:lnTo>
                <a:lnTo>
                  <a:pt x="411546" y="68579"/>
                </a:lnTo>
                <a:lnTo>
                  <a:pt x="366392" y="49529"/>
                </a:lnTo>
                <a:lnTo>
                  <a:pt x="356734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694297" y="6710388"/>
            <a:ext cx="178435" cy="1606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r>
              <a:rPr dirty="0" sz="900" spc="-5">
                <a:latin typeface="Arial"/>
                <a:cs typeface="Arial"/>
              </a:rPr>
              <a:t>16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0431" y="5543803"/>
            <a:ext cx="2242820" cy="1031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 spc="-5" b="1">
                <a:solidFill>
                  <a:srgbClr val="F0AD00"/>
                </a:solidFill>
                <a:latin typeface="Corbel"/>
                <a:cs typeface="Corbel"/>
              </a:rPr>
              <a:t>Gra</a:t>
            </a:r>
            <a:r>
              <a:rPr dirty="0" sz="6600" spc="-10" b="1">
                <a:solidFill>
                  <a:srgbClr val="F0AD00"/>
                </a:solidFill>
                <a:latin typeface="Corbel"/>
                <a:cs typeface="Corbel"/>
              </a:rPr>
              <a:t>p</a:t>
            </a:r>
            <a:r>
              <a:rPr dirty="0" sz="6600" b="1">
                <a:solidFill>
                  <a:srgbClr val="F0AD00"/>
                </a:solidFill>
                <a:latin typeface="Corbel"/>
                <a:cs typeface="Corbel"/>
              </a:rPr>
              <a:t>h</a:t>
            </a:r>
            <a:endParaRPr sz="6600">
              <a:latin typeface="Corbel"/>
              <a:cs typeface="Corbe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33700" y="1600200"/>
            <a:ext cx="1066800" cy="1752600"/>
          </a:xfrm>
          <a:custGeom>
            <a:avLst/>
            <a:gdLst/>
            <a:ahLst/>
            <a:cxnLst/>
            <a:rect l="l" t="t" r="r" b="b"/>
            <a:pathLst>
              <a:path w="1066800" h="1752600">
                <a:moveTo>
                  <a:pt x="0" y="0"/>
                </a:moveTo>
                <a:lnTo>
                  <a:pt x="1066800" y="175260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14800" y="2971800"/>
            <a:ext cx="1257300" cy="419100"/>
          </a:xfrm>
          <a:custGeom>
            <a:avLst/>
            <a:gdLst/>
            <a:ahLst/>
            <a:cxnLst/>
            <a:rect l="l" t="t" r="r" b="b"/>
            <a:pathLst>
              <a:path w="1257300" h="419100">
                <a:moveTo>
                  <a:pt x="1257300" y="0"/>
                </a:moveTo>
                <a:lnTo>
                  <a:pt x="0" y="41910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42956" y="1763486"/>
            <a:ext cx="1110615" cy="1417955"/>
          </a:xfrm>
          <a:custGeom>
            <a:avLst/>
            <a:gdLst/>
            <a:ahLst/>
            <a:cxnLst/>
            <a:rect l="l" t="t" r="r" b="b"/>
            <a:pathLst>
              <a:path w="1110615" h="1417955">
                <a:moveTo>
                  <a:pt x="0" y="0"/>
                </a:moveTo>
                <a:lnTo>
                  <a:pt x="1110343" y="1417864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53050" y="1866900"/>
            <a:ext cx="971550" cy="1219200"/>
          </a:xfrm>
          <a:custGeom>
            <a:avLst/>
            <a:gdLst/>
            <a:ahLst/>
            <a:cxnLst/>
            <a:rect l="l" t="t" r="r" b="b"/>
            <a:pathLst>
              <a:path w="971550" h="1219200">
                <a:moveTo>
                  <a:pt x="971550" y="0"/>
                </a:moveTo>
                <a:lnTo>
                  <a:pt x="0" y="121920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34000" y="3086100"/>
            <a:ext cx="2019300" cy="38100"/>
          </a:xfrm>
          <a:custGeom>
            <a:avLst/>
            <a:gdLst/>
            <a:ahLst/>
            <a:cxnLst/>
            <a:rect l="l" t="t" r="r" b="b"/>
            <a:pathLst>
              <a:path w="2019300" h="38100">
                <a:moveTo>
                  <a:pt x="2019300" y="0"/>
                </a:moveTo>
                <a:lnTo>
                  <a:pt x="0" y="3810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486400" y="3086100"/>
            <a:ext cx="495300" cy="1447800"/>
          </a:xfrm>
          <a:custGeom>
            <a:avLst/>
            <a:gdLst/>
            <a:ahLst/>
            <a:cxnLst/>
            <a:rect l="l" t="t" r="r" b="b"/>
            <a:pathLst>
              <a:path w="495300" h="1447800">
                <a:moveTo>
                  <a:pt x="495300" y="1447800"/>
                </a:moveTo>
                <a:lnTo>
                  <a:pt x="0" y="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57900" y="3086100"/>
            <a:ext cx="1295400" cy="1485900"/>
          </a:xfrm>
          <a:custGeom>
            <a:avLst/>
            <a:gdLst/>
            <a:ahLst/>
            <a:cxnLst/>
            <a:rect l="l" t="t" r="r" b="b"/>
            <a:pathLst>
              <a:path w="1295400" h="1485900">
                <a:moveTo>
                  <a:pt x="0" y="1485900"/>
                </a:moveTo>
                <a:lnTo>
                  <a:pt x="1295400" y="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31729" y="1409700"/>
            <a:ext cx="945515" cy="1905000"/>
          </a:xfrm>
          <a:custGeom>
            <a:avLst/>
            <a:gdLst/>
            <a:ahLst/>
            <a:cxnLst/>
            <a:rect l="l" t="t" r="r" b="b"/>
            <a:pathLst>
              <a:path w="945514" h="1905000">
                <a:moveTo>
                  <a:pt x="0" y="1905000"/>
                </a:moveTo>
                <a:lnTo>
                  <a:pt x="945070" y="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47900" y="3009900"/>
            <a:ext cx="1684020" cy="381000"/>
          </a:xfrm>
          <a:custGeom>
            <a:avLst/>
            <a:gdLst/>
            <a:ahLst/>
            <a:cxnLst/>
            <a:rect l="l" t="t" r="r" b="b"/>
            <a:pathLst>
              <a:path w="1684020" h="381000">
                <a:moveTo>
                  <a:pt x="1683829" y="381000"/>
                </a:moveTo>
                <a:lnTo>
                  <a:pt x="0" y="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7900" y="1409700"/>
            <a:ext cx="2590800" cy="1562100"/>
          </a:xfrm>
          <a:custGeom>
            <a:avLst/>
            <a:gdLst/>
            <a:ahLst/>
            <a:cxnLst/>
            <a:rect l="l" t="t" r="r" b="b"/>
            <a:pathLst>
              <a:path w="2590800" h="1562100">
                <a:moveTo>
                  <a:pt x="2590800" y="0"/>
                </a:moveTo>
                <a:lnTo>
                  <a:pt x="0" y="156210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47900" y="1562100"/>
            <a:ext cx="647700" cy="1409700"/>
          </a:xfrm>
          <a:custGeom>
            <a:avLst/>
            <a:gdLst/>
            <a:ahLst/>
            <a:cxnLst/>
            <a:rect l="l" t="t" r="r" b="b"/>
            <a:pathLst>
              <a:path w="647700" h="1409700">
                <a:moveTo>
                  <a:pt x="647700" y="0"/>
                </a:moveTo>
                <a:lnTo>
                  <a:pt x="0" y="140970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00400" y="3390900"/>
            <a:ext cx="800100" cy="1104900"/>
          </a:xfrm>
          <a:custGeom>
            <a:avLst/>
            <a:gdLst/>
            <a:ahLst/>
            <a:cxnLst/>
            <a:rect l="l" t="t" r="r" b="b"/>
            <a:pathLst>
              <a:path w="800100" h="1104900">
                <a:moveTo>
                  <a:pt x="800100" y="0"/>
                </a:moveTo>
                <a:lnTo>
                  <a:pt x="0" y="110490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47900" y="3009900"/>
            <a:ext cx="838200" cy="1524000"/>
          </a:xfrm>
          <a:custGeom>
            <a:avLst/>
            <a:gdLst/>
            <a:ahLst/>
            <a:cxnLst/>
            <a:rect l="l" t="t" r="r" b="b"/>
            <a:pathLst>
              <a:path w="838200" h="1524000">
                <a:moveTo>
                  <a:pt x="0" y="0"/>
                </a:moveTo>
                <a:lnTo>
                  <a:pt x="838200" y="152400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00400" y="4495800"/>
            <a:ext cx="2857500" cy="38100"/>
          </a:xfrm>
          <a:custGeom>
            <a:avLst/>
            <a:gdLst/>
            <a:ahLst/>
            <a:cxnLst/>
            <a:rect l="l" t="t" r="r" b="b"/>
            <a:pathLst>
              <a:path w="2857500" h="38100">
                <a:moveTo>
                  <a:pt x="0" y="0"/>
                </a:moveTo>
                <a:lnTo>
                  <a:pt x="2857500" y="3810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667000" y="1295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643029" y="1272379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60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29"/>
                </a:lnTo>
                <a:lnTo>
                  <a:pt x="84324" y="85089"/>
                </a:lnTo>
                <a:lnTo>
                  <a:pt x="49006" y="128269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29"/>
                </a:lnTo>
                <a:lnTo>
                  <a:pt x="67110" y="476250"/>
                </a:lnTo>
                <a:lnTo>
                  <a:pt x="106650" y="515619"/>
                </a:lnTo>
                <a:lnTo>
                  <a:pt x="153128" y="546100"/>
                </a:lnTo>
                <a:lnTo>
                  <a:pt x="205384" y="567689"/>
                </a:lnTo>
                <a:lnTo>
                  <a:pt x="262191" y="579119"/>
                </a:lnTo>
                <a:lnTo>
                  <a:pt x="291880" y="580389"/>
                </a:lnTo>
                <a:lnTo>
                  <a:pt x="321558" y="579119"/>
                </a:lnTo>
                <a:lnTo>
                  <a:pt x="350395" y="575310"/>
                </a:lnTo>
                <a:lnTo>
                  <a:pt x="378227" y="567689"/>
                </a:lnTo>
                <a:lnTo>
                  <a:pt x="404897" y="557529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79"/>
                </a:lnTo>
                <a:lnTo>
                  <a:pt x="212557" y="541019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89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89"/>
                </a:lnTo>
                <a:lnTo>
                  <a:pt x="40609" y="212089"/>
                </a:lnTo>
                <a:lnTo>
                  <a:pt x="60483" y="165100"/>
                </a:lnTo>
                <a:lnTo>
                  <a:pt x="88715" y="123189"/>
                </a:lnTo>
                <a:lnTo>
                  <a:pt x="124251" y="87629"/>
                </a:lnTo>
                <a:lnTo>
                  <a:pt x="166037" y="59689"/>
                </a:lnTo>
                <a:lnTo>
                  <a:pt x="213010" y="40639"/>
                </a:lnTo>
                <a:lnTo>
                  <a:pt x="264125" y="29210"/>
                </a:lnTo>
                <a:lnTo>
                  <a:pt x="290912" y="27939"/>
                </a:lnTo>
                <a:lnTo>
                  <a:pt x="415470" y="27939"/>
                </a:lnTo>
                <a:lnTo>
                  <a:pt x="402730" y="21589"/>
                </a:lnTo>
                <a:lnTo>
                  <a:pt x="375955" y="12700"/>
                </a:lnTo>
                <a:lnTo>
                  <a:pt x="348039" y="5079"/>
                </a:lnTo>
                <a:lnTo>
                  <a:pt x="319148" y="1269"/>
                </a:lnTo>
                <a:lnTo>
                  <a:pt x="289459" y="0"/>
                </a:lnTo>
                <a:close/>
              </a:path>
              <a:path w="581660" h="580389">
                <a:moveTo>
                  <a:pt x="415470" y="27939"/>
                </a:moveTo>
                <a:lnTo>
                  <a:pt x="290912" y="27939"/>
                </a:lnTo>
                <a:lnTo>
                  <a:pt x="317696" y="29210"/>
                </a:lnTo>
                <a:lnTo>
                  <a:pt x="343695" y="34289"/>
                </a:lnTo>
                <a:lnTo>
                  <a:pt x="392831" y="49529"/>
                </a:lnTo>
                <a:lnTo>
                  <a:pt x="437292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29"/>
                </a:lnTo>
                <a:lnTo>
                  <a:pt x="547302" y="237489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29"/>
                </a:lnTo>
                <a:lnTo>
                  <a:pt x="507719" y="436879"/>
                </a:lnTo>
                <a:lnTo>
                  <a:pt x="475702" y="476250"/>
                </a:lnTo>
                <a:lnTo>
                  <a:pt x="436910" y="508000"/>
                </a:lnTo>
                <a:lnTo>
                  <a:pt x="392398" y="532129"/>
                </a:lnTo>
                <a:lnTo>
                  <a:pt x="343223" y="547369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60"/>
                </a:lnTo>
                <a:lnTo>
                  <a:pt x="497015" y="495300"/>
                </a:lnTo>
                <a:lnTo>
                  <a:pt x="532333" y="452119"/>
                </a:lnTo>
                <a:lnTo>
                  <a:pt x="558948" y="402589"/>
                </a:lnTo>
                <a:lnTo>
                  <a:pt x="575677" y="347979"/>
                </a:lnTo>
                <a:lnTo>
                  <a:pt x="581339" y="289560"/>
                </a:lnTo>
                <a:lnTo>
                  <a:pt x="579718" y="259079"/>
                </a:lnTo>
                <a:lnTo>
                  <a:pt x="567917" y="203200"/>
                </a:lnTo>
                <a:lnTo>
                  <a:pt x="545692" y="151129"/>
                </a:lnTo>
                <a:lnTo>
                  <a:pt x="514229" y="104139"/>
                </a:lnTo>
                <a:lnTo>
                  <a:pt x="474689" y="64769"/>
                </a:lnTo>
                <a:lnTo>
                  <a:pt x="428210" y="34289"/>
                </a:lnTo>
                <a:lnTo>
                  <a:pt x="415470" y="27939"/>
                </a:lnTo>
                <a:close/>
              </a:path>
              <a:path w="581660" h="580389">
                <a:moveTo>
                  <a:pt x="291396" y="38100"/>
                </a:moveTo>
                <a:lnTo>
                  <a:pt x="240506" y="43179"/>
                </a:lnTo>
                <a:lnTo>
                  <a:pt x="193107" y="57150"/>
                </a:lnTo>
                <a:lnTo>
                  <a:pt x="150178" y="81279"/>
                </a:lnTo>
                <a:lnTo>
                  <a:pt x="112740" y="111760"/>
                </a:lnTo>
                <a:lnTo>
                  <a:pt x="81824" y="148589"/>
                </a:lnTo>
                <a:lnTo>
                  <a:pt x="58451" y="191769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89"/>
                </a:lnTo>
                <a:lnTo>
                  <a:pt x="68465" y="410210"/>
                </a:lnTo>
                <a:lnTo>
                  <a:pt x="95528" y="450850"/>
                </a:lnTo>
                <a:lnTo>
                  <a:pt x="129647" y="485139"/>
                </a:lnTo>
                <a:lnTo>
                  <a:pt x="169793" y="511810"/>
                </a:lnTo>
                <a:lnTo>
                  <a:pt x="214947" y="530860"/>
                </a:lnTo>
                <a:lnTo>
                  <a:pt x="264126" y="541019"/>
                </a:lnTo>
                <a:lnTo>
                  <a:pt x="289943" y="542289"/>
                </a:lnTo>
                <a:lnTo>
                  <a:pt x="315766" y="541019"/>
                </a:lnTo>
                <a:lnTo>
                  <a:pt x="340833" y="537210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29"/>
                </a:lnTo>
                <a:lnTo>
                  <a:pt x="217337" y="521969"/>
                </a:lnTo>
                <a:lnTo>
                  <a:pt x="173960" y="502919"/>
                </a:lnTo>
                <a:lnTo>
                  <a:pt x="135397" y="477519"/>
                </a:lnTo>
                <a:lnTo>
                  <a:pt x="102631" y="443229"/>
                </a:lnTo>
                <a:lnTo>
                  <a:pt x="76671" y="405129"/>
                </a:lnTo>
                <a:lnTo>
                  <a:pt x="58497" y="361950"/>
                </a:lnTo>
                <a:lnTo>
                  <a:pt x="49071" y="313689"/>
                </a:lnTo>
                <a:lnTo>
                  <a:pt x="47939" y="289560"/>
                </a:lnTo>
                <a:lnTo>
                  <a:pt x="49316" y="264160"/>
                </a:lnTo>
                <a:lnTo>
                  <a:pt x="59203" y="217169"/>
                </a:lnTo>
                <a:lnTo>
                  <a:pt x="77781" y="173989"/>
                </a:lnTo>
                <a:lnTo>
                  <a:pt x="104091" y="134619"/>
                </a:lnTo>
                <a:lnTo>
                  <a:pt x="137166" y="102869"/>
                </a:lnTo>
                <a:lnTo>
                  <a:pt x="176005" y="76200"/>
                </a:lnTo>
                <a:lnTo>
                  <a:pt x="219610" y="58419"/>
                </a:lnTo>
                <a:lnTo>
                  <a:pt x="267022" y="48260"/>
                </a:lnTo>
                <a:lnTo>
                  <a:pt x="291880" y="46989"/>
                </a:lnTo>
                <a:lnTo>
                  <a:pt x="356734" y="46989"/>
                </a:lnTo>
                <a:lnTo>
                  <a:pt x="342247" y="43179"/>
                </a:lnTo>
                <a:lnTo>
                  <a:pt x="317211" y="39369"/>
                </a:lnTo>
                <a:lnTo>
                  <a:pt x="291396" y="38100"/>
                </a:lnTo>
                <a:close/>
              </a:path>
              <a:path w="581660" h="580389">
                <a:moveTo>
                  <a:pt x="356734" y="46989"/>
                </a:moveTo>
                <a:lnTo>
                  <a:pt x="291880" y="46989"/>
                </a:lnTo>
                <a:lnTo>
                  <a:pt x="316727" y="49529"/>
                </a:lnTo>
                <a:lnTo>
                  <a:pt x="340798" y="53339"/>
                </a:lnTo>
                <a:lnTo>
                  <a:pt x="386232" y="67310"/>
                </a:lnTo>
                <a:lnTo>
                  <a:pt x="427323" y="90169"/>
                </a:lnTo>
                <a:lnTo>
                  <a:pt x="463113" y="119379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69"/>
                </a:lnTo>
                <a:lnTo>
                  <a:pt x="533400" y="292100"/>
                </a:lnTo>
                <a:lnTo>
                  <a:pt x="532023" y="316229"/>
                </a:lnTo>
                <a:lnTo>
                  <a:pt x="522135" y="363219"/>
                </a:lnTo>
                <a:lnTo>
                  <a:pt x="503558" y="407669"/>
                </a:lnTo>
                <a:lnTo>
                  <a:pt x="477248" y="445769"/>
                </a:lnTo>
                <a:lnTo>
                  <a:pt x="444173" y="478789"/>
                </a:lnTo>
                <a:lnTo>
                  <a:pt x="405334" y="504189"/>
                </a:lnTo>
                <a:lnTo>
                  <a:pt x="361729" y="521969"/>
                </a:lnTo>
                <a:lnTo>
                  <a:pt x="314317" y="532129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79"/>
                </a:lnTo>
                <a:lnTo>
                  <a:pt x="450630" y="485139"/>
                </a:lnTo>
                <a:lnTo>
                  <a:pt x="484936" y="450850"/>
                </a:lnTo>
                <a:lnTo>
                  <a:pt x="512207" y="411479"/>
                </a:lnTo>
                <a:lnTo>
                  <a:pt x="531432" y="365760"/>
                </a:lnTo>
                <a:lnTo>
                  <a:pt x="541611" y="317500"/>
                </a:lnTo>
                <a:lnTo>
                  <a:pt x="542926" y="289560"/>
                </a:lnTo>
                <a:lnTo>
                  <a:pt x="541757" y="265429"/>
                </a:lnTo>
                <a:lnTo>
                  <a:pt x="531856" y="215900"/>
                </a:lnTo>
                <a:lnTo>
                  <a:pt x="512874" y="170179"/>
                </a:lnTo>
                <a:lnTo>
                  <a:pt x="485811" y="130810"/>
                </a:lnTo>
                <a:lnTo>
                  <a:pt x="451692" y="96519"/>
                </a:lnTo>
                <a:lnTo>
                  <a:pt x="411546" y="68579"/>
                </a:lnTo>
                <a:lnTo>
                  <a:pt x="366392" y="49529"/>
                </a:lnTo>
                <a:lnTo>
                  <a:pt x="356734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572000" y="1143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48030" y="1119979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60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29"/>
                </a:lnTo>
                <a:lnTo>
                  <a:pt x="84324" y="85089"/>
                </a:lnTo>
                <a:lnTo>
                  <a:pt x="49006" y="128269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29"/>
                </a:lnTo>
                <a:lnTo>
                  <a:pt x="67110" y="476250"/>
                </a:lnTo>
                <a:lnTo>
                  <a:pt x="106650" y="515619"/>
                </a:lnTo>
                <a:lnTo>
                  <a:pt x="153128" y="546100"/>
                </a:lnTo>
                <a:lnTo>
                  <a:pt x="205384" y="567689"/>
                </a:lnTo>
                <a:lnTo>
                  <a:pt x="262191" y="579119"/>
                </a:lnTo>
                <a:lnTo>
                  <a:pt x="291880" y="580389"/>
                </a:lnTo>
                <a:lnTo>
                  <a:pt x="321558" y="579119"/>
                </a:lnTo>
                <a:lnTo>
                  <a:pt x="350395" y="575310"/>
                </a:lnTo>
                <a:lnTo>
                  <a:pt x="378227" y="567689"/>
                </a:lnTo>
                <a:lnTo>
                  <a:pt x="404897" y="557529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79"/>
                </a:lnTo>
                <a:lnTo>
                  <a:pt x="212557" y="541019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89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89"/>
                </a:lnTo>
                <a:lnTo>
                  <a:pt x="40609" y="212089"/>
                </a:lnTo>
                <a:lnTo>
                  <a:pt x="60483" y="165100"/>
                </a:lnTo>
                <a:lnTo>
                  <a:pt x="88715" y="123189"/>
                </a:lnTo>
                <a:lnTo>
                  <a:pt x="124251" y="87629"/>
                </a:lnTo>
                <a:lnTo>
                  <a:pt x="166037" y="59689"/>
                </a:lnTo>
                <a:lnTo>
                  <a:pt x="213010" y="40639"/>
                </a:lnTo>
                <a:lnTo>
                  <a:pt x="264125" y="29210"/>
                </a:lnTo>
                <a:lnTo>
                  <a:pt x="290912" y="27939"/>
                </a:lnTo>
                <a:lnTo>
                  <a:pt x="415470" y="27939"/>
                </a:lnTo>
                <a:lnTo>
                  <a:pt x="402730" y="21589"/>
                </a:lnTo>
                <a:lnTo>
                  <a:pt x="375954" y="12700"/>
                </a:lnTo>
                <a:lnTo>
                  <a:pt x="348039" y="5079"/>
                </a:lnTo>
                <a:lnTo>
                  <a:pt x="319148" y="1269"/>
                </a:lnTo>
                <a:lnTo>
                  <a:pt x="289459" y="0"/>
                </a:lnTo>
                <a:close/>
              </a:path>
              <a:path w="581660" h="580389">
                <a:moveTo>
                  <a:pt x="415470" y="27939"/>
                </a:moveTo>
                <a:lnTo>
                  <a:pt x="290912" y="27939"/>
                </a:lnTo>
                <a:lnTo>
                  <a:pt x="317696" y="29210"/>
                </a:lnTo>
                <a:lnTo>
                  <a:pt x="343695" y="34289"/>
                </a:lnTo>
                <a:lnTo>
                  <a:pt x="392831" y="49529"/>
                </a:lnTo>
                <a:lnTo>
                  <a:pt x="437292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29"/>
                </a:lnTo>
                <a:lnTo>
                  <a:pt x="547302" y="237489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29"/>
                </a:lnTo>
                <a:lnTo>
                  <a:pt x="507719" y="436879"/>
                </a:lnTo>
                <a:lnTo>
                  <a:pt x="475702" y="476250"/>
                </a:lnTo>
                <a:lnTo>
                  <a:pt x="436909" y="508000"/>
                </a:lnTo>
                <a:lnTo>
                  <a:pt x="392398" y="532129"/>
                </a:lnTo>
                <a:lnTo>
                  <a:pt x="343223" y="547369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60"/>
                </a:lnTo>
                <a:lnTo>
                  <a:pt x="497015" y="495300"/>
                </a:lnTo>
                <a:lnTo>
                  <a:pt x="532333" y="452119"/>
                </a:lnTo>
                <a:lnTo>
                  <a:pt x="558948" y="402589"/>
                </a:lnTo>
                <a:lnTo>
                  <a:pt x="575677" y="347979"/>
                </a:lnTo>
                <a:lnTo>
                  <a:pt x="581338" y="289560"/>
                </a:lnTo>
                <a:lnTo>
                  <a:pt x="579718" y="259079"/>
                </a:lnTo>
                <a:lnTo>
                  <a:pt x="567917" y="203200"/>
                </a:lnTo>
                <a:lnTo>
                  <a:pt x="545692" y="151129"/>
                </a:lnTo>
                <a:lnTo>
                  <a:pt x="514229" y="104139"/>
                </a:lnTo>
                <a:lnTo>
                  <a:pt x="474689" y="64769"/>
                </a:lnTo>
                <a:lnTo>
                  <a:pt x="428210" y="34289"/>
                </a:lnTo>
                <a:lnTo>
                  <a:pt x="415470" y="27939"/>
                </a:lnTo>
                <a:close/>
              </a:path>
              <a:path w="581660" h="580389">
                <a:moveTo>
                  <a:pt x="291396" y="38100"/>
                </a:moveTo>
                <a:lnTo>
                  <a:pt x="240506" y="43179"/>
                </a:lnTo>
                <a:lnTo>
                  <a:pt x="193107" y="57150"/>
                </a:lnTo>
                <a:lnTo>
                  <a:pt x="150178" y="81279"/>
                </a:lnTo>
                <a:lnTo>
                  <a:pt x="112740" y="111760"/>
                </a:lnTo>
                <a:lnTo>
                  <a:pt x="81824" y="148589"/>
                </a:lnTo>
                <a:lnTo>
                  <a:pt x="58451" y="191769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89"/>
                </a:lnTo>
                <a:lnTo>
                  <a:pt x="68465" y="410210"/>
                </a:lnTo>
                <a:lnTo>
                  <a:pt x="95528" y="450850"/>
                </a:lnTo>
                <a:lnTo>
                  <a:pt x="129647" y="485139"/>
                </a:lnTo>
                <a:lnTo>
                  <a:pt x="169793" y="511810"/>
                </a:lnTo>
                <a:lnTo>
                  <a:pt x="214947" y="530860"/>
                </a:lnTo>
                <a:lnTo>
                  <a:pt x="264126" y="541019"/>
                </a:lnTo>
                <a:lnTo>
                  <a:pt x="289943" y="542289"/>
                </a:lnTo>
                <a:lnTo>
                  <a:pt x="315766" y="541019"/>
                </a:lnTo>
                <a:lnTo>
                  <a:pt x="340833" y="537210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29"/>
                </a:lnTo>
                <a:lnTo>
                  <a:pt x="217337" y="521969"/>
                </a:lnTo>
                <a:lnTo>
                  <a:pt x="173960" y="502919"/>
                </a:lnTo>
                <a:lnTo>
                  <a:pt x="135397" y="477519"/>
                </a:lnTo>
                <a:lnTo>
                  <a:pt x="102631" y="443229"/>
                </a:lnTo>
                <a:lnTo>
                  <a:pt x="76671" y="405129"/>
                </a:lnTo>
                <a:lnTo>
                  <a:pt x="58497" y="361950"/>
                </a:lnTo>
                <a:lnTo>
                  <a:pt x="49071" y="313689"/>
                </a:lnTo>
                <a:lnTo>
                  <a:pt x="47939" y="289560"/>
                </a:lnTo>
                <a:lnTo>
                  <a:pt x="49316" y="264160"/>
                </a:lnTo>
                <a:lnTo>
                  <a:pt x="59203" y="217169"/>
                </a:lnTo>
                <a:lnTo>
                  <a:pt x="77781" y="173989"/>
                </a:lnTo>
                <a:lnTo>
                  <a:pt x="104091" y="134619"/>
                </a:lnTo>
                <a:lnTo>
                  <a:pt x="137166" y="102869"/>
                </a:lnTo>
                <a:lnTo>
                  <a:pt x="176005" y="76200"/>
                </a:lnTo>
                <a:lnTo>
                  <a:pt x="219610" y="58419"/>
                </a:lnTo>
                <a:lnTo>
                  <a:pt x="267022" y="48260"/>
                </a:lnTo>
                <a:lnTo>
                  <a:pt x="291880" y="46989"/>
                </a:lnTo>
                <a:lnTo>
                  <a:pt x="356734" y="46989"/>
                </a:lnTo>
                <a:lnTo>
                  <a:pt x="342247" y="43179"/>
                </a:lnTo>
                <a:lnTo>
                  <a:pt x="317211" y="39369"/>
                </a:lnTo>
                <a:lnTo>
                  <a:pt x="291396" y="38100"/>
                </a:lnTo>
                <a:close/>
              </a:path>
              <a:path w="581660" h="580389">
                <a:moveTo>
                  <a:pt x="356734" y="46989"/>
                </a:moveTo>
                <a:lnTo>
                  <a:pt x="291880" y="46989"/>
                </a:lnTo>
                <a:lnTo>
                  <a:pt x="316727" y="49529"/>
                </a:lnTo>
                <a:lnTo>
                  <a:pt x="340798" y="53339"/>
                </a:lnTo>
                <a:lnTo>
                  <a:pt x="386232" y="67310"/>
                </a:lnTo>
                <a:lnTo>
                  <a:pt x="427323" y="90169"/>
                </a:lnTo>
                <a:lnTo>
                  <a:pt x="463113" y="119379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69"/>
                </a:lnTo>
                <a:lnTo>
                  <a:pt x="533400" y="292100"/>
                </a:lnTo>
                <a:lnTo>
                  <a:pt x="532023" y="316229"/>
                </a:lnTo>
                <a:lnTo>
                  <a:pt x="522135" y="363219"/>
                </a:lnTo>
                <a:lnTo>
                  <a:pt x="503558" y="407669"/>
                </a:lnTo>
                <a:lnTo>
                  <a:pt x="477248" y="445769"/>
                </a:lnTo>
                <a:lnTo>
                  <a:pt x="444173" y="478789"/>
                </a:lnTo>
                <a:lnTo>
                  <a:pt x="405334" y="504189"/>
                </a:lnTo>
                <a:lnTo>
                  <a:pt x="361729" y="521969"/>
                </a:lnTo>
                <a:lnTo>
                  <a:pt x="314317" y="532129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79"/>
                </a:lnTo>
                <a:lnTo>
                  <a:pt x="450630" y="485139"/>
                </a:lnTo>
                <a:lnTo>
                  <a:pt x="484936" y="450850"/>
                </a:lnTo>
                <a:lnTo>
                  <a:pt x="512207" y="411479"/>
                </a:lnTo>
                <a:lnTo>
                  <a:pt x="531432" y="365760"/>
                </a:lnTo>
                <a:lnTo>
                  <a:pt x="541611" y="317500"/>
                </a:lnTo>
                <a:lnTo>
                  <a:pt x="542926" y="289560"/>
                </a:lnTo>
                <a:lnTo>
                  <a:pt x="541757" y="265429"/>
                </a:lnTo>
                <a:lnTo>
                  <a:pt x="531856" y="215900"/>
                </a:lnTo>
                <a:lnTo>
                  <a:pt x="512874" y="170179"/>
                </a:lnTo>
                <a:lnTo>
                  <a:pt x="485811" y="130810"/>
                </a:lnTo>
                <a:lnTo>
                  <a:pt x="451692" y="96519"/>
                </a:lnTo>
                <a:lnTo>
                  <a:pt x="411544" y="68579"/>
                </a:lnTo>
                <a:lnTo>
                  <a:pt x="366392" y="49529"/>
                </a:lnTo>
                <a:lnTo>
                  <a:pt x="356734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733800" y="3124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09830" y="3101179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60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29"/>
                </a:lnTo>
                <a:lnTo>
                  <a:pt x="84324" y="85089"/>
                </a:lnTo>
                <a:lnTo>
                  <a:pt x="49006" y="128269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29"/>
                </a:lnTo>
                <a:lnTo>
                  <a:pt x="67110" y="476250"/>
                </a:lnTo>
                <a:lnTo>
                  <a:pt x="106650" y="515619"/>
                </a:lnTo>
                <a:lnTo>
                  <a:pt x="153128" y="546100"/>
                </a:lnTo>
                <a:lnTo>
                  <a:pt x="205384" y="567689"/>
                </a:lnTo>
                <a:lnTo>
                  <a:pt x="262191" y="579119"/>
                </a:lnTo>
                <a:lnTo>
                  <a:pt x="291880" y="580389"/>
                </a:lnTo>
                <a:lnTo>
                  <a:pt x="321558" y="579119"/>
                </a:lnTo>
                <a:lnTo>
                  <a:pt x="350395" y="575309"/>
                </a:lnTo>
                <a:lnTo>
                  <a:pt x="378227" y="567689"/>
                </a:lnTo>
                <a:lnTo>
                  <a:pt x="404897" y="557529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79"/>
                </a:lnTo>
                <a:lnTo>
                  <a:pt x="212557" y="541019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89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89"/>
                </a:lnTo>
                <a:lnTo>
                  <a:pt x="40609" y="212089"/>
                </a:lnTo>
                <a:lnTo>
                  <a:pt x="60483" y="165100"/>
                </a:lnTo>
                <a:lnTo>
                  <a:pt x="88715" y="123189"/>
                </a:lnTo>
                <a:lnTo>
                  <a:pt x="124251" y="87629"/>
                </a:lnTo>
                <a:lnTo>
                  <a:pt x="166037" y="59689"/>
                </a:lnTo>
                <a:lnTo>
                  <a:pt x="213010" y="40639"/>
                </a:lnTo>
                <a:lnTo>
                  <a:pt x="264125" y="29210"/>
                </a:lnTo>
                <a:lnTo>
                  <a:pt x="290912" y="27939"/>
                </a:lnTo>
                <a:lnTo>
                  <a:pt x="415470" y="27939"/>
                </a:lnTo>
                <a:lnTo>
                  <a:pt x="402730" y="21589"/>
                </a:lnTo>
                <a:lnTo>
                  <a:pt x="375954" y="12700"/>
                </a:lnTo>
                <a:lnTo>
                  <a:pt x="348039" y="5079"/>
                </a:lnTo>
                <a:lnTo>
                  <a:pt x="319148" y="1269"/>
                </a:lnTo>
                <a:lnTo>
                  <a:pt x="289459" y="0"/>
                </a:lnTo>
                <a:close/>
              </a:path>
              <a:path w="581660" h="580389">
                <a:moveTo>
                  <a:pt x="415470" y="27939"/>
                </a:moveTo>
                <a:lnTo>
                  <a:pt x="290912" y="27939"/>
                </a:lnTo>
                <a:lnTo>
                  <a:pt x="317696" y="29210"/>
                </a:lnTo>
                <a:lnTo>
                  <a:pt x="343695" y="34289"/>
                </a:lnTo>
                <a:lnTo>
                  <a:pt x="392831" y="49529"/>
                </a:lnTo>
                <a:lnTo>
                  <a:pt x="437292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29"/>
                </a:lnTo>
                <a:lnTo>
                  <a:pt x="547302" y="237489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29"/>
                </a:lnTo>
                <a:lnTo>
                  <a:pt x="507719" y="436879"/>
                </a:lnTo>
                <a:lnTo>
                  <a:pt x="475702" y="476250"/>
                </a:lnTo>
                <a:lnTo>
                  <a:pt x="436909" y="508000"/>
                </a:lnTo>
                <a:lnTo>
                  <a:pt x="392398" y="532129"/>
                </a:lnTo>
                <a:lnTo>
                  <a:pt x="343223" y="547369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59"/>
                </a:lnTo>
                <a:lnTo>
                  <a:pt x="497015" y="495300"/>
                </a:lnTo>
                <a:lnTo>
                  <a:pt x="532333" y="452119"/>
                </a:lnTo>
                <a:lnTo>
                  <a:pt x="558948" y="402589"/>
                </a:lnTo>
                <a:lnTo>
                  <a:pt x="575677" y="347979"/>
                </a:lnTo>
                <a:lnTo>
                  <a:pt x="581338" y="289560"/>
                </a:lnTo>
                <a:lnTo>
                  <a:pt x="579718" y="259079"/>
                </a:lnTo>
                <a:lnTo>
                  <a:pt x="567917" y="203200"/>
                </a:lnTo>
                <a:lnTo>
                  <a:pt x="545692" y="151129"/>
                </a:lnTo>
                <a:lnTo>
                  <a:pt x="514229" y="104139"/>
                </a:lnTo>
                <a:lnTo>
                  <a:pt x="474689" y="64769"/>
                </a:lnTo>
                <a:lnTo>
                  <a:pt x="428210" y="34289"/>
                </a:lnTo>
                <a:lnTo>
                  <a:pt x="415470" y="27939"/>
                </a:lnTo>
                <a:close/>
              </a:path>
              <a:path w="581660" h="580389">
                <a:moveTo>
                  <a:pt x="291396" y="38100"/>
                </a:moveTo>
                <a:lnTo>
                  <a:pt x="240506" y="43179"/>
                </a:lnTo>
                <a:lnTo>
                  <a:pt x="193107" y="57150"/>
                </a:lnTo>
                <a:lnTo>
                  <a:pt x="150178" y="81279"/>
                </a:lnTo>
                <a:lnTo>
                  <a:pt x="112740" y="111760"/>
                </a:lnTo>
                <a:lnTo>
                  <a:pt x="81824" y="148589"/>
                </a:lnTo>
                <a:lnTo>
                  <a:pt x="58451" y="191769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89"/>
                </a:lnTo>
                <a:lnTo>
                  <a:pt x="68465" y="410210"/>
                </a:lnTo>
                <a:lnTo>
                  <a:pt x="95528" y="450850"/>
                </a:lnTo>
                <a:lnTo>
                  <a:pt x="129647" y="485139"/>
                </a:lnTo>
                <a:lnTo>
                  <a:pt x="169793" y="511809"/>
                </a:lnTo>
                <a:lnTo>
                  <a:pt x="214947" y="530859"/>
                </a:lnTo>
                <a:lnTo>
                  <a:pt x="264126" y="541019"/>
                </a:lnTo>
                <a:lnTo>
                  <a:pt x="289943" y="542289"/>
                </a:lnTo>
                <a:lnTo>
                  <a:pt x="315766" y="541019"/>
                </a:lnTo>
                <a:lnTo>
                  <a:pt x="340833" y="537209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29"/>
                </a:lnTo>
                <a:lnTo>
                  <a:pt x="217337" y="521969"/>
                </a:lnTo>
                <a:lnTo>
                  <a:pt x="173960" y="502919"/>
                </a:lnTo>
                <a:lnTo>
                  <a:pt x="135397" y="477519"/>
                </a:lnTo>
                <a:lnTo>
                  <a:pt x="102631" y="443229"/>
                </a:lnTo>
                <a:lnTo>
                  <a:pt x="76671" y="405129"/>
                </a:lnTo>
                <a:lnTo>
                  <a:pt x="58497" y="361950"/>
                </a:lnTo>
                <a:lnTo>
                  <a:pt x="49071" y="313689"/>
                </a:lnTo>
                <a:lnTo>
                  <a:pt x="47939" y="289560"/>
                </a:lnTo>
                <a:lnTo>
                  <a:pt x="49316" y="264160"/>
                </a:lnTo>
                <a:lnTo>
                  <a:pt x="59203" y="217169"/>
                </a:lnTo>
                <a:lnTo>
                  <a:pt x="77781" y="173989"/>
                </a:lnTo>
                <a:lnTo>
                  <a:pt x="104091" y="134619"/>
                </a:lnTo>
                <a:lnTo>
                  <a:pt x="137166" y="102869"/>
                </a:lnTo>
                <a:lnTo>
                  <a:pt x="176005" y="76200"/>
                </a:lnTo>
                <a:lnTo>
                  <a:pt x="219610" y="58419"/>
                </a:lnTo>
                <a:lnTo>
                  <a:pt x="267022" y="48260"/>
                </a:lnTo>
                <a:lnTo>
                  <a:pt x="291880" y="46989"/>
                </a:lnTo>
                <a:lnTo>
                  <a:pt x="356734" y="46989"/>
                </a:lnTo>
                <a:lnTo>
                  <a:pt x="342247" y="43179"/>
                </a:lnTo>
                <a:lnTo>
                  <a:pt x="317211" y="39369"/>
                </a:lnTo>
                <a:lnTo>
                  <a:pt x="291396" y="38100"/>
                </a:lnTo>
                <a:close/>
              </a:path>
              <a:path w="581660" h="580389">
                <a:moveTo>
                  <a:pt x="356734" y="46989"/>
                </a:moveTo>
                <a:lnTo>
                  <a:pt x="291880" y="46989"/>
                </a:lnTo>
                <a:lnTo>
                  <a:pt x="316727" y="49529"/>
                </a:lnTo>
                <a:lnTo>
                  <a:pt x="340798" y="53339"/>
                </a:lnTo>
                <a:lnTo>
                  <a:pt x="386232" y="67310"/>
                </a:lnTo>
                <a:lnTo>
                  <a:pt x="427323" y="90169"/>
                </a:lnTo>
                <a:lnTo>
                  <a:pt x="463113" y="119379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69"/>
                </a:lnTo>
                <a:lnTo>
                  <a:pt x="533400" y="292100"/>
                </a:lnTo>
                <a:lnTo>
                  <a:pt x="532023" y="316229"/>
                </a:lnTo>
                <a:lnTo>
                  <a:pt x="522135" y="363219"/>
                </a:lnTo>
                <a:lnTo>
                  <a:pt x="503558" y="407669"/>
                </a:lnTo>
                <a:lnTo>
                  <a:pt x="477248" y="445769"/>
                </a:lnTo>
                <a:lnTo>
                  <a:pt x="444173" y="478789"/>
                </a:lnTo>
                <a:lnTo>
                  <a:pt x="405334" y="504189"/>
                </a:lnTo>
                <a:lnTo>
                  <a:pt x="361729" y="521969"/>
                </a:lnTo>
                <a:lnTo>
                  <a:pt x="314317" y="532129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79"/>
                </a:lnTo>
                <a:lnTo>
                  <a:pt x="450630" y="485139"/>
                </a:lnTo>
                <a:lnTo>
                  <a:pt x="484936" y="450850"/>
                </a:lnTo>
                <a:lnTo>
                  <a:pt x="512207" y="411479"/>
                </a:lnTo>
                <a:lnTo>
                  <a:pt x="531432" y="365760"/>
                </a:lnTo>
                <a:lnTo>
                  <a:pt x="541611" y="317500"/>
                </a:lnTo>
                <a:lnTo>
                  <a:pt x="542926" y="289560"/>
                </a:lnTo>
                <a:lnTo>
                  <a:pt x="541757" y="265429"/>
                </a:lnTo>
                <a:lnTo>
                  <a:pt x="531856" y="215900"/>
                </a:lnTo>
                <a:lnTo>
                  <a:pt x="512874" y="170179"/>
                </a:lnTo>
                <a:lnTo>
                  <a:pt x="485811" y="130810"/>
                </a:lnTo>
                <a:lnTo>
                  <a:pt x="451692" y="96519"/>
                </a:lnTo>
                <a:lnTo>
                  <a:pt x="411546" y="68579"/>
                </a:lnTo>
                <a:lnTo>
                  <a:pt x="366392" y="49529"/>
                </a:lnTo>
                <a:lnTo>
                  <a:pt x="356734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105400" y="2743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81430" y="2720179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60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29"/>
                </a:lnTo>
                <a:lnTo>
                  <a:pt x="84324" y="85089"/>
                </a:lnTo>
                <a:lnTo>
                  <a:pt x="49006" y="128269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29"/>
                </a:lnTo>
                <a:lnTo>
                  <a:pt x="67110" y="476250"/>
                </a:lnTo>
                <a:lnTo>
                  <a:pt x="106650" y="515619"/>
                </a:lnTo>
                <a:lnTo>
                  <a:pt x="153128" y="546100"/>
                </a:lnTo>
                <a:lnTo>
                  <a:pt x="205384" y="567689"/>
                </a:lnTo>
                <a:lnTo>
                  <a:pt x="262191" y="579119"/>
                </a:lnTo>
                <a:lnTo>
                  <a:pt x="291880" y="580389"/>
                </a:lnTo>
                <a:lnTo>
                  <a:pt x="321558" y="579119"/>
                </a:lnTo>
                <a:lnTo>
                  <a:pt x="350395" y="575310"/>
                </a:lnTo>
                <a:lnTo>
                  <a:pt x="378227" y="567689"/>
                </a:lnTo>
                <a:lnTo>
                  <a:pt x="404897" y="557529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79"/>
                </a:lnTo>
                <a:lnTo>
                  <a:pt x="212557" y="541019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89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89"/>
                </a:lnTo>
                <a:lnTo>
                  <a:pt x="40609" y="212089"/>
                </a:lnTo>
                <a:lnTo>
                  <a:pt x="60483" y="165100"/>
                </a:lnTo>
                <a:lnTo>
                  <a:pt x="88715" y="123189"/>
                </a:lnTo>
                <a:lnTo>
                  <a:pt x="124251" y="87629"/>
                </a:lnTo>
                <a:lnTo>
                  <a:pt x="166037" y="59689"/>
                </a:lnTo>
                <a:lnTo>
                  <a:pt x="213010" y="40639"/>
                </a:lnTo>
                <a:lnTo>
                  <a:pt x="264125" y="29210"/>
                </a:lnTo>
                <a:lnTo>
                  <a:pt x="290912" y="27939"/>
                </a:lnTo>
                <a:lnTo>
                  <a:pt x="415470" y="27939"/>
                </a:lnTo>
                <a:lnTo>
                  <a:pt x="402730" y="21589"/>
                </a:lnTo>
                <a:lnTo>
                  <a:pt x="375954" y="12700"/>
                </a:lnTo>
                <a:lnTo>
                  <a:pt x="348039" y="5079"/>
                </a:lnTo>
                <a:lnTo>
                  <a:pt x="319148" y="1269"/>
                </a:lnTo>
                <a:lnTo>
                  <a:pt x="289459" y="0"/>
                </a:lnTo>
                <a:close/>
              </a:path>
              <a:path w="581660" h="580389">
                <a:moveTo>
                  <a:pt x="415470" y="27939"/>
                </a:moveTo>
                <a:lnTo>
                  <a:pt x="290912" y="27939"/>
                </a:lnTo>
                <a:lnTo>
                  <a:pt x="317696" y="29210"/>
                </a:lnTo>
                <a:lnTo>
                  <a:pt x="343695" y="34289"/>
                </a:lnTo>
                <a:lnTo>
                  <a:pt x="392831" y="49529"/>
                </a:lnTo>
                <a:lnTo>
                  <a:pt x="437292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29"/>
                </a:lnTo>
                <a:lnTo>
                  <a:pt x="547302" y="237489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29"/>
                </a:lnTo>
                <a:lnTo>
                  <a:pt x="507719" y="436879"/>
                </a:lnTo>
                <a:lnTo>
                  <a:pt x="475702" y="476250"/>
                </a:lnTo>
                <a:lnTo>
                  <a:pt x="436909" y="508000"/>
                </a:lnTo>
                <a:lnTo>
                  <a:pt x="392398" y="532129"/>
                </a:lnTo>
                <a:lnTo>
                  <a:pt x="343223" y="547369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60"/>
                </a:lnTo>
                <a:lnTo>
                  <a:pt x="497015" y="495300"/>
                </a:lnTo>
                <a:lnTo>
                  <a:pt x="532333" y="452119"/>
                </a:lnTo>
                <a:lnTo>
                  <a:pt x="558948" y="402589"/>
                </a:lnTo>
                <a:lnTo>
                  <a:pt x="575677" y="347979"/>
                </a:lnTo>
                <a:lnTo>
                  <a:pt x="581338" y="289560"/>
                </a:lnTo>
                <a:lnTo>
                  <a:pt x="579718" y="259079"/>
                </a:lnTo>
                <a:lnTo>
                  <a:pt x="567917" y="203200"/>
                </a:lnTo>
                <a:lnTo>
                  <a:pt x="545692" y="151129"/>
                </a:lnTo>
                <a:lnTo>
                  <a:pt x="514229" y="104139"/>
                </a:lnTo>
                <a:lnTo>
                  <a:pt x="474689" y="64769"/>
                </a:lnTo>
                <a:lnTo>
                  <a:pt x="428210" y="34289"/>
                </a:lnTo>
                <a:lnTo>
                  <a:pt x="415470" y="27939"/>
                </a:lnTo>
                <a:close/>
              </a:path>
              <a:path w="581660" h="580389">
                <a:moveTo>
                  <a:pt x="291396" y="38100"/>
                </a:moveTo>
                <a:lnTo>
                  <a:pt x="240506" y="43179"/>
                </a:lnTo>
                <a:lnTo>
                  <a:pt x="193107" y="57150"/>
                </a:lnTo>
                <a:lnTo>
                  <a:pt x="150178" y="81279"/>
                </a:lnTo>
                <a:lnTo>
                  <a:pt x="112740" y="111760"/>
                </a:lnTo>
                <a:lnTo>
                  <a:pt x="81824" y="148589"/>
                </a:lnTo>
                <a:lnTo>
                  <a:pt x="58451" y="191769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89"/>
                </a:lnTo>
                <a:lnTo>
                  <a:pt x="68465" y="410210"/>
                </a:lnTo>
                <a:lnTo>
                  <a:pt x="95528" y="450850"/>
                </a:lnTo>
                <a:lnTo>
                  <a:pt x="129647" y="485139"/>
                </a:lnTo>
                <a:lnTo>
                  <a:pt x="169793" y="511810"/>
                </a:lnTo>
                <a:lnTo>
                  <a:pt x="214947" y="530860"/>
                </a:lnTo>
                <a:lnTo>
                  <a:pt x="264126" y="541019"/>
                </a:lnTo>
                <a:lnTo>
                  <a:pt x="289943" y="542289"/>
                </a:lnTo>
                <a:lnTo>
                  <a:pt x="315766" y="541019"/>
                </a:lnTo>
                <a:lnTo>
                  <a:pt x="340833" y="537210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29"/>
                </a:lnTo>
                <a:lnTo>
                  <a:pt x="217337" y="521969"/>
                </a:lnTo>
                <a:lnTo>
                  <a:pt x="173960" y="502919"/>
                </a:lnTo>
                <a:lnTo>
                  <a:pt x="135397" y="477519"/>
                </a:lnTo>
                <a:lnTo>
                  <a:pt x="102631" y="443229"/>
                </a:lnTo>
                <a:lnTo>
                  <a:pt x="76671" y="405129"/>
                </a:lnTo>
                <a:lnTo>
                  <a:pt x="58497" y="361950"/>
                </a:lnTo>
                <a:lnTo>
                  <a:pt x="49071" y="313689"/>
                </a:lnTo>
                <a:lnTo>
                  <a:pt x="47939" y="289560"/>
                </a:lnTo>
                <a:lnTo>
                  <a:pt x="49316" y="264160"/>
                </a:lnTo>
                <a:lnTo>
                  <a:pt x="59203" y="217169"/>
                </a:lnTo>
                <a:lnTo>
                  <a:pt x="77781" y="173989"/>
                </a:lnTo>
                <a:lnTo>
                  <a:pt x="104091" y="134619"/>
                </a:lnTo>
                <a:lnTo>
                  <a:pt x="137166" y="102869"/>
                </a:lnTo>
                <a:lnTo>
                  <a:pt x="176005" y="76200"/>
                </a:lnTo>
                <a:lnTo>
                  <a:pt x="219610" y="58419"/>
                </a:lnTo>
                <a:lnTo>
                  <a:pt x="267022" y="48260"/>
                </a:lnTo>
                <a:lnTo>
                  <a:pt x="291880" y="46989"/>
                </a:lnTo>
                <a:lnTo>
                  <a:pt x="356734" y="46989"/>
                </a:lnTo>
                <a:lnTo>
                  <a:pt x="342247" y="43179"/>
                </a:lnTo>
                <a:lnTo>
                  <a:pt x="317211" y="39369"/>
                </a:lnTo>
                <a:lnTo>
                  <a:pt x="291396" y="38100"/>
                </a:lnTo>
                <a:close/>
              </a:path>
              <a:path w="581660" h="580389">
                <a:moveTo>
                  <a:pt x="356734" y="46989"/>
                </a:moveTo>
                <a:lnTo>
                  <a:pt x="291880" y="46989"/>
                </a:lnTo>
                <a:lnTo>
                  <a:pt x="316727" y="49529"/>
                </a:lnTo>
                <a:lnTo>
                  <a:pt x="340798" y="53339"/>
                </a:lnTo>
                <a:lnTo>
                  <a:pt x="386232" y="67310"/>
                </a:lnTo>
                <a:lnTo>
                  <a:pt x="427323" y="90169"/>
                </a:lnTo>
                <a:lnTo>
                  <a:pt x="463113" y="119379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69"/>
                </a:lnTo>
                <a:lnTo>
                  <a:pt x="533400" y="292100"/>
                </a:lnTo>
                <a:lnTo>
                  <a:pt x="532023" y="316229"/>
                </a:lnTo>
                <a:lnTo>
                  <a:pt x="522135" y="363219"/>
                </a:lnTo>
                <a:lnTo>
                  <a:pt x="503558" y="407669"/>
                </a:lnTo>
                <a:lnTo>
                  <a:pt x="477248" y="445769"/>
                </a:lnTo>
                <a:lnTo>
                  <a:pt x="444173" y="478789"/>
                </a:lnTo>
                <a:lnTo>
                  <a:pt x="405333" y="504189"/>
                </a:lnTo>
                <a:lnTo>
                  <a:pt x="361729" y="521969"/>
                </a:lnTo>
                <a:lnTo>
                  <a:pt x="314317" y="532129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79"/>
                </a:lnTo>
                <a:lnTo>
                  <a:pt x="450630" y="485139"/>
                </a:lnTo>
                <a:lnTo>
                  <a:pt x="484936" y="450850"/>
                </a:lnTo>
                <a:lnTo>
                  <a:pt x="512207" y="411479"/>
                </a:lnTo>
                <a:lnTo>
                  <a:pt x="531432" y="365760"/>
                </a:lnTo>
                <a:lnTo>
                  <a:pt x="541611" y="317500"/>
                </a:lnTo>
                <a:lnTo>
                  <a:pt x="542926" y="289560"/>
                </a:lnTo>
                <a:lnTo>
                  <a:pt x="541757" y="265429"/>
                </a:lnTo>
                <a:lnTo>
                  <a:pt x="531856" y="215900"/>
                </a:lnTo>
                <a:lnTo>
                  <a:pt x="512874" y="170179"/>
                </a:lnTo>
                <a:lnTo>
                  <a:pt x="485811" y="130810"/>
                </a:lnTo>
                <a:lnTo>
                  <a:pt x="451692" y="96519"/>
                </a:lnTo>
                <a:lnTo>
                  <a:pt x="411544" y="68579"/>
                </a:lnTo>
                <a:lnTo>
                  <a:pt x="366392" y="49529"/>
                </a:lnTo>
                <a:lnTo>
                  <a:pt x="356734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895600" y="419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71629" y="4167978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60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30"/>
                </a:lnTo>
                <a:lnTo>
                  <a:pt x="84324" y="85090"/>
                </a:lnTo>
                <a:lnTo>
                  <a:pt x="49006" y="128270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30"/>
                </a:lnTo>
                <a:lnTo>
                  <a:pt x="67110" y="476250"/>
                </a:lnTo>
                <a:lnTo>
                  <a:pt x="106650" y="515620"/>
                </a:lnTo>
                <a:lnTo>
                  <a:pt x="153128" y="546100"/>
                </a:lnTo>
                <a:lnTo>
                  <a:pt x="205384" y="567690"/>
                </a:lnTo>
                <a:lnTo>
                  <a:pt x="262191" y="579120"/>
                </a:lnTo>
                <a:lnTo>
                  <a:pt x="291880" y="580390"/>
                </a:lnTo>
                <a:lnTo>
                  <a:pt x="321558" y="579120"/>
                </a:lnTo>
                <a:lnTo>
                  <a:pt x="350395" y="575310"/>
                </a:lnTo>
                <a:lnTo>
                  <a:pt x="378227" y="567690"/>
                </a:lnTo>
                <a:lnTo>
                  <a:pt x="404897" y="557530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80"/>
                </a:lnTo>
                <a:lnTo>
                  <a:pt x="212557" y="541020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90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90"/>
                </a:lnTo>
                <a:lnTo>
                  <a:pt x="40609" y="212090"/>
                </a:lnTo>
                <a:lnTo>
                  <a:pt x="60483" y="165100"/>
                </a:lnTo>
                <a:lnTo>
                  <a:pt x="88715" y="123190"/>
                </a:lnTo>
                <a:lnTo>
                  <a:pt x="124251" y="87630"/>
                </a:lnTo>
                <a:lnTo>
                  <a:pt x="166037" y="59690"/>
                </a:lnTo>
                <a:lnTo>
                  <a:pt x="213010" y="40640"/>
                </a:lnTo>
                <a:lnTo>
                  <a:pt x="264125" y="29210"/>
                </a:lnTo>
                <a:lnTo>
                  <a:pt x="290912" y="27940"/>
                </a:lnTo>
                <a:lnTo>
                  <a:pt x="415470" y="27940"/>
                </a:lnTo>
                <a:lnTo>
                  <a:pt x="402730" y="21590"/>
                </a:lnTo>
                <a:lnTo>
                  <a:pt x="375955" y="12700"/>
                </a:lnTo>
                <a:lnTo>
                  <a:pt x="348039" y="5080"/>
                </a:lnTo>
                <a:lnTo>
                  <a:pt x="319148" y="1270"/>
                </a:lnTo>
                <a:lnTo>
                  <a:pt x="289459" y="0"/>
                </a:lnTo>
                <a:close/>
              </a:path>
              <a:path w="581660" h="580389">
                <a:moveTo>
                  <a:pt x="415470" y="27940"/>
                </a:moveTo>
                <a:lnTo>
                  <a:pt x="290912" y="27940"/>
                </a:lnTo>
                <a:lnTo>
                  <a:pt x="317696" y="29210"/>
                </a:lnTo>
                <a:lnTo>
                  <a:pt x="343695" y="34290"/>
                </a:lnTo>
                <a:lnTo>
                  <a:pt x="392831" y="49530"/>
                </a:lnTo>
                <a:lnTo>
                  <a:pt x="437292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30"/>
                </a:lnTo>
                <a:lnTo>
                  <a:pt x="547302" y="237490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30"/>
                </a:lnTo>
                <a:lnTo>
                  <a:pt x="507719" y="436880"/>
                </a:lnTo>
                <a:lnTo>
                  <a:pt x="475702" y="476250"/>
                </a:lnTo>
                <a:lnTo>
                  <a:pt x="436909" y="508000"/>
                </a:lnTo>
                <a:lnTo>
                  <a:pt x="392398" y="532130"/>
                </a:lnTo>
                <a:lnTo>
                  <a:pt x="343223" y="547370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60"/>
                </a:lnTo>
                <a:lnTo>
                  <a:pt x="497015" y="495300"/>
                </a:lnTo>
                <a:lnTo>
                  <a:pt x="532333" y="452120"/>
                </a:lnTo>
                <a:lnTo>
                  <a:pt x="558948" y="402590"/>
                </a:lnTo>
                <a:lnTo>
                  <a:pt x="575677" y="347980"/>
                </a:lnTo>
                <a:lnTo>
                  <a:pt x="581339" y="289560"/>
                </a:lnTo>
                <a:lnTo>
                  <a:pt x="579718" y="259080"/>
                </a:lnTo>
                <a:lnTo>
                  <a:pt x="567917" y="203200"/>
                </a:lnTo>
                <a:lnTo>
                  <a:pt x="545692" y="151130"/>
                </a:lnTo>
                <a:lnTo>
                  <a:pt x="514229" y="104140"/>
                </a:lnTo>
                <a:lnTo>
                  <a:pt x="474689" y="64770"/>
                </a:lnTo>
                <a:lnTo>
                  <a:pt x="428210" y="34290"/>
                </a:lnTo>
                <a:lnTo>
                  <a:pt x="415470" y="27940"/>
                </a:lnTo>
                <a:close/>
              </a:path>
              <a:path w="581660" h="580389">
                <a:moveTo>
                  <a:pt x="291396" y="38100"/>
                </a:moveTo>
                <a:lnTo>
                  <a:pt x="240506" y="43180"/>
                </a:lnTo>
                <a:lnTo>
                  <a:pt x="193107" y="57150"/>
                </a:lnTo>
                <a:lnTo>
                  <a:pt x="150178" y="81280"/>
                </a:lnTo>
                <a:lnTo>
                  <a:pt x="112740" y="111760"/>
                </a:lnTo>
                <a:lnTo>
                  <a:pt x="81824" y="148590"/>
                </a:lnTo>
                <a:lnTo>
                  <a:pt x="58451" y="191770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90"/>
                </a:lnTo>
                <a:lnTo>
                  <a:pt x="68465" y="410210"/>
                </a:lnTo>
                <a:lnTo>
                  <a:pt x="95528" y="450850"/>
                </a:lnTo>
                <a:lnTo>
                  <a:pt x="129647" y="485140"/>
                </a:lnTo>
                <a:lnTo>
                  <a:pt x="169793" y="511810"/>
                </a:lnTo>
                <a:lnTo>
                  <a:pt x="214947" y="530860"/>
                </a:lnTo>
                <a:lnTo>
                  <a:pt x="264126" y="541020"/>
                </a:lnTo>
                <a:lnTo>
                  <a:pt x="289943" y="542290"/>
                </a:lnTo>
                <a:lnTo>
                  <a:pt x="315766" y="541020"/>
                </a:lnTo>
                <a:lnTo>
                  <a:pt x="340833" y="537210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30"/>
                </a:lnTo>
                <a:lnTo>
                  <a:pt x="217337" y="521970"/>
                </a:lnTo>
                <a:lnTo>
                  <a:pt x="173960" y="502920"/>
                </a:lnTo>
                <a:lnTo>
                  <a:pt x="135397" y="477520"/>
                </a:lnTo>
                <a:lnTo>
                  <a:pt x="102631" y="443230"/>
                </a:lnTo>
                <a:lnTo>
                  <a:pt x="76671" y="405130"/>
                </a:lnTo>
                <a:lnTo>
                  <a:pt x="58497" y="361950"/>
                </a:lnTo>
                <a:lnTo>
                  <a:pt x="49071" y="313690"/>
                </a:lnTo>
                <a:lnTo>
                  <a:pt x="47939" y="289560"/>
                </a:lnTo>
                <a:lnTo>
                  <a:pt x="49316" y="264160"/>
                </a:lnTo>
                <a:lnTo>
                  <a:pt x="59203" y="217170"/>
                </a:lnTo>
                <a:lnTo>
                  <a:pt x="77781" y="173990"/>
                </a:lnTo>
                <a:lnTo>
                  <a:pt x="104091" y="134620"/>
                </a:lnTo>
                <a:lnTo>
                  <a:pt x="137166" y="102870"/>
                </a:lnTo>
                <a:lnTo>
                  <a:pt x="176005" y="76200"/>
                </a:lnTo>
                <a:lnTo>
                  <a:pt x="219610" y="58420"/>
                </a:lnTo>
                <a:lnTo>
                  <a:pt x="267022" y="48260"/>
                </a:lnTo>
                <a:lnTo>
                  <a:pt x="361563" y="48260"/>
                </a:lnTo>
                <a:lnTo>
                  <a:pt x="342247" y="43180"/>
                </a:lnTo>
                <a:lnTo>
                  <a:pt x="317211" y="39370"/>
                </a:lnTo>
                <a:lnTo>
                  <a:pt x="291396" y="38100"/>
                </a:lnTo>
                <a:close/>
              </a:path>
              <a:path w="581660" h="580389">
                <a:moveTo>
                  <a:pt x="361563" y="48260"/>
                </a:moveTo>
                <a:lnTo>
                  <a:pt x="291880" y="48260"/>
                </a:lnTo>
                <a:lnTo>
                  <a:pt x="316727" y="49530"/>
                </a:lnTo>
                <a:lnTo>
                  <a:pt x="340798" y="53340"/>
                </a:lnTo>
                <a:lnTo>
                  <a:pt x="386232" y="67310"/>
                </a:lnTo>
                <a:lnTo>
                  <a:pt x="427323" y="90170"/>
                </a:lnTo>
                <a:lnTo>
                  <a:pt x="463113" y="119380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70"/>
                </a:lnTo>
                <a:lnTo>
                  <a:pt x="533400" y="292100"/>
                </a:lnTo>
                <a:lnTo>
                  <a:pt x="532023" y="316230"/>
                </a:lnTo>
                <a:lnTo>
                  <a:pt x="522135" y="363220"/>
                </a:lnTo>
                <a:lnTo>
                  <a:pt x="503558" y="407670"/>
                </a:lnTo>
                <a:lnTo>
                  <a:pt x="477248" y="445770"/>
                </a:lnTo>
                <a:lnTo>
                  <a:pt x="444173" y="478790"/>
                </a:lnTo>
                <a:lnTo>
                  <a:pt x="405334" y="504190"/>
                </a:lnTo>
                <a:lnTo>
                  <a:pt x="361729" y="521970"/>
                </a:lnTo>
                <a:lnTo>
                  <a:pt x="314317" y="532130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80"/>
                </a:lnTo>
                <a:lnTo>
                  <a:pt x="450630" y="485140"/>
                </a:lnTo>
                <a:lnTo>
                  <a:pt x="484936" y="450850"/>
                </a:lnTo>
                <a:lnTo>
                  <a:pt x="512207" y="411480"/>
                </a:lnTo>
                <a:lnTo>
                  <a:pt x="531432" y="365760"/>
                </a:lnTo>
                <a:lnTo>
                  <a:pt x="541611" y="317500"/>
                </a:lnTo>
                <a:lnTo>
                  <a:pt x="542926" y="289560"/>
                </a:lnTo>
                <a:lnTo>
                  <a:pt x="541757" y="265430"/>
                </a:lnTo>
                <a:lnTo>
                  <a:pt x="531856" y="215900"/>
                </a:lnTo>
                <a:lnTo>
                  <a:pt x="512874" y="170180"/>
                </a:lnTo>
                <a:lnTo>
                  <a:pt x="485811" y="130810"/>
                </a:lnTo>
                <a:lnTo>
                  <a:pt x="451692" y="96520"/>
                </a:lnTo>
                <a:lnTo>
                  <a:pt x="411546" y="68580"/>
                </a:lnTo>
                <a:lnTo>
                  <a:pt x="366392" y="49530"/>
                </a:lnTo>
                <a:lnTo>
                  <a:pt x="361563" y="48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0960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072030" y="1577179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59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29"/>
                </a:lnTo>
                <a:lnTo>
                  <a:pt x="84324" y="85089"/>
                </a:lnTo>
                <a:lnTo>
                  <a:pt x="49006" y="128269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29"/>
                </a:lnTo>
                <a:lnTo>
                  <a:pt x="67110" y="476250"/>
                </a:lnTo>
                <a:lnTo>
                  <a:pt x="106650" y="515619"/>
                </a:lnTo>
                <a:lnTo>
                  <a:pt x="153128" y="546100"/>
                </a:lnTo>
                <a:lnTo>
                  <a:pt x="205384" y="567689"/>
                </a:lnTo>
                <a:lnTo>
                  <a:pt x="262191" y="579119"/>
                </a:lnTo>
                <a:lnTo>
                  <a:pt x="291880" y="580389"/>
                </a:lnTo>
                <a:lnTo>
                  <a:pt x="321558" y="579119"/>
                </a:lnTo>
                <a:lnTo>
                  <a:pt x="350395" y="575310"/>
                </a:lnTo>
                <a:lnTo>
                  <a:pt x="378227" y="567689"/>
                </a:lnTo>
                <a:lnTo>
                  <a:pt x="404897" y="557529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79"/>
                </a:lnTo>
                <a:lnTo>
                  <a:pt x="212557" y="541019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89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89"/>
                </a:lnTo>
                <a:lnTo>
                  <a:pt x="40609" y="212089"/>
                </a:lnTo>
                <a:lnTo>
                  <a:pt x="60483" y="165100"/>
                </a:lnTo>
                <a:lnTo>
                  <a:pt x="88715" y="123189"/>
                </a:lnTo>
                <a:lnTo>
                  <a:pt x="124251" y="87629"/>
                </a:lnTo>
                <a:lnTo>
                  <a:pt x="166037" y="59689"/>
                </a:lnTo>
                <a:lnTo>
                  <a:pt x="213010" y="40639"/>
                </a:lnTo>
                <a:lnTo>
                  <a:pt x="264125" y="29210"/>
                </a:lnTo>
                <a:lnTo>
                  <a:pt x="290911" y="27939"/>
                </a:lnTo>
                <a:lnTo>
                  <a:pt x="415470" y="27939"/>
                </a:lnTo>
                <a:lnTo>
                  <a:pt x="402730" y="21589"/>
                </a:lnTo>
                <a:lnTo>
                  <a:pt x="375954" y="12700"/>
                </a:lnTo>
                <a:lnTo>
                  <a:pt x="348039" y="5079"/>
                </a:lnTo>
                <a:lnTo>
                  <a:pt x="319148" y="1269"/>
                </a:lnTo>
                <a:lnTo>
                  <a:pt x="289459" y="0"/>
                </a:lnTo>
                <a:close/>
              </a:path>
              <a:path w="581659" h="580389">
                <a:moveTo>
                  <a:pt x="415470" y="27939"/>
                </a:moveTo>
                <a:lnTo>
                  <a:pt x="290911" y="27939"/>
                </a:lnTo>
                <a:lnTo>
                  <a:pt x="317696" y="29210"/>
                </a:lnTo>
                <a:lnTo>
                  <a:pt x="343695" y="34289"/>
                </a:lnTo>
                <a:lnTo>
                  <a:pt x="392831" y="49529"/>
                </a:lnTo>
                <a:lnTo>
                  <a:pt x="437291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29"/>
                </a:lnTo>
                <a:lnTo>
                  <a:pt x="547302" y="237489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29"/>
                </a:lnTo>
                <a:lnTo>
                  <a:pt x="507719" y="436879"/>
                </a:lnTo>
                <a:lnTo>
                  <a:pt x="475702" y="476250"/>
                </a:lnTo>
                <a:lnTo>
                  <a:pt x="436909" y="508000"/>
                </a:lnTo>
                <a:lnTo>
                  <a:pt x="392398" y="532129"/>
                </a:lnTo>
                <a:lnTo>
                  <a:pt x="343223" y="547369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60"/>
                </a:lnTo>
                <a:lnTo>
                  <a:pt x="497015" y="495300"/>
                </a:lnTo>
                <a:lnTo>
                  <a:pt x="532333" y="452119"/>
                </a:lnTo>
                <a:lnTo>
                  <a:pt x="558948" y="402589"/>
                </a:lnTo>
                <a:lnTo>
                  <a:pt x="575677" y="347979"/>
                </a:lnTo>
                <a:lnTo>
                  <a:pt x="581338" y="289560"/>
                </a:lnTo>
                <a:lnTo>
                  <a:pt x="579718" y="259079"/>
                </a:lnTo>
                <a:lnTo>
                  <a:pt x="567917" y="203200"/>
                </a:lnTo>
                <a:lnTo>
                  <a:pt x="545692" y="151129"/>
                </a:lnTo>
                <a:lnTo>
                  <a:pt x="514229" y="104139"/>
                </a:lnTo>
                <a:lnTo>
                  <a:pt x="474689" y="64769"/>
                </a:lnTo>
                <a:lnTo>
                  <a:pt x="428210" y="34289"/>
                </a:lnTo>
                <a:lnTo>
                  <a:pt x="415470" y="27939"/>
                </a:lnTo>
                <a:close/>
              </a:path>
              <a:path w="581659" h="580389">
                <a:moveTo>
                  <a:pt x="291396" y="38100"/>
                </a:moveTo>
                <a:lnTo>
                  <a:pt x="240506" y="43179"/>
                </a:lnTo>
                <a:lnTo>
                  <a:pt x="193107" y="57150"/>
                </a:lnTo>
                <a:lnTo>
                  <a:pt x="150178" y="81279"/>
                </a:lnTo>
                <a:lnTo>
                  <a:pt x="112740" y="111760"/>
                </a:lnTo>
                <a:lnTo>
                  <a:pt x="81824" y="148589"/>
                </a:lnTo>
                <a:lnTo>
                  <a:pt x="58451" y="191769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89"/>
                </a:lnTo>
                <a:lnTo>
                  <a:pt x="68465" y="410210"/>
                </a:lnTo>
                <a:lnTo>
                  <a:pt x="95528" y="450850"/>
                </a:lnTo>
                <a:lnTo>
                  <a:pt x="129647" y="485139"/>
                </a:lnTo>
                <a:lnTo>
                  <a:pt x="169793" y="511810"/>
                </a:lnTo>
                <a:lnTo>
                  <a:pt x="214947" y="530860"/>
                </a:lnTo>
                <a:lnTo>
                  <a:pt x="264126" y="541019"/>
                </a:lnTo>
                <a:lnTo>
                  <a:pt x="289943" y="542289"/>
                </a:lnTo>
                <a:lnTo>
                  <a:pt x="315766" y="541019"/>
                </a:lnTo>
                <a:lnTo>
                  <a:pt x="340833" y="537210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29"/>
                </a:lnTo>
                <a:lnTo>
                  <a:pt x="217337" y="521969"/>
                </a:lnTo>
                <a:lnTo>
                  <a:pt x="173960" y="502919"/>
                </a:lnTo>
                <a:lnTo>
                  <a:pt x="135397" y="477519"/>
                </a:lnTo>
                <a:lnTo>
                  <a:pt x="102631" y="443229"/>
                </a:lnTo>
                <a:lnTo>
                  <a:pt x="76671" y="405129"/>
                </a:lnTo>
                <a:lnTo>
                  <a:pt x="58497" y="361950"/>
                </a:lnTo>
                <a:lnTo>
                  <a:pt x="49071" y="313689"/>
                </a:lnTo>
                <a:lnTo>
                  <a:pt x="47938" y="289560"/>
                </a:lnTo>
                <a:lnTo>
                  <a:pt x="49316" y="264160"/>
                </a:lnTo>
                <a:lnTo>
                  <a:pt x="59203" y="217169"/>
                </a:lnTo>
                <a:lnTo>
                  <a:pt x="77781" y="173989"/>
                </a:lnTo>
                <a:lnTo>
                  <a:pt x="104091" y="134619"/>
                </a:lnTo>
                <a:lnTo>
                  <a:pt x="137166" y="102869"/>
                </a:lnTo>
                <a:lnTo>
                  <a:pt x="176005" y="76200"/>
                </a:lnTo>
                <a:lnTo>
                  <a:pt x="219610" y="58419"/>
                </a:lnTo>
                <a:lnTo>
                  <a:pt x="267022" y="48260"/>
                </a:lnTo>
                <a:lnTo>
                  <a:pt x="291880" y="46989"/>
                </a:lnTo>
                <a:lnTo>
                  <a:pt x="356734" y="46989"/>
                </a:lnTo>
                <a:lnTo>
                  <a:pt x="342247" y="43179"/>
                </a:lnTo>
                <a:lnTo>
                  <a:pt x="317211" y="39369"/>
                </a:lnTo>
                <a:lnTo>
                  <a:pt x="291396" y="38100"/>
                </a:lnTo>
                <a:close/>
              </a:path>
              <a:path w="581659" h="580389">
                <a:moveTo>
                  <a:pt x="356734" y="46989"/>
                </a:moveTo>
                <a:lnTo>
                  <a:pt x="291880" y="46989"/>
                </a:lnTo>
                <a:lnTo>
                  <a:pt x="316727" y="49529"/>
                </a:lnTo>
                <a:lnTo>
                  <a:pt x="340798" y="53339"/>
                </a:lnTo>
                <a:lnTo>
                  <a:pt x="386232" y="67310"/>
                </a:lnTo>
                <a:lnTo>
                  <a:pt x="427323" y="90169"/>
                </a:lnTo>
                <a:lnTo>
                  <a:pt x="463113" y="119379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69"/>
                </a:lnTo>
                <a:lnTo>
                  <a:pt x="533400" y="292100"/>
                </a:lnTo>
                <a:lnTo>
                  <a:pt x="532023" y="316229"/>
                </a:lnTo>
                <a:lnTo>
                  <a:pt x="522135" y="363219"/>
                </a:lnTo>
                <a:lnTo>
                  <a:pt x="503558" y="407669"/>
                </a:lnTo>
                <a:lnTo>
                  <a:pt x="477248" y="445769"/>
                </a:lnTo>
                <a:lnTo>
                  <a:pt x="444173" y="478789"/>
                </a:lnTo>
                <a:lnTo>
                  <a:pt x="405333" y="504189"/>
                </a:lnTo>
                <a:lnTo>
                  <a:pt x="361729" y="521969"/>
                </a:lnTo>
                <a:lnTo>
                  <a:pt x="314317" y="532129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79"/>
                </a:lnTo>
                <a:lnTo>
                  <a:pt x="450630" y="485139"/>
                </a:lnTo>
                <a:lnTo>
                  <a:pt x="484936" y="450850"/>
                </a:lnTo>
                <a:lnTo>
                  <a:pt x="512207" y="411479"/>
                </a:lnTo>
                <a:lnTo>
                  <a:pt x="531432" y="365760"/>
                </a:lnTo>
                <a:lnTo>
                  <a:pt x="541611" y="317500"/>
                </a:lnTo>
                <a:lnTo>
                  <a:pt x="542926" y="289560"/>
                </a:lnTo>
                <a:lnTo>
                  <a:pt x="541757" y="265429"/>
                </a:lnTo>
                <a:lnTo>
                  <a:pt x="531856" y="215900"/>
                </a:lnTo>
                <a:lnTo>
                  <a:pt x="512874" y="170179"/>
                </a:lnTo>
                <a:lnTo>
                  <a:pt x="485811" y="130810"/>
                </a:lnTo>
                <a:lnTo>
                  <a:pt x="451692" y="96519"/>
                </a:lnTo>
                <a:lnTo>
                  <a:pt x="411544" y="68579"/>
                </a:lnTo>
                <a:lnTo>
                  <a:pt x="366392" y="49529"/>
                </a:lnTo>
                <a:lnTo>
                  <a:pt x="356734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715000" y="4267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691030" y="4244178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60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30"/>
                </a:lnTo>
                <a:lnTo>
                  <a:pt x="84324" y="85090"/>
                </a:lnTo>
                <a:lnTo>
                  <a:pt x="49006" y="128270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30"/>
                </a:lnTo>
                <a:lnTo>
                  <a:pt x="67110" y="476250"/>
                </a:lnTo>
                <a:lnTo>
                  <a:pt x="106650" y="515620"/>
                </a:lnTo>
                <a:lnTo>
                  <a:pt x="153128" y="546100"/>
                </a:lnTo>
                <a:lnTo>
                  <a:pt x="205384" y="567690"/>
                </a:lnTo>
                <a:lnTo>
                  <a:pt x="262191" y="579120"/>
                </a:lnTo>
                <a:lnTo>
                  <a:pt x="291880" y="580390"/>
                </a:lnTo>
                <a:lnTo>
                  <a:pt x="321558" y="579120"/>
                </a:lnTo>
                <a:lnTo>
                  <a:pt x="350395" y="575310"/>
                </a:lnTo>
                <a:lnTo>
                  <a:pt x="378227" y="567690"/>
                </a:lnTo>
                <a:lnTo>
                  <a:pt x="404897" y="557530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80"/>
                </a:lnTo>
                <a:lnTo>
                  <a:pt x="212557" y="541020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90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90"/>
                </a:lnTo>
                <a:lnTo>
                  <a:pt x="40609" y="212090"/>
                </a:lnTo>
                <a:lnTo>
                  <a:pt x="60483" y="165100"/>
                </a:lnTo>
                <a:lnTo>
                  <a:pt x="88715" y="123190"/>
                </a:lnTo>
                <a:lnTo>
                  <a:pt x="124251" y="87630"/>
                </a:lnTo>
                <a:lnTo>
                  <a:pt x="166037" y="59690"/>
                </a:lnTo>
                <a:lnTo>
                  <a:pt x="213010" y="40640"/>
                </a:lnTo>
                <a:lnTo>
                  <a:pt x="264125" y="29210"/>
                </a:lnTo>
                <a:lnTo>
                  <a:pt x="290911" y="27940"/>
                </a:lnTo>
                <a:lnTo>
                  <a:pt x="415470" y="27940"/>
                </a:lnTo>
                <a:lnTo>
                  <a:pt x="402730" y="21590"/>
                </a:lnTo>
                <a:lnTo>
                  <a:pt x="375954" y="12700"/>
                </a:lnTo>
                <a:lnTo>
                  <a:pt x="348039" y="5080"/>
                </a:lnTo>
                <a:lnTo>
                  <a:pt x="319148" y="1270"/>
                </a:lnTo>
                <a:lnTo>
                  <a:pt x="289459" y="0"/>
                </a:lnTo>
                <a:close/>
              </a:path>
              <a:path w="581660" h="580389">
                <a:moveTo>
                  <a:pt x="415470" y="27940"/>
                </a:moveTo>
                <a:lnTo>
                  <a:pt x="290911" y="27940"/>
                </a:lnTo>
                <a:lnTo>
                  <a:pt x="317696" y="29210"/>
                </a:lnTo>
                <a:lnTo>
                  <a:pt x="343695" y="34290"/>
                </a:lnTo>
                <a:lnTo>
                  <a:pt x="392831" y="49530"/>
                </a:lnTo>
                <a:lnTo>
                  <a:pt x="437292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30"/>
                </a:lnTo>
                <a:lnTo>
                  <a:pt x="547302" y="237490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30"/>
                </a:lnTo>
                <a:lnTo>
                  <a:pt x="507719" y="436880"/>
                </a:lnTo>
                <a:lnTo>
                  <a:pt x="475702" y="476250"/>
                </a:lnTo>
                <a:lnTo>
                  <a:pt x="436909" y="508000"/>
                </a:lnTo>
                <a:lnTo>
                  <a:pt x="392398" y="532130"/>
                </a:lnTo>
                <a:lnTo>
                  <a:pt x="343223" y="547370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60"/>
                </a:lnTo>
                <a:lnTo>
                  <a:pt x="497015" y="495300"/>
                </a:lnTo>
                <a:lnTo>
                  <a:pt x="532333" y="452120"/>
                </a:lnTo>
                <a:lnTo>
                  <a:pt x="558948" y="402590"/>
                </a:lnTo>
                <a:lnTo>
                  <a:pt x="575677" y="347980"/>
                </a:lnTo>
                <a:lnTo>
                  <a:pt x="581338" y="289560"/>
                </a:lnTo>
                <a:lnTo>
                  <a:pt x="579718" y="259080"/>
                </a:lnTo>
                <a:lnTo>
                  <a:pt x="567917" y="203200"/>
                </a:lnTo>
                <a:lnTo>
                  <a:pt x="545692" y="151130"/>
                </a:lnTo>
                <a:lnTo>
                  <a:pt x="514229" y="104140"/>
                </a:lnTo>
                <a:lnTo>
                  <a:pt x="474689" y="64770"/>
                </a:lnTo>
                <a:lnTo>
                  <a:pt x="428210" y="34290"/>
                </a:lnTo>
                <a:lnTo>
                  <a:pt x="415470" y="27940"/>
                </a:lnTo>
                <a:close/>
              </a:path>
              <a:path w="581660" h="580389">
                <a:moveTo>
                  <a:pt x="291396" y="38100"/>
                </a:moveTo>
                <a:lnTo>
                  <a:pt x="240506" y="43180"/>
                </a:lnTo>
                <a:lnTo>
                  <a:pt x="193107" y="57150"/>
                </a:lnTo>
                <a:lnTo>
                  <a:pt x="150178" y="81280"/>
                </a:lnTo>
                <a:lnTo>
                  <a:pt x="112740" y="111760"/>
                </a:lnTo>
                <a:lnTo>
                  <a:pt x="81824" y="148590"/>
                </a:lnTo>
                <a:lnTo>
                  <a:pt x="58451" y="191770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90"/>
                </a:lnTo>
                <a:lnTo>
                  <a:pt x="68465" y="410210"/>
                </a:lnTo>
                <a:lnTo>
                  <a:pt x="95528" y="450850"/>
                </a:lnTo>
                <a:lnTo>
                  <a:pt x="129647" y="485140"/>
                </a:lnTo>
                <a:lnTo>
                  <a:pt x="169793" y="511810"/>
                </a:lnTo>
                <a:lnTo>
                  <a:pt x="214947" y="530860"/>
                </a:lnTo>
                <a:lnTo>
                  <a:pt x="264126" y="541020"/>
                </a:lnTo>
                <a:lnTo>
                  <a:pt x="289943" y="542290"/>
                </a:lnTo>
                <a:lnTo>
                  <a:pt x="315766" y="541020"/>
                </a:lnTo>
                <a:lnTo>
                  <a:pt x="340833" y="537210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30"/>
                </a:lnTo>
                <a:lnTo>
                  <a:pt x="217337" y="521970"/>
                </a:lnTo>
                <a:lnTo>
                  <a:pt x="173960" y="502920"/>
                </a:lnTo>
                <a:lnTo>
                  <a:pt x="135397" y="477520"/>
                </a:lnTo>
                <a:lnTo>
                  <a:pt x="102631" y="443230"/>
                </a:lnTo>
                <a:lnTo>
                  <a:pt x="76671" y="405130"/>
                </a:lnTo>
                <a:lnTo>
                  <a:pt x="58497" y="361950"/>
                </a:lnTo>
                <a:lnTo>
                  <a:pt x="49071" y="313690"/>
                </a:lnTo>
                <a:lnTo>
                  <a:pt x="47938" y="289560"/>
                </a:lnTo>
                <a:lnTo>
                  <a:pt x="49316" y="264160"/>
                </a:lnTo>
                <a:lnTo>
                  <a:pt x="59203" y="217170"/>
                </a:lnTo>
                <a:lnTo>
                  <a:pt x="77781" y="173990"/>
                </a:lnTo>
                <a:lnTo>
                  <a:pt x="104091" y="134620"/>
                </a:lnTo>
                <a:lnTo>
                  <a:pt x="137166" y="102870"/>
                </a:lnTo>
                <a:lnTo>
                  <a:pt x="176005" y="76200"/>
                </a:lnTo>
                <a:lnTo>
                  <a:pt x="219610" y="58420"/>
                </a:lnTo>
                <a:lnTo>
                  <a:pt x="267022" y="48260"/>
                </a:lnTo>
                <a:lnTo>
                  <a:pt x="361563" y="48260"/>
                </a:lnTo>
                <a:lnTo>
                  <a:pt x="342247" y="43180"/>
                </a:lnTo>
                <a:lnTo>
                  <a:pt x="317211" y="39370"/>
                </a:lnTo>
                <a:lnTo>
                  <a:pt x="291396" y="38100"/>
                </a:lnTo>
                <a:close/>
              </a:path>
              <a:path w="581660" h="580389">
                <a:moveTo>
                  <a:pt x="361563" y="48260"/>
                </a:moveTo>
                <a:lnTo>
                  <a:pt x="291880" y="48260"/>
                </a:lnTo>
                <a:lnTo>
                  <a:pt x="316727" y="49530"/>
                </a:lnTo>
                <a:lnTo>
                  <a:pt x="340798" y="53340"/>
                </a:lnTo>
                <a:lnTo>
                  <a:pt x="386232" y="67310"/>
                </a:lnTo>
                <a:lnTo>
                  <a:pt x="427323" y="90170"/>
                </a:lnTo>
                <a:lnTo>
                  <a:pt x="463113" y="119380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70"/>
                </a:lnTo>
                <a:lnTo>
                  <a:pt x="533400" y="292100"/>
                </a:lnTo>
                <a:lnTo>
                  <a:pt x="532023" y="316230"/>
                </a:lnTo>
                <a:lnTo>
                  <a:pt x="522135" y="363220"/>
                </a:lnTo>
                <a:lnTo>
                  <a:pt x="503558" y="407670"/>
                </a:lnTo>
                <a:lnTo>
                  <a:pt x="477248" y="445770"/>
                </a:lnTo>
                <a:lnTo>
                  <a:pt x="444173" y="478790"/>
                </a:lnTo>
                <a:lnTo>
                  <a:pt x="405333" y="504190"/>
                </a:lnTo>
                <a:lnTo>
                  <a:pt x="361729" y="521970"/>
                </a:lnTo>
                <a:lnTo>
                  <a:pt x="314317" y="532130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80"/>
                </a:lnTo>
                <a:lnTo>
                  <a:pt x="450630" y="485140"/>
                </a:lnTo>
                <a:lnTo>
                  <a:pt x="484936" y="450850"/>
                </a:lnTo>
                <a:lnTo>
                  <a:pt x="512207" y="411480"/>
                </a:lnTo>
                <a:lnTo>
                  <a:pt x="531432" y="365760"/>
                </a:lnTo>
                <a:lnTo>
                  <a:pt x="541611" y="317500"/>
                </a:lnTo>
                <a:lnTo>
                  <a:pt x="542926" y="289560"/>
                </a:lnTo>
                <a:lnTo>
                  <a:pt x="541757" y="265430"/>
                </a:lnTo>
                <a:lnTo>
                  <a:pt x="531856" y="215900"/>
                </a:lnTo>
                <a:lnTo>
                  <a:pt x="512874" y="170180"/>
                </a:lnTo>
                <a:lnTo>
                  <a:pt x="485811" y="130810"/>
                </a:lnTo>
                <a:lnTo>
                  <a:pt x="451692" y="96520"/>
                </a:lnTo>
                <a:lnTo>
                  <a:pt x="411544" y="68580"/>
                </a:lnTo>
                <a:lnTo>
                  <a:pt x="366392" y="49530"/>
                </a:lnTo>
                <a:lnTo>
                  <a:pt x="361563" y="48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086600" y="2819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062630" y="2796379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59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29"/>
                </a:lnTo>
                <a:lnTo>
                  <a:pt x="84324" y="85089"/>
                </a:lnTo>
                <a:lnTo>
                  <a:pt x="49006" y="128269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29"/>
                </a:lnTo>
                <a:lnTo>
                  <a:pt x="67110" y="476250"/>
                </a:lnTo>
                <a:lnTo>
                  <a:pt x="106650" y="515619"/>
                </a:lnTo>
                <a:lnTo>
                  <a:pt x="153128" y="546100"/>
                </a:lnTo>
                <a:lnTo>
                  <a:pt x="205384" y="567689"/>
                </a:lnTo>
                <a:lnTo>
                  <a:pt x="262191" y="579119"/>
                </a:lnTo>
                <a:lnTo>
                  <a:pt x="291880" y="580389"/>
                </a:lnTo>
                <a:lnTo>
                  <a:pt x="321558" y="579119"/>
                </a:lnTo>
                <a:lnTo>
                  <a:pt x="350395" y="575310"/>
                </a:lnTo>
                <a:lnTo>
                  <a:pt x="378227" y="567689"/>
                </a:lnTo>
                <a:lnTo>
                  <a:pt x="404897" y="557529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79"/>
                </a:lnTo>
                <a:lnTo>
                  <a:pt x="212556" y="541019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89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89"/>
                </a:lnTo>
                <a:lnTo>
                  <a:pt x="40609" y="212089"/>
                </a:lnTo>
                <a:lnTo>
                  <a:pt x="60483" y="165100"/>
                </a:lnTo>
                <a:lnTo>
                  <a:pt x="88714" y="123189"/>
                </a:lnTo>
                <a:lnTo>
                  <a:pt x="124251" y="87629"/>
                </a:lnTo>
                <a:lnTo>
                  <a:pt x="166037" y="59689"/>
                </a:lnTo>
                <a:lnTo>
                  <a:pt x="213010" y="40639"/>
                </a:lnTo>
                <a:lnTo>
                  <a:pt x="264125" y="29210"/>
                </a:lnTo>
                <a:lnTo>
                  <a:pt x="290911" y="27939"/>
                </a:lnTo>
                <a:lnTo>
                  <a:pt x="415470" y="27939"/>
                </a:lnTo>
                <a:lnTo>
                  <a:pt x="402730" y="21589"/>
                </a:lnTo>
                <a:lnTo>
                  <a:pt x="375954" y="12700"/>
                </a:lnTo>
                <a:lnTo>
                  <a:pt x="348039" y="5079"/>
                </a:lnTo>
                <a:lnTo>
                  <a:pt x="319148" y="1269"/>
                </a:lnTo>
                <a:lnTo>
                  <a:pt x="289459" y="0"/>
                </a:lnTo>
                <a:close/>
              </a:path>
              <a:path w="581659" h="580389">
                <a:moveTo>
                  <a:pt x="415470" y="27939"/>
                </a:moveTo>
                <a:lnTo>
                  <a:pt x="290911" y="27939"/>
                </a:lnTo>
                <a:lnTo>
                  <a:pt x="317696" y="29210"/>
                </a:lnTo>
                <a:lnTo>
                  <a:pt x="343695" y="34289"/>
                </a:lnTo>
                <a:lnTo>
                  <a:pt x="392831" y="49529"/>
                </a:lnTo>
                <a:lnTo>
                  <a:pt x="437291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29"/>
                </a:lnTo>
                <a:lnTo>
                  <a:pt x="547302" y="237489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29"/>
                </a:lnTo>
                <a:lnTo>
                  <a:pt x="507719" y="436879"/>
                </a:lnTo>
                <a:lnTo>
                  <a:pt x="475702" y="476250"/>
                </a:lnTo>
                <a:lnTo>
                  <a:pt x="436909" y="508000"/>
                </a:lnTo>
                <a:lnTo>
                  <a:pt x="392398" y="532129"/>
                </a:lnTo>
                <a:lnTo>
                  <a:pt x="343223" y="547369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60"/>
                </a:lnTo>
                <a:lnTo>
                  <a:pt x="497015" y="495300"/>
                </a:lnTo>
                <a:lnTo>
                  <a:pt x="532333" y="452119"/>
                </a:lnTo>
                <a:lnTo>
                  <a:pt x="558948" y="402589"/>
                </a:lnTo>
                <a:lnTo>
                  <a:pt x="575677" y="347979"/>
                </a:lnTo>
                <a:lnTo>
                  <a:pt x="581338" y="289560"/>
                </a:lnTo>
                <a:lnTo>
                  <a:pt x="579718" y="259079"/>
                </a:lnTo>
                <a:lnTo>
                  <a:pt x="567917" y="203200"/>
                </a:lnTo>
                <a:lnTo>
                  <a:pt x="545692" y="151129"/>
                </a:lnTo>
                <a:lnTo>
                  <a:pt x="514229" y="104139"/>
                </a:lnTo>
                <a:lnTo>
                  <a:pt x="474687" y="64769"/>
                </a:lnTo>
                <a:lnTo>
                  <a:pt x="428210" y="34289"/>
                </a:lnTo>
                <a:lnTo>
                  <a:pt x="415470" y="27939"/>
                </a:lnTo>
                <a:close/>
              </a:path>
              <a:path w="581659" h="580389">
                <a:moveTo>
                  <a:pt x="291396" y="38100"/>
                </a:moveTo>
                <a:lnTo>
                  <a:pt x="240506" y="43179"/>
                </a:lnTo>
                <a:lnTo>
                  <a:pt x="193107" y="57150"/>
                </a:lnTo>
                <a:lnTo>
                  <a:pt x="150178" y="81279"/>
                </a:lnTo>
                <a:lnTo>
                  <a:pt x="112740" y="111760"/>
                </a:lnTo>
                <a:lnTo>
                  <a:pt x="81824" y="148589"/>
                </a:lnTo>
                <a:lnTo>
                  <a:pt x="58451" y="191769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89"/>
                </a:lnTo>
                <a:lnTo>
                  <a:pt x="68465" y="410210"/>
                </a:lnTo>
                <a:lnTo>
                  <a:pt x="95526" y="450850"/>
                </a:lnTo>
                <a:lnTo>
                  <a:pt x="129647" y="485139"/>
                </a:lnTo>
                <a:lnTo>
                  <a:pt x="169793" y="511810"/>
                </a:lnTo>
                <a:lnTo>
                  <a:pt x="214947" y="530860"/>
                </a:lnTo>
                <a:lnTo>
                  <a:pt x="264126" y="541019"/>
                </a:lnTo>
                <a:lnTo>
                  <a:pt x="289943" y="542289"/>
                </a:lnTo>
                <a:lnTo>
                  <a:pt x="315765" y="541019"/>
                </a:lnTo>
                <a:lnTo>
                  <a:pt x="340833" y="537210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29"/>
                </a:lnTo>
                <a:lnTo>
                  <a:pt x="217337" y="521969"/>
                </a:lnTo>
                <a:lnTo>
                  <a:pt x="173960" y="502919"/>
                </a:lnTo>
                <a:lnTo>
                  <a:pt x="135395" y="477519"/>
                </a:lnTo>
                <a:lnTo>
                  <a:pt x="102631" y="443229"/>
                </a:lnTo>
                <a:lnTo>
                  <a:pt x="76671" y="405129"/>
                </a:lnTo>
                <a:lnTo>
                  <a:pt x="58497" y="361950"/>
                </a:lnTo>
                <a:lnTo>
                  <a:pt x="49071" y="313689"/>
                </a:lnTo>
                <a:lnTo>
                  <a:pt x="47938" y="289560"/>
                </a:lnTo>
                <a:lnTo>
                  <a:pt x="49316" y="264160"/>
                </a:lnTo>
                <a:lnTo>
                  <a:pt x="59203" y="217169"/>
                </a:lnTo>
                <a:lnTo>
                  <a:pt x="77781" y="173989"/>
                </a:lnTo>
                <a:lnTo>
                  <a:pt x="104091" y="134619"/>
                </a:lnTo>
                <a:lnTo>
                  <a:pt x="137166" y="102869"/>
                </a:lnTo>
                <a:lnTo>
                  <a:pt x="176005" y="76200"/>
                </a:lnTo>
                <a:lnTo>
                  <a:pt x="219610" y="58419"/>
                </a:lnTo>
                <a:lnTo>
                  <a:pt x="267022" y="48260"/>
                </a:lnTo>
                <a:lnTo>
                  <a:pt x="291880" y="46989"/>
                </a:lnTo>
                <a:lnTo>
                  <a:pt x="356734" y="46989"/>
                </a:lnTo>
                <a:lnTo>
                  <a:pt x="342247" y="43179"/>
                </a:lnTo>
                <a:lnTo>
                  <a:pt x="317211" y="39369"/>
                </a:lnTo>
                <a:lnTo>
                  <a:pt x="291396" y="38100"/>
                </a:lnTo>
                <a:close/>
              </a:path>
              <a:path w="581659" h="580389">
                <a:moveTo>
                  <a:pt x="356734" y="46989"/>
                </a:moveTo>
                <a:lnTo>
                  <a:pt x="291880" y="46989"/>
                </a:lnTo>
                <a:lnTo>
                  <a:pt x="316727" y="49529"/>
                </a:lnTo>
                <a:lnTo>
                  <a:pt x="340798" y="53339"/>
                </a:lnTo>
                <a:lnTo>
                  <a:pt x="386232" y="67310"/>
                </a:lnTo>
                <a:lnTo>
                  <a:pt x="427323" y="90169"/>
                </a:lnTo>
                <a:lnTo>
                  <a:pt x="463113" y="119379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69"/>
                </a:lnTo>
                <a:lnTo>
                  <a:pt x="533400" y="292100"/>
                </a:lnTo>
                <a:lnTo>
                  <a:pt x="532023" y="316229"/>
                </a:lnTo>
                <a:lnTo>
                  <a:pt x="522135" y="363219"/>
                </a:lnTo>
                <a:lnTo>
                  <a:pt x="503558" y="407669"/>
                </a:lnTo>
                <a:lnTo>
                  <a:pt x="477248" y="445769"/>
                </a:lnTo>
                <a:lnTo>
                  <a:pt x="444173" y="478789"/>
                </a:lnTo>
                <a:lnTo>
                  <a:pt x="405333" y="504189"/>
                </a:lnTo>
                <a:lnTo>
                  <a:pt x="361729" y="521969"/>
                </a:lnTo>
                <a:lnTo>
                  <a:pt x="314317" y="532129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79"/>
                </a:lnTo>
                <a:lnTo>
                  <a:pt x="450630" y="485139"/>
                </a:lnTo>
                <a:lnTo>
                  <a:pt x="484936" y="450850"/>
                </a:lnTo>
                <a:lnTo>
                  <a:pt x="512207" y="411479"/>
                </a:lnTo>
                <a:lnTo>
                  <a:pt x="531432" y="365760"/>
                </a:lnTo>
                <a:lnTo>
                  <a:pt x="541610" y="317500"/>
                </a:lnTo>
                <a:lnTo>
                  <a:pt x="542926" y="289560"/>
                </a:lnTo>
                <a:lnTo>
                  <a:pt x="541757" y="265429"/>
                </a:lnTo>
                <a:lnTo>
                  <a:pt x="531856" y="215900"/>
                </a:lnTo>
                <a:lnTo>
                  <a:pt x="512874" y="170179"/>
                </a:lnTo>
                <a:lnTo>
                  <a:pt x="485811" y="130810"/>
                </a:lnTo>
                <a:lnTo>
                  <a:pt x="451692" y="96519"/>
                </a:lnTo>
                <a:lnTo>
                  <a:pt x="411544" y="68579"/>
                </a:lnTo>
                <a:lnTo>
                  <a:pt x="366392" y="49529"/>
                </a:lnTo>
                <a:lnTo>
                  <a:pt x="356734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981200" y="2743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18760" y="4296"/>
                </a:lnTo>
                <a:lnTo>
                  <a:pt x="173639" y="16685"/>
                </a:lnTo>
                <a:lnTo>
                  <a:pt x="132091" y="36412"/>
                </a:lnTo>
                <a:lnTo>
                  <a:pt x="94868" y="62724"/>
                </a:lnTo>
                <a:lnTo>
                  <a:pt x="62724" y="94868"/>
                </a:lnTo>
                <a:lnTo>
                  <a:pt x="36412" y="132091"/>
                </a:lnTo>
                <a:lnTo>
                  <a:pt x="16685" y="173639"/>
                </a:lnTo>
                <a:lnTo>
                  <a:pt x="4296" y="218760"/>
                </a:lnTo>
                <a:lnTo>
                  <a:pt x="0" y="266700"/>
                </a:lnTo>
                <a:lnTo>
                  <a:pt x="4296" y="314639"/>
                </a:lnTo>
                <a:lnTo>
                  <a:pt x="16685" y="359760"/>
                </a:lnTo>
                <a:lnTo>
                  <a:pt x="36412" y="401308"/>
                </a:lnTo>
                <a:lnTo>
                  <a:pt x="62724" y="438531"/>
                </a:lnTo>
                <a:lnTo>
                  <a:pt x="94868" y="470675"/>
                </a:lnTo>
                <a:lnTo>
                  <a:pt x="132091" y="496987"/>
                </a:lnTo>
                <a:lnTo>
                  <a:pt x="173639" y="516714"/>
                </a:lnTo>
                <a:lnTo>
                  <a:pt x="218760" y="529103"/>
                </a:lnTo>
                <a:lnTo>
                  <a:pt x="266700" y="533400"/>
                </a:lnTo>
                <a:lnTo>
                  <a:pt x="314639" y="529103"/>
                </a:lnTo>
                <a:lnTo>
                  <a:pt x="359760" y="516714"/>
                </a:lnTo>
                <a:lnTo>
                  <a:pt x="401308" y="496987"/>
                </a:lnTo>
                <a:lnTo>
                  <a:pt x="438531" y="470675"/>
                </a:lnTo>
                <a:lnTo>
                  <a:pt x="470675" y="438531"/>
                </a:lnTo>
                <a:lnTo>
                  <a:pt x="496987" y="401308"/>
                </a:lnTo>
                <a:lnTo>
                  <a:pt x="516714" y="359760"/>
                </a:lnTo>
                <a:lnTo>
                  <a:pt x="529103" y="314639"/>
                </a:lnTo>
                <a:lnTo>
                  <a:pt x="533400" y="266700"/>
                </a:lnTo>
                <a:lnTo>
                  <a:pt x="529103" y="218760"/>
                </a:lnTo>
                <a:lnTo>
                  <a:pt x="516714" y="173639"/>
                </a:lnTo>
                <a:lnTo>
                  <a:pt x="496987" y="132091"/>
                </a:lnTo>
                <a:lnTo>
                  <a:pt x="470675" y="94868"/>
                </a:lnTo>
                <a:lnTo>
                  <a:pt x="438531" y="62724"/>
                </a:lnTo>
                <a:lnTo>
                  <a:pt x="401308" y="36412"/>
                </a:lnTo>
                <a:lnTo>
                  <a:pt x="359760" y="16685"/>
                </a:lnTo>
                <a:lnTo>
                  <a:pt x="314639" y="4296"/>
                </a:lnTo>
                <a:lnTo>
                  <a:pt x="266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957229" y="2720179"/>
            <a:ext cx="581660" cy="580390"/>
          </a:xfrm>
          <a:custGeom>
            <a:avLst/>
            <a:gdLst/>
            <a:ahLst/>
            <a:cxnLst/>
            <a:rect l="l" t="t" r="r" b="b"/>
            <a:pathLst>
              <a:path w="581660" h="580389">
                <a:moveTo>
                  <a:pt x="289459" y="0"/>
                </a:moveTo>
                <a:lnTo>
                  <a:pt x="230944" y="6350"/>
                </a:lnTo>
                <a:lnTo>
                  <a:pt x="176442" y="22860"/>
                </a:lnTo>
                <a:lnTo>
                  <a:pt x="127182" y="49529"/>
                </a:lnTo>
                <a:lnTo>
                  <a:pt x="84324" y="85089"/>
                </a:lnTo>
                <a:lnTo>
                  <a:pt x="49006" y="128269"/>
                </a:lnTo>
                <a:lnTo>
                  <a:pt x="22390" y="177800"/>
                </a:lnTo>
                <a:lnTo>
                  <a:pt x="5662" y="232410"/>
                </a:lnTo>
                <a:lnTo>
                  <a:pt x="0" y="292100"/>
                </a:lnTo>
                <a:lnTo>
                  <a:pt x="1621" y="321310"/>
                </a:lnTo>
                <a:lnTo>
                  <a:pt x="13422" y="378460"/>
                </a:lnTo>
                <a:lnTo>
                  <a:pt x="35647" y="430529"/>
                </a:lnTo>
                <a:lnTo>
                  <a:pt x="67110" y="476250"/>
                </a:lnTo>
                <a:lnTo>
                  <a:pt x="106650" y="515619"/>
                </a:lnTo>
                <a:lnTo>
                  <a:pt x="153128" y="546100"/>
                </a:lnTo>
                <a:lnTo>
                  <a:pt x="205384" y="567689"/>
                </a:lnTo>
                <a:lnTo>
                  <a:pt x="262191" y="579119"/>
                </a:lnTo>
                <a:lnTo>
                  <a:pt x="291880" y="580389"/>
                </a:lnTo>
                <a:lnTo>
                  <a:pt x="321558" y="579119"/>
                </a:lnTo>
                <a:lnTo>
                  <a:pt x="350395" y="575310"/>
                </a:lnTo>
                <a:lnTo>
                  <a:pt x="378227" y="567689"/>
                </a:lnTo>
                <a:lnTo>
                  <a:pt x="404897" y="557529"/>
                </a:lnTo>
                <a:lnTo>
                  <a:pt x="415040" y="552450"/>
                </a:lnTo>
                <a:lnTo>
                  <a:pt x="290427" y="552450"/>
                </a:lnTo>
                <a:lnTo>
                  <a:pt x="263643" y="551179"/>
                </a:lnTo>
                <a:lnTo>
                  <a:pt x="212557" y="541019"/>
                </a:lnTo>
                <a:lnTo>
                  <a:pt x="165628" y="520700"/>
                </a:lnTo>
                <a:lnTo>
                  <a:pt x="123898" y="492760"/>
                </a:lnTo>
                <a:lnTo>
                  <a:pt x="88423" y="457200"/>
                </a:lnTo>
                <a:lnTo>
                  <a:pt x="60261" y="415289"/>
                </a:lnTo>
                <a:lnTo>
                  <a:pt x="40467" y="368300"/>
                </a:lnTo>
                <a:lnTo>
                  <a:pt x="30091" y="317500"/>
                </a:lnTo>
                <a:lnTo>
                  <a:pt x="28764" y="289560"/>
                </a:lnTo>
                <a:lnTo>
                  <a:pt x="30140" y="262889"/>
                </a:lnTo>
                <a:lnTo>
                  <a:pt x="40609" y="212089"/>
                </a:lnTo>
                <a:lnTo>
                  <a:pt x="60483" y="165100"/>
                </a:lnTo>
                <a:lnTo>
                  <a:pt x="88715" y="123189"/>
                </a:lnTo>
                <a:lnTo>
                  <a:pt x="124251" y="87629"/>
                </a:lnTo>
                <a:lnTo>
                  <a:pt x="166037" y="59689"/>
                </a:lnTo>
                <a:lnTo>
                  <a:pt x="213010" y="40639"/>
                </a:lnTo>
                <a:lnTo>
                  <a:pt x="264125" y="29210"/>
                </a:lnTo>
                <a:lnTo>
                  <a:pt x="290912" y="27939"/>
                </a:lnTo>
                <a:lnTo>
                  <a:pt x="415470" y="27939"/>
                </a:lnTo>
                <a:lnTo>
                  <a:pt x="402730" y="21589"/>
                </a:lnTo>
                <a:lnTo>
                  <a:pt x="375955" y="12700"/>
                </a:lnTo>
                <a:lnTo>
                  <a:pt x="348039" y="5079"/>
                </a:lnTo>
                <a:lnTo>
                  <a:pt x="319148" y="1269"/>
                </a:lnTo>
                <a:lnTo>
                  <a:pt x="289459" y="0"/>
                </a:lnTo>
                <a:close/>
              </a:path>
              <a:path w="581660" h="580389">
                <a:moveTo>
                  <a:pt x="415470" y="27939"/>
                </a:moveTo>
                <a:lnTo>
                  <a:pt x="290912" y="27939"/>
                </a:lnTo>
                <a:lnTo>
                  <a:pt x="317696" y="29210"/>
                </a:lnTo>
                <a:lnTo>
                  <a:pt x="343695" y="34289"/>
                </a:lnTo>
                <a:lnTo>
                  <a:pt x="392831" y="49529"/>
                </a:lnTo>
                <a:lnTo>
                  <a:pt x="437292" y="73660"/>
                </a:lnTo>
                <a:lnTo>
                  <a:pt x="476026" y="105410"/>
                </a:lnTo>
                <a:lnTo>
                  <a:pt x="507977" y="143510"/>
                </a:lnTo>
                <a:lnTo>
                  <a:pt x="532086" y="189229"/>
                </a:lnTo>
                <a:lnTo>
                  <a:pt x="547302" y="237489"/>
                </a:lnTo>
                <a:lnTo>
                  <a:pt x="552512" y="289560"/>
                </a:lnTo>
                <a:lnTo>
                  <a:pt x="552510" y="292100"/>
                </a:lnTo>
                <a:lnTo>
                  <a:pt x="547206" y="342900"/>
                </a:lnTo>
                <a:lnTo>
                  <a:pt x="531903" y="392429"/>
                </a:lnTo>
                <a:lnTo>
                  <a:pt x="507719" y="436879"/>
                </a:lnTo>
                <a:lnTo>
                  <a:pt x="475702" y="476250"/>
                </a:lnTo>
                <a:lnTo>
                  <a:pt x="436910" y="508000"/>
                </a:lnTo>
                <a:lnTo>
                  <a:pt x="392398" y="532129"/>
                </a:lnTo>
                <a:lnTo>
                  <a:pt x="343223" y="547369"/>
                </a:lnTo>
                <a:lnTo>
                  <a:pt x="290427" y="552450"/>
                </a:lnTo>
                <a:lnTo>
                  <a:pt x="415040" y="552450"/>
                </a:lnTo>
                <a:lnTo>
                  <a:pt x="454157" y="530860"/>
                </a:lnTo>
                <a:lnTo>
                  <a:pt x="497015" y="495300"/>
                </a:lnTo>
                <a:lnTo>
                  <a:pt x="532333" y="452119"/>
                </a:lnTo>
                <a:lnTo>
                  <a:pt x="558948" y="402589"/>
                </a:lnTo>
                <a:lnTo>
                  <a:pt x="575677" y="347979"/>
                </a:lnTo>
                <a:lnTo>
                  <a:pt x="581339" y="289560"/>
                </a:lnTo>
                <a:lnTo>
                  <a:pt x="579718" y="259079"/>
                </a:lnTo>
                <a:lnTo>
                  <a:pt x="567917" y="203200"/>
                </a:lnTo>
                <a:lnTo>
                  <a:pt x="545692" y="151129"/>
                </a:lnTo>
                <a:lnTo>
                  <a:pt x="514229" y="104139"/>
                </a:lnTo>
                <a:lnTo>
                  <a:pt x="474689" y="64769"/>
                </a:lnTo>
                <a:lnTo>
                  <a:pt x="428210" y="34289"/>
                </a:lnTo>
                <a:lnTo>
                  <a:pt x="415470" y="27939"/>
                </a:lnTo>
                <a:close/>
              </a:path>
              <a:path w="581660" h="580389">
                <a:moveTo>
                  <a:pt x="291396" y="38100"/>
                </a:moveTo>
                <a:lnTo>
                  <a:pt x="240506" y="43179"/>
                </a:lnTo>
                <a:lnTo>
                  <a:pt x="193107" y="57150"/>
                </a:lnTo>
                <a:lnTo>
                  <a:pt x="150178" y="81279"/>
                </a:lnTo>
                <a:lnTo>
                  <a:pt x="112740" y="111760"/>
                </a:lnTo>
                <a:lnTo>
                  <a:pt x="81824" y="148589"/>
                </a:lnTo>
                <a:lnTo>
                  <a:pt x="58451" y="191769"/>
                </a:lnTo>
                <a:lnTo>
                  <a:pt x="43623" y="238760"/>
                </a:lnTo>
                <a:lnTo>
                  <a:pt x="38351" y="289560"/>
                </a:lnTo>
                <a:lnTo>
                  <a:pt x="39582" y="314960"/>
                </a:lnTo>
                <a:lnTo>
                  <a:pt x="49483" y="364489"/>
                </a:lnTo>
                <a:lnTo>
                  <a:pt x="68465" y="410210"/>
                </a:lnTo>
                <a:lnTo>
                  <a:pt x="95528" y="450850"/>
                </a:lnTo>
                <a:lnTo>
                  <a:pt x="129647" y="485139"/>
                </a:lnTo>
                <a:lnTo>
                  <a:pt x="169793" y="511810"/>
                </a:lnTo>
                <a:lnTo>
                  <a:pt x="214947" y="530860"/>
                </a:lnTo>
                <a:lnTo>
                  <a:pt x="264126" y="541019"/>
                </a:lnTo>
                <a:lnTo>
                  <a:pt x="289943" y="542289"/>
                </a:lnTo>
                <a:lnTo>
                  <a:pt x="315766" y="541019"/>
                </a:lnTo>
                <a:lnTo>
                  <a:pt x="340833" y="537210"/>
                </a:lnTo>
                <a:lnTo>
                  <a:pt x="358979" y="533400"/>
                </a:lnTo>
                <a:lnTo>
                  <a:pt x="289459" y="533400"/>
                </a:lnTo>
                <a:lnTo>
                  <a:pt x="264612" y="532129"/>
                </a:lnTo>
                <a:lnTo>
                  <a:pt x="217337" y="521969"/>
                </a:lnTo>
                <a:lnTo>
                  <a:pt x="173960" y="502919"/>
                </a:lnTo>
                <a:lnTo>
                  <a:pt x="135397" y="477519"/>
                </a:lnTo>
                <a:lnTo>
                  <a:pt x="102631" y="443229"/>
                </a:lnTo>
                <a:lnTo>
                  <a:pt x="76671" y="405129"/>
                </a:lnTo>
                <a:lnTo>
                  <a:pt x="58497" y="361950"/>
                </a:lnTo>
                <a:lnTo>
                  <a:pt x="49071" y="313689"/>
                </a:lnTo>
                <a:lnTo>
                  <a:pt x="47939" y="289560"/>
                </a:lnTo>
                <a:lnTo>
                  <a:pt x="49316" y="264160"/>
                </a:lnTo>
                <a:lnTo>
                  <a:pt x="59203" y="217169"/>
                </a:lnTo>
                <a:lnTo>
                  <a:pt x="77781" y="173989"/>
                </a:lnTo>
                <a:lnTo>
                  <a:pt x="104091" y="134619"/>
                </a:lnTo>
                <a:lnTo>
                  <a:pt x="137166" y="102869"/>
                </a:lnTo>
                <a:lnTo>
                  <a:pt x="176005" y="76200"/>
                </a:lnTo>
                <a:lnTo>
                  <a:pt x="219610" y="58419"/>
                </a:lnTo>
                <a:lnTo>
                  <a:pt x="267022" y="48260"/>
                </a:lnTo>
                <a:lnTo>
                  <a:pt x="291880" y="46989"/>
                </a:lnTo>
                <a:lnTo>
                  <a:pt x="356734" y="46989"/>
                </a:lnTo>
                <a:lnTo>
                  <a:pt x="342247" y="43179"/>
                </a:lnTo>
                <a:lnTo>
                  <a:pt x="317211" y="39369"/>
                </a:lnTo>
                <a:lnTo>
                  <a:pt x="291396" y="38100"/>
                </a:lnTo>
                <a:close/>
              </a:path>
              <a:path w="581660" h="580389">
                <a:moveTo>
                  <a:pt x="356734" y="46989"/>
                </a:moveTo>
                <a:lnTo>
                  <a:pt x="291880" y="46989"/>
                </a:lnTo>
                <a:lnTo>
                  <a:pt x="316727" y="49529"/>
                </a:lnTo>
                <a:lnTo>
                  <a:pt x="340798" y="53339"/>
                </a:lnTo>
                <a:lnTo>
                  <a:pt x="386232" y="67310"/>
                </a:lnTo>
                <a:lnTo>
                  <a:pt x="427323" y="90169"/>
                </a:lnTo>
                <a:lnTo>
                  <a:pt x="463113" y="119379"/>
                </a:lnTo>
                <a:lnTo>
                  <a:pt x="492601" y="156210"/>
                </a:lnTo>
                <a:lnTo>
                  <a:pt x="514789" y="196850"/>
                </a:lnTo>
                <a:lnTo>
                  <a:pt x="528707" y="242569"/>
                </a:lnTo>
                <a:lnTo>
                  <a:pt x="533400" y="292100"/>
                </a:lnTo>
                <a:lnTo>
                  <a:pt x="532023" y="316229"/>
                </a:lnTo>
                <a:lnTo>
                  <a:pt x="522135" y="363219"/>
                </a:lnTo>
                <a:lnTo>
                  <a:pt x="503558" y="407669"/>
                </a:lnTo>
                <a:lnTo>
                  <a:pt x="477248" y="445769"/>
                </a:lnTo>
                <a:lnTo>
                  <a:pt x="444173" y="478789"/>
                </a:lnTo>
                <a:lnTo>
                  <a:pt x="405334" y="504189"/>
                </a:lnTo>
                <a:lnTo>
                  <a:pt x="361729" y="521969"/>
                </a:lnTo>
                <a:lnTo>
                  <a:pt x="314317" y="532129"/>
                </a:lnTo>
                <a:lnTo>
                  <a:pt x="289459" y="533400"/>
                </a:lnTo>
                <a:lnTo>
                  <a:pt x="358979" y="533400"/>
                </a:lnTo>
                <a:lnTo>
                  <a:pt x="410317" y="513079"/>
                </a:lnTo>
                <a:lnTo>
                  <a:pt x="450630" y="485139"/>
                </a:lnTo>
                <a:lnTo>
                  <a:pt x="484936" y="450850"/>
                </a:lnTo>
                <a:lnTo>
                  <a:pt x="512207" y="411479"/>
                </a:lnTo>
                <a:lnTo>
                  <a:pt x="531432" y="365760"/>
                </a:lnTo>
                <a:lnTo>
                  <a:pt x="541611" y="317500"/>
                </a:lnTo>
                <a:lnTo>
                  <a:pt x="542926" y="289560"/>
                </a:lnTo>
                <a:lnTo>
                  <a:pt x="541757" y="265429"/>
                </a:lnTo>
                <a:lnTo>
                  <a:pt x="531856" y="215900"/>
                </a:lnTo>
                <a:lnTo>
                  <a:pt x="512874" y="170179"/>
                </a:lnTo>
                <a:lnTo>
                  <a:pt x="485811" y="130810"/>
                </a:lnTo>
                <a:lnTo>
                  <a:pt x="451692" y="96519"/>
                </a:lnTo>
                <a:lnTo>
                  <a:pt x="411546" y="68579"/>
                </a:lnTo>
                <a:lnTo>
                  <a:pt x="366392" y="49529"/>
                </a:lnTo>
                <a:lnTo>
                  <a:pt x="356734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8694297" y="6710388"/>
            <a:ext cx="178435" cy="1606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r>
              <a:rPr dirty="0" sz="900" spc="-5">
                <a:latin typeface="Arial"/>
                <a:cs typeface="Arial"/>
              </a:rPr>
              <a:t>17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827227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1472" y="3294379"/>
            <a:ext cx="16929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Calibri"/>
                <a:cs typeface="Calibri"/>
              </a:rPr>
              <a:t>Event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Graphs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3899" y="6180835"/>
            <a:ext cx="14243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 b="1">
                <a:latin typeface="Calibri"/>
                <a:cs typeface="Calibri"/>
              </a:rPr>
              <a:t>Food</a:t>
            </a:r>
            <a:r>
              <a:rPr dirty="0" sz="2400" spc="-90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Webs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89734" y="3288284"/>
            <a:ext cx="22682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alibri"/>
                <a:cs typeface="Calibri"/>
              </a:rPr>
              <a:t>Disease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Pathways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18217" y="1374813"/>
            <a:ext cx="1887096" cy="19178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187824" y="2994130"/>
            <a:ext cx="2577465" cy="69151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09245">
              <a:lnSpc>
                <a:spcPct val="100000"/>
              </a:lnSpc>
              <a:spcBef>
                <a:spcPts val="425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1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SalientNetworks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400" spc="-10" b="1">
                <a:latin typeface="Calibri"/>
                <a:cs typeface="Calibri"/>
              </a:rPr>
              <a:t>Computer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Networks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0725" y="5882640"/>
            <a:ext cx="13912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25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Wikipedia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83693" y="5972280"/>
            <a:ext cx="2265045" cy="5937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35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Pinterest</a:t>
            </a:r>
            <a:endParaRPr sz="11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2400" spc="-10" b="1">
                <a:latin typeface="Calibri"/>
                <a:cs typeface="Calibri"/>
              </a:rPr>
              <a:t>Particle</a:t>
            </a:r>
            <a:r>
              <a:rPr dirty="0" sz="2400" spc="-9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Networks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5129" y="1562925"/>
            <a:ext cx="2202667" cy="17164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56152" y="4175224"/>
            <a:ext cx="2707990" cy="15272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948211" y="5890873"/>
            <a:ext cx="3000375" cy="67818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algn="ctr" marR="87630">
              <a:lnSpc>
                <a:spcPct val="100000"/>
              </a:lnSpc>
              <a:spcBef>
                <a:spcPts val="395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2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visitlondon.com</a:t>
            </a:r>
            <a:endParaRPr sz="11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dirty="0" sz="2400" spc="-10" b="1">
                <a:latin typeface="Calibri"/>
                <a:cs typeface="Calibri"/>
              </a:rPr>
              <a:t>Underground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Networks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14210" y="1250816"/>
            <a:ext cx="2743200" cy="183245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6860" y="4082111"/>
            <a:ext cx="2210489" cy="17193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45241" y="4167682"/>
            <a:ext cx="2743200" cy="154304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694297" y="6710388"/>
            <a:ext cx="178435" cy="1606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r>
              <a:rPr dirty="0" sz="900" spc="-5">
                <a:latin typeface="Arial"/>
                <a:cs typeface="Arial"/>
              </a:rPr>
              <a:t>18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8275320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48387" y="4178236"/>
            <a:ext cx="2390380" cy="16429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2895" y="6113779"/>
            <a:ext cx="23094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Calibri"/>
                <a:cs typeface="Calibri"/>
              </a:rPr>
              <a:t>Citation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Networks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5829" y="3602228"/>
            <a:ext cx="60159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12085" algn="l"/>
              </a:tabLst>
            </a:pPr>
            <a:r>
              <a:rPr dirty="0" sz="2400" spc="-10" b="1">
                <a:latin typeface="Calibri"/>
                <a:cs typeface="Calibri"/>
              </a:rPr>
              <a:t>Economic</a:t>
            </a:r>
            <a:r>
              <a:rPr dirty="0" sz="2400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Networks	</a:t>
            </a:r>
            <a:r>
              <a:rPr dirty="0" sz="2400" spc="-10" b="1">
                <a:latin typeface="Calibri"/>
                <a:cs typeface="Calibri"/>
              </a:rPr>
              <a:t>Communication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Networks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8325" y="1536025"/>
            <a:ext cx="2743200" cy="18603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68955" y="3376146"/>
            <a:ext cx="2047875" cy="62039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25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4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Medium</a:t>
            </a:r>
            <a:endParaRPr sz="11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dirty="0" sz="2400" spc="-5" b="1">
                <a:latin typeface="Calibri"/>
                <a:cs typeface="Calibri"/>
              </a:rPr>
              <a:t>Social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Networks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05277" y="5838803"/>
            <a:ext cx="2713355" cy="66929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549275">
              <a:lnSpc>
                <a:spcPct val="100000"/>
              </a:lnSpc>
              <a:spcBef>
                <a:spcPts val="37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 </a:t>
            </a:r>
            <a:r>
              <a:rPr dirty="0" sz="1100" u="sng">
                <a:solidFill>
                  <a:srgbClr val="A6A6A6"/>
                </a:solidFill>
                <a:latin typeface="Corbel"/>
                <a:cs typeface="Corbel"/>
              </a:rPr>
              <a:t>The</a:t>
            </a:r>
            <a:r>
              <a:rPr dirty="0" sz="1100" spc="-10" u="sng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Conversation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2400" spc="-15" b="1">
                <a:latin typeface="Calibri"/>
                <a:cs typeface="Calibri"/>
              </a:rPr>
              <a:t>Networks </a:t>
            </a:r>
            <a:r>
              <a:rPr dirty="0" sz="2400" spc="-5" b="1">
                <a:latin typeface="Calibri"/>
                <a:cs typeface="Calibri"/>
              </a:rPr>
              <a:t>of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Neurons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1661" y="4177252"/>
            <a:ext cx="2641850" cy="16453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714568" y="5838803"/>
            <a:ext cx="2144395" cy="66929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Missoula Current</a:t>
            </a:r>
            <a:r>
              <a:rPr dirty="0" sz="1100" spc="10" u="sng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News</a:t>
            </a:r>
            <a:endParaRPr sz="1100">
              <a:latin typeface="Corbel"/>
              <a:cs typeface="Corbel"/>
            </a:endParaRPr>
          </a:p>
          <a:p>
            <a:pPr marL="447040">
              <a:lnSpc>
                <a:spcPct val="100000"/>
              </a:lnSpc>
              <a:spcBef>
                <a:spcPts val="590"/>
              </a:spcBef>
            </a:pPr>
            <a:r>
              <a:rPr dirty="0" sz="2400" spc="-10" b="1">
                <a:latin typeface="Calibri"/>
                <a:cs typeface="Calibri"/>
              </a:rPr>
              <a:t>Internet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80577" y="1554667"/>
            <a:ext cx="2382845" cy="182302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883483" y="3374135"/>
            <a:ext cx="12623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25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Science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55059" y="3395472"/>
            <a:ext cx="17589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 </a:t>
            </a:r>
            <a:r>
              <a:rPr dirty="0" sz="1100" u="sng">
                <a:solidFill>
                  <a:srgbClr val="A6A6A6"/>
                </a:solidFill>
                <a:latin typeface="Corbel"/>
                <a:cs typeface="Corbel"/>
              </a:rPr>
              <a:t>Lumen</a:t>
            </a:r>
            <a:r>
              <a:rPr dirty="0" sz="1100" spc="-45" u="sng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Learning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62065" y="1402635"/>
            <a:ext cx="2686894" cy="19806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1612" y="4088903"/>
            <a:ext cx="2180145" cy="20134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>
                <a:solidFill>
                  <a:srgbClr val="898989"/>
                </a:solidFill>
              </a:rPr>
              <a:t>Jure Leskovec, Stanford CS224W: Machine Learning with</a:t>
            </a:r>
            <a:r>
              <a:rPr dirty="0" spc="5">
                <a:solidFill>
                  <a:srgbClr val="898989"/>
                </a:solidFill>
              </a:rPr>
              <a:t> </a:t>
            </a:r>
            <a:r>
              <a:rPr dirty="0" spc="-5">
                <a:solidFill>
                  <a:srgbClr val="898989"/>
                </a:solidFill>
              </a:rPr>
              <a:t>Graphs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694297" y="6710388"/>
            <a:ext cx="165735" cy="1606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4925">
              <a:lnSpc>
                <a:spcPts val="1055"/>
              </a:lnSpc>
            </a:pPr>
            <a:r>
              <a:rPr dirty="0" sz="900">
                <a:solidFill>
                  <a:srgbClr val="898989"/>
                </a:solidFill>
                <a:latin typeface="Corbel"/>
                <a:cs typeface="Corbel"/>
              </a:rPr>
              <a:t>1</a:t>
            </a:r>
            <a:r>
              <a:rPr dirty="0" sz="900">
                <a:solidFill>
                  <a:srgbClr val="898989"/>
                </a:solidFill>
                <a:latin typeface="Corbel"/>
                <a:cs typeface="Corbel"/>
              </a:rPr>
              <a:t>0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826922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8650" y="1618634"/>
            <a:ext cx="3142405" cy="13379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25546" y="3115055"/>
            <a:ext cx="2393315" cy="570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 </a:t>
            </a:r>
            <a:r>
              <a:rPr dirty="0" sz="1100" spc="-10" u="sng">
                <a:solidFill>
                  <a:srgbClr val="A6A6A6"/>
                </a:solidFill>
                <a:latin typeface="Corbel"/>
                <a:cs typeface="Corbel"/>
              </a:rPr>
              <a:t>Maximilian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Nickel </a:t>
            </a:r>
            <a:r>
              <a:rPr dirty="0" sz="1100" u="sng">
                <a:solidFill>
                  <a:srgbClr val="A6A6A6"/>
                </a:solidFill>
                <a:latin typeface="Corbel"/>
                <a:cs typeface="Corbel"/>
              </a:rPr>
              <a:t>et</a:t>
            </a:r>
            <a:r>
              <a:rPr dirty="0" sz="1100" spc="25" u="sng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al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00" spc="-10" b="1">
                <a:latin typeface="Calibri"/>
                <a:cs typeface="Calibri"/>
              </a:rPr>
              <a:t>Knowledge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Graphs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12508" y="4215965"/>
            <a:ext cx="2416628" cy="15003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279496" y="6025388"/>
            <a:ext cx="1337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alibri"/>
                <a:cs typeface="Calibri"/>
              </a:rPr>
              <a:t>3D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Shapes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16764" y="5748528"/>
            <a:ext cx="13912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25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Wikipedia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4133" y="3828483"/>
            <a:ext cx="2281496" cy="18924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86687" y="5712438"/>
            <a:ext cx="1670685" cy="673735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1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ResearchGate</a:t>
            </a:r>
            <a:endParaRPr sz="1100">
              <a:latin typeface="Corbel"/>
              <a:cs typeface="Corbel"/>
            </a:endParaRPr>
          </a:p>
          <a:p>
            <a:pPr marL="52069">
              <a:lnSpc>
                <a:spcPct val="100000"/>
              </a:lnSpc>
              <a:spcBef>
                <a:spcPts val="620"/>
              </a:spcBef>
            </a:pPr>
            <a:r>
              <a:rPr dirty="0" sz="2400" spc="-5" b="1">
                <a:latin typeface="Calibri"/>
                <a:cs typeface="Calibri"/>
              </a:rPr>
              <a:t>Code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Graphs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00400" y="4108832"/>
            <a:ext cx="3137336" cy="110651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101781" y="6025388"/>
            <a:ext cx="1324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alibri"/>
                <a:cs typeface="Calibri"/>
              </a:rPr>
              <a:t>Molecules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97445" y="5748528"/>
            <a:ext cx="11379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5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MDPI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29167" y="1335464"/>
            <a:ext cx="1504481" cy="15970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957759" y="3080363"/>
            <a:ext cx="1827530" cy="66929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math.hws.edu</a:t>
            </a:r>
            <a:endParaRPr sz="1100">
              <a:latin typeface="Corbel"/>
              <a:cs typeface="Corbel"/>
            </a:endParaRPr>
          </a:p>
          <a:p>
            <a:pPr marL="108585">
              <a:lnSpc>
                <a:spcPct val="100000"/>
              </a:lnSpc>
              <a:spcBef>
                <a:spcPts val="590"/>
              </a:spcBef>
            </a:pPr>
            <a:r>
              <a:rPr dirty="0" sz="2400" spc="-5" b="1">
                <a:latin typeface="Calibri"/>
                <a:cs typeface="Calibri"/>
              </a:rPr>
              <a:t>Scene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Graphs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94537" y="1499613"/>
            <a:ext cx="2743200" cy="15840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806904" y="3080363"/>
            <a:ext cx="2685415" cy="66929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415290">
              <a:lnSpc>
                <a:spcPct val="100000"/>
              </a:lnSpc>
              <a:spcBef>
                <a:spcPts val="37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ese.wustl.edu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2400" spc="-10" b="1">
                <a:latin typeface="Calibri"/>
                <a:cs typeface="Calibri"/>
              </a:rPr>
              <a:t>Regulatory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Networks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>
                <a:solidFill>
                  <a:srgbClr val="898989"/>
                </a:solidFill>
              </a:rPr>
              <a:t>Jure Leskovec, Stanford CS224W: Machine Learning with</a:t>
            </a:r>
            <a:r>
              <a:rPr dirty="0" spc="5">
                <a:solidFill>
                  <a:srgbClr val="898989"/>
                </a:solidFill>
              </a:rPr>
              <a:t> </a:t>
            </a:r>
            <a:r>
              <a:rPr dirty="0" spc="-5">
                <a:solidFill>
                  <a:srgbClr val="898989"/>
                </a:solidFill>
              </a:rPr>
              <a:t>Graphs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694297" y="6710388"/>
            <a:ext cx="165735" cy="1606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4925">
              <a:lnSpc>
                <a:spcPts val="1055"/>
              </a:lnSpc>
            </a:pPr>
            <a:r>
              <a:rPr dirty="0" sz="900">
                <a:solidFill>
                  <a:srgbClr val="898989"/>
                </a:solidFill>
                <a:latin typeface="Corbel"/>
                <a:cs typeface="Corbel"/>
              </a:rPr>
              <a:t>2</a:t>
            </a:r>
            <a:r>
              <a:rPr dirty="0" sz="900">
                <a:solidFill>
                  <a:srgbClr val="898989"/>
                </a:solidFill>
                <a:latin typeface="Corbel"/>
                <a:cs typeface="Corbel"/>
              </a:rPr>
              <a:t>0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1375"/>
            <a:ext cx="746455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4447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00"/>
                </a:solidFill>
                <a:latin typeface="Calibri"/>
                <a:cs typeface="Calibri"/>
              </a:rPr>
              <a:t>Networks </a:t>
            </a:r>
            <a:r>
              <a:rPr dirty="0" sz="3200" spc="-5" b="1">
                <a:solidFill>
                  <a:srgbClr val="000000"/>
                </a:solidFill>
                <a:latin typeface="Calibri"/>
                <a:cs typeface="Calibri"/>
              </a:rPr>
              <a:t>(also known as </a:t>
            </a:r>
            <a:r>
              <a:rPr dirty="0" sz="3200" spc="-20" b="1">
                <a:solidFill>
                  <a:srgbClr val="000000"/>
                </a:solidFill>
                <a:latin typeface="Calibri"/>
                <a:cs typeface="Calibri"/>
              </a:rPr>
              <a:t>Natural</a:t>
            </a:r>
            <a:r>
              <a:rPr dirty="0" sz="32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0000"/>
                </a:solidFill>
                <a:latin typeface="Calibri"/>
                <a:cs typeface="Calibri"/>
              </a:rPr>
              <a:t>Graphs):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>
                <a:solidFill>
                  <a:srgbClr val="898989"/>
                </a:solidFill>
              </a:rPr>
              <a:t>Jure Leskovec, Stanford CS224W: Machine Learning with</a:t>
            </a:r>
            <a:r>
              <a:rPr dirty="0" spc="5">
                <a:solidFill>
                  <a:srgbClr val="898989"/>
                </a:solidFill>
              </a:rPr>
              <a:t> </a:t>
            </a:r>
            <a:r>
              <a:rPr dirty="0" spc="-5">
                <a:solidFill>
                  <a:srgbClr val="898989"/>
                </a:solidFill>
              </a:rPr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950"/>
              </a:lnSpc>
            </a:pPr>
            <a:r>
              <a:rPr dirty="0"/>
              <a:t>21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825921"/>
            <a:ext cx="8091805" cy="420687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4"/>
              </a:spcBef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60B5CC"/>
                </a:solidFill>
                <a:latin typeface="Calibri"/>
                <a:cs typeface="Calibri"/>
              </a:rPr>
              <a:t>Social</a:t>
            </a:r>
            <a:r>
              <a:rPr dirty="0" sz="2800" spc="-8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60B5CC"/>
                </a:solidFill>
                <a:latin typeface="Calibri"/>
                <a:cs typeface="Calibri"/>
              </a:rPr>
              <a:t>networks:</a:t>
            </a:r>
            <a:endParaRPr sz="28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 spc="-5" b="1">
                <a:solidFill>
                  <a:srgbClr val="60B5CC"/>
                </a:solidFill>
                <a:latin typeface="Calibri"/>
                <a:cs typeface="Calibri"/>
              </a:rPr>
              <a:t>Society </a:t>
            </a:r>
            <a:r>
              <a:rPr dirty="0" sz="2400" spc="-5">
                <a:latin typeface="Calibri"/>
                <a:cs typeface="Calibri"/>
              </a:rPr>
              <a:t>is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0">
                <a:latin typeface="Calibri"/>
                <a:cs typeface="Calibri"/>
              </a:rPr>
              <a:t>collection </a:t>
            </a:r>
            <a:r>
              <a:rPr dirty="0" sz="2400" spc="-5">
                <a:latin typeface="Calibri"/>
                <a:cs typeface="Calibri"/>
              </a:rPr>
              <a:t>of 7+ billion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individuals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60B5CC"/>
                </a:solidFill>
                <a:latin typeface="Calibri"/>
                <a:cs typeface="Calibri"/>
              </a:rPr>
              <a:t>Communication </a:t>
            </a:r>
            <a:r>
              <a:rPr dirty="0" sz="2800" spc="-5" b="1">
                <a:solidFill>
                  <a:srgbClr val="60B5CC"/>
                </a:solidFill>
                <a:latin typeface="Calibri"/>
                <a:cs typeface="Calibri"/>
              </a:rPr>
              <a:t>and</a:t>
            </a:r>
            <a:r>
              <a:rPr dirty="0" sz="2800" spc="-10" b="1">
                <a:solidFill>
                  <a:srgbClr val="60B5CC"/>
                </a:solidFill>
                <a:latin typeface="Calibri"/>
                <a:cs typeface="Calibri"/>
              </a:rPr>
              <a:t> transactions:</a:t>
            </a:r>
            <a:endParaRPr sz="28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640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 spc="-10">
                <a:latin typeface="Calibri"/>
                <a:cs typeface="Calibri"/>
              </a:rPr>
              <a:t>Electronic </a:t>
            </a:r>
            <a:r>
              <a:rPr dirty="0" sz="2400" spc="-5">
                <a:latin typeface="Calibri"/>
                <a:cs typeface="Calibri"/>
              </a:rPr>
              <a:t>devices, phone </a:t>
            </a:r>
            <a:r>
              <a:rPr dirty="0" sz="2400" spc="-10">
                <a:latin typeface="Calibri"/>
                <a:cs typeface="Calibri"/>
              </a:rPr>
              <a:t>calls, </a:t>
            </a:r>
            <a:r>
              <a:rPr dirty="0" sz="2400" spc="-5">
                <a:latin typeface="Calibri"/>
                <a:cs typeface="Calibri"/>
              </a:rPr>
              <a:t>financial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transactions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30"/>
              </a:spcBef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60B5CC"/>
                </a:solidFill>
                <a:latin typeface="Calibri"/>
                <a:cs typeface="Calibri"/>
              </a:rPr>
              <a:t>Biomedicine:</a:t>
            </a:r>
            <a:endParaRPr sz="28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 spc="-15">
                <a:latin typeface="Calibri"/>
                <a:cs typeface="Calibri"/>
              </a:rPr>
              <a:t>Interactions </a:t>
            </a:r>
            <a:r>
              <a:rPr dirty="0" sz="2400" spc="-10">
                <a:latin typeface="Calibri"/>
                <a:cs typeface="Calibri"/>
              </a:rPr>
              <a:t>between </a:t>
            </a:r>
            <a:r>
              <a:rPr dirty="0" sz="2400" spc="-10" b="1">
                <a:solidFill>
                  <a:srgbClr val="60B5CC"/>
                </a:solidFill>
                <a:latin typeface="Calibri"/>
                <a:cs typeface="Calibri"/>
              </a:rPr>
              <a:t>genes/proteins </a:t>
            </a:r>
            <a:r>
              <a:rPr dirty="0" sz="2400" spc="-15">
                <a:latin typeface="Calibri"/>
                <a:cs typeface="Calibri"/>
              </a:rPr>
              <a:t>regulate</a:t>
            </a:r>
            <a:r>
              <a:rPr dirty="0" sz="2400" spc="8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life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solidFill>
                  <a:srgbClr val="60B5CC"/>
                </a:solidFill>
                <a:latin typeface="Calibri"/>
                <a:cs typeface="Calibri"/>
              </a:rPr>
              <a:t>Brain</a:t>
            </a:r>
            <a:r>
              <a:rPr dirty="0" sz="2800" spc="-7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60B5CC"/>
                </a:solidFill>
                <a:latin typeface="Calibri"/>
                <a:cs typeface="Calibri"/>
              </a:rPr>
              <a:t>connections:</a:t>
            </a:r>
            <a:endParaRPr sz="2800">
              <a:latin typeface="Calibri"/>
              <a:cs typeface="Calibri"/>
            </a:endParaRPr>
          </a:p>
          <a:p>
            <a:pPr lvl="1" marL="551815" marR="5080" indent="-228600">
              <a:lnSpc>
                <a:spcPts val="2810"/>
              </a:lnSpc>
              <a:spcBef>
                <a:spcPts val="790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 spc="-5">
                <a:latin typeface="Calibri"/>
                <a:cs typeface="Calibri"/>
              </a:rPr>
              <a:t>Our </a:t>
            </a:r>
            <a:r>
              <a:rPr dirty="0" sz="2400" spc="-10" b="1">
                <a:solidFill>
                  <a:srgbClr val="60B5CC"/>
                </a:solidFill>
                <a:latin typeface="Calibri"/>
                <a:cs typeface="Calibri"/>
              </a:rPr>
              <a:t>thoughts </a:t>
            </a:r>
            <a:r>
              <a:rPr dirty="0" sz="2400" spc="-15">
                <a:latin typeface="Calibri"/>
                <a:cs typeface="Calibri"/>
              </a:rPr>
              <a:t>are </a:t>
            </a:r>
            <a:r>
              <a:rPr dirty="0" sz="2400" spc="-5">
                <a:latin typeface="Calibri"/>
                <a:cs typeface="Calibri"/>
              </a:rPr>
              <a:t>hidden in the connections </a:t>
            </a:r>
            <a:r>
              <a:rPr dirty="0" sz="2400" spc="-10">
                <a:latin typeface="Calibri"/>
                <a:cs typeface="Calibri"/>
              </a:rPr>
              <a:t>between </a:t>
            </a:r>
            <a:r>
              <a:rPr dirty="0" sz="2400" spc="-60">
                <a:latin typeface="Calibri"/>
                <a:cs typeface="Calibri"/>
              </a:rPr>
              <a:t>billions  </a:t>
            </a:r>
            <a:r>
              <a:rPr dirty="0" sz="2400" spc="-5">
                <a:latin typeface="Calibri"/>
                <a:cs typeface="Calibri"/>
              </a:rPr>
              <a:t>of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neurons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1375"/>
            <a:ext cx="746455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2387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000000"/>
                </a:solidFill>
                <a:latin typeface="Calibri"/>
                <a:cs typeface="Calibri"/>
              </a:rPr>
              <a:t>Graphs </a:t>
            </a:r>
            <a:r>
              <a:rPr dirty="0" sz="3200" spc="-5" b="1">
                <a:solidFill>
                  <a:srgbClr val="000000"/>
                </a:solidFill>
                <a:latin typeface="Calibri"/>
                <a:cs typeface="Calibri"/>
              </a:rPr>
              <a:t>(as </a:t>
            </a:r>
            <a:r>
              <a:rPr dirty="0" sz="3200" b="1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dirty="0" sz="3200" spc="-3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0000"/>
                </a:solidFill>
                <a:latin typeface="Calibri"/>
                <a:cs typeface="Calibri"/>
              </a:rPr>
              <a:t>representation):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>
                <a:solidFill>
                  <a:srgbClr val="898989"/>
                </a:solidFill>
              </a:rPr>
              <a:t>Jure Leskovec, Stanford CS224W: Machine Learning with</a:t>
            </a:r>
            <a:r>
              <a:rPr dirty="0" spc="5">
                <a:solidFill>
                  <a:srgbClr val="898989"/>
                </a:solidFill>
              </a:rPr>
              <a:t> </a:t>
            </a:r>
            <a:r>
              <a:rPr dirty="0" spc="-5">
                <a:solidFill>
                  <a:srgbClr val="898989"/>
                </a:solidFill>
              </a:rPr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950"/>
              </a:lnSpc>
            </a:pPr>
            <a:r>
              <a:rPr dirty="0"/>
              <a:t>22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826259"/>
            <a:ext cx="7663180" cy="406654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Information/knowledge </a:t>
            </a:r>
            <a:r>
              <a:rPr dirty="0" sz="2800" spc="-20">
                <a:latin typeface="Calibri"/>
                <a:cs typeface="Calibri"/>
              </a:rPr>
              <a:t>are </a:t>
            </a:r>
            <a:r>
              <a:rPr dirty="0" sz="2800" spc="-25">
                <a:latin typeface="Calibri"/>
                <a:cs typeface="Calibri"/>
              </a:rPr>
              <a:t>organized </a:t>
            </a:r>
            <a:r>
              <a:rPr dirty="0" sz="2800" spc="-5">
                <a:latin typeface="Calibri"/>
                <a:cs typeface="Calibri"/>
              </a:rPr>
              <a:t>and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linked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Software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15">
                <a:latin typeface="Calibri"/>
                <a:cs typeface="Calibri"/>
              </a:rPr>
              <a:t>represented </a:t>
            </a:r>
            <a:r>
              <a:rPr dirty="0" sz="2800" spc="-5">
                <a:latin typeface="Calibri"/>
                <a:cs typeface="Calibri"/>
              </a:rPr>
              <a:t>as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Similarity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networks: </a:t>
            </a:r>
            <a:r>
              <a:rPr dirty="0" sz="2800" spc="-5">
                <a:latin typeface="Calibri"/>
                <a:cs typeface="Calibri"/>
              </a:rPr>
              <a:t>Connect similar </a:t>
            </a:r>
            <a:r>
              <a:rPr dirty="0" sz="2800" spc="-20">
                <a:latin typeface="Calibri"/>
                <a:cs typeface="Calibri"/>
              </a:rPr>
              <a:t>data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points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ct val="101400"/>
              </a:lnSpc>
              <a:spcBef>
                <a:spcPts val="59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Relational structures: </a:t>
            </a:r>
            <a:r>
              <a:rPr dirty="0" sz="2800" spc="-5">
                <a:latin typeface="Calibri"/>
                <a:cs typeface="Calibri"/>
              </a:rPr>
              <a:t>Molecules, Scene </a:t>
            </a:r>
            <a:r>
              <a:rPr dirty="0" sz="2800" spc="-15">
                <a:latin typeface="Calibri"/>
                <a:cs typeface="Calibri"/>
              </a:rPr>
              <a:t>graphs, </a:t>
            </a:r>
            <a:r>
              <a:rPr dirty="0" sz="2800" spc="-285">
                <a:latin typeface="Calibri"/>
                <a:cs typeface="Calibri"/>
              </a:rPr>
              <a:t>3D  </a:t>
            </a:r>
            <a:r>
              <a:rPr dirty="0" sz="2800" spc="-5">
                <a:latin typeface="Calibri"/>
                <a:cs typeface="Calibri"/>
              </a:rPr>
              <a:t>shapes, </a:t>
            </a:r>
            <a:r>
              <a:rPr dirty="0" sz="2800" spc="-10">
                <a:latin typeface="Calibri"/>
                <a:cs typeface="Calibri"/>
              </a:rPr>
              <a:t>Particle-based </a:t>
            </a:r>
            <a:r>
              <a:rPr dirty="0" sz="2800" spc="-15">
                <a:latin typeface="Calibri"/>
                <a:cs typeface="Calibri"/>
              </a:rPr>
              <a:t>physics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simulations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724535" marR="821055" indent="-636270">
              <a:lnSpc>
                <a:spcPct val="100000"/>
              </a:lnSpc>
            </a:pPr>
            <a:r>
              <a:rPr dirty="0" sz="3600" spc="-10" b="1">
                <a:solidFill>
                  <a:srgbClr val="0000FF"/>
                </a:solidFill>
                <a:latin typeface="Calibri"/>
                <a:cs typeface="Calibri"/>
              </a:rPr>
              <a:t>Sometimes </a:t>
            </a:r>
            <a:r>
              <a:rPr dirty="0" sz="3600" b="1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dirty="0" sz="3600" spc="-5" b="1">
                <a:solidFill>
                  <a:srgbClr val="0000FF"/>
                </a:solidFill>
                <a:latin typeface="Calibri"/>
                <a:cs typeface="Calibri"/>
              </a:rPr>
              <a:t>distinction </a:t>
            </a:r>
            <a:r>
              <a:rPr dirty="0" sz="3600" spc="-10" b="1">
                <a:solidFill>
                  <a:srgbClr val="0000FF"/>
                </a:solidFill>
                <a:latin typeface="Calibri"/>
                <a:cs typeface="Calibri"/>
              </a:rPr>
              <a:t>between  </a:t>
            </a:r>
            <a:r>
              <a:rPr dirty="0" sz="3600" spc="-15" b="1">
                <a:solidFill>
                  <a:srgbClr val="0000FF"/>
                </a:solidFill>
                <a:latin typeface="Calibri"/>
                <a:cs typeface="Calibri"/>
              </a:rPr>
              <a:t>networks </a:t>
            </a:r>
            <a:r>
              <a:rPr dirty="0" sz="3600" b="1">
                <a:solidFill>
                  <a:srgbClr val="0000FF"/>
                </a:solidFill>
                <a:latin typeface="Calibri"/>
                <a:cs typeface="Calibri"/>
              </a:rPr>
              <a:t>&amp; </a:t>
            </a:r>
            <a:r>
              <a:rPr dirty="0" sz="3600" spc="-15" b="1">
                <a:solidFill>
                  <a:srgbClr val="0000FF"/>
                </a:solidFill>
                <a:latin typeface="Calibri"/>
                <a:cs typeface="Calibri"/>
              </a:rPr>
              <a:t>graphs </a:t>
            </a:r>
            <a:r>
              <a:rPr dirty="0" sz="3600" b="1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dirty="0" sz="3600" spc="-1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0000FF"/>
                </a:solidFill>
                <a:latin typeface="Calibri"/>
                <a:cs typeface="Calibri"/>
              </a:rPr>
              <a:t>blurred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69645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25546" y="3294379"/>
            <a:ext cx="7429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 b="1">
                <a:latin typeface="Calibri"/>
                <a:cs typeface="Calibri"/>
              </a:rPr>
              <a:t>K</a:t>
            </a:r>
            <a:r>
              <a:rPr dirty="0" sz="2400" b="1">
                <a:latin typeface="Calibri"/>
                <a:cs typeface="Calibri"/>
              </a:rPr>
              <a:t>n</a:t>
            </a:r>
            <a:r>
              <a:rPr dirty="0" sz="2400" spc="-10" b="1">
                <a:latin typeface="Calibri"/>
                <a:cs typeface="Calibri"/>
              </a:rPr>
              <a:t>o</a:t>
            </a:r>
            <a:r>
              <a:rPr dirty="0" sz="2400" b="1">
                <a:latin typeface="Calibri"/>
                <a:cs typeface="Calibri"/>
              </a:rPr>
              <a:t>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8650" y="1618634"/>
            <a:ext cx="3142405" cy="13379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6687" y="3115055"/>
            <a:ext cx="6705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</a:t>
            </a:r>
            <a:r>
              <a:rPr dirty="0" sz="1100" spc="-65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cred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12508" y="4215965"/>
            <a:ext cx="2416628" cy="15003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279496" y="6025388"/>
            <a:ext cx="1337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alibri"/>
                <a:cs typeface="Calibri"/>
              </a:rPr>
              <a:t>3D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Shapes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16764" y="5748528"/>
            <a:ext cx="13912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25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Wikipedia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4133" y="3828483"/>
            <a:ext cx="2281496" cy="18924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86687" y="5712438"/>
            <a:ext cx="1670685" cy="673735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1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ResearchGate</a:t>
            </a:r>
            <a:endParaRPr sz="1100">
              <a:latin typeface="Corbel"/>
              <a:cs typeface="Corbel"/>
            </a:endParaRPr>
          </a:p>
          <a:p>
            <a:pPr marL="52069">
              <a:lnSpc>
                <a:spcPct val="100000"/>
              </a:lnSpc>
              <a:spcBef>
                <a:spcPts val="620"/>
              </a:spcBef>
            </a:pPr>
            <a:r>
              <a:rPr dirty="0" sz="2400" spc="-5" b="1">
                <a:latin typeface="Calibri"/>
                <a:cs typeface="Calibri"/>
              </a:rPr>
              <a:t>Code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Graphs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00400" y="4108832"/>
            <a:ext cx="3137336" cy="110651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01781" y="6025388"/>
            <a:ext cx="1324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alibri"/>
                <a:cs typeface="Calibri"/>
              </a:rPr>
              <a:t>Molecules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97445" y="5748528"/>
            <a:ext cx="11379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5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MDPI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029167" y="1335464"/>
            <a:ext cx="1504481" cy="15970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474573" y="3358388"/>
            <a:ext cx="3105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alibri"/>
                <a:cs typeface="Calibri"/>
              </a:rPr>
              <a:t>h</a:t>
            </a:r>
            <a:r>
              <a:rPr dirty="0" sz="2400" b="1"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94537" y="1499613"/>
            <a:ext cx="2743200" cy="15840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443824" y="3163567"/>
            <a:ext cx="6433185" cy="594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40"/>
              </a:lnSpc>
              <a:tabLst>
                <a:tab pos="2778760" algn="l"/>
                <a:tab pos="5526405" algn="l"/>
              </a:tabLst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it: </a:t>
            </a:r>
            <a:r>
              <a:rPr dirty="0" sz="1100" spc="-10">
                <a:solidFill>
                  <a:srgbClr val="A6A6A6"/>
                </a:solidFill>
                <a:latin typeface="Corbel"/>
                <a:cs typeface="Corbel"/>
              </a:rPr>
              <a:t>Maximilian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Nickel</a:t>
            </a:r>
            <a:r>
              <a:rPr dirty="0" sz="1100" spc="3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A6A6A6"/>
                </a:solidFill>
                <a:latin typeface="Corbel"/>
                <a:cs typeface="Corbel"/>
              </a:rPr>
              <a:t>et</a:t>
            </a:r>
            <a:r>
              <a:rPr dirty="0" sz="1100" spc="1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al	Image</a:t>
            </a:r>
            <a:r>
              <a:rPr dirty="0" sz="1100" spc="15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credit:</a:t>
            </a:r>
            <a:r>
              <a:rPr dirty="0" sz="1100" spc="1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ese.wustl.edu	Image credit:</a:t>
            </a:r>
            <a:r>
              <a:rPr dirty="0" sz="1100" spc="-55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A6A6A6"/>
                </a:solidFill>
                <a:latin typeface="Corbel"/>
                <a:cs typeface="Corbel"/>
              </a:rPr>
              <a:t>m</a:t>
            </a:r>
            <a:endParaRPr sz="1100">
              <a:latin typeface="Corbel"/>
              <a:cs typeface="Corbel"/>
            </a:endParaRPr>
          </a:p>
          <a:p>
            <a:pPr marL="11430">
              <a:lnSpc>
                <a:spcPct val="100000"/>
              </a:lnSpc>
              <a:spcBef>
                <a:spcPts val="595"/>
              </a:spcBef>
              <a:tabLst>
                <a:tab pos="2375535" algn="l"/>
                <a:tab pos="5622925" algn="l"/>
              </a:tabLst>
            </a:pPr>
            <a:r>
              <a:rPr dirty="0" baseline="11574" sz="3600" spc="-15" b="1">
                <a:latin typeface="Calibri"/>
                <a:cs typeface="Calibri"/>
              </a:rPr>
              <a:t>ledge</a:t>
            </a:r>
            <a:r>
              <a:rPr dirty="0" baseline="11574" sz="3600" b="1">
                <a:latin typeface="Calibri"/>
                <a:cs typeface="Calibri"/>
              </a:rPr>
              <a:t> </a:t>
            </a:r>
            <a:r>
              <a:rPr dirty="0" baseline="11574" sz="3600" spc="-22" b="1">
                <a:latin typeface="Calibri"/>
                <a:cs typeface="Calibri"/>
              </a:rPr>
              <a:t>Graphs	</a:t>
            </a:r>
            <a:r>
              <a:rPr dirty="0" sz="2400" spc="-10" b="1">
                <a:latin typeface="Calibri"/>
                <a:cs typeface="Calibri"/>
              </a:rPr>
              <a:t>Regulatory</a:t>
            </a:r>
            <a:r>
              <a:rPr dirty="0" sz="2400" spc="0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Networks	</a:t>
            </a:r>
            <a:r>
              <a:rPr dirty="0" sz="2400" spc="-5" b="1">
                <a:latin typeface="Calibri"/>
                <a:cs typeface="Calibri"/>
              </a:rPr>
              <a:t>Scene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>
                <a:solidFill>
                  <a:srgbClr val="898989"/>
                </a:solidFill>
              </a:rPr>
              <a:t>Jure Leskovec, Stanford CS224W: Machine Learning with</a:t>
            </a:r>
            <a:r>
              <a:rPr dirty="0" spc="5">
                <a:solidFill>
                  <a:srgbClr val="898989"/>
                </a:solidFill>
              </a:rPr>
              <a:t> </a:t>
            </a:r>
            <a:r>
              <a:rPr dirty="0" spc="-5">
                <a:solidFill>
                  <a:srgbClr val="898989"/>
                </a:solidFill>
              </a:rPr>
              <a:t>Graphs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950"/>
              </a:lnSpc>
            </a:pPr>
            <a:r>
              <a:rPr dirty="0"/>
              <a:t>23</a:t>
            </a: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423800" y="2490599"/>
          <a:ext cx="7172325" cy="2771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75400"/>
                <a:gridCol w="772859"/>
              </a:tblGrid>
              <a:tr h="71120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dirty="0" sz="3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Main</a:t>
                      </a:r>
                      <a:r>
                        <a:rPr dirty="0" sz="3200" spc="-7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question:</a:t>
                      </a:r>
                      <a:endParaRPr sz="3200">
                        <a:latin typeface="Calibri"/>
                        <a:cs typeface="Calibri"/>
                      </a:endParaRPr>
                    </a:p>
                    <a:p>
                      <a:pPr algn="ctr" marL="718820" marR="711835">
                        <a:lnSpc>
                          <a:spcPct val="100299"/>
                        </a:lnSpc>
                        <a:spcBef>
                          <a:spcPts val="2145"/>
                        </a:spcBef>
                      </a:pPr>
                      <a:r>
                        <a:rPr dirty="0" sz="32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How </a:t>
                      </a:r>
                      <a:r>
                        <a:rPr dirty="0" sz="3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 </a:t>
                      </a:r>
                      <a:r>
                        <a:rPr dirty="0" sz="32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 </a:t>
                      </a:r>
                      <a:r>
                        <a:rPr dirty="0" sz="32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take </a:t>
                      </a:r>
                      <a:r>
                        <a:rPr dirty="0" sz="32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advantage </a:t>
                      </a:r>
                      <a:r>
                        <a:rPr dirty="0" sz="32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 </a:t>
                      </a:r>
                      <a:r>
                        <a:rPr dirty="0" sz="3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relational </a:t>
                      </a:r>
                      <a:r>
                        <a:rPr dirty="0" sz="32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structure </a:t>
                      </a:r>
                      <a:r>
                        <a:rPr dirty="0" sz="32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32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better  </a:t>
                      </a:r>
                      <a:r>
                        <a:rPr dirty="0" sz="3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prediction?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7485">
                    <a:lnL w="53975">
                      <a:solidFill>
                        <a:srgbClr val="448495"/>
                      </a:solidFill>
                      <a:prstDash val="solid"/>
                    </a:lnL>
                    <a:lnR w="53975">
                      <a:solidFill>
                        <a:srgbClr val="448495"/>
                      </a:solidFill>
                      <a:prstDash val="solid"/>
                    </a:lnR>
                    <a:lnT w="53975">
                      <a:solidFill>
                        <a:srgbClr val="448495"/>
                      </a:solidFill>
                      <a:prstDash val="solid"/>
                    </a:lnT>
                    <a:lnB w="53975">
                      <a:solidFill>
                        <a:srgbClr val="448495"/>
                      </a:solidFill>
                      <a:prstDash val="solid"/>
                    </a:lnB>
                    <a:solidFill>
                      <a:srgbClr val="60B5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6670">
                        <a:lnSpc>
                          <a:spcPts val="930"/>
                        </a:lnSpc>
                        <a:spcBef>
                          <a:spcPts val="819"/>
                        </a:spcBef>
                      </a:pPr>
                      <a:r>
                        <a:rPr dirty="0" sz="1100" spc="-5">
                          <a:solidFill>
                            <a:srgbClr val="A6A6A6"/>
                          </a:solidFill>
                          <a:latin typeface="Corbel"/>
                          <a:cs typeface="Corbel"/>
                        </a:rPr>
                        <a:t>a</a:t>
                      </a:r>
                      <a:r>
                        <a:rPr dirty="0" sz="1100" spc="0">
                          <a:solidFill>
                            <a:srgbClr val="A6A6A6"/>
                          </a:solidFill>
                          <a:latin typeface="Corbel"/>
                          <a:cs typeface="Corbel"/>
                        </a:rPr>
                        <a:t>t</a:t>
                      </a:r>
                      <a:r>
                        <a:rPr dirty="0" sz="1100">
                          <a:solidFill>
                            <a:srgbClr val="A6A6A6"/>
                          </a:solidFill>
                          <a:latin typeface="Corbel"/>
                          <a:cs typeface="Corbel"/>
                        </a:rPr>
                        <a:t>h</a:t>
                      </a:r>
                      <a:r>
                        <a:rPr dirty="0" sz="1100" spc="-5">
                          <a:solidFill>
                            <a:srgbClr val="A6A6A6"/>
                          </a:solidFill>
                          <a:latin typeface="Corbel"/>
                          <a:cs typeface="Corbel"/>
                        </a:rPr>
                        <a:t>.</a:t>
                      </a:r>
                      <a:r>
                        <a:rPr dirty="0" sz="1100">
                          <a:solidFill>
                            <a:srgbClr val="A6A6A6"/>
                          </a:solidFill>
                          <a:latin typeface="Corbel"/>
                          <a:cs typeface="Corbel"/>
                        </a:rPr>
                        <a:t>hw</a:t>
                      </a:r>
                      <a:r>
                        <a:rPr dirty="0" sz="1100" spc="0">
                          <a:solidFill>
                            <a:srgbClr val="A6A6A6"/>
                          </a:solidFill>
                          <a:latin typeface="Corbel"/>
                          <a:cs typeface="Corbel"/>
                        </a:rPr>
                        <a:t>s</a:t>
                      </a:r>
                      <a:r>
                        <a:rPr dirty="0" sz="1100" spc="-5">
                          <a:solidFill>
                            <a:srgbClr val="A6A6A6"/>
                          </a:solidFill>
                          <a:latin typeface="Corbel"/>
                          <a:cs typeface="Corbel"/>
                        </a:rPr>
                        <a:t>.</a:t>
                      </a:r>
                      <a:r>
                        <a:rPr dirty="0" sz="1100">
                          <a:solidFill>
                            <a:srgbClr val="A6A6A6"/>
                          </a:solidFill>
                          <a:latin typeface="Corbel"/>
                          <a:cs typeface="Corbel"/>
                        </a:rPr>
                        <a:t>e</a:t>
                      </a:r>
                      <a:r>
                        <a:rPr dirty="0" sz="1100" spc="-5">
                          <a:solidFill>
                            <a:srgbClr val="A6A6A6"/>
                          </a:solidFill>
                          <a:latin typeface="Corbel"/>
                          <a:cs typeface="Corbel"/>
                        </a:rPr>
                        <a:t>d</a:t>
                      </a:r>
                      <a:r>
                        <a:rPr dirty="0" sz="1100">
                          <a:solidFill>
                            <a:srgbClr val="A6A6A6"/>
                          </a:solidFill>
                          <a:latin typeface="Corbel"/>
                          <a:cs typeface="Corbel"/>
                        </a:rPr>
                        <a:t>u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53975">
                      <a:solidFill>
                        <a:srgbClr val="448495"/>
                      </a:solidFill>
                      <a:prstDash val="solid"/>
                    </a:lnL>
                    <a:lnB w="1270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18923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7485">
                    <a:lnL w="53975">
                      <a:solidFill>
                        <a:srgbClr val="448495"/>
                      </a:solidFill>
                      <a:prstDash val="solid"/>
                    </a:lnL>
                    <a:lnR w="53975">
                      <a:solidFill>
                        <a:srgbClr val="448495"/>
                      </a:solidFill>
                      <a:prstDash val="solid"/>
                    </a:lnR>
                    <a:lnT w="53975">
                      <a:solidFill>
                        <a:srgbClr val="448495"/>
                      </a:solidFill>
                      <a:prstDash val="solid"/>
                    </a:lnT>
                    <a:lnB w="53975">
                      <a:solidFill>
                        <a:srgbClr val="448495"/>
                      </a:solidFill>
                      <a:prstDash val="solid"/>
                    </a:lnB>
                    <a:solidFill>
                      <a:srgbClr val="60B5CC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2400" spc="-20" b="1">
                          <a:latin typeface="Calibri"/>
                          <a:cs typeface="Calibri"/>
                        </a:rPr>
                        <a:t>Grap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58419">
                    <a:lnL w="53975">
                      <a:solidFill>
                        <a:srgbClr val="448495"/>
                      </a:solidFill>
                      <a:prstDash val="solid"/>
                    </a:lnL>
                    <a:lnT w="12700">
                      <a:solidFill>
                        <a:srgbClr val="A6A6A6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37946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0221" y="1654555"/>
            <a:ext cx="7705725" cy="325374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algn="ctr" marL="93980" marR="85725" indent="-635">
              <a:lnSpc>
                <a:spcPts val="4300"/>
              </a:lnSpc>
              <a:spcBef>
                <a:spcPts val="259"/>
              </a:spcBef>
            </a:pPr>
            <a:r>
              <a:rPr dirty="0" sz="3600" spc="-15">
                <a:latin typeface="Calibri"/>
                <a:cs typeface="Calibri"/>
              </a:rPr>
              <a:t>Complex </a:t>
            </a:r>
            <a:r>
              <a:rPr dirty="0" sz="3600" spc="-5">
                <a:latin typeface="Calibri"/>
                <a:cs typeface="Calibri"/>
              </a:rPr>
              <a:t>domains </a:t>
            </a:r>
            <a:r>
              <a:rPr dirty="0" sz="3600" spc="-30">
                <a:latin typeface="Calibri"/>
                <a:cs typeface="Calibri"/>
              </a:rPr>
              <a:t>have </a:t>
            </a:r>
            <a:r>
              <a:rPr dirty="0" sz="3600">
                <a:latin typeface="Calibri"/>
                <a:cs typeface="Calibri"/>
              </a:rPr>
              <a:t>a </a:t>
            </a:r>
            <a:r>
              <a:rPr dirty="0" sz="3600" spc="-5">
                <a:latin typeface="Calibri"/>
                <a:cs typeface="Calibri"/>
              </a:rPr>
              <a:t>rich </a:t>
            </a:r>
            <a:r>
              <a:rPr dirty="0" sz="3600" spc="-15">
                <a:latin typeface="Calibri"/>
                <a:cs typeface="Calibri"/>
              </a:rPr>
              <a:t>relational  structure, </a:t>
            </a:r>
            <a:r>
              <a:rPr dirty="0" sz="3600" spc="-5">
                <a:latin typeface="Calibri"/>
                <a:cs typeface="Calibri"/>
              </a:rPr>
              <a:t>which </a:t>
            </a:r>
            <a:r>
              <a:rPr dirty="0" sz="3600" spc="-10">
                <a:latin typeface="Calibri"/>
                <a:cs typeface="Calibri"/>
              </a:rPr>
              <a:t>can </a:t>
            </a:r>
            <a:r>
              <a:rPr dirty="0" sz="3600" spc="-5">
                <a:latin typeface="Calibri"/>
                <a:cs typeface="Calibri"/>
              </a:rPr>
              <a:t>be </a:t>
            </a:r>
            <a:r>
              <a:rPr dirty="0" sz="3600" spc="-20">
                <a:latin typeface="Calibri"/>
                <a:cs typeface="Calibri"/>
              </a:rPr>
              <a:t>represented </a:t>
            </a:r>
            <a:r>
              <a:rPr dirty="0" sz="3600">
                <a:latin typeface="Calibri"/>
                <a:cs typeface="Calibri"/>
              </a:rPr>
              <a:t>as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  </a:t>
            </a:r>
            <a:r>
              <a:rPr dirty="0" sz="3600" spc="-10" b="1">
                <a:latin typeface="Calibri"/>
                <a:cs typeface="Calibri"/>
              </a:rPr>
              <a:t>relational</a:t>
            </a:r>
            <a:r>
              <a:rPr dirty="0" sz="3600" spc="-80" b="1">
                <a:latin typeface="Calibri"/>
                <a:cs typeface="Calibri"/>
              </a:rPr>
              <a:t> </a:t>
            </a:r>
            <a:r>
              <a:rPr dirty="0" sz="3600" spc="-20" b="1">
                <a:latin typeface="Calibri"/>
                <a:cs typeface="Calibri"/>
              </a:rPr>
              <a:t>graph</a:t>
            </a:r>
            <a:endParaRPr sz="3600">
              <a:latin typeface="Calibri"/>
              <a:cs typeface="Calibri"/>
            </a:endParaRPr>
          </a:p>
          <a:p>
            <a:pPr algn="ctr" marL="12700" marR="5080">
              <a:lnSpc>
                <a:spcPts val="4300"/>
              </a:lnSpc>
              <a:spcBef>
                <a:spcPts val="3904"/>
              </a:spcBef>
            </a:pPr>
            <a:r>
              <a:rPr dirty="0" sz="3600" spc="-5" b="1">
                <a:solidFill>
                  <a:srgbClr val="D60093"/>
                </a:solidFill>
                <a:latin typeface="Corbel"/>
                <a:cs typeface="Corbel"/>
              </a:rPr>
              <a:t>By explicitly modeling relationships </a:t>
            </a:r>
            <a:r>
              <a:rPr dirty="0" sz="3600" b="1">
                <a:solidFill>
                  <a:srgbClr val="D60093"/>
                </a:solidFill>
                <a:latin typeface="Corbel"/>
                <a:cs typeface="Corbel"/>
              </a:rPr>
              <a:t>we  </a:t>
            </a:r>
            <a:r>
              <a:rPr dirty="0" sz="3600" spc="-5" b="1">
                <a:solidFill>
                  <a:srgbClr val="D60093"/>
                </a:solidFill>
                <a:latin typeface="Corbel"/>
                <a:cs typeface="Corbel"/>
              </a:rPr>
              <a:t>achieve better</a:t>
            </a:r>
            <a:r>
              <a:rPr dirty="0" sz="3600" spc="-45" b="1">
                <a:solidFill>
                  <a:srgbClr val="D60093"/>
                </a:solidFill>
                <a:latin typeface="Corbel"/>
                <a:cs typeface="Corbel"/>
              </a:rPr>
              <a:t> </a:t>
            </a:r>
            <a:r>
              <a:rPr dirty="0" sz="3600" spc="-5" b="1">
                <a:solidFill>
                  <a:srgbClr val="D60093"/>
                </a:solidFill>
                <a:latin typeface="Corbel"/>
                <a:cs typeface="Corbel"/>
              </a:rPr>
              <a:t>performance!</a:t>
            </a:r>
            <a:endParaRPr sz="3600">
              <a:latin typeface="Corbel"/>
              <a:cs typeface="Corbe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>
                <a:solidFill>
                  <a:srgbClr val="898989"/>
                </a:solidFill>
              </a:rPr>
              <a:t>Jure Leskovec, Stanford CS224W: Machine Learning with</a:t>
            </a:r>
            <a:r>
              <a:rPr dirty="0" spc="5">
                <a:solidFill>
                  <a:srgbClr val="898989"/>
                </a:solidFill>
              </a:rPr>
              <a:t> </a:t>
            </a:r>
            <a:r>
              <a:rPr dirty="0" spc="-5">
                <a:solidFill>
                  <a:srgbClr val="898989"/>
                </a:solidFill>
              </a:rPr>
              <a:t>Graphs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950"/>
              </a:lnSpc>
            </a:pPr>
            <a:r>
              <a:rPr dirty="0"/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4359" y="313943"/>
            <a:ext cx="5818632" cy="50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514601" y="4114800"/>
            <a:ext cx="6522893" cy="152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204548" y="1524000"/>
            <a:ext cx="6253652" cy="2870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08785" y="1871395"/>
            <a:ext cx="2186362" cy="18393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25728" y="3754628"/>
            <a:ext cx="10763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Arial"/>
                <a:cs typeface="Arial"/>
              </a:rPr>
              <a:t>I</a:t>
            </a:r>
            <a:r>
              <a:rPr dirty="0" sz="2400" spc="0" b="1">
                <a:latin typeface="Arial"/>
                <a:cs typeface="Arial"/>
              </a:rPr>
              <a:t>m</a:t>
            </a:r>
            <a:r>
              <a:rPr dirty="0" sz="2400" b="1">
                <a:latin typeface="Arial"/>
                <a:cs typeface="Arial"/>
              </a:rPr>
              <a:t>a</a:t>
            </a:r>
            <a:r>
              <a:rPr dirty="0" sz="2400" spc="-5" b="1">
                <a:latin typeface="Arial"/>
                <a:cs typeface="Arial"/>
              </a:rPr>
              <a:t>g</a:t>
            </a:r>
            <a:r>
              <a:rPr dirty="0" sz="2400" b="1">
                <a:latin typeface="Arial"/>
                <a:cs typeface="Arial"/>
              </a:rPr>
              <a:t>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726" y="4714747"/>
            <a:ext cx="17989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latin typeface="Arial"/>
                <a:cs typeface="Arial"/>
              </a:rPr>
              <a:t>Text/Speech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200" y="5455920"/>
            <a:ext cx="9067800" cy="1332865"/>
          </a:xfrm>
          <a:custGeom>
            <a:avLst/>
            <a:gdLst/>
            <a:ahLst/>
            <a:cxnLst/>
            <a:rect l="l" t="t" r="r" b="b"/>
            <a:pathLst>
              <a:path w="9067800" h="1332865">
                <a:moveTo>
                  <a:pt x="0" y="0"/>
                </a:moveTo>
                <a:lnTo>
                  <a:pt x="9067800" y="0"/>
                </a:lnTo>
                <a:lnTo>
                  <a:pt x="9067800" y="1332298"/>
                </a:lnTo>
                <a:lnTo>
                  <a:pt x="0" y="1332298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71716" y="5444235"/>
            <a:ext cx="8714740" cy="118364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399540" marR="5080" indent="-1387475">
              <a:lnSpc>
                <a:spcPts val="4320"/>
              </a:lnSpc>
              <a:spcBef>
                <a:spcPts val="645"/>
              </a:spcBef>
            </a:pPr>
            <a:r>
              <a:rPr dirty="0" sz="4000" spc="-5">
                <a:solidFill>
                  <a:srgbClr val="FFFFFF"/>
                </a:solidFill>
                <a:latin typeface="Calibri"/>
                <a:cs typeface="Calibri"/>
              </a:rPr>
              <a:t>Modern deep learning </a:t>
            </a:r>
            <a:r>
              <a:rPr dirty="0" sz="4000" spc="-20">
                <a:solidFill>
                  <a:srgbClr val="FFFFFF"/>
                </a:solidFill>
                <a:latin typeface="Calibri"/>
                <a:cs typeface="Calibri"/>
              </a:rPr>
              <a:t>toolbox </a:t>
            </a:r>
            <a:r>
              <a:rPr dirty="0" sz="4000" spc="-5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dirty="0" sz="4000" spc="-10">
                <a:solidFill>
                  <a:srgbClr val="FFFFFF"/>
                </a:solidFill>
                <a:latin typeface="Calibri"/>
                <a:cs typeface="Calibri"/>
              </a:rPr>
              <a:t>designed  </a:t>
            </a:r>
            <a:r>
              <a:rPr dirty="0" sz="4000" spc="-3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dirty="0" sz="4000" spc="-5">
                <a:solidFill>
                  <a:srgbClr val="FFFFFF"/>
                </a:solidFill>
                <a:latin typeface="Calibri"/>
                <a:cs typeface="Calibri"/>
              </a:rPr>
              <a:t>simple </a:t>
            </a:r>
            <a:r>
              <a:rPr dirty="0" sz="4000" spc="-10">
                <a:solidFill>
                  <a:srgbClr val="FFFFFF"/>
                </a:solidFill>
                <a:latin typeface="Calibri"/>
                <a:cs typeface="Calibri"/>
              </a:rPr>
              <a:t>sequences </a:t>
            </a:r>
            <a:r>
              <a:rPr dirty="0" sz="40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4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-5">
                <a:solidFill>
                  <a:srgbClr val="FFFFFF"/>
                </a:solidFill>
                <a:latin typeface="Calibri"/>
                <a:cs typeface="Calibri"/>
              </a:rPr>
              <a:t>grids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>
                <a:solidFill>
                  <a:srgbClr val="898989"/>
                </a:solidFill>
              </a:rPr>
              <a:t>Jure Leskovec, Stanford CS224W: Machine Learning with</a:t>
            </a:r>
            <a:r>
              <a:rPr dirty="0" spc="5">
                <a:solidFill>
                  <a:srgbClr val="898989"/>
                </a:solidFill>
              </a:rPr>
              <a:t> </a:t>
            </a:r>
            <a:r>
              <a:rPr dirty="0" spc="-5">
                <a:solidFill>
                  <a:srgbClr val="898989"/>
                </a:solidFill>
              </a:rPr>
              <a:t>Graphs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950"/>
              </a:lnSpc>
            </a:pPr>
            <a:r>
              <a:rPr dirty="0"/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368198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348740"/>
            <a:ext cx="391287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latin typeface="Calibri"/>
                <a:cs typeface="Calibri"/>
              </a:rPr>
              <a:t>Networks </a:t>
            </a:r>
            <a:r>
              <a:rPr dirty="0" sz="3200" spc="-15" b="1">
                <a:latin typeface="Calibri"/>
                <a:cs typeface="Calibri"/>
              </a:rPr>
              <a:t>are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complex.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41537" y="3007975"/>
            <a:ext cx="2186362" cy="1839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65009" y="2966438"/>
            <a:ext cx="2293922" cy="19757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46158" y="3629185"/>
            <a:ext cx="1796414" cy="714375"/>
          </a:xfrm>
          <a:custGeom>
            <a:avLst/>
            <a:gdLst/>
            <a:ahLst/>
            <a:cxnLst/>
            <a:rect l="l" t="t" r="r" b="b"/>
            <a:pathLst>
              <a:path w="1796414" h="714375">
                <a:moveTo>
                  <a:pt x="357038" y="0"/>
                </a:moveTo>
                <a:lnTo>
                  <a:pt x="0" y="357040"/>
                </a:lnTo>
                <a:lnTo>
                  <a:pt x="357038" y="714079"/>
                </a:lnTo>
                <a:lnTo>
                  <a:pt x="357038" y="477502"/>
                </a:lnTo>
                <a:lnTo>
                  <a:pt x="1675756" y="477502"/>
                </a:lnTo>
                <a:lnTo>
                  <a:pt x="1796218" y="357040"/>
                </a:lnTo>
                <a:lnTo>
                  <a:pt x="1675755" y="236576"/>
                </a:lnTo>
                <a:lnTo>
                  <a:pt x="357038" y="236576"/>
                </a:lnTo>
                <a:lnTo>
                  <a:pt x="357038" y="0"/>
                </a:lnTo>
                <a:close/>
              </a:path>
              <a:path w="1796414" h="714375">
                <a:moveTo>
                  <a:pt x="1675756" y="477502"/>
                </a:moveTo>
                <a:lnTo>
                  <a:pt x="1439180" y="477502"/>
                </a:lnTo>
                <a:lnTo>
                  <a:pt x="1439180" y="714079"/>
                </a:lnTo>
                <a:lnTo>
                  <a:pt x="1675756" y="477502"/>
                </a:lnTo>
                <a:close/>
              </a:path>
              <a:path w="1796414" h="714375">
                <a:moveTo>
                  <a:pt x="1439180" y="0"/>
                </a:moveTo>
                <a:lnTo>
                  <a:pt x="1439180" y="236576"/>
                </a:lnTo>
                <a:lnTo>
                  <a:pt x="1675755" y="236576"/>
                </a:lnTo>
                <a:lnTo>
                  <a:pt x="143918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22157" y="3605292"/>
            <a:ext cx="1844675" cy="762000"/>
          </a:xfrm>
          <a:custGeom>
            <a:avLst/>
            <a:gdLst/>
            <a:ahLst/>
            <a:cxnLst/>
            <a:rect l="l" t="t" r="r" b="b"/>
            <a:pathLst>
              <a:path w="1844675" h="762000">
                <a:moveTo>
                  <a:pt x="383319" y="0"/>
                </a:moveTo>
                <a:lnTo>
                  <a:pt x="7029" y="363962"/>
                </a:lnTo>
                <a:lnTo>
                  <a:pt x="0" y="380933"/>
                </a:lnTo>
                <a:lnTo>
                  <a:pt x="1757" y="389964"/>
                </a:lnTo>
                <a:lnTo>
                  <a:pt x="364069" y="754941"/>
                </a:lnTo>
                <a:lnTo>
                  <a:pt x="383319" y="761863"/>
                </a:lnTo>
                <a:lnTo>
                  <a:pt x="390224" y="760144"/>
                </a:lnTo>
                <a:lnTo>
                  <a:pt x="396322" y="756477"/>
                </a:lnTo>
                <a:lnTo>
                  <a:pt x="400995" y="751304"/>
                </a:lnTo>
                <a:lnTo>
                  <a:pt x="403986" y="745008"/>
                </a:lnTo>
                <a:lnTo>
                  <a:pt x="405039" y="737971"/>
                </a:lnTo>
                <a:lnTo>
                  <a:pt x="405039" y="726382"/>
                </a:lnTo>
                <a:lnTo>
                  <a:pt x="376240" y="726382"/>
                </a:lnTo>
                <a:lnTo>
                  <a:pt x="30788" y="380932"/>
                </a:lnTo>
                <a:lnTo>
                  <a:pt x="376240" y="35481"/>
                </a:lnTo>
                <a:lnTo>
                  <a:pt x="405039" y="35481"/>
                </a:lnTo>
                <a:lnTo>
                  <a:pt x="405039" y="23892"/>
                </a:lnTo>
                <a:lnTo>
                  <a:pt x="403986" y="16855"/>
                </a:lnTo>
                <a:lnTo>
                  <a:pt x="400995" y="10558"/>
                </a:lnTo>
                <a:lnTo>
                  <a:pt x="396322" y="5386"/>
                </a:lnTo>
                <a:lnTo>
                  <a:pt x="390224" y="1719"/>
                </a:lnTo>
                <a:lnTo>
                  <a:pt x="383319" y="0"/>
                </a:lnTo>
                <a:close/>
              </a:path>
              <a:path w="1844675" h="762000">
                <a:moveTo>
                  <a:pt x="1467981" y="525393"/>
                </a:moveTo>
                <a:lnTo>
                  <a:pt x="1439181" y="525393"/>
                </a:lnTo>
                <a:lnTo>
                  <a:pt x="1439181" y="737971"/>
                </a:lnTo>
                <a:lnTo>
                  <a:pt x="1460901" y="761863"/>
                </a:lnTo>
                <a:lnTo>
                  <a:pt x="1467863" y="761509"/>
                </a:lnTo>
                <a:lnTo>
                  <a:pt x="1474430" y="759172"/>
                </a:lnTo>
                <a:lnTo>
                  <a:pt x="1480151" y="754941"/>
                </a:lnTo>
                <a:lnTo>
                  <a:pt x="1508710" y="726382"/>
                </a:lnTo>
                <a:lnTo>
                  <a:pt x="1467981" y="726382"/>
                </a:lnTo>
                <a:lnTo>
                  <a:pt x="1467981" y="525393"/>
                </a:lnTo>
                <a:close/>
              </a:path>
              <a:path w="1844675" h="762000">
                <a:moveTo>
                  <a:pt x="1465832" y="496594"/>
                </a:moveTo>
                <a:lnTo>
                  <a:pt x="378388" y="496594"/>
                </a:lnTo>
                <a:lnTo>
                  <a:pt x="376240" y="498742"/>
                </a:lnTo>
                <a:lnTo>
                  <a:pt x="376240" y="726382"/>
                </a:lnTo>
                <a:lnTo>
                  <a:pt x="405039" y="726382"/>
                </a:lnTo>
                <a:lnTo>
                  <a:pt x="405039" y="525393"/>
                </a:lnTo>
                <a:lnTo>
                  <a:pt x="1467981" y="525393"/>
                </a:lnTo>
                <a:lnTo>
                  <a:pt x="1467981" y="498742"/>
                </a:lnTo>
                <a:lnTo>
                  <a:pt x="1465832" y="496594"/>
                </a:lnTo>
                <a:close/>
              </a:path>
              <a:path w="1844675" h="762000">
                <a:moveTo>
                  <a:pt x="1508711" y="35481"/>
                </a:moveTo>
                <a:lnTo>
                  <a:pt x="1467981" y="35481"/>
                </a:lnTo>
                <a:lnTo>
                  <a:pt x="1813429" y="380933"/>
                </a:lnTo>
                <a:lnTo>
                  <a:pt x="1467981" y="726382"/>
                </a:lnTo>
                <a:lnTo>
                  <a:pt x="1508710" y="726382"/>
                </a:lnTo>
                <a:lnTo>
                  <a:pt x="1837189" y="397903"/>
                </a:lnTo>
                <a:lnTo>
                  <a:pt x="1842461" y="389964"/>
                </a:lnTo>
                <a:lnTo>
                  <a:pt x="1844218" y="380932"/>
                </a:lnTo>
                <a:lnTo>
                  <a:pt x="1842461" y="371902"/>
                </a:lnTo>
                <a:lnTo>
                  <a:pt x="1837189" y="363962"/>
                </a:lnTo>
                <a:lnTo>
                  <a:pt x="1508711" y="35481"/>
                </a:lnTo>
                <a:close/>
              </a:path>
              <a:path w="1844675" h="762000">
                <a:moveTo>
                  <a:pt x="366640" y="58657"/>
                </a:moveTo>
                <a:lnTo>
                  <a:pt x="44365" y="380933"/>
                </a:lnTo>
                <a:lnTo>
                  <a:pt x="366640" y="703206"/>
                </a:lnTo>
                <a:lnTo>
                  <a:pt x="366640" y="680030"/>
                </a:lnTo>
                <a:lnTo>
                  <a:pt x="357040" y="680030"/>
                </a:lnTo>
                <a:lnTo>
                  <a:pt x="57941" y="380932"/>
                </a:lnTo>
                <a:lnTo>
                  <a:pt x="357040" y="81833"/>
                </a:lnTo>
                <a:lnTo>
                  <a:pt x="366640" y="81833"/>
                </a:lnTo>
                <a:lnTo>
                  <a:pt x="366640" y="58657"/>
                </a:lnTo>
                <a:close/>
              </a:path>
              <a:path w="1844675" h="762000">
                <a:moveTo>
                  <a:pt x="1481884" y="486994"/>
                </a:moveTo>
                <a:lnTo>
                  <a:pt x="1471133" y="486994"/>
                </a:lnTo>
                <a:lnTo>
                  <a:pt x="1477581" y="493440"/>
                </a:lnTo>
                <a:lnTo>
                  <a:pt x="1477581" y="703206"/>
                </a:lnTo>
                <a:lnTo>
                  <a:pt x="1500757" y="680030"/>
                </a:lnTo>
                <a:lnTo>
                  <a:pt x="1487181" y="680030"/>
                </a:lnTo>
                <a:lnTo>
                  <a:pt x="1487181" y="501394"/>
                </a:lnTo>
                <a:lnTo>
                  <a:pt x="1485295" y="492052"/>
                </a:lnTo>
                <a:lnTo>
                  <a:pt x="1481884" y="486994"/>
                </a:lnTo>
                <a:close/>
              </a:path>
              <a:path w="1844675" h="762000">
                <a:moveTo>
                  <a:pt x="1463180" y="477394"/>
                </a:moveTo>
                <a:lnTo>
                  <a:pt x="381039" y="477394"/>
                </a:lnTo>
                <a:lnTo>
                  <a:pt x="371698" y="479280"/>
                </a:lnTo>
                <a:lnTo>
                  <a:pt x="364069" y="484423"/>
                </a:lnTo>
                <a:lnTo>
                  <a:pt x="358926" y="492052"/>
                </a:lnTo>
                <a:lnTo>
                  <a:pt x="357040" y="501394"/>
                </a:lnTo>
                <a:lnTo>
                  <a:pt x="357040" y="680030"/>
                </a:lnTo>
                <a:lnTo>
                  <a:pt x="366640" y="680030"/>
                </a:lnTo>
                <a:lnTo>
                  <a:pt x="366640" y="493440"/>
                </a:lnTo>
                <a:lnTo>
                  <a:pt x="373086" y="486994"/>
                </a:lnTo>
                <a:lnTo>
                  <a:pt x="1481884" y="486994"/>
                </a:lnTo>
                <a:lnTo>
                  <a:pt x="1480151" y="484423"/>
                </a:lnTo>
                <a:lnTo>
                  <a:pt x="1472522" y="479280"/>
                </a:lnTo>
                <a:lnTo>
                  <a:pt x="1463180" y="477394"/>
                </a:lnTo>
                <a:close/>
              </a:path>
              <a:path w="1844675" h="762000">
                <a:moveTo>
                  <a:pt x="1500757" y="81833"/>
                </a:moveTo>
                <a:lnTo>
                  <a:pt x="1487181" y="81833"/>
                </a:lnTo>
                <a:lnTo>
                  <a:pt x="1786277" y="380933"/>
                </a:lnTo>
                <a:lnTo>
                  <a:pt x="1487181" y="680030"/>
                </a:lnTo>
                <a:lnTo>
                  <a:pt x="1500757" y="680030"/>
                </a:lnTo>
                <a:lnTo>
                  <a:pt x="1799854" y="380932"/>
                </a:lnTo>
                <a:lnTo>
                  <a:pt x="1500757" y="81833"/>
                </a:lnTo>
                <a:close/>
              </a:path>
              <a:path w="1844675" h="762000">
                <a:moveTo>
                  <a:pt x="366640" y="81833"/>
                </a:moveTo>
                <a:lnTo>
                  <a:pt x="357040" y="81833"/>
                </a:lnTo>
                <a:lnTo>
                  <a:pt x="357040" y="260469"/>
                </a:lnTo>
                <a:lnTo>
                  <a:pt x="358926" y="269811"/>
                </a:lnTo>
                <a:lnTo>
                  <a:pt x="364069" y="277440"/>
                </a:lnTo>
                <a:lnTo>
                  <a:pt x="371698" y="282583"/>
                </a:lnTo>
                <a:lnTo>
                  <a:pt x="381039" y="284469"/>
                </a:lnTo>
                <a:lnTo>
                  <a:pt x="1463180" y="284469"/>
                </a:lnTo>
                <a:lnTo>
                  <a:pt x="1472522" y="282583"/>
                </a:lnTo>
                <a:lnTo>
                  <a:pt x="1480151" y="277440"/>
                </a:lnTo>
                <a:lnTo>
                  <a:pt x="1481884" y="274869"/>
                </a:lnTo>
                <a:lnTo>
                  <a:pt x="373086" y="274869"/>
                </a:lnTo>
                <a:lnTo>
                  <a:pt x="366640" y="268422"/>
                </a:lnTo>
                <a:lnTo>
                  <a:pt x="366640" y="81833"/>
                </a:lnTo>
                <a:close/>
              </a:path>
              <a:path w="1844675" h="762000">
                <a:moveTo>
                  <a:pt x="1477581" y="58657"/>
                </a:moveTo>
                <a:lnTo>
                  <a:pt x="1477581" y="268422"/>
                </a:lnTo>
                <a:lnTo>
                  <a:pt x="1471133" y="274869"/>
                </a:lnTo>
                <a:lnTo>
                  <a:pt x="1481884" y="274869"/>
                </a:lnTo>
                <a:lnTo>
                  <a:pt x="1485295" y="269811"/>
                </a:lnTo>
                <a:lnTo>
                  <a:pt x="1487181" y="260469"/>
                </a:lnTo>
                <a:lnTo>
                  <a:pt x="1487181" y="81833"/>
                </a:lnTo>
                <a:lnTo>
                  <a:pt x="1500757" y="81833"/>
                </a:lnTo>
                <a:lnTo>
                  <a:pt x="1477581" y="58657"/>
                </a:lnTo>
                <a:close/>
              </a:path>
              <a:path w="1844675" h="762000">
                <a:moveTo>
                  <a:pt x="405039" y="35481"/>
                </a:moveTo>
                <a:lnTo>
                  <a:pt x="376240" y="35481"/>
                </a:lnTo>
                <a:lnTo>
                  <a:pt x="376240" y="263121"/>
                </a:lnTo>
                <a:lnTo>
                  <a:pt x="378388" y="265269"/>
                </a:lnTo>
                <a:lnTo>
                  <a:pt x="1465832" y="265269"/>
                </a:lnTo>
                <a:lnTo>
                  <a:pt x="1467981" y="263121"/>
                </a:lnTo>
                <a:lnTo>
                  <a:pt x="1467981" y="236470"/>
                </a:lnTo>
                <a:lnTo>
                  <a:pt x="405039" y="236470"/>
                </a:lnTo>
                <a:lnTo>
                  <a:pt x="405039" y="35481"/>
                </a:lnTo>
                <a:close/>
              </a:path>
              <a:path w="1844675" h="762000">
                <a:moveTo>
                  <a:pt x="1460901" y="0"/>
                </a:moveTo>
                <a:lnTo>
                  <a:pt x="1439181" y="23892"/>
                </a:lnTo>
                <a:lnTo>
                  <a:pt x="1439181" y="236470"/>
                </a:lnTo>
                <a:lnTo>
                  <a:pt x="1467981" y="236470"/>
                </a:lnTo>
                <a:lnTo>
                  <a:pt x="1467981" y="35481"/>
                </a:lnTo>
                <a:lnTo>
                  <a:pt x="1508711" y="35481"/>
                </a:lnTo>
                <a:lnTo>
                  <a:pt x="1480151" y="6921"/>
                </a:lnTo>
                <a:lnTo>
                  <a:pt x="1474430" y="2690"/>
                </a:lnTo>
                <a:lnTo>
                  <a:pt x="1467863" y="353"/>
                </a:lnTo>
                <a:lnTo>
                  <a:pt x="146090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27899" y="3683659"/>
            <a:ext cx="1811299" cy="6051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18108" y="1830324"/>
            <a:ext cx="7813040" cy="453961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32740" marR="518795" indent="-320040">
              <a:lnSpc>
                <a:spcPct val="101899"/>
              </a:lnSpc>
              <a:spcBef>
                <a:spcPts val="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Arbitrary </a:t>
            </a:r>
            <a:r>
              <a:rPr dirty="0" sz="3200" spc="-20">
                <a:latin typeface="Calibri"/>
                <a:cs typeface="Calibri"/>
              </a:rPr>
              <a:t>size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15">
                <a:latin typeface="Calibri"/>
                <a:cs typeface="Calibri"/>
              </a:rPr>
              <a:t>complex </a:t>
            </a:r>
            <a:r>
              <a:rPr dirty="0" sz="3200" spc="-10">
                <a:latin typeface="Calibri"/>
                <a:cs typeface="Calibri"/>
              </a:rPr>
              <a:t>topological  </a:t>
            </a:r>
            <a:r>
              <a:rPr dirty="0" sz="3200" spc="-15">
                <a:latin typeface="Calibri"/>
                <a:cs typeface="Calibri"/>
              </a:rPr>
              <a:t>structure </a:t>
            </a:r>
            <a:r>
              <a:rPr dirty="0" sz="3200" spc="-5">
                <a:latin typeface="Calibri"/>
                <a:cs typeface="Calibri"/>
              </a:rPr>
              <a:t>(</a:t>
            </a:r>
            <a:r>
              <a:rPr dirty="0" sz="3200" spc="-5" i="1">
                <a:latin typeface="Calibri"/>
                <a:cs typeface="Calibri"/>
              </a:rPr>
              <a:t>i.e.</a:t>
            </a:r>
            <a:r>
              <a:rPr dirty="0" sz="3200" spc="-5">
                <a:latin typeface="Calibri"/>
                <a:cs typeface="Calibri"/>
              </a:rPr>
              <a:t>, </a:t>
            </a:r>
            <a:r>
              <a:rPr dirty="0" sz="3200">
                <a:latin typeface="Calibri"/>
                <a:cs typeface="Calibri"/>
              </a:rPr>
              <a:t>no </a:t>
            </a:r>
            <a:r>
              <a:rPr dirty="0" sz="3200" spc="-5">
                <a:latin typeface="Calibri"/>
                <a:cs typeface="Calibri"/>
              </a:rPr>
              <a:t>spatial locality </a:t>
            </a:r>
            <a:r>
              <a:rPr dirty="0" sz="3200" spc="-30">
                <a:latin typeface="Calibri"/>
                <a:cs typeface="Calibri"/>
              </a:rPr>
              <a:t>like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grids)</a:t>
            </a:r>
            <a:endParaRPr sz="3200">
              <a:latin typeface="Calibri"/>
              <a:cs typeface="Calibri"/>
            </a:endParaRPr>
          </a:p>
          <a:p>
            <a:pPr algn="ctr" marR="917575">
              <a:lnSpc>
                <a:spcPct val="100000"/>
              </a:lnSpc>
              <a:spcBef>
                <a:spcPts val="3100"/>
              </a:spcBef>
            </a:pPr>
            <a:r>
              <a:rPr dirty="0" sz="4200" spc="-50">
                <a:latin typeface="Arial"/>
                <a:cs typeface="Arial"/>
              </a:rPr>
              <a:t>vs.</a:t>
            </a:r>
            <a:endParaRPr sz="4200">
              <a:latin typeface="Arial"/>
              <a:cs typeface="Arial"/>
            </a:endParaRPr>
          </a:p>
          <a:p>
            <a:pPr algn="r" marR="175260">
              <a:lnSpc>
                <a:spcPct val="100000"/>
              </a:lnSpc>
              <a:spcBef>
                <a:spcPts val="2565"/>
              </a:spcBef>
            </a:pPr>
            <a:r>
              <a:rPr dirty="0" sz="2400" spc="-185" b="1">
                <a:latin typeface="Arial"/>
                <a:cs typeface="Arial"/>
              </a:rPr>
              <a:t>T</a:t>
            </a:r>
            <a:r>
              <a:rPr dirty="0" sz="2400" b="1">
                <a:latin typeface="Arial"/>
                <a:cs typeface="Arial"/>
              </a:rPr>
              <a:t>ext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50">
              <a:latin typeface="Times New Roman"/>
              <a:cs typeface="Times New Roman"/>
            </a:endParaRPr>
          </a:p>
          <a:p>
            <a:pPr marL="790575">
              <a:lnSpc>
                <a:spcPct val="100000"/>
              </a:lnSpc>
              <a:tabLst>
                <a:tab pos="4752975" algn="l"/>
              </a:tabLst>
            </a:pPr>
            <a:r>
              <a:rPr dirty="0" sz="2400" spc="-5" b="1">
                <a:latin typeface="Arial"/>
                <a:cs typeface="Arial"/>
              </a:rPr>
              <a:t>Networks	Images</a:t>
            </a:r>
            <a:endParaRPr sz="2400">
              <a:latin typeface="Arial"/>
              <a:cs typeface="Arial"/>
            </a:endParaRPr>
          </a:p>
          <a:p>
            <a:pPr marL="332740" indent="-320040">
              <a:lnSpc>
                <a:spcPts val="3815"/>
              </a:lnSpc>
              <a:spcBef>
                <a:spcPts val="9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No </a:t>
            </a:r>
            <a:r>
              <a:rPr dirty="0" sz="3200" spc="-20">
                <a:latin typeface="Calibri"/>
                <a:cs typeface="Calibri"/>
              </a:rPr>
              <a:t>fixed </a:t>
            </a:r>
            <a:r>
              <a:rPr dirty="0" sz="3200">
                <a:latin typeface="Calibri"/>
                <a:cs typeface="Calibri"/>
              </a:rPr>
              <a:t>node </a:t>
            </a:r>
            <a:r>
              <a:rPr dirty="0" sz="3200" spc="-10">
                <a:latin typeface="Calibri"/>
                <a:cs typeface="Calibri"/>
              </a:rPr>
              <a:t>ordering </a:t>
            </a:r>
            <a:r>
              <a:rPr dirty="0" sz="3200">
                <a:latin typeface="Calibri"/>
                <a:cs typeface="Calibri"/>
              </a:rPr>
              <a:t>or </a:t>
            </a:r>
            <a:r>
              <a:rPr dirty="0" sz="3200" spc="-30">
                <a:latin typeface="Calibri"/>
                <a:cs typeface="Calibri"/>
              </a:rPr>
              <a:t>reference</a:t>
            </a:r>
            <a:r>
              <a:rPr dirty="0" sz="3200" spc="3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point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Often </a:t>
            </a:r>
            <a:r>
              <a:rPr dirty="0" sz="3200" spc="-5">
                <a:latin typeface="Calibri"/>
                <a:cs typeface="Calibri"/>
              </a:rPr>
              <a:t>dynamic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20">
                <a:latin typeface="Calibri"/>
                <a:cs typeface="Calibri"/>
              </a:rPr>
              <a:t>have </a:t>
            </a:r>
            <a:r>
              <a:rPr dirty="0" sz="3200">
                <a:latin typeface="Calibri"/>
                <a:cs typeface="Calibri"/>
              </a:rPr>
              <a:t>multimodal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features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>
                <a:solidFill>
                  <a:srgbClr val="898989"/>
                </a:solidFill>
              </a:rPr>
              <a:t>Jure Leskovec, Stanford CS224W: Machine Learning with</a:t>
            </a:r>
            <a:r>
              <a:rPr dirty="0" spc="5">
                <a:solidFill>
                  <a:srgbClr val="898989"/>
                </a:solidFill>
              </a:rPr>
              <a:t> </a:t>
            </a:r>
            <a:r>
              <a:rPr dirty="0" spc="-5">
                <a:solidFill>
                  <a:srgbClr val="898989"/>
                </a:solidFill>
              </a:rPr>
              <a:t>Graphs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950"/>
              </a:lnSpc>
            </a:pPr>
            <a:r>
              <a:rPr dirty="0"/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1687" y="313943"/>
            <a:ext cx="3358896" cy="50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1000" y="1828800"/>
            <a:ext cx="8315959" cy="4495800"/>
          </a:xfrm>
          <a:custGeom>
            <a:avLst/>
            <a:gdLst/>
            <a:ahLst/>
            <a:cxnLst/>
            <a:rect l="l" t="t" r="r" b="b"/>
            <a:pathLst>
              <a:path w="8315959" h="4495800">
                <a:moveTo>
                  <a:pt x="0" y="0"/>
                </a:moveTo>
                <a:lnTo>
                  <a:pt x="8315740" y="0"/>
                </a:lnTo>
                <a:lnTo>
                  <a:pt x="8315740" y="4495799"/>
                </a:lnTo>
                <a:lnTo>
                  <a:pt x="0" y="4495799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69389" y="2259075"/>
            <a:ext cx="7940675" cy="1854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4000" spc="-5" b="1">
                <a:solidFill>
                  <a:srgbClr val="FFFFFF"/>
                </a:solidFill>
                <a:latin typeface="Calibri"/>
                <a:cs typeface="Calibri"/>
              </a:rPr>
              <a:t>How </a:t>
            </a:r>
            <a:r>
              <a:rPr dirty="0" sz="4000" spc="-10" b="1">
                <a:solidFill>
                  <a:srgbClr val="FFFFFF"/>
                </a:solidFill>
                <a:latin typeface="Calibri"/>
                <a:cs typeface="Calibri"/>
              </a:rPr>
              <a:t>can </a:t>
            </a:r>
            <a:r>
              <a:rPr dirty="0" sz="4000" spc="-20" b="1">
                <a:solidFill>
                  <a:srgbClr val="FFFFFF"/>
                </a:solidFill>
                <a:latin typeface="Calibri"/>
                <a:cs typeface="Calibri"/>
              </a:rPr>
              <a:t>we </a:t>
            </a:r>
            <a:r>
              <a:rPr dirty="0" sz="4000" spc="-15" b="1">
                <a:solidFill>
                  <a:srgbClr val="FFFFFF"/>
                </a:solidFill>
                <a:latin typeface="Calibri"/>
                <a:cs typeface="Calibri"/>
              </a:rPr>
              <a:t>develop neural networks  </a:t>
            </a:r>
            <a:r>
              <a:rPr dirty="0" sz="4000" spc="-10" b="1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dirty="0" sz="4000" spc="-15" b="1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dirty="0" sz="4000" spc="-5" b="1">
                <a:solidFill>
                  <a:srgbClr val="FFFFFF"/>
                </a:solidFill>
                <a:latin typeface="Calibri"/>
                <a:cs typeface="Calibri"/>
              </a:rPr>
              <a:t>much </a:t>
            </a:r>
            <a:r>
              <a:rPr dirty="0" sz="4000" spc="-15" b="1">
                <a:solidFill>
                  <a:srgbClr val="FFFFFF"/>
                </a:solidFill>
                <a:latin typeface="Calibri"/>
                <a:cs typeface="Calibri"/>
              </a:rPr>
              <a:t>more </a:t>
            </a:r>
            <a:r>
              <a:rPr dirty="0" sz="4000" spc="-10" b="1">
                <a:solidFill>
                  <a:srgbClr val="FFFFFF"/>
                </a:solidFill>
                <a:latin typeface="Calibri"/>
                <a:cs typeface="Calibri"/>
              </a:rPr>
              <a:t>broadly  </a:t>
            </a:r>
            <a:r>
              <a:rPr dirty="0" sz="4000" spc="-5" b="1">
                <a:solidFill>
                  <a:srgbClr val="FFFFFF"/>
                </a:solidFill>
                <a:latin typeface="Calibri"/>
                <a:cs typeface="Calibri"/>
              </a:rPr>
              <a:t>applicable?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>
                <a:solidFill>
                  <a:srgbClr val="898989"/>
                </a:solidFill>
              </a:rPr>
              <a:t>Jure Leskovec, Stanford CS224W: Machine Learning with</a:t>
            </a:r>
            <a:r>
              <a:rPr dirty="0" spc="5">
                <a:solidFill>
                  <a:srgbClr val="898989"/>
                </a:solidFill>
              </a:rPr>
              <a:t> </a:t>
            </a:r>
            <a:r>
              <a:rPr dirty="0" spc="-5">
                <a:solidFill>
                  <a:srgbClr val="898989"/>
                </a:solidFill>
              </a:rPr>
              <a:t>Graphs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950"/>
              </a:lnSpc>
            </a:pPr>
            <a:r>
              <a:rPr dirty="0"/>
              <a:t>27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4100" y="4327652"/>
            <a:ext cx="7230745" cy="14947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491615" marR="5080" indent="-1479550">
              <a:lnSpc>
                <a:spcPct val="100800"/>
              </a:lnSpc>
              <a:spcBef>
                <a:spcPts val="50"/>
              </a:spcBef>
            </a:pPr>
            <a:r>
              <a:rPr dirty="0" sz="4800" spc="-5" b="1" u="heavy">
                <a:solidFill>
                  <a:srgbClr val="FFFFFF"/>
                </a:solidFill>
                <a:latin typeface="Corbel"/>
                <a:cs typeface="Corbel"/>
              </a:rPr>
              <a:t>Graphs</a:t>
            </a:r>
            <a:r>
              <a:rPr dirty="0" sz="4800" spc="-5" b="1">
                <a:solidFill>
                  <a:srgbClr val="FFFFFF"/>
                </a:solidFill>
                <a:latin typeface="Corbel"/>
                <a:cs typeface="Corbel"/>
              </a:rPr>
              <a:t> are </a:t>
            </a:r>
            <a:r>
              <a:rPr dirty="0" sz="4800" b="1">
                <a:solidFill>
                  <a:srgbClr val="FFFFFF"/>
                </a:solidFill>
                <a:latin typeface="Corbel"/>
                <a:cs typeface="Corbel"/>
              </a:rPr>
              <a:t>the new </a:t>
            </a:r>
            <a:r>
              <a:rPr dirty="0" sz="4800" spc="-5" b="1">
                <a:solidFill>
                  <a:srgbClr val="FFFFFF"/>
                </a:solidFill>
                <a:latin typeface="Corbel"/>
                <a:cs typeface="Corbel"/>
              </a:rPr>
              <a:t>frontier  </a:t>
            </a:r>
            <a:r>
              <a:rPr dirty="0" sz="4800" b="1">
                <a:solidFill>
                  <a:srgbClr val="FFFFFF"/>
                </a:solidFill>
                <a:latin typeface="Corbel"/>
                <a:cs typeface="Corbel"/>
              </a:rPr>
              <a:t>of </a:t>
            </a:r>
            <a:r>
              <a:rPr dirty="0" sz="4800" spc="-5" b="1">
                <a:solidFill>
                  <a:srgbClr val="FFFFFF"/>
                </a:solidFill>
                <a:latin typeface="Corbel"/>
                <a:cs typeface="Corbel"/>
              </a:rPr>
              <a:t>deep</a:t>
            </a:r>
            <a:r>
              <a:rPr dirty="0" sz="4800" spc="-70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4800" spc="-5" b="1">
                <a:solidFill>
                  <a:srgbClr val="FFFFFF"/>
                </a:solidFill>
                <a:latin typeface="Corbel"/>
                <a:cs typeface="Corbel"/>
              </a:rPr>
              <a:t>learning</a:t>
            </a:r>
            <a:endParaRPr sz="4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831799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511524" y="3710940"/>
            <a:ext cx="3822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Corbel"/>
                <a:cs typeface="Corbel"/>
              </a:rPr>
              <a:t>…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600" y="1524000"/>
            <a:ext cx="8229600" cy="4746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1600" y="1636403"/>
            <a:ext cx="1955800" cy="4419600"/>
          </a:xfrm>
          <a:custGeom>
            <a:avLst/>
            <a:gdLst/>
            <a:ahLst/>
            <a:cxnLst/>
            <a:rect l="l" t="t" r="r" b="b"/>
            <a:pathLst>
              <a:path w="1955800" h="4419600">
                <a:moveTo>
                  <a:pt x="0" y="0"/>
                </a:moveTo>
                <a:lnTo>
                  <a:pt x="1955800" y="0"/>
                </a:lnTo>
                <a:lnTo>
                  <a:pt x="1955800" y="4419599"/>
                </a:lnTo>
                <a:lnTo>
                  <a:pt x="0" y="44195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57400" y="2511715"/>
            <a:ext cx="812800" cy="3656965"/>
          </a:xfrm>
          <a:custGeom>
            <a:avLst/>
            <a:gdLst/>
            <a:ahLst/>
            <a:cxnLst/>
            <a:rect l="l" t="t" r="r" b="b"/>
            <a:pathLst>
              <a:path w="812800" h="3656965">
                <a:moveTo>
                  <a:pt x="0" y="3656692"/>
                </a:moveTo>
                <a:lnTo>
                  <a:pt x="812800" y="3656692"/>
                </a:lnTo>
                <a:lnTo>
                  <a:pt x="812800" y="0"/>
                </a:lnTo>
                <a:lnTo>
                  <a:pt x="0" y="0"/>
                </a:lnTo>
                <a:lnTo>
                  <a:pt x="0" y="36566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521" y="2093605"/>
            <a:ext cx="2215479" cy="38671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50514" y="2893838"/>
            <a:ext cx="819785" cy="698500"/>
          </a:xfrm>
          <a:custGeom>
            <a:avLst/>
            <a:gdLst/>
            <a:ahLst/>
            <a:cxnLst/>
            <a:rect l="l" t="t" r="r" b="b"/>
            <a:pathLst>
              <a:path w="819785" h="698500">
                <a:moveTo>
                  <a:pt x="620472" y="579945"/>
                </a:moveTo>
                <a:lnTo>
                  <a:pt x="571298" y="638153"/>
                </a:lnTo>
                <a:lnTo>
                  <a:pt x="819687" y="698365"/>
                </a:lnTo>
                <a:lnTo>
                  <a:pt x="783191" y="613394"/>
                </a:lnTo>
                <a:lnTo>
                  <a:pt x="677359" y="613394"/>
                </a:lnTo>
                <a:lnTo>
                  <a:pt x="662838" y="611816"/>
                </a:lnTo>
                <a:lnTo>
                  <a:pt x="649577" y="604533"/>
                </a:lnTo>
                <a:lnTo>
                  <a:pt x="620472" y="579945"/>
                </a:lnTo>
                <a:close/>
              </a:path>
              <a:path w="819785" h="698500">
                <a:moveTo>
                  <a:pt x="669648" y="521736"/>
                </a:moveTo>
                <a:lnTo>
                  <a:pt x="620472" y="579945"/>
                </a:lnTo>
                <a:lnTo>
                  <a:pt x="649577" y="604533"/>
                </a:lnTo>
                <a:lnTo>
                  <a:pt x="662838" y="611816"/>
                </a:lnTo>
                <a:lnTo>
                  <a:pt x="677359" y="613394"/>
                </a:lnTo>
                <a:lnTo>
                  <a:pt x="691411" y="609412"/>
                </a:lnTo>
                <a:lnTo>
                  <a:pt x="703269" y="600015"/>
                </a:lnTo>
                <a:lnTo>
                  <a:pt x="710553" y="586755"/>
                </a:lnTo>
                <a:lnTo>
                  <a:pt x="712131" y="572234"/>
                </a:lnTo>
                <a:lnTo>
                  <a:pt x="708149" y="558181"/>
                </a:lnTo>
                <a:lnTo>
                  <a:pt x="698753" y="546323"/>
                </a:lnTo>
                <a:lnTo>
                  <a:pt x="669648" y="521736"/>
                </a:lnTo>
                <a:close/>
              </a:path>
              <a:path w="819785" h="698500">
                <a:moveTo>
                  <a:pt x="718823" y="463527"/>
                </a:moveTo>
                <a:lnTo>
                  <a:pt x="669648" y="521736"/>
                </a:lnTo>
                <a:lnTo>
                  <a:pt x="698753" y="546323"/>
                </a:lnTo>
                <a:lnTo>
                  <a:pt x="708149" y="558181"/>
                </a:lnTo>
                <a:lnTo>
                  <a:pt x="712131" y="572234"/>
                </a:lnTo>
                <a:lnTo>
                  <a:pt x="710553" y="586755"/>
                </a:lnTo>
                <a:lnTo>
                  <a:pt x="703269" y="600015"/>
                </a:lnTo>
                <a:lnTo>
                  <a:pt x="691411" y="609412"/>
                </a:lnTo>
                <a:lnTo>
                  <a:pt x="677359" y="613394"/>
                </a:lnTo>
                <a:lnTo>
                  <a:pt x="783191" y="613394"/>
                </a:lnTo>
                <a:lnTo>
                  <a:pt x="718823" y="463527"/>
                </a:lnTo>
                <a:close/>
              </a:path>
              <a:path w="819785" h="698500">
                <a:moveTo>
                  <a:pt x="34772" y="0"/>
                </a:moveTo>
                <a:lnTo>
                  <a:pt x="20719" y="3981"/>
                </a:lnTo>
                <a:lnTo>
                  <a:pt x="8861" y="13378"/>
                </a:lnTo>
                <a:lnTo>
                  <a:pt x="1578" y="26639"/>
                </a:lnTo>
                <a:lnTo>
                  <a:pt x="0" y="41159"/>
                </a:lnTo>
                <a:lnTo>
                  <a:pt x="3981" y="55212"/>
                </a:lnTo>
                <a:lnTo>
                  <a:pt x="13378" y="67070"/>
                </a:lnTo>
                <a:lnTo>
                  <a:pt x="620472" y="579945"/>
                </a:lnTo>
                <a:lnTo>
                  <a:pt x="669648" y="521736"/>
                </a:lnTo>
                <a:lnTo>
                  <a:pt x="62553" y="8861"/>
                </a:lnTo>
                <a:lnTo>
                  <a:pt x="49292" y="1578"/>
                </a:lnTo>
                <a:lnTo>
                  <a:pt x="3477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50621" y="4747182"/>
            <a:ext cx="819785" cy="661035"/>
          </a:xfrm>
          <a:custGeom>
            <a:avLst/>
            <a:gdLst/>
            <a:ahLst/>
            <a:cxnLst/>
            <a:rect l="l" t="t" r="r" b="b"/>
            <a:pathLst>
              <a:path w="819785" h="661035">
                <a:moveTo>
                  <a:pt x="617064" y="112681"/>
                </a:moveTo>
                <a:lnTo>
                  <a:pt x="14113" y="593227"/>
                </a:lnTo>
                <a:lnTo>
                  <a:pt x="4381" y="604812"/>
                </a:lnTo>
                <a:lnTo>
                  <a:pt x="0" y="618745"/>
                </a:lnTo>
                <a:lnTo>
                  <a:pt x="1162" y="633305"/>
                </a:lnTo>
                <a:lnTo>
                  <a:pt x="8064" y="646769"/>
                </a:lnTo>
                <a:lnTo>
                  <a:pt x="19648" y="656499"/>
                </a:lnTo>
                <a:lnTo>
                  <a:pt x="33581" y="660881"/>
                </a:lnTo>
                <a:lnTo>
                  <a:pt x="48141" y="659718"/>
                </a:lnTo>
                <a:lnTo>
                  <a:pt x="61605" y="652816"/>
                </a:lnTo>
                <a:lnTo>
                  <a:pt x="664557" y="172271"/>
                </a:lnTo>
                <a:lnTo>
                  <a:pt x="617064" y="112681"/>
                </a:lnTo>
                <a:close/>
              </a:path>
              <a:path w="819785" h="661035">
                <a:moveTo>
                  <a:pt x="782074" y="80871"/>
                </a:moveTo>
                <a:lnTo>
                  <a:pt x="674882" y="80871"/>
                </a:lnTo>
                <a:lnTo>
                  <a:pt x="688816" y="85252"/>
                </a:lnTo>
                <a:lnTo>
                  <a:pt x="700401" y="94984"/>
                </a:lnTo>
                <a:lnTo>
                  <a:pt x="707302" y="108447"/>
                </a:lnTo>
                <a:lnTo>
                  <a:pt x="708465" y="123006"/>
                </a:lnTo>
                <a:lnTo>
                  <a:pt x="704083" y="136940"/>
                </a:lnTo>
                <a:lnTo>
                  <a:pt x="694352" y="148525"/>
                </a:lnTo>
                <a:lnTo>
                  <a:pt x="664557" y="172271"/>
                </a:lnTo>
                <a:lnTo>
                  <a:pt x="712049" y="231860"/>
                </a:lnTo>
                <a:lnTo>
                  <a:pt x="782074" y="80871"/>
                </a:lnTo>
                <a:close/>
              </a:path>
              <a:path w="819785" h="661035">
                <a:moveTo>
                  <a:pt x="674882" y="80871"/>
                </a:moveTo>
                <a:lnTo>
                  <a:pt x="660322" y="82033"/>
                </a:lnTo>
                <a:lnTo>
                  <a:pt x="646859" y="88935"/>
                </a:lnTo>
                <a:lnTo>
                  <a:pt x="617064" y="112681"/>
                </a:lnTo>
                <a:lnTo>
                  <a:pt x="664557" y="172271"/>
                </a:lnTo>
                <a:lnTo>
                  <a:pt x="694352" y="148525"/>
                </a:lnTo>
                <a:lnTo>
                  <a:pt x="704083" y="136940"/>
                </a:lnTo>
                <a:lnTo>
                  <a:pt x="708465" y="123006"/>
                </a:lnTo>
                <a:lnTo>
                  <a:pt x="707302" y="108447"/>
                </a:lnTo>
                <a:lnTo>
                  <a:pt x="700401" y="94984"/>
                </a:lnTo>
                <a:lnTo>
                  <a:pt x="688816" y="85252"/>
                </a:lnTo>
                <a:lnTo>
                  <a:pt x="674882" y="80871"/>
                </a:lnTo>
                <a:close/>
              </a:path>
              <a:path w="819785" h="661035">
                <a:moveTo>
                  <a:pt x="819580" y="0"/>
                </a:moveTo>
                <a:lnTo>
                  <a:pt x="569572" y="53092"/>
                </a:lnTo>
                <a:lnTo>
                  <a:pt x="617064" y="112681"/>
                </a:lnTo>
                <a:lnTo>
                  <a:pt x="646859" y="88935"/>
                </a:lnTo>
                <a:lnTo>
                  <a:pt x="660322" y="82033"/>
                </a:lnTo>
                <a:lnTo>
                  <a:pt x="674882" y="80871"/>
                </a:lnTo>
                <a:lnTo>
                  <a:pt x="782074" y="80871"/>
                </a:lnTo>
                <a:lnTo>
                  <a:pt x="81958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05400" y="4298561"/>
            <a:ext cx="3886200" cy="2337435"/>
          </a:xfrm>
          <a:custGeom>
            <a:avLst/>
            <a:gdLst/>
            <a:ahLst/>
            <a:cxnLst/>
            <a:rect l="l" t="t" r="r" b="b"/>
            <a:pathLst>
              <a:path w="3886200" h="2337434">
                <a:moveTo>
                  <a:pt x="3886200" y="1071642"/>
                </a:moveTo>
                <a:lnTo>
                  <a:pt x="0" y="1071642"/>
                </a:lnTo>
                <a:lnTo>
                  <a:pt x="0" y="2336863"/>
                </a:lnTo>
                <a:lnTo>
                  <a:pt x="3886200" y="2336863"/>
                </a:lnTo>
                <a:lnTo>
                  <a:pt x="3886200" y="1071642"/>
                </a:lnTo>
                <a:close/>
              </a:path>
              <a:path w="3886200" h="2337434">
                <a:moveTo>
                  <a:pt x="3593760" y="0"/>
                </a:moveTo>
                <a:lnTo>
                  <a:pt x="2266950" y="1071642"/>
                </a:lnTo>
                <a:lnTo>
                  <a:pt x="3238500" y="1071642"/>
                </a:lnTo>
                <a:lnTo>
                  <a:pt x="35937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76825" y="4270006"/>
            <a:ext cx="3943350" cy="2394585"/>
          </a:xfrm>
          <a:custGeom>
            <a:avLst/>
            <a:gdLst/>
            <a:ahLst/>
            <a:cxnLst/>
            <a:rect l="l" t="t" r="r" b="b"/>
            <a:pathLst>
              <a:path w="3943350" h="2394584">
                <a:moveTo>
                  <a:pt x="3621284" y="0"/>
                </a:moveTo>
                <a:lnTo>
                  <a:pt x="3612425" y="1752"/>
                </a:lnTo>
                <a:lnTo>
                  <a:pt x="3604381" y="6326"/>
                </a:lnTo>
                <a:lnTo>
                  <a:pt x="2285425" y="1071622"/>
                </a:lnTo>
                <a:lnTo>
                  <a:pt x="28575" y="1071622"/>
                </a:lnTo>
                <a:lnTo>
                  <a:pt x="34" y="1100028"/>
                </a:lnTo>
                <a:lnTo>
                  <a:pt x="0" y="2365418"/>
                </a:lnTo>
                <a:lnTo>
                  <a:pt x="2245" y="2376540"/>
                </a:lnTo>
                <a:lnTo>
                  <a:pt x="8369" y="2385623"/>
                </a:lnTo>
                <a:lnTo>
                  <a:pt x="17452" y="2391747"/>
                </a:lnTo>
                <a:lnTo>
                  <a:pt x="28575" y="2393993"/>
                </a:lnTo>
                <a:lnTo>
                  <a:pt x="3914775" y="2393993"/>
                </a:lnTo>
                <a:lnTo>
                  <a:pt x="3925897" y="2391747"/>
                </a:lnTo>
                <a:lnTo>
                  <a:pt x="3934980" y="2385623"/>
                </a:lnTo>
                <a:lnTo>
                  <a:pt x="3941104" y="2376540"/>
                </a:lnTo>
                <a:lnTo>
                  <a:pt x="3943350" y="2365418"/>
                </a:lnTo>
                <a:lnTo>
                  <a:pt x="3943350" y="2359703"/>
                </a:lnTo>
                <a:lnTo>
                  <a:pt x="34289" y="2359703"/>
                </a:lnTo>
                <a:lnTo>
                  <a:pt x="34289" y="1105912"/>
                </a:lnTo>
                <a:lnTo>
                  <a:pt x="2296831" y="1105912"/>
                </a:lnTo>
                <a:lnTo>
                  <a:pt x="2298099" y="1105464"/>
                </a:lnTo>
                <a:lnTo>
                  <a:pt x="3577897" y="71794"/>
                </a:lnTo>
                <a:lnTo>
                  <a:pt x="3595212" y="19563"/>
                </a:lnTo>
                <a:lnTo>
                  <a:pt x="3649449" y="19563"/>
                </a:lnTo>
                <a:lnTo>
                  <a:pt x="3645261" y="11493"/>
                </a:lnTo>
                <a:lnTo>
                  <a:pt x="3638607" y="5064"/>
                </a:lnTo>
                <a:lnTo>
                  <a:pt x="3630248" y="1095"/>
                </a:lnTo>
                <a:lnTo>
                  <a:pt x="3621284" y="0"/>
                </a:lnTo>
                <a:close/>
              </a:path>
              <a:path w="3943350" h="2394584">
                <a:moveTo>
                  <a:pt x="3650640" y="26756"/>
                </a:moveTo>
                <a:lnTo>
                  <a:pt x="3616911" y="26756"/>
                </a:lnTo>
                <a:lnTo>
                  <a:pt x="3625927" y="33001"/>
                </a:lnTo>
                <a:lnTo>
                  <a:pt x="3623315" y="35110"/>
                </a:lnTo>
                <a:lnTo>
                  <a:pt x="3633109" y="41893"/>
                </a:lnTo>
                <a:lnTo>
                  <a:pt x="3630498" y="44002"/>
                </a:lnTo>
                <a:lnTo>
                  <a:pt x="3640291" y="50784"/>
                </a:lnTo>
                <a:lnTo>
                  <a:pt x="3597484" y="85359"/>
                </a:lnTo>
                <a:lnTo>
                  <a:pt x="3261110" y="1100028"/>
                </a:lnTo>
                <a:lnTo>
                  <a:pt x="3261081" y="1100197"/>
                </a:lnTo>
                <a:lnTo>
                  <a:pt x="3261366" y="1102054"/>
                </a:lnTo>
                <a:lnTo>
                  <a:pt x="3263515" y="1105030"/>
                </a:lnTo>
                <a:lnTo>
                  <a:pt x="3265239" y="1105912"/>
                </a:lnTo>
                <a:lnTo>
                  <a:pt x="3909059" y="1105912"/>
                </a:lnTo>
                <a:lnTo>
                  <a:pt x="3909059" y="2359703"/>
                </a:lnTo>
                <a:lnTo>
                  <a:pt x="3943350" y="2359703"/>
                </a:lnTo>
                <a:lnTo>
                  <a:pt x="3943315" y="1100028"/>
                </a:lnTo>
                <a:lnTo>
                  <a:pt x="3941104" y="1089074"/>
                </a:lnTo>
                <a:lnTo>
                  <a:pt x="3934980" y="1079991"/>
                </a:lnTo>
                <a:lnTo>
                  <a:pt x="3925897" y="1073867"/>
                </a:lnTo>
                <a:lnTo>
                  <a:pt x="3914775" y="1071622"/>
                </a:lnTo>
                <a:lnTo>
                  <a:pt x="3306652" y="1071622"/>
                </a:lnTo>
                <a:lnTo>
                  <a:pt x="3649460" y="37546"/>
                </a:lnTo>
                <a:lnTo>
                  <a:pt x="3650914" y="28408"/>
                </a:lnTo>
                <a:lnTo>
                  <a:pt x="3650640" y="26756"/>
                </a:lnTo>
                <a:close/>
              </a:path>
              <a:path w="3943350" h="2394584">
                <a:moveTo>
                  <a:pt x="3571245" y="91860"/>
                </a:moveTo>
                <a:lnTo>
                  <a:pt x="2303247" y="1115998"/>
                </a:lnTo>
                <a:lnTo>
                  <a:pt x="2299445" y="1117342"/>
                </a:lnTo>
                <a:lnTo>
                  <a:pt x="45720" y="1117342"/>
                </a:lnTo>
                <a:lnTo>
                  <a:pt x="45720" y="2348273"/>
                </a:lnTo>
                <a:lnTo>
                  <a:pt x="3897629" y="2348273"/>
                </a:lnTo>
                <a:lnTo>
                  <a:pt x="3897629" y="2336843"/>
                </a:lnTo>
                <a:lnTo>
                  <a:pt x="57150" y="2336843"/>
                </a:lnTo>
                <a:lnTo>
                  <a:pt x="57150" y="1128772"/>
                </a:lnTo>
                <a:lnTo>
                  <a:pt x="2302059" y="1128772"/>
                </a:lnTo>
                <a:lnTo>
                  <a:pt x="2308396" y="1126533"/>
                </a:lnTo>
                <a:lnTo>
                  <a:pt x="3564593" y="111924"/>
                </a:lnTo>
                <a:lnTo>
                  <a:pt x="3571245" y="91860"/>
                </a:lnTo>
                <a:close/>
              </a:path>
              <a:path w="3943350" h="2394584">
                <a:moveTo>
                  <a:pt x="3581038" y="98641"/>
                </a:moveTo>
                <a:lnTo>
                  <a:pt x="3564593" y="111924"/>
                </a:lnTo>
                <a:lnTo>
                  <a:pt x="3239951" y="1091205"/>
                </a:lnTo>
                <a:lnTo>
                  <a:pt x="3238595" y="1097852"/>
                </a:lnTo>
                <a:lnTo>
                  <a:pt x="3238832" y="1104541"/>
                </a:lnTo>
                <a:lnTo>
                  <a:pt x="3267075" y="1128772"/>
                </a:lnTo>
                <a:lnTo>
                  <a:pt x="3886200" y="1128772"/>
                </a:lnTo>
                <a:lnTo>
                  <a:pt x="3886200" y="2336843"/>
                </a:lnTo>
                <a:lnTo>
                  <a:pt x="3897629" y="2336843"/>
                </a:lnTo>
                <a:lnTo>
                  <a:pt x="3897629" y="1117342"/>
                </a:lnTo>
                <a:lnTo>
                  <a:pt x="3261568" y="1117342"/>
                </a:lnTo>
                <a:lnTo>
                  <a:pt x="3256398" y="1114698"/>
                </a:lnTo>
                <a:lnTo>
                  <a:pt x="3249951" y="1105768"/>
                </a:lnTo>
                <a:lnTo>
                  <a:pt x="3249067" y="1100028"/>
                </a:lnTo>
                <a:lnTo>
                  <a:pt x="3581038" y="98641"/>
                </a:lnTo>
                <a:close/>
              </a:path>
              <a:path w="3943350" h="2394584">
                <a:moveTo>
                  <a:pt x="3587690" y="78577"/>
                </a:moveTo>
                <a:lnTo>
                  <a:pt x="3571245" y="91860"/>
                </a:lnTo>
                <a:lnTo>
                  <a:pt x="3564593" y="111924"/>
                </a:lnTo>
                <a:lnTo>
                  <a:pt x="3581038" y="98641"/>
                </a:lnTo>
                <a:lnTo>
                  <a:pt x="3587690" y="78577"/>
                </a:lnTo>
                <a:close/>
              </a:path>
              <a:path w="3943350" h="2394584">
                <a:moveTo>
                  <a:pt x="3604135" y="65295"/>
                </a:moveTo>
                <a:lnTo>
                  <a:pt x="3587690" y="78577"/>
                </a:lnTo>
                <a:lnTo>
                  <a:pt x="3581038" y="98641"/>
                </a:lnTo>
                <a:lnTo>
                  <a:pt x="3597484" y="85359"/>
                </a:lnTo>
                <a:lnTo>
                  <a:pt x="3604135" y="65295"/>
                </a:lnTo>
                <a:close/>
              </a:path>
              <a:path w="3943350" h="2394584">
                <a:moveTo>
                  <a:pt x="3594342" y="58511"/>
                </a:moveTo>
                <a:lnTo>
                  <a:pt x="3577897" y="71794"/>
                </a:lnTo>
                <a:lnTo>
                  <a:pt x="3571245" y="91860"/>
                </a:lnTo>
                <a:lnTo>
                  <a:pt x="3587690" y="78577"/>
                </a:lnTo>
                <a:lnTo>
                  <a:pt x="3594342" y="58511"/>
                </a:lnTo>
                <a:close/>
              </a:path>
              <a:path w="3943350" h="2394584">
                <a:moveTo>
                  <a:pt x="3630498" y="44002"/>
                </a:moveTo>
                <a:lnTo>
                  <a:pt x="3604135" y="65295"/>
                </a:lnTo>
                <a:lnTo>
                  <a:pt x="3597484" y="85359"/>
                </a:lnTo>
                <a:lnTo>
                  <a:pt x="3640291" y="50784"/>
                </a:lnTo>
                <a:lnTo>
                  <a:pt x="3630498" y="44002"/>
                </a:lnTo>
                <a:close/>
              </a:path>
              <a:path w="3943350" h="2394584">
                <a:moveTo>
                  <a:pt x="3595212" y="19563"/>
                </a:moveTo>
                <a:lnTo>
                  <a:pt x="3577897" y="71794"/>
                </a:lnTo>
                <a:lnTo>
                  <a:pt x="3594342" y="58511"/>
                </a:lnTo>
                <a:lnTo>
                  <a:pt x="3605005" y="26346"/>
                </a:lnTo>
                <a:lnTo>
                  <a:pt x="3595212" y="19563"/>
                </a:lnTo>
                <a:close/>
              </a:path>
              <a:path w="3943350" h="2394584">
                <a:moveTo>
                  <a:pt x="3620704" y="37219"/>
                </a:moveTo>
                <a:lnTo>
                  <a:pt x="3610787" y="45229"/>
                </a:lnTo>
                <a:lnTo>
                  <a:pt x="3604135" y="65295"/>
                </a:lnTo>
                <a:lnTo>
                  <a:pt x="3630498" y="44002"/>
                </a:lnTo>
                <a:lnTo>
                  <a:pt x="3620704" y="37219"/>
                </a:lnTo>
                <a:close/>
              </a:path>
              <a:path w="3943350" h="2394584">
                <a:moveTo>
                  <a:pt x="3605005" y="26346"/>
                </a:moveTo>
                <a:lnTo>
                  <a:pt x="3594342" y="58511"/>
                </a:lnTo>
                <a:lnTo>
                  <a:pt x="3610787" y="45229"/>
                </a:lnTo>
                <a:lnTo>
                  <a:pt x="3614799" y="33129"/>
                </a:lnTo>
                <a:lnTo>
                  <a:pt x="3605005" y="26346"/>
                </a:lnTo>
                <a:close/>
              </a:path>
              <a:path w="3943350" h="2394584">
                <a:moveTo>
                  <a:pt x="3614799" y="33129"/>
                </a:moveTo>
                <a:lnTo>
                  <a:pt x="3610787" y="45229"/>
                </a:lnTo>
                <a:lnTo>
                  <a:pt x="3620704" y="37219"/>
                </a:lnTo>
                <a:lnTo>
                  <a:pt x="3614799" y="33129"/>
                </a:lnTo>
                <a:close/>
              </a:path>
              <a:path w="3943350" h="2394584">
                <a:moveTo>
                  <a:pt x="3615855" y="29943"/>
                </a:moveTo>
                <a:lnTo>
                  <a:pt x="3614799" y="33129"/>
                </a:lnTo>
                <a:lnTo>
                  <a:pt x="3620704" y="37219"/>
                </a:lnTo>
                <a:lnTo>
                  <a:pt x="3623315" y="35110"/>
                </a:lnTo>
                <a:lnTo>
                  <a:pt x="3615855" y="29943"/>
                </a:lnTo>
                <a:close/>
              </a:path>
              <a:path w="3943350" h="2394584">
                <a:moveTo>
                  <a:pt x="3616911" y="26756"/>
                </a:moveTo>
                <a:lnTo>
                  <a:pt x="3615855" y="29943"/>
                </a:lnTo>
                <a:lnTo>
                  <a:pt x="3623315" y="35110"/>
                </a:lnTo>
                <a:lnTo>
                  <a:pt x="3625927" y="33001"/>
                </a:lnTo>
                <a:lnTo>
                  <a:pt x="3616911" y="26756"/>
                </a:lnTo>
                <a:close/>
              </a:path>
              <a:path w="3943350" h="2394584">
                <a:moveTo>
                  <a:pt x="3650045" y="23159"/>
                </a:moveTo>
                <a:lnTo>
                  <a:pt x="3606062" y="23159"/>
                </a:lnTo>
                <a:lnTo>
                  <a:pt x="3615855" y="29943"/>
                </a:lnTo>
                <a:lnTo>
                  <a:pt x="3616911" y="26756"/>
                </a:lnTo>
                <a:lnTo>
                  <a:pt x="3650640" y="26756"/>
                </a:lnTo>
                <a:lnTo>
                  <a:pt x="3650045" y="23159"/>
                </a:lnTo>
                <a:close/>
              </a:path>
              <a:path w="3943350" h="2394584">
                <a:moveTo>
                  <a:pt x="3649449" y="19563"/>
                </a:moveTo>
                <a:lnTo>
                  <a:pt x="3595212" y="19563"/>
                </a:lnTo>
                <a:lnTo>
                  <a:pt x="3605005" y="26346"/>
                </a:lnTo>
                <a:lnTo>
                  <a:pt x="3606062" y="23159"/>
                </a:lnTo>
                <a:lnTo>
                  <a:pt x="3650045" y="23159"/>
                </a:lnTo>
                <a:lnTo>
                  <a:pt x="3649449" y="19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53446" y="6133083"/>
            <a:ext cx="24199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C00000"/>
                </a:solidFill>
                <a:latin typeface="Arial"/>
                <a:cs typeface="Arial"/>
              </a:rPr>
              <a:t>Input:</a:t>
            </a:r>
            <a:r>
              <a:rPr dirty="0" sz="2800" spc="-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800" spc="-5">
                <a:solidFill>
                  <a:srgbClr val="C00000"/>
                </a:solidFill>
                <a:latin typeface="Arial"/>
                <a:cs typeface="Arial"/>
              </a:rPr>
              <a:t>Network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>
                <a:solidFill>
                  <a:srgbClr val="898989"/>
                </a:solidFill>
              </a:rPr>
              <a:t>Jure Leskovec, Stanford CS224W: Machine Learning with</a:t>
            </a:r>
            <a:r>
              <a:rPr dirty="0" spc="5">
                <a:solidFill>
                  <a:srgbClr val="898989"/>
                </a:solidFill>
              </a:rPr>
              <a:t> </a:t>
            </a:r>
            <a:r>
              <a:rPr dirty="0" spc="-5">
                <a:solidFill>
                  <a:srgbClr val="898989"/>
                </a:solidFill>
              </a:rPr>
              <a:t>Graphs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950"/>
              </a:lnSpc>
            </a:pPr>
            <a:r>
              <a:rPr dirty="0"/>
              <a:t>28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184141" y="5424932"/>
            <a:ext cx="3568065" cy="11258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Predictions: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Node</a:t>
            </a:r>
            <a:r>
              <a:rPr dirty="0" sz="2400" spc="-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labels,  New links, 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Generated 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graphs and</a:t>
            </a:r>
            <a:r>
              <a:rPr dirty="0" sz="2400" spc="-1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subgraphs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927" y="365759"/>
            <a:ext cx="7961376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8143240" cy="1120140"/>
          </a:xfrm>
          <a:prstGeom prst="rect"/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59"/>
              </a:spcBef>
            </a:pPr>
            <a:r>
              <a:rPr dirty="0" spc="-5">
                <a:solidFill>
                  <a:srgbClr val="000000"/>
                </a:solidFill>
              </a:rPr>
              <a:t>(Supervised) Machine Learning </a:t>
            </a:r>
            <a:r>
              <a:rPr dirty="0" spc="-20">
                <a:solidFill>
                  <a:srgbClr val="000000"/>
                </a:solidFill>
              </a:rPr>
              <a:t>Lifecycle:  </a:t>
            </a:r>
            <a:r>
              <a:rPr dirty="0" spc="-5">
                <a:solidFill>
                  <a:srgbClr val="000000"/>
                </a:solidFill>
              </a:rPr>
              <a:t>This </a:t>
            </a:r>
            <a:r>
              <a:rPr dirty="0" spc="-30">
                <a:solidFill>
                  <a:srgbClr val="000000"/>
                </a:solidFill>
              </a:rPr>
              <a:t>feature, </a:t>
            </a:r>
            <a:r>
              <a:rPr dirty="0" spc="-15">
                <a:solidFill>
                  <a:srgbClr val="000000"/>
                </a:solidFill>
              </a:rPr>
              <a:t>that </a:t>
            </a:r>
            <a:r>
              <a:rPr dirty="0" spc="-30">
                <a:solidFill>
                  <a:srgbClr val="000000"/>
                </a:solidFill>
              </a:rPr>
              <a:t>feature. </a:t>
            </a:r>
            <a:r>
              <a:rPr dirty="0" spc="-25"/>
              <a:t>Every </a:t>
            </a:r>
            <a:r>
              <a:rPr dirty="0" spc="-5"/>
              <a:t>single</a:t>
            </a:r>
            <a:r>
              <a:rPr dirty="0" spc="80"/>
              <a:t> </a:t>
            </a:r>
            <a:r>
              <a:rPr dirty="0" spc="-5"/>
              <a:t>time!</a:t>
            </a:r>
          </a:p>
        </p:txBody>
      </p:sp>
      <p:sp>
        <p:nvSpPr>
          <p:cNvPr id="4" name="object 4"/>
          <p:cNvSpPr/>
          <p:nvPr/>
        </p:nvSpPr>
        <p:spPr>
          <a:xfrm>
            <a:off x="1422402" y="3966413"/>
            <a:ext cx="933450" cy="142875"/>
          </a:xfrm>
          <a:custGeom>
            <a:avLst/>
            <a:gdLst/>
            <a:ahLst/>
            <a:cxnLst/>
            <a:rect l="l" t="t" r="r" b="b"/>
            <a:pathLst>
              <a:path w="933450" h="142875">
                <a:moveTo>
                  <a:pt x="790247" y="0"/>
                </a:moveTo>
                <a:lnTo>
                  <a:pt x="835967" y="57149"/>
                </a:lnTo>
                <a:lnTo>
                  <a:pt x="847397" y="57149"/>
                </a:lnTo>
                <a:lnTo>
                  <a:pt x="847397" y="85724"/>
                </a:lnTo>
                <a:lnTo>
                  <a:pt x="835967" y="85724"/>
                </a:lnTo>
                <a:lnTo>
                  <a:pt x="790247" y="142874"/>
                </a:lnTo>
                <a:lnTo>
                  <a:pt x="904547" y="85724"/>
                </a:lnTo>
                <a:lnTo>
                  <a:pt x="847397" y="85724"/>
                </a:lnTo>
                <a:lnTo>
                  <a:pt x="904549" y="85723"/>
                </a:lnTo>
                <a:lnTo>
                  <a:pt x="933122" y="71437"/>
                </a:lnTo>
                <a:lnTo>
                  <a:pt x="790247" y="0"/>
                </a:lnTo>
                <a:close/>
              </a:path>
              <a:path w="933450" h="142875">
                <a:moveTo>
                  <a:pt x="847397" y="71437"/>
                </a:moveTo>
                <a:lnTo>
                  <a:pt x="835967" y="85724"/>
                </a:lnTo>
                <a:lnTo>
                  <a:pt x="847397" y="85724"/>
                </a:lnTo>
                <a:lnTo>
                  <a:pt x="847397" y="71437"/>
                </a:lnTo>
                <a:close/>
              </a:path>
              <a:path w="933450" h="142875">
                <a:moveTo>
                  <a:pt x="0" y="57148"/>
                </a:moveTo>
                <a:lnTo>
                  <a:pt x="0" y="85723"/>
                </a:lnTo>
                <a:lnTo>
                  <a:pt x="835968" y="85723"/>
                </a:lnTo>
                <a:lnTo>
                  <a:pt x="847397" y="71437"/>
                </a:lnTo>
                <a:lnTo>
                  <a:pt x="835967" y="57149"/>
                </a:lnTo>
                <a:lnTo>
                  <a:pt x="0" y="57148"/>
                </a:lnTo>
                <a:close/>
              </a:path>
              <a:path w="933450" h="142875">
                <a:moveTo>
                  <a:pt x="835967" y="57149"/>
                </a:moveTo>
                <a:lnTo>
                  <a:pt x="847397" y="71437"/>
                </a:lnTo>
                <a:lnTo>
                  <a:pt x="847397" y="57149"/>
                </a:lnTo>
                <a:lnTo>
                  <a:pt x="835967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299525" y="3966413"/>
            <a:ext cx="800100" cy="142875"/>
          </a:xfrm>
          <a:custGeom>
            <a:avLst/>
            <a:gdLst/>
            <a:ahLst/>
            <a:cxnLst/>
            <a:rect l="l" t="t" r="r" b="b"/>
            <a:pathLst>
              <a:path w="800100" h="142875">
                <a:moveTo>
                  <a:pt x="656626" y="0"/>
                </a:moveTo>
                <a:lnTo>
                  <a:pt x="702346" y="57149"/>
                </a:lnTo>
                <a:lnTo>
                  <a:pt x="713776" y="57149"/>
                </a:lnTo>
                <a:lnTo>
                  <a:pt x="713776" y="85724"/>
                </a:lnTo>
                <a:lnTo>
                  <a:pt x="702346" y="85724"/>
                </a:lnTo>
                <a:lnTo>
                  <a:pt x="656626" y="142874"/>
                </a:lnTo>
                <a:lnTo>
                  <a:pt x="770926" y="85724"/>
                </a:lnTo>
                <a:lnTo>
                  <a:pt x="713776" y="85724"/>
                </a:lnTo>
                <a:lnTo>
                  <a:pt x="770929" y="85723"/>
                </a:lnTo>
                <a:lnTo>
                  <a:pt x="799501" y="71437"/>
                </a:lnTo>
                <a:lnTo>
                  <a:pt x="656626" y="0"/>
                </a:lnTo>
                <a:close/>
              </a:path>
              <a:path w="800100" h="142875">
                <a:moveTo>
                  <a:pt x="713776" y="71437"/>
                </a:moveTo>
                <a:lnTo>
                  <a:pt x="702346" y="85724"/>
                </a:lnTo>
                <a:lnTo>
                  <a:pt x="713776" y="85724"/>
                </a:lnTo>
                <a:lnTo>
                  <a:pt x="713776" y="71437"/>
                </a:lnTo>
                <a:close/>
              </a:path>
              <a:path w="800100" h="142875">
                <a:moveTo>
                  <a:pt x="0" y="57148"/>
                </a:moveTo>
                <a:lnTo>
                  <a:pt x="0" y="85723"/>
                </a:lnTo>
                <a:lnTo>
                  <a:pt x="702347" y="85723"/>
                </a:lnTo>
                <a:lnTo>
                  <a:pt x="713776" y="71437"/>
                </a:lnTo>
                <a:lnTo>
                  <a:pt x="702346" y="57149"/>
                </a:lnTo>
                <a:lnTo>
                  <a:pt x="0" y="57148"/>
                </a:lnTo>
                <a:close/>
              </a:path>
              <a:path w="800100" h="142875">
                <a:moveTo>
                  <a:pt x="702346" y="57149"/>
                </a:moveTo>
                <a:lnTo>
                  <a:pt x="713776" y="71437"/>
                </a:lnTo>
                <a:lnTo>
                  <a:pt x="713776" y="57149"/>
                </a:lnTo>
                <a:lnTo>
                  <a:pt x="702346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908801" y="3966413"/>
            <a:ext cx="711200" cy="142875"/>
          </a:xfrm>
          <a:custGeom>
            <a:avLst/>
            <a:gdLst/>
            <a:ahLst/>
            <a:cxnLst/>
            <a:rect l="l" t="t" r="r" b="b"/>
            <a:pathLst>
              <a:path w="711200" h="142875">
                <a:moveTo>
                  <a:pt x="568325" y="0"/>
                </a:moveTo>
                <a:lnTo>
                  <a:pt x="614044" y="57149"/>
                </a:lnTo>
                <a:lnTo>
                  <a:pt x="625475" y="57149"/>
                </a:lnTo>
                <a:lnTo>
                  <a:pt x="625475" y="85724"/>
                </a:lnTo>
                <a:lnTo>
                  <a:pt x="614045" y="85724"/>
                </a:lnTo>
                <a:lnTo>
                  <a:pt x="568325" y="142874"/>
                </a:lnTo>
                <a:lnTo>
                  <a:pt x="682625" y="85724"/>
                </a:lnTo>
                <a:lnTo>
                  <a:pt x="625475" y="85724"/>
                </a:lnTo>
                <a:lnTo>
                  <a:pt x="682627" y="85723"/>
                </a:lnTo>
                <a:lnTo>
                  <a:pt x="711200" y="71437"/>
                </a:lnTo>
                <a:lnTo>
                  <a:pt x="568325" y="0"/>
                </a:lnTo>
                <a:close/>
              </a:path>
              <a:path w="711200" h="142875">
                <a:moveTo>
                  <a:pt x="625475" y="71437"/>
                </a:moveTo>
                <a:lnTo>
                  <a:pt x="614045" y="85724"/>
                </a:lnTo>
                <a:lnTo>
                  <a:pt x="625475" y="85724"/>
                </a:lnTo>
                <a:lnTo>
                  <a:pt x="625475" y="71437"/>
                </a:lnTo>
                <a:close/>
              </a:path>
              <a:path w="711200" h="142875">
                <a:moveTo>
                  <a:pt x="0" y="57148"/>
                </a:moveTo>
                <a:lnTo>
                  <a:pt x="0" y="85723"/>
                </a:lnTo>
                <a:lnTo>
                  <a:pt x="614046" y="85723"/>
                </a:lnTo>
                <a:lnTo>
                  <a:pt x="625475" y="71437"/>
                </a:lnTo>
                <a:lnTo>
                  <a:pt x="614044" y="57149"/>
                </a:lnTo>
                <a:lnTo>
                  <a:pt x="0" y="57148"/>
                </a:lnTo>
                <a:close/>
              </a:path>
              <a:path w="711200" h="142875">
                <a:moveTo>
                  <a:pt x="614044" y="57149"/>
                </a:moveTo>
                <a:lnTo>
                  <a:pt x="625475" y="71437"/>
                </a:lnTo>
                <a:lnTo>
                  <a:pt x="625475" y="57149"/>
                </a:lnTo>
                <a:lnTo>
                  <a:pt x="61404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59639" y="4109866"/>
            <a:ext cx="616585" cy="919480"/>
          </a:xfrm>
          <a:custGeom>
            <a:avLst/>
            <a:gdLst/>
            <a:ahLst/>
            <a:cxnLst/>
            <a:rect l="l" t="t" r="r" b="b"/>
            <a:pathLst>
              <a:path w="616585" h="919479">
                <a:moveTo>
                  <a:pt x="0" y="771768"/>
                </a:moveTo>
                <a:lnTo>
                  <a:pt x="61163" y="919335"/>
                </a:lnTo>
                <a:lnTo>
                  <a:pt x="110427" y="836089"/>
                </a:lnTo>
                <a:lnTo>
                  <a:pt x="81316" y="836089"/>
                </a:lnTo>
                <a:lnTo>
                  <a:pt x="53012" y="832319"/>
                </a:lnTo>
                <a:lnTo>
                  <a:pt x="53163" y="831198"/>
                </a:lnTo>
                <a:lnTo>
                  <a:pt x="54718" y="822282"/>
                </a:lnTo>
                <a:lnTo>
                  <a:pt x="0" y="771768"/>
                </a:lnTo>
                <a:close/>
              </a:path>
              <a:path w="616585" h="919479">
                <a:moveTo>
                  <a:pt x="54718" y="822282"/>
                </a:moveTo>
                <a:lnTo>
                  <a:pt x="53163" y="831198"/>
                </a:lnTo>
                <a:lnTo>
                  <a:pt x="53012" y="832319"/>
                </a:lnTo>
                <a:lnTo>
                  <a:pt x="81316" y="836089"/>
                </a:lnTo>
                <a:lnTo>
                  <a:pt x="81708" y="833823"/>
                </a:lnTo>
                <a:lnTo>
                  <a:pt x="67221" y="833823"/>
                </a:lnTo>
                <a:lnTo>
                  <a:pt x="54718" y="822282"/>
                </a:lnTo>
                <a:close/>
              </a:path>
              <a:path w="616585" h="919479">
                <a:moveTo>
                  <a:pt x="142518" y="781864"/>
                </a:moveTo>
                <a:lnTo>
                  <a:pt x="83673" y="822470"/>
                </a:lnTo>
                <a:lnTo>
                  <a:pt x="81316" y="836089"/>
                </a:lnTo>
                <a:lnTo>
                  <a:pt x="110427" y="836089"/>
                </a:lnTo>
                <a:lnTo>
                  <a:pt x="142518" y="781864"/>
                </a:lnTo>
                <a:close/>
              </a:path>
              <a:path w="616585" h="919479">
                <a:moveTo>
                  <a:pt x="587937" y="0"/>
                </a:moveTo>
                <a:lnTo>
                  <a:pt x="586385" y="43013"/>
                </a:lnTo>
                <a:lnTo>
                  <a:pt x="581931" y="84698"/>
                </a:lnTo>
                <a:lnTo>
                  <a:pt x="574765" y="125764"/>
                </a:lnTo>
                <a:lnTo>
                  <a:pt x="565076" y="165858"/>
                </a:lnTo>
                <a:lnTo>
                  <a:pt x="553064" y="204635"/>
                </a:lnTo>
                <a:lnTo>
                  <a:pt x="538929" y="241743"/>
                </a:lnTo>
                <a:lnTo>
                  <a:pt x="522875" y="276833"/>
                </a:lnTo>
                <a:lnTo>
                  <a:pt x="485862" y="339556"/>
                </a:lnTo>
                <a:lnTo>
                  <a:pt x="443815" y="390009"/>
                </a:lnTo>
                <a:lnTo>
                  <a:pt x="398731" y="425477"/>
                </a:lnTo>
                <a:lnTo>
                  <a:pt x="353469" y="443449"/>
                </a:lnTo>
                <a:lnTo>
                  <a:pt x="318263" y="446322"/>
                </a:lnTo>
                <a:lnTo>
                  <a:pt x="304162" y="448443"/>
                </a:lnTo>
                <a:lnTo>
                  <a:pt x="262906" y="462857"/>
                </a:lnTo>
                <a:lnTo>
                  <a:pt x="224204" y="487671"/>
                </a:lnTo>
                <a:lnTo>
                  <a:pt x="176095" y="535089"/>
                </a:lnTo>
                <a:lnTo>
                  <a:pt x="133670" y="595787"/>
                </a:lnTo>
                <a:lnTo>
                  <a:pt x="114944" y="630278"/>
                </a:lnTo>
                <a:lnTo>
                  <a:pt x="98097" y="667095"/>
                </a:lnTo>
                <a:lnTo>
                  <a:pt x="83308" y="705920"/>
                </a:lnTo>
                <a:lnTo>
                  <a:pt x="70760" y="746427"/>
                </a:lnTo>
                <a:lnTo>
                  <a:pt x="60647" y="788294"/>
                </a:lnTo>
                <a:lnTo>
                  <a:pt x="54718" y="822282"/>
                </a:lnTo>
                <a:lnTo>
                  <a:pt x="67221" y="833823"/>
                </a:lnTo>
                <a:lnTo>
                  <a:pt x="83673" y="822470"/>
                </a:lnTo>
                <a:lnTo>
                  <a:pt x="88428" y="794985"/>
                </a:lnTo>
                <a:lnTo>
                  <a:pt x="98063" y="754863"/>
                </a:lnTo>
                <a:lnTo>
                  <a:pt x="110018" y="716072"/>
                </a:lnTo>
                <a:lnTo>
                  <a:pt x="124091" y="678963"/>
                </a:lnTo>
                <a:lnTo>
                  <a:pt x="140069" y="643887"/>
                </a:lnTo>
                <a:lnTo>
                  <a:pt x="176861" y="581232"/>
                </a:lnTo>
                <a:lnTo>
                  <a:pt x="218513" y="530877"/>
                </a:lnTo>
                <a:lnTo>
                  <a:pt x="263377" y="495157"/>
                </a:lnTo>
                <a:lnTo>
                  <a:pt x="308558" y="476677"/>
                </a:lnTo>
                <a:lnTo>
                  <a:pt x="346564" y="473375"/>
                </a:lnTo>
                <a:lnTo>
                  <a:pt x="360567" y="471128"/>
                </a:lnTo>
                <a:lnTo>
                  <a:pt x="401461" y="456497"/>
                </a:lnTo>
                <a:lnTo>
                  <a:pt x="440528" y="431110"/>
                </a:lnTo>
                <a:lnTo>
                  <a:pt x="488105" y="383772"/>
                </a:lnTo>
                <a:lnTo>
                  <a:pt x="530239" y="323164"/>
                </a:lnTo>
                <a:lnTo>
                  <a:pt x="548868" y="288701"/>
                </a:lnTo>
                <a:lnTo>
                  <a:pt x="565640" y="251895"/>
                </a:lnTo>
                <a:lnTo>
                  <a:pt x="580365" y="213071"/>
                </a:lnTo>
                <a:lnTo>
                  <a:pt x="592857" y="172549"/>
                </a:lnTo>
                <a:lnTo>
                  <a:pt x="602917" y="130655"/>
                </a:lnTo>
                <a:lnTo>
                  <a:pt x="610346" y="87711"/>
                </a:lnTo>
                <a:lnTo>
                  <a:pt x="614941" y="44043"/>
                </a:lnTo>
                <a:lnTo>
                  <a:pt x="616493" y="1029"/>
                </a:lnTo>
                <a:lnTo>
                  <a:pt x="587937" y="0"/>
                </a:lnTo>
                <a:close/>
              </a:path>
              <a:path w="616585" h="919479">
                <a:moveTo>
                  <a:pt x="83673" y="822470"/>
                </a:moveTo>
                <a:lnTo>
                  <a:pt x="67221" y="833823"/>
                </a:lnTo>
                <a:lnTo>
                  <a:pt x="81708" y="833823"/>
                </a:lnTo>
                <a:lnTo>
                  <a:pt x="83673" y="82247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30612" y="5026138"/>
            <a:ext cx="1197610" cy="800735"/>
          </a:xfrm>
          <a:custGeom>
            <a:avLst/>
            <a:gdLst/>
            <a:ahLst/>
            <a:cxnLst/>
            <a:rect l="l" t="t" r="r" b="b"/>
            <a:pathLst>
              <a:path w="1197610" h="800735">
                <a:moveTo>
                  <a:pt x="44842" y="0"/>
                </a:moveTo>
                <a:lnTo>
                  <a:pt x="0" y="70852"/>
                </a:lnTo>
                <a:lnTo>
                  <a:pt x="520343" y="400175"/>
                </a:lnTo>
                <a:lnTo>
                  <a:pt x="0" y="729497"/>
                </a:lnTo>
                <a:lnTo>
                  <a:pt x="44842" y="800348"/>
                </a:lnTo>
                <a:lnTo>
                  <a:pt x="598739" y="449792"/>
                </a:lnTo>
                <a:lnTo>
                  <a:pt x="755530" y="449792"/>
                </a:lnTo>
                <a:lnTo>
                  <a:pt x="677133" y="400175"/>
                </a:lnTo>
                <a:lnTo>
                  <a:pt x="755533" y="350556"/>
                </a:lnTo>
                <a:lnTo>
                  <a:pt x="598739" y="350556"/>
                </a:lnTo>
                <a:lnTo>
                  <a:pt x="44842" y="0"/>
                </a:lnTo>
                <a:close/>
              </a:path>
              <a:path w="1197610" h="800735">
                <a:moveTo>
                  <a:pt x="755530" y="449792"/>
                </a:moveTo>
                <a:lnTo>
                  <a:pt x="598739" y="449792"/>
                </a:lnTo>
                <a:lnTo>
                  <a:pt x="1152635" y="800348"/>
                </a:lnTo>
                <a:lnTo>
                  <a:pt x="1197478" y="729497"/>
                </a:lnTo>
                <a:lnTo>
                  <a:pt x="755530" y="449792"/>
                </a:lnTo>
                <a:close/>
              </a:path>
              <a:path w="1197610" h="800735">
                <a:moveTo>
                  <a:pt x="1152635" y="0"/>
                </a:moveTo>
                <a:lnTo>
                  <a:pt x="598739" y="350556"/>
                </a:lnTo>
                <a:lnTo>
                  <a:pt x="755533" y="350556"/>
                </a:lnTo>
                <a:lnTo>
                  <a:pt x="1197478" y="70852"/>
                </a:lnTo>
                <a:lnTo>
                  <a:pt x="11526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0612" y="5026138"/>
            <a:ext cx="1197610" cy="800735"/>
          </a:xfrm>
          <a:custGeom>
            <a:avLst/>
            <a:gdLst/>
            <a:ahLst/>
            <a:cxnLst/>
            <a:rect l="l" t="t" r="r" b="b"/>
            <a:pathLst>
              <a:path w="1197610" h="800735">
                <a:moveTo>
                  <a:pt x="0" y="70851"/>
                </a:moveTo>
                <a:lnTo>
                  <a:pt x="44842" y="0"/>
                </a:lnTo>
                <a:lnTo>
                  <a:pt x="598739" y="350556"/>
                </a:lnTo>
                <a:lnTo>
                  <a:pt x="1152636" y="0"/>
                </a:lnTo>
                <a:lnTo>
                  <a:pt x="1197478" y="70851"/>
                </a:lnTo>
                <a:lnTo>
                  <a:pt x="677134" y="400175"/>
                </a:lnTo>
                <a:lnTo>
                  <a:pt x="1197478" y="729496"/>
                </a:lnTo>
                <a:lnTo>
                  <a:pt x="1152636" y="800348"/>
                </a:lnTo>
                <a:lnTo>
                  <a:pt x="598739" y="449791"/>
                </a:lnTo>
                <a:lnTo>
                  <a:pt x="44842" y="800348"/>
                </a:lnTo>
                <a:lnTo>
                  <a:pt x="0" y="729496"/>
                </a:lnTo>
                <a:lnTo>
                  <a:pt x="520344" y="400175"/>
                </a:lnTo>
                <a:lnTo>
                  <a:pt x="0" y="70851"/>
                </a:lnTo>
                <a:close/>
              </a:path>
            </a:pathLst>
          </a:custGeom>
          <a:ln w="9525">
            <a:solidFill>
              <a:srgbClr val="5A63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3301" y="3505200"/>
            <a:ext cx="1259205" cy="1065530"/>
          </a:xfrm>
          <a:custGeom>
            <a:avLst/>
            <a:gdLst/>
            <a:ahLst/>
            <a:cxnLst/>
            <a:rect l="l" t="t" r="r" b="b"/>
            <a:pathLst>
              <a:path w="1259205" h="1065529">
                <a:moveTo>
                  <a:pt x="0" y="177553"/>
                </a:moveTo>
                <a:lnTo>
                  <a:pt x="6342" y="130352"/>
                </a:lnTo>
                <a:lnTo>
                  <a:pt x="24241" y="87938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081547" y="0"/>
                </a:lnTo>
                <a:lnTo>
                  <a:pt x="1128747" y="6342"/>
                </a:lnTo>
                <a:lnTo>
                  <a:pt x="1171161" y="24241"/>
                </a:lnTo>
                <a:lnTo>
                  <a:pt x="1207096" y="52004"/>
                </a:lnTo>
                <a:lnTo>
                  <a:pt x="1234858" y="87938"/>
                </a:lnTo>
                <a:lnTo>
                  <a:pt x="1252757" y="130352"/>
                </a:lnTo>
                <a:lnTo>
                  <a:pt x="1259100" y="177553"/>
                </a:lnTo>
                <a:lnTo>
                  <a:pt x="1259100" y="887746"/>
                </a:lnTo>
                <a:lnTo>
                  <a:pt x="1252757" y="934947"/>
                </a:lnTo>
                <a:lnTo>
                  <a:pt x="1234858" y="977361"/>
                </a:lnTo>
                <a:lnTo>
                  <a:pt x="1207096" y="1013295"/>
                </a:lnTo>
                <a:lnTo>
                  <a:pt x="1171161" y="1041058"/>
                </a:lnTo>
                <a:lnTo>
                  <a:pt x="1128747" y="1058957"/>
                </a:lnTo>
                <a:lnTo>
                  <a:pt x="1081547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1"/>
                </a:lnTo>
                <a:lnTo>
                  <a:pt x="6342" y="934947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03913" y="3591051"/>
            <a:ext cx="777875" cy="8699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 indent="19685">
              <a:lnSpc>
                <a:spcPts val="3290"/>
              </a:lnSpc>
              <a:spcBef>
                <a:spcPts val="265"/>
              </a:spcBef>
            </a:pPr>
            <a:r>
              <a:rPr dirty="0" sz="2800">
                <a:latin typeface="Arial"/>
                <a:cs typeface="Arial"/>
              </a:rPr>
              <a:t>Raw  D</a:t>
            </a:r>
            <a:r>
              <a:rPr dirty="0" sz="2800" spc="0">
                <a:latin typeface="Arial"/>
                <a:cs typeface="Arial"/>
              </a:rPr>
              <a:t>a</a:t>
            </a:r>
            <a:r>
              <a:rPr dirty="0" sz="2800" spc="-5">
                <a:latin typeface="Arial"/>
                <a:cs typeface="Arial"/>
              </a:rPr>
              <a:t>t</a:t>
            </a:r>
            <a:r>
              <a:rPr dirty="0" sz="280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55524" y="3505200"/>
            <a:ext cx="1944370" cy="1065530"/>
          </a:xfrm>
          <a:custGeom>
            <a:avLst/>
            <a:gdLst/>
            <a:ahLst/>
            <a:cxnLst/>
            <a:rect l="l" t="t" r="r" b="b"/>
            <a:pathLst>
              <a:path w="1944370" h="1065529">
                <a:moveTo>
                  <a:pt x="0" y="177553"/>
                </a:moveTo>
                <a:lnTo>
                  <a:pt x="6342" y="130353"/>
                </a:lnTo>
                <a:lnTo>
                  <a:pt x="24241" y="87939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766446" y="0"/>
                </a:lnTo>
                <a:lnTo>
                  <a:pt x="1813646" y="6342"/>
                </a:lnTo>
                <a:lnTo>
                  <a:pt x="1856060" y="24241"/>
                </a:lnTo>
                <a:lnTo>
                  <a:pt x="1891995" y="52004"/>
                </a:lnTo>
                <a:lnTo>
                  <a:pt x="1919758" y="87939"/>
                </a:lnTo>
                <a:lnTo>
                  <a:pt x="1937657" y="130353"/>
                </a:lnTo>
                <a:lnTo>
                  <a:pt x="1944000" y="177553"/>
                </a:lnTo>
                <a:lnTo>
                  <a:pt x="1944000" y="887746"/>
                </a:lnTo>
                <a:lnTo>
                  <a:pt x="1937657" y="934946"/>
                </a:lnTo>
                <a:lnTo>
                  <a:pt x="1919758" y="977360"/>
                </a:lnTo>
                <a:lnTo>
                  <a:pt x="1891995" y="1013295"/>
                </a:lnTo>
                <a:lnTo>
                  <a:pt x="1856060" y="1041058"/>
                </a:lnTo>
                <a:lnTo>
                  <a:pt x="1813646" y="1058957"/>
                </a:lnTo>
                <a:lnTo>
                  <a:pt x="1766446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0"/>
                </a:lnTo>
                <a:lnTo>
                  <a:pt x="6342" y="934946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819524" y="3584955"/>
            <a:ext cx="1015365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31445" marR="5080" indent="-119380">
              <a:lnSpc>
                <a:spcPct val="101400"/>
              </a:lnSpc>
              <a:spcBef>
                <a:spcPts val="50"/>
              </a:spcBef>
            </a:pPr>
            <a:r>
              <a:rPr dirty="0" sz="2800" spc="-5">
                <a:latin typeface="Arial"/>
                <a:cs typeface="Arial"/>
              </a:rPr>
              <a:t>G</a:t>
            </a:r>
            <a:r>
              <a:rPr dirty="0" sz="2800" spc="0">
                <a:latin typeface="Arial"/>
                <a:cs typeface="Arial"/>
              </a:rPr>
              <a:t>r</a:t>
            </a:r>
            <a:r>
              <a:rPr dirty="0" sz="2800">
                <a:latin typeface="Arial"/>
                <a:cs typeface="Arial"/>
              </a:rPr>
              <a:t>aph  </a:t>
            </a:r>
            <a:r>
              <a:rPr dirty="0" sz="2800" spc="-5"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99027" y="3505200"/>
            <a:ext cx="1810385" cy="1065530"/>
          </a:xfrm>
          <a:custGeom>
            <a:avLst/>
            <a:gdLst/>
            <a:ahLst/>
            <a:cxnLst/>
            <a:rect l="l" t="t" r="r" b="b"/>
            <a:pathLst>
              <a:path w="1810384" h="1065529">
                <a:moveTo>
                  <a:pt x="0" y="177553"/>
                </a:moveTo>
                <a:lnTo>
                  <a:pt x="6342" y="130352"/>
                </a:lnTo>
                <a:lnTo>
                  <a:pt x="24241" y="87938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632222" y="0"/>
                </a:lnTo>
                <a:lnTo>
                  <a:pt x="1679422" y="6342"/>
                </a:lnTo>
                <a:lnTo>
                  <a:pt x="1721836" y="24241"/>
                </a:lnTo>
                <a:lnTo>
                  <a:pt x="1757771" y="52004"/>
                </a:lnTo>
                <a:lnTo>
                  <a:pt x="1785533" y="87938"/>
                </a:lnTo>
                <a:lnTo>
                  <a:pt x="1803432" y="130352"/>
                </a:lnTo>
                <a:lnTo>
                  <a:pt x="1809775" y="177553"/>
                </a:lnTo>
                <a:lnTo>
                  <a:pt x="1809775" y="887746"/>
                </a:lnTo>
                <a:lnTo>
                  <a:pt x="1803432" y="934947"/>
                </a:lnTo>
                <a:lnTo>
                  <a:pt x="1785533" y="977361"/>
                </a:lnTo>
                <a:lnTo>
                  <a:pt x="1757771" y="1013295"/>
                </a:lnTo>
                <a:lnTo>
                  <a:pt x="1721836" y="1041058"/>
                </a:lnTo>
                <a:lnTo>
                  <a:pt x="1679422" y="1058957"/>
                </a:lnTo>
                <a:lnTo>
                  <a:pt x="1632222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1"/>
                </a:lnTo>
                <a:lnTo>
                  <a:pt x="6342" y="934947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238738" y="3581907"/>
            <a:ext cx="1530350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57785">
              <a:lnSpc>
                <a:spcPct val="101400"/>
              </a:lnSpc>
              <a:spcBef>
                <a:spcPts val="50"/>
              </a:spcBef>
            </a:pPr>
            <a:r>
              <a:rPr dirty="0" sz="2800">
                <a:latin typeface="Arial"/>
                <a:cs typeface="Arial"/>
              </a:rPr>
              <a:t>Learning  </a:t>
            </a:r>
            <a:r>
              <a:rPr dirty="0" sz="2800" spc="-10">
                <a:latin typeface="Arial"/>
                <a:cs typeface="Arial"/>
              </a:rPr>
              <a:t>A</a:t>
            </a:r>
            <a:r>
              <a:rPr dirty="0" sz="2800">
                <a:latin typeface="Arial"/>
                <a:cs typeface="Arial"/>
              </a:rPr>
              <a:t>l</a:t>
            </a:r>
            <a:r>
              <a:rPr dirty="0" sz="2800" spc="0">
                <a:latin typeface="Arial"/>
                <a:cs typeface="Arial"/>
              </a:rPr>
              <a:t>gor</a:t>
            </a:r>
            <a:r>
              <a:rPr dirty="0" sz="2800">
                <a:latin typeface="Arial"/>
                <a:cs typeface="Arial"/>
              </a:rPr>
              <a:t>i</a:t>
            </a:r>
            <a:r>
              <a:rPr dirty="0" sz="2800" spc="-5">
                <a:latin typeface="Arial"/>
                <a:cs typeface="Arial"/>
              </a:rPr>
              <a:t>t</a:t>
            </a:r>
            <a:r>
              <a:rPr dirty="0" sz="2800" spc="0">
                <a:latin typeface="Arial"/>
                <a:cs typeface="Arial"/>
              </a:rPr>
              <a:t>h</a:t>
            </a:r>
            <a:r>
              <a:rPr dirty="0" sz="280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620002" y="3505200"/>
            <a:ext cx="1321435" cy="1065530"/>
          </a:xfrm>
          <a:custGeom>
            <a:avLst/>
            <a:gdLst/>
            <a:ahLst/>
            <a:cxnLst/>
            <a:rect l="l" t="t" r="r" b="b"/>
            <a:pathLst>
              <a:path w="1321434" h="1065529">
                <a:moveTo>
                  <a:pt x="0" y="177554"/>
                </a:moveTo>
                <a:lnTo>
                  <a:pt x="6342" y="130353"/>
                </a:lnTo>
                <a:lnTo>
                  <a:pt x="24241" y="87939"/>
                </a:lnTo>
                <a:lnTo>
                  <a:pt x="52004" y="52004"/>
                </a:lnTo>
                <a:lnTo>
                  <a:pt x="87939" y="24241"/>
                </a:lnTo>
                <a:lnTo>
                  <a:pt x="130353" y="6342"/>
                </a:lnTo>
                <a:lnTo>
                  <a:pt x="177554" y="0"/>
                </a:lnTo>
                <a:lnTo>
                  <a:pt x="1143397" y="0"/>
                </a:lnTo>
                <a:lnTo>
                  <a:pt x="1190597" y="6342"/>
                </a:lnTo>
                <a:lnTo>
                  <a:pt x="1233011" y="24241"/>
                </a:lnTo>
                <a:lnTo>
                  <a:pt x="1268946" y="52004"/>
                </a:lnTo>
                <a:lnTo>
                  <a:pt x="1296709" y="87939"/>
                </a:lnTo>
                <a:lnTo>
                  <a:pt x="1314608" y="130353"/>
                </a:lnTo>
                <a:lnTo>
                  <a:pt x="1320951" y="177554"/>
                </a:lnTo>
                <a:lnTo>
                  <a:pt x="1320951" y="887745"/>
                </a:lnTo>
                <a:lnTo>
                  <a:pt x="1314608" y="934946"/>
                </a:lnTo>
                <a:lnTo>
                  <a:pt x="1296709" y="977360"/>
                </a:lnTo>
                <a:lnTo>
                  <a:pt x="1268946" y="1013295"/>
                </a:lnTo>
                <a:lnTo>
                  <a:pt x="1233011" y="1041058"/>
                </a:lnTo>
                <a:lnTo>
                  <a:pt x="1190597" y="1058957"/>
                </a:lnTo>
                <a:lnTo>
                  <a:pt x="1143397" y="1065300"/>
                </a:lnTo>
                <a:lnTo>
                  <a:pt x="177554" y="1065300"/>
                </a:lnTo>
                <a:lnTo>
                  <a:pt x="130353" y="1058957"/>
                </a:lnTo>
                <a:lnTo>
                  <a:pt x="87939" y="1041058"/>
                </a:lnTo>
                <a:lnTo>
                  <a:pt x="52004" y="1013295"/>
                </a:lnTo>
                <a:lnTo>
                  <a:pt x="24241" y="977360"/>
                </a:lnTo>
                <a:lnTo>
                  <a:pt x="6342" y="934946"/>
                </a:lnTo>
                <a:lnTo>
                  <a:pt x="0" y="887745"/>
                </a:lnTo>
                <a:lnTo>
                  <a:pt x="0" y="177554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782000" y="3804411"/>
            <a:ext cx="9975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0">
                <a:latin typeface="Arial"/>
                <a:cs typeface="Arial"/>
              </a:rPr>
              <a:t>Model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88001" y="4838536"/>
            <a:ext cx="2950210" cy="160020"/>
          </a:xfrm>
          <a:custGeom>
            <a:avLst/>
            <a:gdLst/>
            <a:ahLst/>
            <a:cxnLst/>
            <a:rect l="l" t="t" r="r" b="b"/>
            <a:pathLst>
              <a:path w="2950209" h="160020">
                <a:moveTo>
                  <a:pt x="142424" y="16728"/>
                </a:moveTo>
                <a:lnTo>
                  <a:pt x="0" y="89061"/>
                </a:lnTo>
                <a:lnTo>
                  <a:pt x="143320" y="159600"/>
                </a:lnTo>
                <a:lnTo>
                  <a:pt x="97300" y="102810"/>
                </a:lnTo>
                <a:lnTo>
                  <a:pt x="85820" y="102810"/>
                </a:lnTo>
                <a:lnTo>
                  <a:pt x="85641" y="74236"/>
                </a:lnTo>
                <a:lnTo>
                  <a:pt x="97063" y="74164"/>
                </a:lnTo>
                <a:lnTo>
                  <a:pt x="142424" y="16728"/>
                </a:lnTo>
                <a:close/>
              </a:path>
              <a:path w="2950209" h="160020">
                <a:moveTo>
                  <a:pt x="2921889" y="56789"/>
                </a:moveTo>
                <a:lnTo>
                  <a:pt x="2864008" y="56789"/>
                </a:lnTo>
                <a:lnTo>
                  <a:pt x="2864187" y="85364"/>
                </a:lnTo>
                <a:lnTo>
                  <a:pt x="2852762" y="85436"/>
                </a:lnTo>
                <a:lnTo>
                  <a:pt x="2807402" y="142872"/>
                </a:lnTo>
                <a:lnTo>
                  <a:pt x="2949825" y="70538"/>
                </a:lnTo>
                <a:lnTo>
                  <a:pt x="2921889" y="56789"/>
                </a:lnTo>
                <a:close/>
              </a:path>
              <a:path w="2950209" h="160020">
                <a:moveTo>
                  <a:pt x="85730" y="88532"/>
                </a:moveTo>
                <a:lnTo>
                  <a:pt x="85820" y="102810"/>
                </a:lnTo>
                <a:lnTo>
                  <a:pt x="97242" y="102738"/>
                </a:lnTo>
                <a:lnTo>
                  <a:pt x="85730" y="88532"/>
                </a:lnTo>
                <a:close/>
              </a:path>
              <a:path w="2950209" h="160020">
                <a:moveTo>
                  <a:pt x="97242" y="102738"/>
                </a:moveTo>
                <a:lnTo>
                  <a:pt x="85820" y="102810"/>
                </a:lnTo>
                <a:lnTo>
                  <a:pt x="97300" y="102810"/>
                </a:lnTo>
                <a:close/>
              </a:path>
              <a:path w="2950209" h="160020">
                <a:moveTo>
                  <a:pt x="2852582" y="56861"/>
                </a:moveTo>
                <a:lnTo>
                  <a:pt x="97063" y="74164"/>
                </a:lnTo>
                <a:lnTo>
                  <a:pt x="85730" y="88532"/>
                </a:lnTo>
                <a:lnTo>
                  <a:pt x="97242" y="102738"/>
                </a:lnTo>
                <a:lnTo>
                  <a:pt x="2852762" y="85436"/>
                </a:lnTo>
                <a:lnTo>
                  <a:pt x="2864098" y="71071"/>
                </a:lnTo>
                <a:lnTo>
                  <a:pt x="2852582" y="56861"/>
                </a:lnTo>
                <a:close/>
              </a:path>
              <a:path w="2950209" h="160020">
                <a:moveTo>
                  <a:pt x="97063" y="74164"/>
                </a:moveTo>
                <a:lnTo>
                  <a:pt x="85641" y="74236"/>
                </a:lnTo>
                <a:lnTo>
                  <a:pt x="85730" y="88515"/>
                </a:lnTo>
                <a:lnTo>
                  <a:pt x="97063" y="74164"/>
                </a:lnTo>
                <a:close/>
              </a:path>
              <a:path w="2950209" h="160020">
                <a:moveTo>
                  <a:pt x="2864098" y="71082"/>
                </a:moveTo>
                <a:lnTo>
                  <a:pt x="2852762" y="85436"/>
                </a:lnTo>
                <a:lnTo>
                  <a:pt x="2864187" y="85364"/>
                </a:lnTo>
                <a:lnTo>
                  <a:pt x="2864098" y="71082"/>
                </a:lnTo>
                <a:close/>
              </a:path>
              <a:path w="2950209" h="160020">
                <a:moveTo>
                  <a:pt x="2864008" y="56789"/>
                </a:moveTo>
                <a:lnTo>
                  <a:pt x="2852582" y="56861"/>
                </a:lnTo>
                <a:lnTo>
                  <a:pt x="2864098" y="71071"/>
                </a:lnTo>
                <a:lnTo>
                  <a:pt x="2864008" y="56789"/>
                </a:lnTo>
                <a:close/>
              </a:path>
              <a:path w="2950209" h="160020">
                <a:moveTo>
                  <a:pt x="2806504" y="0"/>
                </a:moveTo>
                <a:lnTo>
                  <a:pt x="2852582" y="56861"/>
                </a:lnTo>
                <a:lnTo>
                  <a:pt x="2921889" y="56789"/>
                </a:lnTo>
                <a:lnTo>
                  <a:pt x="280650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280595" y="4994147"/>
            <a:ext cx="166243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541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5A6378"/>
                </a:solidFill>
                <a:latin typeface="Arial"/>
                <a:cs typeface="Arial"/>
              </a:rPr>
              <a:t>Downstream  prediction</a:t>
            </a:r>
            <a:r>
              <a:rPr dirty="0" sz="2000" spc="-55">
                <a:solidFill>
                  <a:srgbClr val="5A6378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5A6378"/>
                </a:solidFill>
                <a:latin typeface="Arial"/>
                <a:cs typeface="Arial"/>
              </a:rPr>
              <a:t>task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>
                <a:solidFill>
                  <a:srgbClr val="898989"/>
                </a:solidFill>
              </a:rPr>
              <a:t>Jure Leskovec, Stanford CS224W: Machine Learning with</a:t>
            </a:r>
            <a:r>
              <a:rPr dirty="0" spc="5">
                <a:solidFill>
                  <a:srgbClr val="898989"/>
                </a:solidFill>
              </a:rPr>
              <a:t> </a:t>
            </a:r>
            <a:r>
              <a:rPr dirty="0" spc="-5">
                <a:solidFill>
                  <a:srgbClr val="898989"/>
                </a:solidFill>
              </a:rPr>
              <a:t>Graphs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950"/>
              </a:lnSpc>
            </a:pPr>
            <a:r>
              <a:rPr dirty="0"/>
              <a:t>29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33805" y="4994147"/>
            <a:ext cx="138239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413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5A6378"/>
                </a:solidFill>
                <a:latin typeface="Arial"/>
                <a:cs typeface="Arial"/>
              </a:rPr>
              <a:t>Feature  </a:t>
            </a:r>
            <a:r>
              <a:rPr dirty="0" sz="2000">
                <a:solidFill>
                  <a:srgbClr val="5A6378"/>
                </a:solidFill>
                <a:latin typeface="Arial"/>
                <a:cs typeface="Arial"/>
              </a:rPr>
              <a:t>E</a:t>
            </a:r>
            <a:r>
              <a:rPr dirty="0" sz="2000" spc="-5">
                <a:solidFill>
                  <a:srgbClr val="5A6378"/>
                </a:solidFill>
                <a:latin typeface="Arial"/>
                <a:cs typeface="Arial"/>
              </a:rPr>
              <a:t>ng</a:t>
            </a:r>
            <a:r>
              <a:rPr dirty="0" sz="2000" spc="0">
                <a:solidFill>
                  <a:srgbClr val="5A6378"/>
                </a:solidFill>
                <a:latin typeface="Arial"/>
                <a:cs typeface="Arial"/>
              </a:rPr>
              <a:t>i</a:t>
            </a:r>
            <a:r>
              <a:rPr dirty="0" sz="2000" spc="-5">
                <a:solidFill>
                  <a:srgbClr val="5A6378"/>
                </a:solidFill>
                <a:latin typeface="Arial"/>
                <a:cs typeface="Arial"/>
              </a:rPr>
              <a:t>neer</a:t>
            </a:r>
            <a:r>
              <a:rPr dirty="0" sz="2000" spc="0">
                <a:solidFill>
                  <a:srgbClr val="5A6378"/>
                </a:solidFill>
                <a:latin typeface="Arial"/>
                <a:cs typeface="Arial"/>
              </a:rPr>
              <a:t>i</a:t>
            </a:r>
            <a:r>
              <a:rPr dirty="0" sz="2000" spc="-5">
                <a:solidFill>
                  <a:srgbClr val="5A6378"/>
                </a:solidFill>
                <a:latin typeface="Arial"/>
                <a:cs typeface="Arial"/>
              </a:rPr>
              <a:t>n</a:t>
            </a:r>
            <a:r>
              <a:rPr dirty="0" sz="2000">
                <a:solidFill>
                  <a:srgbClr val="5A6378"/>
                </a:solidFill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02270" y="4944364"/>
            <a:ext cx="2800350" cy="1735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 indent="-2540">
              <a:lnSpc>
                <a:spcPct val="100200"/>
              </a:lnSpc>
              <a:spcBef>
                <a:spcPts val="90"/>
              </a:spcBef>
            </a:pPr>
            <a:r>
              <a:rPr dirty="0" sz="2800" spc="-5">
                <a:solidFill>
                  <a:srgbClr val="C00000"/>
                </a:solidFill>
                <a:latin typeface="Arial"/>
                <a:cs typeface="Arial"/>
              </a:rPr>
              <a:t>Representation  </a:t>
            </a:r>
            <a:r>
              <a:rPr dirty="0" sz="2800">
                <a:solidFill>
                  <a:srgbClr val="C00000"/>
                </a:solidFill>
                <a:latin typeface="Arial"/>
                <a:cs typeface="Arial"/>
              </a:rPr>
              <a:t>Learning --  </a:t>
            </a:r>
            <a:r>
              <a:rPr dirty="0" sz="2800" spc="-5">
                <a:latin typeface="Arial"/>
                <a:cs typeface="Arial"/>
              </a:rPr>
              <a:t>Automatically  </a:t>
            </a:r>
            <a:r>
              <a:rPr dirty="0" sz="2800">
                <a:latin typeface="Arial"/>
                <a:cs typeface="Arial"/>
              </a:rPr>
              <a:t>learn </a:t>
            </a:r>
            <a:r>
              <a:rPr dirty="0" sz="2800" spc="-5">
                <a:latin typeface="Arial"/>
                <a:cs typeface="Arial"/>
              </a:rPr>
              <a:t>the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 spc="-5">
                <a:latin typeface="Arial"/>
                <a:cs typeface="Arial"/>
              </a:rPr>
              <a:t>features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927" y="377952"/>
            <a:ext cx="7961376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2704" y="1588515"/>
            <a:ext cx="7981950" cy="2275205"/>
          </a:xfrm>
          <a:prstGeom prst="rect"/>
        </p:spPr>
        <p:txBody>
          <a:bodyPr wrap="square" lIns="0" tIns="75565" rIns="0" bIns="0" rtlCol="0" vert="horz">
            <a:spAutoFit/>
          </a:bodyPr>
          <a:lstStyle/>
          <a:p>
            <a:pPr algn="ctr" marL="12065" marR="5080" indent="635">
              <a:lnSpc>
                <a:spcPct val="89700"/>
              </a:lnSpc>
              <a:spcBef>
                <a:spcPts val="595"/>
              </a:spcBef>
            </a:pPr>
            <a:r>
              <a:rPr dirty="0" sz="4000" spc="-5">
                <a:solidFill>
                  <a:srgbClr val="000000"/>
                </a:solidFill>
              </a:rPr>
              <a:t>Map nodes </a:t>
            </a:r>
            <a:r>
              <a:rPr dirty="0" sz="4000" spc="-25">
                <a:solidFill>
                  <a:srgbClr val="000000"/>
                </a:solidFill>
              </a:rPr>
              <a:t>to </a:t>
            </a:r>
            <a:r>
              <a:rPr dirty="0" sz="4000" spc="-5">
                <a:solidFill>
                  <a:srgbClr val="000000"/>
                </a:solidFill>
              </a:rPr>
              <a:t>d-dimensional  </a:t>
            </a:r>
            <a:r>
              <a:rPr dirty="0" sz="4000" spc="-5" b="1">
                <a:solidFill>
                  <a:srgbClr val="000000"/>
                </a:solidFill>
                <a:latin typeface="Calibri"/>
                <a:cs typeface="Calibri"/>
              </a:rPr>
              <a:t>embeddings </a:t>
            </a:r>
            <a:r>
              <a:rPr dirty="0" sz="4000" spc="-5">
                <a:solidFill>
                  <a:srgbClr val="000000"/>
                </a:solidFill>
              </a:rPr>
              <a:t>such </a:t>
            </a:r>
            <a:r>
              <a:rPr dirty="0" sz="4000" spc="-15">
                <a:solidFill>
                  <a:srgbClr val="000000"/>
                </a:solidFill>
              </a:rPr>
              <a:t>that </a:t>
            </a:r>
            <a:r>
              <a:rPr dirty="0" sz="4000" spc="-10"/>
              <a:t>similar </a:t>
            </a:r>
            <a:r>
              <a:rPr dirty="0" sz="4000" spc="-5"/>
              <a:t>nodes in  the </a:t>
            </a:r>
            <a:r>
              <a:rPr dirty="0" sz="4000" spc="-15"/>
              <a:t>network </a:t>
            </a:r>
            <a:r>
              <a:rPr dirty="0" sz="4000" spc="-20">
                <a:solidFill>
                  <a:srgbClr val="000000"/>
                </a:solidFill>
              </a:rPr>
              <a:t>are </a:t>
            </a:r>
            <a:r>
              <a:rPr dirty="0" sz="4000" spc="-5"/>
              <a:t>embedded close  </a:t>
            </a:r>
            <a:r>
              <a:rPr dirty="0" sz="4000" spc="-15"/>
              <a:t>together</a:t>
            </a:r>
            <a:endParaRPr sz="40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683252" y="4629251"/>
          <a:ext cx="3177540" cy="448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6364"/>
                <a:gridCol w="526364"/>
                <a:gridCol w="526364"/>
                <a:gridCol w="526364"/>
                <a:gridCol w="526364"/>
                <a:gridCol w="526364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028955" y="4790224"/>
            <a:ext cx="2660650" cy="114300"/>
          </a:xfrm>
          <a:custGeom>
            <a:avLst/>
            <a:gdLst/>
            <a:ahLst/>
            <a:cxnLst/>
            <a:rect l="l" t="t" r="r" b="b"/>
            <a:pathLst>
              <a:path w="2660650" h="114300">
                <a:moveTo>
                  <a:pt x="2622973" y="38016"/>
                </a:moveTo>
                <a:lnTo>
                  <a:pt x="2565317" y="38016"/>
                </a:lnTo>
                <a:lnTo>
                  <a:pt x="2572738" y="39480"/>
                </a:lnTo>
                <a:lnTo>
                  <a:pt x="2578811" y="43537"/>
                </a:lnTo>
                <a:lnTo>
                  <a:pt x="2582921" y="49574"/>
                </a:lnTo>
                <a:lnTo>
                  <a:pt x="2584451" y="56983"/>
                </a:lnTo>
                <a:lnTo>
                  <a:pt x="2582986" y="64405"/>
                </a:lnTo>
                <a:lnTo>
                  <a:pt x="2578930" y="70478"/>
                </a:lnTo>
                <a:lnTo>
                  <a:pt x="2572893" y="74586"/>
                </a:lnTo>
                <a:lnTo>
                  <a:pt x="2565485" y="76116"/>
                </a:lnTo>
                <a:lnTo>
                  <a:pt x="2546435" y="76199"/>
                </a:lnTo>
                <a:lnTo>
                  <a:pt x="2546601" y="114300"/>
                </a:lnTo>
                <a:lnTo>
                  <a:pt x="2660651" y="56649"/>
                </a:lnTo>
                <a:lnTo>
                  <a:pt x="2622973" y="38016"/>
                </a:lnTo>
                <a:close/>
              </a:path>
              <a:path w="2660650" h="114300">
                <a:moveTo>
                  <a:pt x="2546268" y="38099"/>
                </a:moveTo>
                <a:lnTo>
                  <a:pt x="18966" y="49162"/>
                </a:lnTo>
                <a:lnTo>
                  <a:pt x="0" y="68295"/>
                </a:lnTo>
                <a:lnTo>
                  <a:pt x="1529" y="75704"/>
                </a:lnTo>
                <a:lnTo>
                  <a:pt x="5638" y="81742"/>
                </a:lnTo>
                <a:lnTo>
                  <a:pt x="11711" y="85798"/>
                </a:lnTo>
                <a:lnTo>
                  <a:pt x="19133" y="87262"/>
                </a:lnTo>
                <a:lnTo>
                  <a:pt x="2546435" y="76199"/>
                </a:lnTo>
                <a:lnTo>
                  <a:pt x="2546268" y="38099"/>
                </a:lnTo>
                <a:close/>
              </a:path>
              <a:path w="2660650" h="114300">
                <a:moveTo>
                  <a:pt x="2565317" y="38016"/>
                </a:moveTo>
                <a:lnTo>
                  <a:pt x="2546268" y="38099"/>
                </a:lnTo>
                <a:lnTo>
                  <a:pt x="2546435" y="76199"/>
                </a:lnTo>
                <a:lnTo>
                  <a:pt x="2565485" y="76116"/>
                </a:lnTo>
                <a:lnTo>
                  <a:pt x="2572893" y="74586"/>
                </a:lnTo>
                <a:lnTo>
                  <a:pt x="2578930" y="70478"/>
                </a:lnTo>
                <a:lnTo>
                  <a:pt x="2582986" y="64405"/>
                </a:lnTo>
                <a:lnTo>
                  <a:pt x="2584451" y="56983"/>
                </a:lnTo>
                <a:lnTo>
                  <a:pt x="2582921" y="49574"/>
                </a:lnTo>
                <a:lnTo>
                  <a:pt x="2578811" y="43537"/>
                </a:lnTo>
                <a:lnTo>
                  <a:pt x="2572738" y="39480"/>
                </a:lnTo>
                <a:lnTo>
                  <a:pt x="2565317" y="38016"/>
                </a:lnTo>
                <a:close/>
              </a:path>
              <a:path w="2660650" h="114300">
                <a:moveTo>
                  <a:pt x="2546102" y="0"/>
                </a:moveTo>
                <a:lnTo>
                  <a:pt x="2546268" y="38099"/>
                </a:lnTo>
                <a:lnTo>
                  <a:pt x="2622973" y="38016"/>
                </a:lnTo>
                <a:lnTo>
                  <a:pt x="25461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89608" y="5074780"/>
            <a:ext cx="3158490" cy="387985"/>
          </a:xfrm>
          <a:custGeom>
            <a:avLst/>
            <a:gdLst/>
            <a:ahLst/>
            <a:cxnLst/>
            <a:rect l="l" t="t" r="r" b="b"/>
            <a:pathLst>
              <a:path w="3158490" h="387985">
                <a:moveTo>
                  <a:pt x="3158184" y="0"/>
                </a:moveTo>
                <a:lnTo>
                  <a:pt x="3153232" y="44457"/>
                </a:lnTo>
                <a:lnTo>
                  <a:pt x="3139127" y="85269"/>
                </a:lnTo>
                <a:lnTo>
                  <a:pt x="3116995" y="121269"/>
                </a:lnTo>
                <a:lnTo>
                  <a:pt x="3087961" y="151296"/>
                </a:lnTo>
                <a:lnTo>
                  <a:pt x="3053150" y="174185"/>
                </a:lnTo>
                <a:lnTo>
                  <a:pt x="3013688" y="188771"/>
                </a:lnTo>
                <a:lnTo>
                  <a:pt x="2970700" y="193892"/>
                </a:lnTo>
                <a:lnTo>
                  <a:pt x="1774914" y="193892"/>
                </a:lnTo>
                <a:lnTo>
                  <a:pt x="1731925" y="199013"/>
                </a:lnTo>
                <a:lnTo>
                  <a:pt x="1692462" y="213599"/>
                </a:lnTo>
                <a:lnTo>
                  <a:pt x="1657651" y="236488"/>
                </a:lnTo>
                <a:lnTo>
                  <a:pt x="1628617" y="266515"/>
                </a:lnTo>
                <a:lnTo>
                  <a:pt x="1606485" y="302515"/>
                </a:lnTo>
                <a:lnTo>
                  <a:pt x="1592380" y="343327"/>
                </a:lnTo>
                <a:lnTo>
                  <a:pt x="1587429" y="387785"/>
                </a:lnTo>
                <a:lnTo>
                  <a:pt x="1582477" y="343327"/>
                </a:lnTo>
                <a:lnTo>
                  <a:pt x="1568373" y="302515"/>
                </a:lnTo>
                <a:lnTo>
                  <a:pt x="1546241" y="266515"/>
                </a:lnTo>
                <a:lnTo>
                  <a:pt x="1517206" y="236488"/>
                </a:lnTo>
                <a:lnTo>
                  <a:pt x="1482395" y="213599"/>
                </a:lnTo>
                <a:lnTo>
                  <a:pt x="1442933" y="199013"/>
                </a:lnTo>
                <a:lnTo>
                  <a:pt x="1399945" y="193892"/>
                </a:lnTo>
                <a:lnTo>
                  <a:pt x="187484" y="193892"/>
                </a:lnTo>
                <a:lnTo>
                  <a:pt x="144495" y="188771"/>
                </a:lnTo>
                <a:lnTo>
                  <a:pt x="105033" y="174185"/>
                </a:lnTo>
                <a:lnTo>
                  <a:pt x="70222" y="151296"/>
                </a:lnTo>
                <a:lnTo>
                  <a:pt x="41188" y="121269"/>
                </a:lnTo>
                <a:lnTo>
                  <a:pt x="19056" y="85269"/>
                </a:lnTo>
                <a:lnTo>
                  <a:pt x="4951" y="44457"/>
                </a:lnTo>
                <a:lnTo>
                  <a:pt x="0" y="0"/>
                </a:lnTo>
              </a:path>
            </a:pathLst>
          </a:custGeom>
          <a:ln w="6350">
            <a:solidFill>
              <a:srgbClr val="9611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569224" y="5110649"/>
            <a:ext cx="3196590" cy="1619885"/>
          </a:xfrm>
          <a:prstGeom prst="rect">
            <a:avLst/>
          </a:prstGeom>
        </p:spPr>
        <p:txBody>
          <a:bodyPr wrap="square" lIns="0" tIns="225425" rIns="0" bIns="0" rtlCol="0" vert="horz">
            <a:spAutoFit/>
          </a:bodyPr>
          <a:lstStyle/>
          <a:p>
            <a:pPr algn="ctr" marL="358140">
              <a:lnSpc>
                <a:spcPct val="100000"/>
              </a:lnSpc>
              <a:spcBef>
                <a:spcPts val="1775"/>
              </a:spcBef>
            </a:pPr>
            <a:r>
              <a:rPr dirty="0" baseline="-20833" sz="4800" spc="600">
                <a:latin typeface="Cambria Math"/>
                <a:cs typeface="Cambria Math"/>
              </a:rPr>
              <a:t>ℝ</a:t>
            </a:r>
            <a:r>
              <a:rPr dirty="0" sz="2300" spc="400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  <a:p>
            <a:pPr marL="842010" marR="5080" indent="-829944">
              <a:lnSpc>
                <a:spcPct val="100800"/>
              </a:lnSpc>
              <a:spcBef>
                <a:spcPts val="1230"/>
              </a:spcBef>
            </a:pPr>
            <a:r>
              <a:rPr dirty="0" sz="2400" spc="-5">
                <a:latin typeface="Arial"/>
                <a:cs typeface="Arial"/>
              </a:rPr>
              <a:t>Feature representation,  </a:t>
            </a:r>
            <a:r>
              <a:rPr dirty="0" sz="2400">
                <a:latin typeface="Arial"/>
                <a:cs typeface="Arial"/>
              </a:rPr>
              <a:t>embedding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8930" y="4084760"/>
            <a:ext cx="2873340" cy="25193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396107" y="4209795"/>
            <a:ext cx="6141720" cy="888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49370" algn="l"/>
              </a:tabLst>
            </a:pPr>
            <a:r>
              <a:rPr dirty="0" sz="2800">
                <a:solidFill>
                  <a:srgbClr val="961100"/>
                </a:solidFill>
                <a:latin typeface="Arial"/>
                <a:cs typeface="Arial"/>
              </a:rPr>
              <a:t>node	</a:t>
            </a:r>
            <a:r>
              <a:rPr dirty="0" sz="2800" spc="-5">
                <a:solidFill>
                  <a:srgbClr val="961100"/>
                </a:solidFill>
                <a:latin typeface="Arial"/>
                <a:cs typeface="Arial"/>
              </a:rPr>
              <a:t>representation</a:t>
            </a:r>
            <a:endParaRPr sz="2800">
              <a:latin typeface="Arial"/>
              <a:cs typeface="Arial"/>
            </a:endParaRPr>
          </a:p>
          <a:p>
            <a:pPr marL="142240">
              <a:lnSpc>
                <a:spcPct val="100000"/>
              </a:lnSpc>
              <a:spcBef>
                <a:spcPts val="10"/>
              </a:spcBef>
            </a:pPr>
            <a:r>
              <a:rPr dirty="0" sz="2850" spc="-30">
                <a:latin typeface="Arial"/>
                <a:cs typeface="Arial"/>
              </a:rPr>
              <a:t>u</a:t>
            </a:r>
            <a:endParaRPr sz="285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722872" y="6723724"/>
            <a:ext cx="13716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30</a:t>
            </a:r>
            <a:endParaRPr sz="9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91657" y="4463097"/>
            <a:ext cx="2362835" cy="91948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800" spc="-5">
                <a:solidFill>
                  <a:srgbClr val="FF0000"/>
                </a:solidFill>
                <a:latin typeface="Arial"/>
                <a:cs typeface="Arial"/>
              </a:rPr>
              <a:t>Learn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FF0000"/>
                </a:solidFill>
                <a:latin typeface="Arial"/>
                <a:cs typeface="Arial"/>
              </a:rPr>
              <a:t>neural</a:t>
            </a:r>
            <a:r>
              <a:rPr dirty="0" sz="1800" spc="-7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FF0000"/>
                </a:solidFill>
                <a:latin typeface="Arial"/>
                <a:cs typeface="Arial"/>
              </a:rPr>
              <a:t>network</a:t>
            </a:r>
            <a:endParaRPr sz="1800">
              <a:latin typeface="Arial"/>
              <a:cs typeface="Arial"/>
            </a:endParaRPr>
          </a:p>
          <a:p>
            <a:pPr marL="207645">
              <a:lnSpc>
                <a:spcPct val="100000"/>
              </a:lnSpc>
              <a:spcBef>
                <a:spcPts val="660"/>
              </a:spcBef>
            </a:pPr>
            <a:r>
              <a:rPr dirty="0" sz="3200" spc="-5">
                <a:solidFill>
                  <a:srgbClr val="FF0000"/>
                </a:solidFill>
                <a:latin typeface="Cambria Math"/>
                <a:cs typeface="Cambria Math"/>
              </a:rPr>
              <a:t>𝒇: </a:t>
            </a:r>
            <a:r>
              <a:rPr dirty="0" sz="3200">
                <a:solidFill>
                  <a:srgbClr val="FF0000"/>
                </a:solidFill>
                <a:latin typeface="Cambria Math"/>
                <a:cs typeface="Cambria Math"/>
              </a:rPr>
              <a:t>𝑢 →</a:t>
            </a:r>
            <a:r>
              <a:rPr dirty="0" sz="3200" spc="2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3200" spc="400">
                <a:solidFill>
                  <a:srgbClr val="FF0000"/>
                </a:solidFill>
                <a:latin typeface="Cambria Math"/>
                <a:cs typeface="Cambria Math"/>
              </a:rPr>
              <a:t>ℝ</a:t>
            </a:r>
            <a:r>
              <a:rPr dirty="0" baseline="28985" sz="3450" spc="600">
                <a:solidFill>
                  <a:srgbClr val="FF0000"/>
                </a:solidFill>
                <a:latin typeface="Cambria Math"/>
                <a:cs typeface="Cambria Math"/>
              </a:rPr>
              <a:t>!</a:t>
            </a:r>
            <a:endParaRPr baseline="28985" sz="34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739384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00299"/>
              </a:lnSpc>
              <a:spcBef>
                <a:spcPts val="85"/>
              </a:spcBef>
            </a:pPr>
            <a:r>
              <a:rPr dirty="0" sz="3200" spc="-60" b="1">
                <a:solidFill>
                  <a:srgbClr val="60B5CC"/>
                </a:solidFill>
                <a:latin typeface="Calibri"/>
                <a:cs typeface="Calibri"/>
              </a:rPr>
              <a:t>We </a:t>
            </a:r>
            <a:r>
              <a:rPr dirty="0" sz="3200" spc="-15" b="1">
                <a:solidFill>
                  <a:srgbClr val="60B5CC"/>
                </a:solidFill>
                <a:latin typeface="Calibri"/>
                <a:cs typeface="Calibri"/>
              </a:rPr>
              <a:t>are </a:t>
            </a: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going </a:t>
            </a:r>
            <a:r>
              <a:rPr dirty="0" sz="3200" spc="-15" b="1">
                <a:solidFill>
                  <a:srgbClr val="60B5CC"/>
                </a:solidFill>
                <a:latin typeface="Calibri"/>
                <a:cs typeface="Calibri"/>
              </a:rPr>
              <a:t>to cover </a:t>
            </a: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various topics </a:t>
            </a:r>
            <a:r>
              <a:rPr dirty="0" sz="3200" b="1">
                <a:solidFill>
                  <a:srgbClr val="60B5CC"/>
                </a:solidFill>
                <a:latin typeface="Calibri"/>
                <a:cs typeface="Calibri"/>
              </a:rPr>
              <a:t>in </a:t>
            </a: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Machine  Learning </a:t>
            </a: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and </a:t>
            </a:r>
            <a:r>
              <a:rPr dirty="0" sz="3200" spc="-15" b="1">
                <a:solidFill>
                  <a:srgbClr val="60B5CC"/>
                </a:solidFill>
                <a:latin typeface="Calibri"/>
                <a:cs typeface="Calibri"/>
              </a:rPr>
              <a:t>Representation </a:t>
            </a: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Learning </a:t>
            </a:r>
            <a:r>
              <a:rPr dirty="0" sz="3200" spc="-20" b="1">
                <a:solidFill>
                  <a:srgbClr val="60B5CC"/>
                </a:solidFill>
                <a:latin typeface="Calibri"/>
                <a:cs typeface="Calibri"/>
              </a:rPr>
              <a:t>for graph  </a:t>
            </a: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structured</a:t>
            </a:r>
            <a:r>
              <a:rPr dirty="0" sz="3200" spc="-10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60B5CC"/>
                </a:solidFill>
                <a:latin typeface="Calibri"/>
                <a:cs typeface="Calibri"/>
              </a:rPr>
              <a:t>data: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0172" y="6723724"/>
            <a:ext cx="16319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31</a:t>
            </a:r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819907"/>
            <a:ext cx="8059420" cy="351536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30">
                <a:solidFill>
                  <a:srgbClr val="E66C7D"/>
                </a:solidFill>
                <a:latin typeface="Calibri"/>
                <a:cs typeface="Calibri"/>
              </a:rPr>
              <a:t>Traditional </a:t>
            </a:r>
            <a:r>
              <a:rPr dirty="0" sz="2800" spc="-5">
                <a:solidFill>
                  <a:srgbClr val="E66C7D"/>
                </a:solidFill>
                <a:latin typeface="Calibri"/>
                <a:cs typeface="Calibri"/>
              </a:rPr>
              <a:t>methods: </a:t>
            </a:r>
            <a:r>
              <a:rPr dirty="0" sz="2800" spc="-15">
                <a:latin typeface="Calibri"/>
                <a:cs typeface="Calibri"/>
              </a:rPr>
              <a:t>Graphlets, Graph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Kernels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solidFill>
                  <a:srgbClr val="E66C7D"/>
                </a:solidFill>
                <a:latin typeface="Calibri"/>
                <a:cs typeface="Calibri"/>
              </a:rPr>
              <a:t>Methods </a:t>
            </a:r>
            <a:r>
              <a:rPr dirty="0" sz="2800" spc="-25">
                <a:solidFill>
                  <a:srgbClr val="E66C7D"/>
                </a:solidFill>
                <a:latin typeface="Calibri"/>
                <a:cs typeface="Calibri"/>
              </a:rPr>
              <a:t>for </a:t>
            </a:r>
            <a:r>
              <a:rPr dirty="0" sz="2800" spc="-5">
                <a:solidFill>
                  <a:srgbClr val="E66C7D"/>
                </a:solidFill>
                <a:latin typeface="Calibri"/>
                <a:cs typeface="Calibri"/>
              </a:rPr>
              <a:t>node embeddings: </a:t>
            </a:r>
            <a:r>
              <a:rPr dirty="0" sz="2800" spc="-15">
                <a:latin typeface="Calibri"/>
                <a:cs typeface="Calibri"/>
              </a:rPr>
              <a:t>DeepWalk,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-80">
                <a:latin typeface="Calibri"/>
                <a:cs typeface="Calibri"/>
              </a:rPr>
              <a:t>Node2Vec</a:t>
            </a:r>
            <a:endParaRPr sz="2800">
              <a:latin typeface="Calibri"/>
              <a:cs typeface="Calibri"/>
            </a:endParaRPr>
          </a:p>
          <a:p>
            <a:pPr marL="287020" marR="939800" indent="-274320">
              <a:lnSpc>
                <a:spcPts val="3310"/>
              </a:lnSpc>
              <a:spcBef>
                <a:spcPts val="89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solidFill>
                  <a:srgbClr val="E66C7D"/>
                </a:solidFill>
                <a:latin typeface="Calibri"/>
                <a:cs typeface="Calibri"/>
              </a:rPr>
              <a:t>Graph Neural </a:t>
            </a:r>
            <a:r>
              <a:rPr dirty="0" sz="2800" spc="-10">
                <a:solidFill>
                  <a:srgbClr val="E66C7D"/>
                </a:solidFill>
                <a:latin typeface="Calibri"/>
                <a:cs typeface="Calibri"/>
              </a:rPr>
              <a:t>Networks: </a:t>
            </a:r>
            <a:r>
              <a:rPr dirty="0" sz="2800" spc="-5">
                <a:latin typeface="Calibri"/>
                <a:cs typeface="Calibri"/>
              </a:rPr>
              <a:t>GCN, </a:t>
            </a:r>
            <a:r>
              <a:rPr dirty="0" sz="2800" spc="-15">
                <a:latin typeface="Calibri"/>
                <a:cs typeface="Calibri"/>
              </a:rPr>
              <a:t>GraphSAGE, </a:t>
            </a:r>
            <a:r>
              <a:rPr dirty="0" sz="2800" spc="-285">
                <a:latin typeface="Calibri"/>
                <a:cs typeface="Calibri"/>
              </a:rPr>
              <a:t>GAT,  </a:t>
            </a:r>
            <a:r>
              <a:rPr dirty="0" sz="2800" spc="-5">
                <a:latin typeface="Calibri"/>
                <a:cs typeface="Calibri"/>
              </a:rPr>
              <a:t>Theory of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GNNs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1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solidFill>
                  <a:srgbClr val="E66C7D"/>
                </a:solidFill>
                <a:latin typeface="Calibri"/>
                <a:cs typeface="Calibri"/>
              </a:rPr>
              <a:t>Knowledge graphs </a:t>
            </a:r>
            <a:r>
              <a:rPr dirty="0" sz="2800" spc="-5">
                <a:solidFill>
                  <a:srgbClr val="E66C7D"/>
                </a:solidFill>
                <a:latin typeface="Calibri"/>
                <a:cs typeface="Calibri"/>
              </a:rPr>
              <a:t>and </a:t>
            </a:r>
            <a:r>
              <a:rPr dirty="0" sz="2800" spc="-10">
                <a:solidFill>
                  <a:srgbClr val="E66C7D"/>
                </a:solidFill>
                <a:latin typeface="Calibri"/>
                <a:cs typeface="Calibri"/>
              </a:rPr>
              <a:t>reasoning: </a:t>
            </a:r>
            <a:r>
              <a:rPr dirty="0" sz="2800" spc="-40">
                <a:latin typeface="Calibri"/>
                <a:cs typeface="Calibri"/>
              </a:rPr>
              <a:t>TransE,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BetaE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solidFill>
                  <a:srgbClr val="E66C7D"/>
                </a:solidFill>
                <a:latin typeface="Calibri"/>
                <a:cs typeface="Calibri"/>
              </a:rPr>
              <a:t>Deep </a:t>
            </a:r>
            <a:r>
              <a:rPr dirty="0" sz="2800" spc="-20">
                <a:solidFill>
                  <a:srgbClr val="E66C7D"/>
                </a:solidFill>
                <a:latin typeface="Calibri"/>
                <a:cs typeface="Calibri"/>
              </a:rPr>
              <a:t>generative </a:t>
            </a:r>
            <a:r>
              <a:rPr dirty="0" sz="2800" spc="-5">
                <a:solidFill>
                  <a:srgbClr val="E66C7D"/>
                </a:solidFill>
                <a:latin typeface="Calibri"/>
                <a:cs typeface="Calibri"/>
              </a:rPr>
              <a:t>models </a:t>
            </a:r>
            <a:r>
              <a:rPr dirty="0" sz="2800" spc="-25">
                <a:solidFill>
                  <a:srgbClr val="E66C7D"/>
                </a:solidFill>
                <a:latin typeface="Calibri"/>
                <a:cs typeface="Calibri"/>
              </a:rPr>
              <a:t>for</a:t>
            </a:r>
            <a:r>
              <a:rPr dirty="0" sz="2800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E66C7D"/>
                </a:solidFill>
                <a:latin typeface="Calibri"/>
                <a:cs typeface="Calibri"/>
              </a:rPr>
              <a:t>graphs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solidFill>
                  <a:srgbClr val="E66C7D"/>
                </a:solidFill>
                <a:latin typeface="Calibri"/>
                <a:cs typeface="Calibri"/>
              </a:rPr>
              <a:t>Applications </a:t>
            </a:r>
            <a:r>
              <a:rPr dirty="0" sz="2800" spc="-15">
                <a:solidFill>
                  <a:srgbClr val="E66C7D"/>
                </a:solidFill>
                <a:latin typeface="Calibri"/>
                <a:cs typeface="Calibri"/>
              </a:rPr>
              <a:t>to </a:t>
            </a:r>
            <a:r>
              <a:rPr dirty="0" sz="2800" spc="-5">
                <a:solidFill>
                  <a:srgbClr val="E66C7D"/>
                </a:solidFill>
                <a:latin typeface="Calibri"/>
                <a:cs typeface="Calibri"/>
              </a:rPr>
              <a:t>Biomedicine, Science,</a:t>
            </a:r>
            <a:r>
              <a:rPr dirty="0" sz="2800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E66C7D"/>
                </a:solidFill>
                <a:latin typeface="Calibri"/>
                <a:cs typeface="Calibri"/>
              </a:rPr>
              <a:t>Industry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40689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7200" y="1295400"/>
          <a:ext cx="8229600" cy="5167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9563"/>
                <a:gridCol w="2968809"/>
                <a:gridCol w="1428360"/>
                <a:gridCol w="2392863"/>
              </a:tblGrid>
              <a:tr h="355600">
                <a:tc>
                  <a:txBody>
                    <a:bodyPr/>
                    <a:lstStyle/>
                    <a:p>
                      <a:pPr marL="5429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Date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1714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000" spc="-3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Topic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1714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080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Date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1714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2000" spc="-3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Topic</a:t>
                      </a:r>
                      <a:endParaRPr sz="2000">
                        <a:latin typeface="Corbel"/>
                        <a:cs typeface="Corbel"/>
                      </a:endParaRPr>
                    </a:p>
                  </a:txBody>
                  <a:tcPr marL="0" marR="0" marB="0" marT="17145">
                    <a:solidFill>
                      <a:srgbClr val="000000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40322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Jan</a:t>
                      </a:r>
                      <a:r>
                        <a:rPr dirty="0" sz="14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7010" marR="472440">
                        <a:lnSpc>
                          <a:spcPct val="101400"/>
                        </a:lnSpc>
                        <a:spcBef>
                          <a:spcPts val="95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Introduction; Machine Learning  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400" spc="-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Graphs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3114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4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128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8915" marR="230504">
                        <a:lnSpc>
                          <a:spcPct val="101400"/>
                        </a:lnSpc>
                        <a:spcBef>
                          <a:spcPts val="95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Reasoning over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Knowledge 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Graphs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solidFill>
                      <a:srgbClr val="E7E7E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Jan</a:t>
                      </a:r>
                      <a:r>
                        <a:rPr dirty="0" sz="1400" spc="-1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7010" marR="552450">
                        <a:lnSpc>
                          <a:spcPct val="101400"/>
                        </a:lnSpc>
                        <a:spcBef>
                          <a:spcPts val="110"/>
                        </a:spcBef>
                      </a:pPr>
                      <a:r>
                        <a:rPr dirty="0" sz="1400" spc="-15">
                          <a:latin typeface="Calibri"/>
                          <a:cs typeface="Calibri"/>
                        </a:rPr>
                        <a:t>Traditional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Methods 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ML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on  Graphs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288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400" spc="-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8915" marR="248920">
                        <a:lnSpc>
                          <a:spcPct val="101400"/>
                        </a:lnSpc>
                        <a:spcBef>
                          <a:spcPts val="110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Frequent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Subgraph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Mining 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GNNs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4032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Jan</a:t>
                      </a:r>
                      <a:r>
                        <a:rPr dirty="0" sz="14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Node</a:t>
                      </a:r>
                      <a:r>
                        <a:rPr dirty="0"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Embeddings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3114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4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8915" marR="446405">
                        <a:lnSpc>
                          <a:spcPct val="101400"/>
                        </a:lnSpc>
                        <a:spcBef>
                          <a:spcPts val="110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Community Structure</a:t>
                      </a:r>
                      <a:r>
                        <a:rPr dirty="0"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in 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Networks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Jan</a:t>
                      </a:r>
                      <a:r>
                        <a:rPr dirty="0" sz="1400" spc="-1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Link Analysis: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PageRank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288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400" spc="-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8915" marR="5695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400" spc="-15">
                          <a:latin typeface="Calibri"/>
                          <a:cs typeface="Calibri"/>
                        </a:rPr>
                        <a:t>Traditional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Generative 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Models 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4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Graphs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solidFill>
                      <a:srgbClr val="E7E7E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4032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Jan</a:t>
                      </a:r>
                      <a:r>
                        <a:rPr dirty="0" sz="14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7010" marR="776605">
                        <a:lnSpc>
                          <a:spcPct val="101400"/>
                        </a:lnSpc>
                        <a:spcBef>
                          <a:spcPts val="110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Label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Propagation 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Node  Classification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463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Mar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8915" marR="133350">
                        <a:lnSpc>
                          <a:spcPct val="101400"/>
                        </a:lnSpc>
                        <a:spcBef>
                          <a:spcPts val="11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Deep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Generative Models 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for 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Graphs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Jan</a:t>
                      </a:r>
                      <a:r>
                        <a:rPr dirty="0" sz="1400" spc="-1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7010" marR="495934">
                        <a:lnSpc>
                          <a:spcPct val="101400"/>
                        </a:lnSpc>
                        <a:spcBef>
                          <a:spcPts val="110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Graph Neural Networks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1: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GNN 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Model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6379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Mar</a:t>
                      </a:r>
                      <a:r>
                        <a:rPr dirty="0" sz="1400" spc="-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Scaling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Up</a:t>
                      </a:r>
                      <a:r>
                        <a:rPr dirty="0"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GNNs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4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7010" marR="351155">
                        <a:lnSpc>
                          <a:spcPct val="101400"/>
                        </a:lnSpc>
                        <a:spcBef>
                          <a:spcPts val="110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Graph Neural Networks 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2: Design 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Space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463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Mar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Learning on Dynamic</a:t>
                      </a:r>
                      <a:r>
                        <a:rPr dirty="0"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Graphs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400" spc="-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7010" marR="6718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Applications of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Graph Neural  Networks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0129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Mar</a:t>
                      </a:r>
                      <a:r>
                        <a:rPr dirty="0" sz="1400" spc="-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8915" marR="40386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GNNs 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Computational  Biology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solidFill>
                      <a:srgbClr val="E7E7E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4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286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Theory of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Graph Neural</a:t>
                      </a:r>
                      <a:r>
                        <a:rPr dirty="0" sz="14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latin typeface="Calibri"/>
                          <a:cs typeface="Calibri"/>
                        </a:rPr>
                        <a:t>Networks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286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0891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Tue, </a:t>
                      </a:r>
                      <a:r>
                        <a:rPr dirty="0" sz="1400" spc="-5" b="1">
                          <a:latin typeface="Calibri"/>
                          <a:cs typeface="Calibri"/>
                        </a:rPr>
                        <a:t>Mar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286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GNNs </a:t>
                      </a:r>
                      <a:r>
                        <a:rPr dirty="0" sz="1400" spc="-15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Science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2865">
                    <a:solidFill>
                      <a:srgbClr val="E7E7E7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400" spc="-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954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Knowledge Graph</a:t>
                      </a:r>
                      <a:r>
                        <a:rPr dirty="0" sz="1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">
                          <a:latin typeface="Calibri"/>
                          <a:cs typeface="Calibri"/>
                        </a:rPr>
                        <a:t>Embeddings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954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01295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dirty="0" sz="1400" spc="-5" b="1">
                          <a:latin typeface="Calibri"/>
                          <a:cs typeface="Calibri"/>
                        </a:rPr>
                        <a:t>Thu, Mar</a:t>
                      </a:r>
                      <a:r>
                        <a:rPr dirty="0" sz="1400" spc="-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6954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8915" marR="375285">
                        <a:lnSpc>
                          <a:spcPct val="101400"/>
                        </a:lnSpc>
                        <a:spcBef>
                          <a:spcPts val="470"/>
                        </a:spcBef>
                      </a:pPr>
                      <a:r>
                        <a:rPr dirty="0" sz="1400" spc="-5">
                          <a:latin typeface="Calibri"/>
                          <a:cs typeface="Calibri"/>
                        </a:rPr>
                        <a:t>Industrial Applications of  GNNs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9690"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10172" y="6723724"/>
            <a:ext cx="16319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32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7240" y="3270503"/>
            <a:ext cx="6458712" cy="13045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5751576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49904" y="1796721"/>
            <a:ext cx="2492865" cy="43513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58372" y="2277364"/>
            <a:ext cx="1425575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" b="1">
                <a:solidFill>
                  <a:srgbClr val="000000"/>
                </a:solidFill>
                <a:latin typeface="Arial"/>
                <a:cs typeface="Arial"/>
              </a:rPr>
              <a:t>Node</a:t>
            </a:r>
            <a:r>
              <a:rPr dirty="0" sz="2200" spc="-8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0000"/>
                </a:solidFill>
                <a:latin typeface="Arial"/>
                <a:cs typeface="Arial"/>
              </a:rPr>
              <a:t>level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17009" y="2423573"/>
            <a:ext cx="815975" cy="127000"/>
          </a:xfrm>
          <a:custGeom>
            <a:avLst/>
            <a:gdLst/>
            <a:ahLst/>
            <a:cxnLst/>
            <a:rect l="l" t="t" r="r" b="b"/>
            <a:pathLst>
              <a:path w="815975" h="127000">
                <a:moveTo>
                  <a:pt x="688696" y="76199"/>
                </a:moveTo>
                <a:lnTo>
                  <a:pt x="688696" y="127000"/>
                </a:lnTo>
                <a:lnTo>
                  <a:pt x="790296" y="76200"/>
                </a:lnTo>
                <a:lnTo>
                  <a:pt x="688696" y="76199"/>
                </a:lnTo>
                <a:close/>
              </a:path>
              <a:path w="815975" h="127000">
                <a:moveTo>
                  <a:pt x="688696" y="50799"/>
                </a:moveTo>
                <a:lnTo>
                  <a:pt x="688696" y="76199"/>
                </a:lnTo>
                <a:lnTo>
                  <a:pt x="708411" y="76198"/>
                </a:lnTo>
                <a:lnTo>
                  <a:pt x="714096" y="70514"/>
                </a:lnTo>
                <a:lnTo>
                  <a:pt x="714095" y="56484"/>
                </a:lnTo>
                <a:lnTo>
                  <a:pt x="708411" y="50800"/>
                </a:lnTo>
                <a:lnTo>
                  <a:pt x="688696" y="50799"/>
                </a:lnTo>
                <a:close/>
              </a:path>
              <a:path w="815975" h="127000">
                <a:moveTo>
                  <a:pt x="688696" y="0"/>
                </a:moveTo>
                <a:lnTo>
                  <a:pt x="688696" y="50799"/>
                </a:lnTo>
                <a:lnTo>
                  <a:pt x="701396" y="50800"/>
                </a:lnTo>
                <a:lnTo>
                  <a:pt x="708411" y="50800"/>
                </a:lnTo>
                <a:lnTo>
                  <a:pt x="714095" y="56484"/>
                </a:lnTo>
                <a:lnTo>
                  <a:pt x="714096" y="70514"/>
                </a:lnTo>
                <a:lnTo>
                  <a:pt x="708409" y="76200"/>
                </a:lnTo>
                <a:lnTo>
                  <a:pt x="790299" y="76198"/>
                </a:lnTo>
                <a:lnTo>
                  <a:pt x="815696" y="63500"/>
                </a:lnTo>
                <a:lnTo>
                  <a:pt x="688696" y="0"/>
                </a:lnTo>
                <a:close/>
              </a:path>
              <a:path w="815975" h="127000">
                <a:moveTo>
                  <a:pt x="12700" y="50798"/>
                </a:moveTo>
                <a:lnTo>
                  <a:pt x="5685" y="50800"/>
                </a:lnTo>
                <a:lnTo>
                  <a:pt x="0" y="56484"/>
                </a:lnTo>
                <a:lnTo>
                  <a:pt x="1" y="70514"/>
                </a:lnTo>
                <a:lnTo>
                  <a:pt x="5685" y="76198"/>
                </a:lnTo>
                <a:lnTo>
                  <a:pt x="688696" y="76199"/>
                </a:lnTo>
                <a:lnTo>
                  <a:pt x="688696" y="50799"/>
                </a:lnTo>
                <a:lnTo>
                  <a:pt x="12700" y="5079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58433" y="5592317"/>
            <a:ext cx="1004569" cy="127000"/>
          </a:xfrm>
          <a:custGeom>
            <a:avLst/>
            <a:gdLst/>
            <a:ahLst/>
            <a:cxnLst/>
            <a:rect l="l" t="t" r="r" b="b"/>
            <a:pathLst>
              <a:path w="1004570" h="127000">
                <a:moveTo>
                  <a:pt x="877328" y="76199"/>
                </a:moveTo>
                <a:lnTo>
                  <a:pt x="877328" y="127000"/>
                </a:lnTo>
                <a:lnTo>
                  <a:pt x="978928" y="76200"/>
                </a:lnTo>
                <a:lnTo>
                  <a:pt x="877328" y="76199"/>
                </a:lnTo>
                <a:close/>
              </a:path>
              <a:path w="1004570" h="127000">
                <a:moveTo>
                  <a:pt x="877328" y="50799"/>
                </a:moveTo>
                <a:lnTo>
                  <a:pt x="877328" y="76199"/>
                </a:lnTo>
                <a:lnTo>
                  <a:pt x="897043" y="76199"/>
                </a:lnTo>
                <a:lnTo>
                  <a:pt x="902728" y="70514"/>
                </a:lnTo>
                <a:lnTo>
                  <a:pt x="902727" y="56485"/>
                </a:lnTo>
                <a:lnTo>
                  <a:pt x="897042" y="50800"/>
                </a:lnTo>
                <a:lnTo>
                  <a:pt x="877328" y="50799"/>
                </a:lnTo>
                <a:close/>
              </a:path>
              <a:path w="1004570" h="127000">
                <a:moveTo>
                  <a:pt x="877328" y="0"/>
                </a:moveTo>
                <a:lnTo>
                  <a:pt x="877328" y="50799"/>
                </a:lnTo>
                <a:lnTo>
                  <a:pt x="890028" y="50800"/>
                </a:lnTo>
                <a:lnTo>
                  <a:pt x="897042" y="50800"/>
                </a:lnTo>
                <a:lnTo>
                  <a:pt x="902727" y="56485"/>
                </a:lnTo>
                <a:lnTo>
                  <a:pt x="902728" y="70514"/>
                </a:lnTo>
                <a:lnTo>
                  <a:pt x="897042" y="76200"/>
                </a:lnTo>
                <a:lnTo>
                  <a:pt x="978930" y="76199"/>
                </a:lnTo>
                <a:lnTo>
                  <a:pt x="1004328" y="63500"/>
                </a:lnTo>
                <a:lnTo>
                  <a:pt x="877328" y="0"/>
                </a:lnTo>
                <a:close/>
              </a:path>
              <a:path w="1004570" h="127000">
                <a:moveTo>
                  <a:pt x="12700" y="50799"/>
                </a:moveTo>
                <a:lnTo>
                  <a:pt x="5684" y="50800"/>
                </a:lnTo>
                <a:lnTo>
                  <a:pt x="0" y="56485"/>
                </a:lnTo>
                <a:lnTo>
                  <a:pt x="0" y="70514"/>
                </a:lnTo>
                <a:lnTo>
                  <a:pt x="5685" y="76199"/>
                </a:lnTo>
                <a:lnTo>
                  <a:pt x="877328" y="76199"/>
                </a:lnTo>
                <a:lnTo>
                  <a:pt x="877328" y="50799"/>
                </a:lnTo>
                <a:lnTo>
                  <a:pt x="12700" y="5079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231261" y="3307052"/>
            <a:ext cx="1524000" cy="1667510"/>
          </a:xfrm>
          <a:custGeom>
            <a:avLst/>
            <a:gdLst/>
            <a:ahLst/>
            <a:cxnLst/>
            <a:rect l="l" t="t" r="r" b="b"/>
            <a:pathLst>
              <a:path w="1524000" h="1667510">
                <a:moveTo>
                  <a:pt x="0" y="833589"/>
                </a:moveTo>
                <a:lnTo>
                  <a:pt x="1390" y="782809"/>
                </a:lnTo>
                <a:lnTo>
                  <a:pt x="5509" y="732834"/>
                </a:lnTo>
                <a:lnTo>
                  <a:pt x="12276" y="683750"/>
                </a:lnTo>
                <a:lnTo>
                  <a:pt x="21612" y="635646"/>
                </a:lnTo>
                <a:lnTo>
                  <a:pt x="33438" y="588607"/>
                </a:lnTo>
                <a:lnTo>
                  <a:pt x="47672" y="542723"/>
                </a:lnTo>
                <a:lnTo>
                  <a:pt x="64236" y="498078"/>
                </a:lnTo>
                <a:lnTo>
                  <a:pt x="83050" y="454762"/>
                </a:lnTo>
                <a:lnTo>
                  <a:pt x="104035" y="412860"/>
                </a:lnTo>
                <a:lnTo>
                  <a:pt x="127110" y="372461"/>
                </a:lnTo>
                <a:lnTo>
                  <a:pt x="152195" y="333651"/>
                </a:lnTo>
                <a:lnTo>
                  <a:pt x="179212" y="296518"/>
                </a:lnTo>
                <a:lnTo>
                  <a:pt x="208081" y="261148"/>
                </a:lnTo>
                <a:lnTo>
                  <a:pt x="238721" y="227630"/>
                </a:lnTo>
                <a:lnTo>
                  <a:pt x="271053" y="196049"/>
                </a:lnTo>
                <a:lnTo>
                  <a:pt x="304997" y="166494"/>
                </a:lnTo>
                <a:lnTo>
                  <a:pt x="340474" y="139052"/>
                </a:lnTo>
                <a:lnTo>
                  <a:pt x="377404" y="113809"/>
                </a:lnTo>
                <a:lnTo>
                  <a:pt x="415706" y="90853"/>
                </a:lnTo>
                <a:lnTo>
                  <a:pt x="455303" y="70271"/>
                </a:lnTo>
                <a:lnTo>
                  <a:pt x="496113" y="52151"/>
                </a:lnTo>
                <a:lnTo>
                  <a:pt x="538057" y="36579"/>
                </a:lnTo>
                <a:lnTo>
                  <a:pt x="581056" y="23643"/>
                </a:lnTo>
                <a:lnTo>
                  <a:pt x="625029" y="13430"/>
                </a:lnTo>
                <a:lnTo>
                  <a:pt x="669897" y="6027"/>
                </a:lnTo>
                <a:lnTo>
                  <a:pt x="715581" y="1521"/>
                </a:lnTo>
                <a:lnTo>
                  <a:pt x="762000" y="0"/>
                </a:lnTo>
                <a:lnTo>
                  <a:pt x="808418" y="1521"/>
                </a:lnTo>
                <a:lnTo>
                  <a:pt x="854102" y="6027"/>
                </a:lnTo>
                <a:lnTo>
                  <a:pt x="898970" y="13430"/>
                </a:lnTo>
                <a:lnTo>
                  <a:pt x="942943" y="23643"/>
                </a:lnTo>
                <a:lnTo>
                  <a:pt x="985942" y="36579"/>
                </a:lnTo>
                <a:lnTo>
                  <a:pt x="1027886" y="52151"/>
                </a:lnTo>
                <a:lnTo>
                  <a:pt x="1068696" y="70271"/>
                </a:lnTo>
                <a:lnTo>
                  <a:pt x="1108293" y="90853"/>
                </a:lnTo>
                <a:lnTo>
                  <a:pt x="1146596" y="113809"/>
                </a:lnTo>
                <a:lnTo>
                  <a:pt x="1183525" y="139052"/>
                </a:lnTo>
                <a:lnTo>
                  <a:pt x="1219002" y="166494"/>
                </a:lnTo>
                <a:lnTo>
                  <a:pt x="1252946" y="196049"/>
                </a:lnTo>
                <a:lnTo>
                  <a:pt x="1285278" y="227630"/>
                </a:lnTo>
                <a:lnTo>
                  <a:pt x="1315918" y="261148"/>
                </a:lnTo>
                <a:lnTo>
                  <a:pt x="1344787" y="296518"/>
                </a:lnTo>
                <a:lnTo>
                  <a:pt x="1371804" y="333651"/>
                </a:lnTo>
                <a:lnTo>
                  <a:pt x="1396889" y="372461"/>
                </a:lnTo>
                <a:lnTo>
                  <a:pt x="1419964" y="412860"/>
                </a:lnTo>
                <a:lnTo>
                  <a:pt x="1440949" y="454762"/>
                </a:lnTo>
                <a:lnTo>
                  <a:pt x="1459763" y="498078"/>
                </a:lnTo>
                <a:lnTo>
                  <a:pt x="1476327" y="542723"/>
                </a:lnTo>
                <a:lnTo>
                  <a:pt x="1490561" y="588607"/>
                </a:lnTo>
                <a:lnTo>
                  <a:pt x="1502387" y="635646"/>
                </a:lnTo>
                <a:lnTo>
                  <a:pt x="1511723" y="683750"/>
                </a:lnTo>
                <a:lnTo>
                  <a:pt x="1518490" y="732834"/>
                </a:lnTo>
                <a:lnTo>
                  <a:pt x="1522609" y="782809"/>
                </a:lnTo>
                <a:lnTo>
                  <a:pt x="1524000" y="833589"/>
                </a:lnTo>
                <a:lnTo>
                  <a:pt x="1522609" y="884369"/>
                </a:lnTo>
                <a:lnTo>
                  <a:pt x="1518490" y="934344"/>
                </a:lnTo>
                <a:lnTo>
                  <a:pt x="1511723" y="983428"/>
                </a:lnTo>
                <a:lnTo>
                  <a:pt x="1502387" y="1031532"/>
                </a:lnTo>
                <a:lnTo>
                  <a:pt x="1490561" y="1078570"/>
                </a:lnTo>
                <a:lnTo>
                  <a:pt x="1476327" y="1124455"/>
                </a:lnTo>
                <a:lnTo>
                  <a:pt x="1459763" y="1169100"/>
                </a:lnTo>
                <a:lnTo>
                  <a:pt x="1440949" y="1212416"/>
                </a:lnTo>
                <a:lnTo>
                  <a:pt x="1419964" y="1254317"/>
                </a:lnTo>
                <a:lnTo>
                  <a:pt x="1396889" y="1294717"/>
                </a:lnTo>
                <a:lnTo>
                  <a:pt x="1371804" y="1333527"/>
                </a:lnTo>
                <a:lnTo>
                  <a:pt x="1344787" y="1370660"/>
                </a:lnTo>
                <a:lnTo>
                  <a:pt x="1315918" y="1406030"/>
                </a:lnTo>
                <a:lnTo>
                  <a:pt x="1285278" y="1439548"/>
                </a:lnTo>
                <a:lnTo>
                  <a:pt x="1252946" y="1471129"/>
                </a:lnTo>
                <a:lnTo>
                  <a:pt x="1219002" y="1500684"/>
                </a:lnTo>
                <a:lnTo>
                  <a:pt x="1183525" y="1528126"/>
                </a:lnTo>
                <a:lnTo>
                  <a:pt x="1146596" y="1553369"/>
                </a:lnTo>
                <a:lnTo>
                  <a:pt x="1108293" y="1576325"/>
                </a:lnTo>
                <a:lnTo>
                  <a:pt x="1068696" y="1596907"/>
                </a:lnTo>
                <a:lnTo>
                  <a:pt x="1027886" y="1615027"/>
                </a:lnTo>
                <a:lnTo>
                  <a:pt x="985942" y="1630599"/>
                </a:lnTo>
                <a:lnTo>
                  <a:pt x="942943" y="1643535"/>
                </a:lnTo>
                <a:lnTo>
                  <a:pt x="898970" y="1653748"/>
                </a:lnTo>
                <a:lnTo>
                  <a:pt x="854102" y="1661151"/>
                </a:lnTo>
                <a:lnTo>
                  <a:pt x="808418" y="1665657"/>
                </a:lnTo>
                <a:lnTo>
                  <a:pt x="762000" y="1667179"/>
                </a:lnTo>
                <a:lnTo>
                  <a:pt x="715581" y="1665657"/>
                </a:lnTo>
                <a:lnTo>
                  <a:pt x="669897" y="1661151"/>
                </a:lnTo>
                <a:lnTo>
                  <a:pt x="625029" y="1653748"/>
                </a:lnTo>
                <a:lnTo>
                  <a:pt x="581056" y="1643535"/>
                </a:lnTo>
                <a:lnTo>
                  <a:pt x="538057" y="1630599"/>
                </a:lnTo>
                <a:lnTo>
                  <a:pt x="496113" y="1615027"/>
                </a:lnTo>
                <a:lnTo>
                  <a:pt x="455303" y="1596907"/>
                </a:lnTo>
                <a:lnTo>
                  <a:pt x="415706" y="1576325"/>
                </a:lnTo>
                <a:lnTo>
                  <a:pt x="377404" y="1553369"/>
                </a:lnTo>
                <a:lnTo>
                  <a:pt x="340474" y="1528126"/>
                </a:lnTo>
                <a:lnTo>
                  <a:pt x="304997" y="1500684"/>
                </a:lnTo>
                <a:lnTo>
                  <a:pt x="271053" y="1471129"/>
                </a:lnTo>
                <a:lnTo>
                  <a:pt x="238721" y="1439548"/>
                </a:lnTo>
                <a:lnTo>
                  <a:pt x="208081" y="1406030"/>
                </a:lnTo>
                <a:lnTo>
                  <a:pt x="179212" y="1370660"/>
                </a:lnTo>
                <a:lnTo>
                  <a:pt x="152195" y="1333527"/>
                </a:lnTo>
                <a:lnTo>
                  <a:pt x="127110" y="1294717"/>
                </a:lnTo>
                <a:lnTo>
                  <a:pt x="104035" y="1254317"/>
                </a:lnTo>
                <a:lnTo>
                  <a:pt x="83050" y="1212416"/>
                </a:lnTo>
                <a:lnTo>
                  <a:pt x="64236" y="1169100"/>
                </a:lnTo>
                <a:lnTo>
                  <a:pt x="47672" y="1124455"/>
                </a:lnTo>
                <a:lnTo>
                  <a:pt x="33438" y="1078570"/>
                </a:lnTo>
                <a:lnTo>
                  <a:pt x="21612" y="1031532"/>
                </a:lnTo>
                <a:lnTo>
                  <a:pt x="12276" y="983428"/>
                </a:lnTo>
                <a:lnTo>
                  <a:pt x="5509" y="934344"/>
                </a:lnTo>
                <a:lnTo>
                  <a:pt x="1390" y="884369"/>
                </a:lnTo>
                <a:lnTo>
                  <a:pt x="0" y="833589"/>
                </a:lnTo>
                <a:close/>
              </a:path>
            </a:pathLst>
          </a:custGeom>
          <a:ln w="480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492721" y="3859276"/>
            <a:ext cx="1564005" cy="197612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50"/>
              </a:spcBef>
            </a:pPr>
            <a:r>
              <a:rPr dirty="0" sz="2200" spc="-5" b="1">
                <a:latin typeface="Arial"/>
                <a:cs typeface="Arial"/>
              </a:rPr>
              <a:t>C</a:t>
            </a:r>
            <a:r>
              <a:rPr dirty="0" sz="2200" spc="0" b="1">
                <a:latin typeface="Arial"/>
                <a:cs typeface="Arial"/>
              </a:rPr>
              <a:t>o</a:t>
            </a:r>
            <a:r>
              <a:rPr dirty="0" sz="2200" spc="-10" b="1">
                <a:latin typeface="Arial"/>
                <a:cs typeface="Arial"/>
              </a:rPr>
              <a:t>mm</a:t>
            </a:r>
            <a:r>
              <a:rPr dirty="0" sz="2200" spc="0" b="1">
                <a:latin typeface="Arial"/>
                <a:cs typeface="Arial"/>
              </a:rPr>
              <a:t>un</a:t>
            </a:r>
            <a:r>
              <a:rPr dirty="0" sz="2200" b="1">
                <a:latin typeface="Arial"/>
                <a:cs typeface="Arial"/>
              </a:rPr>
              <a:t>i</a:t>
            </a:r>
            <a:r>
              <a:rPr dirty="0" sz="2200" spc="0" b="1">
                <a:latin typeface="Arial"/>
                <a:cs typeface="Arial"/>
              </a:rPr>
              <a:t>t</a:t>
            </a:r>
            <a:r>
              <a:rPr dirty="0" sz="2200" b="1">
                <a:latin typeface="Arial"/>
                <a:cs typeface="Arial"/>
              </a:rPr>
              <a:t>y  </a:t>
            </a:r>
            <a:r>
              <a:rPr dirty="0" sz="2200" spc="-5" b="1">
                <a:latin typeface="Arial"/>
                <a:cs typeface="Arial"/>
              </a:rPr>
              <a:t>(subgraph)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2200" b="1">
                <a:latin typeface="Arial"/>
                <a:cs typeface="Arial"/>
              </a:rPr>
              <a:t>level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83185">
              <a:lnSpc>
                <a:spcPct val="100000"/>
              </a:lnSpc>
              <a:spcBef>
                <a:spcPts val="1510"/>
              </a:spcBef>
            </a:pPr>
            <a:r>
              <a:rPr dirty="0" sz="2200" spc="-5" b="1">
                <a:latin typeface="Arial"/>
                <a:cs typeface="Arial"/>
              </a:rPr>
              <a:t>Edge-level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44421" y="1645442"/>
            <a:ext cx="3081655" cy="4630420"/>
          </a:xfrm>
          <a:custGeom>
            <a:avLst/>
            <a:gdLst/>
            <a:ahLst/>
            <a:cxnLst/>
            <a:rect l="l" t="t" r="r" b="b"/>
            <a:pathLst>
              <a:path w="3081654" h="4630420">
                <a:moveTo>
                  <a:pt x="0" y="0"/>
                </a:moveTo>
                <a:lnTo>
                  <a:pt x="3081528" y="0"/>
                </a:lnTo>
                <a:lnTo>
                  <a:pt x="3081528" y="4630289"/>
                </a:lnTo>
                <a:lnTo>
                  <a:pt x="0" y="4630289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54247" y="4086285"/>
            <a:ext cx="578485" cy="127000"/>
          </a:xfrm>
          <a:custGeom>
            <a:avLst/>
            <a:gdLst/>
            <a:ahLst/>
            <a:cxnLst/>
            <a:rect l="l" t="t" r="r" b="b"/>
            <a:pathLst>
              <a:path w="578485" h="127000">
                <a:moveTo>
                  <a:pt x="451457" y="76199"/>
                </a:moveTo>
                <a:lnTo>
                  <a:pt x="451457" y="127000"/>
                </a:lnTo>
                <a:lnTo>
                  <a:pt x="553057" y="76200"/>
                </a:lnTo>
                <a:lnTo>
                  <a:pt x="451457" y="76199"/>
                </a:lnTo>
                <a:close/>
              </a:path>
              <a:path w="578485" h="127000">
                <a:moveTo>
                  <a:pt x="451457" y="50799"/>
                </a:moveTo>
                <a:lnTo>
                  <a:pt x="451457" y="76199"/>
                </a:lnTo>
                <a:lnTo>
                  <a:pt x="471172" y="76198"/>
                </a:lnTo>
                <a:lnTo>
                  <a:pt x="476857" y="70514"/>
                </a:lnTo>
                <a:lnTo>
                  <a:pt x="476855" y="56484"/>
                </a:lnTo>
                <a:lnTo>
                  <a:pt x="471171" y="50800"/>
                </a:lnTo>
                <a:lnTo>
                  <a:pt x="451457" y="50799"/>
                </a:lnTo>
                <a:close/>
              </a:path>
              <a:path w="578485" h="127000">
                <a:moveTo>
                  <a:pt x="451458" y="0"/>
                </a:moveTo>
                <a:lnTo>
                  <a:pt x="451457" y="50799"/>
                </a:lnTo>
                <a:lnTo>
                  <a:pt x="464157" y="50800"/>
                </a:lnTo>
                <a:lnTo>
                  <a:pt x="471171" y="50800"/>
                </a:lnTo>
                <a:lnTo>
                  <a:pt x="476855" y="56484"/>
                </a:lnTo>
                <a:lnTo>
                  <a:pt x="476857" y="70514"/>
                </a:lnTo>
                <a:lnTo>
                  <a:pt x="471171" y="76200"/>
                </a:lnTo>
                <a:lnTo>
                  <a:pt x="553059" y="76198"/>
                </a:lnTo>
                <a:lnTo>
                  <a:pt x="578457" y="63500"/>
                </a:lnTo>
                <a:lnTo>
                  <a:pt x="451458" y="0"/>
                </a:lnTo>
                <a:close/>
              </a:path>
              <a:path w="578485" h="127000">
                <a:moveTo>
                  <a:pt x="12701" y="50798"/>
                </a:moveTo>
                <a:lnTo>
                  <a:pt x="5685" y="50800"/>
                </a:lnTo>
                <a:lnTo>
                  <a:pt x="0" y="56484"/>
                </a:lnTo>
                <a:lnTo>
                  <a:pt x="1" y="70514"/>
                </a:lnTo>
                <a:lnTo>
                  <a:pt x="5687" y="76198"/>
                </a:lnTo>
                <a:lnTo>
                  <a:pt x="451457" y="76199"/>
                </a:lnTo>
                <a:lnTo>
                  <a:pt x="451457" y="50799"/>
                </a:lnTo>
                <a:lnTo>
                  <a:pt x="12701" y="5079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83589" y="3831464"/>
            <a:ext cx="574040" cy="127000"/>
          </a:xfrm>
          <a:custGeom>
            <a:avLst/>
            <a:gdLst/>
            <a:ahLst/>
            <a:cxnLst/>
            <a:rect l="l" t="t" r="r" b="b"/>
            <a:pathLst>
              <a:path w="574039" h="127000">
                <a:moveTo>
                  <a:pt x="127000" y="0"/>
                </a:moveTo>
                <a:lnTo>
                  <a:pt x="0" y="63499"/>
                </a:lnTo>
                <a:lnTo>
                  <a:pt x="127000" y="126999"/>
                </a:lnTo>
                <a:lnTo>
                  <a:pt x="127000" y="76199"/>
                </a:lnTo>
                <a:lnTo>
                  <a:pt x="107284" y="76198"/>
                </a:lnTo>
                <a:lnTo>
                  <a:pt x="101600" y="70512"/>
                </a:lnTo>
                <a:lnTo>
                  <a:pt x="101601" y="56484"/>
                </a:lnTo>
                <a:lnTo>
                  <a:pt x="107285" y="50799"/>
                </a:lnTo>
                <a:lnTo>
                  <a:pt x="127000" y="50799"/>
                </a:lnTo>
                <a:lnTo>
                  <a:pt x="127000" y="0"/>
                </a:lnTo>
                <a:close/>
              </a:path>
              <a:path w="574039" h="127000">
                <a:moveTo>
                  <a:pt x="127000" y="50799"/>
                </a:moveTo>
                <a:lnTo>
                  <a:pt x="114300" y="50799"/>
                </a:lnTo>
                <a:lnTo>
                  <a:pt x="107285" y="50799"/>
                </a:lnTo>
                <a:lnTo>
                  <a:pt x="101601" y="56484"/>
                </a:lnTo>
                <a:lnTo>
                  <a:pt x="101600" y="70512"/>
                </a:lnTo>
                <a:lnTo>
                  <a:pt x="107285" y="76199"/>
                </a:lnTo>
                <a:lnTo>
                  <a:pt x="127000" y="76199"/>
                </a:lnTo>
                <a:lnTo>
                  <a:pt x="127000" y="50799"/>
                </a:lnTo>
                <a:close/>
              </a:path>
              <a:path w="574039" h="127000">
                <a:moveTo>
                  <a:pt x="127000" y="76199"/>
                </a:moveTo>
                <a:lnTo>
                  <a:pt x="107285" y="76199"/>
                </a:lnTo>
                <a:lnTo>
                  <a:pt x="127000" y="76199"/>
                </a:lnTo>
                <a:close/>
              </a:path>
              <a:path w="574039" h="127000">
                <a:moveTo>
                  <a:pt x="567846" y="50798"/>
                </a:moveTo>
                <a:lnTo>
                  <a:pt x="127000" y="50799"/>
                </a:lnTo>
                <a:lnTo>
                  <a:pt x="127000" y="76199"/>
                </a:lnTo>
                <a:lnTo>
                  <a:pt x="567846" y="76198"/>
                </a:lnTo>
                <a:lnTo>
                  <a:pt x="573532" y="70512"/>
                </a:lnTo>
                <a:lnTo>
                  <a:pt x="573532" y="56484"/>
                </a:lnTo>
                <a:lnTo>
                  <a:pt x="567846" y="5079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58146" y="3679444"/>
            <a:ext cx="1565910" cy="144018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50"/>
              </a:spcBef>
            </a:pPr>
            <a:r>
              <a:rPr dirty="0" sz="2200" b="1">
                <a:latin typeface="Arial"/>
                <a:cs typeface="Arial"/>
              </a:rPr>
              <a:t>G</a:t>
            </a:r>
            <a:r>
              <a:rPr dirty="0" sz="2200" spc="-10" b="1">
                <a:latin typeface="Arial"/>
                <a:cs typeface="Arial"/>
              </a:rPr>
              <a:t>r</a:t>
            </a:r>
            <a:r>
              <a:rPr dirty="0" sz="2200" b="1">
                <a:latin typeface="Arial"/>
                <a:cs typeface="Arial"/>
              </a:rPr>
              <a:t>ap</a:t>
            </a:r>
            <a:r>
              <a:rPr dirty="0" sz="2200" spc="0" b="1">
                <a:latin typeface="Arial"/>
                <a:cs typeface="Arial"/>
              </a:rPr>
              <a:t>h</a:t>
            </a:r>
            <a:r>
              <a:rPr dirty="0" sz="2200" b="1">
                <a:latin typeface="Arial"/>
                <a:cs typeface="Arial"/>
              </a:rPr>
              <a:t>-level  </a:t>
            </a:r>
            <a:r>
              <a:rPr dirty="0" sz="2200" spc="-5" b="1">
                <a:latin typeface="Arial"/>
                <a:cs typeface="Arial"/>
              </a:rPr>
              <a:t>prediction,</a:t>
            </a:r>
            <a:endParaRPr sz="2200">
              <a:latin typeface="Arial"/>
              <a:cs typeface="Arial"/>
            </a:endParaRPr>
          </a:p>
          <a:p>
            <a:pPr marL="12700" marR="113030">
              <a:lnSpc>
                <a:spcPct val="102699"/>
              </a:lnSpc>
              <a:spcBef>
                <a:spcPts val="380"/>
              </a:spcBef>
            </a:pPr>
            <a:r>
              <a:rPr dirty="0" sz="2200" spc="-5" b="1">
                <a:latin typeface="Arial"/>
                <a:cs typeface="Arial"/>
              </a:rPr>
              <a:t>Graph  </a:t>
            </a:r>
            <a:r>
              <a:rPr dirty="0" sz="2200" spc="0" b="1">
                <a:latin typeface="Arial"/>
                <a:cs typeface="Arial"/>
              </a:rPr>
              <a:t>g</a:t>
            </a:r>
            <a:r>
              <a:rPr dirty="0" sz="2200" b="1">
                <a:latin typeface="Arial"/>
                <a:cs typeface="Arial"/>
              </a:rPr>
              <a:t>e</a:t>
            </a:r>
            <a:r>
              <a:rPr dirty="0" sz="2200" spc="0" b="1">
                <a:latin typeface="Arial"/>
                <a:cs typeface="Arial"/>
              </a:rPr>
              <a:t>n</a:t>
            </a:r>
            <a:r>
              <a:rPr dirty="0" sz="2200" b="1">
                <a:latin typeface="Arial"/>
                <a:cs typeface="Arial"/>
              </a:rPr>
              <a:t>e</a:t>
            </a:r>
            <a:r>
              <a:rPr dirty="0" sz="2200" spc="-10" b="1">
                <a:latin typeface="Arial"/>
                <a:cs typeface="Arial"/>
              </a:rPr>
              <a:t>r</a:t>
            </a:r>
            <a:r>
              <a:rPr dirty="0" sz="2200" b="1">
                <a:latin typeface="Arial"/>
                <a:cs typeface="Arial"/>
              </a:rPr>
              <a:t>a</a:t>
            </a:r>
            <a:r>
              <a:rPr dirty="0" sz="2200" spc="0" b="1">
                <a:latin typeface="Arial"/>
                <a:cs typeface="Arial"/>
              </a:rPr>
              <a:t>t</a:t>
            </a:r>
            <a:r>
              <a:rPr dirty="0" sz="2200" b="1">
                <a:latin typeface="Arial"/>
                <a:cs typeface="Arial"/>
              </a:rPr>
              <a:t>i</a:t>
            </a:r>
            <a:r>
              <a:rPr dirty="0" sz="2200" spc="0" b="1">
                <a:latin typeface="Arial"/>
                <a:cs typeface="Arial"/>
              </a:rPr>
              <a:t>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225">
              <a:lnSpc>
                <a:spcPts val="950"/>
              </a:lnSpc>
            </a:pPr>
            <a:r>
              <a:rPr dirty="0"/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38327"/>
            <a:ext cx="5928360" cy="582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784098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latin typeface="Calibri"/>
                <a:cs typeface="Calibri"/>
              </a:rPr>
              <a:t>Node </a:t>
            </a:r>
            <a:r>
              <a:rPr dirty="0" sz="3000" spc="-10" b="1">
                <a:latin typeface="Calibri"/>
                <a:cs typeface="Calibri"/>
              </a:rPr>
              <a:t>classification</a:t>
            </a:r>
            <a:r>
              <a:rPr dirty="0" sz="3000" spc="-10">
                <a:solidFill>
                  <a:srgbClr val="000000"/>
                </a:solidFill>
              </a:rPr>
              <a:t>: Predict </a:t>
            </a:r>
            <a:r>
              <a:rPr dirty="0" sz="3000">
                <a:solidFill>
                  <a:srgbClr val="000000"/>
                </a:solidFill>
              </a:rPr>
              <a:t>a </a:t>
            </a:r>
            <a:r>
              <a:rPr dirty="0" sz="3000" spc="-10">
                <a:solidFill>
                  <a:srgbClr val="000000"/>
                </a:solidFill>
              </a:rPr>
              <a:t>property </a:t>
            </a:r>
            <a:r>
              <a:rPr dirty="0" sz="3000">
                <a:solidFill>
                  <a:srgbClr val="000000"/>
                </a:solidFill>
              </a:rPr>
              <a:t>of a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 spc="-5">
                <a:solidFill>
                  <a:srgbClr val="000000"/>
                </a:solidFill>
              </a:rPr>
              <a:t>node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225">
              <a:lnSpc>
                <a:spcPts val="950"/>
              </a:lnSpc>
            </a:pPr>
            <a:r>
              <a:rPr dirty="0"/>
              <a:t>35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27405" indent="-274320">
              <a:lnSpc>
                <a:spcPts val="291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828040" algn="l"/>
              </a:tabLst>
            </a:pPr>
            <a:r>
              <a:rPr dirty="0" spc="-10" b="1">
                <a:latin typeface="Calibri"/>
                <a:cs typeface="Calibri"/>
              </a:rPr>
              <a:t>Example: </a:t>
            </a:r>
            <a:r>
              <a:rPr dirty="0" spc="-15"/>
              <a:t>Categorize </a:t>
            </a:r>
            <a:r>
              <a:rPr dirty="0" spc="-5"/>
              <a:t>online </a:t>
            </a:r>
            <a:r>
              <a:rPr dirty="0" spc="-15"/>
              <a:t>users </a:t>
            </a:r>
            <a:r>
              <a:rPr dirty="0"/>
              <a:t>/ </a:t>
            </a:r>
            <a:r>
              <a:rPr dirty="0" spc="-10"/>
              <a:t>items</a:t>
            </a:r>
          </a:p>
          <a:p>
            <a:pPr marL="534670" marR="5080" indent="-320040">
              <a:lnSpc>
                <a:spcPts val="3310"/>
              </a:lnSpc>
              <a:spcBef>
                <a:spcPts val="14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535305" algn="l"/>
              </a:tabLst>
            </a:pP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Link prediction</a:t>
            </a:r>
            <a:r>
              <a:rPr dirty="0" sz="3000" spc="-5"/>
              <a:t>: </a:t>
            </a:r>
            <a:r>
              <a:rPr dirty="0" sz="3000" spc="-10"/>
              <a:t>Predict whether </a:t>
            </a:r>
            <a:r>
              <a:rPr dirty="0" sz="3000" spc="-15"/>
              <a:t>there are </a:t>
            </a:r>
            <a:r>
              <a:rPr dirty="0" sz="3000" spc="-5"/>
              <a:t>missing  </a:t>
            </a:r>
            <a:r>
              <a:rPr dirty="0" sz="3000" spc="-10"/>
              <a:t>links </a:t>
            </a:r>
            <a:r>
              <a:rPr dirty="0" sz="3000" spc="-15"/>
              <a:t>between </a:t>
            </a:r>
            <a:r>
              <a:rPr dirty="0" sz="3000" spc="-10"/>
              <a:t>two</a:t>
            </a:r>
            <a:r>
              <a:rPr dirty="0" sz="3000" spc="-55"/>
              <a:t> </a:t>
            </a:r>
            <a:r>
              <a:rPr dirty="0" sz="3000" spc="-5"/>
              <a:t>nodes</a:t>
            </a:r>
            <a:endParaRPr sz="3000">
              <a:latin typeface="Calibri"/>
              <a:cs typeface="Calibri"/>
            </a:endParaRPr>
          </a:p>
          <a:p>
            <a:pPr lvl="1" marL="827405" indent="-274320">
              <a:lnSpc>
                <a:spcPts val="2920"/>
              </a:lnSpc>
              <a:spcBef>
                <a:spcPts val="215"/>
              </a:spcBef>
              <a:buClr>
                <a:srgbClr val="60B5CC"/>
              </a:buClr>
              <a:buFont typeface="Malgun Gothic"/>
              <a:buChar char="▪"/>
              <a:tabLst>
                <a:tab pos="828040" algn="l"/>
              </a:tabLst>
            </a:pPr>
            <a:r>
              <a:rPr dirty="0" sz="2600" spc="-10" b="1">
                <a:latin typeface="Calibri"/>
                <a:cs typeface="Calibri"/>
              </a:rPr>
              <a:t>Example: </a:t>
            </a:r>
            <a:r>
              <a:rPr dirty="0" sz="2600" spc="-15">
                <a:latin typeface="Calibri"/>
                <a:cs typeface="Calibri"/>
              </a:rPr>
              <a:t>Knowledge graph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completion</a:t>
            </a:r>
            <a:endParaRPr sz="2600">
              <a:latin typeface="Calibri"/>
              <a:cs typeface="Calibri"/>
            </a:endParaRPr>
          </a:p>
          <a:p>
            <a:pPr marL="534670" indent="-320040">
              <a:lnSpc>
                <a:spcPts val="34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535305" algn="l"/>
              </a:tabLst>
            </a:pPr>
            <a:r>
              <a:rPr dirty="0" sz="3000" spc="-20" b="1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classification</a:t>
            </a:r>
            <a:r>
              <a:rPr dirty="0" sz="3000" spc="-10"/>
              <a:t>: </a:t>
            </a:r>
            <a:r>
              <a:rPr dirty="0" sz="3000" spc="-20"/>
              <a:t>Categorize </a:t>
            </a:r>
            <a:r>
              <a:rPr dirty="0" sz="3000" spc="-25"/>
              <a:t>different</a:t>
            </a:r>
            <a:r>
              <a:rPr dirty="0" sz="3000" spc="25"/>
              <a:t> </a:t>
            </a:r>
            <a:r>
              <a:rPr dirty="0" sz="3000" spc="-15"/>
              <a:t>graphs</a:t>
            </a:r>
            <a:endParaRPr sz="3000">
              <a:latin typeface="Calibri"/>
              <a:cs typeface="Calibri"/>
            </a:endParaRPr>
          </a:p>
          <a:p>
            <a:pPr lvl="1" marL="827405" indent="-274320">
              <a:lnSpc>
                <a:spcPts val="2910"/>
              </a:lnSpc>
              <a:spcBef>
                <a:spcPts val="400"/>
              </a:spcBef>
              <a:buClr>
                <a:srgbClr val="60B5CC"/>
              </a:buClr>
              <a:buFont typeface="Malgun Gothic"/>
              <a:buChar char="▪"/>
              <a:tabLst>
                <a:tab pos="828040" algn="l"/>
              </a:tabLst>
            </a:pPr>
            <a:r>
              <a:rPr dirty="0" sz="2600" spc="-10" b="1">
                <a:latin typeface="Calibri"/>
                <a:cs typeface="Calibri"/>
              </a:rPr>
              <a:t>Example: </a:t>
            </a:r>
            <a:r>
              <a:rPr dirty="0" sz="2600" spc="-5">
                <a:latin typeface="Calibri"/>
                <a:cs typeface="Calibri"/>
              </a:rPr>
              <a:t>Molecule </a:t>
            </a:r>
            <a:r>
              <a:rPr dirty="0" sz="2600" spc="-10">
                <a:latin typeface="Calibri"/>
                <a:cs typeface="Calibri"/>
              </a:rPr>
              <a:t>property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prediction</a:t>
            </a:r>
            <a:endParaRPr sz="2600">
              <a:latin typeface="Calibri"/>
              <a:cs typeface="Calibri"/>
            </a:endParaRPr>
          </a:p>
          <a:p>
            <a:pPr marL="534670" indent="-320040">
              <a:lnSpc>
                <a:spcPts val="339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535305" algn="l"/>
              </a:tabLst>
            </a:pP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Clustering</a:t>
            </a:r>
            <a:r>
              <a:rPr dirty="0" sz="3000" spc="-10"/>
              <a:t>: </a:t>
            </a:r>
            <a:r>
              <a:rPr dirty="0" sz="3000" spc="-15"/>
              <a:t>Detect </a:t>
            </a:r>
            <a:r>
              <a:rPr dirty="0" sz="3000" spc="-5"/>
              <a:t>if nodes </a:t>
            </a:r>
            <a:r>
              <a:rPr dirty="0" sz="3000" spc="-20"/>
              <a:t>form </a:t>
            </a:r>
            <a:r>
              <a:rPr dirty="0" sz="3000"/>
              <a:t>a</a:t>
            </a:r>
            <a:r>
              <a:rPr dirty="0" sz="3000" spc="0"/>
              <a:t> </a:t>
            </a:r>
            <a:r>
              <a:rPr dirty="0" sz="3000" spc="-10"/>
              <a:t>community</a:t>
            </a:r>
            <a:endParaRPr sz="3000">
              <a:latin typeface="Calibri"/>
              <a:cs typeface="Calibri"/>
            </a:endParaRPr>
          </a:p>
          <a:p>
            <a:pPr lvl="1" marL="827405" indent="-274320">
              <a:lnSpc>
                <a:spcPts val="2955"/>
              </a:lnSpc>
              <a:spcBef>
                <a:spcPts val="305"/>
              </a:spcBef>
              <a:buClr>
                <a:srgbClr val="60B5CC"/>
              </a:buClr>
              <a:buFont typeface="Malgun Gothic"/>
              <a:buChar char="▪"/>
              <a:tabLst>
                <a:tab pos="828040" algn="l"/>
              </a:tabLst>
            </a:pPr>
            <a:r>
              <a:rPr dirty="0" sz="2600" spc="-10" b="1">
                <a:latin typeface="Calibri"/>
                <a:cs typeface="Calibri"/>
              </a:rPr>
              <a:t>Example: </a:t>
            </a:r>
            <a:r>
              <a:rPr dirty="0" sz="2600">
                <a:latin typeface="Calibri"/>
                <a:cs typeface="Calibri"/>
              </a:rPr>
              <a:t>Social </a:t>
            </a:r>
            <a:r>
              <a:rPr dirty="0" sz="2600" spc="-10">
                <a:latin typeface="Calibri"/>
                <a:cs typeface="Calibri"/>
              </a:rPr>
              <a:t>circle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detection</a:t>
            </a:r>
            <a:endParaRPr sz="2600">
              <a:latin typeface="Calibri"/>
              <a:cs typeface="Calibri"/>
            </a:endParaRPr>
          </a:p>
          <a:p>
            <a:pPr marL="534670" indent="-320040">
              <a:lnSpc>
                <a:spcPts val="343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535305" algn="l"/>
              </a:tabLst>
            </a:pPr>
            <a:r>
              <a:rPr dirty="0" sz="3000" spc="-5" b="1">
                <a:latin typeface="Calibri"/>
                <a:cs typeface="Calibri"/>
              </a:rPr>
              <a:t>Other</a:t>
            </a:r>
            <a:r>
              <a:rPr dirty="0" sz="3000" spc="-70" b="1">
                <a:latin typeface="Calibri"/>
                <a:cs typeface="Calibri"/>
              </a:rPr>
              <a:t> </a:t>
            </a:r>
            <a:r>
              <a:rPr dirty="0" sz="3000" spc="-15" b="1">
                <a:latin typeface="Calibri"/>
                <a:cs typeface="Calibri"/>
              </a:rPr>
              <a:t>tasks</a:t>
            </a:r>
            <a:r>
              <a:rPr dirty="0" sz="3000" spc="-15"/>
              <a:t>:</a:t>
            </a:r>
            <a:endParaRPr sz="3000">
              <a:latin typeface="Calibri"/>
              <a:cs typeface="Calibri"/>
            </a:endParaRPr>
          </a:p>
          <a:p>
            <a:pPr lvl="1" marL="827405" indent="-274320">
              <a:lnSpc>
                <a:spcPct val="100000"/>
              </a:lnSpc>
              <a:spcBef>
                <a:spcPts val="305"/>
              </a:spcBef>
              <a:buClr>
                <a:srgbClr val="60B5CC"/>
              </a:buClr>
              <a:buFont typeface="Malgun Gothic"/>
              <a:buChar char="▪"/>
              <a:tabLst>
                <a:tab pos="828040" algn="l"/>
              </a:tabLst>
            </a:pPr>
            <a:r>
              <a:rPr dirty="0" sz="2600" spc="-15" b="1">
                <a:solidFill>
                  <a:srgbClr val="C00000"/>
                </a:solidFill>
                <a:latin typeface="Calibri"/>
                <a:cs typeface="Calibri"/>
              </a:rPr>
              <a:t>Graph generation</a:t>
            </a:r>
            <a:r>
              <a:rPr dirty="0" sz="2600" spc="-15">
                <a:latin typeface="Calibri"/>
                <a:cs typeface="Calibri"/>
              </a:rPr>
              <a:t>: </a:t>
            </a:r>
            <a:r>
              <a:rPr dirty="0" sz="2600" spc="-5">
                <a:latin typeface="Calibri"/>
                <a:cs typeface="Calibri"/>
              </a:rPr>
              <a:t>Drug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discovery</a:t>
            </a:r>
            <a:endParaRPr sz="2600">
              <a:latin typeface="Calibri"/>
              <a:cs typeface="Calibri"/>
            </a:endParaRPr>
          </a:p>
          <a:p>
            <a:pPr lvl="1" marL="827405" indent="-274320">
              <a:lnSpc>
                <a:spcPct val="100000"/>
              </a:lnSpc>
              <a:spcBef>
                <a:spcPts val="260"/>
              </a:spcBef>
              <a:buClr>
                <a:srgbClr val="60B5CC"/>
              </a:buClr>
              <a:buFont typeface="Malgun Gothic"/>
              <a:buChar char="▪"/>
              <a:tabLst>
                <a:tab pos="828040" algn="l"/>
              </a:tabLst>
            </a:pPr>
            <a:r>
              <a:rPr dirty="0" sz="2600" spc="-15" b="1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evolution</a:t>
            </a:r>
            <a:r>
              <a:rPr dirty="0" sz="2600" spc="-10">
                <a:latin typeface="Calibri"/>
                <a:cs typeface="Calibri"/>
              </a:rPr>
              <a:t>: </a:t>
            </a:r>
            <a:r>
              <a:rPr dirty="0" sz="2600" spc="-20">
                <a:latin typeface="Calibri"/>
                <a:cs typeface="Calibri"/>
              </a:rPr>
              <a:t>Physical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simulation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38327"/>
            <a:ext cx="5928360" cy="582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784098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latin typeface="Calibri"/>
                <a:cs typeface="Calibri"/>
              </a:rPr>
              <a:t>Node </a:t>
            </a:r>
            <a:r>
              <a:rPr dirty="0" sz="3000" spc="-10" b="1">
                <a:latin typeface="Calibri"/>
                <a:cs typeface="Calibri"/>
              </a:rPr>
              <a:t>classification</a:t>
            </a:r>
            <a:r>
              <a:rPr dirty="0" sz="3000" spc="-10">
                <a:solidFill>
                  <a:srgbClr val="000000"/>
                </a:solidFill>
              </a:rPr>
              <a:t>: Predict </a:t>
            </a:r>
            <a:r>
              <a:rPr dirty="0" sz="3000">
                <a:solidFill>
                  <a:srgbClr val="000000"/>
                </a:solidFill>
              </a:rPr>
              <a:t>a </a:t>
            </a:r>
            <a:r>
              <a:rPr dirty="0" sz="3000" spc="-10">
                <a:solidFill>
                  <a:srgbClr val="000000"/>
                </a:solidFill>
              </a:rPr>
              <a:t>property </a:t>
            </a:r>
            <a:r>
              <a:rPr dirty="0" sz="3000">
                <a:solidFill>
                  <a:srgbClr val="000000"/>
                </a:solidFill>
              </a:rPr>
              <a:t>of a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 spc="-5">
                <a:solidFill>
                  <a:srgbClr val="000000"/>
                </a:solidFill>
              </a:rPr>
              <a:t>node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3915155"/>
            <a:ext cx="77089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200" b="1">
                <a:latin typeface="Calibri"/>
                <a:cs typeface="Calibri"/>
              </a:rPr>
              <a:t>Exa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4257547"/>
            <a:ext cx="739267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  <a:tab pos="7206615" algn="l"/>
              </a:tabLst>
            </a:pP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Clu</a:t>
            </a:r>
            <a:r>
              <a:rPr dirty="0" sz="3000" spc="-35" b="1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dirty="0" sz="3000" b="1">
                <a:solidFill>
                  <a:srgbClr val="C00000"/>
                </a:solidFill>
                <a:latin typeface="Calibri"/>
                <a:cs typeface="Calibri"/>
              </a:rPr>
              <a:t>t	</a:t>
            </a:r>
            <a:r>
              <a:rPr dirty="0" sz="3000">
                <a:latin typeface="Calibri"/>
                <a:cs typeface="Calibri"/>
              </a:rPr>
              <a:t>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2712" y="2599887"/>
            <a:ext cx="6124575" cy="25850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ts val="3454"/>
              </a:lnSpc>
            </a:pPr>
            <a:r>
              <a:rPr dirty="0" sz="3000" spc="-15">
                <a:latin typeface="Calibri"/>
                <a:cs typeface="Calibri"/>
              </a:rPr>
              <a:t>between </a:t>
            </a:r>
            <a:r>
              <a:rPr dirty="0" sz="3000" spc="-10">
                <a:latin typeface="Calibri"/>
                <a:cs typeface="Calibri"/>
              </a:rPr>
              <a:t>two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 spc="-5">
                <a:latin typeface="Calibri"/>
                <a:cs typeface="Calibri"/>
              </a:rPr>
              <a:t>nodes</a:t>
            </a:r>
            <a:endParaRPr sz="3000">
              <a:latin typeface="Calibri"/>
              <a:cs typeface="Calibri"/>
            </a:endParaRPr>
          </a:p>
          <a:p>
            <a:pPr marL="1905">
              <a:lnSpc>
                <a:spcPts val="2920"/>
              </a:lnSpc>
              <a:spcBef>
                <a:spcPts val="280"/>
              </a:spcBef>
            </a:pPr>
            <a:r>
              <a:rPr dirty="0" sz="2600" spc="-5" b="1">
                <a:latin typeface="Calibri"/>
                <a:cs typeface="Calibri"/>
              </a:rPr>
              <a:t>mple: </a:t>
            </a:r>
            <a:r>
              <a:rPr dirty="0" sz="2600" spc="-15">
                <a:latin typeface="Calibri"/>
                <a:cs typeface="Calibri"/>
              </a:rPr>
              <a:t>Knowledge graph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completion</a:t>
            </a:r>
            <a:endParaRPr sz="2600">
              <a:latin typeface="Calibri"/>
              <a:cs typeface="Calibri"/>
            </a:endParaRPr>
          </a:p>
          <a:p>
            <a:pPr>
              <a:lnSpc>
                <a:spcPts val="3400"/>
              </a:lnSpc>
            </a:pPr>
            <a:r>
              <a:rPr dirty="0" sz="3000" b="1">
                <a:solidFill>
                  <a:srgbClr val="C00000"/>
                </a:solidFill>
                <a:latin typeface="Calibri"/>
                <a:cs typeface="Calibri"/>
              </a:rPr>
              <a:t>h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classification</a:t>
            </a:r>
            <a:r>
              <a:rPr dirty="0" sz="3000" spc="-10">
                <a:latin typeface="Calibri"/>
                <a:cs typeface="Calibri"/>
              </a:rPr>
              <a:t>: </a:t>
            </a:r>
            <a:r>
              <a:rPr dirty="0" sz="3000" spc="-20">
                <a:latin typeface="Calibri"/>
                <a:cs typeface="Calibri"/>
              </a:rPr>
              <a:t>Categorize </a:t>
            </a:r>
            <a:r>
              <a:rPr dirty="0" sz="3000" spc="-25">
                <a:latin typeface="Calibri"/>
                <a:cs typeface="Calibri"/>
              </a:rPr>
              <a:t>different </a:t>
            </a:r>
            <a:r>
              <a:rPr dirty="0" sz="3000" spc="-20">
                <a:latin typeface="Calibri"/>
                <a:cs typeface="Calibri"/>
              </a:rPr>
              <a:t>gra</a:t>
            </a:r>
            <a:endParaRPr sz="3000">
              <a:latin typeface="Calibri"/>
              <a:cs typeface="Calibri"/>
            </a:endParaRPr>
          </a:p>
          <a:p>
            <a:pPr marL="1905">
              <a:lnSpc>
                <a:spcPts val="2910"/>
              </a:lnSpc>
              <a:spcBef>
                <a:spcPts val="400"/>
              </a:spcBef>
            </a:pPr>
            <a:r>
              <a:rPr dirty="0" sz="2600" spc="-5" b="1">
                <a:latin typeface="Calibri"/>
                <a:cs typeface="Calibri"/>
              </a:rPr>
              <a:t>mple</a:t>
            </a:r>
            <a:r>
              <a:rPr dirty="0" sz="2600" spc="-5">
                <a:latin typeface="Calibri"/>
                <a:cs typeface="Calibri"/>
              </a:rPr>
              <a:t>: Molecule </a:t>
            </a:r>
            <a:r>
              <a:rPr dirty="0" sz="2600" spc="-10">
                <a:latin typeface="Calibri"/>
                <a:cs typeface="Calibri"/>
              </a:rPr>
              <a:t>property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prediction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ts val="3390"/>
              </a:lnSpc>
            </a:pP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ering</a:t>
            </a:r>
            <a:r>
              <a:rPr dirty="0" sz="3000" spc="-5">
                <a:latin typeface="Calibri"/>
                <a:cs typeface="Calibri"/>
              </a:rPr>
              <a:t>: </a:t>
            </a:r>
            <a:r>
              <a:rPr dirty="0" sz="3000" spc="-15">
                <a:latin typeface="Calibri"/>
                <a:cs typeface="Calibri"/>
              </a:rPr>
              <a:t>Detect </a:t>
            </a:r>
            <a:r>
              <a:rPr dirty="0" sz="3000" spc="-5">
                <a:latin typeface="Calibri"/>
                <a:cs typeface="Calibri"/>
              </a:rPr>
              <a:t>if nodes </a:t>
            </a:r>
            <a:r>
              <a:rPr dirty="0" sz="3000" spc="-20">
                <a:latin typeface="Calibri"/>
                <a:cs typeface="Calibri"/>
              </a:rPr>
              <a:t>form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communit</a:t>
            </a:r>
            <a:endParaRPr sz="3000">
              <a:latin typeface="Calibri"/>
              <a:cs typeface="Calibri"/>
            </a:endParaRPr>
          </a:p>
          <a:p>
            <a:pPr marL="1905">
              <a:lnSpc>
                <a:spcPct val="100000"/>
              </a:lnSpc>
              <a:spcBef>
                <a:spcPts val="300"/>
              </a:spcBef>
            </a:pPr>
            <a:r>
              <a:rPr dirty="0" sz="2600" spc="-5" b="1">
                <a:latin typeface="Calibri"/>
                <a:cs typeface="Calibri"/>
              </a:rPr>
              <a:t>mple</a:t>
            </a:r>
            <a:r>
              <a:rPr dirty="0" sz="2600" spc="-5">
                <a:latin typeface="Calibri"/>
                <a:cs typeface="Calibri"/>
              </a:rPr>
              <a:t>: </a:t>
            </a:r>
            <a:r>
              <a:rPr dirty="0" sz="2600">
                <a:latin typeface="Calibri"/>
                <a:cs typeface="Calibri"/>
              </a:rPr>
              <a:t>Social </a:t>
            </a:r>
            <a:r>
              <a:rPr dirty="0" sz="2600" spc="-10">
                <a:latin typeface="Calibri"/>
                <a:cs typeface="Calibri"/>
              </a:rPr>
              <a:t>circle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detection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108" y="4753355"/>
            <a:ext cx="5565140" cy="170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2955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5" b="1">
                <a:latin typeface="Calibri"/>
                <a:cs typeface="Calibri"/>
              </a:rPr>
              <a:t>Exa</a:t>
            </a:r>
            <a:endParaRPr sz="2600">
              <a:latin typeface="Calibri"/>
              <a:cs typeface="Calibri"/>
            </a:endParaRPr>
          </a:p>
          <a:p>
            <a:pPr marL="332740" marR="4041140" indent="-320040">
              <a:lnSpc>
                <a:spcPts val="343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 b="1">
                <a:latin typeface="Calibri"/>
                <a:cs typeface="Calibri"/>
              </a:rPr>
              <a:t>Others</a:t>
            </a:r>
            <a:r>
              <a:rPr dirty="0" sz="3000" spc="-10"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5" b="1">
                <a:solidFill>
                  <a:srgbClr val="C00000"/>
                </a:solidFill>
                <a:latin typeface="Calibri"/>
                <a:cs typeface="Calibri"/>
              </a:rPr>
              <a:t>Graph generation</a:t>
            </a:r>
            <a:r>
              <a:rPr dirty="0" sz="2600" spc="-15">
                <a:latin typeface="Calibri"/>
                <a:cs typeface="Calibri"/>
              </a:rPr>
              <a:t>: </a:t>
            </a:r>
            <a:r>
              <a:rPr dirty="0" sz="2600" spc="-5">
                <a:latin typeface="Calibri"/>
                <a:cs typeface="Calibri"/>
              </a:rPr>
              <a:t>Drug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discovery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5" b="1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evolution</a:t>
            </a:r>
            <a:r>
              <a:rPr dirty="0" sz="2600" spc="-10">
                <a:latin typeface="Calibri"/>
                <a:cs typeface="Calibri"/>
              </a:rPr>
              <a:t>: </a:t>
            </a:r>
            <a:r>
              <a:rPr dirty="0" sz="2600" spc="-20">
                <a:latin typeface="Calibri"/>
                <a:cs typeface="Calibri"/>
              </a:rPr>
              <a:t>Physical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 spc="-35">
                <a:latin typeface="Calibri"/>
                <a:cs typeface="Calibri"/>
              </a:rPr>
              <a:t>simulation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19798" y="2616361"/>
            <a:ext cx="6085840" cy="2724150"/>
          </a:xfrm>
          <a:custGeom>
            <a:avLst/>
            <a:gdLst/>
            <a:ahLst/>
            <a:cxnLst/>
            <a:rect l="l" t="t" r="r" b="b"/>
            <a:pathLst>
              <a:path w="6085840" h="2724150">
                <a:moveTo>
                  <a:pt x="0" y="0"/>
                </a:moveTo>
                <a:lnTo>
                  <a:pt x="6085401" y="0"/>
                </a:lnTo>
                <a:lnTo>
                  <a:pt x="6085401" y="2723535"/>
                </a:lnTo>
                <a:lnTo>
                  <a:pt x="0" y="2723535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19798" y="2616361"/>
            <a:ext cx="6085840" cy="2724150"/>
          </a:xfrm>
          <a:custGeom>
            <a:avLst/>
            <a:gdLst/>
            <a:ahLst/>
            <a:cxnLst/>
            <a:rect l="l" t="t" r="r" b="b"/>
            <a:pathLst>
              <a:path w="6085840" h="2724150">
                <a:moveTo>
                  <a:pt x="0" y="0"/>
                </a:moveTo>
                <a:lnTo>
                  <a:pt x="6085403" y="0"/>
                </a:lnTo>
                <a:lnTo>
                  <a:pt x="6085403" y="2723535"/>
                </a:lnTo>
                <a:lnTo>
                  <a:pt x="0" y="2723535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4484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27405" indent="-274320">
              <a:lnSpc>
                <a:spcPts val="291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828040" algn="l"/>
              </a:tabLst>
            </a:pPr>
            <a:r>
              <a:rPr dirty="0" spc="-10" b="1">
                <a:latin typeface="Calibri"/>
                <a:cs typeface="Calibri"/>
              </a:rPr>
              <a:t>Example: </a:t>
            </a:r>
            <a:r>
              <a:rPr dirty="0" spc="-15"/>
              <a:t>Categorize </a:t>
            </a:r>
            <a:r>
              <a:rPr dirty="0" spc="-5"/>
              <a:t>online </a:t>
            </a:r>
            <a:r>
              <a:rPr dirty="0" spc="-15"/>
              <a:t>users </a:t>
            </a:r>
            <a:r>
              <a:rPr dirty="0"/>
              <a:t>/ </a:t>
            </a:r>
            <a:r>
              <a:rPr dirty="0" spc="-10"/>
              <a:t>items</a:t>
            </a:r>
          </a:p>
          <a:p>
            <a:pPr marL="534670" marR="5080" indent="-320040">
              <a:lnSpc>
                <a:spcPts val="3310"/>
              </a:lnSpc>
              <a:spcBef>
                <a:spcPts val="14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535305" algn="l"/>
              </a:tabLst>
            </a:pP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Link prediction</a:t>
            </a:r>
            <a:r>
              <a:rPr dirty="0" sz="3000" spc="-5"/>
              <a:t>: </a:t>
            </a:r>
            <a:r>
              <a:rPr dirty="0" sz="3000" spc="-10"/>
              <a:t>Predict whether </a:t>
            </a:r>
            <a:r>
              <a:rPr dirty="0" sz="3000" spc="-15"/>
              <a:t>there are </a:t>
            </a:r>
            <a:r>
              <a:rPr dirty="0" sz="3000" spc="-5"/>
              <a:t>missing  </a:t>
            </a:r>
            <a:r>
              <a:rPr dirty="0" sz="3000" spc="-10"/>
              <a:t>links</a:t>
            </a:r>
            <a:endParaRPr sz="3000">
              <a:latin typeface="Calibri"/>
              <a:cs typeface="Calibri"/>
            </a:endParaRPr>
          </a:p>
          <a:p>
            <a:pPr lvl="1" marL="827405" indent="-274320">
              <a:lnSpc>
                <a:spcPts val="2860"/>
              </a:lnSpc>
              <a:spcBef>
                <a:spcPts val="215"/>
              </a:spcBef>
              <a:buClr>
                <a:srgbClr val="60B5CC"/>
              </a:buClr>
              <a:buFont typeface="Malgun Gothic"/>
              <a:buChar char="▪"/>
              <a:tabLst>
                <a:tab pos="828040" algn="l"/>
              </a:tabLst>
            </a:pPr>
            <a:r>
              <a:rPr dirty="0" sz="2600" spc="-15" b="1">
                <a:latin typeface="Calibri"/>
                <a:cs typeface="Calibri"/>
              </a:rPr>
              <a:t>Exa</a:t>
            </a:r>
            <a:endParaRPr sz="2600">
              <a:latin typeface="Calibri"/>
              <a:cs typeface="Calibri"/>
            </a:endParaRPr>
          </a:p>
          <a:p>
            <a:pPr marL="534670" indent="-320040">
              <a:lnSpc>
                <a:spcPts val="406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535305" algn="l"/>
                <a:tab pos="1465580" algn="l"/>
                <a:tab pos="7420609" algn="l"/>
              </a:tabLst>
            </a:pPr>
            <a:r>
              <a:rPr dirty="0" baseline="9259" sz="4500" spc="-30" b="1">
                <a:solidFill>
                  <a:srgbClr val="C00000"/>
                </a:solidFill>
                <a:latin typeface="Calibri"/>
                <a:cs typeface="Calibri"/>
              </a:rPr>
              <a:t>Grap	</a:t>
            </a:r>
            <a:r>
              <a:rPr dirty="0" sz="3600" spc="-5" b="1">
                <a:solidFill>
                  <a:srgbClr val="FFFFFF"/>
                </a:solidFill>
                <a:latin typeface="Corbel"/>
                <a:cs typeface="Corbel"/>
              </a:rPr>
              <a:t>These Graph </a:t>
            </a:r>
            <a:r>
              <a:rPr dirty="0" sz="3600" b="1">
                <a:solidFill>
                  <a:srgbClr val="FFFFFF"/>
                </a:solidFill>
                <a:latin typeface="Corbel"/>
                <a:cs typeface="Corbel"/>
              </a:rPr>
              <a:t>ML </a:t>
            </a:r>
            <a:r>
              <a:rPr dirty="0" sz="3600" spc="-5" b="1">
                <a:solidFill>
                  <a:srgbClr val="FFFFFF"/>
                </a:solidFill>
                <a:latin typeface="Corbel"/>
                <a:cs typeface="Corbel"/>
              </a:rPr>
              <a:t>tasks</a:t>
            </a:r>
            <a:r>
              <a:rPr dirty="0" sz="3600" spc="-130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Corbel"/>
                <a:cs typeface="Corbel"/>
              </a:rPr>
              <a:t>lead</a:t>
            </a:r>
            <a:r>
              <a:rPr dirty="0" sz="3600" spc="0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Corbel"/>
                <a:cs typeface="Corbel"/>
              </a:rPr>
              <a:t>to	</a:t>
            </a:r>
            <a:r>
              <a:rPr dirty="0" baseline="9259" sz="4500" spc="-7"/>
              <a:t>phs</a:t>
            </a:r>
            <a:endParaRPr baseline="9259" sz="4500">
              <a:latin typeface="Corbel"/>
              <a:cs typeface="Corbe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225">
              <a:lnSpc>
                <a:spcPts val="950"/>
              </a:lnSpc>
            </a:pPr>
            <a:r>
              <a:rPr dirty="0"/>
              <a:t>36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244723" y="3937508"/>
            <a:ext cx="50361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 b="1">
                <a:solidFill>
                  <a:srgbClr val="FFFFFF"/>
                </a:solidFill>
                <a:latin typeface="Corbel"/>
                <a:cs typeface="Corbel"/>
              </a:rPr>
              <a:t>high-impact</a:t>
            </a:r>
            <a:r>
              <a:rPr dirty="0" sz="3600" spc="-40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Corbel"/>
                <a:cs typeface="Corbel"/>
              </a:rPr>
              <a:t>applications!</a:t>
            </a:r>
            <a:endParaRPr sz="3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6863" y="3477767"/>
            <a:ext cx="5190744" cy="11643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92200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552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000000"/>
                </a:solidFill>
              </a:rPr>
              <a:t>A </a:t>
            </a:r>
            <a:r>
              <a:rPr dirty="0" sz="3200" spc="-15">
                <a:solidFill>
                  <a:srgbClr val="000000"/>
                </a:solidFill>
              </a:rPr>
              <a:t>protein </a:t>
            </a:r>
            <a:r>
              <a:rPr dirty="0" sz="3200" spc="-5">
                <a:solidFill>
                  <a:srgbClr val="000000"/>
                </a:solidFill>
              </a:rPr>
              <a:t>chain </a:t>
            </a:r>
            <a:r>
              <a:rPr dirty="0" sz="3200" spc="-10">
                <a:solidFill>
                  <a:srgbClr val="000000"/>
                </a:solidFill>
              </a:rPr>
              <a:t>acquires </a:t>
            </a:r>
            <a:r>
              <a:rPr dirty="0" sz="3200">
                <a:solidFill>
                  <a:srgbClr val="000000"/>
                </a:solidFill>
              </a:rPr>
              <a:t>its </a:t>
            </a:r>
            <a:r>
              <a:rPr dirty="0" sz="3200" spc="-10">
                <a:solidFill>
                  <a:srgbClr val="000000"/>
                </a:solidFill>
              </a:rPr>
              <a:t>native </a:t>
            </a:r>
            <a:r>
              <a:rPr dirty="0" sz="3200">
                <a:solidFill>
                  <a:srgbClr val="000000"/>
                </a:solidFill>
              </a:rPr>
              <a:t>3D</a:t>
            </a:r>
            <a:r>
              <a:rPr dirty="0" sz="3200" spc="55">
                <a:solidFill>
                  <a:srgbClr val="000000"/>
                </a:solidFill>
              </a:rPr>
              <a:t> </a:t>
            </a:r>
            <a:r>
              <a:rPr dirty="0" sz="3200" spc="-15">
                <a:solidFill>
                  <a:srgbClr val="000000"/>
                </a:solidFill>
              </a:rPr>
              <a:t>structure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0" y="2230932"/>
            <a:ext cx="9144000" cy="29369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041140" y="5263896"/>
            <a:ext cx="14185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4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168BBA"/>
                </a:solidFill>
                <a:latin typeface="Corbel"/>
                <a:cs typeface="Corbel"/>
              </a:rPr>
              <a:t>DeepMind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225">
              <a:lnSpc>
                <a:spcPts val="950"/>
              </a:lnSpc>
            </a:pPr>
            <a:r>
              <a:rPr dirty="0"/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3600" y="2513702"/>
            <a:ext cx="5060787" cy="41918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8640" y="347472"/>
            <a:ext cx="7043928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15467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z="3200" spc="-10" b="1">
                <a:solidFill>
                  <a:srgbClr val="000000"/>
                </a:solidFill>
                <a:latin typeface="Calibri"/>
                <a:cs typeface="Calibri"/>
              </a:rPr>
              <a:t>Computationally predict </a:t>
            </a:r>
            <a:r>
              <a:rPr dirty="0" sz="3200" b="1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z="3200" spc="-30" b="1">
                <a:solidFill>
                  <a:srgbClr val="000000"/>
                </a:solidFill>
                <a:latin typeface="Calibri"/>
                <a:cs typeface="Calibri"/>
              </a:rPr>
              <a:t>protein’s </a:t>
            </a:r>
            <a:r>
              <a:rPr dirty="0" sz="3200" b="1">
                <a:solidFill>
                  <a:srgbClr val="60B5CC"/>
                </a:solidFill>
                <a:latin typeface="Calibri"/>
                <a:cs typeface="Calibri"/>
              </a:rPr>
              <a:t>3D </a:t>
            </a:r>
            <a:r>
              <a:rPr dirty="0" sz="3200" spc="-15" b="1">
                <a:solidFill>
                  <a:srgbClr val="60B5CC"/>
                </a:solidFill>
                <a:latin typeface="Calibri"/>
                <a:cs typeface="Calibri"/>
              </a:rPr>
              <a:t>structure  </a:t>
            </a:r>
            <a:r>
              <a:rPr dirty="0" sz="3200" spc="-5" b="1">
                <a:solidFill>
                  <a:srgbClr val="000000"/>
                </a:solidFill>
                <a:latin typeface="Calibri"/>
                <a:cs typeface="Calibri"/>
              </a:rPr>
              <a:t>based solely </a:t>
            </a:r>
            <a:r>
              <a:rPr dirty="0" sz="3200" b="1">
                <a:solidFill>
                  <a:srgbClr val="000000"/>
                </a:solidFill>
                <a:latin typeface="Calibri"/>
                <a:cs typeface="Calibri"/>
              </a:rPr>
              <a:t>on its </a:t>
            </a:r>
            <a:r>
              <a:rPr dirty="0" sz="3200" spc="-5" b="1">
                <a:solidFill>
                  <a:srgbClr val="000000"/>
                </a:solidFill>
                <a:latin typeface="Calibri"/>
                <a:cs typeface="Calibri"/>
              </a:rPr>
              <a:t>amino acid</a:t>
            </a:r>
            <a:r>
              <a:rPr dirty="0" sz="32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sequence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225">
              <a:lnSpc>
                <a:spcPts val="950"/>
              </a:lnSpc>
            </a:pPr>
            <a:r>
              <a:rPr dirty="0"/>
              <a:t>39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93540" y="6409944"/>
            <a:ext cx="14185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4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168BBA"/>
                </a:solidFill>
                <a:latin typeface="Corbel"/>
                <a:cs typeface="Corbel"/>
              </a:rPr>
              <a:t>DeepMind</a:t>
            </a:r>
            <a:endParaRPr sz="11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452323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78538" y="1175406"/>
            <a:ext cx="5259720" cy="22244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2062" y="5393205"/>
            <a:ext cx="4965059" cy="12985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91038" y="4974756"/>
            <a:ext cx="5507719" cy="78089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30636" y="3527306"/>
            <a:ext cx="5186723" cy="78146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7200" y="4351305"/>
            <a:ext cx="4249271" cy="6444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788" y="1102349"/>
            <a:ext cx="3550023" cy="237839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175521" y="3222751"/>
            <a:ext cx="11645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900" spc="-3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900" spc="-5" u="sng">
                <a:solidFill>
                  <a:srgbClr val="168BBA"/>
                </a:solidFill>
                <a:latin typeface="Corbel"/>
                <a:cs typeface="Corbel"/>
              </a:rPr>
              <a:t>DeepMind</a:t>
            </a:r>
            <a:endParaRPr sz="900">
              <a:latin typeface="Corbel"/>
              <a:cs typeface="Corbe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716522" y="6723724"/>
            <a:ext cx="14287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40</a:t>
            </a:r>
            <a:endParaRPr sz="9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38096" y="3417823"/>
            <a:ext cx="13804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900" spc="-1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900" spc="-5" u="sng">
                <a:solidFill>
                  <a:srgbClr val="168BBA"/>
                </a:solidFill>
                <a:latin typeface="Corbel"/>
                <a:cs typeface="Corbel"/>
              </a:rPr>
              <a:t>SingularityHub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88517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91093" y="2783959"/>
            <a:ext cx="8763000" cy="3428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48034" y="6028944"/>
            <a:ext cx="14185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4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168BBA"/>
                </a:solidFill>
                <a:latin typeface="Corbel"/>
                <a:cs typeface="Corbel"/>
              </a:rPr>
              <a:t>DeepMind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178052"/>
            <a:ext cx="44659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 b="1">
                <a:solidFill>
                  <a:srgbClr val="60B5CC"/>
                </a:solidFill>
                <a:latin typeface="Calibri"/>
                <a:cs typeface="Calibri"/>
              </a:rPr>
              <a:t>Key </a:t>
            </a: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idea: </a:t>
            </a:r>
            <a:r>
              <a:rPr dirty="0" sz="3200" spc="-5">
                <a:solidFill>
                  <a:srgbClr val="000000"/>
                </a:solidFill>
              </a:rPr>
              <a:t>“Spatial</a:t>
            </a:r>
            <a:r>
              <a:rPr dirty="0" sz="3200" spc="-10">
                <a:solidFill>
                  <a:srgbClr val="000000"/>
                </a:solidFill>
              </a:rPr>
              <a:t> </a:t>
            </a:r>
            <a:r>
              <a:rPr dirty="0" sz="3200" spc="-15">
                <a:solidFill>
                  <a:srgbClr val="000000"/>
                </a:solidFill>
              </a:rPr>
              <a:t>graph”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6563" y="1655571"/>
            <a:ext cx="7341234" cy="106807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Nodes: </a:t>
            </a:r>
            <a:r>
              <a:rPr dirty="0" sz="2800" spc="-5">
                <a:latin typeface="Calibri"/>
                <a:cs typeface="Calibri"/>
              </a:rPr>
              <a:t>Amino acids in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protein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sequence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Edges: </a:t>
            </a:r>
            <a:r>
              <a:rPr dirty="0" sz="2800" spc="-15">
                <a:latin typeface="Calibri"/>
                <a:cs typeface="Calibri"/>
              </a:rPr>
              <a:t>Proximity between </a:t>
            </a:r>
            <a:r>
              <a:rPr dirty="0" sz="2800" spc="-5">
                <a:latin typeface="Calibri"/>
                <a:cs typeface="Calibri"/>
              </a:rPr>
              <a:t>amino acids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 spc="-60">
                <a:latin typeface="Calibri"/>
                <a:cs typeface="Calibri"/>
              </a:rPr>
              <a:t>(residues)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71800" y="4627998"/>
            <a:ext cx="3733800" cy="1659255"/>
          </a:xfrm>
          <a:custGeom>
            <a:avLst/>
            <a:gdLst/>
            <a:ahLst/>
            <a:cxnLst/>
            <a:rect l="l" t="t" r="r" b="b"/>
            <a:pathLst>
              <a:path w="3733800" h="1659254">
                <a:moveTo>
                  <a:pt x="0" y="0"/>
                </a:moveTo>
                <a:lnTo>
                  <a:pt x="3733800" y="0"/>
                </a:lnTo>
                <a:lnTo>
                  <a:pt x="3733800" y="1659236"/>
                </a:lnTo>
                <a:lnTo>
                  <a:pt x="0" y="1659236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91920" y="6409435"/>
            <a:ext cx="147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Spatial</a:t>
            </a:r>
            <a:r>
              <a:rPr dirty="0" sz="1800" spc="-85" b="1">
                <a:solidFill>
                  <a:srgbClr val="60B5CC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724460" y="6723724"/>
            <a:ext cx="13525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41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6863" y="3477767"/>
            <a:ext cx="5093208" cy="12984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8156448" cy="499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73615" y="6694423"/>
            <a:ext cx="30657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Jure Leskovec, Stanford CS224W: Machine Learning with</a:t>
            </a:r>
            <a:r>
              <a:rPr dirty="0" sz="900" spc="5">
                <a:solidFill>
                  <a:srgbClr val="3F3F3F"/>
                </a:solidFill>
                <a:latin typeface="Corbel"/>
                <a:cs typeface="Corbe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Graphs</a:t>
            </a:r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22872" y="6694423"/>
            <a:ext cx="1358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43</a:t>
            </a:r>
            <a:endParaRPr sz="9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9100" y="5967476"/>
            <a:ext cx="7708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orbel"/>
                <a:cs typeface="Corbel"/>
              </a:rPr>
              <a:t>It</a:t>
            </a:r>
            <a:r>
              <a:rPr dirty="0" sz="2400" spc="-10" b="1">
                <a:solidFill>
                  <a:srgbClr val="C00000"/>
                </a:solidFill>
                <a:latin typeface="Corbel"/>
                <a:cs typeface="Corbel"/>
              </a:rPr>
              <a:t>e</a:t>
            </a:r>
            <a:r>
              <a:rPr dirty="0" sz="2400" spc="0" b="1">
                <a:solidFill>
                  <a:srgbClr val="C00000"/>
                </a:solidFill>
                <a:latin typeface="Corbel"/>
                <a:cs typeface="Corbel"/>
              </a:rPr>
              <a:t>m</a:t>
            </a:r>
            <a:r>
              <a:rPr dirty="0" sz="2400" b="1">
                <a:solidFill>
                  <a:srgbClr val="C00000"/>
                </a:solidFill>
                <a:latin typeface="Corbel"/>
                <a:cs typeface="Corbel"/>
              </a:rPr>
              <a:t>s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6253" y="4254500"/>
            <a:ext cx="7575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00FF"/>
                </a:solidFill>
                <a:latin typeface="Corbel"/>
                <a:cs typeface="Corbel"/>
              </a:rPr>
              <a:t>Use</a:t>
            </a:r>
            <a:r>
              <a:rPr dirty="0" sz="2400" spc="-5" b="1">
                <a:solidFill>
                  <a:srgbClr val="0000FF"/>
                </a:solidFill>
                <a:latin typeface="Corbel"/>
                <a:cs typeface="Corbel"/>
              </a:rPr>
              <a:t>r</a:t>
            </a:r>
            <a:r>
              <a:rPr dirty="0" sz="2400" b="1">
                <a:solidFill>
                  <a:srgbClr val="0000FF"/>
                </a:solidFill>
                <a:latin typeface="Corbel"/>
                <a:cs typeface="Corbel"/>
              </a:rPr>
              <a:t>s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79897" y="4716581"/>
            <a:ext cx="922655" cy="1172210"/>
          </a:xfrm>
          <a:custGeom>
            <a:avLst/>
            <a:gdLst/>
            <a:ahLst/>
            <a:cxnLst/>
            <a:rect l="l" t="t" r="r" b="b"/>
            <a:pathLst>
              <a:path w="922654" h="1172210">
                <a:moveTo>
                  <a:pt x="25499" y="1046831"/>
                </a:moveTo>
                <a:lnTo>
                  <a:pt x="0" y="1172052"/>
                </a:lnTo>
                <a:lnTo>
                  <a:pt x="115476" y="1117319"/>
                </a:lnTo>
                <a:lnTo>
                  <a:pt x="113769" y="1115982"/>
                </a:lnTo>
                <a:lnTo>
                  <a:pt x="61036" y="1115982"/>
                </a:lnTo>
                <a:lnTo>
                  <a:pt x="53752" y="1115461"/>
                </a:lnTo>
                <a:lnTo>
                  <a:pt x="46991" y="1112067"/>
                </a:lnTo>
                <a:lnTo>
                  <a:pt x="42077" y="1106316"/>
                </a:lnTo>
                <a:lnTo>
                  <a:pt x="39828" y="1099367"/>
                </a:lnTo>
                <a:lnTo>
                  <a:pt x="40349" y="1092083"/>
                </a:lnTo>
                <a:lnTo>
                  <a:pt x="43743" y="1085323"/>
                </a:lnTo>
                <a:lnTo>
                  <a:pt x="55491" y="1070327"/>
                </a:lnTo>
                <a:lnTo>
                  <a:pt x="25499" y="1046831"/>
                </a:lnTo>
                <a:close/>
              </a:path>
              <a:path w="922654" h="1172210">
                <a:moveTo>
                  <a:pt x="55491" y="1070327"/>
                </a:moveTo>
                <a:lnTo>
                  <a:pt x="43743" y="1085323"/>
                </a:lnTo>
                <a:lnTo>
                  <a:pt x="40349" y="1092083"/>
                </a:lnTo>
                <a:lnTo>
                  <a:pt x="39828" y="1099367"/>
                </a:lnTo>
                <a:lnTo>
                  <a:pt x="42077" y="1106316"/>
                </a:lnTo>
                <a:lnTo>
                  <a:pt x="46991" y="1112067"/>
                </a:lnTo>
                <a:lnTo>
                  <a:pt x="53752" y="1115461"/>
                </a:lnTo>
                <a:lnTo>
                  <a:pt x="61036" y="1115982"/>
                </a:lnTo>
                <a:lnTo>
                  <a:pt x="67984" y="1113733"/>
                </a:lnTo>
                <a:lnTo>
                  <a:pt x="73736" y="1108819"/>
                </a:lnTo>
                <a:lnTo>
                  <a:pt x="85483" y="1093823"/>
                </a:lnTo>
                <a:lnTo>
                  <a:pt x="55491" y="1070327"/>
                </a:lnTo>
                <a:close/>
              </a:path>
              <a:path w="922654" h="1172210">
                <a:moveTo>
                  <a:pt x="85483" y="1093823"/>
                </a:moveTo>
                <a:lnTo>
                  <a:pt x="73736" y="1108819"/>
                </a:lnTo>
                <a:lnTo>
                  <a:pt x="67984" y="1113733"/>
                </a:lnTo>
                <a:lnTo>
                  <a:pt x="61036" y="1115982"/>
                </a:lnTo>
                <a:lnTo>
                  <a:pt x="113769" y="1115982"/>
                </a:lnTo>
                <a:lnTo>
                  <a:pt x="85483" y="1093823"/>
                </a:lnTo>
                <a:close/>
              </a:path>
              <a:path w="922654" h="1172210">
                <a:moveTo>
                  <a:pt x="901072" y="0"/>
                </a:moveTo>
                <a:lnTo>
                  <a:pt x="894124" y="2248"/>
                </a:lnTo>
                <a:lnTo>
                  <a:pt x="888372" y="7162"/>
                </a:lnTo>
                <a:lnTo>
                  <a:pt x="55491" y="1070327"/>
                </a:lnTo>
                <a:lnTo>
                  <a:pt x="85483" y="1093823"/>
                </a:lnTo>
                <a:lnTo>
                  <a:pt x="918366" y="30658"/>
                </a:lnTo>
                <a:lnTo>
                  <a:pt x="921759" y="23898"/>
                </a:lnTo>
                <a:lnTo>
                  <a:pt x="922280" y="16613"/>
                </a:lnTo>
                <a:lnTo>
                  <a:pt x="920031" y="9665"/>
                </a:lnTo>
                <a:lnTo>
                  <a:pt x="915117" y="3913"/>
                </a:lnTo>
                <a:lnTo>
                  <a:pt x="908356" y="520"/>
                </a:lnTo>
                <a:lnTo>
                  <a:pt x="901072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15103" y="4716543"/>
            <a:ext cx="391160" cy="1175385"/>
          </a:xfrm>
          <a:custGeom>
            <a:avLst/>
            <a:gdLst/>
            <a:ahLst/>
            <a:cxnLst/>
            <a:rect l="l" t="t" r="r" b="b"/>
            <a:pathLst>
              <a:path w="391160" h="1175385">
                <a:moveTo>
                  <a:pt x="317618" y="1071119"/>
                </a:moveTo>
                <a:lnTo>
                  <a:pt x="281153" y="1082160"/>
                </a:lnTo>
                <a:lnTo>
                  <a:pt x="368973" y="1174994"/>
                </a:lnTo>
                <a:lnTo>
                  <a:pt x="381343" y="1102780"/>
                </a:lnTo>
                <a:lnTo>
                  <a:pt x="339361" y="1102780"/>
                </a:lnTo>
                <a:lnTo>
                  <a:pt x="332382" y="1100627"/>
                </a:lnTo>
                <a:lnTo>
                  <a:pt x="326720" y="1096015"/>
                </a:lnTo>
                <a:lnTo>
                  <a:pt x="323139" y="1089351"/>
                </a:lnTo>
                <a:lnTo>
                  <a:pt x="317618" y="1071119"/>
                </a:lnTo>
                <a:close/>
              </a:path>
              <a:path w="391160" h="1175385">
                <a:moveTo>
                  <a:pt x="354083" y="1060078"/>
                </a:moveTo>
                <a:lnTo>
                  <a:pt x="317618" y="1071119"/>
                </a:lnTo>
                <a:lnTo>
                  <a:pt x="323139" y="1089351"/>
                </a:lnTo>
                <a:lnTo>
                  <a:pt x="326720" y="1096015"/>
                </a:lnTo>
                <a:lnTo>
                  <a:pt x="332382" y="1100627"/>
                </a:lnTo>
                <a:lnTo>
                  <a:pt x="339361" y="1102780"/>
                </a:lnTo>
                <a:lnTo>
                  <a:pt x="346892" y="1102064"/>
                </a:lnTo>
                <a:lnTo>
                  <a:pt x="353555" y="1098482"/>
                </a:lnTo>
                <a:lnTo>
                  <a:pt x="358167" y="1092820"/>
                </a:lnTo>
                <a:lnTo>
                  <a:pt x="360319" y="1085841"/>
                </a:lnTo>
                <a:lnTo>
                  <a:pt x="359603" y="1078311"/>
                </a:lnTo>
                <a:lnTo>
                  <a:pt x="354083" y="1060078"/>
                </a:lnTo>
                <a:close/>
              </a:path>
              <a:path w="391160" h="1175385">
                <a:moveTo>
                  <a:pt x="390548" y="1049038"/>
                </a:moveTo>
                <a:lnTo>
                  <a:pt x="354083" y="1060078"/>
                </a:lnTo>
                <a:lnTo>
                  <a:pt x="359603" y="1078311"/>
                </a:lnTo>
                <a:lnTo>
                  <a:pt x="360319" y="1085841"/>
                </a:lnTo>
                <a:lnTo>
                  <a:pt x="358167" y="1092820"/>
                </a:lnTo>
                <a:lnTo>
                  <a:pt x="353555" y="1098482"/>
                </a:lnTo>
                <a:lnTo>
                  <a:pt x="346892" y="1102064"/>
                </a:lnTo>
                <a:lnTo>
                  <a:pt x="339361" y="1102780"/>
                </a:lnTo>
                <a:lnTo>
                  <a:pt x="381343" y="1102780"/>
                </a:lnTo>
                <a:lnTo>
                  <a:pt x="390548" y="1049038"/>
                </a:lnTo>
                <a:close/>
              </a:path>
              <a:path w="391160" h="1175385">
                <a:moveTo>
                  <a:pt x="20959" y="0"/>
                </a:moveTo>
                <a:lnTo>
                  <a:pt x="13428" y="716"/>
                </a:lnTo>
                <a:lnTo>
                  <a:pt x="6765" y="4297"/>
                </a:lnTo>
                <a:lnTo>
                  <a:pt x="2152" y="9959"/>
                </a:lnTo>
                <a:lnTo>
                  <a:pt x="0" y="16938"/>
                </a:lnTo>
                <a:lnTo>
                  <a:pt x="715" y="24468"/>
                </a:lnTo>
                <a:lnTo>
                  <a:pt x="317618" y="1071119"/>
                </a:lnTo>
                <a:lnTo>
                  <a:pt x="354083" y="1060078"/>
                </a:lnTo>
                <a:lnTo>
                  <a:pt x="37181" y="13428"/>
                </a:lnTo>
                <a:lnTo>
                  <a:pt x="33599" y="6765"/>
                </a:lnTo>
                <a:lnTo>
                  <a:pt x="27937" y="2152"/>
                </a:lnTo>
                <a:lnTo>
                  <a:pt x="20959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55411" y="4727399"/>
            <a:ext cx="541020" cy="1161415"/>
          </a:xfrm>
          <a:custGeom>
            <a:avLst/>
            <a:gdLst/>
            <a:ahLst/>
            <a:cxnLst/>
            <a:rect l="l" t="t" r="r" b="b"/>
            <a:pathLst>
              <a:path w="541020" h="1161414">
                <a:moveTo>
                  <a:pt x="471159" y="1064941"/>
                </a:moveTo>
                <a:lnTo>
                  <a:pt x="436444" y="1080641"/>
                </a:lnTo>
                <a:lnTo>
                  <a:pt x="535617" y="1161236"/>
                </a:lnTo>
                <a:lnTo>
                  <a:pt x="538254" y="1093498"/>
                </a:lnTo>
                <a:lnTo>
                  <a:pt x="496843" y="1093498"/>
                </a:lnTo>
                <a:lnTo>
                  <a:pt x="489644" y="1092274"/>
                </a:lnTo>
                <a:lnTo>
                  <a:pt x="483429" y="1088439"/>
                </a:lnTo>
                <a:lnTo>
                  <a:pt x="479009" y="1082299"/>
                </a:lnTo>
                <a:lnTo>
                  <a:pt x="471159" y="1064941"/>
                </a:lnTo>
                <a:close/>
              </a:path>
              <a:path w="541020" h="1161414">
                <a:moveTo>
                  <a:pt x="505873" y="1049241"/>
                </a:moveTo>
                <a:lnTo>
                  <a:pt x="471159" y="1064941"/>
                </a:lnTo>
                <a:lnTo>
                  <a:pt x="479009" y="1082299"/>
                </a:lnTo>
                <a:lnTo>
                  <a:pt x="483429" y="1088439"/>
                </a:lnTo>
                <a:lnTo>
                  <a:pt x="489644" y="1092274"/>
                </a:lnTo>
                <a:lnTo>
                  <a:pt x="496843" y="1093498"/>
                </a:lnTo>
                <a:lnTo>
                  <a:pt x="504216" y="1091807"/>
                </a:lnTo>
                <a:lnTo>
                  <a:pt x="510356" y="1087387"/>
                </a:lnTo>
                <a:lnTo>
                  <a:pt x="514191" y="1081172"/>
                </a:lnTo>
                <a:lnTo>
                  <a:pt x="515415" y="1073972"/>
                </a:lnTo>
                <a:lnTo>
                  <a:pt x="513723" y="1066599"/>
                </a:lnTo>
                <a:lnTo>
                  <a:pt x="505873" y="1049241"/>
                </a:lnTo>
                <a:close/>
              </a:path>
              <a:path w="541020" h="1161414">
                <a:moveTo>
                  <a:pt x="540589" y="1033541"/>
                </a:moveTo>
                <a:lnTo>
                  <a:pt x="505873" y="1049241"/>
                </a:lnTo>
                <a:lnTo>
                  <a:pt x="513723" y="1066599"/>
                </a:lnTo>
                <a:lnTo>
                  <a:pt x="515415" y="1073972"/>
                </a:lnTo>
                <a:lnTo>
                  <a:pt x="514191" y="1081172"/>
                </a:lnTo>
                <a:lnTo>
                  <a:pt x="510356" y="1087387"/>
                </a:lnTo>
                <a:lnTo>
                  <a:pt x="504216" y="1091807"/>
                </a:lnTo>
                <a:lnTo>
                  <a:pt x="496843" y="1093498"/>
                </a:lnTo>
                <a:lnTo>
                  <a:pt x="538254" y="1093498"/>
                </a:lnTo>
                <a:lnTo>
                  <a:pt x="540589" y="1033541"/>
                </a:lnTo>
                <a:close/>
              </a:path>
              <a:path w="541020" h="1161414">
                <a:moveTo>
                  <a:pt x="18572" y="0"/>
                </a:moveTo>
                <a:lnTo>
                  <a:pt x="11198" y="1691"/>
                </a:lnTo>
                <a:lnTo>
                  <a:pt x="5059" y="6111"/>
                </a:lnTo>
                <a:lnTo>
                  <a:pt x="1224" y="12326"/>
                </a:lnTo>
                <a:lnTo>
                  <a:pt x="0" y="19526"/>
                </a:lnTo>
                <a:lnTo>
                  <a:pt x="1691" y="26899"/>
                </a:lnTo>
                <a:lnTo>
                  <a:pt x="471159" y="1064941"/>
                </a:lnTo>
                <a:lnTo>
                  <a:pt x="505873" y="1049241"/>
                </a:lnTo>
                <a:lnTo>
                  <a:pt x="36407" y="11198"/>
                </a:lnTo>
                <a:lnTo>
                  <a:pt x="31987" y="5059"/>
                </a:lnTo>
                <a:lnTo>
                  <a:pt x="25772" y="1224"/>
                </a:lnTo>
                <a:lnTo>
                  <a:pt x="18572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33950" y="4727398"/>
            <a:ext cx="1162685" cy="1164590"/>
          </a:xfrm>
          <a:custGeom>
            <a:avLst/>
            <a:gdLst/>
            <a:ahLst/>
            <a:cxnLst/>
            <a:rect l="l" t="t" r="r" b="b"/>
            <a:pathLst>
              <a:path w="1162685" h="1164589">
                <a:moveTo>
                  <a:pt x="1068284" y="1096722"/>
                </a:moveTo>
                <a:lnTo>
                  <a:pt x="1041325" y="1123644"/>
                </a:lnTo>
                <a:lnTo>
                  <a:pt x="1162530" y="1164140"/>
                </a:lnTo>
                <a:lnTo>
                  <a:pt x="1146451" y="1115790"/>
                </a:lnTo>
                <a:lnTo>
                  <a:pt x="1095211" y="1115790"/>
                </a:lnTo>
                <a:lnTo>
                  <a:pt x="1088043" y="1114390"/>
                </a:lnTo>
                <a:lnTo>
                  <a:pt x="1081745" y="1110201"/>
                </a:lnTo>
                <a:lnTo>
                  <a:pt x="1068284" y="1096722"/>
                </a:lnTo>
                <a:close/>
              </a:path>
              <a:path w="1162685" h="1164589">
                <a:moveTo>
                  <a:pt x="1095244" y="1069800"/>
                </a:moveTo>
                <a:lnTo>
                  <a:pt x="1068284" y="1096722"/>
                </a:lnTo>
                <a:lnTo>
                  <a:pt x="1081774" y="1110220"/>
                </a:lnTo>
                <a:lnTo>
                  <a:pt x="1088043" y="1114390"/>
                </a:lnTo>
                <a:lnTo>
                  <a:pt x="1095211" y="1115790"/>
                </a:lnTo>
                <a:lnTo>
                  <a:pt x="1102396" y="1114390"/>
                </a:lnTo>
                <a:lnTo>
                  <a:pt x="1108698" y="1110201"/>
                </a:lnTo>
                <a:lnTo>
                  <a:pt x="1112875" y="1103921"/>
                </a:lnTo>
                <a:lnTo>
                  <a:pt x="1114268" y="1096722"/>
                </a:lnTo>
                <a:lnTo>
                  <a:pt x="1112885" y="1089584"/>
                </a:lnTo>
                <a:lnTo>
                  <a:pt x="1108704" y="1083279"/>
                </a:lnTo>
                <a:lnTo>
                  <a:pt x="1095244" y="1069800"/>
                </a:lnTo>
                <a:close/>
              </a:path>
              <a:path w="1162685" h="1164589">
                <a:moveTo>
                  <a:pt x="1122203" y="1042878"/>
                </a:moveTo>
                <a:lnTo>
                  <a:pt x="1095244" y="1069800"/>
                </a:lnTo>
                <a:lnTo>
                  <a:pt x="1108704" y="1083279"/>
                </a:lnTo>
                <a:lnTo>
                  <a:pt x="1112885" y="1089584"/>
                </a:lnTo>
                <a:lnTo>
                  <a:pt x="1095211" y="1115790"/>
                </a:lnTo>
                <a:lnTo>
                  <a:pt x="1146451" y="1115790"/>
                </a:lnTo>
                <a:lnTo>
                  <a:pt x="1122203" y="1042878"/>
                </a:lnTo>
                <a:close/>
              </a:path>
              <a:path w="1162685" h="1164589">
                <a:moveTo>
                  <a:pt x="19063" y="0"/>
                </a:moveTo>
                <a:lnTo>
                  <a:pt x="11878" y="1400"/>
                </a:lnTo>
                <a:lnTo>
                  <a:pt x="5576" y="5589"/>
                </a:lnTo>
                <a:lnTo>
                  <a:pt x="1400" y="11868"/>
                </a:lnTo>
                <a:lnTo>
                  <a:pt x="0" y="19036"/>
                </a:lnTo>
                <a:lnTo>
                  <a:pt x="1389" y="26205"/>
                </a:lnTo>
                <a:lnTo>
                  <a:pt x="5570" y="32510"/>
                </a:lnTo>
                <a:lnTo>
                  <a:pt x="1068284" y="1096722"/>
                </a:lnTo>
                <a:lnTo>
                  <a:pt x="1095244" y="1069800"/>
                </a:lnTo>
                <a:lnTo>
                  <a:pt x="32501" y="5570"/>
                </a:lnTo>
                <a:lnTo>
                  <a:pt x="26230" y="1400"/>
                </a:lnTo>
                <a:lnTo>
                  <a:pt x="19063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58190" y="4727714"/>
            <a:ext cx="304800" cy="1181100"/>
          </a:xfrm>
          <a:custGeom>
            <a:avLst/>
            <a:gdLst/>
            <a:ahLst/>
            <a:cxnLst/>
            <a:rect l="l" t="t" r="r" b="b"/>
            <a:pathLst>
              <a:path w="304800" h="1181100">
                <a:moveTo>
                  <a:pt x="230128" y="1073395"/>
                </a:moveTo>
                <a:lnTo>
                  <a:pt x="192910" y="1081548"/>
                </a:lnTo>
                <a:lnTo>
                  <a:pt x="273194" y="1180972"/>
                </a:lnTo>
                <a:lnTo>
                  <a:pt x="292011" y="1106662"/>
                </a:lnTo>
                <a:lnTo>
                  <a:pt x="249325" y="1106662"/>
                </a:lnTo>
                <a:lnTo>
                  <a:pt x="242537" y="1103969"/>
                </a:lnTo>
                <a:lnTo>
                  <a:pt x="237253" y="1098928"/>
                </a:lnTo>
                <a:lnTo>
                  <a:pt x="234204" y="1092005"/>
                </a:lnTo>
                <a:lnTo>
                  <a:pt x="230128" y="1073395"/>
                </a:lnTo>
                <a:close/>
              </a:path>
              <a:path w="304800" h="1181100">
                <a:moveTo>
                  <a:pt x="267345" y="1065243"/>
                </a:moveTo>
                <a:lnTo>
                  <a:pt x="230128" y="1073395"/>
                </a:lnTo>
                <a:lnTo>
                  <a:pt x="234204" y="1092005"/>
                </a:lnTo>
                <a:lnTo>
                  <a:pt x="237253" y="1098928"/>
                </a:lnTo>
                <a:lnTo>
                  <a:pt x="242537" y="1103969"/>
                </a:lnTo>
                <a:lnTo>
                  <a:pt x="249325" y="1106662"/>
                </a:lnTo>
                <a:lnTo>
                  <a:pt x="256889" y="1106537"/>
                </a:lnTo>
                <a:lnTo>
                  <a:pt x="263812" y="1103489"/>
                </a:lnTo>
                <a:lnTo>
                  <a:pt x="268854" y="1098205"/>
                </a:lnTo>
                <a:lnTo>
                  <a:pt x="271546" y="1091416"/>
                </a:lnTo>
                <a:lnTo>
                  <a:pt x="271421" y="1083852"/>
                </a:lnTo>
                <a:lnTo>
                  <a:pt x="267345" y="1065243"/>
                </a:lnTo>
                <a:close/>
              </a:path>
              <a:path w="304800" h="1181100">
                <a:moveTo>
                  <a:pt x="304563" y="1057090"/>
                </a:moveTo>
                <a:lnTo>
                  <a:pt x="267345" y="1065243"/>
                </a:lnTo>
                <a:lnTo>
                  <a:pt x="271421" y="1083852"/>
                </a:lnTo>
                <a:lnTo>
                  <a:pt x="271546" y="1091416"/>
                </a:lnTo>
                <a:lnTo>
                  <a:pt x="268854" y="1098205"/>
                </a:lnTo>
                <a:lnTo>
                  <a:pt x="263812" y="1103489"/>
                </a:lnTo>
                <a:lnTo>
                  <a:pt x="256889" y="1106537"/>
                </a:lnTo>
                <a:lnTo>
                  <a:pt x="249325" y="1106662"/>
                </a:lnTo>
                <a:lnTo>
                  <a:pt x="292011" y="1106662"/>
                </a:lnTo>
                <a:lnTo>
                  <a:pt x="304563" y="1057090"/>
                </a:lnTo>
                <a:close/>
              </a:path>
              <a:path w="304800" h="1181100">
                <a:moveTo>
                  <a:pt x="22096" y="0"/>
                </a:moveTo>
                <a:lnTo>
                  <a:pt x="0" y="22809"/>
                </a:lnTo>
                <a:lnTo>
                  <a:pt x="230128" y="1073395"/>
                </a:lnTo>
                <a:lnTo>
                  <a:pt x="267345" y="1065243"/>
                </a:lnTo>
                <a:lnTo>
                  <a:pt x="37218" y="14657"/>
                </a:lnTo>
                <a:lnTo>
                  <a:pt x="34169" y="7734"/>
                </a:lnTo>
                <a:lnTo>
                  <a:pt x="28885" y="2692"/>
                </a:lnTo>
                <a:lnTo>
                  <a:pt x="22096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572626" y="6006289"/>
            <a:ext cx="686321" cy="5789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48828" y="6006289"/>
            <a:ext cx="670495" cy="5784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885666" y="5974197"/>
            <a:ext cx="709612" cy="6426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80989" y="5984266"/>
            <a:ext cx="729886" cy="64401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199163" y="4729133"/>
            <a:ext cx="114300" cy="1132840"/>
          </a:xfrm>
          <a:custGeom>
            <a:avLst/>
            <a:gdLst/>
            <a:ahLst/>
            <a:cxnLst/>
            <a:rect l="l" t="t" r="r" b="b"/>
            <a:pathLst>
              <a:path w="114300" h="1132839">
                <a:moveTo>
                  <a:pt x="38100" y="1018269"/>
                </a:moveTo>
                <a:lnTo>
                  <a:pt x="0" y="1018269"/>
                </a:lnTo>
                <a:lnTo>
                  <a:pt x="57151" y="1132569"/>
                </a:lnTo>
                <a:lnTo>
                  <a:pt x="95250" y="1056369"/>
                </a:lnTo>
                <a:lnTo>
                  <a:pt x="57150" y="1056369"/>
                </a:lnTo>
                <a:lnTo>
                  <a:pt x="49735" y="1054872"/>
                </a:lnTo>
                <a:lnTo>
                  <a:pt x="43679" y="1050790"/>
                </a:lnTo>
                <a:lnTo>
                  <a:pt x="39597" y="1044734"/>
                </a:lnTo>
                <a:lnTo>
                  <a:pt x="38100" y="1037319"/>
                </a:lnTo>
                <a:lnTo>
                  <a:pt x="38100" y="1018269"/>
                </a:lnTo>
                <a:close/>
              </a:path>
              <a:path w="114300" h="1132839">
                <a:moveTo>
                  <a:pt x="76200" y="1018269"/>
                </a:moveTo>
                <a:lnTo>
                  <a:pt x="38100" y="1018269"/>
                </a:lnTo>
                <a:lnTo>
                  <a:pt x="38100" y="1037319"/>
                </a:lnTo>
                <a:lnTo>
                  <a:pt x="39597" y="1044734"/>
                </a:lnTo>
                <a:lnTo>
                  <a:pt x="43679" y="1050790"/>
                </a:lnTo>
                <a:lnTo>
                  <a:pt x="49735" y="1054872"/>
                </a:lnTo>
                <a:lnTo>
                  <a:pt x="57150" y="1056369"/>
                </a:lnTo>
                <a:lnTo>
                  <a:pt x="64565" y="1054872"/>
                </a:lnTo>
                <a:lnTo>
                  <a:pt x="70620" y="1050790"/>
                </a:lnTo>
                <a:lnTo>
                  <a:pt x="74703" y="1044734"/>
                </a:lnTo>
                <a:lnTo>
                  <a:pt x="76200" y="1037319"/>
                </a:lnTo>
                <a:lnTo>
                  <a:pt x="76200" y="1018269"/>
                </a:lnTo>
                <a:close/>
              </a:path>
              <a:path w="114300" h="1132839">
                <a:moveTo>
                  <a:pt x="114300" y="1018269"/>
                </a:moveTo>
                <a:lnTo>
                  <a:pt x="76200" y="1018269"/>
                </a:lnTo>
                <a:lnTo>
                  <a:pt x="76200" y="1037319"/>
                </a:lnTo>
                <a:lnTo>
                  <a:pt x="74703" y="1044734"/>
                </a:lnTo>
                <a:lnTo>
                  <a:pt x="70620" y="1050790"/>
                </a:lnTo>
                <a:lnTo>
                  <a:pt x="64565" y="1054872"/>
                </a:lnTo>
                <a:lnTo>
                  <a:pt x="57150" y="1056369"/>
                </a:lnTo>
                <a:lnTo>
                  <a:pt x="95250" y="1056369"/>
                </a:lnTo>
                <a:lnTo>
                  <a:pt x="114300" y="1018269"/>
                </a:lnTo>
                <a:close/>
              </a:path>
              <a:path w="114300" h="1132839">
                <a:moveTo>
                  <a:pt x="57150" y="0"/>
                </a:moveTo>
                <a:lnTo>
                  <a:pt x="49734" y="1497"/>
                </a:lnTo>
                <a:lnTo>
                  <a:pt x="43679" y="5579"/>
                </a:lnTo>
                <a:lnTo>
                  <a:pt x="39596" y="11635"/>
                </a:lnTo>
                <a:lnTo>
                  <a:pt x="38100" y="19050"/>
                </a:lnTo>
                <a:lnTo>
                  <a:pt x="38100" y="1018269"/>
                </a:lnTo>
                <a:lnTo>
                  <a:pt x="76200" y="1018269"/>
                </a:lnTo>
                <a:lnTo>
                  <a:pt x="76200" y="19050"/>
                </a:lnTo>
                <a:lnTo>
                  <a:pt x="74702" y="11634"/>
                </a:lnTo>
                <a:lnTo>
                  <a:pt x="70620" y="5579"/>
                </a:lnTo>
                <a:lnTo>
                  <a:pt x="64564" y="1496"/>
                </a:lnTo>
                <a:lnTo>
                  <a:pt x="57150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481834" y="1443228"/>
            <a:ext cx="48514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3200" spc="-10" b="1">
                <a:latin typeface="Calibri"/>
                <a:cs typeface="Calibri"/>
              </a:rPr>
              <a:t>Users </a:t>
            </a:r>
            <a:r>
              <a:rPr dirty="0" sz="3200" spc="-20" b="1">
                <a:latin typeface="Calibri"/>
                <a:cs typeface="Calibri"/>
              </a:rPr>
              <a:t>interacts </a:t>
            </a:r>
            <a:r>
              <a:rPr dirty="0" sz="3200" b="1">
                <a:latin typeface="Calibri"/>
                <a:cs typeface="Calibri"/>
              </a:rPr>
              <a:t>with</a:t>
            </a:r>
            <a:r>
              <a:rPr dirty="0" sz="3200" spc="-5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items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1834" y="1917700"/>
            <a:ext cx="7704455" cy="2056764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762000" indent="-45720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761365" algn="l"/>
                <a:tab pos="762000" algn="l"/>
              </a:tabLst>
            </a:pPr>
            <a:r>
              <a:rPr dirty="0" sz="2800" spc="-35">
                <a:latin typeface="Calibri"/>
                <a:cs typeface="Calibri"/>
              </a:rPr>
              <a:t>Watch </a:t>
            </a:r>
            <a:r>
              <a:rPr dirty="0" sz="2800" spc="-10">
                <a:latin typeface="Calibri"/>
                <a:cs typeface="Calibri"/>
              </a:rPr>
              <a:t>movies, </a:t>
            </a:r>
            <a:r>
              <a:rPr dirty="0" sz="2800">
                <a:latin typeface="Calibri"/>
                <a:cs typeface="Calibri"/>
              </a:rPr>
              <a:t>buy </a:t>
            </a:r>
            <a:r>
              <a:rPr dirty="0" sz="2800" spc="-10">
                <a:latin typeface="Calibri"/>
                <a:cs typeface="Calibri"/>
              </a:rPr>
              <a:t>merchandise, </a:t>
            </a:r>
            <a:r>
              <a:rPr dirty="0" sz="2800" spc="-20">
                <a:latin typeface="Calibri"/>
                <a:cs typeface="Calibri"/>
              </a:rPr>
              <a:t>listen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music</a:t>
            </a:r>
            <a:endParaRPr sz="2800">
              <a:latin typeface="Calibri"/>
              <a:cs typeface="Calibri"/>
            </a:endParaRPr>
          </a:p>
          <a:p>
            <a:pPr marL="762000" indent="-45720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761365" algn="l"/>
                <a:tab pos="762000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Nodes: </a:t>
            </a:r>
            <a:r>
              <a:rPr dirty="0" sz="2800" spc="-15">
                <a:latin typeface="Calibri"/>
                <a:cs typeface="Calibri"/>
              </a:rPr>
              <a:t>Users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0">
                <a:latin typeface="Calibri"/>
                <a:cs typeface="Calibri"/>
              </a:rPr>
              <a:t>items</a:t>
            </a:r>
            <a:endParaRPr sz="2800">
              <a:latin typeface="Calibri"/>
              <a:cs typeface="Calibri"/>
            </a:endParaRPr>
          </a:p>
          <a:p>
            <a:pPr marL="762000" indent="-457200">
              <a:lnSpc>
                <a:spcPts val="3329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761365" algn="l"/>
                <a:tab pos="762000" algn="l"/>
              </a:tabLst>
            </a:pP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Edges: </a:t>
            </a:r>
            <a:r>
              <a:rPr dirty="0" sz="2800" spc="-20">
                <a:latin typeface="Calibri"/>
                <a:cs typeface="Calibri"/>
              </a:rPr>
              <a:t>User-item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interactions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Goal: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Recommend items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users might</a:t>
            </a:r>
            <a:r>
              <a:rPr dirty="0" sz="32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C00000"/>
                </a:solidFill>
                <a:latin typeface="Calibri"/>
                <a:cs typeface="Calibri"/>
              </a:rPr>
              <a:t>like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4227" y="6694423"/>
            <a:ext cx="3530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1/13/21</a:t>
            </a:r>
            <a:endParaRPr sz="900">
              <a:latin typeface="Corbel"/>
              <a:cs typeface="Corbe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21055" y="4727441"/>
            <a:ext cx="144780" cy="1151255"/>
          </a:xfrm>
          <a:custGeom>
            <a:avLst/>
            <a:gdLst/>
            <a:ahLst/>
            <a:cxnLst/>
            <a:rect l="l" t="t" r="r" b="b"/>
            <a:pathLst>
              <a:path w="144779" h="1151254">
                <a:moveTo>
                  <a:pt x="126839" y="0"/>
                </a:moveTo>
                <a:lnTo>
                  <a:pt x="98872" y="131767"/>
                </a:lnTo>
                <a:lnTo>
                  <a:pt x="99867" y="139266"/>
                </a:lnTo>
                <a:lnTo>
                  <a:pt x="103533" y="145582"/>
                </a:lnTo>
                <a:lnTo>
                  <a:pt x="109300" y="150063"/>
                </a:lnTo>
                <a:lnTo>
                  <a:pt x="116598" y="152054"/>
                </a:lnTo>
                <a:lnTo>
                  <a:pt x="124097" y="151059"/>
                </a:lnTo>
                <a:lnTo>
                  <a:pt x="130413" y="147393"/>
                </a:lnTo>
                <a:lnTo>
                  <a:pt x="134893" y="141625"/>
                </a:lnTo>
                <a:lnTo>
                  <a:pt x="136885" y="134327"/>
                </a:lnTo>
                <a:lnTo>
                  <a:pt x="144566" y="20286"/>
                </a:lnTo>
                <a:lnTo>
                  <a:pt x="143571" y="12787"/>
                </a:lnTo>
                <a:lnTo>
                  <a:pt x="139904" y="6471"/>
                </a:lnTo>
                <a:lnTo>
                  <a:pt x="134137" y="1991"/>
                </a:lnTo>
                <a:lnTo>
                  <a:pt x="126839" y="0"/>
                </a:lnTo>
                <a:close/>
              </a:path>
              <a:path w="144779" h="1151254">
                <a:moveTo>
                  <a:pt x="108917" y="266096"/>
                </a:moveTo>
                <a:lnTo>
                  <a:pt x="80949" y="397865"/>
                </a:lnTo>
                <a:lnTo>
                  <a:pt x="81945" y="405364"/>
                </a:lnTo>
                <a:lnTo>
                  <a:pt x="85611" y="411680"/>
                </a:lnTo>
                <a:lnTo>
                  <a:pt x="91378" y="416160"/>
                </a:lnTo>
                <a:lnTo>
                  <a:pt x="98676" y="418152"/>
                </a:lnTo>
                <a:lnTo>
                  <a:pt x="106175" y="417156"/>
                </a:lnTo>
                <a:lnTo>
                  <a:pt x="112491" y="413490"/>
                </a:lnTo>
                <a:lnTo>
                  <a:pt x="116971" y="407722"/>
                </a:lnTo>
                <a:lnTo>
                  <a:pt x="118963" y="400424"/>
                </a:lnTo>
                <a:lnTo>
                  <a:pt x="126644" y="286383"/>
                </a:lnTo>
                <a:lnTo>
                  <a:pt x="125649" y="278884"/>
                </a:lnTo>
                <a:lnTo>
                  <a:pt x="121983" y="272568"/>
                </a:lnTo>
                <a:lnTo>
                  <a:pt x="116215" y="268088"/>
                </a:lnTo>
                <a:lnTo>
                  <a:pt x="108917" y="266096"/>
                </a:lnTo>
                <a:close/>
              </a:path>
              <a:path w="144779" h="1151254">
                <a:moveTo>
                  <a:pt x="90995" y="532193"/>
                </a:moveTo>
                <a:lnTo>
                  <a:pt x="63027" y="663962"/>
                </a:lnTo>
                <a:lnTo>
                  <a:pt x="64023" y="671460"/>
                </a:lnTo>
                <a:lnTo>
                  <a:pt x="67689" y="677776"/>
                </a:lnTo>
                <a:lnTo>
                  <a:pt x="73456" y="682257"/>
                </a:lnTo>
                <a:lnTo>
                  <a:pt x="80754" y="684249"/>
                </a:lnTo>
                <a:lnTo>
                  <a:pt x="88253" y="683254"/>
                </a:lnTo>
                <a:lnTo>
                  <a:pt x="94569" y="679587"/>
                </a:lnTo>
                <a:lnTo>
                  <a:pt x="99050" y="673820"/>
                </a:lnTo>
                <a:lnTo>
                  <a:pt x="101042" y="666522"/>
                </a:lnTo>
                <a:lnTo>
                  <a:pt x="108722" y="552480"/>
                </a:lnTo>
                <a:lnTo>
                  <a:pt x="107727" y="544981"/>
                </a:lnTo>
                <a:lnTo>
                  <a:pt x="104060" y="538666"/>
                </a:lnTo>
                <a:lnTo>
                  <a:pt x="98293" y="534185"/>
                </a:lnTo>
                <a:lnTo>
                  <a:pt x="90995" y="532193"/>
                </a:lnTo>
                <a:close/>
              </a:path>
              <a:path w="144779" h="1151254">
                <a:moveTo>
                  <a:pt x="73074" y="798290"/>
                </a:moveTo>
                <a:lnTo>
                  <a:pt x="45106" y="930059"/>
                </a:lnTo>
                <a:lnTo>
                  <a:pt x="46101" y="937558"/>
                </a:lnTo>
                <a:lnTo>
                  <a:pt x="49767" y="943874"/>
                </a:lnTo>
                <a:lnTo>
                  <a:pt x="55535" y="948354"/>
                </a:lnTo>
                <a:lnTo>
                  <a:pt x="62833" y="950346"/>
                </a:lnTo>
                <a:lnTo>
                  <a:pt x="70331" y="949350"/>
                </a:lnTo>
                <a:lnTo>
                  <a:pt x="76647" y="945684"/>
                </a:lnTo>
                <a:lnTo>
                  <a:pt x="81128" y="939917"/>
                </a:lnTo>
                <a:lnTo>
                  <a:pt x="83120" y="932619"/>
                </a:lnTo>
                <a:lnTo>
                  <a:pt x="90801" y="818578"/>
                </a:lnTo>
                <a:lnTo>
                  <a:pt x="89805" y="811079"/>
                </a:lnTo>
                <a:lnTo>
                  <a:pt x="86138" y="804762"/>
                </a:lnTo>
                <a:lnTo>
                  <a:pt x="80371" y="800282"/>
                </a:lnTo>
                <a:lnTo>
                  <a:pt x="73074" y="798290"/>
                </a:lnTo>
                <a:close/>
              </a:path>
              <a:path w="144779" h="1151254">
                <a:moveTo>
                  <a:pt x="0" y="1032809"/>
                </a:moveTo>
                <a:lnTo>
                  <a:pt x="49339" y="1150691"/>
                </a:lnTo>
                <a:lnTo>
                  <a:pt x="114040" y="1040490"/>
                </a:lnTo>
                <a:lnTo>
                  <a:pt x="0" y="1032809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211958" y="4727503"/>
            <a:ext cx="390525" cy="1181735"/>
          </a:xfrm>
          <a:custGeom>
            <a:avLst/>
            <a:gdLst/>
            <a:ahLst/>
            <a:cxnLst/>
            <a:rect l="l" t="t" r="r" b="b"/>
            <a:pathLst>
              <a:path w="390525" h="1181735">
                <a:moveTo>
                  <a:pt x="369410" y="0"/>
                </a:moveTo>
                <a:lnTo>
                  <a:pt x="320283" y="122911"/>
                </a:lnTo>
                <a:lnTo>
                  <a:pt x="319580" y="130443"/>
                </a:lnTo>
                <a:lnTo>
                  <a:pt x="321745" y="137417"/>
                </a:lnTo>
                <a:lnTo>
                  <a:pt x="326367" y="143071"/>
                </a:lnTo>
                <a:lnTo>
                  <a:pt x="333037" y="146641"/>
                </a:lnTo>
                <a:lnTo>
                  <a:pt x="340569" y="147344"/>
                </a:lnTo>
                <a:lnTo>
                  <a:pt x="347544" y="145178"/>
                </a:lnTo>
                <a:lnTo>
                  <a:pt x="353198" y="140556"/>
                </a:lnTo>
                <a:lnTo>
                  <a:pt x="356768" y="133886"/>
                </a:lnTo>
                <a:lnTo>
                  <a:pt x="389696" y="24432"/>
                </a:lnTo>
                <a:lnTo>
                  <a:pt x="390399" y="16900"/>
                </a:lnTo>
                <a:lnTo>
                  <a:pt x="388234" y="9926"/>
                </a:lnTo>
                <a:lnTo>
                  <a:pt x="383611" y="4272"/>
                </a:lnTo>
                <a:lnTo>
                  <a:pt x="376942" y="702"/>
                </a:lnTo>
                <a:lnTo>
                  <a:pt x="369410" y="0"/>
                </a:lnTo>
                <a:close/>
              </a:path>
              <a:path w="390525" h="1181735">
                <a:moveTo>
                  <a:pt x="292576" y="255392"/>
                </a:moveTo>
                <a:lnTo>
                  <a:pt x="243448" y="378303"/>
                </a:lnTo>
                <a:lnTo>
                  <a:pt x="242746" y="385835"/>
                </a:lnTo>
                <a:lnTo>
                  <a:pt x="244911" y="392810"/>
                </a:lnTo>
                <a:lnTo>
                  <a:pt x="249534" y="398464"/>
                </a:lnTo>
                <a:lnTo>
                  <a:pt x="256203" y="402034"/>
                </a:lnTo>
                <a:lnTo>
                  <a:pt x="263735" y="402736"/>
                </a:lnTo>
                <a:lnTo>
                  <a:pt x="270710" y="400571"/>
                </a:lnTo>
                <a:lnTo>
                  <a:pt x="276364" y="395949"/>
                </a:lnTo>
                <a:lnTo>
                  <a:pt x="279933" y="389279"/>
                </a:lnTo>
                <a:lnTo>
                  <a:pt x="312863" y="279826"/>
                </a:lnTo>
                <a:lnTo>
                  <a:pt x="313565" y="272294"/>
                </a:lnTo>
                <a:lnTo>
                  <a:pt x="311400" y="265319"/>
                </a:lnTo>
                <a:lnTo>
                  <a:pt x="306778" y="259665"/>
                </a:lnTo>
                <a:lnTo>
                  <a:pt x="300108" y="256094"/>
                </a:lnTo>
                <a:lnTo>
                  <a:pt x="292576" y="255392"/>
                </a:lnTo>
                <a:close/>
              </a:path>
              <a:path w="390525" h="1181735">
                <a:moveTo>
                  <a:pt x="215742" y="510785"/>
                </a:moveTo>
                <a:lnTo>
                  <a:pt x="166615" y="633696"/>
                </a:lnTo>
                <a:lnTo>
                  <a:pt x="165912" y="641228"/>
                </a:lnTo>
                <a:lnTo>
                  <a:pt x="168077" y="648203"/>
                </a:lnTo>
                <a:lnTo>
                  <a:pt x="172700" y="653856"/>
                </a:lnTo>
                <a:lnTo>
                  <a:pt x="179369" y="657426"/>
                </a:lnTo>
                <a:lnTo>
                  <a:pt x="186901" y="658129"/>
                </a:lnTo>
                <a:lnTo>
                  <a:pt x="193876" y="655964"/>
                </a:lnTo>
                <a:lnTo>
                  <a:pt x="199530" y="651341"/>
                </a:lnTo>
                <a:lnTo>
                  <a:pt x="203099" y="644671"/>
                </a:lnTo>
                <a:lnTo>
                  <a:pt x="236028" y="535218"/>
                </a:lnTo>
                <a:lnTo>
                  <a:pt x="236731" y="527686"/>
                </a:lnTo>
                <a:lnTo>
                  <a:pt x="234566" y="520711"/>
                </a:lnTo>
                <a:lnTo>
                  <a:pt x="229944" y="515057"/>
                </a:lnTo>
                <a:lnTo>
                  <a:pt x="223274" y="511488"/>
                </a:lnTo>
                <a:lnTo>
                  <a:pt x="215742" y="510785"/>
                </a:lnTo>
                <a:close/>
              </a:path>
              <a:path w="390525" h="1181735">
                <a:moveTo>
                  <a:pt x="138908" y="766177"/>
                </a:moveTo>
                <a:lnTo>
                  <a:pt x="89781" y="889088"/>
                </a:lnTo>
                <a:lnTo>
                  <a:pt x="89078" y="896620"/>
                </a:lnTo>
                <a:lnTo>
                  <a:pt x="91243" y="903595"/>
                </a:lnTo>
                <a:lnTo>
                  <a:pt x="95865" y="909249"/>
                </a:lnTo>
                <a:lnTo>
                  <a:pt x="102534" y="912819"/>
                </a:lnTo>
                <a:lnTo>
                  <a:pt x="110067" y="913521"/>
                </a:lnTo>
                <a:lnTo>
                  <a:pt x="117042" y="911356"/>
                </a:lnTo>
                <a:lnTo>
                  <a:pt x="122695" y="906734"/>
                </a:lnTo>
                <a:lnTo>
                  <a:pt x="126265" y="900064"/>
                </a:lnTo>
                <a:lnTo>
                  <a:pt x="159194" y="790611"/>
                </a:lnTo>
                <a:lnTo>
                  <a:pt x="159897" y="783079"/>
                </a:lnTo>
                <a:lnTo>
                  <a:pt x="157732" y="776104"/>
                </a:lnTo>
                <a:lnTo>
                  <a:pt x="153110" y="770450"/>
                </a:lnTo>
                <a:lnTo>
                  <a:pt x="146441" y="766880"/>
                </a:lnTo>
                <a:lnTo>
                  <a:pt x="138908" y="766177"/>
                </a:lnTo>
                <a:close/>
              </a:path>
              <a:path w="390525" h="1181735">
                <a:moveTo>
                  <a:pt x="0" y="1055265"/>
                </a:moveTo>
                <a:lnTo>
                  <a:pt x="21798" y="1181183"/>
                </a:lnTo>
                <a:lnTo>
                  <a:pt x="89919" y="1108917"/>
                </a:lnTo>
                <a:lnTo>
                  <a:pt x="51283" y="1108917"/>
                </a:lnTo>
                <a:lnTo>
                  <a:pt x="43751" y="1108215"/>
                </a:lnTo>
                <a:lnTo>
                  <a:pt x="37081" y="1104645"/>
                </a:lnTo>
                <a:lnTo>
                  <a:pt x="32459" y="1098991"/>
                </a:lnTo>
                <a:lnTo>
                  <a:pt x="30294" y="1092016"/>
                </a:lnTo>
                <a:lnTo>
                  <a:pt x="30996" y="1084484"/>
                </a:lnTo>
                <a:lnTo>
                  <a:pt x="36485" y="1066241"/>
                </a:lnTo>
                <a:lnTo>
                  <a:pt x="0" y="1055265"/>
                </a:lnTo>
                <a:close/>
              </a:path>
              <a:path w="390525" h="1181735">
                <a:moveTo>
                  <a:pt x="36485" y="1066241"/>
                </a:moveTo>
                <a:lnTo>
                  <a:pt x="30996" y="1084484"/>
                </a:lnTo>
                <a:lnTo>
                  <a:pt x="30294" y="1092016"/>
                </a:lnTo>
                <a:lnTo>
                  <a:pt x="32459" y="1098991"/>
                </a:lnTo>
                <a:lnTo>
                  <a:pt x="37081" y="1104645"/>
                </a:lnTo>
                <a:lnTo>
                  <a:pt x="43751" y="1108215"/>
                </a:lnTo>
                <a:lnTo>
                  <a:pt x="51283" y="1108917"/>
                </a:lnTo>
                <a:lnTo>
                  <a:pt x="58257" y="1106752"/>
                </a:lnTo>
                <a:lnTo>
                  <a:pt x="63911" y="1102130"/>
                </a:lnTo>
                <a:lnTo>
                  <a:pt x="67481" y="1095461"/>
                </a:lnTo>
                <a:lnTo>
                  <a:pt x="72969" y="1077217"/>
                </a:lnTo>
                <a:lnTo>
                  <a:pt x="36485" y="1066241"/>
                </a:lnTo>
                <a:close/>
              </a:path>
              <a:path w="390525" h="1181735">
                <a:moveTo>
                  <a:pt x="72969" y="1077217"/>
                </a:moveTo>
                <a:lnTo>
                  <a:pt x="67481" y="1095461"/>
                </a:lnTo>
                <a:lnTo>
                  <a:pt x="63911" y="1102130"/>
                </a:lnTo>
                <a:lnTo>
                  <a:pt x="58257" y="1106752"/>
                </a:lnTo>
                <a:lnTo>
                  <a:pt x="51283" y="1108917"/>
                </a:lnTo>
                <a:lnTo>
                  <a:pt x="89919" y="1108917"/>
                </a:lnTo>
                <a:lnTo>
                  <a:pt x="109454" y="1088194"/>
                </a:lnTo>
                <a:lnTo>
                  <a:pt x="72969" y="1077217"/>
                </a:lnTo>
                <a:close/>
              </a:path>
              <a:path w="390525" h="1181735">
                <a:moveTo>
                  <a:pt x="62074" y="1021570"/>
                </a:moveTo>
                <a:lnTo>
                  <a:pt x="55099" y="1023735"/>
                </a:lnTo>
                <a:lnTo>
                  <a:pt x="49445" y="1028357"/>
                </a:lnTo>
                <a:lnTo>
                  <a:pt x="45876" y="1035027"/>
                </a:lnTo>
                <a:lnTo>
                  <a:pt x="36485" y="1066241"/>
                </a:lnTo>
                <a:lnTo>
                  <a:pt x="72969" y="1077217"/>
                </a:lnTo>
                <a:lnTo>
                  <a:pt x="82360" y="1046003"/>
                </a:lnTo>
                <a:lnTo>
                  <a:pt x="83063" y="1038471"/>
                </a:lnTo>
                <a:lnTo>
                  <a:pt x="80898" y="1031496"/>
                </a:lnTo>
                <a:lnTo>
                  <a:pt x="76275" y="1025842"/>
                </a:lnTo>
                <a:lnTo>
                  <a:pt x="69606" y="1022273"/>
                </a:lnTo>
                <a:lnTo>
                  <a:pt x="62074" y="102157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915150" y="5574934"/>
            <a:ext cx="804545" cy="114300"/>
          </a:xfrm>
          <a:custGeom>
            <a:avLst/>
            <a:gdLst/>
            <a:ahLst/>
            <a:cxnLst/>
            <a:rect l="l" t="t" r="r" b="b"/>
            <a:pathLst>
              <a:path w="804545" h="114300">
                <a:moveTo>
                  <a:pt x="19049" y="38098"/>
                </a:moveTo>
                <a:lnTo>
                  <a:pt x="11634" y="39595"/>
                </a:lnTo>
                <a:lnTo>
                  <a:pt x="5579" y="43678"/>
                </a:lnTo>
                <a:lnTo>
                  <a:pt x="1496" y="49733"/>
                </a:lnTo>
                <a:lnTo>
                  <a:pt x="0" y="57148"/>
                </a:lnTo>
                <a:lnTo>
                  <a:pt x="1497" y="64563"/>
                </a:lnTo>
                <a:lnTo>
                  <a:pt x="5579" y="70619"/>
                </a:lnTo>
                <a:lnTo>
                  <a:pt x="11636" y="74701"/>
                </a:lnTo>
                <a:lnTo>
                  <a:pt x="19049" y="76198"/>
                </a:lnTo>
                <a:lnTo>
                  <a:pt x="133351" y="76198"/>
                </a:lnTo>
                <a:lnTo>
                  <a:pt x="140765" y="74701"/>
                </a:lnTo>
                <a:lnTo>
                  <a:pt x="146820" y="70619"/>
                </a:lnTo>
                <a:lnTo>
                  <a:pt x="150902" y="64563"/>
                </a:lnTo>
                <a:lnTo>
                  <a:pt x="152399" y="57148"/>
                </a:lnTo>
                <a:lnTo>
                  <a:pt x="150902" y="49733"/>
                </a:lnTo>
                <a:lnTo>
                  <a:pt x="146819" y="43678"/>
                </a:lnTo>
                <a:lnTo>
                  <a:pt x="140763" y="39595"/>
                </a:lnTo>
                <a:lnTo>
                  <a:pt x="133349" y="38098"/>
                </a:lnTo>
                <a:lnTo>
                  <a:pt x="19049" y="38098"/>
                </a:lnTo>
                <a:close/>
              </a:path>
              <a:path w="804545" h="114300">
                <a:moveTo>
                  <a:pt x="285749" y="38098"/>
                </a:moveTo>
                <a:lnTo>
                  <a:pt x="278334" y="39596"/>
                </a:lnTo>
                <a:lnTo>
                  <a:pt x="272279" y="43678"/>
                </a:lnTo>
                <a:lnTo>
                  <a:pt x="268197" y="49734"/>
                </a:lnTo>
                <a:lnTo>
                  <a:pt x="266699" y="57149"/>
                </a:lnTo>
                <a:lnTo>
                  <a:pt x="268197" y="64564"/>
                </a:lnTo>
                <a:lnTo>
                  <a:pt x="272279" y="70619"/>
                </a:lnTo>
                <a:lnTo>
                  <a:pt x="278335" y="74702"/>
                </a:lnTo>
                <a:lnTo>
                  <a:pt x="285749" y="76198"/>
                </a:lnTo>
                <a:lnTo>
                  <a:pt x="400050" y="76198"/>
                </a:lnTo>
                <a:lnTo>
                  <a:pt x="407465" y="74701"/>
                </a:lnTo>
                <a:lnTo>
                  <a:pt x="413520" y="70619"/>
                </a:lnTo>
                <a:lnTo>
                  <a:pt x="417602" y="64564"/>
                </a:lnTo>
                <a:lnTo>
                  <a:pt x="419099" y="57148"/>
                </a:lnTo>
                <a:lnTo>
                  <a:pt x="417602" y="49733"/>
                </a:lnTo>
                <a:lnTo>
                  <a:pt x="413519" y="43678"/>
                </a:lnTo>
                <a:lnTo>
                  <a:pt x="407464" y="39596"/>
                </a:lnTo>
                <a:lnTo>
                  <a:pt x="400049" y="38099"/>
                </a:lnTo>
                <a:lnTo>
                  <a:pt x="285749" y="38098"/>
                </a:lnTo>
                <a:close/>
              </a:path>
              <a:path w="804545" h="114300">
                <a:moveTo>
                  <a:pt x="552449" y="38099"/>
                </a:moveTo>
                <a:lnTo>
                  <a:pt x="545034" y="39596"/>
                </a:lnTo>
                <a:lnTo>
                  <a:pt x="538979" y="43679"/>
                </a:lnTo>
                <a:lnTo>
                  <a:pt x="534897" y="49734"/>
                </a:lnTo>
                <a:lnTo>
                  <a:pt x="533399" y="57149"/>
                </a:lnTo>
                <a:lnTo>
                  <a:pt x="534897" y="64564"/>
                </a:lnTo>
                <a:lnTo>
                  <a:pt x="538979" y="70619"/>
                </a:lnTo>
                <a:lnTo>
                  <a:pt x="545035" y="74702"/>
                </a:lnTo>
                <a:lnTo>
                  <a:pt x="552449" y="76199"/>
                </a:lnTo>
                <a:lnTo>
                  <a:pt x="666750" y="76199"/>
                </a:lnTo>
                <a:lnTo>
                  <a:pt x="674165" y="74702"/>
                </a:lnTo>
                <a:lnTo>
                  <a:pt x="680220" y="70619"/>
                </a:lnTo>
                <a:lnTo>
                  <a:pt x="684302" y="64564"/>
                </a:lnTo>
                <a:lnTo>
                  <a:pt x="685799" y="57149"/>
                </a:lnTo>
                <a:lnTo>
                  <a:pt x="684302" y="49734"/>
                </a:lnTo>
                <a:lnTo>
                  <a:pt x="680220" y="43678"/>
                </a:lnTo>
                <a:lnTo>
                  <a:pt x="674164" y="39596"/>
                </a:lnTo>
                <a:lnTo>
                  <a:pt x="666749" y="38099"/>
                </a:lnTo>
                <a:lnTo>
                  <a:pt x="552449" y="38099"/>
                </a:lnTo>
                <a:close/>
              </a:path>
              <a:path w="804545" h="114300">
                <a:moveTo>
                  <a:pt x="690003" y="0"/>
                </a:moveTo>
                <a:lnTo>
                  <a:pt x="690003" y="114299"/>
                </a:lnTo>
                <a:lnTo>
                  <a:pt x="804303" y="57149"/>
                </a:lnTo>
                <a:lnTo>
                  <a:pt x="690003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921500" y="4298584"/>
            <a:ext cx="756920" cy="76200"/>
          </a:xfrm>
          <a:custGeom>
            <a:avLst/>
            <a:gdLst/>
            <a:ahLst/>
            <a:cxnLst/>
            <a:rect l="l" t="t" r="r" b="b"/>
            <a:pathLst>
              <a:path w="756920" h="76200">
                <a:moveTo>
                  <a:pt x="680622" y="50799"/>
                </a:moveTo>
                <a:lnTo>
                  <a:pt x="680622" y="76200"/>
                </a:lnTo>
                <a:lnTo>
                  <a:pt x="731422" y="50800"/>
                </a:lnTo>
                <a:lnTo>
                  <a:pt x="680622" y="50799"/>
                </a:lnTo>
                <a:close/>
              </a:path>
              <a:path w="756920" h="76200">
                <a:moveTo>
                  <a:pt x="680623" y="25399"/>
                </a:moveTo>
                <a:lnTo>
                  <a:pt x="680622" y="50799"/>
                </a:lnTo>
                <a:lnTo>
                  <a:pt x="700338" y="50798"/>
                </a:lnTo>
                <a:lnTo>
                  <a:pt x="706023" y="45114"/>
                </a:lnTo>
                <a:lnTo>
                  <a:pt x="706022" y="31084"/>
                </a:lnTo>
                <a:lnTo>
                  <a:pt x="700337" y="25400"/>
                </a:lnTo>
                <a:lnTo>
                  <a:pt x="680623" y="25399"/>
                </a:lnTo>
                <a:close/>
              </a:path>
              <a:path w="756920" h="76200">
                <a:moveTo>
                  <a:pt x="680623" y="0"/>
                </a:moveTo>
                <a:lnTo>
                  <a:pt x="680623" y="25399"/>
                </a:lnTo>
                <a:lnTo>
                  <a:pt x="693323" y="25400"/>
                </a:lnTo>
                <a:lnTo>
                  <a:pt x="700337" y="25400"/>
                </a:lnTo>
                <a:lnTo>
                  <a:pt x="706022" y="31084"/>
                </a:lnTo>
                <a:lnTo>
                  <a:pt x="706023" y="45114"/>
                </a:lnTo>
                <a:lnTo>
                  <a:pt x="700337" y="50800"/>
                </a:lnTo>
                <a:lnTo>
                  <a:pt x="731424" y="50798"/>
                </a:lnTo>
                <a:lnTo>
                  <a:pt x="756822" y="38100"/>
                </a:lnTo>
                <a:lnTo>
                  <a:pt x="680623" y="0"/>
                </a:lnTo>
                <a:close/>
              </a:path>
              <a:path w="756920" h="76200">
                <a:moveTo>
                  <a:pt x="12700" y="25398"/>
                </a:moveTo>
                <a:lnTo>
                  <a:pt x="5684" y="25400"/>
                </a:lnTo>
                <a:lnTo>
                  <a:pt x="0" y="31084"/>
                </a:lnTo>
                <a:lnTo>
                  <a:pt x="1" y="45114"/>
                </a:lnTo>
                <a:lnTo>
                  <a:pt x="5685" y="50798"/>
                </a:lnTo>
                <a:lnTo>
                  <a:pt x="680622" y="50799"/>
                </a:lnTo>
                <a:lnTo>
                  <a:pt x="680623" y="25399"/>
                </a:lnTo>
                <a:lnTo>
                  <a:pt x="12700" y="25398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860540" y="4495291"/>
            <a:ext cx="11518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orbel"/>
                <a:cs typeface="Corbel"/>
              </a:rPr>
              <a:t>Interactions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94972" y="5772403"/>
            <a:ext cx="19729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latin typeface="Corbel"/>
                <a:cs typeface="Corbel"/>
              </a:rPr>
              <a:t>“You </a:t>
            </a:r>
            <a:r>
              <a:rPr dirty="0" sz="1800" spc="-5">
                <a:latin typeface="Corbel"/>
                <a:cs typeface="Corbel"/>
              </a:rPr>
              <a:t>might also</a:t>
            </a:r>
            <a:r>
              <a:rPr dirty="0" sz="1800" spc="-25">
                <a:latin typeface="Corbel"/>
                <a:cs typeface="Corbel"/>
              </a:rPr>
              <a:t> </a:t>
            </a:r>
            <a:r>
              <a:rPr dirty="0" sz="1800" spc="-15">
                <a:latin typeface="Corbel"/>
                <a:cs typeface="Corbel"/>
              </a:rPr>
              <a:t>like”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837335" y="4202442"/>
            <a:ext cx="468660" cy="4686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30529" y="4202442"/>
            <a:ext cx="468660" cy="4686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304245" y="4208148"/>
            <a:ext cx="468660" cy="4686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597439" y="4208148"/>
            <a:ext cx="468660" cy="46866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006142" y="4191000"/>
            <a:ext cx="468660" cy="46866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922788" y="4716442"/>
            <a:ext cx="521970" cy="1131570"/>
          </a:xfrm>
          <a:custGeom>
            <a:avLst/>
            <a:gdLst/>
            <a:ahLst/>
            <a:cxnLst/>
            <a:rect l="l" t="t" r="r" b="b"/>
            <a:pathLst>
              <a:path w="521970" h="1131570">
                <a:moveTo>
                  <a:pt x="0" y="1003499"/>
                </a:moveTo>
                <a:lnTo>
                  <a:pt x="5523" y="1131171"/>
                </a:lnTo>
                <a:lnTo>
                  <a:pt x="88347" y="1063266"/>
                </a:lnTo>
                <a:lnTo>
                  <a:pt x="44003" y="1063266"/>
                </a:lnTo>
                <a:lnTo>
                  <a:pt x="36622" y="1061607"/>
                </a:lnTo>
                <a:lnTo>
                  <a:pt x="30465" y="1057214"/>
                </a:lnTo>
                <a:lnTo>
                  <a:pt x="26603" y="1051015"/>
                </a:lnTo>
                <a:lnTo>
                  <a:pt x="25348" y="1043821"/>
                </a:lnTo>
                <a:lnTo>
                  <a:pt x="27007" y="1036441"/>
                </a:lnTo>
                <a:lnTo>
                  <a:pt x="34782" y="1019049"/>
                </a:lnTo>
                <a:lnTo>
                  <a:pt x="0" y="1003499"/>
                </a:lnTo>
                <a:close/>
              </a:path>
              <a:path w="521970" h="1131570">
                <a:moveTo>
                  <a:pt x="34782" y="1019049"/>
                </a:moveTo>
                <a:lnTo>
                  <a:pt x="27007" y="1036441"/>
                </a:lnTo>
                <a:lnTo>
                  <a:pt x="25348" y="1043821"/>
                </a:lnTo>
                <a:lnTo>
                  <a:pt x="26603" y="1051015"/>
                </a:lnTo>
                <a:lnTo>
                  <a:pt x="30465" y="1057214"/>
                </a:lnTo>
                <a:lnTo>
                  <a:pt x="36622" y="1061607"/>
                </a:lnTo>
                <a:lnTo>
                  <a:pt x="44003" y="1063266"/>
                </a:lnTo>
                <a:lnTo>
                  <a:pt x="51197" y="1062011"/>
                </a:lnTo>
                <a:lnTo>
                  <a:pt x="57396" y="1058149"/>
                </a:lnTo>
                <a:lnTo>
                  <a:pt x="61789" y="1051991"/>
                </a:lnTo>
                <a:lnTo>
                  <a:pt x="69564" y="1034599"/>
                </a:lnTo>
                <a:lnTo>
                  <a:pt x="34782" y="1019049"/>
                </a:lnTo>
                <a:close/>
              </a:path>
              <a:path w="521970" h="1131570">
                <a:moveTo>
                  <a:pt x="69564" y="1034599"/>
                </a:moveTo>
                <a:lnTo>
                  <a:pt x="61789" y="1051991"/>
                </a:lnTo>
                <a:lnTo>
                  <a:pt x="57396" y="1058149"/>
                </a:lnTo>
                <a:lnTo>
                  <a:pt x="51197" y="1062011"/>
                </a:lnTo>
                <a:lnTo>
                  <a:pt x="44003" y="1063266"/>
                </a:lnTo>
                <a:lnTo>
                  <a:pt x="88347" y="1063266"/>
                </a:lnTo>
                <a:lnTo>
                  <a:pt x="104347" y="1050149"/>
                </a:lnTo>
                <a:lnTo>
                  <a:pt x="69564" y="1034599"/>
                </a:lnTo>
                <a:close/>
              </a:path>
              <a:path w="521970" h="1131570">
                <a:moveTo>
                  <a:pt x="503112" y="0"/>
                </a:moveTo>
                <a:lnTo>
                  <a:pt x="495918" y="1255"/>
                </a:lnTo>
                <a:lnTo>
                  <a:pt x="489719" y="5117"/>
                </a:lnTo>
                <a:lnTo>
                  <a:pt x="485326" y="11274"/>
                </a:lnTo>
                <a:lnTo>
                  <a:pt x="34782" y="1019049"/>
                </a:lnTo>
                <a:lnTo>
                  <a:pt x="69564" y="1034599"/>
                </a:lnTo>
                <a:lnTo>
                  <a:pt x="520108" y="26825"/>
                </a:lnTo>
                <a:lnTo>
                  <a:pt x="521768" y="19445"/>
                </a:lnTo>
                <a:lnTo>
                  <a:pt x="520513" y="12251"/>
                </a:lnTo>
                <a:lnTo>
                  <a:pt x="516651" y="6052"/>
                </a:lnTo>
                <a:lnTo>
                  <a:pt x="510493" y="1659"/>
                </a:lnTo>
                <a:lnTo>
                  <a:pt x="503112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1828800"/>
            <a:ext cx="4394408" cy="26359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2168" y="365759"/>
            <a:ext cx="8345424" cy="5059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5420" y="1488948"/>
            <a:ext cx="657987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5" b="1">
                <a:latin typeface="Calibri"/>
                <a:cs typeface="Calibri"/>
              </a:rPr>
              <a:t>Task: </a:t>
            </a:r>
            <a:r>
              <a:rPr dirty="0" sz="3200" spc="-10" b="1">
                <a:solidFill>
                  <a:srgbClr val="000000"/>
                </a:solidFill>
                <a:latin typeface="Calibri"/>
                <a:cs typeface="Calibri"/>
              </a:rPr>
              <a:t>Recommend </a:t>
            </a:r>
            <a:r>
              <a:rPr dirty="0" sz="3200" spc="-20" b="1">
                <a:solidFill>
                  <a:srgbClr val="000000"/>
                </a:solidFill>
                <a:latin typeface="Calibri"/>
                <a:cs typeface="Calibri"/>
              </a:rPr>
              <a:t>related </a:t>
            </a:r>
            <a:r>
              <a:rPr dirty="0" sz="3200" spc="-5" b="1">
                <a:solidFill>
                  <a:srgbClr val="000000"/>
                </a:solidFill>
                <a:latin typeface="Calibri"/>
                <a:cs typeface="Calibri"/>
              </a:rPr>
              <a:t>pins </a:t>
            </a:r>
            <a:r>
              <a:rPr dirty="0" sz="3200" spc="-15" b="1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dirty="0" sz="3200" spc="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0000"/>
                </a:solidFill>
                <a:latin typeface="Calibri"/>
                <a:cs typeface="Calibri"/>
              </a:rPr>
              <a:t>users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36940" y="6727833"/>
            <a:ext cx="58419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35"/>
              </a:lnSpc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0149" y="5135314"/>
            <a:ext cx="4890418" cy="1555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3505" y="5104215"/>
            <a:ext cx="580227" cy="4380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65167" y="5106330"/>
            <a:ext cx="509583" cy="41570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16772" y="5084514"/>
            <a:ext cx="415052" cy="47277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042043" y="2946355"/>
            <a:ext cx="2097405" cy="318135"/>
          </a:xfrm>
          <a:custGeom>
            <a:avLst/>
            <a:gdLst/>
            <a:ahLst/>
            <a:cxnLst/>
            <a:rect l="l" t="t" r="r" b="b"/>
            <a:pathLst>
              <a:path w="2097404" h="318135">
                <a:moveTo>
                  <a:pt x="1995854" y="0"/>
                </a:moveTo>
                <a:lnTo>
                  <a:pt x="1991333" y="12893"/>
                </a:lnTo>
                <a:lnTo>
                  <a:pt x="2009719" y="20871"/>
                </a:lnTo>
                <a:lnTo>
                  <a:pt x="2025531" y="31917"/>
                </a:lnTo>
                <a:lnTo>
                  <a:pt x="2049432" y="63205"/>
                </a:lnTo>
                <a:lnTo>
                  <a:pt x="2063496" y="105419"/>
                </a:lnTo>
                <a:lnTo>
                  <a:pt x="2068184" y="157218"/>
                </a:lnTo>
                <a:lnTo>
                  <a:pt x="2067007" y="185231"/>
                </a:lnTo>
                <a:lnTo>
                  <a:pt x="2057589" y="233535"/>
                </a:lnTo>
                <a:lnTo>
                  <a:pt x="2038690" y="271260"/>
                </a:lnTo>
                <a:lnTo>
                  <a:pt x="2009934" y="296710"/>
                </a:lnTo>
                <a:lnTo>
                  <a:pt x="1991836" y="304726"/>
                </a:lnTo>
                <a:lnTo>
                  <a:pt x="1995854" y="317618"/>
                </a:lnTo>
                <a:lnTo>
                  <a:pt x="2039177" y="297295"/>
                </a:lnTo>
                <a:lnTo>
                  <a:pt x="2071030" y="262114"/>
                </a:lnTo>
                <a:lnTo>
                  <a:pt x="2090620" y="215003"/>
                </a:lnTo>
                <a:lnTo>
                  <a:pt x="2097150" y="158892"/>
                </a:lnTo>
                <a:lnTo>
                  <a:pt x="2095513" y="129775"/>
                </a:lnTo>
                <a:lnTo>
                  <a:pt x="2082411" y="78165"/>
                </a:lnTo>
                <a:lnTo>
                  <a:pt x="2056427" y="36150"/>
                </a:lnTo>
                <a:lnTo>
                  <a:pt x="2018881" y="8314"/>
                </a:lnTo>
                <a:lnTo>
                  <a:pt x="1995854" y="0"/>
                </a:lnTo>
                <a:close/>
              </a:path>
              <a:path w="2097404" h="318135">
                <a:moveTo>
                  <a:pt x="101296" y="0"/>
                </a:moveTo>
                <a:lnTo>
                  <a:pt x="58077" y="20364"/>
                </a:lnTo>
                <a:lnTo>
                  <a:pt x="26202" y="55671"/>
                </a:lnTo>
                <a:lnTo>
                  <a:pt x="6550" y="102866"/>
                </a:lnTo>
                <a:lnTo>
                  <a:pt x="0" y="158892"/>
                </a:lnTo>
                <a:lnTo>
                  <a:pt x="1632" y="188072"/>
                </a:lnTo>
                <a:lnTo>
                  <a:pt x="14691" y="239683"/>
                </a:lnTo>
                <a:lnTo>
                  <a:pt x="40612" y="281562"/>
                </a:lnTo>
                <a:lnTo>
                  <a:pt x="78201" y="309314"/>
                </a:lnTo>
                <a:lnTo>
                  <a:pt x="101296" y="317618"/>
                </a:lnTo>
                <a:lnTo>
                  <a:pt x="105314" y="304726"/>
                </a:lnTo>
                <a:lnTo>
                  <a:pt x="87216" y="296710"/>
                </a:lnTo>
                <a:lnTo>
                  <a:pt x="71597" y="285555"/>
                </a:lnTo>
                <a:lnTo>
                  <a:pt x="47801" y="253826"/>
                </a:lnTo>
                <a:lnTo>
                  <a:pt x="33675" y="210670"/>
                </a:lnTo>
                <a:lnTo>
                  <a:pt x="28966" y="157218"/>
                </a:lnTo>
                <a:lnTo>
                  <a:pt x="30143" y="130120"/>
                </a:lnTo>
                <a:lnTo>
                  <a:pt x="39561" y="83114"/>
                </a:lnTo>
                <a:lnTo>
                  <a:pt x="58491" y="46028"/>
                </a:lnTo>
                <a:lnTo>
                  <a:pt x="87498" y="20871"/>
                </a:lnTo>
                <a:lnTo>
                  <a:pt x="105816" y="12893"/>
                </a:lnTo>
                <a:lnTo>
                  <a:pt x="101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848602" y="5012453"/>
            <a:ext cx="1796124" cy="184554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85420" y="2034032"/>
            <a:ext cx="8756650" cy="317881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5370195" marR="5080">
              <a:lnSpc>
                <a:spcPts val="3190"/>
              </a:lnSpc>
              <a:spcBef>
                <a:spcPts val="245"/>
              </a:spcBef>
            </a:pPr>
            <a:r>
              <a:rPr dirty="0" sz="2700" spc="-60" b="1">
                <a:solidFill>
                  <a:srgbClr val="00B050"/>
                </a:solidFill>
                <a:latin typeface="Calibri"/>
                <a:cs typeface="Calibri"/>
              </a:rPr>
              <a:t>Task: </a:t>
            </a:r>
            <a:r>
              <a:rPr dirty="0" sz="2700" spc="-20">
                <a:latin typeface="Calibri"/>
                <a:cs typeface="Calibri"/>
              </a:rPr>
              <a:t>Learn </a:t>
            </a:r>
            <a:r>
              <a:rPr dirty="0" sz="2700" spc="-15">
                <a:latin typeface="Calibri"/>
                <a:cs typeface="Calibri"/>
              </a:rPr>
              <a:t>node  </a:t>
            </a:r>
            <a:r>
              <a:rPr dirty="0" sz="2700" spc="-20">
                <a:latin typeface="Calibri"/>
                <a:cs typeface="Calibri"/>
              </a:rPr>
              <a:t>embeddings </a:t>
            </a:r>
            <a:r>
              <a:rPr dirty="0" sz="2700" spc="15">
                <a:latin typeface="Cambria Math"/>
                <a:cs typeface="Cambria Math"/>
              </a:rPr>
              <a:t>𝑧</a:t>
            </a:r>
            <a:r>
              <a:rPr dirty="0" baseline="-15277" sz="3000" spc="22">
                <a:latin typeface="Cambria Math"/>
                <a:cs typeface="Cambria Math"/>
              </a:rPr>
              <a:t>! </a:t>
            </a:r>
            <a:r>
              <a:rPr dirty="0" sz="2700" spc="-15">
                <a:latin typeface="Calibri"/>
                <a:cs typeface="Calibri"/>
              </a:rPr>
              <a:t>such</a:t>
            </a:r>
            <a:r>
              <a:rPr dirty="0" sz="2700" spc="-1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that</a:t>
            </a:r>
            <a:endParaRPr sz="2700">
              <a:latin typeface="Calibri"/>
              <a:cs typeface="Calibri"/>
            </a:endParaRPr>
          </a:p>
          <a:p>
            <a:pPr marL="5618480">
              <a:lnSpc>
                <a:spcPts val="3180"/>
              </a:lnSpc>
              <a:spcBef>
                <a:spcPts val="400"/>
              </a:spcBef>
              <a:tabLst>
                <a:tab pos="5966460" algn="l"/>
              </a:tabLst>
            </a:pPr>
            <a:r>
              <a:rPr dirty="0" baseline="11316" sz="4050">
                <a:latin typeface="Cambria Math"/>
                <a:cs typeface="Cambria Math"/>
              </a:rPr>
              <a:t>𝑑	</a:t>
            </a:r>
            <a:r>
              <a:rPr dirty="0" baseline="11316" sz="4050" spc="-142">
                <a:latin typeface="Cambria Math"/>
                <a:cs typeface="Cambria Math"/>
              </a:rPr>
              <a:t>𝑧</a:t>
            </a:r>
            <a:r>
              <a:rPr dirty="0" sz="2000" spc="-95">
                <a:latin typeface="Cambria Math"/>
                <a:cs typeface="Cambria Math"/>
              </a:rPr>
              <a:t>"#$%&amp;</a:t>
            </a:r>
            <a:r>
              <a:rPr dirty="0" baseline="11316" sz="4050" spc="-142">
                <a:latin typeface="Cambria Math"/>
                <a:cs typeface="Cambria Math"/>
              </a:rPr>
              <a:t>,</a:t>
            </a:r>
            <a:r>
              <a:rPr dirty="0" baseline="11316" sz="4050" spc="-322">
                <a:latin typeface="Cambria Math"/>
                <a:cs typeface="Cambria Math"/>
              </a:rPr>
              <a:t> </a:t>
            </a:r>
            <a:r>
              <a:rPr dirty="0" baseline="11316" sz="4050" spc="37">
                <a:latin typeface="Cambria Math"/>
                <a:cs typeface="Cambria Math"/>
              </a:rPr>
              <a:t>𝑧</a:t>
            </a:r>
            <a:r>
              <a:rPr dirty="0" sz="2000" spc="25">
                <a:latin typeface="Cambria Math"/>
                <a:cs typeface="Cambria Math"/>
              </a:rPr>
              <a:t>"#$%'</a:t>
            </a:r>
            <a:endParaRPr sz="2000">
              <a:latin typeface="Cambria Math"/>
              <a:cs typeface="Cambria Math"/>
            </a:endParaRPr>
          </a:p>
          <a:p>
            <a:pPr marL="5618480">
              <a:lnSpc>
                <a:spcPts val="3140"/>
              </a:lnSpc>
            </a:pPr>
            <a:r>
              <a:rPr dirty="0" baseline="11316" sz="4050">
                <a:latin typeface="Cambria Math"/>
                <a:cs typeface="Cambria Math"/>
              </a:rPr>
              <a:t>&lt; </a:t>
            </a:r>
            <a:r>
              <a:rPr dirty="0" baseline="11316" sz="4050" spc="-104">
                <a:latin typeface="Cambria Math"/>
                <a:cs typeface="Cambria Math"/>
              </a:rPr>
              <a:t>𝑑(𝑧</a:t>
            </a:r>
            <a:r>
              <a:rPr dirty="0" sz="2000" spc="-70">
                <a:latin typeface="Cambria Math"/>
                <a:cs typeface="Cambria Math"/>
              </a:rPr>
              <a:t>"#$%&amp;</a:t>
            </a:r>
            <a:r>
              <a:rPr dirty="0" baseline="11316" sz="4050" spc="-104">
                <a:latin typeface="Cambria Math"/>
                <a:cs typeface="Cambria Math"/>
              </a:rPr>
              <a:t>,</a:t>
            </a:r>
            <a:r>
              <a:rPr dirty="0" baseline="11316" sz="4050" spc="-82">
                <a:latin typeface="Cambria Math"/>
                <a:cs typeface="Cambria Math"/>
              </a:rPr>
              <a:t> </a:t>
            </a:r>
            <a:r>
              <a:rPr dirty="0" baseline="11316" sz="4050" spc="-179">
                <a:latin typeface="Cambria Math"/>
                <a:cs typeface="Cambria Math"/>
              </a:rPr>
              <a:t>𝑧</a:t>
            </a:r>
            <a:r>
              <a:rPr dirty="0" sz="2000" spc="-120">
                <a:latin typeface="Cambria Math"/>
                <a:cs typeface="Cambria Math"/>
              </a:rPr>
              <a:t>()%#*%+</a:t>
            </a:r>
            <a:r>
              <a:rPr dirty="0" baseline="11316" sz="4050" spc="-179">
                <a:latin typeface="Cambria Math"/>
                <a:cs typeface="Cambria Math"/>
              </a:rPr>
              <a:t>)</a:t>
            </a:r>
            <a:endParaRPr baseline="11316" sz="4050">
              <a:latin typeface="Cambria Math"/>
              <a:cs typeface="Cambria Math"/>
            </a:endParaRPr>
          </a:p>
          <a:p>
            <a:pPr marL="260985">
              <a:lnSpc>
                <a:spcPts val="2840"/>
              </a:lnSpc>
            </a:pPr>
            <a:r>
              <a:rPr dirty="0" sz="2400" spc="-5" b="1">
                <a:solidFill>
                  <a:srgbClr val="60B5CC"/>
                </a:solidFill>
                <a:latin typeface="Calibri"/>
                <a:cs typeface="Calibri"/>
              </a:rPr>
              <a:t>Query</a:t>
            </a:r>
            <a:r>
              <a:rPr dirty="0" sz="2400" spc="-7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60B5CC"/>
                </a:solidFill>
                <a:latin typeface="Calibri"/>
                <a:cs typeface="Calibri"/>
              </a:rPr>
              <a:t>pin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3579"/>
              </a:lnSpc>
              <a:spcBef>
                <a:spcPts val="2530"/>
              </a:spcBef>
            </a:pPr>
            <a:r>
              <a:rPr dirty="0" sz="3200" spc="-10" b="1">
                <a:latin typeface="Calibri"/>
                <a:cs typeface="Calibri"/>
              </a:rPr>
              <a:t>Predict </a:t>
            </a:r>
            <a:r>
              <a:rPr dirty="0" sz="3200" spc="-5" b="1">
                <a:latin typeface="Calibri"/>
                <a:cs typeface="Calibri"/>
              </a:rPr>
              <a:t>whether </a:t>
            </a:r>
            <a:r>
              <a:rPr dirty="0" sz="3200" spc="-10" b="1">
                <a:latin typeface="Calibri"/>
                <a:cs typeface="Calibri"/>
              </a:rPr>
              <a:t>two </a:t>
            </a:r>
            <a:r>
              <a:rPr dirty="0" sz="3200" spc="-5" b="1">
                <a:latin typeface="Calibri"/>
                <a:cs typeface="Calibri"/>
              </a:rPr>
              <a:t>nodes </a:t>
            </a:r>
            <a:r>
              <a:rPr dirty="0" sz="3200" b="1">
                <a:latin typeface="Calibri"/>
                <a:cs typeface="Calibri"/>
              </a:rPr>
              <a:t>in a </a:t>
            </a:r>
            <a:r>
              <a:rPr dirty="0" sz="3200" spc="-20" b="1">
                <a:latin typeface="Calibri"/>
                <a:cs typeface="Calibri"/>
              </a:rPr>
              <a:t>graph </a:t>
            </a:r>
            <a:r>
              <a:rPr dirty="0" sz="3200" spc="-15" b="1">
                <a:latin typeface="Calibri"/>
                <a:cs typeface="Calibri"/>
              </a:rPr>
              <a:t>are</a:t>
            </a:r>
            <a:r>
              <a:rPr dirty="0" sz="3200" spc="5" b="1">
                <a:latin typeface="Calibri"/>
                <a:cs typeface="Calibri"/>
              </a:rPr>
              <a:t> </a:t>
            </a:r>
            <a:r>
              <a:rPr dirty="0" sz="3200" spc="-20" b="1">
                <a:latin typeface="Calibri"/>
                <a:cs typeface="Calibri"/>
              </a:rPr>
              <a:t>related</a:t>
            </a:r>
            <a:endParaRPr sz="3200">
              <a:latin typeface="Calibri"/>
              <a:cs typeface="Calibri"/>
            </a:endParaRPr>
          </a:p>
          <a:p>
            <a:pPr algn="r" marR="1497330">
              <a:lnSpc>
                <a:spcPts val="2620"/>
              </a:lnSpc>
            </a:pPr>
            <a:r>
              <a:rPr dirty="0" sz="2400">
                <a:latin typeface="Cambria Math"/>
                <a:cs typeface="Cambria Math"/>
              </a:rPr>
              <a:t>𝑧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026400" y="4980525"/>
            <a:ext cx="208279" cy="201295"/>
          </a:xfrm>
          <a:custGeom>
            <a:avLst/>
            <a:gdLst/>
            <a:ahLst/>
            <a:cxnLst/>
            <a:rect l="l" t="t" r="r" b="b"/>
            <a:pathLst>
              <a:path w="208279" h="201295">
                <a:moveTo>
                  <a:pt x="0" y="201075"/>
                </a:moveTo>
                <a:lnTo>
                  <a:pt x="208279" y="201075"/>
                </a:lnTo>
                <a:lnTo>
                  <a:pt x="208279" y="0"/>
                </a:lnTo>
                <a:lnTo>
                  <a:pt x="0" y="0"/>
                </a:lnTo>
                <a:lnTo>
                  <a:pt x="0" y="201075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234680" y="4980525"/>
            <a:ext cx="208279" cy="201295"/>
          </a:xfrm>
          <a:custGeom>
            <a:avLst/>
            <a:gdLst/>
            <a:ahLst/>
            <a:cxnLst/>
            <a:rect l="l" t="t" r="r" b="b"/>
            <a:pathLst>
              <a:path w="208279" h="201295">
                <a:moveTo>
                  <a:pt x="0" y="201075"/>
                </a:moveTo>
                <a:lnTo>
                  <a:pt x="208279" y="201075"/>
                </a:lnTo>
                <a:lnTo>
                  <a:pt x="208279" y="0"/>
                </a:lnTo>
                <a:lnTo>
                  <a:pt x="0" y="0"/>
                </a:lnTo>
                <a:lnTo>
                  <a:pt x="0" y="201075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442959" y="4980525"/>
            <a:ext cx="208279" cy="201295"/>
          </a:xfrm>
          <a:custGeom>
            <a:avLst/>
            <a:gdLst/>
            <a:ahLst/>
            <a:cxnLst/>
            <a:rect l="l" t="t" r="r" b="b"/>
            <a:pathLst>
              <a:path w="208279" h="201295">
                <a:moveTo>
                  <a:pt x="0" y="201075"/>
                </a:moveTo>
                <a:lnTo>
                  <a:pt x="208279" y="201075"/>
                </a:lnTo>
                <a:lnTo>
                  <a:pt x="208279" y="0"/>
                </a:lnTo>
                <a:lnTo>
                  <a:pt x="0" y="0"/>
                </a:lnTo>
                <a:lnTo>
                  <a:pt x="0" y="201075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651240" y="4980525"/>
            <a:ext cx="208279" cy="201295"/>
          </a:xfrm>
          <a:custGeom>
            <a:avLst/>
            <a:gdLst/>
            <a:ahLst/>
            <a:cxnLst/>
            <a:rect l="l" t="t" r="r" b="b"/>
            <a:pathLst>
              <a:path w="208279" h="201295">
                <a:moveTo>
                  <a:pt x="0" y="201075"/>
                </a:moveTo>
                <a:lnTo>
                  <a:pt x="208279" y="201075"/>
                </a:lnTo>
                <a:lnTo>
                  <a:pt x="208279" y="0"/>
                </a:lnTo>
                <a:lnTo>
                  <a:pt x="0" y="0"/>
                </a:lnTo>
                <a:lnTo>
                  <a:pt x="0" y="201075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859519" y="4980525"/>
            <a:ext cx="208279" cy="201295"/>
          </a:xfrm>
          <a:custGeom>
            <a:avLst/>
            <a:gdLst/>
            <a:ahLst/>
            <a:cxnLst/>
            <a:rect l="l" t="t" r="r" b="b"/>
            <a:pathLst>
              <a:path w="208279" h="201295">
                <a:moveTo>
                  <a:pt x="0" y="201075"/>
                </a:moveTo>
                <a:lnTo>
                  <a:pt x="208279" y="201075"/>
                </a:lnTo>
                <a:lnTo>
                  <a:pt x="208279" y="0"/>
                </a:lnTo>
                <a:lnTo>
                  <a:pt x="0" y="0"/>
                </a:lnTo>
                <a:lnTo>
                  <a:pt x="0" y="201075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234680" y="4974174"/>
            <a:ext cx="0" cy="226695"/>
          </a:xfrm>
          <a:custGeom>
            <a:avLst/>
            <a:gdLst/>
            <a:ahLst/>
            <a:cxnLst/>
            <a:rect l="l" t="t" r="r" b="b"/>
            <a:pathLst>
              <a:path w="0" h="226695">
                <a:moveTo>
                  <a:pt x="0" y="0"/>
                </a:moveTo>
                <a:lnTo>
                  <a:pt x="0" y="226475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442959" y="4974174"/>
            <a:ext cx="0" cy="226695"/>
          </a:xfrm>
          <a:custGeom>
            <a:avLst/>
            <a:gdLst/>
            <a:ahLst/>
            <a:cxnLst/>
            <a:rect l="l" t="t" r="r" b="b"/>
            <a:pathLst>
              <a:path w="0" h="226695">
                <a:moveTo>
                  <a:pt x="0" y="0"/>
                </a:moveTo>
                <a:lnTo>
                  <a:pt x="0" y="226475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651240" y="4974174"/>
            <a:ext cx="0" cy="226695"/>
          </a:xfrm>
          <a:custGeom>
            <a:avLst/>
            <a:gdLst/>
            <a:ahLst/>
            <a:cxnLst/>
            <a:rect l="l" t="t" r="r" b="b"/>
            <a:pathLst>
              <a:path w="0" h="226695">
                <a:moveTo>
                  <a:pt x="0" y="0"/>
                </a:moveTo>
                <a:lnTo>
                  <a:pt x="0" y="226475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859519" y="4974174"/>
            <a:ext cx="0" cy="226695"/>
          </a:xfrm>
          <a:custGeom>
            <a:avLst/>
            <a:gdLst/>
            <a:ahLst/>
            <a:cxnLst/>
            <a:rect l="l" t="t" r="r" b="b"/>
            <a:pathLst>
              <a:path w="0" h="226695">
                <a:moveTo>
                  <a:pt x="0" y="0"/>
                </a:moveTo>
                <a:lnTo>
                  <a:pt x="0" y="226475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026400" y="4974174"/>
            <a:ext cx="0" cy="226695"/>
          </a:xfrm>
          <a:custGeom>
            <a:avLst/>
            <a:gdLst/>
            <a:ahLst/>
            <a:cxnLst/>
            <a:rect l="l" t="t" r="r" b="b"/>
            <a:pathLst>
              <a:path w="0" h="226695">
                <a:moveTo>
                  <a:pt x="0" y="0"/>
                </a:moveTo>
                <a:lnTo>
                  <a:pt x="0" y="226475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067800" y="4974174"/>
            <a:ext cx="0" cy="226695"/>
          </a:xfrm>
          <a:custGeom>
            <a:avLst/>
            <a:gdLst/>
            <a:ahLst/>
            <a:cxnLst/>
            <a:rect l="l" t="t" r="r" b="b"/>
            <a:pathLst>
              <a:path w="0" h="226695">
                <a:moveTo>
                  <a:pt x="0" y="0"/>
                </a:moveTo>
                <a:lnTo>
                  <a:pt x="0" y="226475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020050" y="4980524"/>
            <a:ext cx="1054100" cy="0"/>
          </a:xfrm>
          <a:custGeom>
            <a:avLst/>
            <a:gdLst/>
            <a:ahLst/>
            <a:cxnLst/>
            <a:rect l="l" t="t" r="r" b="b"/>
            <a:pathLst>
              <a:path w="1054100" h="0">
                <a:moveTo>
                  <a:pt x="0" y="0"/>
                </a:moveTo>
                <a:lnTo>
                  <a:pt x="105410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020050" y="5181599"/>
            <a:ext cx="1054100" cy="0"/>
          </a:xfrm>
          <a:custGeom>
            <a:avLst/>
            <a:gdLst/>
            <a:ahLst/>
            <a:cxnLst/>
            <a:rect l="l" t="t" r="r" b="b"/>
            <a:pathLst>
              <a:path w="1054100" h="0">
                <a:moveTo>
                  <a:pt x="0" y="0"/>
                </a:moveTo>
                <a:lnTo>
                  <a:pt x="105410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827242" y="6565200"/>
            <a:ext cx="398063" cy="2928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529524" y="4909967"/>
            <a:ext cx="410084" cy="30960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673615" y="6694423"/>
            <a:ext cx="3002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898989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Machine Learning with</a:t>
            </a:r>
            <a:r>
              <a:rPr dirty="0" sz="900" spc="4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42859" y="17779"/>
            <a:ext cx="6220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Ying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al.,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Graph Convolutional Neural Networks for 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Web-Scale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Recommender Systems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KDD</a:t>
            </a:r>
            <a:r>
              <a:rPr dirty="0" sz="1200" spc="-1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2018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4227" y="6694423"/>
            <a:ext cx="3530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1/13/21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363968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019" rIns="0" bIns="0" rtlCol="0" vert="horz">
            <a:spAutoFit/>
          </a:bodyPr>
          <a:lstStyle/>
          <a:p>
            <a:pPr marL="970280" marR="5080" indent="-945515">
              <a:lnSpc>
                <a:spcPts val="4300"/>
              </a:lnSpc>
              <a:spcBef>
                <a:spcPts val="259"/>
              </a:spcBef>
            </a:pPr>
            <a:r>
              <a:rPr dirty="0" spc="-20">
                <a:solidFill>
                  <a:srgbClr val="000000"/>
                </a:solidFill>
              </a:rPr>
              <a:t>Many </a:t>
            </a:r>
            <a:r>
              <a:rPr dirty="0" spc="-15">
                <a:solidFill>
                  <a:srgbClr val="000000"/>
                </a:solidFill>
              </a:rPr>
              <a:t>patients </a:t>
            </a:r>
            <a:r>
              <a:rPr dirty="0" spc="-45"/>
              <a:t>take </a:t>
            </a:r>
            <a:r>
              <a:rPr dirty="0" spc="-5"/>
              <a:t>multiple drugs </a:t>
            </a:r>
            <a:r>
              <a:rPr dirty="0" spc="-25">
                <a:solidFill>
                  <a:srgbClr val="000000"/>
                </a:solidFill>
              </a:rPr>
              <a:t>to </a:t>
            </a:r>
            <a:r>
              <a:rPr dirty="0" spc="-20">
                <a:solidFill>
                  <a:srgbClr val="000000"/>
                </a:solidFill>
              </a:rPr>
              <a:t>treat  </a:t>
            </a:r>
            <a:r>
              <a:rPr dirty="0" spc="-15"/>
              <a:t>complex </a:t>
            </a:r>
            <a:r>
              <a:rPr dirty="0">
                <a:solidFill>
                  <a:srgbClr val="000000"/>
                </a:solidFill>
              </a:rPr>
              <a:t>or </a:t>
            </a:r>
            <a:r>
              <a:rPr dirty="0" spc="-15"/>
              <a:t>co-existing</a:t>
            </a:r>
            <a:r>
              <a:rPr dirty="0" spc="-60"/>
              <a:t> </a:t>
            </a:r>
            <a:r>
              <a:rPr dirty="0" spc="-5"/>
              <a:t>diseases</a:t>
            </a:r>
            <a:r>
              <a:rPr dirty="0" spc="-5">
                <a:solidFill>
                  <a:srgbClr val="000000"/>
                </a:solidFill>
              </a:rPr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6064621" y="5345899"/>
            <a:ext cx="133985" cy="813435"/>
          </a:xfrm>
          <a:custGeom>
            <a:avLst/>
            <a:gdLst/>
            <a:ahLst/>
            <a:cxnLst/>
            <a:rect l="l" t="t" r="r" b="b"/>
            <a:pathLst>
              <a:path w="133985" h="813435">
                <a:moveTo>
                  <a:pt x="133953" y="813040"/>
                </a:moveTo>
                <a:lnTo>
                  <a:pt x="107872" y="807713"/>
                </a:lnTo>
                <a:lnTo>
                  <a:pt x="86583" y="793189"/>
                </a:lnTo>
                <a:lnTo>
                  <a:pt x="72236" y="771652"/>
                </a:lnTo>
                <a:lnTo>
                  <a:pt x="66976" y="745285"/>
                </a:lnTo>
                <a:lnTo>
                  <a:pt x="66976" y="474264"/>
                </a:lnTo>
                <a:lnTo>
                  <a:pt x="61714" y="447894"/>
                </a:lnTo>
                <a:lnTo>
                  <a:pt x="47361" y="426361"/>
                </a:lnTo>
                <a:lnTo>
                  <a:pt x="26072" y="411843"/>
                </a:lnTo>
                <a:lnTo>
                  <a:pt x="0" y="406520"/>
                </a:lnTo>
                <a:lnTo>
                  <a:pt x="26072" y="401196"/>
                </a:lnTo>
                <a:lnTo>
                  <a:pt x="47361" y="386674"/>
                </a:lnTo>
                <a:lnTo>
                  <a:pt x="61714" y="365131"/>
                </a:lnTo>
                <a:lnTo>
                  <a:pt x="66976" y="338742"/>
                </a:lnTo>
                <a:lnTo>
                  <a:pt x="66976" y="67744"/>
                </a:lnTo>
                <a:lnTo>
                  <a:pt x="72236" y="41360"/>
                </a:lnTo>
                <a:lnTo>
                  <a:pt x="86583" y="19828"/>
                </a:lnTo>
                <a:lnTo>
                  <a:pt x="107872" y="5318"/>
                </a:lnTo>
                <a:lnTo>
                  <a:pt x="133953" y="0"/>
                </a:lnTo>
              </a:path>
            </a:pathLst>
          </a:custGeom>
          <a:ln w="53902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127449" y="5345899"/>
            <a:ext cx="133985" cy="813435"/>
          </a:xfrm>
          <a:custGeom>
            <a:avLst/>
            <a:gdLst/>
            <a:ahLst/>
            <a:cxnLst/>
            <a:rect l="l" t="t" r="r" b="b"/>
            <a:pathLst>
              <a:path w="133984" h="813435">
                <a:moveTo>
                  <a:pt x="0" y="0"/>
                </a:moveTo>
                <a:lnTo>
                  <a:pt x="26067" y="5318"/>
                </a:lnTo>
                <a:lnTo>
                  <a:pt x="47357" y="19828"/>
                </a:lnTo>
                <a:lnTo>
                  <a:pt x="61712" y="41360"/>
                </a:lnTo>
                <a:lnTo>
                  <a:pt x="66976" y="67744"/>
                </a:lnTo>
                <a:lnTo>
                  <a:pt x="66976" y="338742"/>
                </a:lnTo>
                <a:lnTo>
                  <a:pt x="72236" y="365131"/>
                </a:lnTo>
                <a:lnTo>
                  <a:pt x="86583" y="386674"/>
                </a:lnTo>
                <a:lnTo>
                  <a:pt x="107872" y="401196"/>
                </a:lnTo>
                <a:lnTo>
                  <a:pt x="133953" y="406520"/>
                </a:lnTo>
                <a:lnTo>
                  <a:pt x="107872" y="411843"/>
                </a:lnTo>
                <a:lnTo>
                  <a:pt x="86583" y="426361"/>
                </a:lnTo>
                <a:lnTo>
                  <a:pt x="72236" y="447894"/>
                </a:lnTo>
                <a:lnTo>
                  <a:pt x="66976" y="474264"/>
                </a:lnTo>
                <a:lnTo>
                  <a:pt x="66976" y="745285"/>
                </a:lnTo>
                <a:lnTo>
                  <a:pt x="61712" y="771652"/>
                </a:lnTo>
                <a:lnTo>
                  <a:pt x="47357" y="793189"/>
                </a:lnTo>
                <a:lnTo>
                  <a:pt x="26067" y="807713"/>
                </a:lnTo>
                <a:lnTo>
                  <a:pt x="0" y="813040"/>
                </a:lnTo>
              </a:path>
            </a:pathLst>
          </a:custGeom>
          <a:ln w="53902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8938" y="2454147"/>
            <a:ext cx="7458075" cy="3921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720" indent="-287020">
              <a:lnSpc>
                <a:spcPts val="3325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299720" algn="l"/>
              </a:tabLst>
            </a:pPr>
            <a:r>
              <a:rPr dirty="0" sz="2800">
                <a:latin typeface="Calibri"/>
                <a:cs typeface="Calibri"/>
              </a:rPr>
              <a:t>46% </a:t>
            </a:r>
            <a:r>
              <a:rPr dirty="0" sz="2800" spc="-5">
                <a:latin typeface="Calibri"/>
                <a:cs typeface="Calibri"/>
              </a:rPr>
              <a:t>of people </a:t>
            </a:r>
            <a:r>
              <a:rPr dirty="0" sz="2800" spc="-10">
                <a:latin typeface="Calibri"/>
                <a:cs typeface="Calibri"/>
              </a:rPr>
              <a:t>ages </a:t>
            </a:r>
            <a:r>
              <a:rPr dirty="0" sz="2800" spc="-5">
                <a:latin typeface="Calibri"/>
                <a:cs typeface="Calibri"/>
              </a:rPr>
              <a:t>70-79 </a:t>
            </a:r>
            <a:r>
              <a:rPr dirty="0" sz="2800" spc="-35">
                <a:latin typeface="Calibri"/>
                <a:cs typeface="Calibri"/>
              </a:rPr>
              <a:t>take </a:t>
            </a:r>
            <a:r>
              <a:rPr dirty="0" sz="2800" spc="-15">
                <a:latin typeface="Calibri"/>
                <a:cs typeface="Calibri"/>
              </a:rPr>
              <a:t>more </a:t>
            </a:r>
            <a:r>
              <a:rPr dirty="0" sz="2800" spc="-5">
                <a:latin typeface="Calibri"/>
                <a:cs typeface="Calibri"/>
              </a:rPr>
              <a:t>than </a:t>
            </a:r>
            <a:r>
              <a:rPr dirty="0" sz="2800">
                <a:latin typeface="Calibri"/>
                <a:cs typeface="Calibri"/>
              </a:rPr>
              <a:t>5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drugs</a:t>
            </a:r>
            <a:endParaRPr sz="2800">
              <a:latin typeface="Calibri"/>
              <a:cs typeface="Calibri"/>
            </a:endParaRPr>
          </a:p>
          <a:p>
            <a:pPr marL="299720" marR="300355" indent="-287020">
              <a:lnSpc>
                <a:spcPts val="3410"/>
              </a:lnSpc>
              <a:spcBef>
                <a:spcPts val="3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299720" algn="l"/>
              </a:tabLst>
            </a:pPr>
            <a:r>
              <a:rPr dirty="0" sz="2800" spc="-15">
                <a:latin typeface="Calibri"/>
                <a:cs typeface="Calibri"/>
              </a:rPr>
              <a:t>Many </a:t>
            </a:r>
            <a:r>
              <a:rPr dirty="0" sz="2800" spc="-10">
                <a:latin typeface="Calibri"/>
                <a:cs typeface="Calibri"/>
              </a:rPr>
              <a:t>patients </a:t>
            </a:r>
            <a:r>
              <a:rPr dirty="0" sz="2800" spc="-35">
                <a:latin typeface="Calibri"/>
                <a:cs typeface="Calibri"/>
              </a:rPr>
              <a:t>take </a:t>
            </a:r>
            <a:r>
              <a:rPr dirty="0" sz="2800" spc="-15">
                <a:latin typeface="Calibri"/>
                <a:cs typeface="Calibri"/>
              </a:rPr>
              <a:t>more </a:t>
            </a:r>
            <a:r>
              <a:rPr dirty="0" sz="2800" spc="-5">
                <a:latin typeface="Calibri"/>
                <a:cs typeface="Calibri"/>
              </a:rPr>
              <a:t>than </a:t>
            </a:r>
            <a:r>
              <a:rPr dirty="0" sz="2800">
                <a:latin typeface="Calibri"/>
                <a:cs typeface="Calibri"/>
              </a:rPr>
              <a:t>20 </a:t>
            </a:r>
            <a:r>
              <a:rPr dirty="0" sz="2800" spc="-5">
                <a:latin typeface="Calibri"/>
                <a:cs typeface="Calibri"/>
              </a:rPr>
              <a:t>drugs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20">
                <a:latin typeface="Calibri"/>
                <a:cs typeface="Calibri"/>
              </a:rPr>
              <a:t>treat  </a:t>
            </a:r>
            <a:r>
              <a:rPr dirty="0" sz="2800" spc="-5">
                <a:latin typeface="Calibri"/>
                <a:cs typeface="Calibri"/>
              </a:rPr>
              <a:t>heart disease, </a:t>
            </a:r>
            <a:r>
              <a:rPr dirty="0" sz="2800" spc="-10">
                <a:latin typeface="Calibri"/>
                <a:cs typeface="Calibri"/>
              </a:rPr>
              <a:t>depression, </a:t>
            </a:r>
            <a:r>
              <a:rPr dirty="0" sz="2800" spc="-5">
                <a:latin typeface="Calibri"/>
                <a:cs typeface="Calibri"/>
              </a:rPr>
              <a:t>insomnia,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  <a:p>
            <a:pPr algn="ctr" marR="161925">
              <a:lnSpc>
                <a:spcPts val="4130"/>
              </a:lnSpc>
            </a:pPr>
            <a:r>
              <a:rPr dirty="0" sz="3600" spc="-60" b="1">
                <a:solidFill>
                  <a:srgbClr val="C00000"/>
                </a:solidFill>
                <a:latin typeface="Calibri"/>
                <a:cs typeface="Calibri"/>
              </a:rPr>
              <a:t>Task: </a:t>
            </a:r>
            <a:r>
              <a:rPr dirty="0" sz="3600" spc="-10" b="1">
                <a:solidFill>
                  <a:srgbClr val="00B0F0"/>
                </a:solidFill>
                <a:latin typeface="Calibri"/>
                <a:cs typeface="Calibri"/>
              </a:rPr>
              <a:t>Given </a:t>
            </a:r>
            <a:r>
              <a:rPr dirty="0" sz="3600" b="1">
                <a:solidFill>
                  <a:srgbClr val="00B0F0"/>
                </a:solidFill>
                <a:latin typeface="Calibri"/>
                <a:cs typeface="Calibri"/>
              </a:rPr>
              <a:t>a </a:t>
            </a:r>
            <a:r>
              <a:rPr dirty="0" sz="3600" spc="-5" b="1">
                <a:solidFill>
                  <a:srgbClr val="00B0F0"/>
                </a:solidFill>
                <a:latin typeface="Calibri"/>
                <a:cs typeface="Calibri"/>
              </a:rPr>
              <a:t>pair </a:t>
            </a:r>
            <a:r>
              <a:rPr dirty="0" sz="3600" b="1">
                <a:solidFill>
                  <a:srgbClr val="00B0F0"/>
                </a:solidFill>
                <a:latin typeface="Calibri"/>
                <a:cs typeface="Calibri"/>
              </a:rPr>
              <a:t>of </a:t>
            </a:r>
            <a:r>
              <a:rPr dirty="0" sz="3600" spc="-5" b="1">
                <a:solidFill>
                  <a:srgbClr val="00B0F0"/>
                </a:solidFill>
                <a:latin typeface="Calibri"/>
                <a:cs typeface="Calibri"/>
              </a:rPr>
              <a:t>drugs</a:t>
            </a:r>
            <a:r>
              <a:rPr dirty="0" sz="3600" spc="75" b="1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00B0F0"/>
                </a:solidFill>
                <a:latin typeface="Calibri"/>
                <a:cs typeface="Calibri"/>
              </a:rPr>
              <a:t>predict</a:t>
            </a:r>
            <a:endParaRPr sz="3600">
              <a:latin typeface="Calibri"/>
              <a:cs typeface="Calibri"/>
            </a:endParaRPr>
          </a:p>
          <a:p>
            <a:pPr algn="ctr" marR="161925">
              <a:lnSpc>
                <a:spcPts val="4310"/>
              </a:lnSpc>
            </a:pPr>
            <a:r>
              <a:rPr dirty="0" sz="3600" spc="-15" b="1">
                <a:solidFill>
                  <a:srgbClr val="00B0F0"/>
                </a:solidFill>
                <a:latin typeface="Calibri"/>
                <a:cs typeface="Calibri"/>
              </a:rPr>
              <a:t>adverse </a:t>
            </a:r>
            <a:r>
              <a:rPr dirty="0" sz="3600" b="1">
                <a:solidFill>
                  <a:srgbClr val="00B0F0"/>
                </a:solidFill>
                <a:latin typeface="Calibri"/>
                <a:cs typeface="Calibri"/>
              </a:rPr>
              <a:t>side</a:t>
            </a:r>
            <a:r>
              <a:rPr dirty="0" sz="3600" spc="-70" b="1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dirty="0" sz="3600" spc="-15" b="1">
                <a:solidFill>
                  <a:srgbClr val="00B0F0"/>
                </a:solidFill>
                <a:latin typeface="Calibri"/>
                <a:cs typeface="Calibri"/>
              </a:rPr>
              <a:t>effects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6000">
              <a:latin typeface="Times New Roman"/>
              <a:cs typeface="Times New Roman"/>
            </a:endParaRPr>
          </a:p>
          <a:p>
            <a:pPr algn="r" marR="1145540">
              <a:lnSpc>
                <a:spcPct val="100000"/>
              </a:lnSpc>
            </a:pPr>
            <a:r>
              <a:rPr dirty="0" sz="4250" spc="-10" b="1">
                <a:solidFill>
                  <a:srgbClr val="020303"/>
                </a:solidFill>
                <a:latin typeface="Arial"/>
                <a:cs typeface="Arial"/>
              </a:rPr>
              <a:t>,</a:t>
            </a:r>
            <a:endParaRPr sz="42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45914" y="5413664"/>
            <a:ext cx="696595" cy="813435"/>
          </a:xfrm>
          <a:custGeom>
            <a:avLst/>
            <a:gdLst/>
            <a:ahLst/>
            <a:cxnLst/>
            <a:rect l="l" t="t" r="r" b="b"/>
            <a:pathLst>
              <a:path w="696595" h="813435">
                <a:moveTo>
                  <a:pt x="384380" y="0"/>
                </a:moveTo>
                <a:lnTo>
                  <a:pt x="331557" y="4799"/>
                </a:lnTo>
                <a:lnTo>
                  <a:pt x="280894" y="18436"/>
                </a:lnTo>
                <a:lnTo>
                  <a:pt x="233459" y="39768"/>
                </a:lnTo>
                <a:lnTo>
                  <a:pt x="190325" y="67654"/>
                </a:lnTo>
                <a:lnTo>
                  <a:pt x="152562" y="100952"/>
                </a:lnTo>
                <a:lnTo>
                  <a:pt x="121211" y="138572"/>
                </a:lnTo>
                <a:lnTo>
                  <a:pt x="97433" y="179217"/>
                </a:lnTo>
                <a:lnTo>
                  <a:pt x="82208" y="221900"/>
                </a:lnTo>
                <a:lnTo>
                  <a:pt x="72650" y="277667"/>
                </a:lnTo>
                <a:lnTo>
                  <a:pt x="68083" y="314428"/>
                </a:lnTo>
                <a:lnTo>
                  <a:pt x="2482" y="475717"/>
                </a:lnTo>
                <a:lnTo>
                  <a:pt x="0" y="478142"/>
                </a:lnTo>
                <a:lnTo>
                  <a:pt x="0" y="485520"/>
                </a:lnTo>
                <a:lnTo>
                  <a:pt x="2154" y="495367"/>
                </a:lnTo>
                <a:lnTo>
                  <a:pt x="7888" y="503449"/>
                </a:lnTo>
                <a:lnTo>
                  <a:pt x="16112" y="508919"/>
                </a:lnTo>
                <a:lnTo>
                  <a:pt x="25732" y="510930"/>
                </a:lnTo>
                <a:lnTo>
                  <a:pt x="68083" y="510930"/>
                </a:lnTo>
                <a:lnTo>
                  <a:pt x="68083" y="596069"/>
                </a:lnTo>
                <a:lnTo>
                  <a:pt x="77969" y="643560"/>
                </a:lnTo>
                <a:lnTo>
                  <a:pt x="104822" y="682624"/>
                </a:lnTo>
                <a:lnTo>
                  <a:pt x="144434" y="709107"/>
                </a:lnTo>
                <a:lnTo>
                  <a:pt x="192599" y="718857"/>
                </a:lnTo>
                <a:lnTo>
                  <a:pt x="241593" y="718857"/>
                </a:lnTo>
                <a:lnTo>
                  <a:pt x="241593" y="813028"/>
                </a:lnTo>
                <a:lnTo>
                  <a:pt x="577014" y="813028"/>
                </a:lnTo>
                <a:lnTo>
                  <a:pt x="577014" y="550213"/>
                </a:lnTo>
                <a:lnTo>
                  <a:pt x="610949" y="519800"/>
                </a:lnTo>
                <a:lnTo>
                  <a:pt x="640108" y="484617"/>
                </a:lnTo>
                <a:lnTo>
                  <a:pt x="641054" y="483050"/>
                </a:lnTo>
                <a:lnTo>
                  <a:pt x="586139" y="483050"/>
                </a:lnTo>
                <a:lnTo>
                  <a:pt x="585669" y="460661"/>
                </a:lnTo>
                <a:lnTo>
                  <a:pt x="571809" y="411404"/>
                </a:lnTo>
                <a:lnTo>
                  <a:pt x="537113" y="374190"/>
                </a:lnTo>
                <a:lnTo>
                  <a:pt x="145271" y="374190"/>
                </a:lnTo>
                <a:lnTo>
                  <a:pt x="132120" y="371349"/>
                </a:lnTo>
                <a:lnTo>
                  <a:pt x="120993" y="363745"/>
                </a:lnTo>
                <a:lnTo>
                  <a:pt x="113291" y="352755"/>
                </a:lnTo>
                <a:lnTo>
                  <a:pt x="110412" y="339759"/>
                </a:lnTo>
                <a:lnTo>
                  <a:pt x="113291" y="326333"/>
                </a:lnTo>
                <a:lnTo>
                  <a:pt x="120993" y="315129"/>
                </a:lnTo>
                <a:lnTo>
                  <a:pt x="132120" y="307451"/>
                </a:lnTo>
                <a:lnTo>
                  <a:pt x="145271" y="304601"/>
                </a:lnTo>
                <a:lnTo>
                  <a:pt x="296840" y="304601"/>
                </a:lnTo>
                <a:lnTo>
                  <a:pt x="288498" y="302386"/>
                </a:lnTo>
                <a:lnTo>
                  <a:pt x="216880" y="227316"/>
                </a:lnTo>
                <a:lnTo>
                  <a:pt x="191029" y="153620"/>
                </a:lnTo>
                <a:lnTo>
                  <a:pt x="187600" y="120373"/>
                </a:lnTo>
                <a:lnTo>
                  <a:pt x="228158" y="84492"/>
                </a:lnTo>
                <a:lnTo>
                  <a:pt x="275409" y="57436"/>
                </a:lnTo>
                <a:lnTo>
                  <a:pt x="327951" y="40357"/>
                </a:lnTo>
                <a:lnTo>
                  <a:pt x="384380" y="34408"/>
                </a:lnTo>
                <a:lnTo>
                  <a:pt x="528623" y="34408"/>
                </a:lnTo>
                <a:lnTo>
                  <a:pt x="515381" y="27239"/>
                </a:lnTo>
                <a:lnTo>
                  <a:pt x="474031" y="11989"/>
                </a:lnTo>
                <a:lnTo>
                  <a:pt x="430197" y="2747"/>
                </a:lnTo>
                <a:lnTo>
                  <a:pt x="384380" y="0"/>
                </a:lnTo>
                <a:close/>
              </a:path>
              <a:path w="696595" h="813435">
                <a:moveTo>
                  <a:pt x="528623" y="34408"/>
                </a:moveTo>
                <a:lnTo>
                  <a:pt x="384380" y="34408"/>
                </a:lnTo>
                <a:lnTo>
                  <a:pt x="433293" y="38737"/>
                </a:lnTo>
                <a:lnTo>
                  <a:pt x="479342" y="51219"/>
                </a:lnTo>
                <a:lnTo>
                  <a:pt x="521757" y="71093"/>
                </a:lnTo>
                <a:lnTo>
                  <a:pt x="559764" y="97596"/>
                </a:lnTo>
                <a:lnTo>
                  <a:pt x="592592" y="129968"/>
                </a:lnTo>
                <a:lnTo>
                  <a:pt x="619469" y="167448"/>
                </a:lnTo>
                <a:lnTo>
                  <a:pt x="639623" y="209275"/>
                </a:lnTo>
                <a:lnTo>
                  <a:pt x="652281" y="254687"/>
                </a:lnTo>
                <a:lnTo>
                  <a:pt x="656623" y="302386"/>
                </a:lnTo>
                <a:lnTo>
                  <a:pt x="656615" y="303534"/>
                </a:lnTo>
                <a:lnTo>
                  <a:pt x="651953" y="353313"/>
                </a:lnTo>
                <a:lnTo>
                  <a:pt x="638210" y="400692"/>
                </a:lnTo>
                <a:lnTo>
                  <a:pt x="616065" y="444219"/>
                </a:lnTo>
                <a:lnTo>
                  <a:pt x="586139" y="483050"/>
                </a:lnTo>
                <a:lnTo>
                  <a:pt x="641054" y="483050"/>
                </a:lnTo>
                <a:lnTo>
                  <a:pt x="663870" y="445209"/>
                </a:lnTo>
                <a:lnTo>
                  <a:pt x="681612" y="402120"/>
                </a:lnTo>
                <a:lnTo>
                  <a:pt x="692713" y="355893"/>
                </a:lnTo>
                <a:lnTo>
                  <a:pt x="696551" y="307072"/>
                </a:lnTo>
                <a:lnTo>
                  <a:pt x="693135" y="261292"/>
                </a:lnTo>
                <a:lnTo>
                  <a:pt x="683221" y="217624"/>
                </a:lnTo>
                <a:lnTo>
                  <a:pt x="667312" y="176555"/>
                </a:lnTo>
                <a:lnTo>
                  <a:pt x="645867" y="138520"/>
                </a:lnTo>
                <a:lnTo>
                  <a:pt x="619511" y="104162"/>
                </a:lnTo>
                <a:lnTo>
                  <a:pt x="588623" y="73812"/>
                </a:lnTo>
                <a:lnTo>
                  <a:pt x="553746" y="48009"/>
                </a:lnTo>
                <a:lnTo>
                  <a:pt x="528623" y="34408"/>
                </a:lnTo>
                <a:close/>
              </a:path>
              <a:path w="696595" h="813435">
                <a:moveTo>
                  <a:pt x="296840" y="304601"/>
                </a:moveTo>
                <a:lnTo>
                  <a:pt x="145271" y="304601"/>
                </a:lnTo>
                <a:lnTo>
                  <a:pt x="158904" y="307451"/>
                </a:lnTo>
                <a:lnTo>
                  <a:pt x="170283" y="315129"/>
                </a:lnTo>
                <a:lnTo>
                  <a:pt x="178083" y="326333"/>
                </a:lnTo>
                <a:lnTo>
                  <a:pt x="180978" y="339759"/>
                </a:lnTo>
                <a:lnTo>
                  <a:pt x="178083" y="352755"/>
                </a:lnTo>
                <a:lnTo>
                  <a:pt x="170283" y="363745"/>
                </a:lnTo>
                <a:lnTo>
                  <a:pt x="158904" y="371349"/>
                </a:lnTo>
                <a:lnTo>
                  <a:pt x="145271" y="374190"/>
                </a:lnTo>
                <a:lnTo>
                  <a:pt x="537113" y="374190"/>
                </a:lnTo>
                <a:lnTo>
                  <a:pt x="525886" y="362148"/>
                </a:lnTo>
                <a:lnTo>
                  <a:pt x="429226" y="339759"/>
                </a:lnTo>
                <a:lnTo>
                  <a:pt x="296840" y="304601"/>
                </a:lnTo>
                <a:close/>
              </a:path>
            </a:pathLst>
          </a:custGeom>
          <a:solidFill>
            <a:srgbClr val="D0D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345914" y="5413664"/>
            <a:ext cx="696595" cy="813435"/>
          </a:xfrm>
          <a:custGeom>
            <a:avLst/>
            <a:gdLst/>
            <a:ahLst/>
            <a:cxnLst/>
            <a:rect l="l" t="t" r="r" b="b"/>
            <a:pathLst>
              <a:path w="696595" h="813435">
                <a:moveTo>
                  <a:pt x="696552" y="307072"/>
                </a:moveTo>
                <a:lnTo>
                  <a:pt x="692713" y="355893"/>
                </a:lnTo>
                <a:lnTo>
                  <a:pt x="681612" y="402120"/>
                </a:lnTo>
                <a:lnTo>
                  <a:pt x="663870" y="445210"/>
                </a:lnTo>
                <a:lnTo>
                  <a:pt x="640108" y="484618"/>
                </a:lnTo>
                <a:lnTo>
                  <a:pt x="610949" y="519800"/>
                </a:lnTo>
                <a:lnTo>
                  <a:pt x="577013" y="550213"/>
                </a:lnTo>
                <a:lnTo>
                  <a:pt x="577013" y="813029"/>
                </a:lnTo>
                <a:lnTo>
                  <a:pt x="241592" y="813029"/>
                </a:lnTo>
                <a:lnTo>
                  <a:pt x="241592" y="718858"/>
                </a:lnTo>
                <a:lnTo>
                  <a:pt x="192598" y="718858"/>
                </a:lnTo>
                <a:lnTo>
                  <a:pt x="144434" y="709108"/>
                </a:lnTo>
                <a:lnTo>
                  <a:pt x="104822" y="682624"/>
                </a:lnTo>
                <a:lnTo>
                  <a:pt x="77969" y="643561"/>
                </a:lnTo>
                <a:lnTo>
                  <a:pt x="68083" y="596069"/>
                </a:lnTo>
                <a:lnTo>
                  <a:pt x="68083" y="510931"/>
                </a:lnTo>
                <a:lnTo>
                  <a:pt x="25732" y="510931"/>
                </a:lnTo>
                <a:lnTo>
                  <a:pt x="16111" y="508919"/>
                </a:lnTo>
                <a:lnTo>
                  <a:pt x="7888" y="503449"/>
                </a:lnTo>
                <a:lnTo>
                  <a:pt x="2154" y="495368"/>
                </a:lnTo>
                <a:lnTo>
                  <a:pt x="0" y="485521"/>
                </a:lnTo>
                <a:lnTo>
                  <a:pt x="0" y="480602"/>
                </a:lnTo>
                <a:lnTo>
                  <a:pt x="0" y="478143"/>
                </a:lnTo>
                <a:lnTo>
                  <a:pt x="2482" y="475717"/>
                </a:lnTo>
                <a:lnTo>
                  <a:pt x="68083" y="314428"/>
                </a:lnTo>
                <a:lnTo>
                  <a:pt x="69355" y="303534"/>
                </a:lnTo>
                <a:lnTo>
                  <a:pt x="72650" y="277668"/>
                </a:lnTo>
                <a:lnTo>
                  <a:pt x="82208" y="221900"/>
                </a:lnTo>
                <a:lnTo>
                  <a:pt x="97433" y="179217"/>
                </a:lnTo>
                <a:lnTo>
                  <a:pt x="121242" y="138521"/>
                </a:lnTo>
                <a:lnTo>
                  <a:pt x="152563" y="100952"/>
                </a:lnTo>
                <a:lnTo>
                  <a:pt x="190325" y="67654"/>
                </a:lnTo>
                <a:lnTo>
                  <a:pt x="233459" y="39768"/>
                </a:lnTo>
                <a:lnTo>
                  <a:pt x="280894" y="18436"/>
                </a:lnTo>
                <a:lnTo>
                  <a:pt x="331558" y="4799"/>
                </a:lnTo>
                <a:lnTo>
                  <a:pt x="384381" y="0"/>
                </a:lnTo>
                <a:lnTo>
                  <a:pt x="430197" y="2747"/>
                </a:lnTo>
                <a:lnTo>
                  <a:pt x="474032" y="11989"/>
                </a:lnTo>
                <a:lnTo>
                  <a:pt x="515382" y="27239"/>
                </a:lnTo>
                <a:lnTo>
                  <a:pt x="553746" y="48009"/>
                </a:lnTo>
                <a:lnTo>
                  <a:pt x="588623" y="73812"/>
                </a:lnTo>
                <a:lnTo>
                  <a:pt x="619511" y="104163"/>
                </a:lnTo>
                <a:lnTo>
                  <a:pt x="645908" y="138573"/>
                </a:lnTo>
                <a:lnTo>
                  <a:pt x="667312" y="176556"/>
                </a:lnTo>
                <a:lnTo>
                  <a:pt x="683222" y="217624"/>
                </a:lnTo>
                <a:lnTo>
                  <a:pt x="693135" y="261292"/>
                </a:lnTo>
                <a:lnTo>
                  <a:pt x="696552" y="307072"/>
                </a:lnTo>
                <a:close/>
              </a:path>
            </a:pathLst>
          </a:custGeom>
          <a:ln w="26947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56326" y="5718266"/>
            <a:ext cx="71120" cy="69850"/>
          </a:xfrm>
          <a:custGeom>
            <a:avLst/>
            <a:gdLst/>
            <a:ahLst/>
            <a:cxnLst/>
            <a:rect l="l" t="t" r="r" b="b"/>
            <a:pathLst>
              <a:path w="71120" h="69850">
                <a:moveTo>
                  <a:pt x="70566" y="35157"/>
                </a:moveTo>
                <a:lnTo>
                  <a:pt x="67671" y="21731"/>
                </a:lnTo>
                <a:lnTo>
                  <a:pt x="59871" y="10527"/>
                </a:lnTo>
                <a:lnTo>
                  <a:pt x="48491" y="2849"/>
                </a:lnTo>
                <a:lnTo>
                  <a:pt x="34858" y="0"/>
                </a:lnTo>
                <a:lnTo>
                  <a:pt x="21707" y="2849"/>
                </a:lnTo>
                <a:lnTo>
                  <a:pt x="10580" y="10527"/>
                </a:lnTo>
                <a:lnTo>
                  <a:pt x="2878" y="21731"/>
                </a:lnTo>
                <a:lnTo>
                  <a:pt x="0" y="35157"/>
                </a:lnTo>
                <a:lnTo>
                  <a:pt x="2878" y="48153"/>
                </a:lnTo>
                <a:lnTo>
                  <a:pt x="10580" y="59143"/>
                </a:lnTo>
                <a:lnTo>
                  <a:pt x="21707" y="66747"/>
                </a:lnTo>
                <a:lnTo>
                  <a:pt x="34858" y="69588"/>
                </a:lnTo>
                <a:lnTo>
                  <a:pt x="48491" y="66747"/>
                </a:lnTo>
                <a:lnTo>
                  <a:pt x="59871" y="59143"/>
                </a:lnTo>
                <a:lnTo>
                  <a:pt x="67671" y="48153"/>
                </a:lnTo>
                <a:lnTo>
                  <a:pt x="70566" y="35157"/>
                </a:lnTo>
                <a:close/>
              </a:path>
            </a:pathLst>
          </a:custGeom>
          <a:ln w="26946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533514" y="5448072"/>
            <a:ext cx="469265" cy="448945"/>
          </a:xfrm>
          <a:custGeom>
            <a:avLst/>
            <a:gdLst/>
            <a:ahLst/>
            <a:cxnLst/>
            <a:rect l="l" t="t" r="r" b="b"/>
            <a:pathLst>
              <a:path w="469265" h="448945">
                <a:moveTo>
                  <a:pt x="469072" y="268516"/>
                </a:moveTo>
                <a:lnTo>
                  <a:pt x="464681" y="220279"/>
                </a:lnTo>
                <a:lnTo>
                  <a:pt x="452023" y="174867"/>
                </a:lnTo>
                <a:lnTo>
                  <a:pt x="431869" y="133040"/>
                </a:lnTo>
                <a:lnTo>
                  <a:pt x="404992" y="95560"/>
                </a:lnTo>
                <a:lnTo>
                  <a:pt x="372164" y="63188"/>
                </a:lnTo>
                <a:lnTo>
                  <a:pt x="334157" y="36684"/>
                </a:lnTo>
                <a:lnTo>
                  <a:pt x="291742" y="16811"/>
                </a:lnTo>
                <a:lnTo>
                  <a:pt x="245693" y="4329"/>
                </a:lnTo>
                <a:lnTo>
                  <a:pt x="196781" y="0"/>
                </a:lnTo>
                <a:lnTo>
                  <a:pt x="140351" y="5949"/>
                </a:lnTo>
                <a:lnTo>
                  <a:pt x="87809" y="23028"/>
                </a:lnTo>
                <a:lnTo>
                  <a:pt x="40558" y="50084"/>
                </a:lnTo>
                <a:lnTo>
                  <a:pt x="0" y="85965"/>
                </a:lnTo>
                <a:lnTo>
                  <a:pt x="3429" y="119213"/>
                </a:lnTo>
                <a:lnTo>
                  <a:pt x="29280" y="192908"/>
                </a:lnTo>
                <a:lnTo>
                  <a:pt x="100898" y="267978"/>
                </a:lnTo>
                <a:lnTo>
                  <a:pt x="241626" y="305351"/>
                </a:lnTo>
                <a:lnTo>
                  <a:pt x="338286" y="327740"/>
                </a:lnTo>
                <a:lnTo>
                  <a:pt x="384209" y="376996"/>
                </a:lnTo>
                <a:lnTo>
                  <a:pt x="398069" y="426253"/>
                </a:lnTo>
                <a:lnTo>
                  <a:pt x="398539" y="448642"/>
                </a:lnTo>
                <a:lnTo>
                  <a:pt x="428465" y="409811"/>
                </a:lnTo>
                <a:lnTo>
                  <a:pt x="450610" y="366284"/>
                </a:lnTo>
                <a:lnTo>
                  <a:pt x="464353" y="318905"/>
                </a:lnTo>
                <a:lnTo>
                  <a:pt x="469072" y="268516"/>
                </a:lnTo>
                <a:close/>
              </a:path>
            </a:pathLst>
          </a:custGeom>
          <a:ln w="26946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439683" y="5291659"/>
            <a:ext cx="241300" cy="271145"/>
          </a:xfrm>
          <a:custGeom>
            <a:avLst/>
            <a:gdLst/>
            <a:ahLst/>
            <a:cxnLst/>
            <a:rect l="l" t="t" r="r" b="b"/>
            <a:pathLst>
              <a:path w="241300" h="271145">
                <a:moveTo>
                  <a:pt x="94554" y="0"/>
                </a:moveTo>
                <a:lnTo>
                  <a:pt x="0" y="48840"/>
                </a:lnTo>
                <a:lnTo>
                  <a:pt x="84858" y="105215"/>
                </a:lnTo>
                <a:lnTo>
                  <a:pt x="56038" y="121794"/>
                </a:lnTo>
                <a:lnTo>
                  <a:pt x="136424" y="175520"/>
                </a:lnTo>
                <a:lnTo>
                  <a:pt x="111753" y="187157"/>
                </a:lnTo>
                <a:lnTo>
                  <a:pt x="241112" y="271021"/>
                </a:lnTo>
                <a:lnTo>
                  <a:pt x="164819" y="161613"/>
                </a:lnTo>
                <a:lnTo>
                  <a:pt x="185049" y="150658"/>
                </a:lnTo>
                <a:lnTo>
                  <a:pt x="123339" y="85305"/>
                </a:lnTo>
                <a:lnTo>
                  <a:pt x="143548" y="76307"/>
                </a:lnTo>
                <a:lnTo>
                  <a:pt x="94554" y="0"/>
                </a:lnTo>
                <a:close/>
              </a:path>
            </a:pathLst>
          </a:custGeom>
          <a:solidFill>
            <a:srgbClr val="0203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637353" y="5257375"/>
            <a:ext cx="121920" cy="299720"/>
          </a:xfrm>
          <a:custGeom>
            <a:avLst/>
            <a:gdLst/>
            <a:ahLst/>
            <a:cxnLst/>
            <a:rect l="l" t="t" r="r" b="b"/>
            <a:pathLst>
              <a:path w="121920" h="299720">
                <a:moveTo>
                  <a:pt x="39890" y="166900"/>
                </a:moveTo>
                <a:lnTo>
                  <a:pt x="119414" y="299124"/>
                </a:lnTo>
                <a:lnTo>
                  <a:pt x="98793" y="173216"/>
                </a:lnTo>
                <a:lnTo>
                  <a:pt x="121272" y="173216"/>
                </a:lnTo>
                <a:lnTo>
                  <a:pt x="120242" y="170018"/>
                </a:lnTo>
                <a:lnTo>
                  <a:pt x="67166" y="170018"/>
                </a:lnTo>
                <a:lnTo>
                  <a:pt x="39890" y="166900"/>
                </a:lnTo>
                <a:close/>
              </a:path>
              <a:path w="121920" h="299720">
                <a:moveTo>
                  <a:pt x="121272" y="173216"/>
                </a:moveTo>
                <a:lnTo>
                  <a:pt x="98793" y="173216"/>
                </a:lnTo>
                <a:lnTo>
                  <a:pt x="121729" y="174636"/>
                </a:lnTo>
                <a:lnTo>
                  <a:pt x="121272" y="173216"/>
                </a:lnTo>
                <a:close/>
              </a:path>
              <a:path w="121920" h="299720">
                <a:moveTo>
                  <a:pt x="18451" y="86579"/>
                </a:moveTo>
                <a:lnTo>
                  <a:pt x="67166" y="170018"/>
                </a:lnTo>
                <a:lnTo>
                  <a:pt x="120242" y="170018"/>
                </a:lnTo>
                <a:lnTo>
                  <a:pt x="94889" y="91263"/>
                </a:lnTo>
                <a:lnTo>
                  <a:pt x="116624" y="91263"/>
                </a:lnTo>
                <a:lnTo>
                  <a:pt x="116197" y="87820"/>
                </a:lnTo>
                <a:lnTo>
                  <a:pt x="51598" y="87820"/>
                </a:lnTo>
                <a:lnTo>
                  <a:pt x="18451" y="86579"/>
                </a:lnTo>
                <a:close/>
              </a:path>
              <a:path w="121920" h="299720">
                <a:moveTo>
                  <a:pt x="116624" y="91263"/>
                </a:moveTo>
                <a:lnTo>
                  <a:pt x="94889" y="91263"/>
                </a:lnTo>
                <a:lnTo>
                  <a:pt x="116998" y="94282"/>
                </a:lnTo>
                <a:lnTo>
                  <a:pt x="116624" y="91263"/>
                </a:lnTo>
                <a:close/>
              </a:path>
              <a:path w="121920" h="299720">
                <a:moveTo>
                  <a:pt x="0" y="0"/>
                </a:moveTo>
                <a:lnTo>
                  <a:pt x="51598" y="87820"/>
                </a:lnTo>
                <a:lnTo>
                  <a:pt x="116197" y="87820"/>
                </a:lnTo>
                <a:lnTo>
                  <a:pt x="106375" y="8585"/>
                </a:lnTo>
                <a:lnTo>
                  <a:pt x="0" y="0"/>
                </a:lnTo>
                <a:close/>
              </a:path>
            </a:pathLst>
          </a:custGeom>
          <a:solidFill>
            <a:srgbClr val="0203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90724" y="5413664"/>
            <a:ext cx="696595" cy="840740"/>
          </a:xfrm>
          <a:custGeom>
            <a:avLst/>
            <a:gdLst/>
            <a:ahLst/>
            <a:cxnLst/>
            <a:rect l="l" t="t" r="r" b="b"/>
            <a:pathLst>
              <a:path w="696595" h="840739">
                <a:moveTo>
                  <a:pt x="384359" y="0"/>
                </a:moveTo>
                <a:lnTo>
                  <a:pt x="337324" y="3935"/>
                </a:lnTo>
                <a:lnTo>
                  <a:pt x="291901" y="15188"/>
                </a:lnTo>
                <a:lnTo>
                  <a:pt x="248839" y="32931"/>
                </a:lnTo>
                <a:lnTo>
                  <a:pt x="208892" y="56335"/>
                </a:lnTo>
                <a:lnTo>
                  <a:pt x="172811" y="84571"/>
                </a:lnTo>
                <a:lnTo>
                  <a:pt x="141350" y="116813"/>
                </a:lnTo>
                <a:lnTo>
                  <a:pt x="115259" y="152230"/>
                </a:lnTo>
                <a:lnTo>
                  <a:pt x="95291" y="189994"/>
                </a:lnTo>
                <a:lnTo>
                  <a:pt x="82198" y="229278"/>
                </a:lnTo>
                <a:lnTo>
                  <a:pt x="72644" y="286950"/>
                </a:lnTo>
                <a:lnTo>
                  <a:pt x="68073" y="324936"/>
                </a:lnTo>
                <a:lnTo>
                  <a:pt x="2471" y="491568"/>
                </a:lnTo>
                <a:lnTo>
                  <a:pt x="0" y="494095"/>
                </a:lnTo>
                <a:lnTo>
                  <a:pt x="0" y="501696"/>
                </a:lnTo>
                <a:lnTo>
                  <a:pt x="2152" y="511880"/>
                </a:lnTo>
                <a:lnTo>
                  <a:pt x="7884" y="520235"/>
                </a:lnTo>
                <a:lnTo>
                  <a:pt x="16107" y="525888"/>
                </a:lnTo>
                <a:lnTo>
                  <a:pt x="25732" y="527967"/>
                </a:lnTo>
                <a:lnTo>
                  <a:pt x="68073" y="527967"/>
                </a:lnTo>
                <a:lnTo>
                  <a:pt x="68073" y="615933"/>
                </a:lnTo>
                <a:lnTo>
                  <a:pt x="77957" y="665021"/>
                </a:lnTo>
                <a:lnTo>
                  <a:pt x="104808" y="705405"/>
                </a:lnTo>
                <a:lnTo>
                  <a:pt x="144423" y="732787"/>
                </a:lnTo>
                <a:lnTo>
                  <a:pt x="192599" y="742870"/>
                </a:lnTo>
                <a:lnTo>
                  <a:pt x="241593" y="742870"/>
                </a:lnTo>
                <a:lnTo>
                  <a:pt x="241593" y="840126"/>
                </a:lnTo>
                <a:lnTo>
                  <a:pt x="577002" y="840126"/>
                </a:lnTo>
                <a:lnTo>
                  <a:pt x="577002" y="568591"/>
                </a:lnTo>
                <a:lnTo>
                  <a:pt x="610937" y="537151"/>
                </a:lnTo>
                <a:lnTo>
                  <a:pt x="640094" y="500781"/>
                </a:lnTo>
                <a:lnTo>
                  <a:pt x="641047" y="499148"/>
                </a:lnTo>
                <a:lnTo>
                  <a:pt x="586127" y="499148"/>
                </a:lnTo>
                <a:lnTo>
                  <a:pt x="585659" y="476016"/>
                </a:lnTo>
                <a:lnTo>
                  <a:pt x="571802" y="425127"/>
                </a:lnTo>
                <a:lnTo>
                  <a:pt x="537085" y="386654"/>
                </a:lnTo>
                <a:lnTo>
                  <a:pt x="145271" y="386654"/>
                </a:lnTo>
                <a:lnTo>
                  <a:pt x="132125" y="383722"/>
                </a:lnTo>
                <a:lnTo>
                  <a:pt x="120997" y="375872"/>
                </a:lnTo>
                <a:lnTo>
                  <a:pt x="113292" y="364526"/>
                </a:lnTo>
                <a:lnTo>
                  <a:pt x="110412" y="351105"/>
                </a:lnTo>
                <a:lnTo>
                  <a:pt x="113292" y="337229"/>
                </a:lnTo>
                <a:lnTo>
                  <a:pt x="120997" y="325643"/>
                </a:lnTo>
                <a:lnTo>
                  <a:pt x="132125" y="317700"/>
                </a:lnTo>
                <a:lnTo>
                  <a:pt x="145271" y="314752"/>
                </a:lnTo>
                <a:lnTo>
                  <a:pt x="296734" y="314752"/>
                </a:lnTo>
                <a:lnTo>
                  <a:pt x="288484" y="312488"/>
                </a:lnTo>
                <a:lnTo>
                  <a:pt x="216871" y="234908"/>
                </a:lnTo>
                <a:lnTo>
                  <a:pt x="191026" y="158748"/>
                </a:lnTo>
                <a:lnTo>
                  <a:pt x="187600" y="124387"/>
                </a:lnTo>
                <a:lnTo>
                  <a:pt x="219473" y="94010"/>
                </a:lnTo>
                <a:lnTo>
                  <a:pt x="255806" y="69336"/>
                </a:lnTo>
                <a:lnTo>
                  <a:pt x="295878" y="50966"/>
                </a:lnTo>
                <a:lnTo>
                  <a:pt x="338969" y="39503"/>
                </a:lnTo>
                <a:lnTo>
                  <a:pt x="384359" y="35548"/>
                </a:lnTo>
                <a:lnTo>
                  <a:pt x="528587" y="35548"/>
                </a:lnTo>
                <a:lnTo>
                  <a:pt x="515364" y="28151"/>
                </a:lnTo>
                <a:lnTo>
                  <a:pt x="474013" y="12391"/>
                </a:lnTo>
                <a:lnTo>
                  <a:pt x="430178" y="2840"/>
                </a:lnTo>
                <a:lnTo>
                  <a:pt x="384359" y="0"/>
                </a:lnTo>
                <a:close/>
              </a:path>
              <a:path w="696595" h="840739">
                <a:moveTo>
                  <a:pt x="528587" y="35548"/>
                </a:moveTo>
                <a:lnTo>
                  <a:pt x="384359" y="35548"/>
                </a:lnTo>
                <a:lnTo>
                  <a:pt x="433278" y="40023"/>
                </a:lnTo>
                <a:lnTo>
                  <a:pt x="479332" y="52923"/>
                </a:lnTo>
                <a:lnTo>
                  <a:pt x="521750" y="73463"/>
                </a:lnTo>
                <a:lnTo>
                  <a:pt x="559760" y="100854"/>
                </a:lnTo>
                <a:lnTo>
                  <a:pt x="592590" y="134310"/>
                </a:lnTo>
                <a:lnTo>
                  <a:pt x="619468" y="173045"/>
                </a:lnTo>
                <a:lnTo>
                  <a:pt x="639622" y="216271"/>
                </a:lnTo>
                <a:lnTo>
                  <a:pt x="652281" y="263203"/>
                </a:lnTo>
                <a:lnTo>
                  <a:pt x="656622" y="312488"/>
                </a:lnTo>
                <a:lnTo>
                  <a:pt x="656615" y="313680"/>
                </a:lnTo>
                <a:lnTo>
                  <a:pt x="651954" y="365089"/>
                </a:lnTo>
                <a:lnTo>
                  <a:pt x="638213" y="414036"/>
                </a:lnTo>
                <a:lnTo>
                  <a:pt x="616065" y="459014"/>
                </a:lnTo>
                <a:lnTo>
                  <a:pt x="586127" y="499148"/>
                </a:lnTo>
                <a:lnTo>
                  <a:pt x="641047" y="499148"/>
                </a:lnTo>
                <a:lnTo>
                  <a:pt x="663853" y="460044"/>
                </a:lnTo>
                <a:lnTo>
                  <a:pt x="681593" y="415506"/>
                </a:lnTo>
                <a:lnTo>
                  <a:pt x="692692" y="367733"/>
                </a:lnTo>
                <a:lnTo>
                  <a:pt x="696530" y="317289"/>
                </a:lnTo>
                <a:lnTo>
                  <a:pt x="693114" y="269992"/>
                </a:lnTo>
                <a:lnTo>
                  <a:pt x="683201" y="224875"/>
                </a:lnTo>
                <a:lnTo>
                  <a:pt x="667292" y="182442"/>
                </a:lnTo>
                <a:lnTo>
                  <a:pt x="645888" y="143196"/>
                </a:lnTo>
                <a:lnTo>
                  <a:pt x="619492" y="107640"/>
                </a:lnTo>
                <a:lnTo>
                  <a:pt x="588605" y="76278"/>
                </a:lnTo>
                <a:lnTo>
                  <a:pt x="553729" y="49614"/>
                </a:lnTo>
                <a:lnTo>
                  <a:pt x="528587" y="35548"/>
                </a:lnTo>
                <a:close/>
              </a:path>
              <a:path w="696595" h="840739">
                <a:moveTo>
                  <a:pt x="296734" y="314752"/>
                </a:moveTo>
                <a:lnTo>
                  <a:pt x="145271" y="314752"/>
                </a:lnTo>
                <a:lnTo>
                  <a:pt x="158905" y="317700"/>
                </a:lnTo>
                <a:lnTo>
                  <a:pt x="170277" y="325643"/>
                </a:lnTo>
                <a:lnTo>
                  <a:pt x="178067" y="337229"/>
                </a:lnTo>
                <a:lnTo>
                  <a:pt x="180957" y="351105"/>
                </a:lnTo>
                <a:lnTo>
                  <a:pt x="178067" y="364526"/>
                </a:lnTo>
                <a:lnTo>
                  <a:pt x="170277" y="375872"/>
                </a:lnTo>
                <a:lnTo>
                  <a:pt x="158905" y="383722"/>
                </a:lnTo>
                <a:lnTo>
                  <a:pt x="145271" y="386654"/>
                </a:lnTo>
                <a:lnTo>
                  <a:pt x="537085" y="386654"/>
                </a:lnTo>
                <a:lnTo>
                  <a:pt x="525880" y="374237"/>
                </a:lnTo>
                <a:lnTo>
                  <a:pt x="429215" y="351105"/>
                </a:lnTo>
                <a:lnTo>
                  <a:pt x="296734" y="314752"/>
                </a:lnTo>
                <a:close/>
              </a:path>
            </a:pathLst>
          </a:custGeom>
          <a:solidFill>
            <a:srgbClr val="D0D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90724" y="5413664"/>
            <a:ext cx="696595" cy="840740"/>
          </a:xfrm>
          <a:custGeom>
            <a:avLst/>
            <a:gdLst/>
            <a:ahLst/>
            <a:cxnLst/>
            <a:rect l="l" t="t" r="r" b="b"/>
            <a:pathLst>
              <a:path w="696595" h="840739">
                <a:moveTo>
                  <a:pt x="696529" y="317290"/>
                </a:moveTo>
                <a:lnTo>
                  <a:pt x="692692" y="367734"/>
                </a:lnTo>
                <a:lnTo>
                  <a:pt x="681592" y="415507"/>
                </a:lnTo>
                <a:lnTo>
                  <a:pt x="663853" y="460044"/>
                </a:lnTo>
                <a:lnTo>
                  <a:pt x="640094" y="500781"/>
                </a:lnTo>
                <a:lnTo>
                  <a:pt x="610937" y="537152"/>
                </a:lnTo>
                <a:lnTo>
                  <a:pt x="577002" y="568591"/>
                </a:lnTo>
                <a:lnTo>
                  <a:pt x="577002" y="840127"/>
                </a:lnTo>
                <a:lnTo>
                  <a:pt x="241592" y="840127"/>
                </a:lnTo>
                <a:lnTo>
                  <a:pt x="241592" y="742870"/>
                </a:lnTo>
                <a:lnTo>
                  <a:pt x="192598" y="742870"/>
                </a:lnTo>
                <a:lnTo>
                  <a:pt x="144423" y="732788"/>
                </a:lnTo>
                <a:lnTo>
                  <a:pt x="104808" y="705406"/>
                </a:lnTo>
                <a:lnTo>
                  <a:pt x="77957" y="665022"/>
                </a:lnTo>
                <a:lnTo>
                  <a:pt x="68072" y="615934"/>
                </a:lnTo>
                <a:lnTo>
                  <a:pt x="68072" y="527967"/>
                </a:lnTo>
                <a:lnTo>
                  <a:pt x="25732" y="527967"/>
                </a:lnTo>
                <a:lnTo>
                  <a:pt x="16107" y="525889"/>
                </a:lnTo>
                <a:lnTo>
                  <a:pt x="7884" y="520236"/>
                </a:lnTo>
                <a:lnTo>
                  <a:pt x="2152" y="511881"/>
                </a:lnTo>
                <a:lnTo>
                  <a:pt x="0" y="501697"/>
                </a:lnTo>
                <a:lnTo>
                  <a:pt x="0" y="496610"/>
                </a:lnTo>
                <a:lnTo>
                  <a:pt x="0" y="494095"/>
                </a:lnTo>
                <a:lnTo>
                  <a:pt x="2471" y="491569"/>
                </a:lnTo>
                <a:lnTo>
                  <a:pt x="68072" y="324936"/>
                </a:lnTo>
                <a:lnTo>
                  <a:pt x="69345" y="313681"/>
                </a:lnTo>
                <a:lnTo>
                  <a:pt x="72643" y="286950"/>
                </a:lnTo>
                <a:lnTo>
                  <a:pt x="82197" y="229279"/>
                </a:lnTo>
                <a:lnTo>
                  <a:pt x="95290" y="189995"/>
                </a:lnTo>
                <a:lnTo>
                  <a:pt x="115258" y="152230"/>
                </a:lnTo>
                <a:lnTo>
                  <a:pt x="141349" y="116813"/>
                </a:lnTo>
                <a:lnTo>
                  <a:pt x="172811" y="84572"/>
                </a:lnTo>
                <a:lnTo>
                  <a:pt x="208892" y="56335"/>
                </a:lnTo>
                <a:lnTo>
                  <a:pt x="248839" y="32931"/>
                </a:lnTo>
                <a:lnTo>
                  <a:pt x="291900" y="15188"/>
                </a:lnTo>
                <a:lnTo>
                  <a:pt x="337324" y="3935"/>
                </a:lnTo>
                <a:lnTo>
                  <a:pt x="384358" y="0"/>
                </a:lnTo>
                <a:lnTo>
                  <a:pt x="430178" y="2840"/>
                </a:lnTo>
                <a:lnTo>
                  <a:pt x="474013" y="12391"/>
                </a:lnTo>
                <a:lnTo>
                  <a:pt x="515364" y="28151"/>
                </a:lnTo>
                <a:lnTo>
                  <a:pt x="553729" y="49614"/>
                </a:lnTo>
                <a:lnTo>
                  <a:pt x="588605" y="76279"/>
                </a:lnTo>
                <a:lnTo>
                  <a:pt x="619492" y="107640"/>
                </a:lnTo>
                <a:lnTo>
                  <a:pt x="645888" y="143196"/>
                </a:lnTo>
                <a:lnTo>
                  <a:pt x="667291" y="182442"/>
                </a:lnTo>
                <a:lnTo>
                  <a:pt x="683200" y="224876"/>
                </a:lnTo>
                <a:lnTo>
                  <a:pt x="693113" y="269993"/>
                </a:lnTo>
                <a:lnTo>
                  <a:pt x="696529" y="317290"/>
                </a:lnTo>
                <a:close/>
              </a:path>
            </a:pathLst>
          </a:custGeom>
          <a:ln w="26947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01137" y="5728417"/>
            <a:ext cx="71120" cy="72390"/>
          </a:xfrm>
          <a:custGeom>
            <a:avLst/>
            <a:gdLst/>
            <a:ahLst/>
            <a:cxnLst/>
            <a:rect l="l" t="t" r="r" b="b"/>
            <a:pathLst>
              <a:path w="71120" h="72389">
                <a:moveTo>
                  <a:pt x="70544" y="36353"/>
                </a:moveTo>
                <a:lnTo>
                  <a:pt x="67649" y="22476"/>
                </a:lnTo>
                <a:lnTo>
                  <a:pt x="59851" y="10891"/>
                </a:lnTo>
                <a:lnTo>
                  <a:pt x="48478" y="2948"/>
                </a:lnTo>
                <a:lnTo>
                  <a:pt x="34858" y="0"/>
                </a:lnTo>
                <a:lnTo>
                  <a:pt x="21712" y="2948"/>
                </a:lnTo>
                <a:lnTo>
                  <a:pt x="10584" y="10891"/>
                </a:lnTo>
                <a:lnTo>
                  <a:pt x="2880" y="22476"/>
                </a:lnTo>
                <a:lnTo>
                  <a:pt x="0" y="36353"/>
                </a:lnTo>
                <a:lnTo>
                  <a:pt x="2880" y="49774"/>
                </a:lnTo>
                <a:lnTo>
                  <a:pt x="10584" y="61120"/>
                </a:lnTo>
                <a:lnTo>
                  <a:pt x="21712" y="68970"/>
                </a:lnTo>
                <a:lnTo>
                  <a:pt x="34858" y="71902"/>
                </a:lnTo>
                <a:lnTo>
                  <a:pt x="48478" y="68970"/>
                </a:lnTo>
                <a:lnTo>
                  <a:pt x="59851" y="61120"/>
                </a:lnTo>
                <a:lnTo>
                  <a:pt x="67649" y="49774"/>
                </a:lnTo>
                <a:lnTo>
                  <a:pt x="70544" y="36353"/>
                </a:lnTo>
                <a:close/>
              </a:path>
            </a:pathLst>
          </a:custGeom>
          <a:ln w="26946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78325" y="5449213"/>
            <a:ext cx="469265" cy="464184"/>
          </a:xfrm>
          <a:custGeom>
            <a:avLst/>
            <a:gdLst/>
            <a:ahLst/>
            <a:cxnLst/>
            <a:rect l="l" t="t" r="r" b="b"/>
            <a:pathLst>
              <a:path w="469265" h="464185">
                <a:moveTo>
                  <a:pt x="469072" y="277504"/>
                </a:moveTo>
                <a:lnTo>
                  <a:pt x="464681" y="227655"/>
                </a:lnTo>
                <a:lnTo>
                  <a:pt x="452022" y="180723"/>
                </a:lnTo>
                <a:lnTo>
                  <a:pt x="431868" y="137497"/>
                </a:lnTo>
                <a:lnTo>
                  <a:pt x="404990" y="98762"/>
                </a:lnTo>
                <a:lnTo>
                  <a:pt x="372160" y="65305"/>
                </a:lnTo>
                <a:lnTo>
                  <a:pt x="334150" y="37914"/>
                </a:lnTo>
                <a:lnTo>
                  <a:pt x="291732" y="17375"/>
                </a:lnTo>
                <a:lnTo>
                  <a:pt x="245677" y="4474"/>
                </a:lnTo>
                <a:lnTo>
                  <a:pt x="196759" y="0"/>
                </a:lnTo>
                <a:lnTo>
                  <a:pt x="151369" y="3954"/>
                </a:lnTo>
                <a:lnTo>
                  <a:pt x="108278" y="15418"/>
                </a:lnTo>
                <a:lnTo>
                  <a:pt x="68205" y="33788"/>
                </a:lnTo>
                <a:lnTo>
                  <a:pt x="31873" y="58462"/>
                </a:lnTo>
                <a:lnTo>
                  <a:pt x="0" y="88838"/>
                </a:lnTo>
                <a:lnTo>
                  <a:pt x="3426" y="123199"/>
                </a:lnTo>
                <a:lnTo>
                  <a:pt x="29270" y="199360"/>
                </a:lnTo>
                <a:lnTo>
                  <a:pt x="100884" y="276940"/>
                </a:lnTo>
                <a:lnTo>
                  <a:pt x="241615" y="315557"/>
                </a:lnTo>
                <a:lnTo>
                  <a:pt x="338279" y="338689"/>
                </a:lnTo>
                <a:lnTo>
                  <a:pt x="384202" y="389578"/>
                </a:lnTo>
                <a:lnTo>
                  <a:pt x="398059" y="440468"/>
                </a:lnTo>
                <a:lnTo>
                  <a:pt x="398528" y="463599"/>
                </a:lnTo>
                <a:lnTo>
                  <a:pt x="428465" y="423466"/>
                </a:lnTo>
                <a:lnTo>
                  <a:pt x="450613" y="378487"/>
                </a:lnTo>
                <a:lnTo>
                  <a:pt x="464354" y="329541"/>
                </a:lnTo>
                <a:lnTo>
                  <a:pt x="469072" y="277504"/>
                </a:lnTo>
                <a:close/>
              </a:path>
            </a:pathLst>
          </a:custGeom>
          <a:ln w="26946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282715" y="5963128"/>
            <a:ext cx="123189" cy="195580"/>
          </a:xfrm>
          <a:custGeom>
            <a:avLst/>
            <a:gdLst/>
            <a:ahLst/>
            <a:cxnLst/>
            <a:rect l="l" t="t" r="r" b="b"/>
            <a:pathLst>
              <a:path w="123190" h="195579">
                <a:moveTo>
                  <a:pt x="83875" y="0"/>
                </a:moveTo>
                <a:lnTo>
                  <a:pt x="37592" y="41336"/>
                </a:lnTo>
                <a:lnTo>
                  <a:pt x="17425" y="77735"/>
                </a:lnTo>
                <a:lnTo>
                  <a:pt x="4190" y="117231"/>
                </a:lnTo>
                <a:lnTo>
                  <a:pt x="0" y="152471"/>
                </a:lnTo>
                <a:lnTo>
                  <a:pt x="4813" y="179672"/>
                </a:lnTo>
                <a:lnTo>
                  <a:pt x="18589" y="195046"/>
                </a:lnTo>
                <a:lnTo>
                  <a:pt x="39100" y="195110"/>
                </a:lnTo>
                <a:lnTo>
                  <a:pt x="62298" y="180521"/>
                </a:lnTo>
                <a:lnTo>
                  <a:pt x="85385" y="153785"/>
                </a:lnTo>
                <a:lnTo>
                  <a:pt x="105562" y="117409"/>
                </a:lnTo>
                <a:lnTo>
                  <a:pt x="118784" y="77904"/>
                </a:lnTo>
                <a:lnTo>
                  <a:pt x="122974" y="42654"/>
                </a:lnTo>
                <a:lnTo>
                  <a:pt x="118165" y="15442"/>
                </a:lnTo>
                <a:lnTo>
                  <a:pt x="104387" y="53"/>
                </a:lnTo>
                <a:lnTo>
                  <a:pt x="83875" y="0"/>
                </a:lnTo>
                <a:close/>
              </a:path>
            </a:pathLst>
          </a:custGeom>
          <a:solidFill>
            <a:srgbClr val="D0D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282715" y="5963128"/>
            <a:ext cx="123189" cy="195580"/>
          </a:xfrm>
          <a:custGeom>
            <a:avLst/>
            <a:gdLst/>
            <a:ahLst/>
            <a:cxnLst/>
            <a:rect l="l" t="t" r="r" b="b"/>
            <a:pathLst>
              <a:path w="123190" h="195579">
                <a:moveTo>
                  <a:pt x="17426" y="77735"/>
                </a:moveTo>
                <a:lnTo>
                  <a:pt x="37592" y="41336"/>
                </a:lnTo>
                <a:lnTo>
                  <a:pt x="60676" y="14592"/>
                </a:lnTo>
                <a:lnTo>
                  <a:pt x="83875" y="0"/>
                </a:lnTo>
                <a:lnTo>
                  <a:pt x="104387" y="53"/>
                </a:lnTo>
                <a:lnTo>
                  <a:pt x="118165" y="15442"/>
                </a:lnTo>
                <a:lnTo>
                  <a:pt x="122974" y="42654"/>
                </a:lnTo>
                <a:lnTo>
                  <a:pt x="118783" y="77904"/>
                </a:lnTo>
                <a:lnTo>
                  <a:pt x="105562" y="117409"/>
                </a:lnTo>
                <a:lnTo>
                  <a:pt x="85384" y="153785"/>
                </a:lnTo>
                <a:lnTo>
                  <a:pt x="62297" y="180521"/>
                </a:lnTo>
                <a:lnTo>
                  <a:pt x="39100" y="195110"/>
                </a:lnTo>
                <a:lnTo>
                  <a:pt x="18589" y="195046"/>
                </a:lnTo>
                <a:lnTo>
                  <a:pt x="4813" y="179672"/>
                </a:lnTo>
                <a:lnTo>
                  <a:pt x="0" y="152471"/>
                </a:lnTo>
                <a:lnTo>
                  <a:pt x="4190" y="117231"/>
                </a:lnTo>
                <a:lnTo>
                  <a:pt x="17426" y="77735"/>
                </a:lnTo>
                <a:close/>
              </a:path>
            </a:pathLst>
          </a:custGeom>
          <a:ln w="26948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86582" y="5454299"/>
            <a:ext cx="750103" cy="7588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29546" y="5454299"/>
            <a:ext cx="776907" cy="7588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367163" y="5372968"/>
            <a:ext cx="1768135" cy="9756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514507" y="5494957"/>
            <a:ext cx="1473835" cy="623570"/>
          </a:xfrm>
          <a:custGeom>
            <a:avLst/>
            <a:gdLst/>
            <a:ahLst/>
            <a:cxnLst/>
            <a:rect l="l" t="t" r="r" b="b"/>
            <a:pathLst>
              <a:path w="1473835" h="623570">
                <a:moveTo>
                  <a:pt x="19257" y="155799"/>
                </a:moveTo>
                <a:lnTo>
                  <a:pt x="0" y="155799"/>
                </a:lnTo>
                <a:lnTo>
                  <a:pt x="0" y="467500"/>
                </a:lnTo>
                <a:lnTo>
                  <a:pt x="19257" y="467500"/>
                </a:lnTo>
                <a:lnTo>
                  <a:pt x="19257" y="155799"/>
                </a:lnTo>
                <a:close/>
              </a:path>
              <a:path w="1473835" h="623570">
                <a:moveTo>
                  <a:pt x="77007" y="155799"/>
                </a:moveTo>
                <a:lnTo>
                  <a:pt x="38503" y="155799"/>
                </a:lnTo>
                <a:lnTo>
                  <a:pt x="38503" y="467500"/>
                </a:lnTo>
                <a:lnTo>
                  <a:pt x="77007" y="467500"/>
                </a:lnTo>
                <a:lnTo>
                  <a:pt x="77007" y="155799"/>
                </a:lnTo>
                <a:close/>
              </a:path>
              <a:path w="1473835" h="623570">
                <a:moveTo>
                  <a:pt x="1165355" y="0"/>
                </a:moveTo>
                <a:lnTo>
                  <a:pt x="1165355" y="155799"/>
                </a:lnTo>
                <a:lnTo>
                  <a:pt x="96277" y="155799"/>
                </a:lnTo>
                <a:lnTo>
                  <a:pt x="96277" y="467500"/>
                </a:lnTo>
                <a:lnTo>
                  <a:pt x="1165355" y="467500"/>
                </a:lnTo>
                <a:lnTo>
                  <a:pt x="1165355" y="623345"/>
                </a:lnTo>
                <a:lnTo>
                  <a:pt x="1473456" y="311655"/>
                </a:lnTo>
                <a:lnTo>
                  <a:pt x="1165355" y="0"/>
                </a:lnTo>
                <a:close/>
              </a:path>
            </a:pathLst>
          </a:custGeom>
          <a:solidFill>
            <a:srgbClr val="D0D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520283" y="5637281"/>
            <a:ext cx="0" cy="339090"/>
          </a:xfrm>
          <a:custGeom>
            <a:avLst/>
            <a:gdLst/>
            <a:ahLst/>
            <a:cxnLst/>
            <a:rect l="l" t="t" r="r" b="b"/>
            <a:pathLst>
              <a:path w="0" h="339089">
                <a:moveTo>
                  <a:pt x="0" y="0"/>
                </a:moveTo>
                <a:lnTo>
                  <a:pt x="0" y="338652"/>
                </a:lnTo>
              </a:path>
            </a:pathLst>
          </a:custGeom>
          <a:ln w="3850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553011" y="5650757"/>
            <a:ext cx="38735" cy="311785"/>
          </a:xfrm>
          <a:custGeom>
            <a:avLst/>
            <a:gdLst/>
            <a:ahLst/>
            <a:cxnLst/>
            <a:rect l="l" t="t" r="r" b="b"/>
            <a:pathLst>
              <a:path w="38735" h="311785">
                <a:moveTo>
                  <a:pt x="0" y="0"/>
                </a:moveTo>
                <a:lnTo>
                  <a:pt x="38504" y="0"/>
                </a:lnTo>
                <a:lnTo>
                  <a:pt x="38504" y="311700"/>
                </a:lnTo>
                <a:lnTo>
                  <a:pt x="0" y="311700"/>
                </a:lnTo>
                <a:lnTo>
                  <a:pt x="0" y="0"/>
                </a:lnTo>
                <a:close/>
              </a:path>
            </a:pathLst>
          </a:custGeom>
          <a:ln w="26951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10784" y="5494956"/>
            <a:ext cx="1377315" cy="623570"/>
          </a:xfrm>
          <a:custGeom>
            <a:avLst/>
            <a:gdLst/>
            <a:ahLst/>
            <a:cxnLst/>
            <a:rect l="l" t="t" r="r" b="b"/>
            <a:pathLst>
              <a:path w="1377314" h="623570">
                <a:moveTo>
                  <a:pt x="0" y="155800"/>
                </a:moveTo>
                <a:lnTo>
                  <a:pt x="1069079" y="155800"/>
                </a:lnTo>
                <a:lnTo>
                  <a:pt x="1069079" y="0"/>
                </a:lnTo>
                <a:lnTo>
                  <a:pt x="1377179" y="311656"/>
                </a:lnTo>
                <a:lnTo>
                  <a:pt x="1069079" y="623346"/>
                </a:lnTo>
                <a:lnTo>
                  <a:pt x="1069079" y="467501"/>
                </a:lnTo>
                <a:lnTo>
                  <a:pt x="0" y="467501"/>
                </a:lnTo>
                <a:lnTo>
                  <a:pt x="0" y="155800"/>
                </a:lnTo>
                <a:close/>
              </a:path>
            </a:pathLst>
          </a:custGeom>
          <a:ln w="26942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502044" y="6244844"/>
            <a:ext cx="547370" cy="56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30%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 spc="-5">
                <a:latin typeface="Arial"/>
                <a:cs typeface="Arial"/>
              </a:rPr>
              <a:t>p</a:t>
            </a:r>
            <a:r>
              <a:rPr dirty="0" sz="1800" spc="-45">
                <a:latin typeface="Arial"/>
                <a:cs typeface="Arial"/>
              </a:rPr>
              <a:t>r</a:t>
            </a:r>
            <a:r>
              <a:rPr dirty="0" sz="1800" spc="-10">
                <a:latin typeface="Arial"/>
                <a:cs typeface="Arial"/>
              </a:rPr>
              <a:t>o</a:t>
            </a:r>
            <a:r>
              <a:rPr dirty="0" sz="1800" spc="10">
                <a:latin typeface="Arial"/>
                <a:cs typeface="Arial"/>
              </a:rPr>
              <a:t>b.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702235" y="6723724"/>
            <a:ext cx="16954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898989"/>
                </a:solidFill>
                <a:latin typeface="Corbel"/>
                <a:cs typeface="Corbel"/>
              </a:rPr>
              <a:t>45</a:t>
            </a:r>
            <a:endParaRPr sz="900">
              <a:latin typeface="Corbel"/>
              <a:cs typeface="Corbe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99702" y="6244844"/>
            <a:ext cx="547370" cy="56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450">
              <a:lnSpc>
                <a:spcPts val="2125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65%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 spc="-5">
                <a:latin typeface="Arial"/>
                <a:cs typeface="Arial"/>
              </a:rPr>
              <a:t>p</a:t>
            </a:r>
            <a:r>
              <a:rPr dirty="0" sz="1800" spc="-45">
                <a:latin typeface="Arial"/>
                <a:cs typeface="Arial"/>
              </a:rPr>
              <a:t>r</a:t>
            </a:r>
            <a:r>
              <a:rPr dirty="0" sz="1800" spc="-10">
                <a:latin typeface="Arial"/>
                <a:cs typeface="Arial"/>
              </a:rPr>
              <a:t>o</a:t>
            </a:r>
            <a:r>
              <a:rPr dirty="0" sz="1800" spc="10">
                <a:latin typeface="Arial"/>
                <a:cs typeface="Arial"/>
              </a:rPr>
              <a:t>b.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2292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39801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Nodes</a:t>
            </a:r>
            <a:r>
              <a:rPr dirty="0" sz="3200" spc="-5">
                <a:solidFill>
                  <a:srgbClr val="000000"/>
                </a:solidFill>
              </a:rPr>
              <a:t>: Drugs </a:t>
            </a:r>
            <a:r>
              <a:rPr dirty="0" sz="3200">
                <a:solidFill>
                  <a:srgbClr val="000000"/>
                </a:solidFill>
              </a:rPr>
              <a:t>&amp; </a:t>
            </a:r>
            <a:r>
              <a:rPr dirty="0" sz="3200" spc="-15">
                <a:solidFill>
                  <a:srgbClr val="000000"/>
                </a:solidFill>
              </a:rPr>
              <a:t>Proteins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latin typeface="Calibri"/>
                <a:cs typeface="Calibri"/>
              </a:rPr>
              <a:t>Edges</a:t>
            </a:r>
            <a:r>
              <a:rPr dirty="0" sz="3200" spc="-20">
                <a:solidFill>
                  <a:srgbClr val="000000"/>
                </a:solidFill>
              </a:rPr>
              <a:t>:</a:t>
            </a:r>
            <a:r>
              <a:rPr dirty="0" sz="3200" spc="-35">
                <a:solidFill>
                  <a:srgbClr val="000000"/>
                </a:solidFill>
              </a:rPr>
              <a:t> </a:t>
            </a:r>
            <a:r>
              <a:rPr dirty="0" sz="3200" spc="-15">
                <a:solidFill>
                  <a:srgbClr val="000000"/>
                </a:solidFill>
              </a:rPr>
              <a:t>Interactions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1115" y="2673095"/>
            <a:ext cx="5504687" cy="37051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6352" y="2668332"/>
            <a:ext cx="5514340" cy="3714750"/>
          </a:xfrm>
          <a:custGeom>
            <a:avLst/>
            <a:gdLst/>
            <a:ahLst/>
            <a:cxnLst/>
            <a:rect l="l" t="t" r="r" b="b"/>
            <a:pathLst>
              <a:path w="5514340" h="3714750">
                <a:moveTo>
                  <a:pt x="0" y="0"/>
                </a:moveTo>
                <a:lnTo>
                  <a:pt x="5514213" y="0"/>
                </a:lnTo>
                <a:lnTo>
                  <a:pt x="5514213" y="3714653"/>
                </a:lnTo>
                <a:lnTo>
                  <a:pt x="0" y="3714653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37014" y="3949855"/>
            <a:ext cx="2829260" cy="22243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004052" y="1366011"/>
            <a:ext cx="2879725" cy="236982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12700" marR="5080">
              <a:lnSpc>
                <a:spcPct val="89900"/>
              </a:lnSpc>
              <a:spcBef>
                <a:spcPts val="439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Query: </a:t>
            </a:r>
            <a:r>
              <a:rPr dirty="0" sz="2800" spc="-5">
                <a:latin typeface="Calibri"/>
                <a:cs typeface="Calibri"/>
              </a:rPr>
              <a:t>How </a:t>
            </a:r>
            <a:r>
              <a:rPr dirty="0" sz="2800" spc="-20">
                <a:latin typeface="Calibri"/>
                <a:cs typeface="Calibri"/>
              </a:rPr>
              <a:t>likely  </a:t>
            </a:r>
            <a:r>
              <a:rPr dirty="0" sz="2800" spc="-5">
                <a:latin typeface="Calibri"/>
                <a:cs typeface="Calibri"/>
              </a:rPr>
              <a:t>will </a:t>
            </a:r>
            <a:r>
              <a:rPr dirty="0" sz="2800" spc="-20">
                <a:latin typeface="Calibri"/>
                <a:cs typeface="Calibri"/>
              </a:rPr>
              <a:t>Simvastatin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and  </a:t>
            </a:r>
            <a:r>
              <a:rPr dirty="0" sz="2800" spc="-20">
                <a:latin typeface="Calibri"/>
                <a:cs typeface="Calibri"/>
              </a:rPr>
              <a:t>Ciprofloxacin, </a:t>
            </a:r>
            <a:r>
              <a:rPr dirty="0" sz="2800" spc="-5">
                <a:latin typeface="Calibri"/>
                <a:cs typeface="Calibri"/>
              </a:rPr>
              <a:t>when  </a:t>
            </a:r>
            <a:r>
              <a:rPr dirty="0" sz="2800" spc="-30">
                <a:latin typeface="Calibri"/>
                <a:cs typeface="Calibri"/>
              </a:rPr>
              <a:t>taken </a:t>
            </a:r>
            <a:r>
              <a:rPr dirty="0" sz="2800" spc="-40">
                <a:latin typeface="Calibri"/>
                <a:cs typeface="Calibri"/>
              </a:rPr>
              <a:t>together,  </a:t>
            </a:r>
            <a:r>
              <a:rPr dirty="0" sz="2800" spc="-15">
                <a:latin typeface="Calibri"/>
                <a:cs typeface="Calibri"/>
              </a:rPr>
              <a:t>break </a:t>
            </a:r>
            <a:r>
              <a:rPr dirty="0" sz="2800" spc="-5">
                <a:latin typeface="Calibri"/>
                <a:cs typeface="Calibri"/>
              </a:rPr>
              <a:t>down muscle  tissue?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702235" y="6723724"/>
            <a:ext cx="16954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898989"/>
                </a:solidFill>
                <a:latin typeface="Corbel"/>
                <a:cs typeface="Corbel"/>
              </a:rPr>
              <a:t>46</a:t>
            </a:r>
            <a:endParaRPr sz="9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97888" y="69595"/>
            <a:ext cx="6678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Zitnik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al.,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Modeling 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Polypharmacy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Side Effects with Graph Convolutional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Bioinformatics</a:t>
            </a:r>
            <a:r>
              <a:rPr dirty="0" sz="1200" spc="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2018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53568"/>
            <a:ext cx="6733032" cy="4175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40369" y="1527048"/>
            <a:ext cx="8971820" cy="40900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623095" y="5565104"/>
            <a:ext cx="6581300" cy="9937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6225" y="4470272"/>
            <a:ext cx="8743950" cy="361950"/>
          </a:xfrm>
          <a:custGeom>
            <a:avLst/>
            <a:gdLst/>
            <a:ahLst/>
            <a:cxnLst/>
            <a:rect l="l" t="t" r="r" b="b"/>
            <a:pathLst>
              <a:path w="8743950" h="361950">
                <a:moveTo>
                  <a:pt x="8715375" y="0"/>
                </a:moveTo>
                <a:lnTo>
                  <a:pt x="28575" y="0"/>
                </a:lnTo>
                <a:lnTo>
                  <a:pt x="17452" y="2245"/>
                </a:lnTo>
                <a:lnTo>
                  <a:pt x="8369" y="8369"/>
                </a:lnTo>
                <a:lnTo>
                  <a:pt x="2245" y="17452"/>
                </a:lnTo>
                <a:lnTo>
                  <a:pt x="0" y="28575"/>
                </a:lnTo>
                <a:lnTo>
                  <a:pt x="0" y="333375"/>
                </a:lnTo>
                <a:lnTo>
                  <a:pt x="2245" y="344497"/>
                </a:lnTo>
                <a:lnTo>
                  <a:pt x="8369" y="353580"/>
                </a:lnTo>
                <a:lnTo>
                  <a:pt x="17452" y="359704"/>
                </a:lnTo>
                <a:lnTo>
                  <a:pt x="28575" y="361950"/>
                </a:lnTo>
                <a:lnTo>
                  <a:pt x="8715375" y="361950"/>
                </a:lnTo>
                <a:lnTo>
                  <a:pt x="8726497" y="359704"/>
                </a:lnTo>
                <a:lnTo>
                  <a:pt x="8735580" y="353580"/>
                </a:lnTo>
                <a:lnTo>
                  <a:pt x="8741704" y="344497"/>
                </a:lnTo>
                <a:lnTo>
                  <a:pt x="8743950" y="333375"/>
                </a:lnTo>
                <a:lnTo>
                  <a:pt x="8743950" y="327659"/>
                </a:lnTo>
                <a:lnTo>
                  <a:pt x="34289" y="327659"/>
                </a:lnTo>
                <a:lnTo>
                  <a:pt x="34289" y="34289"/>
                </a:lnTo>
                <a:lnTo>
                  <a:pt x="8743950" y="34289"/>
                </a:lnTo>
                <a:lnTo>
                  <a:pt x="8743950" y="28575"/>
                </a:lnTo>
                <a:lnTo>
                  <a:pt x="8741704" y="17452"/>
                </a:lnTo>
                <a:lnTo>
                  <a:pt x="8735580" y="8369"/>
                </a:lnTo>
                <a:lnTo>
                  <a:pt x="8726497" y="2245"/>
                </a:lnTo>
                <a:lnTo>
                  <a:pt x="8715375" y="0"/>
                </a:lnTo>
                <a:close/>
              </a:path>
              <a:path w="8743950" h="361950">
                <a:moveTo>
                  <a:pt x="8743950" y="34289"/>
                </a:moveTo>
                <a:lnTo>
                  <a:pt x="8709660" y="34289"/>
                </a:lnTo>
                <a:lnTo>
                  <a:pt x="8709660" y="327659"/>
                </a:lnTo>
                <a:lnTo>
                  <a:pt x="8743950" y="327659"/>
                </a:lnTo>
                <a:lnTo>
                  <a:pt x="8743950" y="34289"/>
                </a:lnTo>
                <a:close/>
              </a:path>
              <a:path w="8743950" h="361950">
                <a:moveTo>
                  <a:pt x="8698230" y="45719"/>
                </a:moveTo>
                <a:lnTo>
                  <a:pt x="45720" y="45719"/>
                </a:lnTo>
                <a:lnTo>
                  <a:pt x="45720" y="316229"/>
                </a:lnTo>
                <a:lnTo>
                  <a:pt x="8698230" y="316229"/>
                </a:lnTo>
                <a:lnTo>
                  <a:pt x="8698230" y="304800"/>
                </a:lnTo>
                <a:lnTo>
                  <a:pt x="57150" y="304800"/>
                </a:lnTo>
                <a:lnTo>
                  <a:pt x="57150" y="57150"/>
                </a:lnTo>
                <a:lnTo>
                  <a:pt x="8698230" y="57150"/>
                </a:lnTo>
                <a:lnTo>
                  <a:pt x="8698230" y="45719"/>
                </a:lnTo>
                <a:close/>
              </a:path>
              <a:path w="8743950" h="361950">
                <a:moveTo>
                  <a:pt x="8698230" y="57150"/>
                </a:moveTo>
                <a:lnTo>
                  <a:pt x="8686800" y="57150"/>
                </a:lnTo>
                <a:lnTo>
                  <a:pt x="8686800" y="304800"/>
                </a:lnTo>
                <a:lnTo>
                  <a:pt x="8698230" y="304800"/>
                </a:lnTo>
                <a:lnTo>
                  <a:pt x="8698230" y="571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922170" y="1527047"/>
            <a:ext cx="1231265" cy="304800"/>
          </a:xfrm>
          <a:custGeom>
            <a:avLst/>
            <a:gdLst/>
            <a:ahLst/>
            <a:cxnLst/>
            <a:rect l="l" t="t" r="r" b="b"/>
            <a:pathLst>
              <a:path w="1231265" h="304800">
                <a:moveTo>
                  <a:pt x="0" y="0"/>
                </a:moveTo>
                <a:lnTo>
                  <a:pt x="1231229" y="0"/>
                </a:lnTo>
                <a:lnTo>
                  <a:pt x="1231229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964841" y="1534667"/>
            <a:ext cx="16256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Times New Roman"/>
                <a:cs typeface="Times New Roman"/>
              </a:rPr>
              <a:t>Evidence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found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00198" y="1527047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0" y="76200"/>
                </a:moveTo>
                <a:lnTo>
                  <a:pt x="381000" y="76200"/>
                </a:lnTo>
                <a:lnTo>
                  <a:pt x="381000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52800" y="1527047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0" y="76200"/>
                </a:moveTo>
                <a:lnTo>
                  <a:pt x="381000" y="76200"/>
                </a:lnTo>
                <a:lnTo>
                  <a:pt x="381000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590800" y="1603247"/>
            <a:ext cx="1143000" cy="304800"/>
          </a:xfrm>
          <a:custGeom>
            <a:avLst/>
            <a:gdLst/>
            <a:ahLst/>
            <a:cxnLst/>
            <a:rect l="l" t="t" r="r" b="b"/>
            <a:pathLst>
              <a:path w="1143000" h="304800">
                <a:moveTo>
                  <a:pt x="0" y="0"/>
                </a:moveTo>
                <a:lnTo>
                  <a:pt x="1143000" y="0"/>
                </a:lnTo>
                <a:lnTo>
                  <a:pt x="11430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99420" y="1497583"/>
            <a:ext cx="75819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>
                <a:solidFill>
                  <a:srgbClr val="000000"/>
                </a:solidFill>
                <a:latin typeface="Times New Roman"/>
                <a:cs typeface="Times New Roman"/>
              </a:rPr>
              <a:t>Drug</a:t>
            </a:r>
            <a:r>
              <a:rPr dirty="0" sz="2100" spc="-8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100" i="1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9345" y="1497583"/>
            <a:ext cx="77343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>
                <a:latin typeface="Times New Roman"/>
                <a:cs typeface="Times New Roman"/>
              </a:rPr>
              <a:t>Drug</a:t>
            </a:r>
            <a:r>
              <a:rPr dirty="0" sz="2100" spc="-85">
                <a:latin typeface="Times New Roman"/>
                <a:cs typeface="Times New Roman"/>
              </a:rPr>
              <a:t> </a:t>
            </a:r>
            <a:r>
              <a:rPr dirty="0" sz="2100" i="1">
                <a:latin typeface="Times New Roman"/>
                <a:cs typeface="Times New Roman"/>
              </a:rPr>
              <a:t>d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4828" y="4851271"/>
            <a:ext cx="8743950" cy="361950"/>
          </a:xfrm>
          <a:custGeom>
            <a:avLst/>
            <a:gdLst/>
            <a:ahLst/>
            <a:cxnLst/>
            <a:rect l="l" t="t" r="r" b="b"/>
            <a:pathLst>
              <a:path w="8743950" h="361950">
                <a:moveTo>
                  <a:pt x="8715375" y="0"/>
                </a:moveTo>
                <a:lnTo>
                  <a:pt x="28575" y="0"/>
                </a:lnTo>
                <a:lnTo>
                  <a:pt x="17452" y="2245"/>
                </a:lnTo>
                <a:lnTo>
                  <a:pt x="8369" y="8369"/>
                </a:lnTo>
                <a:lnTo>
                  <a:pt x="2245" y="17452"/>
                </a:lnTo>
                <a:lnTo>
                  <a:pt x="0" y="28574"/>
                </a:lnTo>
                <a:lnTo>
                  <a:pt x="0" y="333374"/>
                </a:lnTo>
                <a:lnTo>
                  <a:pt x="2245" y="344497"/>
                </a:lnTo>
                <a:lnTo>
                  <a:pt x="8369" y="353580"/>
                </a:lnTo>
                <a:lnTo>
                  <a:pt x="17452" y="359704"/>
                </a:lnTo>
                <a:lnTo>
                  <a:pt x="28575" y="361949"/>
                </a:lnTo>
                <a:lnTo>
                  <a:pt x="8715375" y="361949"/>
                </a:lnTo>
                <a:lnTo>
                  <a:pt x="8726497" y="359704"/>
                </a:lnTo>
                <a:lnTo>
                  <a:pt x="8735580" y="353580"/>
                </a:lnTo>
                <a:lnTo>
                  <a:pt x="8741704" y="344497"/>
                </a:lnTo>
                <a:lnTo>
                  <a:pt x="8743950" y="333374"/>
                </a:lnTo>
                <a:lnTo>
                  <a:pt x="8743950" y="327659"/>
                </a:lnTo>
                <a:lnTo>
                  <a:pt x="34289" y="327659"/>
                </a:lnTo>
                <a:lnTo>
                  <a:pt x="34289" y="34289"/>
                </a:lnTo>
                <a:lnTo>
                  <a:pt x="8743950" y="34289"/>
                </a:lnTo>
                <a:lnTo>
                  <a:pt x="8743950" y="28574"/>
                </a:lnTo>
                <a:lnTo>
                  <a:pt x="8741704" y="17452"/>
                </a:lnTo>
                <a:lnTo>
                  <a:pt x="8735580" y="8369"/>
                </a:lnTo>
                <a:lnTo>
                  <a:pt x="8726497" y="2245"/>
                </a:lnTo>
                <a:lnTo>
                  <a:pt x="8715375" y="0"/>
                </a:lnTo>
                <a:close/>
              </a:path>
              <a:path w="8743950" h="361950">
                <a:moveTo>
                  <a:pt x="8743950" y="34289"/>
                </a:moveTo>
                <a:lnTo>
                  <a:pt x="8709660" y="34289"/>
                </a:lnTo>
                <a:lnTo>
                  <a:pt x="8709660" y="327659"/>
                </a:lnTo>
                <a:lnTo>
                  <a:pt x="8743950" y="327659"/>
                </a:lnTo>
                <a:lnTo>
                  <a:pt x="8743950" y="34289"/>
                </a:lnTo>
                <a:close/>
              </a:path>
              <a:path w="8743950" h="361950">
                <a:moveTo>
                  <a:pt x="8698230" y="45719"/>
                </a:moveTo>
                <a:lnTo>
                  <a:pt x="45719" y="45719"/>
                </a:lnTo>
                <a:lnTo>
                  <a:pt x="45719" y="316229"/>
                </a:lnTo>
                <a:lnTo>
                  <a:pt x="8698230" y="316229"/>
                </a:lnTo>
                <a:lnTo>
                  <a:pt x="8698230" y="304799"/>
                </a:lnTo>
                <a:lnTo>
                  <a:pt x="57150" y="304799"/>
                </a:lnTo>
                <a:lnTo>
                  <a:pt x="57150" y="57149"/>
                </a:lnTo>
                <a:lnTo>
                  <a:pt x="8698230" y="57149"/>
                </a:lnTo>
                <a:lnTo>
                  <a:pt x="8698230" y="45719"/>
                </a:lnTo>
                <a:close/>
              </a:path>
              <a:path w="8743950" h="361950">
                <a:moveTo>
                  <a:pt x="8698230" y="57149"/>
                </a:moveTo>
                <a:lnTo>
                  <a:pt x="8686800" y="57149"/>
                </a:lnTo>
                <a:lnTo>
                  <a:pt x="8686800" y="304799"/>
                </a:lnTo>
                <a:lnTo>
                  <a:pt x="8698230" y="304799"/>
                </a:lnTo>
                <a:lnTo>
                  <a:pt x="8698230" y="5714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4828" y="3785015"/>
            <a:ext cx="8743950" cy="361950"/>
          </a:xfrm>
          <a:custGeom>
            <a:avLst/>
            <a:gdLst/>
            <a:ahLst/>
            <a:cxnLst/>
            <a:rect l="l" t="t" r="r" b="b"/>
            <a:pathLst>
              <a:path w="8743950" h="361950">
                <a:moveTo>
                  <a:pt x="8715375" y="0"/>
                </a:moveTo>
                <a:lnTo>
                  <a:pt x="28575" y="0"/>
                </a:lnTo>
                <a:lnTo>
                  <a:pt x="17452" y="2245"/>
                </a:lnTo>
                <a:lnTo>
                  <a:pt x="8369" y="8369"/>
                </a:lnTo>
                <a:lnTo>
                  <a:pt x="2245" y="17452"/>
                </a:lnTo>
                <a:lnTo>
                  <a:pt x="0" y="28575"/>
                </a:lnTo>
                <a:lnTo>
                  <a:pt x="0" y="333375"/>
                </a:lnTo>
                <a:lnTo>
                  <a:pt x="2245" y="344497"/>
                </a:lnTo>
                <a:lnTo>
                  <a:pt x="8369" y="353580"/>
                </a:lnTo>
                <a:lnTo>
                  <a:pt x="17452" y="359704"/>
                </a:lnTo>
                <a:lnTo>
                  <a:pt x="28575" y="361950"/>
                </a:lnTo>
                <a:lnTo>
                  <a:pt x="8715375" y="361950"/>
                </a:lnTo>
                <a:lnTo>
                  <a:pt x="8726497" y="359704"/>
                </a:lnTo>
                <a:lnTo>
                  <a:pt x="8735580" y="353580"/>
                </a:lnTo>
                <a:lnTo>
                  <a:pt x="8741704" y="344497"/>
                </a:lnTo>
                <a:lnTo>
                  <a:pt x="8743950" y="333375"/>
                </a:lnTo>
                <a:lnTo>
                  <a:pt x="8743950" y="327660"/>
                </a:lnTo>
                <a:lnTo>
                  <a:pt x="34289" y="327660"/>
                </a:lnTo>
                <a:lnTo>
                  <a:pt x="34289" y="34290"/>
                </a:lnTo>
                <a:lnTo>
                  <a:pt x="8743950" y="34290"/>
                </a:lnTo>
                <a:lnTo>
                  <a:pt x="8743950" y="28575"/>
                </a:lnTo>
                <a:lnTo>
                  <a:pt x="8741704" y="17452"/>
                </a:lnTo>
                <a:lnTo>
                  <a:pt x="8735580" y="8369"/>
                </a:lnTo>
                <a:lnTo>
                  <a:pt x="8726497" y="2245"/>
                </a:lnTo>
                <a:lnTo>
                  <a:pt x="8715375" y="0"/>
                </a:lnTo>
                <a:close/>
              </a:path>
              <a:path w="8743950" h="361950">
                <a:moveTo>
                  <a:pt x="8743950" y="34290"/>
                </a:moveTo>
                <a:lnTo>
                  <a:pt x="8709660" y="34290"/>
                </a:lnTo>
                <a:lnTo>
                  <a:pt x="8709660" y="327660"/>
                </a:lnTo>
                <a:lnTo>
                  <a:pt x="8743950" y="327660"/>
                </a:lnTo>
                <a:lnTo>
                  <a:pt x="8743950" y="34290"/>
                </a:lnTo>
                <a:close/>
              </a:path>
              <a:path w="8743950" h="361950">
                <a:moveTo>
                  <a:pt x="8698230" y="45720"/>
                </a:moveTo>
                <a:lnTo>
                  <a:pt x="45719" y="45720"/>
                </a:lnTo>
                <a:lnTo>
                  <a:pt x="45719" y="316230"/>
                </a:lnTo>
                <a:lnTo>
                  <a:pt x="8698230" y="316230"/>
                </a:lnTo>
                <a:lnTo>
                  <a:pt x="8698230" y="304800"/>
                </a:lnTo>
                <a:lnTo>
                  <a:pt x="57150" y="304800"/>
                </a:lnTo>
                <a:lnTo>
                  <a:pt x="57150" y="57150"/>
                </a:lnTo>
                <a:lnTo>
                  <a:pt x="8698230" y="57150"/>
                </a:lnTo>
                <a:lnTo>
                  <a:pt x="8698230" y="45720"/>
                </a:lnTo>
                <a:close/>
              </a:path>
              <a:path w="8743950" h="361950">
                <a:moveTo>
                  <a:pt x="8698230" y="57150"/>
                </a:moveTo>
                <a:lnTo>
                  <a:pt x="8686800" y="57150"/>
                </a:lnTo>
                <a:lnTo>
                  <a:pt x="8686800" y="304800"/>
                </a:lnTo>
                <a:lnTo>
                  <a:pt x="8698230" y="304800"/>
                </a:lnTo>
                <a:lnTo>
                  <a:pt x="8698230" y="571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94828" y="3093314"/>
            <a:ext cx="8743950" cy="361950"/>
          </a:xfrm>
          <a:custGeom>
            <a:avLst/>
            <a:gdLst/>
            <a:ahLst/>
            <a:cxnLst/>
            <a:rect l="l" t="t" r="r" b="b"/>
            <a:pathLst>
              <a:path w="8743950" h="361950">
                <a:moveTo>
                  <a:pt x="8715375" y="0"/>
                </a:moveTo>
                <a:lnTo>
                  <a:pt x="28575" y="0"/>
                </a:lnTo>
                <a:lnTo>
                  <a:pt x="17452" y="2245"/>
                </a:lnTo>
                <a:lnTo>
                  <a:pt x="8369" y="8369"/>
                </a:lnTo>
                <a:lnTo>
                  <a:pt x="2245" y="17452"/>
                </a:lnTo>
                <a:lnTo>
                  <a:pt x="0" y="28575"/>
                </a:lnTo>
                <a:lnTo>
                  <a:pt x="0" y="333375"/>
                </a:lnTo>
                <a:lnTo>
                  <a:pt x="2245" y="344497"/>
                </a:lnTo>
                <a:lnTo>
                  <a:pt x="8369" y="353580"/>
                </a:lnTo>
                <a:lnTo>
                  <a:pt x="17452" y="359704"/>
                </a:lnTo>
                <a:lnTo>
                  <a:pt x="28575" y="361950"/>
                </a:lnTo>
                <a:lnTo>
                  <a:pt x="8715375" y="361950"/>
                </a:lnTo>
                <a:lnTo>
                  <a:pt x="8726497" y="359704"/>
                </a:lnTo>
                <a:lnTo>
                  <a:pt x="8735580" y="353580"/>
                </a:lnTo>
                <a:lnTo>
                  <a:pt x="8741704" y="344497"/>
                </a:lnTo>
                <a:lnTo>
                  <a:pt x="8743950" y="333375"/>
                </a:lnTo>
                <a:lnTo>
                  <a:pt x="8743950" y="327660"/>
                </a:lnTo>
                <a:lnTo>
                  <a:pt x="34289" y="327660"/>
                </a:lnTo>
                <a:lnTo>
                  <a:pt x="34289" y="34289"/>
                </a:lnTo>
                <a:lnTo>
                  <a:pt x="8743950" y="34289"/>
                </a:lnTo>
                <a:lnTo>
                  <a:pt x="8743950" y="28575"/>
                </a:lnTo>
                <a:lnTo>
                  <a:pt x="8741704" y="17452"/>
                </a:lnTo>
                <a:lnTo>
                  <a:pt x="8735580" y="8369"/>
                </a:lnTo>
                <a:lnTo>
                  <a:pt x="8726497" y="2245"/>
                </a:lnTo>
                <a:lnTo>
                  <a:pt x="8715375" y="0"/>
                </a:lnTo>
                <a:close/>
              </a:path>
              <a:path w="8743950" h="361950">
                <a:moveTo>
                  <a:pt x="8743950" y="34289"/>
                </a:moveTo>
                <a:lnTo>
                  <a:pt x="8709660" y="34289"/>
                </a:lnTo>
                <a:lnTo>
                  <a:pt x="8709660" y="327660"/>
                </a:lnTo>
                <a:lnTo>
                  <a:pt x="8743950" y="327660"/>
                </a:lnTo>
                <a:lnTo>
                  <a:pt x="8743950" y="34289"/>
                </a:lnTo>
                <a:close/>
              </a:path>
              <a:path w="8743950" h="361950">
                <a:moveTo>
                  <a:pt x="8698230" y="45719"/>
                </a:moveTo>
                <a:lnTo>
                  <a:pt x="45719" y="45719"/>
                </a:lnTo>
                <a:lnTo>
                  <a:pt x="45719" y="316229"/>
                </a:lnTo>
                <a:lnTo>
                  <a:pt x="8698230" y="316229"/>
                </a:lnTo>
                <a:lnTo>
                  <a:pt x="8698230" y="304800"/>
                </a:lnTo>
                <a:lnTo>
                  <a:pt x="57150" y="304800"/>
                </a:lnTo>
                <a:lnTo>
                  <a:pt x="57150" y="57150"/>
                </a:lnTo>
                <a:lnTo>
                  <a:pt x="8698230" y="57150"/>
                </a:lnTo>
                <a:lnTo>
                  <a:pt x="8698230" y="45719"/>
                </a:lnTo>
                <a:close/>
              </a:path>
              <a:path w="8743950" h="361950">
                <a:moveTo>
                  <a:pt x="8698230" y="57150"/>
                </a:moveTo>
                <a:lnTo>
                  <a:pt x="8686800" y="57150"/>
                </a:lnTo>
                <a:lnTo>
                  <a:pt x="8686800" y="304800"/>
                </a:lnTo>
                <a:lnTo>
                  <a:pt x="8698230" y="304800"/>
                </a:lnTo>
                <a:lnTo>
                  <a:pt x="8698230" y="571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8735" y="1996955"/>
            <a:ext cx="8743950" cy="361950"/>
          </a:xfrm>
          <a:custGeom>
            <a:avLst/>
            <a:gdLst/>
            <a:ahLst/>
            <a:cxnLst/>
            <a:rect l="l" t="t" r="r" b="b"/>
            <a:pathLst>
              <a:path w="8743950" h="361950">
                <a:moveTo>
                  <a:pt x="8715374" y="0"/>
                </a:moveTo>
                <a:lnTo>
                  <a:pt x="28575" y="0"/>
                </a:lnTo>
                <a:lnTo>
                  <a:pt x="17452" y="2245"/>
                </a:lnTo>
                <a:lnTo>
                  <a:pt x="8369" y="8369"/>
                </a:lnTo>
                <a:lnTo>
                  <a:pt x="2245" y="17452"/>
                </a:lnTo>
                <a:lnTo>
                  <a:pt x="0" y="28575"/>
                </a:lnTo>
                <a:lnTo>
                  <a:pt x="0" y="333375"/>
                </a:lnTo>
                <a:lnTo>
                  <a:pt x="2245" y="344497"/>
                </a:lnTo>
                <a:lnTo>
                  <a:pt x="8369" y="353580"/>
                </a:lnTo>
                <a:lnTo>
                  <a:pt x="17452" y="359704"/>
                </a:lnTo>
                <a:lnTo>
                  <a:pt x="28575" y="361950"/>
                </a:lnTo>
                <a:lnTo>
                  <a:pt x="8715374" y="361950"/>
                </a:lnTo>
                <a:lnTo>
                  <a:pt x="8726497" y="359704"/>
                </a:lnTo>
                <a:lnTo>
                  <a:pt x="8735580" y="353580"/>
                </a:lnTo>
                <a:lnTo>
                  <a:pt x="8741704" y="344497"/>
                </a:lnTo>
                <a:lnTo>
                  <a:pt x="8743949" y="333375"/>
                </a:lnTo>
                <a:lnTo>
                  <a:pt x="8743949" y="327660"/>
                </a:lnTo>
                <a:lnTo>
                  <a:pt x="34289" y="327660"/>
                </a:lnTo>
                <a:lnTo>
                  <a:pt x="34289" y="34290"/>
                </a:lnTo>
                <a:lnTo>
                  <a:pt x="8743949" y="34290"/>
                </a:lnTo>
                <a:lnTo>
                  <a:pt x="8743949" y="28575"/>
                </a:lnTo>
                <a:lnTo>
                  <a:pt x="8741704" y="17452"/>
                </a:lnTo>
                <a:lnTo>
                  <a:pt x="8735580" y="8369"/>
                </a:lnTo>
                <a:lnTo>
                  <a:pt x="8726497" y="2245"/>
                </a:lnTo>
                <a:lnTo>
                  <a:pt x="8715374" y="0"/>
                </a:lnTo>
                <a:close/>
              </a:path>
              <a:path w="8743950" h="361950">
                <a:moveTo>
                  <a:pt x="8743949" y="34290"/>
                </a:moveTo>
                <a:lnTo>
                  <a:pt x="8709659" y="34290"/>
                </a:lnTo>
                <a:lnTo>
                  <a:pt x="8709659" y="327660"/>
                </a:lnTo>
                <a:lnTo>
                  <a:pt x="8743949" y="327660"/>
                </a:lnTo>
                <a:lnTo>
                  <a:pt x="8743949" y="34290"/>
                </a:lnTo>
                <a:close/>
              </a:path>
              <a:path w="8743950" h="361950">
                <a:moveTo>
                  <a:pt x="8698229" y="45720"/>
                </a:moveTo>
                <a:lnTo>
                  <a:pt x="45719" y="45720"/>
                </a:lnTo>
                <a:lnTo>
                  <a:pt x="45719" y="316230"/>
                </a:lnTo>
                <a:lnTo>
                  <a:pt x="8698229" y="316230"/>
                </a:lnTo>
                <a:lnTo>
                  <a:pt x="8698229" y="304800"/>
                </a:lnTo>
                <a:lnTo>
                  <a:pt x="57150" y="304800"/>
                </a:lnTo>
                <a:lnTo>
                  <a:pt x="57150" y="57150"/>
                </a:lnTo>
                <a:lnTo>
                  <a:pt x="8698229" y="57150"/>
                </a:lnTo>
                <a:lnTo>
                  <a:pt x="8698229" y="45720"/>
                </a:lnTo>
                <a:close/>
              </a:path>
              <a:path w="8743950" h="361950">
                <a:moveTo>
                  <a:pt x="8698229" y="57150"/>
                </a:moveTo>
                <a:lnTo>
                  <a:pt x="8686799" y="57150"/>
                </a:lnTo>
                <a:lnTo>
                  <a:pt x="8686799" y="304800"/>
                </a:lnTo>
                <a:lnTo>
                  <a:pt x="8698229" y="304800"/>
                </a:lnTo>
                <a:lnTo>
                  <a:pt x="8698229" y="571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297888" y="69595"/>
            <a:ext cx="6678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Zitnik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al.,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Modeling 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Polypharmacy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Side Effects with Graph Convolutional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Bioinformatics</a:t>
            </a:r>
            <a:r>
              <a:rPr dirty="0" sz="1200" spc="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2018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02235" y="6723724"/>
            <a:ext cx="16954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898989"/>
                </a:solidFill>
                <a:latin typeface="Corbel"/>
                <a:cs typeface="Corbel"/>
              </a:rPr>
              <a:t>47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3477767"/>
            <a:ext cx="6306311" cy="12984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315200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5448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orbel"/>
                <a:cs typeface="Corbel"/>
              </a:rPr>
              <a:t>a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099378"/>
            <a:ext cx="9144000" cy="57586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02235" y="6723724"/>
            <a:ext cx="15684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4</a:t>
            </a: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9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16915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5111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Nodes: </a:t>
            </a:r>
            <a:r>
              <a:rPr dirty="0" sz="3200" spc="-20">
                <a:solidFill>
                  <a:srgbClr val="000000"/>
                </a:solidFill>
              </a:rPr>
              <a:t>Road</a:t>
            </a:r>
            <a:r>
              <a:rPr dirty="0" sz="3200" spc="-45">
                <a:solidFill>
                  <a:srgbClr val="000000"/>
                </a:solidFill>
              </a:rPr>
              <a:t> </a:t>
            </a:r>
            <a:r>
              <a:rPr dirty="0" sz="3200" spc="-5">
                <a:solidFill>
                  <a:srgbClr val="000000"/>
                </a:solidFill>
              </a:rPr>
              <a:t>segments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latin typeface="Calibri"/>
                <a:cs typeface="Calibri"/>
              </a:rPr>
              <a:t>Edges: </a:t>
            </a:r>
            <a:r>
              <a:rPr dirty="0" sz="3200" spc="-5">
                <a:solidFill>
                  <a:srgbClr val="000000"/>
                </a:solidFill>
              </a:rPr>
              <a:t>Connectivity </a:t>
            </a:r>
            <a:r>
              <a:rPr dirty="0" sz="3200" spc="-10">
                <a:solidFill>
                  <a:srgbClr val="000000"/>
                </a:solidFill>
              </a:rPr>
              <a:t>between </a:t>
            </a:r>
            <a:r>
              <a:rPr dirty="0" sz="3200" spc="-20">
                <a:solidFill>
                  <a:srgbClr val="000000"/>
                </a:solidFill>
              </a:rPr>
              <a:t>road</a:t>
            </a:r>
            <a:r>
              <a:rPr dirty="0" sz="3200" spc="75">
                <a:solidFill>
                  <a:srgbClr val="000000"/>
                </a:solidFill>
              </a:rPr>
              <a:t> </a:t>
            </a:r>
            <a:r>
              <a:rPr dirty="0" sz="3200" spc="-10">
                <a:solidFill>
                  <a:srgbClr val="000000"/>
                </a:solidFill>
              </a:rPr>
              <a:t>segments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6800" y="2590800"/>
            <a:ext cx="6680200" cy="38512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869940" y="5507735"/>
            <a:ext cx="14185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4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168BBA"/>
                </a:solidFill>
                <a:latin typeface="Corbel"/>
                <a:cs typeface="Corbel"/>
              </a:rPr>
              <a:t>DeepMind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02235" y="6723724"/>
            <a:ext cx="15684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5</a:t>
            </a: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9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5600" y="1994527"/>
            <a:ext cx="8432800" cy="4622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8640" y="341375"/>
            <a:ext cx="6318504" cy="432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85978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000000"/>
                </a:solidFill>
                <a:latin typeface="Calibri"/>
                <a:cs typeface="Calibri"/>
              </a:rPr>
              <a:t>Predict </a:t>
            </a:r>
            <a:r>
              <a:rPr dirty="0" sz="3200" spc="-5" b="1">
                <a:solidFill>
                  <a:srgbClr val="000000"/>
                </a:solidFill>
                <a:latin typeface="Calibri"/>
                <a:cs typeface="Calibri"/>
              </a:rPr>
              <a:t>via </a:t>
            </a:r>
            <a:r>
              <a:rPr dirty="0" sz="3200" spc="-20" b="1">
                <a:solidFill>
                  <a:srgbClr val="000000"/>
                </a:solidFill>
                <a:latin typeface="Calibri"/>
                <a:cs typeface="Calibri"/>
              </a:rPr>
              <a:t>Graph </a:t>
            </a:r>
            <a:r>
              <a:rPr dirty="0" sz="3200" spc="-15" b="1">
                <a:solidFill>
                  <a:srgbClr val="000000"/>
                </a:solidFill>
                <a:latin typeface="Calibri"/>
                <a:cs typeface="Calibri"/>
              </a:rPr>
              <a:t>Neural</a:t>
            </a:r>
            <a:r>
              <a:rPr dirty="0" sz="3200" spc="-3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0000"/>
                </a:solidFill>
                <a:latin typeface="Calibri"/>
                <a:cs typeface="Calibri"/>
              </a:rPr>
              <a:t>Networks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4268723"/>
            <a:ext cx="38525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Used </a:t>
            </a:r>
            <a:r>
              <a:rPr dirty="0" sz="3200">
                <a:latin typeface="Calibri"/>
                <a:cs typeface="Calibri"/>
              </a:rPr>
              <a:t>in Google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Maps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76640" y="6284976"/>
            <a:ext cx="14185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4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168BBA"/>
                </a:solidFill>
                <a:latin typeface="Corbel"/>
                <a:cs typeface="Corbel"/>
              </a:rPr>
              <a:t>DeepMind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340" y="1994527"/>
            <a:ext cx="5560060" cy="1511300"/>
          </a:xfrm>
          <a:custGeom>
            <a:avLst/>
            <a:gdLst/>
            <a:ahLst/>
            <a:cxnLst/>
            <a:rect l="l" t="t" r="r" b="b"/>
            <a:pathLst>
              <a:path w="5560060" h="1511300">
                <a:moveTo>
                  <a:pt x="0" y="0"/>
                </a:moveTo>
                <a:lnTo>
                  <a:pt x="5560060" y="0"/>
                </a:lnTo>
                <a:lnTo>
                  <a:pt x="5560060" y="1510674"/>
                </a:lnTo>
                <a:lnTo>
                  <a:pt x="0" y="1510674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F0AD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27635" y="6723724"/>
            <a:ext cx="13335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 spc="0">
                <a:solidFill>
                  <a:srgbClr val="3F3F3F"/>
                </a:solidFill>
                <a:latin typeface="Corbel"/>
                <a:cs typeface="Corbel"/>
              </a:rPr>
              <a:t>51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8576" y="3477767"/>
            <a:ext cx="5382768" cy="12923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4110" y="2807599"/>
            <a:ext cx="4036150" cy="3460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216" y="347472"/>
            <a:ext cx="6906768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7722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0000"/>
                </a:solidFill>
                <a:latin typeface="Calibri"/>
                <a:cs typeface="Calibri"/>
              </a:rPr>
              <a:t>Antibiotics </a:t>
            </a:r>
            <a:r>
              <a:rPr dirty="0" sz="3200" spc="-15" b="1">
                <a:solidFill>
                  <a:srgbClr val="000000"/>
                </a:solidFill>
                <a:latin typeface="Calibri"/>
                <a:cs typeface="Calibri"/>
              </a:rPr>
              <a:t>are </a:t>
            </a:r>
            <a:r>
              <a:rPr dirty="0" sz="3200" spc="-5" b="1">
                <a:solidFill>
                  <a:srgbClr val="000000"/>
                </a:solidFill>
                <a:latin typeface="Calibri"/>
                <a:cs typeface="Calibri"/>
              </a:rPr>
              <a:t>small molecular</a:t>
            </a:r>
            <a:r>
              <a:rPr dirty="0" sz="3200" spc="-20" b="1">
                <a:solidFill>
                  <a:srgbClr val="000000"/>
                </a:solidFill>
                <a:latin typeface="Calibri"/>
                <a:cs typeface="Calibri"/>
              </a:rPr>
              <a:t> graphs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1826259"/>
            <a:ext cx="3609975" cy="106807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Nodes:</a:t>
            </a:r>
            <a:r>
              <a:rPr dirty="0" sz="28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Atoms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Edges: </a:t>
            </a:r>
            <a:r>
              <a:rPr dirty="0" sz="2800" spc="-10">
                <a:latin typeface="Calibri"/>
                <a:cs typeface="Calibri"/>
              </a:rPr>
              <a:t>Chemical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14">
                <a:latin typeface="Calibri"/>
                <a:cs typeface="Calibri"/>
              </a:rPr>
              <a:t>bonds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420" y="6166103"/>
            <a:ext cx="4315460" cy="385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Konaklieva, Monika </a:t>
            </a:r>
            <a:r>
              <a:rPr dirty="0" sz="1100">
                <a:solidFill>
                  <a:srgbClr val="A6A6A6"/>
                </a:solidFill>
                <a:latin typeface="Corbel"/>
                <a:cs typeface="Corbel"/>
              </a:rPr>
              <a:t>I.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"Molecular targets </a:t>
            </a:r>
            <a:r>
              <a:rPr dirty="0" sz="1100">
                <a:solidFill>
                  <a:srgbClr val="A6A6A6"/>
                </a:solidFill>
                <a:latin typeface="Corbel"/>
                <a:cs typeface="Corbel"/>
              </a:rPr>
              <a:t>of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β-lactam-based antimicrobials:  beyond </a:t>
            </a:r>
            <a:r>
              <a:rPr dirty="0" sz="1100">
                <a:solidFill>
                  <a:srgbClr val="A6A6A6"/>
                </a:solidFill>
                <a:latin typeface="Corbel"/>
                <a:cs typeface="Corbel"/>
              </a:rPr>
              <a:t>the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usual suspects." Antibiotics 3.2 </a:t>
            </a:r>
            <a:r>
              <a:rPr dirty="0" sz="1100" spc="-10">
                <a:solidFill>
                  <a:srgbClr val="A6A6A6"/>
                </a:solidFill>
                <a:latin typeface="Corbel"/>
                <a:cs typeface="Corbel"/>
              </a:rPr>
              <a:t>(2014):</a:t>
            </a:r>
            <a:r>
              <a:rPr dirty="0" sz="1100" spc="135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128-142.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04807" y="6156959"/>
            <a:ext cx="10928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45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168BBA"/>
                </a:solidFill>
                <a:latin typeface="Corbel"/>
                <a:cs typeface="Corbel"/>
              </a:rPr>
              <a:t>CNN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73467" y="3177576"/>
            <a:ext cx="4438958" cy="29593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705410" y="6723724"/>
            <a:ext cx="16827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53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56615"/>
            <a:ext cx="8619744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33300" y="2519185"/>
            <a:ext cx="6877398" cy="36031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964940" y="6196584"/>
            <a:ext cx="4494530" cy="379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100"/>
              </a:spcBef>
            </a:pPr>
            <a:r>
              <a:rPr dirty="0" sz="1100">
                <a:solidFill>
                  <a:srgbClr val="A6A6A6"/>
                </a:solidFill>
                <a:latin typeface="Corbel"/>
                <a:cs typeface="Corbel"/>
              </a:rPr>
              <a:t>Stokes,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Jonathan M., </a:t>
            </a:r>
            <a:r>
              <a:rPr dirty="0" sz="1100">
                <a:solidFill>
                  <a:srgbClr val="A6A6A6"/>
                </a:solidFill>
                <a:latin typeface="Corbel"/>
                <a:cs typeface="Corbel"/>
              </a:rPr>
              <a:t>et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al. </a:t>
            </a:r>
            <a:r>
              <a:rPr dirty="0" sz="1100">
                <a:solidFill>
                  <a:srgbClr val="A6A6A6"/>
                </a:solidFill>
                <a:latin typeface="Corbel"/>
                <a:cs typeface="Corbel"/>
              </a:rPr>
              <a:t>"A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deep </a:t>
            </a:r>
            <a:r>
              <a:rPr dirty="0" sz="1100" spc="-10">
                <a:solidFill>
                  <a:srgbClr val="A6A6A6"/>
                </a:solidFill>
                <a:latin typeface="Corbel"/>
                <a:cs typeface="Corbel"/>
              </a:rPr>
              <a:t>learning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approach </a:t>
            </a:r>
            <a:r>
              <a:rPr dirty="0" sz="1100">
                <a:solidFill>
                  <a:srgbClr val="A6A6A6"/>
                </a:solidFill>
                <a:latin typeface="Corbel"/>
                <a:cs typeface="Corbel"/>
              </a:rPr>
              <a:t>to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antibiotic discovery."  Cell 180.4 (2020):</a:t>
            </a:r>
            <a:r>
              <a:rPr dirty="0" sz="1100" spc="-55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688-702.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05410" y="6723724"/>
            <a:ext cx="16827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54</a:t>
            </a:r>
            <a:endParaRPr sz="900">
              <a:latin typeface="Corbel"/>
              <a:cs typeface="Corbe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8192134" cy="8851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>
                <a:solidFill>
                  <a:srgbClr val="000000"/>
                </a:solidFill>
              </a:rPr>
              <a:t>A </a:t>
            </a:r>
            <a:r>
              <a:rPr dirty="0" sz="2800" spc="-15">
                <a:solidFill>
                  <a:srgbClr val="000000"/>
                </a:solidFill>
              </a:rPr>
              <a:t>Graph Neural </a:t>
            </a:r>
            <a:r>
              <a:rPr dirty="0" sz="2800" spc="-10">
                <a:solidFill>
                  <a:srgbClr val="000000"/>
                </a:solidFill>
              </a:rPr>
              <a:t>Network </a:t>
            </a:r>
            <a:r>
              <a:rPr dirty="0" sz="2800" spc="-15" b="1">
                <a:solidFill>
                  <a:srgbClr val="000000"/>
                </a:solidFill>
                <a:latin typeface="Calibri"/>
                <a:cs typeface="Calibri"/>
              </a:rPr>
              <a:t>graph </a:t>
            </a:r>
            <a:r>
              <a:rPr dirty="0" sz="2800" spc="-10" b="1">
                <a:solidFill>
                  <a:srgbClr val="000000"/>
                </a:solidFill>
                <a:latin typeface="Calibri"/>
                <a:cs typeface="Calibri"/>
              </a:rPr>
              <a:t>classification</a:t>
            </a:r>
            <a:r>
              <a:rPr dirty="0" sz="2800" spc="7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0000"/>
                </a:solidFill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4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>
                <a:solidFill>
                  <a:srgbClr val="000000"/>
                </a:solidFill>
              </a:rPr>
              <a:t>Predict promising </a:t>
            </a:r>
            <a:r>
              <a:rPr dirty="0" sz="2800" spc="-5">
                <a:solidFill>
                  <a:srgbClr val="000000"/>
                </a:solidFill>
              </a:rPr>
              <a:t>molecules </a:t>
            </a:r>
            <a:r>
              <a:rPr dirty="0" sz="2800" spc="-15">
                <a:solidFill>
                  <a:srgbClr val="000000"/>
                </a:solidFill>
              </a:rPr>
              <a:t>from </a:t>
            </a:r>
            <a:r>
              <a:rPr dirty="0" sz="2800">
                <a:solidFill>
                  <a:srgbClr val="000000"/>
                </a:solidFill>
              </a:rPr>
              <a:t>a </a:t>
            </a:r>
            <a:r>
              <a:rPr dirty="0" sz="2800" spc="-5">
                <a:solidFill>
                  <a:srgbClr val="000000"/>
                </a:solidFill>
              </a:rPr>
              <a:t>pool of</a:t>
            </a:r>
            <a:r>
              <a:rPr dirty="0" sz="2800" spc="100">
                <a:solidFill>
                  <a:srgbClr val="000000"/>
                </a:solidFill>
              </a:rPr>
              <a:t> </a:t>
            </a:r>
            <a:r>
              <a:rPr dirty="0" sz="2800" spc="-15">
                <a:solidFill>
                  <a:srgbClr val="000000"/>
                </a:solidFill>
              </a:rPr>
              <a:t>candidates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4323735" y="69595"/>
            <a:ext cx="46183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Stokes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al.,</a:t>
            </a:r>
            <a:r>
              <a:rPr dirty="0" sz="1200" spc="-6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u="sng">
                <a:solidFill>
                  <a:srgbClr val="168BBA"/>
                </a:solidFill>
                <a:latin typeface="Corbel"/>
                <a:cs typeface="Corbel"/>
              </a:rPr>
              <a:t>A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 Deep Learning</a:t>
            </a:r>
            <a:r>
              <a:rPr dirty="0" sz="1200" spc="-55" u="sng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Approach to</a:t>
            </a:r>
            <a:r>
              <a:rPr dirty="0" sz="1200" spc="-60" u="sng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Antibiotic 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Discovery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,</a:t>
            </a:r>
            <a:r>
              <a:rPr dirty="0" sz="12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Cell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921752" cy="499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8446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0" b="1">
                <a:latin typeface="Calibri"/>
                <a:cs typeface="Calibri"/>
              </a:rPr>
              <a:t>Graph </a:t>
            </a:r>
            <a:r>
              <a:rPr dirty="0" sz="3200" spc="-15" b="1">
                <a:latin typeface="Calibri"/>
                <a:cs typeface="Calibri"/>
              </a:rPr>
              <a:t>generation</a:t>
            </a:r>
            <a:r>
              <a:rPr dirty="0" sz="3200" spc="-15" b="1">
                <a:solidFill>
                  <a:srgbClr val="000000"/>
                </a:solidFill>
                <a:latin typeface="Calibri"/>
                <a:cs typeface="Calibri"/>
              </a:rPr>
              <a:t>: </a:t>
            </a:r>
            <a:r>
              <a:rPr dirty="0" sz="3200" spc="-15">
                <a:solidFill>
                  <a:srgbClr val="000000"/>
                </a:solidFill>
              </a:rPr>
              <a:t>Generating novel</a:t>
            </a:r>
            <a:r>
              <a:rPr dirty="0" sz="3200" spc="-40">
                <a:solidFill>
                  <a:srgbClr val="000000"/>
                </a:solidFill>
              </a:rPr>
              <a:t> </a:t>
            </a:r>
            <a:r>
              <a:rPr dirty="0" sz="3200" spc="-5">
                <a:solidFill>
                  <a:srgbClr val="000000"/>
                </a:solidFill>
                <a:latin typeface="Corbel"/>
                <a:cs typeface="Corbel"/>
              </a:rPr>
              <a:t>molecules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958122"/>
            <a:ext cx="9144000" cy="17307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9600" y="4405495"/>
            <a:ext cx="2438400" cy="2254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53875" y="4468516"/>
            <a:ext cx="1580230" cy="21881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1112" y="3804411"/>
            <a:ext cx="3719829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Use case 1</a:t>
            </a:r>
            <a:r>
              <a:rPr dirty="0" sz="1600" spc="-5" b="1">
                <a:latin typeface="Arial"/>
                <a:cs typeface="Arial"/>
              </a:rPr>
              <a:t>: Generate novel molecules  </a:t>
            </a:r>
            <a:r>
              <a:rPr dirty="0" sz="1600" b="1">
                <a:latin typeface="Arial"/>
                <a:cs typeface="Arial"/>
              </a:rPr>
              <a:t>with </a:t>
            </a:r>
            <a:r>
              <a:rPr dirty="0" sz="1600" spc="-5" b="1">
                <a:latin typeface="Arial"/>
                <a:cs typeface="Arial"/>
              </a:rPr>
              <a:t>high drug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likeness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279875" y="4446045"/>
            <a:ext cx="1683465" cy="215385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13415" y="5226006"/>
            <a:ext cx="647700" cy="337185"/>
          </a:xfrm>
          <a:custGeom>
            <a:avLst/>
            <a:gdLst/>
            <a:ahLst/>
            <a:cxnLst/>
            <a:rect l="l" t="t" r="r" b="b"/>
            <a:pathLst>
              <a:path w="647700" h="337185">
                <a:moveTo>
                  <a:pt x="479404" y="0"/>
                </a:moveTo>
                <a:lnTo>
                  <a:pt x="479404" y="84147"/>
                </a:lnTo>
                <a:lnTo>
                  <a:pt x="0" y="84147"/>
                </a:lnTo>
                <a:lnTo>
                  <a:pt x="0" y="252444"/>
                </a:lnTo>
                <a:lnTo>
                  <a:pt x="479404" y="252444"/>
                </a:lnTo>
                <a:lnTo>
                  <a:pt x="479404" y="336591"/>
                </a:lnTo>
                <a:lnTo>
                  <a:pt x="647700" y="168296"/>
                </a:lnTo>
                <a:lnTo>
                  <a:pt x="47940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13415" y="5226006"/>
            <a:ext cx="647700" cy="337185"/>
          </a:xfrm>
          <a:custGeom>
            <a:avLst/>
            <a:gdLst/>
            <a:ahLst/>
            <a:cxnLst/>
            <a:rect l="l" t="t" r="r" b="b"/>
            <a:pathLst>
              <a:path w="647700" h="337185">
                <a:moveTo>
                  <a:pt x="0" y="84148"/>
                </a:moveTo>
                <a:lnTo>
                  <a:pt x="479404" y="84148"/>
                </a:lnTo>
                <a:lnTo>
                  <a:pt x="479404" y="0"/>
                </a:lnTo>
                <a:lnTo>
                  <a:pt x="647700" y="168296"/>
                </a:lnTo>
                <a:lnTo>
                  <a:pt x="479404" y="336592"/>
                </a:lnTo>
                <a:lnTo>
                  <a:pt x="479404" y="252444"/>
                </a:lnTo>
                <a:lnTo>
                  <a:pt x="0" y="252444"/>
                </a:lnTo>
                <a:lnTo>
                  <a:pt x="0" y="84148"/>
                </a:lnTo>
                <a:close/>
              </a:path>
            </a:pathLst>
          </a:custGeom>
          <a:ln w="4445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90302" y="3807459"/>
            <a:ext cx="418719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Use case 2</a:t>
            </a:r>
            <a:r>
              <a:rPr dirty="0" sz="1600" spc="-5" b="1">
                <a:latin typeface="Arial"/>
                <a:cs typeface="Arial"/>
              </a:rPr>
              <a:t>: Optimize existing molecules </a:t>
            </a:r>
            <a:r>
              <a:rPr dirty="0" sz="1600" b="1">
                <a:latin typeface="Arial"/>
                <a:cs typeface="Arial"/>
              </a:rPr>
              <a:t>to  </a:t>
            </a:r>
            <a:r>
              <a:rPr dirty="0" sz="1600" spc="-5" b="1">
                <a:latin typeface="Arial"/>
                <a:cs typeface="Arial"/>
              </a:rPr>
              <a:t>have desirable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properties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05410" y="6723724"/>
            <a:ext cx="16827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55</a:t>
            </a:r>
            <a:endParaRPr sz="9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61875" y="69595"/>
            <a:ext cx="67779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5">
                <a:solidFill>
                  <a:srgbClr val="FFFFFF"/>
                </a:solidFill>
                <a:latin typeface="Corbel"/>
                <a:cs typeface="Corbel"/>
              </a:rPr>
              <a:t>You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al.,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Graph Convolutional </a:t>
            </a:r>
            <a:r>
              <a:rPr dirty="0" sz="1200" spc="-15" u="sng">
                <a:solidFill>
                  <a:srgbClr val="168BBA"/>
                </a:solidFill>
                <a:latin typeface="Corbel"/>
                <a:cs typeface="Corbel"/>
              </a:rPr>
              <a:t>Policy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Network for Goal-Directed Molecular Graph Generation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9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2018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793735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0828"/>
            <a:ext cx="5158105" cy="9982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29"/>
              </a:lnSpc>
              <a:spcBef>
                <a:spcPts val="100"/>
              </a:spcBef>
            </a:pPr>
            <a:r>
              <a:rPr dirty="0" sz="3200" spc="-20" b="1">
                <a:solidFill>
                  <a:srgbClr val="000000"/>
                </a:solidFill>
                <a:latin typeface="Calibri"/>
                <a:cs typeface="Calibri"/>
              </a:rPr>
              <a:t>Physical </a:t>
            </a:r>
            <a:r>
              <a:rPr dirty="0" sz="3200" spc="-10" b="1">
                <a:solidFill>
                  <a:srgbClr val="000000"/>
                </a:solidFill>
                <a:latin typeface="Calibri"/>
                <a:cs typeface="Calibri"/>
              </a:rPr>
              <a:t>simulation </a:t>
            </a:r>
            <a:r>
              <a:rPr dirty="0" sz="3200" spc="-5" b="1">
                <a:solidFill>
                  <a:srgbClr val="000000"/>
                </a:solidFill>
                <a:latin typeface="Calibri"/>
                <a:cs typeface="Calibri"/>
              </a:rPr>
              <a:t>as </a:t>
            </a:r>
            <a:r>
              <a:rPr dirty="0" sz="3200" b="1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dirty="0" sz="3200" spc="2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000000"/>
                </a:solidFill>
                <a:latin typeface="Calibri"/>
                <a:cs typeface="Calibri"/>
              </a:rPr>
              <a:t>graph: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2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Nodes</a:t>
            </a:r>
            <a:r>
              <a:rPr dirty="0" sz="3200" spc="-5">
                <a:solidFill>
                  <a:srgbClr val="000000"/>
                </a:solidFill>
              </a:rPr>
              <a:t>:</a:t>
            </a:r>
            <a:r>
              <a:rPr dirty="0" sz="3200" spc="-40">
                <a:solidFill>
                  <a:srgbClr val="000000"/>
                </a:solidFill>
              </a:rPr>
              <a:t> </a:t>
            </a:r>
            <a:r>
              <a:rPr dirty="0" sz="3200" spc="-15">
                <a:solidFill>
                  <a:srgbClr val="000000"/>
                </a:solidFill>
              </a:rPr>
              <a:t>Particles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269236"/>
            <a:ext cx="63633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Edges</a:t>
            </a:r>
            <a:r>
              <a:rPr dirty="0" sz="3200" spc="-20">
                <a:latin typeface="Calibri"/>
                <a:cs typeface="Calibri"/>
              </a:rPr>
              <a:t>: </a:t>
            </a:r>
            <a:r>
              <a:rPr dirty="0" sz="3200" spc="-15">
                <a:latin typeface="Calibri"/>
                <a:cs typeface="Calibri"/>
              </a:rPr>
              <a:t>Interaction </a:t>
            </a:r>
            <a:r>
              <a:rPr dirty="0" sz="3200" spc="-10">
                <a:latin typeface="Calibri"/>
                <a:cs typeface="Calibri"/>
              </a:rPr>
              <a:t>between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particles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9957" y="2895601"/>
            <a:ext cx="1828799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57600" y="2895601"/>
            <a:ext cx="1828800" cy="1828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97673" y="2895601"/>
            <a:ext cx="1828800" cy="1828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98341" y="4846320"/>
            <a:ext cx="1828799" cy="18287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57600" y="4842925"/>
            <a:ext cx="1828800" cy="18287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79949" y="4846320"/>
            <a:ext cx="1828799" cy="18287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78316" y="69595"/>
            <a:ext cx="60058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Sanchez-Gonzalez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al.,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Learning to simulate complex physics with graph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ICML</a:t>
            </a:r>
            <a:r>
              <a:rPr dirty="0" sz="1200" spc="7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05410" y="6723724"/>
            <a:ext cx="16827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56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91565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27900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z="3200" b="1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z="3200" spc="-20" b="1">
                <a:solidFill>
                  <a:srgbClr val="000000"/>
                </a:solidFill>
                <a:latin typeface="Calibri"/>
                <a:cs typeface="Calibri"/>
              </a:rPr>
              <a:t>graph </a:t>
            </a:r>
            <a:r>
              <a:rPr dirty="0" sz="3200" spc="-10" b="1">
                <a:solidFill>
                  <a:srgbClr val="000000"/>
                </a:solidFill>
                <a:latin typeface="Calibri"/>
                <a:cs typeface="Calibri"/>
              </a:rPr>
              <a:t>evolution</a:t>
            </a:r>
            <a:r>
              <a:rPr dirty="0" sz="3200" spc="-3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0000"/>
                </a:solidFill>
                <a:latin typeface="Calibri"/>
                <a:cs typeface="Calibri"/>
              </a:rPr>
              <a:t>task: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Goal</a:t>
            </a:r>
            <a:r>
              <a:rPr dirty="0" sz="3200" spc="-5">
                <a:solidFill>
                  <a:srgbClr val="000000"/>
                </a:solidFill>
              </a:rPr>
              <a:t>: </a:t>
            </a:r>
            <a:r>
              <a:rPr dirty="0" sz="3200" spc="-10">
                <a:solidFill>
                  <a:srgbClr val="000000"/>
                </a:solidFill>
              </a:rPr>
              <a:t>Predict </a:t>
            </a:r>
            <a:r>
              <a:rPr dirty="0" sz="3200" spc="-5">
                <a:solidFill>
                  <a:srgbClr val="000000"/>
                </a:solidFill>
              </a:rPr>
              <a:t>how </a:t>
            </a:r>
            <a:r>
              <a:rPr dirty="0" sz="3200">
                <a:solidFill>
                  <a:srgbClr val="000000"/>
                </a:solidFill>
              </a:rPr>
              <a:t>a </a:t>
            </a:r>
            <a:r>
              <a:rPr dirty="0" sz="3200" spc="-15">
                <a:solidFill>
                  <a:srgbClr val="000000"/>
                </a:solidFill>
              </a:rPr>
              <a:t>graph </a:t>
            </a:r>
            <a:r>
              <a:rPr dirty="0" sz="3200" spc="-5">
                <a:solidFill>
                  <a:srgbClr val="000000"/>
                </a:solidFill>
              </a:rPr>
              <a:t>will </a:t>
            </a:r>
            <a:r>
              <a:rPr dirty="0" sz="3200" spc="-15">
                <a:solidFill>
                  <a:srgbClr val="000000"/>
                </a:solidFill>
              </a:rPr>
              <a:t>evolve</a:t>
            </a:r>
            <a:r>
              <a:rPr dirty="0" sz="3200" spc="15">
                <a:solidFill>
                  <a:srgbClr val="000000"/>
                </a:solidFill>
              </a:rPr>
              <a:t> </a:t>
            </a:r>
            <a:r>
              <a:rPr dirty="0" sz="3200" spc="-15">
                <a:solidFill>
                  <a:srgbClr val="000000"/>
                </a:solidFill>
              </a:rPr>
              <a:t>over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0849" y="2359294"/>
            <a:ext cx="758825" cy="496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685"/>
              </a:lnSpc>
            </a:pPr>
            <a:r>
              <a:rPr dirty="0" sz="3200">
                <a:latin typeface="Calibri"/>
                <a:cs typeface="Calibri"/>
              </a:rPr>
              <a:t>t</a:t>
            </a:r>
            <a:r>
              <a:rPr dirty="0" sz="3200" spc="0">
                <a:latin typeface="Calibri"/>
                <a:cs typeface="Calibri"/>
              </a:rPr>
              <a:t>im</a:t>
            </a:r>
            <a:r>
              <a:rPr dirty="0" sz="3200">
                <a:latin typeface="Calibri"/>
                <a:cs typeface="Calibri"/>
              </a:rPr>
              <a:t>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2513013"/>
            <a:ext cx="9144000" cy="40401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878316" y="69595"/>
            <a:ext cx="60058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Sanchez-Gonzalez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al.,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Learning to simulate complex physics with graph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ICML</a:t>
            </a:r>
            <a:r>
              <a:rPr dirty="0" sz="1200" spc="7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05410" y="6723724"/>
            <a:ext cx="16827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57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8576" y="3270503"/>
            <a:ext cx="8101583" cy="13045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645566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4396740"/>
            <a:ext cx="4458335" cy="1007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Objects: </a:t>
            </a:r>
            <a:r>
              <a:rPr dirty="0" sz="3200" spc="-5">
                <a:latin typeface="Calibri"/>
                <a:cs typeface="Calibri"/>
              </a:rPr>
              <a:t>nodes,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vertices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Interactions: </a:t>
            </a:r>
            <a:r>
              <a:rPr dirty="0" sz="3200" spc="-10">
                <a:latin typeface="Calibri"/>
                <a:cs typeface="Calibri"/>
              </a:rPr>
              <a:t>links,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edges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5375148"/>
            <a:ext cx="427355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5" b="1">
                <a:solidFill>
                  <a:srgbClr val="0000FF"/>
                </a:solidFill>
                <a:latin typeface="Calibri"/>
                <a:cs typeface="Calibri"/>
              </a:rPr>
              <a:t>System: </a:t>
            </a:r>
            <a:r>
              <a:rPr dirty="0" sz="3200" spc="-10">
                <a:latin typeface="Calibri"/>
                <a:cs typeface="Calibri"/>
              </a:rPr>
              <a:t>network,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0164" y="4396740"/>
            <a:ext cx="1256665" cy="149161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941705">
              <a:lnSpc>
                <a:spcPct val="101299"/>
              </a:lnSpc>
              <a:spcBef>
                <a:spcPts val="50"/>
              </a:spcBef>
            </a:pPr>
            <a:r>
              <a:rPr dirty="0" sz="3200" b="1" i="1">
                <a:latin typeface="Times New Roman"/>
                <a:cs typeface="Times New Roman"/>
              </a:rPr>
              <a:t>N </a:t>
            </a:r>
            <a:r>
              <a:rPr dirty="0" sz="3200" b="1" i="1">
                <a:latin typeface="Times New Roman"/>
                <a:cs typeface="Times New Roman"/>
              </a:rPr>
              <a:t> E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815"/>
              </a:lnSpc>
            </a:pPr>
            <a:r>
              <a:rPr dirty="0" sz="3200" spc="-5" b="1" i="1">
                <a:latin typeface="Times New Roman"/>
                <a:cs typeface="Times New Roman"/>
              </a:rPr>
              <a:t>G(N,E)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227" y="6694423"/>
            <a:ext cx="3530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1/13/21</a:t>
            </a:r>
            <a:endParaRPr sz="9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3615" y="6694423"/>
            <a:ext cx="30657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Jure Leskovec, Stanford CS224W: Machine Learning with</a:t>
            </a:r>
            <a:r>
              <a:rPr dirty="0" sz="900" spc="5">
                <a:solidFill>
                  <a:srgbClr val="3F3F3F"/>
                </a:solidFill>
                <a:latin typeface="Corbel"/>
                <a:cs typeface="Corbe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Graphs</a:t>
            </a:r>
            <a:endParaRPr sz="9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18110" y="6694423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0">
                <a:solidFill>
                  <a:srgbClr val="3F3F3F"/>
                </a:solidFill>
                <a:latin typeface="Corbel"/>
                <a:cs typeface="Corbel"/>
              </a:rPr>
              <a:t>59</a:t>
            </a:r>
            <a:endParaRPr sz="900">
              <a:latin typeface="Corbel"/>
              <a:cs typeface="Corbe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84908" y="2587393"/>
            <a:ext cx="878205" cy="944880"/>
          </a:xfrm>
          <a:custGeom>
            <a:avLst/>
            <a:gdLst/>
            <a:ahLst/>
            <a:cxnLst/>
            <a:rect l="l" t="t" r="r" b="b"/>
            <a:pathLst>
              <a:path w="878205" h="944879">
                <a:moveTo>
                  <a:pt x="0" y="0"/>
                </a:moveTo>
                <a:lnTo>
                  <a:pt x="877698" y="94433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51081" y="3120480"/>
            <a:ext cx="544830" cy="411480"/>
          </a:xfrm>
          <a:custGeom>
            <a:avLst/>
            <a:gdLst/>
            <a:ahLst/>
            <a:cxnLst/>
            <a:rect l="l" t="t" r="r" b="b"/>
            <a:pathLst>
              <a:path w="544829" h="411479">
                <a:moveTo>
                  <a:pt x="0" y="411247"/>
                </a:moveTo>
                <a:lnTo>
                  <a:pt x="54451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17532" y="2320851"/>
            <a:ext cx="172720" cy="572135"/>
          </a:xfrm>
          <a:custGeom>
            <a:avLst/>
            <a:gdLst/>
            <a:ahLst/>
            <a:cxnLst/>
            <a:rect l="l" t="t" r="r" b="b"/>
            <a:pathLst>
              <a:path w="172720" h="572135">
                <a:moveTo>
                  <a:pt x="0" y="0"/>
                </a:moveTo>
                <a:lnTo>
                  <a:pt x="172306" y="572121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51081" y="2320851"/>
            <a:ext cx="278130" cy="1210945"/>
          </a:xfrm>
          <a:custGeom>
            <a:avLst/>
            <a:gdLst/>
            <a:ahLst/>
            <a:cxnLst/>
            <a:rect l="l" t="t" r="r" b="b"/>
            <a:pathLst>
              <a:path w="278129" h="1210945">
                <a:moveTo>
                  <a:pt x="277976" y="0"/>
                </a:moveTo>
                <a:lnTo>
                  <a:pt x="0" y="121087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123109" y="2892971"/>
            <a:ext cx="466725" cy="133350"/>
          </a:xfrm>
          <a:custGeom>
            <a:avLst/>
            <a:gdLst/>
            <a:ahLst/>
            <a:cxnLst/>
            <a:rect l="l" t="t" r="r" b="b"/>
            <a:pathLst>
              <a:path w="466725" h="133350">
                <a:moveTo>
                  <a:pt x="0" y="133272"/>
                </a:moveTo>
                <a:lnTo>
                  <a:pt x="466451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17069" y="2320850"/>
            <a:ext cx="1210945" cy="478155"/>
          </a:xfrm>
          <a:custGeom>
            <a:avLst/>
            <a:gdLst/>
            <a:ahLst/>
            <a:cxnLst/>
            <a:rect l="l" t="t" r="r" b="b"/>
            <a:pathLst>
              <a:path w="1210945" h="478155">
                <a:moveTo>
                  <a:pt x="0" y="477883"/>
                </a:moveTo>
                <a:lnTo>
                  <a:pt x="121087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84076" y="3120481"/>
            <a:ext cx="1144270" cy="544830"/>
          </a:xfrm>
          <a:custGeom>
            <a:avLst/>
            <a:gdLst/>
            <a:ahLst/>
            <a:cxnLst/>
            <a:rect l="l" t="t" r="r" b="b"/>
            <a:pathLst>
              <a:path w="1144270" h="544829">
                <a:moveTo>
                  <a:pt x="0" y="0"/>
                </a:moveTo>
                <a:lnTo>
                  <a:pt x="1144241" y="54451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856103" y="2892972"/>
            <a:ext cx="1732914" cy="133350"/>
          </a:xfrm>
          <a:custGeom>
            <a:avLst/>
            <a:gdLst/>
            <a:ahLst/>
            <a:cxnLst/>
            <a:rect l="l" t="t" r="r" b="b"/>
            <a:pathLst>
              <a:path w="1732915" h="133350">
                <a:moveTo>
                  <a:pt x="0" y="0"/>
                </a:moveTo>
                <a:lnTo>
                  <a:pt x="1732531" y="133272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017776" y="2337816"/>
            <a:ext cx="347472" cy="347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57400" y="235357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71" y="0"/>
                </a:moveTo>
                <a:lnTo>
                  <a:pt x="91147" y="6794"/>
                </a:lnTo>
                <a:lnTo>
                  <a:pt x="54562" y="25713"/>
                </a:lnTo>
                <a:lnTo>
                  <a:pt x="25713" y="54563"/>
                </a:lnTo>
                <a:lnTo>
                  <a:pt x="6794" y="91148"/>
                </a:lnTo>
                <a:lnTo>
                  <a:pt x="0" y="133272"/>
                </a:lnTo>
                <a:lnTo>
                  <a:pt x="6794" y="175396"/>
                </a:lnTo>
                <a:lnTo>
                  <a:pt x="25713" y="211980"/>
                </a:lnTo>
                <a:lnTo>
                  <a:pt x="54562" y="240829"/>
                </a:lnTo>
                <a:lnTo>
                  <a:pt x="91147" y="259749"/>
                </a:lnTo>
                <a:lnTo>
                  <a:pt x="133271" y="266543"/>
                </a:lnTo>
                <a:lnTo>
                  <a:pt x="175395" y="259749"/>
                </a:lnTo>
                <a:lnTo>
                  <a:pt x="211979" y="240829"/>
                </a:lnTo>
                <a:lnTo>
                  <a:pt x="240829" y="211980"/>
                </a:lnTo>
                <a:lnTo>
                  <a:pt x="259748" y="175396"/>
                </a:lnTo>
                <a:lnTo>
                  <a:pt x="266542" y="133272"/>
                </a:lnTo>
                <a:lnTo>
                  <a:pt x="259748" y="91148"/>
                </a:lnTo>
                <a:lnTo>
                  <a:pt x="240829" y="54563"/>
                </a:lnTo>
                <a:lnTo>
                  <a:pt x="211979" y="25713"/>
                </a:lnTo>
                <a:lnTo>
                  <a:pt x="175395" y="6794"/>
                </a:lnTo>
                <a:lnTo>
                  <a:pt x="13327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81527" y="3471671"/>
            <a:ext cx="350520" cy="3474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123572" y="348638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71" y="0"/>
                </a:moveTo>
                <a:lnTo>
                  <a:pt x="91147" y="6794"/>
                </a:lnTo>
                <a:lnTo>
                  <a:pt x="54563" y="25713"/>
                </a:lnTo>
                <a:lnTo>
                  <a:pt x="25713" y="54563"/>
                </a:lnTo>
                <a:lnTo>
                  <a:pt x="6794" y="91147"/>
                </a:lnTo>
                <a:lnTo>
                  <a:pt x="0" y="133271"/>
                </a:lnTo>
                <a:lnTo>
                  <a:pt x="6794" y="175395"/>
                </a:lnTo>
                <a:lnTo>
                  <a:pt x="25713" y="211979"/>
                </a:lnTo>
                <a:lnTo>
                  <a:pt x="54563" y="240829"/>
                </a:lnTo>
                <a:lnTo>
                  <a:pt x="91147" y="259748"/>
                </a:lnTo>
                <a:lnTo>
                  <a:pt x="133271" y="266542"/>
                </a:lnTo>
                <a:lnTo>
                  <a:pt x="175395" y="259748"/>
                </a:lnTo>
                <a:lnTo>
                  <a:pt x="211980" y="240829"/>
                </a:lnTo>
                <a:lnTo>
                  <a:pt x="240829" y="211979"/>
                </a:lnTo>
                <a:lnTo>
                  <a:pt x="259749" y="175395"/>
                </a:lnTo>
                <a:lnTo>
                  <a:pt x="266543" y="133271"/>
                </a:lnTo>
                <a:lnTo>
                  <a:pt x="259749" y="91147"/>
                </a:lnTo>
                <a:lnTo>
                  <a:pt x="240829" y="54563"/>
                </a:lnTo>
                <a:lnTo>
                  <a:pt x="211980" y="25713"/>
                </a:lnTo>
                <a:lnTo>
                  <a:pt x="175395" y="6794"/>
                </a:lnTo>
                <a:lnTo>
                  <a:pt x="13327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550920" y="2072639"/>
            <a:ext cx="347472" cy="3474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590023" y="2087032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72" y="0"/>
                </a:moveTo>
                <a:lnTo>
                  <a:pt x="91148" y="6794"/>
                </a:lnTo>
                <a:lnTo>
                  <a:pt x="54563" y="25713"/>
                </a:lnTo>
                <a:lnTo>
                  <a:pt x="25713" y="54562"/>
                </a:lnTo>
                <a:lnTo>
                  <a:pt x="6794" y="91147"/>
                </a:lnTo>
                <a:lnTo>
                  <a:pt x="0" y="133271"/>
                </a:lnTo>
                <a:lnTo>
                  <a:pt x="6794" y="175395"/>
                </a:lnTo>
                <a:lnTo>
                  <a:pt x="25713" y="211979"/>
                </a:lnTo>
                <a:lnTo>
                  <a:pt x="54563" y="240829"/>
                </a:lnTo>
                <a:lnTo>
                  <a:pt x="91148" y="259748"/>
                </a:lnTo>
                <a:lnTo>
                  <a:pt x="133272" y="266542"/>
                </a:lnTo>
                <a:lnTo>
                  <a:pt x="175396" y="259748"/>
                </a:lnTo>
                <a:lnTo>
                  <a:pt x="211980" y="240829"/>
                </a:lnTo>
                <a:lnTo>
                  <a:pt x="240829" y="211979"/>
                </a:lnTo>
                <a:lnTo>
                  <a:pt x="259749" y="175395"/>
                </a:lnTo>
                <a:lnTo>
                  <a:pt x="266543" y="133271"/>
                </a:lnTo>
                <a:lnTo>
                  <a:pt x="259749" y="91147"/>
                </a:lnTo>
                <a:lnTo>
                  <a:pt x="240829" y="54562"/>
                </a:lnTo>
                <a:lnTo>
                  <a:pt x="211980" y="25713"/>
                </a:lnTo>
                <a:lnTo>
                  <a:pt x="175396" y="6794"/>
                </a:lnTo>
                <a:lnTo>
                  <a:pt x="13327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816096" y="2871216"/>
            <a:ext cx="347472" cy="3474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856566" y="2886662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71" y="0"/>
                </a:moveTo>
                <a:lnTo>
                  <a:pt x="91147" y="6794"/>
                </a:lnTo>
                <a:lnTo>
                  <a:pt x="54562" y="25713"/>
                </a:lnTo>
                <a:lnTo>
                  <a:pt x="25713" y="54562"/>
                </a:lnTo>
                <a:lnTo>
                  <a:pt x="6794" y="91147"/>
                </a:lnTo>
                <a:lnTo>
                  <a:pt x="0" y="133271"/>
                </a:lnTo>
                <a:lnTo>
                  <a:pt x="6794" y="175395"/>
                </a:lnTo>
                <a:lnTo>
                  <a:pt x="25713" y="211979"/>
                </a:lnTo>
                <a:lnTo>
                  <a:pt x="54562" y="240829"/>
                </a:lnTo>
                <a:lnTo>
                  <a:pt x="91147" y="259748"/>
                </a:lnTo>
                <a:lnTo>
                  <a:pt x="133271" y="266542"/>
                </a:lnTo>
                <a:lnTo>
                  <a:pt x="175395" y="259748"/>
                </a:lnTo>
                <a:lnTo>
                  <a:pt x="211979" y="240829"/>
                </a:lnTo>
                <a:lnTo>
                  <a:pt x="240829" y="211979"/>
                </a:lnTo>
                <a:lnTo>
                  <a:pt x="259748" y="175395"/>
                </a:lnTo>
                <a:lnTo>
                  <a:pt x="266542" y="133271"/>
                </a:lnTo>
                <a:lnTo>
                  <a:pt x="259748" y="91147"/>
                </a:lnTo>
                <a:lnTo>
                  <a:pt x="240829" y="54562"/>
                </a:lnTo>
                <a:lnTo>
                  <a:pt x="211979" y="25713"/>
                </a:lnTo>
                <a:lnTo>
                  <a:pt x="175395" y="6794"/>
                </a:lnTo>
                <a:lnTo>
                  <a:pt x="13327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47615" y="2737104"/>
            <a:ext cx="350520" cy="3474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589560" y="275339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72" y="0"/>
                </a:moveTo>
                <a:lnTo>
                  <a:pt x="91148" y="6794"/>
                </a:lnTo>
                <a:lnTo>
                  <a:pt x="54563" y="25713"/>
                </a:lnTo>
                <a:lnTo>
                  <a:pt x="25713" y="54563"/>
                </a:lnTo>
                <a:lnTo>
                  <a:pt x="6794" y="91148"/>
                </a:lnTo>
                <a:lnTo>
                  <a:pt x="0" y="133272"/>
                </a:lnTo>
                <a:lnTo>
                  <a:pt x="6794" y="175396"/>
                </a:lnTo>
                <a:lnTo>
                  <a:pt x="25713" y="211980"/>
                </a:lnTo>
                <a:lnTo>
                  <a:pt x="54563" y="240829"/>
                </a:lnTo>
                <a:lnTo>
                  <a:pt x="91148" y="259749"/>
                </a:lnTo>
                <a:lnTo>
                  <a:pt x="133272" y="266543"/>
                </a:lnTo>
                <a:lnTo>
                  <a:pt x="175396" y="259749"/>
                </a:lnTo>
                <a:lnTo>
                  <a:pt x="211980" y="240829"/>
                </a:lnTo>
                <a:lnTo>
                  <a:pt x="240829" y="211980"/>
                </a:lnTo>
                <a:lnTo>
                  <a:pt x="259749" y="175396"/>
                </a:lnTo>
                <a:lnTo>
                  <a:pt x="266543" y="133272"/>
                </a:lnTo>
                <a:lnTo>
                  <a:pt x="259749" y="91148"/>
                </a:lnTo>
                <a:lnTo>
                  <a:pt x="240829" y="54563"/>
                </a:lnTo>
                <a:lnTo>
                  <a:pt x="211980" y="25713"/>
                </a:lnTo>
                <a:lnTo>
                  <a:pt x="175396" y="6794"/>
                </a:lnTo>
                <a:lnTo>
                  <a:pt x="13327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949696" y="2072639"/>
            <a:ext cx="347472" cy="3474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988912" y="2087032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72" y="0"/>
                </a:moveTo>
                <a:lnTo>
                  <a:pt x="91148" y="6794"/>
                </a:lnTo>
                <a:lnTo>
                  <a:pt x="54563" y="25713"/>
                </a:lnTo>
                <a:lnTo>
                  <a:pt x="25713" y="54562"/>
                </a:lnTo>
                <a:lnTo>
                  <a:pt x="6794" y="91147"/>
                </a:lnTo>
                <a:lnTo>
                  <a:pt x="0" y="133271"/>
                </a:lnTo>
                <a:lnTo>
                  <a:pt x="6794" y="175395"/>
                </a:lnTo>
                <a:lnTo>
                  <a:pt x="25713" y="211979"/>
                </a:lnTo>
                <a:lnTo>
                  <a:pt x="54563" y="240829"/>
                </a:lnTo>
                <a:lnTo>
                  <a:pt x="91148" y="259748"/>
                </a:lnTo>
                <a:lnTo>
                  <a:pt x="133272" y="266542"/>
                </a:lnTo>
                <a:lnTo>
                  <a:pt x="175396" y="259748"/>
                </a:lnTo>
                <a:lnTo>
                  <a:pt x="211980" y="240829"/>
                </a:lnTo>
                <a:lnTo>
                  <a:pt x="240829" y="211979"/>
                </a:lnTo>
                <a:lnTo>
                  <a:pt x="259749" y="175395"/>
                </a:lnTo>
                <a:lnTo>
                  <a:pt x="266543" y="133271"/>
                </a:lnTo>
                <a:lnTo>
                  <a:pt x="259749" y="91147"/>
                </a:lnTo>
                <a:lnTo>
                  <a:pt x="240829" y="54562"/>
                </a:lnTo>
                <a:lnTo>
                  <a:pt x="211980" y="25713"/>
                </a:lnTo>
                <a:lnTo>
                  <a:pt x="175396" y="6794"/>
                </a:lnTo>
                <a:lnTo>
                  <a:pt x="13327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547104" y="2871216"/>
            <a:ext cx="347472" cy="3474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588635" y="2886662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71" y="0"/>
                </a:moveTo>
                <a:lnTo>
                  <a:pt x="91147" y="6794"/>
                </a:lnTo>
                <a:lnTo>
                  <a:pt x="54562" y="25713"/>
                </a:lnTo>
                <a:lnTo>
                  <a:pt x="25713" y="54562"/>
                </a:lnTo>
                <a:lnTo>
                  <a:pt x="6794" y="91147"/>
                </a:lnTo>
                <a:lnTo>
                  <a:pt x="0" y="133271"/>
                </a:lnTo>
                <a:lnTo>
                  <a:pt x="6794" y="175395"/>
                </a:lnTo>
                <a:lnTo>
                  <a:pt x="25713" y="211979"/>
                </a:lnTo>
                <a:lnTo>
                  <a:pt x="54562" y="240829"/>
                </a:lnTo>
                <a:lnTo>
                  <a:pt x="91147" y="259748"/>
                </a:lnTo>
                <a:lnTo>
                  <a:pt x="133271" y="266542"/>
                </a:lnTo>
                <a:lnTo>
                  <a:pt x="175395" y="259748"/>
                </a:lnTo>
                <a:lnTo>
                  <a:pt x="211979" y="240829"/>
                </a:lnTo>
                <a:lnTo>
                  <a:pt x="240829" y="211979"/>
                </a:lnTo>
                <a:lnTo>
                  <a:pt x="259748" y="175395"/>
                </a:lnTo>
                <a:lnTo>
                  <a:pt x="266542" y="133271"/>
                </a:lnTo>
                <a:lnTo>
                  <a:pt x="259748" y="91147"/>
                </a:lnTo>
                <a:lnTo>
                  <a:pt x="240829" y="54562"/>
                </a:lnTo>
                <a:lnTo>
                  <a:pt x="211979" y="25713"/>
                </a:lnTo>
                <a:lnTo>
                  <a:pt x="175395" y="6794"/>
                </a:lnTo>
                <a:lnTo>
                  <a:pt x="13327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148071" y="3605784"/>
            <a:ext cx="347472" cy="34747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189282" y="3619657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72" y="0"/>
                </a:moveTo>
                <a:lnTo>
                  <a:pt x="91148" y="6794"/>
                </a:lnTo>
                <a:lnTo>
                  <a:pt x="54563" y="25713"/>
                </a:lnTo>
                <a:lnTo>
                  <a:pt x="25713" y="54562"/>
                </a:lnTo>
                <a:lnTo>
                  <a:pt x="6794" y="91147"/>
                </a:lnTo>
                <a:lnTo>
                  <a:pt x="0" y="133271"/>
                </a:lnTo>
                <a:lnTo>
                  <a:pt x="6794" y="175395"/>
                </a:lnTo>
                <a:lnTo>
                  <a:pt x="25713" y="211979"/>
                </a:lnTo>
                <a:lnTo>
                  <a:pt x="54563" y="240829"/>
                </a:lnTo>
                <a:lnTo>
                  <a:pt x="91148" y="259748"/>
                </a:lnTo>
                <a:lnTo>
                  <a:pt x="133272" y="266542"/>
                </a:lnTo>
                <a:lnTo>
                  <a:pt x="175396" y="259748"/>
                </a:lnTo>
                <a:lnTo>
                  <a:pt x="211980" y="240829"/>
                </a:lnTo>
                <a:lnTo>
                  <a:pt x="240829" y="211979"/>
                </a:lnTo>
                <a:lnTo>
                  <a:pt x="259749" y="175395"/>
                </a:lnTo>
                <a:lnTo>
                  <a:pt x="266543" y="133271"/>
                </a:lnTo>
                <a:lnTo>
                  <a:pt x="259749" y="91147"/>
                </a:lnTo>
                <a:lnTo>
                  <a:pt x="240829" y="54562"/>
                </a:lnTo>
                <a:lnTo>
                  <a:pt x="211980" y="25713"/>
                </a:lnTo>
                <a:lnTo>
                  <a:pt x="175396" y="6794"/>
                </a:lnTo>
                <a:lnTo>
                  <a:pt x="13327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2664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4227" y="6694423"/>
            <a:ext cx="3530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1/13/21</a:t>
            </a:r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3615" y="6706616"/>
            <a:ext cx="33597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Arial"/>
                <a:cs typeface="Arial"/>
              </a:rPr>
              <a:t>Jure Leskovec, Stanford CS224W: Machine Learning with</a:t>
            </a:r>
            <a:r>
              <a:rPr dirty="0" sz="900" spc="15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Arial"/>
                <a:cs typeface="Arial"/>
              </a:rPr>
              <a:t>Graphs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06997" y="6706616"/>
            <a:ext cx="1530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Arial"/>
                <a:cs typeface="Arial"/>
              </a:rPr>
              <a:t>60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34000" y="4641406"/>
            <a:ext cx="3429000" cy="17192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34000" y="1778313"/>
            <a:ext cx="3460750" cy="22602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020923" y="2603500"/>
            <a:ext cx="5334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800000"/>
                </a:solidFill>
                <a:latin typeface="Arial"/>
                <a:cs typeface="Arial"/>
              </a:rPr>
              <a:t>Pe</a:t>
            </a:r>
            <a:r>
              <a:rPr dirty="0" sz="1600" b="1">
                <a:solidFill>
                  <a:srgbClr val="800000"/>
                </a:solidFill>
                <a:latin typeface="Arial"/>
                <a:cs typeface="Arial"/>
              </a:rPr>
              <a:t>t</a:t>
            </a:r>
            <a:r>
              <a:rPr dirty="0" sz="1600" spc="-5" b="1">
                <a:solidFill>
                  <a:srgbClr val="800000"/>
                </a:solidFill>
                <a:latin typeface="Arial"/>
                <a:cs typeface="Arial"/>
              </a:rPr>
              <a:t>e</a:t>
            </a:r>
            <a:r>
              <a:rPr dirty="0" sz="1600" b="1">
                <a:solidFill>
                  <a:srgbClr val="800000"/>
                </a:solidFill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34711" y="2527300"/>
            <a:ext cx="5010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800000"/>
                </a:solidFill>
                <a:latin typeface="Arial"/>
                <a:cs typeface="Arial"/>
              </a:rPr>
              <a:t>M</a:t>
            </a:r>
            <a:r>
              <a:rPr dirty="0" sz="1600" spc="-5" b="1">
                <a:solidFill>
                  <a:srgbClr val="800000"/>
                </a:solidFill>
                <a:latin typeface="Arial"/>
                <a:cs typeface="Arial"/>
              </a:rPr>
              <a:t>a</a:t>
            </a:r>
            <a:r>
              <a:rPr dirty="0" sz="1600" b="1">
                <a:solidFill>
                  <a:srgbClr val="800000"/>
                </a:solidFill>
                <a:latin typeface="Arial"/>
                <a:cs typeface="Arial"/>
              </a:rPr>
              <a:t>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67035" y="3746500"/>
            <a:ext cx="6127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800000"/>
                </a:solidFill>
                <a:latin typeface="Arial"/>
                <a:cs typeface="Arial"/>
              </a:rPr>
              <a:t>A</a:t>
            </a:r>
            <a:r>
              <a:rPr dirty="0" sz="1600" spc="0" b="1">
                <a:solidFill>
                  <a:srgbClr val="800000"/>
                </a:solidFill>
                <a:latin typeface="Arial"/>
                <a:cs typeface="Arial"/>
              </a:rPr>
              <a:t>l</a:t>
            </a:r>
            <a:r>
              <a:rPr dirty="0" sz="1600" spc="-5" b="1">
                <a:solidFill>
                  <a:srgbClr val="800000"/>
                </a:solidFill>
                <a:latin typeface="Arial"/>
                <a:cs typeface="Arial"/>
              </a:rPr>
              <a:t>be</a:t>
            </a:r>
            <a:r>
              <a:rPr dirty="0" sz="1600" b="1">
                <a:solidFill>
                  <a:srgbClr val="800000"/>
                </a:solidFill>
                <a:latin typeface="Arial"/>
                <a:cs typeface="Arial"/>
              </a:rPr>
              <a:t>rt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36886" y="2966211"/>
            <a:ext cx="43878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25" b="1">
                <a:solidFill>
                  <a:srgbClr val="800000"/>
                </a:solidFill>
                <a:latin typeface="Arial"/>
                <a:cs typeface="Arial"/>
              </a:rPr>
              <a:t>T</a:t>
            </a:r>
            <a:r>
              <a:rPr dirty="0" sz="1600" spc="-5" b="1">
                <a:solidFill>
                  <a:srgbClr val="800000"/>
                </a:solidFill>
                <a:latin typeface="Arial"/>
                <a:cs typeface="Arial"/>
              </a:rPr>
              <a:t>o</a:t>
            </a:r>
            <a:r>
              <a:rPr dirty="0" sz="1600" b="1">
                <a:solidFill>
                  <a:srgbClr val="800000"/>
                </a:solidFill>
                <a:latin typeface="Arial"/>
                <a:cs typeface="Arial"/>
              </a:rPr>
              <a:t>m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84748" y="2419604"/>
            <a:ext cx="6921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Arial"/>
                <a:cs typeface="Arial"/>
              </a:rPr>
              <a:t>c</a:t>
            </a:r>
            <a:r>
              <a:rPr dirty="0" sz="1200" spc="-5" i="1">
                <a:latin typeface="Arial"/>
                <a:cs typeface="Arial"/>
              </a:rPr>
              <a:t>o</a:t>
            </a:r>
            <a:r>
              <a:rPr dirty="0" sz="1200" i="1">
                <a:latin typeface="Arial"/>
                <a:cs typeface="Arial"/>
              </a:rPr>
              <a:t>-</a:t>
            </a:r>
            <a:r>
              <a:rPr dirty="0" sz="1200" spc="-5" i="1">
                <a:latin typeface="Arial"/>
                <a:cs typeface="Arial"/>
              </a:rPr>
              <a:t>wo</a:t>
            </a:r>
            <a:r>
              <a:rPr dirty="0" sz="1200" i="1">
                <a:latin typeface="Arial"/>
                <a:cs typeface="Arial"/>
              </a:rPr>
              <a:t>rk</a:t>
            </a:r>
            <a:r>
              <a:rPr dirty="0" sz="1200" spc="-5" i="1">
                <a:latin typeface="Arial"/>
                <a:cs typeface="Arial"/>
              </a:rPr>
              <a:t>e</a:t>
            </a:r>
            <a:r>
              <a:rPr dirty="0" sz="1200" i="1"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53736" y="3105404"/>
            <a:ext cx="4057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Arial"/>
                <a:cs typeface="Arial"/>
              </a:rPr>
              <a:t>fr</a:t>
            </a:r>
            <a:r>
              <a:rPr dirty="0" sz="1200" spc="-5" i="1">
                <a:latin typeface="Arial"/>
                <a:cs typeface="Arial"/>
              </a:rPr>
              <a:t>ien</a:t>
            </a:r>
            <a:r>
              <a:rPr dirty="0" sz="1200" i="1"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17036" y="3120644"/>
            <a:ext cx="5829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i="1">
                <a:latin typeface="Arial"/>
                <a:cs typeface="Arial"/>
              </a:rPr>
              <a:t>bro</a:t>
            </a:r>
            <a:r>
              <a:rPr dirty="0" sz="1200" i="1">
                <a:latin typeface="Arial"/>
                <a:cs typeface="Arial"/>
              </a:rPr>
              <a:t>t</a:t>
            </a:r>
            <a:r>
              <a:rPr dirty="0" sz="1200" spc="-5" i="1">
                <a:latin typeface="Arial"/>
                <a:cs typeface="Arial"/>
              </a:rPr>
              <a:t>her</a:t>
            </a:r>
            <a:r>
              <a:rPr dirty="0" sz="1200" i="1"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91736" y="2267204"/>
            <a:ext cx="4057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Arial"/>
                <a:cs typeface="Arial"/>
              </a:rPr>
              <a:t>fr</a:t>
            </a:r>
            <a:r>
              <a:rPr dirty="0" sz="1200" spc="-5" i="1">
                <a:latin typeface="Arial"/>
                <a:cs typeface="Arial"/>
              </a:rPr>
              <a:t>ien</a:t>
            </a:r>
            <a:r>
              <a:rPr dirty="0" sz="1200" i="1"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99835" y="4352091"/>
            <a:ext cx="3514963" cy="17525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28308" y="4645659"/>
            <a:ext cx="8959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Protein</a:t>
            </a:r>
            <a:r>
              <a:rPr dirty="0" sz="1600" spc="-7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2307" y="4569459"/>
            <a:ext cx="8959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Protein</a:t>
            </a:r>
            <a:r>
              <a:rPr dirty="0" sz="1600" spc="-7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42907" y="4889500"/>
            <a:ext cx="8959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Protein</a:t>
            </a:r>
            <a:r>
              <a:rPr dirty="0" sz="1600" spc="-7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7143" y="5864859"/>
            <a:ext cx="8959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Protein</a:t>
            </a:r>
            <a:r>
              <a:rPr dirty="0" sz="1600" spc="-7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8000"/>
                </a:solidFill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00100" y="1541395"/>
            <a:ext cx="3848101" cy="245623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656218" y="2123948"/>
            <a:ext cx="5581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i="1">
                <a:latin typeface="Arial"/>
                <a:cs typeface="Arial"/>
              </a:rPr>
              <a:t>Movie</a:t>
            </a:r>
            <a:r>
              <a:rPr dirty="0" sz="1200" spc="-9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94418" y="2843276"/>
            <a:ext cx="5581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i="1">
                <a:latin typeface="Arial"/>
                <a:cs typeface="Arial"/>
              </a:rPr>
              <a:t>Movie</a:t>
            </a:r>
            <a:r>
              <a:rPr dirty="0" sz="1200" spc="-9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0137" y="2995676"/>
            <a:ext cx="5581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i="1">
                <a:latin typeface="Arial"/>
                <a:cs typeface="Arial"/>
              </a:rPr>
              <a:t>Movie</a:t>
            </a:r>
            <a:r>
              <a:rPr dirty="0" sz="1200" spc="-9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99040" y="3737355"/>
            <a:ext cx="726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17375E"/>
                </a:solidFill>
                <a:latin typeface="Arial"/>
                <a:cs typeface="Arial"/>
              </a:rPr>
              <a:t>Actor</a:t>
            </a:r>
            <a:r>
              <a:rPr dirty="0" sz="1600" spc="-90" b="1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7375E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7039" y="2460244"/>
            <a:ext cx="726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17375E"/>
                </a:solidFill>
                <a:latin typeface="Arial"/>
                <a:cs typeface="Arial"/>
              </a:rPr>
              <a:t>Actor</a:t>
            </a:r>
            <a:r>
              <a:rPr dirty="0" sz="1600" spc="-90" b="1">
                <a:solidFill>
                  <a:srgbClr val="17375E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7375E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46839" y="2384044"/>
            <a:ext cx="726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434A5A"/>
                </a:solidFill>
                <a:latin typeface="Arial"/>
                <a:cs typeface="Arial"/>
              </a:rPr>
              <a:t>Actor</a:t>
            </a:r>
            <a:r>
              <a:rPr dirty="0" sz="1600" spc="-90" b="1">
                <a:solidFill>
                  <a:srgbClr val="434A5A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434A5A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37439" y="2822955"/>
            <a:ext cx="726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434A5A"/>
                </a:solidFill>
                <a:latin typeface="Arial"/>
                <a:cs typeface="Arial"/>
              </a:rPr>
              <a:t>Actor</a:t>
            </a:r>
            <a:r>
              <a:rPr dirty="0" sz="1600" spc="-90" b="1">
                <a:solidFill>
                  <a:srgbClr val="434A5A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434A5A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99955" y="5739891"/>
            <a:ext cx="692785" cy="705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Arial"/>
                <a:cs typeface="Arial"/>
              </a:rPr>
              <a:t>|</a:t>
            </a:r>
            <a:r>
              <a:rPr dirty="0" sz="2200" spc="-5">
                <a:latin typeface="Arial"/>
                <a:cs typeface="Arial"/>
              </a:rPr>
              <a:t>N</a:t>
            </a:r>
            <a:r>
              <a:rPr dirty="0" sz="2200">
                <a:latin typeface="Arial"/>
                <a:cs typeface="Arial"/>
              </a:rPr>
              <a:t>|=4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2200" spc="-5">
                <a:latin typeface="Arial"/>
                <a:cs typeface="Arial"/>
              </a:rPr>
              <a:t>|E|=4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836980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6235700" cy="2710815"/>
          </a:xfrm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332740" marR="5080" indent="-320040">
              <a:lnSpc>
                <a:spcPct val="90000"/>
              </a:lnSpc>
              <a:spcBef>
                <a:spcPts val="48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solidFill>
                  <a:srgbClr val="000000"/>
                </a:solidFill>
              </a:rPr>
              <a:t>If </a:t>
            </a:r>
            <a:r>
              <a:rPr dirty="0" sz="3200" spc="-15">
                <a:solidFill>
                  <a:srgbClr val="000000"/>
                </a:solidFill>
              </a:rPr>
              <a:t>you </a:t>
            </a:r>
            <a:r>
              <a:rPr dirty="0" sz="3200" spc="-10">
                <a:solidFill>
                  <a:srgbClr val="000000"/>
                </a:solidFill>
              </a:rPr>
              <a:t>connect </a:t>
            </a:r>
            <a:r>
              <a:rPr dirty="0" sz="3200">
                <a:solidFill>
                  <a:srgbClr val="000000"/>
                </a:solidFill>
              </a:rPr>
              <a:t>individuals </a:t>
            </a:r>
            <a:r>
              <a:rPr dirty="0" sz="3200" spc="-10">
                <a:solidFill>
                  <a:srgbClr val="000000"/>
                </a:solidFill>
              </a:rPr>
              <a:t>that work  </a:t>
            </a:r>
            <a:r>
              <a:rPr dirty="0" sz="3200" spc="-5">
                <a:solidFill>
                  <a:srgbClr val="000000"/>
                </a:solidFill>
              </a:rPr>
              <a:t>with each </a:t>
            </a:r>
            <a:r>
              <a:rPr dirty="0" sz="3200" spc="-50">
                <a:solidFill>
                  <a:srgbClr val="000000"/>
                </a:solidFill>
              </a:rPr>
              <a:t>other, </a:t>
            </a:r>
            <a:r>
              <a:rPr dirty="0" sz="3200" spc="-15">
                <a:solidFill>
                  <a:srgbClr val="000000"/>
                </a:solidFill>
              </a:rPr>
              <a:t>you </a:t>
            </a:r>
            <a:r>
              <a:rPr dirty="0" sz="3200" spc="-5">
                <a:solidFill>
                  <a:srgbClr val="000000"/>
                </a:solidFill>
              </a:rPr>
              <a:t>will </a:t>
            </a:r>
            <a:r>
              <a:rPr dirty="0" sz="3200" spc="-20">
                <a:solidFill>
                  <a:srgbClr val="000000"/>
                </a:solidFill>
              </a:rPr>
              <a:t>explore </a:t>
            </a:r>
            <a:r>
              <a:rPr dirty="0" sz="3200">
                <a:solidFill>
                  <a:srgbClr val="000000"/>
                </a:solidFill>
              </a:rPr>
              <a:t>a </a:t>
            </a:r>
            <a:r>
              <a:rPr dirty="0" sz="3200">
                <a:solidFill>
                  <a:srgbClr val="D60093"/>
                </a:solidFill>
              </a:rPr>
              <a:t>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professional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network</a:t>
            </a:r>
            <a:endParaRPr sz="3200">
              <a:latin typeface="Calibri"/>
              <a:cs typeface="Calibri"/>
            </a:endParaRPr>
          </a:p>
          <a:p>
            <a:pPr marL="332740" marR="605155" indent="-320040">
              <a:lnSpc>
                <a:spcPct val="89700"/>
              </a:lnSpc>
              <a:spcBef>
                <a:spcPts val="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solidFill>
                  <a:srgbClr val="000000"/>
                </a:solidFill>
              </a:rPr>
              <a:t>If </a:t>
            </a:r>
            <a:r>
              <a:rPr dirty="0" sz="3200" spc="-15">
                <a:solidFill>
                  <a:srgbClr val="000000"/>
                </a:solidFill>
              </a:rPr>
              <a:t>you </a:t>
            </a:r>
            <a:r>
              <a:rPr dirty="0" sz="3200" spc="-10">
                <a:solidFill>
                  <a:srgbClr val="000000"/>
                </a:solidFill>
              </a:rPr>
              <a:t>connect </a:t>
            </a:r>
            <a:r>
              <a:rPr dirty="0" sz="3200" spc="-5">
                <a:solidFill>
                  <a:srgbClr val="000000"/>
                </a:solidFill>
              </a:rPr>
              <a:t>those </a:t>
            </a:r>
            <a:r>
              <a:rPr dirty="0" sz="3200" spc="-10">
                <a:solidFill>
                  <a:srgbClr val="000000"/>
                </a:solidFill>
              </a:rPr>
              <a:t>that </a:t>
            </a:r>
            <a:r>
              <a:rPr dirty="0" sz="3200" spc="-20">
                <a:solidFill>
                  <a:srgbClr val="000000"/>
                </a:solidFill>
              </a:rPr>
              <a:t>have </a:t>
            </a:r>
            <a:r>
              <a:rPr dirty="0" sz="3200">
                <a:solidFill>
                  <a:srgbClr val="000000"/>
                </a:solidFill>
              </a:rPr>
              <a:t>a  </a:t>
            </a:r>
            <a:r>
              <a:rPr dirty="0" sz="3200" spc="-15">
                <a:solidFill>
                  <a:srgbClr val="000000"/>
                </a:solidFill>
              </a:rPr>
              <a:t>sexual </a:t>
            </a:r>
            <a:r>
              <a:rPr dirty="0" sz="3200" spc="-10">
                <a:solidFill>
                  <a:srgbClr val="000000"/>
                </a:solidFill>
              </a:rPr>
              <a:t>relationship, </a:t>
            </a:r>
            <a:r>
              <a:rPr dirty="0" sz="3200" spc="-15">
                <a:solidFill>
                  <a:srgbClr val="000000"/>
                </a:solidFill>
              </a:rPr>
              <a:t>you </a:t>
            </a:r>
            <a:r>
              <a:rPr dirty="0" sz="3200" spc="-5">
                <a:solidFill>
                  <a:srgbClr val="000000"/>
                </a:solidFill>
              </a:rPr>
              <a:t>will </a:t>
            </a:r>
            <a:r>
              <a:rPr dirty="0" sz="3200">
                <a:solidFill>
                  <a:srgbClr val="000000"/>
                </a:solidFill>
              </a:rPr>
              <a:t>be  </a:t>
            </a:r>
            <a:r>
              <a:rPr dirty="0" sz="3200" spc="-10">
                <a:solidFill>
                  <a:srgbClr val="000000"/>
                </a:solidFill>
              </a:rPr>
              <a:t>exploring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sexual</a:t>
            </a:r>
            <a:r>
              <a:rPr dirty="0" sz="3200" spc="-3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networks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927348"/>
            <a:ext cx="8094345" cy="251587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algn="just" marL="332740" marR="2569210" indent="-320040">
              <a:lnSpc>
                <a:spcPct val="90900"/>
              </a:lnSpc>
              <a:spcBef>
                <a:spcPts val="4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If </a:t>
            </a:r>
            <a:r>
              <a:rPr dirty="0" sz="3200" spc="-15">
                <a:latin typeface="Calibri"/>
                <a:cs typeface="Calibri"/>
              </a:rPr>
              <a:t>you </a:t>
            </a:r>
            <a:r>
              <a:rPr dirty="0" sz="3200" spc="-10">
                <a:latin typeface="Calibri"/>
                <a:cs typeface="Calibri"/>
              </a:rPr>
              <a:t>connect </a:t>
            </a:r>
            <a:r>
              <a:rPr dirty="0" sz="3200" spc="-5">
                <a:latin typeface="Calibri"/>
                <a:cs typeface="Calibri"/>
              </a:rPr>
              <a:t>scientific </a:t>
            </a:r>
            <a:r>
              <a:rPr dirty="0" sz="3200" spc="-15">
                <a:latin typeface="Calibri"/>
                <a:cs typeface="Calibri"/>
              </a:rPr>
              <a:t>papers  </a:t>
            </a:r>
            <a:r>
              <a:rPr dirty="0" sz="3200" spc="-10">
                <a:latin typeface="Calibri"/>
                <a:cs typeface="Calibri"/>
              </a:rPr>
              <a:t>that cite </a:t>
            </a:r>
            <a:r>
              <a:rPr dirty="0" sz="3200" spc="-5">
                <a:latin typeface="Calibri"/>
                <a:cs typeface="Calibri"/>
              </a:rPr>
              <a:t>each </a:t>
            </a:r>
            <a:r>
              <a:rPr dirty="0" sz="3200" spc="-50">
                <a:latin typeface="Calibri"/>
                <a:cs typeface="Calibri"/>
              </a:rPr>
              <a:t>other, </a:t>
            </a:r>
            <a:r>
              <a:rPr dirty="0" sz="3200" spc="-15">
                <a:latin typeface="Calibri"/>
                <a:cs typeface="Calibri"/>
              </a:rPr>
              <a:t>you </a:t>
            </a:r>
            <a:r>
              <a:rPr dirty="0" sz="3200" spc="-5">
                <a:latin typeface="Calibri"/>
                <a:cs typeface="Calibri"/>
              </a:rPr>
              <a:t>will </a:t>
            </a:r>
            <a:r>
              <a:rPr dirty="0" sz="3200">
                <a:latin typeface="Calibri"/>
                <a:cs typeface="Calibri"/>
              </a:rPr>
              <a:t>be  </a:t>
            </a:r>
            <a:r>
              <a:rPr dirty="0" sz="3200" spc="-5">
                <a:latin typeface="Calibri"/>
                <a:cs typeface="Calibri"/>
              </a:rPr>
              <a:t>studying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citation</a:t>
            </a:r>
            <a:r>
              <a:rPr dirty="0" sz="3200" spc="-6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network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2780"/>
              </a:lnSpc>
              <a:spcBef>
                <a:spcPts val="3254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5" b="1">
                <a:solidFill>
                  <a:srgbClr val="0000FF"/>
                </a:solidFill>
                <a:latin typeface="Calibri"/>
                <a:cs typeface="Calibri"/>
              </a:rPr>
              <a:t>If </a:t>
            </a:r>
            <a:r>
              <a:rPr dirty="0" sz="2600" spc="-10" b="1">
                <a:solidFill>
                  <a:srgbClr val="0000FF"/>
                </a:solidFill>
                <a:latin typeface="Calibri"/>
                <a:cs typeface="Calibri"/>
              </a:rPr>
              <a:t>you </a:t>
            </a:r>
            <a:r>
              <a:rPr dirty="0" sz="2600" spc="-5" b="1">
                <a:solidFill>
                  <a:srgbClr val="0000FF"/>
                </a:solidFill>
                <a:latin typeface="Calibri"/>
                <a:cs typeface="Calibri"/>
              </a:rPr>
              <a:t>connect all </a:t>
            </a:r>
            <a:r>
              <a:rPr dirty="0" sz="2600" spc="-10" b="1">
                <a:solidFill>
                  <a:srgbClr val="0000FF"/>
                </a:solidFill>
                <a:latin typeface="Calibri"/>
                <a:cs typeface="Calibri"/>
              </a:rPr>
              <a:t>papers </a:t>
            </a:r>
            <a:r>
              <a:rPr dirty="0" sz="2600" spc="-5" b="1">
                <a:solidFill>
                  <a:srgbClr val="0000FF"/>
                </a:solidFill>
                <a:latin typeface="Calibri"/>
                <a:cs typeface="Calibri"/>
              </a:rPr>
              <a:t>with the same </a:t>
            </a:r>
            <a:r>
              <a:rPr dirty="0" sz="2600" spc="-15" b="1">
                <a:solidFill>
                  <a:srgbClr val="0000FF"/>
                </a:solidFill>
                <a:latin typeface="Calibri"/>
                <a:cs typeface="Calibri"/>
              </a:rPr>
              <a:t>word </a:t>
            </a:r>
            <a:r>
              <a:rPr dirty="0" sz="2600" spc="-5" b="1">
                <a:solidFill>
                  <a:srgbClr val="0000FF"/>
                </a:solidFill>
                <a:latin typeface="Calibri"/>
                <a:cs typeface="Calibri"/>
              </a:rPr>
              <a:t>in the title,  what will </a:t>
            </a:r>
            <a:r>
              <a:rPr dirty="0" sz="2600" spc="-10" b="1">
                <a:solidFill>
                  <a:srgbClr val="0000FF"/>
                </a:solidFill>
                <a:latin typeface="Calibri"/>
                <a:cs typeface="Calibri"/>
              </a:rPr>
              <a:t>you </a:t>
            </a:r>
            <a:r>
              <a:rPr dirty="0" sz="2600" b="1">
                <a:solidFill>
                  <a:srgbClr val="0000FF"/>
                </a:solidFill>
                <a:latin typeface="Calibri"/>
                <a:cs typeface="Calibri"/>
              </a:rPr>
              <a:t>be </a:t>
            </a:r>
            <a:r>
              <a:rPr dirty="0" sz="2600" spc="-5" b="1">
                <a:solidFill>
                  <a:srgbClr val="0000FF"/>
                </a:solidFill>
                <a:latin typeface="Calibri"/>
                <a:cs typeface="Calibri"/>
              </a:rPr>
              <a:t>exploring? </a:t>
            </a:r>
            <a:r>
              <a:rPr dirty="0" sz="2600" spc="-5">
                <a:latin typeface="Calibri"/>
                <a:cs typeface="Calibri"/>
              </a:rPr>
              <a:t>It </a:t>
            </a:r>
            <a:r>
              <a:rPr dirty="0" sz="2600">
                <a:latin typeface="Calibri"/>
                <a:cs typeface="Calibri"/>
              </a:rPr>
              <a:t>is a </a:t>
            </a:r>
            <a:r>
              <a:rPr dirty="0" sz="2600" spc="-10">
                <a:latin typeface="Calibri"/>
                <a:cs typeface="Calibri"/>
              </a:rPr>
              <a:t>network,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nevertheless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27049" y="4063353"/>
            <a:ext cx="1839286" cy="17063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182463" y="2565478"/>
            <a:ext cx="1723104" cy="13337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219188" y="3855720"/>
            <a:ext cx="16275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1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ResearchGate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19288" y="4027839"/>
            <a:ext cx="812800" cy="0"/>
          </a:xfrm>
          <a:custGeom>
            <a:avLst/>
            <a:gdLst/>
            <a:ahLst/>
            <a:cxnLst/>
            <a:rect l="l" t="t" r="r" b="b"/>
            <a:pathLst>
              <a:path w="812800" h="0">
                <a:moveTo>
                  <a:pt x="0" y="0"/>
                </a:moveTo>
                <a:lnTo>
                  <a:pt x="81280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82464" y="1379237"/>
            <a:ext cx="1956619" cy="10515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219186" y="2456688"/>
            <a:ext cx="16738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Euro</a:t>
            </a:r>
            <a:r>
              <a:rPr dirty="0" sz="1100" spc="5" u="sng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Scientists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700647" y="6699893"/>
            <a:ext cx="1727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61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775704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39751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How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build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dirty="0" sz="3200" spc="-4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graph: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00647" y="6699893"/>
            <a:ext cx="1727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62</a:t>
            </a:r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789683"/>
            <a:ext cx="8350250" cy="483870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43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What are</a:t>
            </a:r>
            <a:r>
              <a:rPr dirty="0" sz="2800" spc="-7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nodes?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ts val="3170"/>
              </a:lnSpc>
              <a:spcBef>
                <a:spcPts val="33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What are</a:t>
            </a:r>
            <a:r>
              <a:rPr dirty="0" sz="2800" spc="-6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edges?</a:t>
            </a:r>
            <a:endParaRPr sz="2800">
              <a:latin typeface="Calibri"/>
              <a:cs typeface="Calibri"/>
            </a:endParaRPr>
          </a:p>
          <a:p>
            <a:pPr algn="just" marL="332740" marR="5080" indent="-320040">
              <a:lnSpc>
                <a:spcPct val="90000"/>
              </a:lnSpc>
              <a:spcBef>
                <a:spcPts val="19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Choice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the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proper network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representation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of  a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given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domain/problem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determines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our ability 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to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use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networks successfully:</a:t>
            </a:r>
            <a:endParaRPr sz="3200">
              <a:latin typeface="Calibri"/>
              <a:cs typeface="Calibri"/>
            </a:endParaRPr>
          </a:p>
          <a:p>
            <a:pPr lvl="1" marL="625475" marR="1083310" indent="-274320">
              <a:lnSpc>
                <a:spcPts val="3000"/>
              </a:lnSpc>
              <a:spcBef>
                <a:spcPts val="7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In some </a:t>
            </a:r>
            <a:r>
              <a:rPr dirty="0" sz="2800" spc="-10">
                <a:latin typeface="Calibri"/>
                <a:cs typeface="Calibri"/>
              </a:rPr>
              <a:t>cases </a:t>
            </a:r>
            <a:r>
              <a:rPr dirty="0" sz="2800" spc="-15">
                <a:latin typeface="Calibri"/>
                <a:cs typeface="Calibri"/>
              </a:rPr>
              <a:t>there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unique, </a:t>
            </a:r>
            <a:r>
              <a:rPr dirty="0" sz="2800" spc="-55">
                <a:latin typeface="Calibri"/>
                <a:cs typeface="Calibri"/>
              </a:rPr>
              <a:t>unambiguous  </a:t>
            </a:r>
            <a:r>
              <a:rPr dirty="0" sz="2800" spc="-15">
                <a:latin typeface="Calibri"/>
                <a:cs typeface="Calibri"/>
              </a:rPr>
              <a:t>representation</a:t>
            </a:r>
            <a:endParaRPr sz="2800">
              <a:latin typeface="Calibri"/>
              <a:cs typeface="Calibri"/>
            </a:endParaRPr>
          </a:p>
          <a:p>
            <a:pPr lvl="1" marL="625475" marR="621665" indent="-274320">
              <a:lnSpc>
                <a:spcPts val="3000"/>
              </a:lnSpc>
              <a:spcBef>
                <a:spcPts val="69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In other </a:t>
            </a:r>
            <a:r>
              <a:rPr dirty="0" sz="2800" spc="-10">
                <a:latin typeface="Calibri"/>
                <a:cs typeface="Calibri"/>
              </a:rPr>
              <a:t>cases,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20">
                <a:latin typeface="Calibri"/>
                <a:cs typeface="Calibri"/>
              </a:rPr>
              <a:t>representation </a:t>
            </a:r>
            <a:r>
              <a:rPr dirty="0" sz="2800" spc="-5">
                <a:latin typeface="Calibri"/>
                <a:cs typeface="Calibri"/>
              </a:rPr>
              <a:t>is by </a:t>
            </a:r>
            <a:r>
              <a:rPr dirty="0" sz="2800">
                <a:latin typeface="Calibri"/>
                <a:cs typeface="Calibri"/>
              </a:rPr>
              <a:t>no  </a:t>
            </a:r>
            <a:r>
              <a:rPr dirty="0" sz="2800" spc="-95">
                <a:latin typeface="Calibri"/>
                <a:cs typeface="Calibri"/>
              </a:rPr>
              <a:t>means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unique</a:t>
            </a:r>
            <a:endParaRPr sz="2800">
              <a:latin typeface="Calibri"/>
              <a:cs typeface="Calibri"/>
            </a:endParaRPr>
          </a:p>
          <a:p>
            <a:pPr lvl="1" marL="625475" marR="80010" indent="-274320">
              <a:lnSpc>
                <a:spcPts val="300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35">
                <a:latin typeface="Calibri"/>
                <a:cs typeface="Calibri"/>
              </a:rPr>
              <a:t>way </a:t>
            </a:r>
            <a:r>
              <a:rPr dirty="0" sz="2800" spc="-15">
                <a:latin typeface="Calibri"/>
                <a:cs typeface="Calibri"/>
              </a:rPr>
              <a:t>you </a:t>
            </a:r>
            <a:r>
              <a:rPr dirty="0" sz="2800" spc="-5">
                <a:latin typeface="Calibri"/>
                <a:cs typeface="Calibri"/>
              </a:rPr>
              <a:t>assign </a:t>
            </a:r>
            <a:r>
              <a:rPr dirty="0" sz="2800" spc="-10">
                <a:latin typeface="Calibri"/>
                <a:cs typeface="Calibri"/>
              </a:rPr>
              <a:t>links </a:t>
            </a:r>
            <a:r>
              <a:rPr dirty="0" sz="2800" spc="-5">
                <a:latin typeface="Calibri"/>
                <a:cs typeface="Calibri"/>
              </a:rPr>
              <a:t>will </a:t>
            </a:r>
            <a:r>
              <a:rPr dirty="0" sz="2800" spc="-10">
                <a:latin typeface="Calibri"/>
                <a:cs typeface="Calibri"/>
              </a:rPr>
              <a:t>determine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nature </a:t>
            </a:r>
            <a:r>
              <a:rPr dirty="0" sz="2800" spc="-545">
                <a:latin typeface="Calibri"/>
                <a:cs typeface="Calibri"/>
              </a:rPr>
              <a:t>of 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question </a:t>
            </a:r>
            <a:r>
              <a:rPr dirty="0" sz="2800" spc="-15">
                <a:latin typeface="Calibri"/>
                <a:cs typeface="Calibri"/>
              </a:rPr>
              <a:t>you </a:t>
            </a:r>
            <a:r>
              <a:rPr dirty="0" sz="2800" spc="-10">
                <a:latin typeface="Calibri"/>
                <a:cs typeface="Calibri"/>
              </a:rPr>
              <a:t>can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study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50520"/>
            <a:ext cx="7574280" cy="548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4684" y="1501140"/>
            <a:ext cx="189928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Und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i</a:t>
            </a:r>
            <a:r>
              <a:rPr dirty="0" sz="3200" spc="-40" b="1">
                <a:solidFill>
                  <a:srgbClr val="D60093"/>
                </a:solidFill>
                <a:latin typeface="Calibri"/>
                <a:cs typeface="Calibri"/>
              </a:rPr>
              <a:t>r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e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c</a:t>
            </a:r>
            <a:r>
              <a:rPr dirty="0" sz="3200" spc="-40" b="1">
                <a:solidFill>
                  <a:srgbClr val="D60093"/>
                </a:solidFill>
                <a:latin typeface="Calibri"/>
                <a:cs typeface="Calibri"/>
              </a:rPr>
              <a:t>t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ed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09109" y="4900337"/>
            <a:ext cx="3159125" cy="141287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3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latin typeface="Calibri"/>
                <a:cs typeface="Calibri"/>
              </a:rPr>
              <a:t>Examples: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5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Phone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calls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>
                <a:latin typeface="Calibri"/>
                <a:cs typeface="Calibri"/>
              </a:rPr>
              <a:t>Following </a:t>
            </a:r>
            <a:r>
              <a:rPr dirty="0" sz="2400" spc="-5">
                <a:latin typeface="Calibri"/>
                <a:cs typeface="Calibri"/>
              </a:rPr>
              <a:t>on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85">
                <a:latin typeface="Calibri"/>
                <a:cs typeface="Calibri"/>
              </a:rPr>
              <a:t>Twitter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9600" y="3030160"/>
            <a:ext cx="3293029" cy="16942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02190" y="4120388"/>
            <a:ext cx="1111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B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684" y="4618082"/>
            <a:ext cx="3572510" cy="169545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algn="ctr" marR="1612265">
              <a:lnSpc>
                <a:spcPct val="100000"/>
              </a:lnSpc>
              <a:spcBef>
                <a:spcPts val="525"/>
              </a:spcBef>
            </a:pPr>
            <a:r>
              <a:rPr dirty="0" sz="1200" b="1">
                <a:latin typeface="Calibri"/>
                <a:cs typeface="Calibri"/>
              </a:rPr>
              <a:t>C</a:t>
            </a:r>
            <a:endParaRPr sz="1200">
              <a:latin typeface="Calibri"/>
              <a:cs typeface="Calibri"/>
            </a:endParaRPr>
          </a:p>
          <a:p>
            <a:pPr marL="332740" marR="1726564" indent="-320040">
              <a:lnSpc>
                <a:spcPct val="100000"/>
              </a:lnSpc>
              <a:spcBef>
                <a:spcPts val="99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19405" algn="l"/>
                <a:tab pos="332740" algn="l"/>
              </a:tabLst>
            </a:pPr>
            <a:r>
              <a:rPr dirty="0" sz="2800" spc="-10" b="1">
                <a:latin typeface="Calibri"/>
                <a:cs typeface="Calibri"/>
              </a:rPr>
              <a:t>Examples: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5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>
                <a:latin typeface="Calibri"/>
                <a:cs typeface="Calibri"/>
              </a:rPr>
              <a:t>Collaborations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Friendship on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70">
                <a:latin typeface="Calibri"/>
                <a:cs typeface="Calibri"/>
              </a:rPr>
              <a:t>Facebook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62837" y="3282188"/>
            <a:ext cx="158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684" y="1996947"/>
            <a:ext cx="3909060" cy="202692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290"/>
              </a:lnSpc>
              <a:spcBef>
                <a:spcPts val="26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latin typeface="Calibri"/>
                <a:cs typeface="Calibri"/>
              </a:rPr>
              <a:t>Links: </a:t>
            </a:r>
            <a:r>
              <a:rPr dirty="0" sz="2800" spc="-10">
                <a:latin typeface="Calibri"/>
                <a:cs typeface="Calibri"/>
              </a:rPr>
              <a:t>undirected  </a:t>
            </a:r>
            <a:r>
              <a:rPr dirty="0" sz="2800" spc="-15">
                <a:latin typeface="Calibri"/>
                <a:cs typeface="Calibri"/>
              </a:rPr>
              <a:t>(symmetrical,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reciprocal)</a:t>
            </a:r>
            <a:endParaRPr sz="2800">
              <a:latin typeface="Calibri"/>
              <a:cs typeface="Calibri"/>
            </a:endParaRPr>
          </a:p>
          <a:p>
            <a:pPr algn="ctr" marR="821690">
              <a:lnSpc>
                <a:spcPts val="1320"/>
              </a:lnSpc>
              <a:spcBef>
                <a:spcPts val="730"/>
              </a:spcBef>
            </a:pPr>
            <a:r>
              <a:rPr dirty="0" sz="1200" b="1">
                <a:latin typeface="Calibri"/>
                <a:cs typeface="Calibri"/>
              </a:rPr>
              <a:t>L</a:t>
            </a:r>
            <a:endParaRPr sz="1200">
              <a:latin typeface="Calibri"/>
              <a:cs typeface="Calibri"/>
            </a:endParaRPr>
          </a:p>
          <a:p>
            <a:pPr marL="532765">
              <a:lnSpc>
                <a:spcPts val="1320"/>
              </a:lnSpc>
            </a:pPr>
            <a:r>
              <a:rPr dirty="0" sz="1200" b="1"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marL="1915795">
              <a:lnSpc>
                <a:spcPct val="100000"/>
              </a:lnSpc>
              <a:spcBef>
                <a:spcPts val="600"/>
              </a:spcBef>
            </a:pPr>
            <a:r>
              <a:rPr dirty="0" sz="1200" b="1">
                <a:latin typeface="Calibri"/>
                <a:cs typeface="Calibri"/>
              </a:rPr>
              <a:t>F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1262380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95294" y="4105147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04893" y="4489196"/>
            <a:ext cx="1219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H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67616" y="3632708"/>
            <a:ext cx="660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90254" y="3273992"/>
            <a:ext cx="709295" cy="338455"/>
          </a:xfrm>
          <a:custGeom>
            <a:avLst/>
            <a:gdLst/>
            <a:ahLst/>
            <a:cxnLst/>
            <a:rect l="l" t="t" r="r" b="b"/>
            <a:pathLst>
              <a:path w="709295" h="338454">
                <a:moveTo>
                  <a:pt x="655795" y="313004"/>
                </a:moveTo>
                <a:lnTo>
                  <a:pt x="597860" y="319011"/>
                </a:lnTo>
                <a:lnTo>
                  <a:pt x="594057" y="323692"/>
                </a:lnTo>
                <a:lnTo>
                  <a:pt x="595143" y="334157"/>
                </a:lnTo>
                <a:lnTo>
                  <a:pt x="599824" y="337959"/>
                </a:lnTo>
                <a:lnTo>
                  <a:pt x="690242" y="328584"/>
                </a:lnTo>
                <a:lnTo>
                  <a:pt x="655795" y="313004"/>
                </a:lnTo>
                <a:close/>
              </a:path>
              <a:path w="709295" h="338454">
                <a:moveTo>
                  <a:pt x="697659" y="327815"/>
                </a:moveTo>
                <a:lnTo>
                  <a:pt x="690242" y="328584"/>
                </a:lnTo>
                <a:lnTo>
                  <a:pt x="692688" y="329690"/>
                </a:lnTo>
                <a:lnTo>
                  <a:pt x="697659" y="327815"/>
                </a:lnTo>
                <a:close/>
              </a:path>
              <a:path w="709295" h="338454">
                <a:moveTo>
                  <a:pt x="674597" y="311054"/>
                </a:moveTo>
                <a:lnTo>
                  <a:pt x="655795" y="313004"/>
                </a:lnTo>
                <a:lnTo>
                  <a:pt x="690242" y="328584"/>
                </a:lnTo>
                <a:lnTo>
                  <a:pt x="697659" y="327815"/>
                </a:lnTo>
                <a:lnTo>
                  <a:pt x="698331" y="327562"/>
                </a:lnTo>
                <a:lnTo>
                  <a:pt x="699778" y="324363"/>
                </a:lnTo>
                <a:lnTo>
                  <a:pt x="684057" y="324363"/>
                </a:lnTo>
                <a:lnTo>
                  <a:pt x="674597" y="311054"/>
                </a:lnTo>
                <a:close/>
              </a:path>
              <a:path w="709295" h="338454">
                <a:moveTo>
                  <a:pt x="702414" y="317307"/>
                </a:moveTo>
                <a:lnTo>
                  <a:pt x="702666" y="317976"/>
                </a:lnTo>
                <a:lnTo>
                  <a:pt x="698331" y="327562"/>
                </a:lnTo>
                <a:lnTo>
                  <a:pt x="697659" y="327815"/>
                </a:lnTo>
                <a:lnTo>
                  <a:pt x="709044" y="326635"/>
                </a:lnTo>
                <a:lnTo>
                  <a:pt x="702414" y="317307"/>
                </a:lnTo>
                <a:close/>
              </a:path>
              <a:path w="709295" h="338454">
                <a:moveTo>
                  <a:pt x="690839" y="309370"/>
                </a:moveTo>
                <a:lnTo>
                  <a:pt x="674597" y="311054"/>
                </a:lnTo>
                <a:lnTo>
                  <a:pt x="684057" y="324363"/>
                </a:lnTo>
                <a:lnTo>
                  <a:pt x="690839" y="309370"/>
                </a:lnTo>
                <a:close/>
              </a:path>
              <a:path w="709295" h="338454">
                <a:moveTo>
                  <a:pt x="693987" y="309370"/>
                </a:moveTo>
                <a:lnTo>
                  <a:pt x="690839" y="309370"/>
                </a:lnTo>
                <a:lnTo>
                  <a:pt x="684057" y="324363"/>
                </a:lnTo>
                <a:lnTo>
                  <a:pt x="699778" y="324363"/>
                </a:lnTo>
                <a:lnTo>
                  <a:pt x="702666" y="317976"/>
                </a:lnTo>
                <a:lnTo>
                  <a:pt x="702414" y="317307"/>
                </a:lnTo>
                <a:lnTo>
                  <a:pt x="698092" y="311227"/>
                </a:lnTo>
                <a:lnTo>
                  <a:pt x="693987" y="309370"/>
                </a:lnTo>
                <a:close/>
              </a:path>
              <a:path w="709295" h="338454">
                <a:moveTo>
                  <a:pt x="698092" y="311227"/>
                </a:moveTo>
                <a:lnTo>
                  <a:pt x="702414" y="317307"/>
                </a:lnTo>
                <a:lnTo>
                  <a:pt x="700538" y="312333"/>
                </a:lnTo>
                <a:lnTo>
                  <a:pt x="698092" y="311227"/>
                </a:lnTo>
                <a:close/>
              </a:path>
              <a:path w="709295" h="338454">
                <a:moveTo>
                  <a:pt x="9979" y="0"/>
                </a:moveTo>
                <a:lnTo>
                  <a:pt x="4335" y="2128"/>
                </a:lnTo>
                <a:lnTo>
                  <a:pt x="0" y="11714"/>
                </a:lnTo>
                <a:lnTo>
                  <a:pt x="2128" y="17357"/>
                </a:lnTo>
                <a:lnTo>
                  <a:pt x="655795" y="313004"/>
                </a:lnTo>
                <a:lnTo>
                  <a:pt x="674597" y="311054"/>
                </a:lnTo>
                <a:lnTo>
                  <a:pt x="663645" y="295647"/>
                </a:lnTo>
                <a:lnTo>
                  <a:pt x="9979" y="0"/>
                </a:lnTo>
                <a:close/>
              </a:path>
              <a:path w="709295" h="338454">
                <a:moveTo>
                  <a:pt x="639479" y="236131"/>
                </a:moveTo>
                <a:lnTo>
                  <a:pt x="630904" y="242227"/>
                </a:lnTo>
                <a:lnTo>
                  <a:pt x="629899" y="248173"/>
                </a:lnTo>
                <a:lnTo>
                  <a:pt x="663645" y="295647"/>
                </a:lnTo>
                <a:lnTo>
                  <a:pt x="698092" y="311227"/>
                </a:lnTo>
                <a:lnTo>
                  <a:pt x="645426" y="237135"/>
                </a:lnTo>
                <a:lnTo>
                  <a:pt x="639479" y="236131"/>
                </a:lnTo>
                <a:close/>
              </a:path>
              <a:path w="709295" h="338454">
                <a:moveTo>
                  <a:pt x="663645" y="295647"/>
                </a:moveTo>
                <a:lnTo>
                  <a:pt x="674597" y="311054"/>
                </a:lnTo>
                <a:lnTo>
                  <a:pt x="690839" y="309370"/>
                </a:lnTo>
                <a:lnTo>
                  <a:pt x="693987" y="309370"/>
                </a:lnTo>
                <a:lnTo>
                  <a:pt x="663645" y="295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457078" y="3647880"/>
            <a:ext cx="1166495" cy="552450"/>
          </a:xfrm>
          <a:custGeom>
            <a:avLst/>
            <a:gdLst/>
            <a:ahLst/>
            <a:cxnLst/>
            <a:rect l="l" t="t" r="r" b="b"/>
            <a:pathLst>
              <a:path w="1166495" h="552450">
                <a:moveTo>
                  <a:pt x="1113074" y="24643"/>
                </a:moveTo>
                <a:lnTo>
                  <a:pt x="2096" y="534596"/>
                </a:lnTo>
                <a:lnTo>
                  <a:pt x="0" y="540251"/>
                </a:lnTo>
                <a:lnTo>
                  <a:pt x="4389" y="549813"/>
                </a:lnTo>
                <a:lnTo>
                  <a:pt x="10044" y="551910"/>
                </a:lnTo>
                <a:lnTo>
                  <a:pt x="1121021" y="41956"/>
                </a:lnTo>
                <a:lnTo>
                  <a:pt x="1131887" y="26488"/>
                </a:lnTo>
                <a:lnTo>
                  <a:pt x="1113074" y="24643"/>
                </a:lnTo>
                <a:close/>
              </a:path>
              <a:path w="1166495" h="552450">
                <a:moveTo>
                  <a:pt x="1155382" y="26184"/>
                </a:moveTo>
                <a:lnTo>
                  <a:pt x="1121021" y="41956"/>
                </a:lnTo>
                <a:lnTo>
                  <a:pt x="1087540" y="89617"/>
                </a:lnTo>
                <a:lnTo>
                  <a:pt x="1088579" y="95558"/>
                </a:lnTo>
                <a:lnTo>
                  <a:pt x="1097187" y="101606"/>
                </a:lnTo>
                <a:lnTo>
                  <a:pt x="1103128" y="100567"/>
                </a:lnTo>
                <a:lnTo>
                  <a:pt x="1155382" y="26184"/>
                </a:lnTo>
                <a:close/>
              </a:path>
              <a:path w="1166495" h="552450">
                <a:moveTo>
                  <a:pt x="1131887" y="26488"/>
                </a:moveTo>
                <a:lnTo>
                  <a:pt x="1121021" y="41956"/>
                </a:lnTo>
                <a:lnTo>
                  <a:pt x="1151248" y="28082"/>
                </a:lnTo>
                <a:lnTo>
                  <a:pt x="1148138" y="28082"/>
                </a:lnTo>
                <a:lnTo>
                  <a:pt x="1131887" y="26488"/>
                </a:lnTo>
                <a:close/>
              </a:path>
              <a:path w="1166495" h="552450">
                <a:moveTo>
                  <a:pt x="1141274" y="13126"/>
                </a:moveTo>
                <a:lnTo>
                  <a:pt x="1131887" y="26488"/>
                </a:lnTo>
                <a:lnTo>
                  <a:pt x="1148138" y="28082"/>
                </a:lnTo>
                <a:lnTo>
                  <a:pt x="1141274" y="13126"/>
                </a:lnTo>
                <a:close/>
              </a:path>
              <a:path w="1166495" h="552450">
                <a:moveTo>
                  <a:pt x="1157034" y="13126"/>
                </a:moveTo>
                <a:lnTo>
                  <a:pt x="1141274" y="13126"/>
                </a:lnTo>
                <a:lnTo>
                  <a:pt x="1148138" y="28082"/>
                </a:lnTo>
                <a:lnTo>
                  <a:pt x="1151248" y="28082"/>
                </a:lnTo>
                <a:lnTo>
                  <a:pt x="1155382" y="26184"/>
                </a:lnTo>
                <a:lnTo>
                  <a:pt x="1159670" y="20079"/>
                </a:lnTo>
                <a:lnTo>
                  <a:pt x="1159918" y="19410"/>
                </a:lnTo>
                <a:lnTo>
                  <a:pt x="1157034" y="13126"/>
                </a:lnTo>
                <a:close/>
              </a:path>
              <a:path w="1166495" h="552450">
                <a:moveTo>
                  <a:pt x="1147435" y="8871"/>
                </a:moveTo>
                <a:lnTo>
                  <a:pt x="1113074" y="24643"/>
                </a:lnTo>
                <a:lnTo>
                  <a:pt x="1131887" y="26488"/>
                </a:lnTo>
                <a:lnTo>
                  <a:pt x="1141274" y="13126"/>
                </a:lnTo>
                <a:lnTo>
                  <a:pt x="1157034" y="13126"/>
                </a:lnTo>
                <a:lnTo>
                  <a:pt x="1155529" y="9848"/>
                </a:lnTo>
                <a:lnTo>
                  <a:pt x="1154856" y="9599"/>
                </a:lnTo>
                <a:lnTo>
                  <a:pt x="1147435" y="8871"/>
                </a:lnTo>
                <a:close/>
              </a:path>
              <a:path w="1166495" h="552450">
                <a:moveTo>
                  <a:pt x="1159670" y="20079"/>
                </a:moveTo>
                <a:lnTo>
                  <a:pt x="1155382" y="26184"/>
                </a:lnTo>
                <a:lnTo>
                  <a:pt x="1157822" y="25064"/>
                </a:lnTo>
                <a:lnTo>
                  <a:pt x="1159670" y="20079"/>
                </a:lnTo>
                <a:close/>
              </a:path>
              <a:path w="1166495" h="552450">
                <a:moveTo>
                  <a:pt x="1056966" y="0"/>
                </a:moveTo>
                <a:lnTo>
                  <a:pt x="1052306" y="3827"/>
                </a:lnTo>
                <a:lnTo>
                  <a:pt x="1051279" y="14298"/>
                </a:lnTo>
                <a:lnTo>
                  <a:pt x="1055107" y="18959"/>
                </a:lnTo>
                <a:lnTo>
                  <a:pt x="1113074" y="24643"/>
                </a:lnTo>
                <a:lnTo>
                  <a:pt x="1147435" y="8871"/>
                </a:lnTo>
                <a:lnTo>
                  <a:pt x="1056966" y="0"/>
                </a:lnTo>
                <a:close/>
              </a:path>
              <a:path w="1166495" h="552450">
                <a:moveTo>
                  <a:pt x="1154856" y="9599"/>
                </a:moveTo>
                <a:lnTo>
                  <a:pt x="1155529" y="9848"/>
                </a:lnTo>
                <a:lnTo>
                  <a:pt x="1159918" y="19410"/>
                </a:lnTo>
                <a:lnTo>
                  <a:pt x="1159670" y="20079"/>
                </a:lnTo>
                <a:lnTo>
                  <a:pt x="1166248" y="10716"/>
                </a:lnTo>
                <a:lnTo>
                  <a:pt x="1154856" y="9599"/>
                </a:lnTo>
                <a:close/>
              </a:path>
              <a:path w="1166495" h="552450">
                <a:moveTo>
                  <a:pt x="1149874" y="7752"/>
                </a:moveTo>
                <a:lnTo>
                  <a:pt x="1147435" y="8871"/>
                </a:lnTo>
                <a:lnTo>
                  <a:pt x="1154856" y="9599"/>
                </a:lnTo>
                <a:lnTo>
                  <a:pt x="1149874" y="7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63288" y="3356046"/>
            <a:ext cx="556895" cy="258445"/>
          </a:xfrm>
          <a:custGeom>
            <a:avLst/>
            <a:gdLst/>
            <a:ahLst/>
            <a:cxnLst/>
            <a:rect l="l" t="t" r="r" b="b"/>
            <a:pathLst>
              <a:path w="556895" h="258445">
                <a:moveTo>
                  <a:pt x="53514" y="232023"/>
                </a:moveTo>
                <a:lnTo>
                  <a:pt x="18759" y="246907"/>
                </a:lnTo>
                <a:lnTo>
                  <a:pt x="108971" y="258099"/>
                </a:lnTo>
                <a:lnTo>
                  <a:pt x="113728" y="254392"/>
                </a:lnTo>
                <a:lnTo>
                  <a:pt x="115022" y="243951"/>
                </a:lnTo>
                <a:lnTo>
                  <a:pt x="111316" y="239194"/>
                </a:lnTo>
                <a:lnTo>
                  <a:pt x="53514" y="232023"/>
                </a:lnTo>
                <a:close/>
              </a:path>
              <a:path w="556895" h="258445">
                <a:moveTo>
                  <a:pt x="11357" y="245989"/>
                </a:moveTo>
                <a:lnTo>
                  <a:pt x="16291" y="247964"/>
                </a:lnTo>
                <a:lnTo>
                  <a:pt x="18759" y="246907"/>
                </a:lnTo>
                <a:lnTo>
                  <a:pt x="11357" y="245989"/>
                </a:lnTo>
                <a:close/>
              </a:path>
              <a:path w="556895" h="258445">
                <a:moveTo>
                  <a:pt x="46014" y="214512"/>
                </a:moveTo>
                <a:lnTo>
                  <a:pt x="11258" y="229397"/>
                </a:lnTo>
                <a:lnTo>
                  <a:pt x="6816" y="235388"/>
                </a:lnTo>
                <a:lnTo>
                  <a:pt x="6550" y="236052"/>
                </a:lnTo>
                <a:lnTo>
                  <a:pt x="10693" y="245723"/>
                </a:lnTo>
                <a:lnTo>
                  <a:pt x="11357" y="245989"/>
                </a:lnTo>
                <a:lnTo>
                  <a:pt x="18759" y="246907"/>
                </a:lnTo>
                <a:lnTo>
                  <a:pt x="28322" y="242812"/>
                </a:lnTo>
                <a:lnTo>
                  <a:pt x="25027" y="242812"/>
                </a:lnTo>
                <a:lnTo>
                  <a:pt x="18549" y="227685"/>
                </a:lnTo>
                <a:lnTo>
                  <a:pt x="36245" y="227685"/>
                </a:lnTo>
                <a:lnTo>
                  <a:pt x="46014" y="214512"/>
                </a:lnTo>
                <a:close/>
              </a:path>
              <a:path w="556895" h="258445">
                <a:moveTo>
                  <a:pt x="6816" y="235388"/>
                </a:moveTo>
                <a:lnTo>
                  <a:pt x="0" y="244580"/>
                </a:lnTo>
                <a:lnTo>
                  <a:pt x="11357" y="245989"/>
                </a:lnTo>
                <a:lnTo>
                  <a:pt x="10693" y="245723"/>
                </a:lnTo>
                <a:lnTo>
                  <a:pt x="6550" y="236052"/>
                </a:lnTo>
                <a:lnTo>
                  <a:pt x="6816" y="235388"/>
                </a:lnTo>
                <a:close/>
              </a:path>
              <a:path w="556895" h="258445">
                <a:moveTo>
                  <a:pt x="18549" y="227685"/>
                </a:moveTo>
                <a:lnTo>
                  <a:pt x="25027" y="242812"/>
                </a:lnTo>
                <a:lnTo>
                  <a:pt x="34754" y="229696"/>
                </a:lnTo>
                <a:lnTo>
                  <a:pt x="18549" y="227685"/>
                </a:lnTo>
                <a:close/>
              </a:path>
              <a:path w="556895" h="258445">
                <a:moveTo>
                  <a:pt x="34754" y="229696"/>
                </a:moveTo>
                <a:lnTo>
                  <a:pt x="25027" y="242812"/>
                </a:lnTo>
                <a:lnTo>
                  <a:pt x="28322" y="242812"/>
                </a:lnTo>
                <a:lnTo>
                  <a:pt x="53514" y="232023"/>
                </a:lnTo>
                <a:lnTo>
                  <a:pt x="34754" y="229696"/>
                </a:lnTo>
                <a:close/>
              </a:path>
              <a:path w="556895" h="258445">
                <a:moveTo>
                  <a:pt x="11258" y="229397"/>
                </a:moveTo>
                <a:lnTo>
                  <a:pt x="8792" y="230454"/>
                </a:lnTo>
                <a:lnTo>
                  <a:pt x="6816" y="235388"/>
                </a:lnTo>
                <a:lnTo>
                  <a:pt x="11258" y="229397"/>
                </a:lnTo>
                <a:close/>
              </a:path>
              <a:path w="556895" h="258445">
                <a:moveTo>
                  <a:pt x="546886" y="0"/>
                </a:moveTo>
                <a:lnTo>
                  <a:pt x="46014" y="214512"/>
                </a:lnTo>
                <a:lnTo>
                  <a:pt x="34754" y="229696"/>
                </a:lnTo>
                <a:lnTo>
                  <a:pt x="53514" y="232023"/>
                </a:lnTo>
                <a:lnTo>
                  <a:pt x="554385" y="17512"/>
                </a:lnTo>
                <a:lnTo>
                  <a:pt x="556627" y="11912"/>
                </a:lnTo>
                <a:lnTo>
                  <a:pt x="552484" y="2241"/>
                </a:lnTo>
                <a:lnTo>
                  <a:pt x="546886" y="0"/>
                </a:lnTo>
                <a:close/>
              </a:path>
              <a:path w="556895" h="258445">
                <a:moveTo>
                  <a:pt x="36245" y="227685"/>
                </a:moveTo>
                <a:lnTo>
                  <a:pt x="18549" y="227685"/>
                </a:lnTo>
                <a:lnTo>
                  <a:pt x="34754" y="229696"/>
                </a:lnTo>
                <a:lnTo>
                  <a:pt x="36245" y="227685"/>
                </a:lnTo>
                <a:close/>
              </a:path>
              <a:path w="556895" h="258445">
                <a:moveTo>
                  <a:pt x="71372" y="155494"/>
                </a:moveTo>
                <a:lnTo>
                  <a:pt x="65406" y="156380"/>
                </a:lnTo>
                <a:lnTo>
                  <a:pt x="11258" y="229397"/>
                </a:lnTo>
                <a:lnTo>
                  <a:pt x="46014" y="214512"/>
                </a:lnTo>
                <a:lnTo>
                  <a:pt x="80708" y="167727"/>
                </a:lnTo>
                <a:lnTo>
                  <a:pt x="79823" y="161761"/>
                </a:lnTo>
                <a:lnTo>
                  <a:pt x="71372" y="1554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425075" y="3366838"/>
            <a:ext cx="618490" cy="716915"/>
          </a:xfrm>
          <a:custGeom>
            <a:avLst/>
            <a:gdLst/>
            <a:ahLst/>
            <a:cxnLst/>
            <a:rect l="l" t="t" r="r" b="b"/>
            <a:pathLst>
              <a:path w="618490" h="716914">
                <a:moveTo>
                  <a:pt x="24654" y="28661"/>
                </a:moveTo>
                <a:lnTo>
                  <a:pt x="28082" y="47252"/>
                </a:lnTo>
                <a:lnTo>
                  <a:pt x="603606" y="716285"/>
                </a:lnTo>
                <a:lnTo>
                  <a:pt x="609620" y="716737"/>
                </a:lnTo>
                <a:lnTo>
                  <a:pt x="617597" y="709876"/>
                </a:lnTo>
                <a:lnTo>
                  <a:pt x="618048" y="703861"/>
                </a:lnTo>
                <a:lnTo>
                  <a:pt x="42524" y="34828"/>
                </a:lnTo>
                <a:lnTo>
                  <a:pt x="24654" y="28661"/>
                </a:lnTo>
                <a:close/>
              </a:path>
              <a:path w="618490" h="716914">
                <a:moveTo>
                  <a:pt x="3427" y="18591"/>
                </a:moveTo>
                <a:lnTo>
                  <a:pt x="19909" y="107986"/>
                </a:lnTo>
                <a:lnTo>
                  <a:pt x="24876" y="111406"/>
                </a:lnTo>
                <a:lnTo>
                  <a:pt x="35223" y="109499"/>
                </a:lnTo>
                <a:lnTo>
                  <a:pt x="38643" y="104532"/>
                </a:lnTo>
                <a:lnTo>
                  <a:pt x="28082" y="47252"/>
                </a:lnTo>
                <a:lnTo>
                  <a:pt x="3427" y="18591"/>
                </a:lnTo>
                <a:close/>
              </a:path>
              <a:path w="618490" h="716914">
                <a:moveTo>
                  <a:pt x="17868" y="6166"/>
                </a:moveTo>
                <a:lnTo>
                  <a:pt x="42524" y="34828"/>
                </a:lnTo>
                <a:lnTo>
                  <a:pt x="97582" y="53830"/>
                </a:lnTo>
                <a:lnTo>
                  <a:pt x="103005" y="51191"/>
                </a:lnTo>
                <a:lnTo>
                  <a:pt x="106437" y="41245"/>
                </a:lnTo>
                <a:lnTo>
                  <a:pt x="103798" y="35822"/>
                </a:lnTo>
                <a:lnTo>
                  <a:pt x="17868" y="6166"/>
                </a:lnTo>
                <a:close/>
              </a:path>
              <a:path w="618490" h="716914">
                <a:moveTo>
                  <a:pt x="10102" y="3679"/>
                </a:moveTo>
                <a:lnTo>
                  <a:pt x="2127" y="10541"/>
                </a:lnTo>
                <a:lnTo>
                  <a:pt x="2074" y="11249"/>
                </a:lnTo>
                <a:lnTo>
                  <a:pt x="3427" y="18591"/>
                </a:lnTo>
                <a:lnTo>
                  <a:pt x="28082" y="47252"/>
                </a:lnTo>
                <a:lnTo>
                  <a:pt x="24654" y="28661"/>
                </a:lnTo>
                <a:lnTo>
                  <a:pt x="9220" y="23334"/>
                </a:lnTo>
                <a:lnTo>
                  <a:pt x="21694" y="12604"/>
                </a:lnTo>
                <a:lnTo>
                  <a:pt x="23406" y="12604"/>
                </a:lnTo>
                <a:lnTo>
                  <a:pt x="17868" y="6166"/>
                </a:lnTo>
                <a:lnTo>
                  <a:pt x="10815" y="3732"/>
                </a:lnTo>
                <a:lnTo>
                  <a:pt x="10102" y="3679"/>
                </a:lnTo>
                <a:close/>
              </a:path>
              <a:path w="618490" h="716914">
                <a:moveTo>
                  <a:pt x="23406" y="12604"/>
                </a:moveTo>
                <a:lnTo>
                  <a:pt x="21694" y="12604"/>
                </a:lnTo>
                <a:lnTo>
                  <a:pt x="24654" y="28661"/>
                </a:lnTo>
                <a:lnTo>
                  <a:pt x="42524" y="34828"/>
                </a:lnTo>
                <a:lnTo>
                  <a:pt x="23406" y="12604"/>
                </a:lnTo>
                <a:close/>
              </a:path>
              <a:path w="618490" h="716914">
                <a:moveTo>
                  <a:pt x="21694" y="12604"/>
                </a:moveTo>
                <a:lnTo>
                  <a:pt x="9220" y="23334"/>
                </a:lnTo>
                <a:lnTo>
                  <a:pt x="24654" y="28661"/>
                </a:lnTo>
                <a:lnTo>
                  <a:pt x="21694" y="12604"/>
                </a:lnTo>
                <a:close/>
              </a:path>
              <a:path w="618490" h="716914">
                <a:moveTo>
                  <a:pt x="2074" y="11249"/>
                </a:moveTo>
                <a:lnTo>
                  <a:pt x="1675" y="16554"/>
                </a:lnTo>
                <a:lnTo>
                  <a:pt x="3427" y="18591"/>
                </a:lnTo>
                <a:lnTo>
                  <a:pt x="2074" y="11249"/>
                </a:lnTo>
                <a:close/>
              </a:path>
              <a:path w="618490" h="716914">
                <a:moveTo>
                  <a:pt x="0" y="0"/>
                </a:moveTo>
                <a:lnTo>
                  <a:pt x="2074" y="11249"/>
                </a:lnTo>
                <a:lnTo>
                  <a:pt x="2127" y="10541"/>
                </a:lnTo>
                <a:lnTo>
                  <a:pt x="10102" y="3679"/>
                </a:lnTo>
                <a:lnTo>
                  <a:pt x="10660" y="3679"/>
                </a:lnTo>
                <a:lnTo>
                  <a:pt x="0" y="0"/>
                </a:lnTo>
                <a:close/>
              </a:path>
              <a:path w="618490" h="716914">
                <a:moveTo>
                  <a:pt x="10815" y="3732"/>
                </a:moveTo>
                <a:lnTo>
                  <a:pt x="17868" y="6166"/>
                </a:lnTo>
                <a:lnTo>
                  <a:pt x="16117" y="4131"/>
                </a:lnTo>
                <a:lnTo>
                  <a:pt x="10815" y="3732"/>
                </a:lnTo>
                <a:close/>
              </a:path>
              <a:path w="618490" h="716914">
                <a:moveTo>
                  <a:pt x="10660" y="3679"/>
                </a:moveTo>
                <a:lnTo>
                  <a:pt x="10102" y="3679"/>
                </a:lnTo>
                <a:lnTo>
                  <a:pt x="10815" y="3732"/>
                </a:lnTo>
                <a:lnTo>
                  <a:pt x="10660" y="36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438376" y="4188913"/>
            <a:ext cx="594360" cy="462280"/>
          </a:xfrm>
          <a:custGeom>
            <a:avLst/>
            <a:gdLst/>
            <a:ahLst/>
            <a:cxnLst/>
            <a:rect l="l" t="t" r="r" b="b"/>
            <a:pathLst>
              <a:path w="594359" h="462279">
                <a:moveTo>
                  <a:pt x="564226" y="23136"/>
                </a:moveTo>
                <a:lnTo>
                  <a:pt x="545483" y="25595"/>
                </a:lnTo>
                <a:lnTo>
                  <a:pt x="763" y="447070"/>
                </a:lnTo>
                <a:lnTo>
                  <a:pt x="0" y="453053"/>
                </a:lnTo>
                <a:lnTo>
                  <a:pt x="6438" y="461374"/>
                </a:lnTo>
                <a:lnTo>
                  <a:pt x="12421" y="462137"/>
                </a:lnTo>
                <a:lnTo>
                  <a:pt x="557141" y="40662"/>
                </a:lnTo>
                <a:lnTo>
                  <a:pt x="564226" y="23136"/>
                </a:lnTo>
                <a:close/>
              </a:path>
              <a:path w="594359" h="462279">
                <a:moveTo>
                  <a:pt x="587043" y="17525"/>
                </a:moveTo>
                <a:lnTo>
                  <a:pt x="557141" y="40662"/>
                </a:lnTo>
                <a:lnTo>
                  <a:pt x="535311" y="94660"/>
                </a:lnTo>
                <a:lnTo>
                  <a:pt x="537665" y="100213"/>
                </a:lnTo>
                <a:lnTo>
                  <a:pt x="547419" y="104156"/>
                </a:lnTo>
                <a:lnTo>
                  <a:pt x="552971" y="101800"/>
                </a:lnTo>
                <a:lnTo>
                  <a:pt x="587043" y="17525"/>
                </a:lnTo>
                <a:close/>
              </a:path>
              <a:path w="594359" h="462279">
                <a:moveTo>
                  <a:pt x="588459" y="7998"/>
                </a:moveTo>
                <a:lnTo>
                  <a:pt x="570346" y="7998"/>
                </a:lnTo>
                <a:lnTo>
                  <a:pt x="580416" y="21012"/>
                </a:lnTo>
                <a:lnTo>
                  <a:pt x="564226" y="23136"/>
                </a:lnTo>
                <a:lnTo>
                  <a:pt x="557141" y="40662"/>
                </a:lnTo>
                <a:lnTo>
                  <a:pt x="587043" y="17525"/>
                </a:lnTo>
                <a:lnTo>
                  <a:pt x="589839" y="10609"/>
                </a:lnTo>
                <a:lnTo>
                  <a:pt x="589930" y="9899"/>
                </a:lnTo>
                <a:lnTo>
                  <a:pt x="588459" y="7998"/>
                </a:lnTo>
                <a:close/>
              </a:path>
              <a:path w="594359" h="462279">
                <a:moveTo>
                  <a:pt x="575385" y="2459"/>
                </a:moveTo>
                <a:lnTo>
                  <a:pt x="485255" y="14283"/>
                </a:lnTo>
                <a:lnTo>
                  <a:pt x="481582" y="19066"/>
                </a:lnTo>
                <a:lnTo>
                  <a:pt x="482950" y="29498"/>
                </a:lnTo>
                <a:lnTo>
                  <a:pt x="487733" y="33172"/>
                </a:lnTo>
                <a:lnTo>
                  <a:pt x="545483" y="25595"/>
                </a:lnTo>
                <a:lnTo>
                  <a:pt x="575385" y="2459"/>
                </a:lnTo>
                <a:close/>
              </a:path>
              <a:path w="594359" h="462279">
                <a:moveTo>
                  <a:pt x="582784" y="1488"/>
                </a:moveTo>
                <a:lnTo>
                  <a:pt x="575385" y="2459"/>
                </a:lnTo>
                <a:lnTo>
                  <a:pt x="545483" y="25595"/>
                </a:lnTo>
                <a:lnTo>
                  <a:pt x="564226" y="23136"/>
                </a:lnTo>
                <a:lnTo>
                  <a:pt x="570346" y="7998"/>
                </a:lnTo>
                <a:lnTo>
                  <a:pt x="588459" y="7998"/>
                </a:lnTo>
                <a:lnTo>
                  <a:pt x="583491" y="1578"/>
                </a:lnTo>
                <a:lnTo>
                  <a:pt x="582784" y="1488"/>
                </a:lnTo>
                <a:close/>
              </a:path>
              <a:path w="594359" h="462279">
                <a:moveTo>
                  <a:pt x="570346" y="7998"/>
                </a:moveTo>
                <a:lnTo>
                  <a:pt x="564226" y="23136"/>
                </a:lnTo>
                <a:lnTo>
                  <a:pt x="580416" y="21012"/>
                </a:lnTo>
                <a:lnTo>
                  <a:pt x="570346" y="7998"/>
                </a:lnTo>
                <a:close/>
              </a:path>
              <a:path w="594359" h="462279">
                <a:moveTo>
                  <a:pt x="589839" y="10609"/>
                </a:moveTo>
                <a:lnTo>
                  <a:pt x="587043" y="17525"/>
                </a:lnTo>
                <a:lnTo>
                  <a:pt x="589166" y="15882"/>
                </a:lnTo>
                <a:lnTo>
                  <a:pt x="589839" y="10609"/>
                </a:lnTo>
                <a:close/>
              </a:path>
              <a:path w="594359" h="462279">
                <a:moveTo>
                  <a:pt x="594128" y="0"/>
                </a:moveTo>
                <a:lnTo>
                  <a:pt x="582784" y="1488"/>
                </a:lnTo>
                <a:lnTo>
                  <a:pt x="583491" y="1578"/>
                </a:lnTo>
                <a:lnTo>
                  <a:pt x="589930" y="9899"/>
                </a:lnTo>
                <a:lnTo>
                  <a:pt x="589839" y="10609"/>
                </a:lnTo>
                <a:lnTo>
                  <a:pt x="594128" y="0"/>
                </a:lnTo>
                <a:close/>
              </a:path>
              <a:path w="594359" h="462279">
                <a:moveTo>
                  <a:pt x="577509" y="815"/>
                </a:moveTo>
                <a:lnTo>
                  <a:pt x="575385" y="2459"/>
                </a:lnTo>
                <a:lnTo>
                  <a:pt x="582784" y="1488"/>
                </a:lnTo>
                <a:lnTo>
                  <a:pt x="577509" y="8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646385" y="4260091"/>
            <a:ext cx="687070" cy="383540"/>
          </a:xfrm>
          <a:custGeom>
            <a:avLst/>
            <a:gdLst/>
            <a:ahLst/>
            <a:cxnLst/>
            <a:rect l="l" t="t" r="r" b="b"/>
            <a:pathLst>
              <a:path w="687070" h="383539">
                <a:moveTo>
                  <a:pt x="634695" y="362625"/>
                </a:moveTo>
                <a:lnTo>
                  <a:pt x="576473" y="364253"/>
                </a:lnTo>
                <a:lnTo>
                  <a:pt x="572329" y="368635"/>
                </a:lnTo>
                <a:lnTo>
                  <a:pt x="572623" y="379152"/>
                </a:lnTo>
                <a:lnTo>
                  <a:pt x="577005" y="383296"/>
                </a:lnTo>
                <a:lnTo>
                  <a:pt x="667872" y="380754"/>
                </a:lnTo>
                <a:lnTo>
                  <a:pt x="634695" y="362625"/>
                </a:lnTo>
                <a:close/>
              </a:path>
              <a:path w="687070" h="383539">
                <a:moveTo>
                  <a:pt x="675339" y="380546"/>
                </a:moveTo>
                <a:lnTo>
                  <a:pt x="667872" y="380754"/>
                </a:lnTo>
                <a:lnTo>
                  <a:pt x="670231" y="382043"/>
                </a:lnTo>
                <a:lnTo>
                  <a:pt x="675339" y="380546"/>
                </a:lnTo>
                <a:close/>
              </a:path>
              <a:path w="687070" h="383539">
                <a:moveTo>
                  <a:pt x="653592" y="362096"/>
                </a:moveTo>
                <a:lnTo>
                  <a:pt x="634695" y="362625"/>
                </a:lnTo>
                <a:lnTo>
                  <a:pt x="667872" y="380754"/>
                </a:lnTo>
                <a:lnTo>
                  <a:pt x="675339" y="380546"/>
                </a:lnTo>
                <a:lnTo>
                  <a:pt x="676018" y="380347"/>
                </a:lnTo>
                <a:lnTo>
                  <a:pt x="678350" y="376080"/>
                </a:lnTo>
                <a:lnTo>
                  <a:pt x="662024" y="376080"/>
                </a:lnTo>
                <a:lnTo>
                  <a:pt x="653592" y="362096"/>
                </a:lnTo>
                <a:close/>
              </a:path>
              <a:path w="687070" h="383539">
                <a:moveTo>
                  <a:pt x="680864" y="370434"/>
                </a:moveTo>
                <a:lnTo>
                  <a:pt x="681064" y="371114"/>
                </a:lnTo>
                <a:lnTo>
                  <a:pt x="676018" y="380347"/>
                </a:lnTo>
                <a:lnTo>
                  <a:pt x="675339" y="380546"/>
                </a:lnTo>
                <a:lnTo>
                  <a:pt x="686769" y="380226"/>
                </a:lnTo>
                <a:lnTo>
                  <a:pt x="680864" y="370434"/>
                </a:lnTo>
                <a:close/>
              </a:path>
              <a:path w="687070" h="383539">
                <a:moveTo>
                  <a:pt x="669914" y="361640"/>
                </a:moveTo>
                <a:lnTo>
                  <a:pt x="653592" y="362096"/>
                </a:lnTo>
                <a:lnTo>
                  <a:pt x="662024" y="376080"/>
                </a:lnTo>
                <a:lnTo>
                  <a:pt x="669914" y="361640"/>
                </a:lnTo>
                <a:close/>
              </a:path>
              <a:path w="687070" h="383539">
                <a:moveTo>
                  <a:pt x="672619" y="361640"/>
                </a:moveTo>
                <a:lnTo>
                  <a:pt x="669914" y="361640"/>
                </a:lnTo>
                <a:lnTo>
                  <a:pt x="662024" y="376080"/>
                </a:lnTo>
                <a:lnTo>
                  <a:pt x="678350" y="376080"/>
                </a:lnTo>
                <a:lnTo>
                  <a:pt x="681064" y="371114"/>
                </a:lnTo>
                <a:lnTo>
                  <a:pt x="680864" y="370434"/>
                </a:lnTo>
                <a:lnTo>
                  <a:pt x="677007" y="364038"/>
                </a:lnTo>
                <a:lnTo>
                  <a:pt x="672619" y="361640"/>
                </a:lnTo>
                <a:close/>
              </a:path>
              <a:path w="687070" h="383539">
                <a:moveTo>
                  <a:pt x="677007" y="364038"/>
                </a:moveTo>
                <a:lnTo>
                  <a:pt x="680864" y="370434"/>
                </a:lnTo>
                <a:lnTo>
                  <a:pt x="679366" y="365326"/>
                </a:lnTo>
                <a:lnTo>
                  <a:pt x="677007" y="364038"/>
                </a:lnTo>
                <a:close/>
              </a:path>
              <a:path w="687070" h="383539">
                <a:moveTo>
                  <a:pt x="624215" y="284742"/>
                </a:moveTo>
                <a:lnTo>
                  <a:pt x="615205" y="290174"/>
                </a:lnTo>
                <a:lnTo>
                  <a:pt x="613755" y="296029"/>
                </a:lnTo>
                <a:lnTo>
                  <a:pt x="643831" y="345908"/>
                </a:lnTo>
                <a:lnTo>
                  <a:pt x="677007" y="364038"/>
                </a:lnTo>
                <a:lnTo>
                  <a:pt x="630068" y="286191"/>
                </a:lnTo>
                <a:lnTo>
                  <a:pt x="624215" y="284742"/>
                </a:lnTo>
                <a:close/>
              </a:path>
              <a:path w="687070" h="383539">
                <a:moveTo>
                  <a:pt x="10833" y="0"/>
                </a:moveTo>
                <a:lnTo>
                  <a:pt x="5045" y="1697"/>
                </a:lnTo>
                <a:lnTo>
                  <a:pt x="0" y="10930"/>
                </a:lnTo>
                <a:lnTo>
                  <a:pt x="1697" y="16717"/>
                </a:lnTo>
                <a:lnTo>
                  <a:pt x="634695" y="362625"/>
                </a:lnTo>
                <a:lnTo>
                  <a:pt x="653592" y="362096"/>
                </a:lnTo>
                <a:lnTo>
                  <a:pt x="643831" y="345908"/>
                </a:lnTo>
                <a:lnTo>
                  <a:pt x="10833" y="0"/>
                </a:lnTo>
                <a:close/>
              </a:path>
              <a:path w="687070" h="383539">
                <a:moveTo>
                  <a:pt x="643831" y="345908"/>
                </a:moveTo>
                <a:lnTo>
                  <a:pt x="653592" y="362096"/>
                </a:lnTo>
                <a:lnTo>
                  <a:pt x="669914" y="361640"/>
                </a:lnTo>
                <a:lnTo>
                  <a:pt x="672619" y="361640"/>
                </a:lnTo>
                <a:lnTo>
                  <a:pt x="643831" y="34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336076" y="4245355"/>
            <a:ext cx="118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18459" y="4096003"/>
            <a:ext cx="1225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26848" y="4589779"/>
            <a:ext cx="958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F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09109" y="1501140"/>
            <a:ext cx="2456180" cy="2016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Directed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290"/>
              </a:lnSpc>
              <a:spcBef>
                <a:spcPts val="229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latin typeface="Calibri"/>
                <a:cs typeface="Calibri"/>
              </a:rPr>
              <a:t>Links: </a:t>
            </a:r>
            <a:r>
              <a:rPr dirty="0" sz="2800" spc="-15">
                <a:latin typeface="Calibri"/>
                <a:cs typeface="Calibri"/>
              </a:rPr>
              <a:t>directed  </a:t>
            </a:r>
            <a:r>
              <a:rPr dirty="0" sz="2800" spc="-10">
                <a:latin typeface="Calibri"/>
                <a:cs typeface="Calibri"/>
              </a:rPr>
              <a:t>(arcs)</a:t>
            </a:r>
            <a:endParaRPr sz="2800">
              <a:latin typeface="Calibri"/>
              <a:cs typeface="Calibri"/>
            </a:endParaRPr>
          </a:p>
          <a:p>
            <a:pPr marL="817244">
              <a:lnSpc>
                <a:spcPct val="100000"/>
              </a:lnSpc>
              <a:spcBef>
                <a:spcPts val="1930"/>
              </a:spcBef>
            </a:pPr>
            <a:r>
              <a:rPr dirty="0" sz="1200" b="1">
                <a:latin typeface="Calibri"/>
                <a:cs typeface="Calibri"/>
              </a:rPr>
              <a:t>B</a:t>
            </a:r>
            <a:endParaRPr sz="1200">
              <a:latin typeface="Calibri"/>
              <a:cs typeface="Calibri"/>
            </a:endParaRPr>
          </a:p>
          <a:p>
            <a:pPr algn="r" marR="535940">
              <a:lnSpc>
                <a:spcPct val="100000"/>
              </a:lnSpc>
              <a:spcBef>
                <a:spcPts val="210"/>
              </a:spcBef>
            </a:pPr>
            <a:r>
              <a:rPr dirty="0" sz="1200" b="1">
                <a:latin typeface="Calibri"/>
                <a:cs typeface="Calibri"/>
              </a:rPr>
              <a:t>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14893" y="3017011"/>
            <a:ext cx="1219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20792" y="3989323"/>
            <a:ext cx="100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599259" y="3518574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5" h="164464">
                <a:moveTo>
                  <a:pt x="82034" y="0"/>
                </a:moveTo>
                <a:lnTo>
                  <a:pt x="50102" y="6446"/>
                </a:lnTo>
                <a:lnTo>
                  <a:pt x="24026" y="24026"/>
                </a:lnTo>
                <a:lnTo>
                  <a:pt x="6446" y="50102"/>
                </a:lnTo>
                <a:lnTo>
                  <a:pt x="0" y="82034"/>
                </a:lnTo>
                <a:lnTo>
                  <a:pt x="6446" y="113965"/>
                </a:lnTo>
                <a:lnTo>
                  <a:pt x="24026" y="140041"/>
                </a:lnTo>
                <a:lnTo>
                  <a:pt x="50102" y="157622"/>
                </a:lnTo>
                <a:lnTo>
                  <a:pt x="82034" y="164068"/>
                </a:lnTo>
                <a:lnTo>
                  <a:pt x="113965" y="157622"/>
                </a:lnTo>
                <a:lnTo>
                  <a:pt x="140041" y="140041"/>
                </a:lnTo>
                <a:lnTo>
                  <a:pt x="157622" y="113965"/>
                </a:lnTo>
                <a:lnTo>
                  <a:pt x="164068" y="82034"/>
                </a:lnTo>
                <a:lnTo>
                  <a:pt x="157622" y="50102"/>
                </a:lnTo>
                <a:lnTo>
                  <a:pt x="140041" y="24026"/>
                </a:lnTo>
                <a:lnTo>
                  <a:pt x="113965" y="6446"/>
                </a:lnTo>
                <a:lnTo>
                  <a:pt x="82034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599259" y="3518574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5" h="164464">
                <a:moveTo>
                  <a:pt x="0" y="82034"/>
                </a:moveTo>
                <a:lnTo>
                  <a:pt x="6446" y="50102"/>
                </a:lnTo>
                <a:lnTo>
                  <a:pt x="24027" y="24027"/>
                </a:lnTo>
                <a:lnTo>
                  <a:pt x="50102" y="6446"/>
                </a:lnTo>
                <a:lnTo>
                  <a:pt x="82034" y="0"/>
                </a:lnTo>
                <a:lnTo>
                  <a:pt x="113966" y="6446"/>
                </a:lnTo>
                <a:lnTo>
                  <a:pt x="140041" y="24027"/>
                </a:lnTo>
                <a:lnTo>
                  <a:pt x="157622" y="50102"/>
                </a:lnTo>
                <a:lnTo>
                  <a:pt x="164069" y="82034"/>
                </a:lnTo>
                <a:lnTo>
                  <a:pt x="157622" y="113966"/>
                </a:lnTo>
                <a:lnTo>
                  <a:pt x="140041" y="140041"/>
                </a:lnTo>
                <a:lnTo>
                  <a:pt x="113966" y="157622"/>
                </a:lnTo>
                <a:lnTo>
                  <a:pt x="82034" y="164069"/>
                </a:lnTo>
                <a:lnTo>
                  <a:pt x="50102" y="157622"/>
                </a:lnTo>
                <a:lnTo>
                  <a:pt x="24027" y="140041"/>
                </a:lnTo>
                <a:lnTo>
                  <a:pt x="6446" y="113966"/>
                </a:lnTo>
                <a:lnTo>
                  <a:pt x="0" y="82034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285059" y="3226831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5" h="164464">
                <a:moveTo>
                  <a:pt x="82034" y="0"/>
                </a:moveTo>
                <a:lnTo>
                  <a:pt x="50103" y="6446"/>
                </a:lnTo>
                <a:lnTo>
                  <a:pt x="24027" y="24027"/>
                </a:lnTo>
                <a:lnTo>
                  <a:pt x="6446" y="50103"/>
                </a:lnTo>
                <a:lnTo>
                  <a:pt x="0" y="82034"/>
                </a:lnTo>
                <a:lnTo>
                  <a:pt x="6446" y="113965"/>
                </a:lnTo>
                <a:lnTo>
                  <a:pt x="24027" y="140041"/>
                </a:lnTo>
                <a:lnTo>
                  <a:pt x="50103" y="157622"/>
                </a:lnTo>
                <a:lnTo>
                  <a:pt x="82034" y="164068"/>
                </a:lnTo>
                <a:lnTo>
                  <a:pt x="113966" y="157622"/>
                </a:lnTo>
                <a:lnTo>
                  <a:pt x="140041" y="140041"/>
                </a:lnTo>
                <a:lnTo>
                  <a:pt x="157622" y="113965"/>
                </a:lnTo>
                <a:lnTo>
                  <a:pt x="164068" y="82034"/>
                </a:lnTo>
                <a:lnTo>
                  <a:pt x="157622" y="50103"/>
                </a:lnTo>
                <a:lnTo>
                  <a:pt x="140041" y="24027"/>
                </a:lnTo>
                <a:lnTo>
                  <a:pt x="113966" y="6446"/>
                </a:lnTo>
                <a:lnTo>
                  <a:pt x="82034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285059" y="3226831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5" h="164464">
                <a:moveTo>
                  <a:pt x="0" y="82034"/>
                </a:moveTo>
                <a:lnTo>
                  <a:pt x="6446" y="50102"/>
                </a:lnTo>
                <a:lnTo>
                  <a:pt x="24027" y="24027"/>
                </a:lnTo>
                <a:lnTo>
                  <a:pt x="50102" y="6446"/>
                </a:lnTo>
                <a:lnTo>
                  <a:pt x="82034" y="0"/>
                </a:lnTo>
                <a:lnTo>
                  <a:pt x="113966" y="6446"/>
                </a:lnTo>
                <a:lnTo>
                  <a:pt x="140041" y="24027"/>
                </a:lnTo>
                <a:lnTo>
                  <a:pt x="157622" y="50102"/>
                </a:lnTo>
                <a:lnTo>
                  <a:pt x="164069" y="82034"/>
                </a:lnTo>
                <a:lnTo>
                  <a:pt x="157622" y="113966"/>
                </a:lnTo>
                <a:lnTo>
                  <a:pt x="140041" y="140041"/>
                </a:lnTo>
                <a:lnTo>
                  <a:pt x="113966" y="157622"/>
                </a:lnTo>
                <a:lnTo>
                  <a:pt x="82034" y="164069"/>
                </a:lnTo>
                <a:lnTo>
                  <a:pt x="50102" y="157622"/>
                </a:lnTo>
                <a:lnTo>
                  <a:pt x="24027" y="140041"/>
                </a:lnTo>
                <a:lnTo>
                  <a:pt x="6446" y="113966"/>
                </a:lnTo>
                <a:lnTo>
                  <a:pt x="0" y="82034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008444" y="4048898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5" h="164464">
                <a:moveTo>
                  <a:pt x="82034" y="0"/>
                </a:moveTo>
                <a:lnTo>
                  <a:pt x="50103" y="6446"/>
                </a:lnTo>
                <a:lnTo>
                  <a:pt x="24027" y="24026"/>
                </a:lnTo>
                <a:lnTo>
                  <a:pt x="6446" y="50102"/>
                </a:lnTo>
                <a:lnTo>
                  <a:pt x="0" y="82034"/>
                </a:lnTo>
                <a:lnTo>
                  <a:pt x="6446" y="113965"/>
                </a:lnTo>
                <a:lnTo>
                  <a:pt x="24027" y="140041"/>
                </a:lnTo>
                <a:lnTo>
                  <a:pt x="50103" y="157622"/>
                </a:lnTo>
                <a:lnTo>
                  <a:pt x="82034" y="164068"/>
                </a:lnTo>
                <a:lnTo>
                  <a:pt x="113966" y="157622"/>
                </a:lnTo>
                <a:lnTo>
                  <a:pt x="140041" y="140041"/>
                </a:lnTo>
                <a:lnTo>
                  <a:pt x="157622" y="113965"/>
                </a:lnTo>
                <a:lnTo>
                  <a:pt x="164068" y="82034"/>
                </a:lnTo>
                <a:lnTo>
                  <a:pt x="157622" y="50102"/>
                </a:lnTo>
                <a:lnTo>
                  <a:pt x="140041" y="24026"/>
                </a:lnTo>
                <a:lnTo>
                  <a:pt x="113966" y="6446"/>
                </a:lnTo>
                <a:lnTo>
                  <a:pt x="82034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008444" y="4048898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5" h="164464">
                <a:moveTo>
                  <a:pt x="0" y="82034"/>
                </a:moveTo>
                <a:lnTo>
                  <a:pt x="6446" y="50102"/>
                </a:lnTo>
                <a:lnTo>
                  <a:pt x="24027" y="24027"/>
                </a:lnTo>
                <a:lnTo>
                  <a:pt x="50102" y="6446"/>
                </a:lnTo>
                <a:lnTo>
                  <a:pt x="82034" y="0"/>
                </a:lnTo>
                <a:lnTo>
                  <a:pt x="113966" y="6446"/>
                </a:lnTo>
                <a:lnTo>
                  <a:pt x="140041" y="24027"/>
                </a:lnTo>
                <a:lnTo>
                  <a:pt x="157622" y="50102"/>
                </a:lnTo>
                <a:lnTo>
                  <a:pt x="164069" y="82034"/>
                </a:lnTo>
                <a:lnTo>
                  <a:pt x="157622" y="113966"/>
                </a:lnTo>
                <a:lnTo>
                  <a:pt x="140041" y="140041"/>
                </a:lnTo>
                <a:lnTo>
                  <a:pt x="113966" y="157622"/>
                </a:lnTo>
                <a:lnTo>
                  <a:pt x="82034" y="164069"/>
                </a:lnTo>
                <a:lnTo>
                  <a:pt x="50102" y="157622"/>
                </a:lnTo>
                <a:lnTo>
                  <a:pt x="24027" y="140041"/>
                </a:lnTo>
                <a:lnTo>
                  <a:pt x="6446" y="113966"/>
                </a:lnTo>
                <a:lnTo>
                  <a:pt x="0" y="82034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309088" y="4616270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5" h="164464">
                <a:moveTo>
                  <a:pt x="82034" y="0"/>
                </a:moveTo>
                <a:lnTo>
                  <a:pt x="50103" y="6446"/>
                </a:lnTo>
                <a:lnTo>
                  <a:pt x="24027" y="24027"/>
                </a:lnTo>
                <a:lnTo>
                  <a:pt x="6446" y="50103"/>
                </a:lnTo>
                <a:lnTo>
                  <a:pt x="0" y="82034"/>
                </a:lnTo>
                <a:lnTo>
                  <a:pt x="6446" y="113966"/>
                </a:lnTo>
                <a:lnTo>
                  <a:pt x="24027" y="140041"/>
                </a:lnTo>
                <a:lnTo>
                  <a:pt x="50103" y="157622"/>
                </a:lnTo>
                <a:lnTo>
                  <a:pt x="82034" y="164068"/>
                </a:lnTo>
                <a:lnTo>
                  <a:pt x="113966" y="157622"/>
                </a:lnTo>
                <a:lnTo>
                  <a:pt x="140041" y="140041"/>
                </a:lnTo>
                <a:lnTo>
                  <a:pt x="157622" y="113966"/>
                </a:lnTo>
                <a:lnTo>
                  <a:pt x="164068" y="82034"/>
                </a:lnTo>
                <a:lnTo>
                  <a:pt x="157622" y="50103"/>
                </a:lnTo>
                <a:lnTo>
                  <a:pt x="140041" y="24027"/>
                </a:lnTo>
                <a:lnTo>
                  <a:pt x="113966" y="6446"/>
                </a:lnTo>
                <a:lnTo>
                  <a:pt x="82034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309088" y="4616270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5" h="164464">
                <a:moveTo>
                  <a:pt x="0" y="82034"/>
                </a:moveTo>
                <a:lnTo>
                  <a:pt x="6446" y="50102"/>
                </a:lnTo>
                <a:lnTo>
                  <a:pt x="24027" y="24027"/>
                </a:lnTo>
                <a:lnTo>
                  <a:pt x="50102" y="6446"/>
                </a:lnTo>
                <a:lnTo>
                  <a:pt x="82034" y="0"/>
                </a:lnTo>
                <a:lnTo>
                  <a:pt x="113966" y="6446"/>
                </a:lnTo>
                <a:lnTo>
                  <a:pt x="140041" y="24027"/>
                </a:lnTo>
                <a:lnTo>
                  <a:pt x="157622" y="50102"/>
                </a:lnTo>
                <a:lnTo>
                  <a:pt x="164069" y="82034"/>
                </a:lnTo>
                <a:lnTo>
                  <a:pt x="157622" y="113966"/>
                </a:lnTo>
                <a:lnTo>
                  <a:pt x="140041" y="140041"/>
                </a:lnTo>
                <a:lnTo>
                  <a:pt x="113966" y="157622"/>
                </a:lnTo>
                <a:lnTo>
                  <a:pt x="82034" y="164069"/>
                </a:lnTo>
                <a:lnTo>
                  <a:pt x="50102" y="157622"/>
                </a:lnTo>
                <a:lnTo>
                  <a:pt x="24027" y="140041"/>
                </a:lnTo>
                <a:lnTo>
                  <a:pt x="6446" y="113966"/>
                </a:lnTo>
                <a:lnTo>
                  <a:pt x="0" y="82034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517224" y="4130931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5" h="164464">
                <a:moveTo>
                  <a:pt x="82034" y="0"/>
                </a:moveTo>
                <a:lnTo>
                  <a:pt x="50103" y="6446"/>
                </a:lnTo>
                <a:lnTo>
                  <a:pt x="24027" y="24027"/>
                </a:lnTo>
                <a:lnTo>
                  <a:pt x="6446" y="50103"/>
                </a:lnTo>
                <a:lnTo>
                  <a:pt x="0" y="82034"/>
                </a:lnTo>
                <a:lnTo>
                  <a:pt x="6446" y="113966"/>
                </a:lnTo>
                <a:lnTo>
                  <a:pt x="24027" y="140041"/>
                </a:lnTo>
                <a:lnTo>
                  <a:pt x="50103" y="157622"/>
                </a:lnTo>
                <a:lnTo>
                  <a:pt x="82034" y="164068"/>
                </a:lnTo>
                <a:lnTo>
                  <a:pt x="113966" y="157622"/>
                </a:lnTo>
                <a:lnTo>
                  <a:pt x="140042" y="140041"/>
                </a:lnTo>
                <a:lnTo>
                  <a:pt x="157623" y="113966"/>
                </a:lnTo>
                <a:lnTo>
                  <a:pt x="164070" y="82034"/>
                </a:lnTo>
                <a:lnTo>
                  <a:pt x="157623" y="50103"/>
                </a:lnTo>
                <a:lnTo>
                  <a:pt x="140042" y="24027"/>
                </a:lnTo>
                <a:lnTo>
                  <a:pt x="113966" y="6446"/>
                </a:lnTo>
                <a:lnTo>
                  <a:pt x="82034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517224" y="4130931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5" h="164464">
                <a:moveTo>
                  <a:pt x="0" y="82034"/>
                </a:moveTo>
                <a:lnTo>
                  <a:pt x="6446" y="50102"/>
                </a:lnTo>
                <a:lnTo>
                  <a:pt x="24027" y="24027"/>
                </a:lnTo>
                <a:lnTo>
                  <a:pt x="50102" y="6446"/>
                </a:lnTo>
                <a:lnTo>
                  <a:pt x="82034" y="0"/>
                </a:lnTo>
                <a:lnTo>
                  <a:pt x="113966" y="6446"/>
                </a:lnTo>
                <a:lnTo>
                  <a:pt x="140041" y="24027"/>
                </a:lnTo>
                <a:lnTo>
                  <a:pt x="157622" y="50102"/>
                </a:lnTo>
                <a:lnTo>
                  <a:pt x="164069" y="82034"/>
                </a:lnTo>
                <a:lnTo>
                  <a:pt x="157622" y="113966"/>
                </a:lnTo>
                <a:lnTo>
                  <a:pt x="140041" y="140041"/>
                </a:lnTo>
                <a:lnTo>
                  <a:pt x="113966" y="157622"/>
                </a:lnTo>
                <a:lnTo>
                  <a:pt x="82034" y="164069"/>
                </a:lnTo>
                <a:lnTo>
                  <a:pt x="50102" y="157622"/>
                </a:lnTo>
                <a:lnTo>
                  <a:pt x="24027" y="140041"/>
                </a:lnTo>
                <a:lnTo>
                  <a:pt x="6446" y="113966"/>
                </a:lnTo>
                <a:lnTo>
                  <a:pt x="0" y="82034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386696" y="3289942"/>
            <a:ext cx="401955" cy="831215"/>
          </a:xfrm>
          <a:custGeom>
            <a:avLst/>
            <a:gdLst/>
            <a:ahLst/>
            <a:cxnLst/>
            <a:rect l="l" t="t" r="r" b="b"/>
            <a:pathLst>
              <a:path w="401954" h="831214">
                <a:moveTo>
                  <a:pt x="376168" y="28100"/>
                </a:moveTo>
                <a:lnTo>
                  <a:pt x="338364" y="57923"/>
                </a:lnTo>
                <a:lnTo>
                  <a:pt x="303156" y="100929"/>
                </a:lnTo>
                <a:lnTo>
                  <a:pt x="264793" y="150493"/>
                </a:lnTo>
                <a:lnTo>
                  <a:pt x="226547" y="203810"/>
                </a:lnTo>
                <a:lnTo>
                  <a:pt x="191324" y="258602"/>
                </a:lnTo>
                <a:lnTo>
                  <a:pt x="162279" y="312317"/>
                </a:lnTo>
                <a:lnTo>
                  <a:pt x="138464" y="366127"/>
                </a:lnTo>
                <a:lnTo>
                  <a:pt x="116136" y="423713"/>
                </a:lnTo>
                <a:lnTo>
                  <a:pt x="95073" y="484536"/>
                </a:lnTo>
                <a:lnTo>
                  <a:pt x="75063" y="548054"/>
                </a:lnTo>
                <a:lnTo>
                  <a:pt x="55891" y="613724"/>
                </a:lnTo>
                <a:lnTo>
                  <a:pt x="37344" y="681023"/>
                </a:lnTo>
                <a:lnTo>
                  <a:pt x="0" y="823241"/>
                </a:lnTo>
                <a:lnTo>
                  <a:pt x="3041" y="828448"/>
                </a:lnTo>
                <a:lnTo>
                  <a:pt x="13218" y="831121"/>
                </a:lnTo>
                <a:lnTo>
                  <a:pt x="18425" y="828079"/>
                </a:lnTo>
                <a:lnTo>
                  <a:pt x="55769" y="685860"/>
                </a:lnTo>
                <a:lnTo>
                  <a:pt x="74256" y="618785"/>
                </a:lnTo>
                <a:lnTo>
                  <a:pt x="93348" y="553393"/>
                </a:lnTo>
                <a:lnTo>
                  <a:pt x="113243" y="490260"/>
                </a:lnTo>
                <a:lnTo>
                  <a:pt x="134137" y="429948"/>
                </a:lnTo>
                <a:lnTo>
                  <a:pt x="156225" y="373016"/>
                </a:lnTo>
                <a:lnTo>
                  <a:pt x="179698" y="320029"/>
                </a:lnTo>
                <a:lnTo>
                  <a:pt x="207867" y="268048"/>
                </a:lnTo>
                <a:lnTo>
                  <a:pt x="242413" y="214354"/>
                </a:lnTo>
                <a:lnTo>
                  <a:pt x="280271" y="161599"/>
                </a:lnTo>
                <a:lnTo>
                  <a:pt x="318127" y="112709"/>
                </a:lnTo>
                <a:lnTo>
                  <a:pt x="353029" y="70082"/>
                </a:lnTo>
                <a:lnTo>
                  <a:pt x="372109" y="47643"/>
                </a:lnTo>
                <a:lnTo>
                  <a:pt x="376168" y="28100"/>
                </a:lnTo>
                <a:close/>
              </a:path>
              <a:path w="401954" h="831214">
                <a:moveTo>
                  <a:pt x="397623" y="18484"/>
                </a:moveTo>
                <a:lnTo>
                  <a:pt x="392906" y="23774"/>
                </a:lnTo>
                <a:lnTo>
                  <a:pt x="381797" y="36423"/>
                </a:lnTo>
                <a:lnTo>
                  <a:pt x="372109" y="47643"/>
                </a:lnTo>
                <a:lnTo>
                  <a:pt x="360478" y="103635"/>
                </a:lnTo>
                <a:lnTo>
                  <a:pt x="363785" y="108678"/>
                </a:lnTo>
                <a:lnTo>
                  <a:pt x="374086" y="110818"/>
                </a:lnTo>
                <a:lnTo>
                  <a:pt x="379129" y="107510"/>
                </a:lnTo>
                <a:lnTo>
                  <a:pt x="397623" y="18484"/>
                </a:lnTo>
                <a:close/>
              </a:path>
              <a:path w="401954" h="831214">
                <a:moveTo>
                  <a:pt x="383436" y="5770"/>
                </a:moveTo>
                <a:lnTo>
                  <a:pt x="296885" y="33478"/>
                </a:lnTo>
                <a:lnTo>
                  <a:pt x="294124" y="38840"/>
                </a:lnTo>
                <a:lnTo>
                  <a:pt x="297332" y="48860"/>
                </a:lnTo>
                <a:lnTo>
                  <a:pt x="302693" y="51621"/>
                </a:lnTo>
                <a:lnTo>
                  <a:pt x="359097" y="33564"/>
                </a:lnTo>
                <a:lnTo>
                  <a:pt x="367379" y="23973"/>
                </a:lnTo>
                <a:lnTo>
                  <a:pt x="378593" y="11203"/>
                </a:lnTo>
                <a:lnTo>
                  <a:pt x="383436" y="5770"/>
                </a:lnTo>
                <a:close/>
              </a:path>
              <a:path w="401954" h="831214">
                <a:moveTo>
                  <a:pt x="398947" y="12111"/>
                </a:moveTo>
                <a:lnTo>
                  <a:pt x="379489" y="12111"/>
                </a:lnTo>
                <a:lnTo>
                  <a:pt x="391720" y="23121"/>
                </a:lnTo>
                <a:lnTo>
                  <a:pt x="376168" y="28100"/>
                </a:lnTo>
                <a:lnTo>
                  <a:pt x="372109" y="47643"/>
                </a:lnTo>
                <a:lnTo>
                  <a:pt x="381797" y="36423"/>
                </a:lnTo>
                <a:lnTo>
                  <a:pt x="392906" y="23774"/>
                </a:lnTo>
                <a:lnTo>
                  <a:pt x="397623" y="18484"/>
                </a:lnTo>
                <a:lnTo>
                  <a:pt x="398947" y="12111"/>
                </a:lnTo>
                <a:close/>
              </a:path>
              <a:path w="401954" h="831214">
                <a:moveTo>
                  <a:pt x="391228" y="3439"/>
                </a:moveTo>
                <a:lnTo>
                  <a:pt x="359097" y="33564"/>
                </a:lnTo>
                <a:lnTo>
                  <a:pt x="376168" y="28100"/>
                </a:lnTo>
                <a:lnTo>
                  <a:pt x="379489" y="12111"/>
                </a:lnTo>
                <a:lnTo>
                  <a:pt x="398947" y="12111"/>
                </a:lnTo>
                <a:lnTo>
                  <a:pt x="399128" y="11242"/>
                </a:lnTo>
                <a:lnTo>
                  <a:pt x="399082" y="10441"/>
                </a:lnTo>
                <a:lnTo>
                  <a:pt x="391228" y="3439"/>
                </a:lnTo>
                <a:close/>
              </a:path>
              <a:path w="401954" h="831214">
                <a:moveTo>
                  <a:pt x="379489" y="12111"/>
                </a:moveTo>
                <a:lnTo>
                  <a:pt x="376168" y="28100"/>
                </a:lnTo>
                <a:lnTo>
                  <a:pt x="391720" y="23121"/>
                </a:lnTo>
                <a:lnTo>
                  <a:pt x="379489" y="12111"/>
                </a:lnTo>
                <a:close/>
              </a:path>
              <a:path w="401954" h="831214">
                <a:moveTo>
                  <a:pt x="399128" y="11242"/>
                </a:moveTo>
                <a:lnTo>
                  <a:pt x="397623" y="18484"/>
                </a:lnTo>
                <a:lnTo>
                  <a:pt x="399426" y="16463"/>
                </a:lnTo>
                <a:lnTo>
                  <a:pt x="399128" y="11242"/>
                </a:lnTo>
                <a:close/>
              </a:path>
              <a:path w="401954" h="831214">
                <a:moveTo>
                  <a:pt x="400749" y="3439"/>
                </a:moveTo>
                <a:lnTo>
                  <a:pt x="391228" y="3439"/>
                </a:lnTo>
                <a:lnTo>
                  <a:pt x="399082" y="10441"/>
                </a:lnTo>
                <a:lnTo>
                  <a:pt x="399128" y="11242"/>
                </a:lnTo>
                <a:lnTo>
                  <a:pt x="400749" y="3439"/>
                </a:lnTo>
                <a:close/>
              </a:path>
              <a:path w="401954" h="831214">
                <a:moveTo>
                  <a:pt x="390609" y="3474"/>
                </a:moveTo>
                <a:lnTo>
                  <a:pt x="385207" y="3784"/>
                </a:lnTo>
                <a:lnTo>
                  <a:pt x="383436" y="5770"/>
                </a:lnTo>
                <a:lnTo>
                  <a:pt x="390609" y="3474"/>
                </a:lnTo>
                <a:close/>
              </a:path>
              <a:path w="401954" h="831214">
                <a:moveTo>
                  <a:pt x="401463" y="0"/>
                </a:moveTo>
                <a:lnTo>
                  <a:pt x="390609" y="3474"/>
                </a:lnTo>
                <a:lnTo>
                  <a:pt x="391228" y="3439"/>
                </a:lnTo>
                <a:lnTo>
                  <a:pt x="400749" y="3439"/>
                </a:lnTo>
                <a:lnTo>
                  <a:pt x="4014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460100" y="3296306"/>
            <a:ext cx="364490" cy="835025"/>
          </a:xfrm>
          <a:custGeom>
            <a:avLst/>
            <a:gdLst/>
            <a:ahLst/>
            <a:cxnLst/>
            <a:rect l="l" t="t" r="r" b="b"/>
            <a:pathLst>
              <a:path w="364489" h="835025">
                <a:moveTo>
                  <a:pt x="3889" y="823823"/>
                </a:moveTo>
                <a:lnTo>
                  <a:pt x="0" y="834652"/>
                </a:lnTo>
                <a:lnTo>
                  <a:pt x="11212" y="832730"/>
                </a:lnTo>
                <a:lnTo>
                  <a:pt x="10641" y="832684"/>
                </a:lnTo>
                <a:lnTo>
                  <a:pt x="3821" y="824673"/>
                </a:lnTo>
                <a:lnTo>
                  <a:pt x="3889" y="823823"/>
                </a:lnTo>
                <a:close/>
              </a:path>
              <a:path w="364489" h="835025">
                <a:moveTo>
                  <a:pt x="18668" y="831451"/>
                </a:moveTo>
                <a:lnTo>
                  <a:pt x="11212" y="832730"/>
                </a:lnTo>
                <a:lnTo>
                  <a:pt x="16652" y="833168"/>
                </a:lnTo>
                <a:lnTo>
                  <a:pt x="18668" y="831451"/>
                </a:lnTo>
                <a:close/>
              </a:path>
              <a:path w="364489" h="835025">
                <a:moveTo>
                  <a:pt x="35786" y="791373"/>
                </a:moveTo>
                <a:lnTo>
                  <a:pt x="29771" y="796721"/>
                </a:lnTo>
                <a:lnTo>
                  <a:pt x="14932" y="809614"/>
                </a:lnTo>
                <a:lnTo>
                  <a:pt x="6377" y="816897"/>
                </a:lnTo>
                <a:lnTo>
                  <a:pt x="3889" y="823823"/>
                </a:lnTo>
                <a:lnTo>
                  <a:pt x="3821" y="824673"/>
                </a:lnTo>
                <a:lnTo>
                  <a:pt x="10641" y="832684"/>
                </a:lnTo>
                <a:lnTo>
                  <a:pt x="11212" y="832730"/>
                </a:lnTo>
                <a:lnTo>
                  <a:pt x="18668" y="831451"/>
                </a:lnTo>
                <a:lnTo>
                  <a:pt x="25395" y="825724"/>
                </a:lnTo>
                <a:lnTo>
                  <a:pt x="23448" y="825724"/>
                </a:lnTo>
                <a:lnTo>
                  <a:pt x="12873" y="813116"/>
                </a:lnTo>
                <a:lnTo>
                  <a:pt x="28967" y="810356"/>
                </a:lnTo>
                <a:lnTo>
                  <a:pt x="35786" y="791373"/>
                </a:lnTo>
                <a:close/>
              </a:path>
              <a:path w="364489" h="835025">
                <a:moveTo>
                  <a:pt x="105007" y="797318"/>
                </a:moveTo>
                <a:lnTo>
                  <a:pt x="46483" y="807353"/>
                </a:lnTo>
                <a:lnTo>
                  <a:pt x="42429" y="810958"/>
                </a:lnTo>
                <a:lnTo>
                  <a:pt x="27426" y="823995"/>
                </a:lnTo>
                <a:lnTo>
                  <a:pt x="18668" y="831451"/>
                </a:lnTo>
                <a:lnTo>
                  <a:pt x="108226" y="816095"/>
                </a:lnTo>
                <a:lnTo>
                  <a:pt x="111709" y="811171"/>
                </a:lnTo>
                <a:lnTo>
                  <a:pt x="109931" y="800802"/>
                </a:lnTo>
                <a:lnTo>
                  <a:pt x="105007" y="797318"/>
                </a:lnTo>
                <a:close/>
              </a:path>
              <a:path w="364489" h="835025">
                <a:moveTo>
                  <a:pt x="28967" y="810356"/>
                </a:moveTo>
                <a:lnTo>
                  <a:pt x="12873" y="813116"/>
                </a:lnTo>
                <a:lnTo>
                  <a:pt x="23448" y="825724"/>
                </a:lnTo>
                <a:lnTo>
                  <a:pt x="28967" y="810356"/>
                </a:lnTo>
                <a:close/>
              </a:path>
              <a:path w="364489" h="835025">
                <a:moveTo>
                  <a:pt x="46483" y="807353"/>
                </a:moveTo>
                <a:lnTo>
                  <a:pt x="28967" y="810356"/>
                </a:lnTo>
                <a:lnTo>
                  <a:pt x="23448" y="825724"/>
                </a:lnTo>
                <a:lnTo>
                  <a:pt x="25395" y="825724"/>
                </a:lnTo>
                <a:lnTo>
                  <a:pt x="27426" y="823995"/>
                </a:lnTo>
                <a:lnTo>
                  <a:pt x="42429" y="810958"/>
                </a:lnTo>
                <a:lnTo>
                  <a:pt x="46483" y="807353"/>
                </a:lnTo>
                <a:close/>
              </a:path>
              <a:path w="364489" h="835025">
                <a:moveTo>
                  <a:pt x="6377" y="816897"/>
                </a:moveTo>
                <a:lnTo>
                  <a:pt x="4304" y="818662"/>
                </a:lnTo>
                <a:lnTo>
                  <a:pt x="3889" y="823823"/>
                </a:lnTo>
                <a:lnTo>
                  <a:pt x="6377" y="816897"/>
                </a:lnTo>
                <a:close/>
              </a:path>
              <a:path w="364489" h="835025">
                <a:moveTo>
                  <a:pt x="42574" y="728738"/>
                </a:moveTo>
                <a:lnTo>
                  <a:pt x="37118" y="731310"/>
                </a:lnTo>
                <a:lnTo>
                  <a:pt x="6377" y="816897"/>
                </a:lnTo>
                <a:lnTo>
                  <a:pt x="14932" y="809614"/>
                </a:lnTo>
                <a:lnTo>
                  <a:pt x="29771" y="796721"/>
                </a:lnTo>
                <a:lnTo>
                  <a:pt x="35786" y="791373"/>
                </a:lnTo>
                <a:lnTo>
                  <a:pt x="55046" y="737750"/>
                </a:lnTo>
                <a:lnTo>
                  <a:pt x="52475" y="732294"/>
                </a:lnTo>
                <a:lnTo>
                  <a:pt x="42574" y="728738"/>
                </a:lnTo>
                <a:close/>
              </a:path>
              <a:path w="364489" h="835025">
                <a:moveTo>
                  <a:pt x="349427" y="0"/>
                </a:moveTo>
                <a:lnTo>
                  <a:pt x="345027" y="4123"/>
                </a:lnTo>
                <a:lnTo>
                  <a:pt x="342606" y="78663"/>
                </a:lnTo>
                <a:lnTo>
                  <a:pt x="339784" y="146084"/>
                </a:lnTo>
                <a:lnTo>
                  <a:pt x="335691" y="212952"/>
                </a:lnTo>
                <a:lnTo>
                  <a:pt x="329732" y="278108"/>
                </a:lnTo>
                <a:lnTo>
                  <a:pt x="321294" y="341000"/>
                </a:lnTo>
                <a:lnTo>
                  <a:pt x="309768" y="401077"/>
                </a:lnTo>
                <a:lnTo>
                  <a:pt x="294608" y="457596"/>
                </a:lnTo>
                <a:lnTo>
                  <a:pt x="275158" y="510348"/>
                </a:lnTo>
                <a:lnTo>
                  <a:pt x="246688" y="562215"/>
                </a:lnTo>
                <a:lnTo>
                  <a:pt x="207176" y="616177"/>
                </a:lnTo>
                <a:lnTo>
                  <a:pt x="161103" y="669428"/>
                </a:lnTo>
                <a:lnTo>
                  <a:pt x="113102" y="719107"/>
                </a:lnTo>
                <a:lnTo>
                  <a:pt x="67790" y="762445"/>
                </a:lnTo>
                <a:lnTo>
                  <a:pt x="35786" y="791373"/>
                </a:lnTo>
                <a:lnTo>
                  <a:pt x="28967" y="810356"/>
                </a:lnTo>
                <a:lnTo>
                  <a:pt x="80836" y="776326"/>
                </a:lnTo>
                <a:lnTo>
                  <a:pt x="126648" y="732501"/>
                </a:lnTo>
                <a:lnTo>
                  <a:pt x="175305" y="682124"/>
                </a:lnTo>
                <a:lnTo>
                  <a:pt x="222270" y="627800"/>
                </a:lnTo>
                <a:lnTo>
                  <a:pt x="263013" y="572033"/>
                </a:lnTo>
                <a:lnTo>
                  <a:pt x="292859" y="517387"/>
                </a:lnTo>
                <a:lnTo>
                  <a:pt x="312905" y="462902"/>
                </a:lnTo>
                <a:lnTo>
                  <a:pt x="328477" y="404661"/>
                </a:lnTo>
                <a:lnTo>
                  <a:pt x="340175" y="343531"/>
                </a:lnTo>
                <a:lnTo>
                  <a:pt x="348703" y="279841"/>
                </a:lnTo>
                <a:lnTo>
                  <a:pt x="354705" y="214115"/>
                </a:lnTo>
                <a:lnTo>
                  <a:pt x="358818" y="146880"/>
                </a:lnTo>
                <a:lnTo>
                  <a:pt x="361691" y="78046"/>
                </a:lnTo>
                <a:lnTo>
                  <a:pt x="364067" y="4740"/>
                </a:lnTo>
                <a:lnTo>
                  <a:pt x="359943" y="340"/>
                </a:lnTo>
                <a:lnTo>
                  <a:pt x="3494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761060" y="3144796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82034" y="0"/>
                </a:moveTo>
                <a:lnTo>
                  <a:pt x="50102" y="6446"/>
                </a:lnTo>
                <a:lnTo>
                  <a:pt x="24026" y="24027"/>
                </a:lnTo>
                <a:lnTo>
                  <a:pt x="6446" y="50103"/>
                </a:lnTo>
                <a:lnTo>
                  <a:pt x="0" y="82034"/>
                </a:lnTo>
                <a:lnTo>
                  <a:pt x="6446" y="113966"/>
                </a:lnTo>
                <a:lnTo>
                  <a:pt x="24026" y="140041"/>
                </a:lnTo>
                <a:lnTo>
                  <a:pt x="50102" y="157622"/>
                </a:lnTo>
                <a:lnTo>
                  <a:pt x="82034" y="164068"/>
                </a:lnTo>
                <a:lnTo>
                  <a:pt x="113965" y="157622"/>
                </a:lnTo>
                <a:lnTo>
                  <a:pt x="140041" y="140041"/>
                </a:lnTo>
                <a:lnTo>
                  <a:pt x="157622" y="113966"/>
                </a:lnTo>
                <a:lnTo>
                  <a:pt x="164068" y="82034"/>
                </a:lnTo>
                <a:lnTo>
                  <a:pt x="157622" y="50103"/>
                </a:lnTo>
                <a:lnTo>
                  <a:pt x="140041" y="24027"/>
                </a:lnTo>
                <a:lnTo>
                  <a:pt x="113965" y="6446"/>
                </a:lnTo>
                <a:lnTo>
                  <a:pt x="82034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761060" y="3144796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0" y="82034"/>
                </a:moveTo>
                <a:lnTo>
                  <a:pt x="6446" y="50102"/>
                </a:lnTo>
                <a:lnTo>
                  <a:pt x="24027" y="24027"/>
                </a:lnTo>
                <a:lnTo>
                  <a:pt x="50102" y="6446"/>
                </a:lnTo>
                <a:lnTo>
                  <a:pt x="82034" y="0"/>
                </a:lnTo>
                <a:lnTo>
                  <a:pt x="113966" y="6446"/>
                </a:lnTo>
                <a:lnTo>
                  <a:pt x="140041" y="24027"/>
                </a:lnTo>
                <a:lnTo>
                  <a:pt x="157622" y="50102"/>
                </a:lnTo>
                <a:lnTo>
                  <a:pt x="164069" y="82034"/>
                </a:lnTo>
                <a:lnTo>
                  <a:pt x="157622" y="113966"/>
                </a:lnTo>
                <a:lnTo>
                  <a:pt x="140041" y="140041"/>
                </a:lnTo>
                <a:lnTo>
                  <a:pt x="113966" y="157622"/>
                </a:lnTo>
                <a:lnTo>
                  <a:pt x="82034" y="164069"/>
                </a:lnTo>
                <a:lnTo>
                  <a:pt x="50102" y="157622"/>
                </a:lnTo>
                <a:lnTo>
                  <a:pt x="24027" y="140041"/>
                </a:lnTo>
                <a:lnTo>
                  <a:pt x="6446" y="113966"/>
                </a:lnTo>
                <a:lnTo>
                  <a:pt x="0" y="82034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303860" y="4106904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82034" y="0"/>
                </a:moveTo>
                <a:lnTo>
                  <a:pt x="50103" y="6446"/>
                </a:lnTo>
                <a:lnTo>
                  <a:pt x="24027" y="24027"/>
                </a:lnTo>
                <a:lnTo>
                  <a:pt x="6446" y="50103"/>
                </a:lnTo>
                <a:lnTo>
                  <a:pt x="0" y="82035"/>
                </a:lnTo>
                <a:lnTo>
                  <a:pt x="6446" y="113966"/>
                </a:lnTo>
                <a:lnTo>
                  <a:pt x="24027" y="140042"/>
                </a:lnTo>
                <a:lnTo>
                  <a:pt x="50103" y="157623"/>
                </a:lnTo>
                <a:lnTo>
                  <a:pt x="82034" y="164070"/>
                </a:lnTo>
                <a:lnTo>
                  <a:pt x="113966" y="157623"/>
                </a:lnTo>
                <a:lnTo>
                  <a:pt x="140041" y="140042"/>
                </a:lnTo>
                <a:lnTo>
                  <a:pt x="157622" y="113966"/>
                </a:lnTo>
                <a:lnTo>
                  <a:pt x="164068" y="82035"/>
                </a:lnTo>
                <a:lnTo>
                  <a:pt x="157622" y="50103"/>
                </a:lnTo>
                <a:lnTo>
                  <a:pt x="140041" y="24027"/>
                </a:lnTo>
                <a:lnTo>
                  <a:pt x="113966" y="6446"/>
                </a:lnTo>
                <a:lnTo>
                  <a:pt x="82034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303860" y="4106904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0" y="82034"/>
                </a:moveTo>
                <a:lnTo>
                  <a:pt x="6446" y="50102"/>
                </a:lnTo>
                <a:lnTo>
                  <a:pt x="24027" y="24027"/>
                </a:lnTo>
                <a:lnTo>
                  <a:pt x="50102" y="6446"/>
                </a:lnTo>
                <a:lnTo>
                  <a:pt x="82034" y="0"/>
                </a:lnTo>
                <a:lnTo>
                  <a:pt x="113966" y="6446"/>
                </a:lnTo>
                <a:lnTo>
                  <a:pt x="140041" y="24027"/>
                </a:lnTo>
                <a:lnTo>
                  <a:pt x="157622" y="50102"/>
                </a:lnTo>
                <a:lnTo>
                  <a:pt x="164069" y="82034"/>
                </a:lnTo>
                <a:lnTo>
                  <a:pt x="157622" y="113966"/>
                </a:lnTo>
                <a:lnTo>
                  <a:pt x="140041" y="140041"/>
                </a:lnTo>
                <a:lnTo>
                  <a:pt x="113966" y="157622"/>
                </a:lnTo>
                <a:lnTo>
                  <a:pt x="82034" y="164069"/>
                </a:lnTo>
                <a:lnTo>
                  <a:pt x="50102" y="157622"/>
                </a:lnTo>
                <a:lnTo>
                  <a:pt x="24027" y="140041"/>
                </a:lnTo>
                <a:lnTo>
                  <a:pt x="6446" y="113966"/>
                </a:lnTo>
                <a:lnTo>
                  <a:pt x="0" y="82034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8700647" y="6699893"/>
            <a:ext cx="1727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63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50520"/>
            <a:ext cx="3444240" cy="5547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5127" y="1766292"/>
            <a:ext cx="397510" cy="14319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400" spc="-5" b="1">
                <a:solidFill>
                  <a:srgbClr val="D60093"/>
                </a:solidFill>
                <a:latin typeface="Calibri"/>
                <a:cs typeface="Calibri"/>
              </a:rPr>
              <a:t>U</a:t>
            </a:r>
            <a:r>
              <a:rPr dirty="0" sz="2400" b="1">
                <a:solidFill>
                  <a:srgbClr val="D60093"/>
                </a:solidFill>
                <a:latin typeface="Calibri"/>
                <a:cs typeface="Calibri"/>
              </a:rPr>
              <a:t>nd</a:t>
            </a:r>
            <a:r>
              <a:rPr dirty="0" sz="2400" spc="-5" b="1">
                <a:solidFill>
                  <a:srgbClr val="D60093"/>
                </a:solidFill>
                <a:latin typeface="Calibri"/>
                <a:cs typeface="Calibri"/>
              </a:rPr>
              <a:t>i</a:t>
            </a:r>
            <a:r>
              <a:rPr dirty="0" sz="2400" spc="-30" b="1">
                <a:solidFill>
                  <a:srgbClr val="D60093"/>
                </a:solidFill>
                <a:latin typeface="Calibri"/>
                <a:cs typeface="Calibri"/>
              </a:rPr>
              <a:t>r</a:t>
            </a:r>
            <a:r>
              <a:rPr dirty="0" sz="2400" b="1">
                <a:solidFill>
                  <a:srgbClr val="D60093"/>
                </a:solidFill>
                <a:latin typeface="Calibri"/>
                <a:cs typeface="Calibri"/>
              </a:rPr>
              <a:t>e</a:t>
            </a:r>
            <a:r>
              <a:rPr dirty="0" sz="2400" spc="-5" b="1">
                <a:solidFill>
                  <a:srgbClr val="D60093"/>
                </a:solidFill>
                <a:latin typeface="Calibri"/>
                <a:cs typeface="Calibri"/>
              </a:rPr>
              <a:t>c</a:t>
            </a:r>
            <a:r>
              <a:rPr dirty="0" sz="2400" spc="-25" b="1">
                <a:solidFill>
                  <a:srgbClr val="D60093"/>
                </a:solidFill>
                <a:latin typeface="Calibri"/>
                <a:cs typeface="Calibri"/>
              </a:rPr>
              <a:t>t</a:t>
            </a:r>
            <a:r>
              <a:rPr dirty="0" sz="2400" b="1">
                <a:solidFill>
                  <a:srgbClr val="D60093"/>
                </a:solidFill>
                <a:latin typeface="Calibri"/>
                <a:cs typeface="Calibri"/>
              </a:rPr>
              <a:t>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7264" y="1497338"/>
            <a:ext cx="633730" cy="73660"/>
          </a:xfrm>
          <a:custGeom>
            <a:avLst/>
            <a:gdLst/>
            <a:ahLst/>
            <a:cxnLst/>
            <a:rect l="l" t="t" r="r" b="b"/>
            <a:pathLst>
              <a:path w="633730" h="73659">
                <a:moveTo>
                  <a:pt x="0" y="0"/>
                </a:moveTo>
                <a:lnTo>
                  <a:pt x="633313" y="7341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63458" y="1570757"/>
            <a:ext cx="670560" cy="79375"/>
          </a:xfrm>
          <a:custGeom>
            <a:avLst/>
            <a:gdLst/>
            <a:ahLst/>
            <a:cxnLst/>
            <a:rect l="l" t="t" r="r" b="b"/>
            <a:pathLst>
              <a:path w="670560" h="79375">
                <a:moveTo>
                  <a:pt x="0" y="0"/>
                </a:moveTo>
                <a:lnTo>
                  <a:pt x="670236" y="7898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94104" y="2016155"/>
            <a:ext cx="413384" cy="73660"/>
          </a:xfrm>
          <a:custGeom>
            <a:avLst/>
            <a:gdLst/>
            <a:ahLst/>
            <a:cxnLst/>
            <a:rect l="l" t="t" r="r" b="b"/>
            <a:pathLst>
              <a:path w="413384" h="73660">
                <a:moveTo>
                  <a:pt x="0" y="73420"/>
                </a:moveTo>
                <a:lnTo>
                  <a:pt x="41305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63255" y="2080813"/>
            <a:ext cx="213995" cy="272415"/>
          </a:xfrm>
          <a:custGeom>
            <a:avLst/>
            <a:gdLst/>
            <a:ahLst/>
            <a:cxnLst/>
            <a:rect l="l" t="t" r="r" b="b"/>
            <a:pathLst>
              <a:path w="213994" h="272414">
                <a:moveTo>
                  <a:pt x="0" y="0"/>
                </a:moveTo>
                <a:lnTo>
                  <a:pt x="213851" y="27219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06423" y="2482322"/>
            <a:ext cx="223520" cy="215900"/>
          </a:xfrm>
          <a:custGeom>
            <a:avLst/>
            <a:gdLst/>
            <a:ahLst/>
            <a:cxnLst/>
            <a:rect l="l" t="t" r="r" b="b"/>
            <a:pathLst>
              <a:path w="223519" h="215900">
                <a:moveTo>
                  <a:pt x="0" y="0"/>
                </a:moveTo>
                <a:lnTo>
                  <a:pt x="222982" y="21569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06423" y="2143155"/>
            <a:ext cx="786130" cy="210185"/>
          </a:xfrm>
          <a:custGeom>
            <a:avLst/>
            <a:gdLst/>
            <a:ahLst/>
            <a:cxnLst/>
            <a:rect l="l" t="t" r="r" b="b"/>
            <a:pathLst>
              <a:path w="786130" h="210185">
                <a:moveTo>
                  <a:pt x="0" y="209851"/>
                </a:moveTo>
                <a:lnTo>
                  <a:pt x="78586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58721" y="2207813"/>
            <a:ext cx="460375" cy="490220"/>
          </a:xfrm>
          <a:custGeom>
            <a:avLst/>
            <a:gdLst/>
            <a:ahLst/>
            <a:cxnLst/>
            <a:rect l="l" t="t" r="r" b="b"/>
            <a:pathLst>
              <a:path w="460375" h="490219">
                <a:moveTo>
                  <a:pt x="460347" y="0"/>
                </a:moveTo>
                <a:lnTo>
                  <a:pt x="0" y="49020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58721" y="2827333"/>
            <a:ext cx="205740" cy="175895"/>
          </a:xfrm>
          <a:custGeom>
            <a:avLst/>
            <a:gdLst/>
            <a:ahLst/>
            <a:cxnLst/>
            <a:rect l="l" t="t" r="r" b="b"/>
            <a:pathLst>
              <a:path w="205739" h="175894">
                <a:moveTo>
                  <a:pt x="0" y="0"/>
                </a:moveTo>
                <a:lnTo>
                  <a:pt x="205587" y="17548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38281" y="3067476"/>
            <a:ext cx="599440" cy="147320"/>
          </a:xfrm>
          <a:custGeom>
            <a:avLst/>
            <a:gdLst/>
            <a:ahLst/>
            <a:cxnLst/>
            <a:rect l="l" t="t" r="r" b="b"/>
            <a:pathLst>
              <a:path w="599439" h="147319">
                <a:moveTo>
                  <a:pt x="0" y="146839"/>
                </a:moveTo>
                <a:lnTo>
                  <a:pt x="59924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011498" y="2827333"/>
            <a:ext cx="318135" cy="322580"/>
          </a:xfrm>
          <a:custGeom>
            <a:avLst/>
            <a:gdLst/>
            <a:ahLst/>
            <a:cxnLst/>
            <a:rect l="l" t="t" r="r" b="b"/>
            <a:pathLst>
              <a:path w="318135" h="322580">
                <a:moveTo>
                  <a:pt x="317906" y="0"/>
                </a:moveTo>
                <a:lnTo>
                  <a:pt x="0" y="32232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52074" y="2900752"/>
            <a:ext cx="330200" cy="248920"/>
          </a:xfrm>
          <a:custGeom>
            <a:avLst/>
            <a:gdLst/>
            <a:ahLst/>
            <a:cxnLst/>
            <a:rect l="l" t="t" r="r" b="b"/>
            <a:pathLst>
              <a:path w="330200" h="248919">
                <a:moveTo>
                  <a:pt x="0" y="0"/>
                </a:moveTo>
                <a:lnTo>
                  <a:pt x="330108" y="24890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34320" y="2707277"/>
            <a:ext cx="137160" cy="415925"/>
          </a:xfrm>
          <a:custGeom>
            <a:avLst/>
            <a:gdLst/>
            <a:ahLst/>
            <a:cxnLst/>
            <a:rect l="l" t="t" r="r" b="b"/>
            <a:pathLst>
              <a:path w="137159" h="415925">
                <a:moveTo>
                  <a:pt x="137011" y="41559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95223" y="2503827"/>
            <a:ext cx="190500" cy="267970"/>
          </a:xfrm>
          <a:custGeom>
            <a:avLst/>
            <a:gdLst/>
            <a:ahLst/>
            <a:cxnLst/>
            <a:rect l="l" t="t" r="r" b="b"/>
            <a:pathLst>
              <a:path w="190500" h="267969">
                <a:moveTo>
                  <a:pt x="0" y="0"/>
                </a:moveTo>
                <a:lnTo>
                  <a:pt x="189919" y="26760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48383" y="2900752"/>
            <a:ext cx="337185" cy="328295"/>
          </a:xfrm>
          <a:custGeom>
            <a:avLst/>
            <a:gdLst/>
            <a:ahLst/>
            <a:cxnLst/>
            <a:rect l="l" t="t" r="r" b="b"/>
            <a:pathLst>
              <a:path w="337185" h="328294">
                <a:moveTo>
                  <a:pt x="336758" y="0"/>
                </a:moveTo>
                <a:lnTo>
                  <a:pt x="0" y="32788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128356" y="2614676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64385" y="140589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8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64385" y="140589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680578" y="147931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39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8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680578" y="147931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533694" y="155829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39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8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533694" y="155829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011224" y="199813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607158" y="192471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39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8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607158" y="192471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950324" y="232622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39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8"/>
                </a:lnTo>
                <a:lnTo>
                  <a:pt x="55847" y="175694"/>
                </a:lnTo>
                <a:lnTo>
                  <a:pt x="91439" y="182879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79" y="91439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A0D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950324" y="232622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892285" y="205171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39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2" y="156098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8" y="156098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8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A0D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892285" y="205171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302623" y="267123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8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302623" y="267123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637525" y="297603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39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8"/>
                </a:lnTo>
                <a:lnTo>
                  <a:pt x="55847" y="175694"/>
                </a:lnTo>
                <a:lnTo>
                  <a:pt x="91439" y="182879"/>
                </a:lnTo>
                <a:lnTo>
                  <a:pt x="127032" y="175694"/>
                </a:lnTo>
                <a:lnTo>
                  <a:pt x="156098" y="156098"/>
                </a:lnTo>
                <a:lnTo>
                  <a:pt x="175694" y="127032"/>
                </a:lnTo>
                <a:lnTo>
                  <a:pt x="182879" y="91439"/>
                </a:lnTo>
                <a:lnTo>
                  <a:pt x="175694" y="55847"/>
                </a:lnTo>
                <a:lnTo>
                  <a:pt x="156098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A0D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637525" y="297603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855401" y="312287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39" y="0"/>
                </a:moveTo>
                <a:lnTo>
                  <a:pt x="55847" y="7185"/>
                </a:lnTo>
                <a:lnTo>
                  <a:pt x="26781" y="26781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79" y="91440"/>
                </a:lnTo>
                <a:lnTo>
                  <a:pt x="175694" y="55847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A0D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855401" y="312287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95976" y="274465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lnTo>
                  <a:pt x="55847" y="7185"/>
                </a:lnTo>
                <a:lnTo>
                  <a:pt x="26782" y="26781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7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8" y="156097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8" y="26781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395976" y="274465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42881" y="252439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8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42881" y="252439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979892" y="312287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39" y="0"/>
                </a:moveTo>
                <a:lnTo>
                  <a:pt x="55847" y="7185"/>
                </a:lnTo>
                <a:lnTo>
                  <a:pt x="26782" y="26781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2" y="156097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79" y="91440"/>
                </a:lnTo>
                <a:lnTo>
                  <a:pt x="175694" y="55847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79892" y="312287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039125" y="234772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8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039125" y="234772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892285" y="320185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39" y="0"/>
                </a:moveTo>
                <a:lnTo>
                  <a:pt x="55847" y="7185"/>
                </a:lnTo>
                <a:lnTo>
                  <a:pt x="26782" y="26781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7"/>
                </a:lnTo>
                <a:lnTo>
                  <a:pt x="55847" y="175694"/>
                </a:lnTo>
                <a:lnTo>
                  <a:pt x="91439" y="182879"/>
                </a:lnTo>
                <a:lnTo>
                  <a:pt x="127032" y="175694"/>
                </a:lnTo>
                <a:lnTo>
                  <a:pt x="156098" y="156097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8" y="26781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892285" y="320185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358360" y="274465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80">
                <a:moveTo>
                  <a:pt x="91440" y="0"/>
                </a:moveTo>
                <a:lnTo>
                  <a:pt x="55847" y="7185"/>
                </a:lnTo>
                <a:lnTo>
                  <a:pt x="26781" y="26781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358360" y="274465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80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4041140" y="1356867"/>
            <a:ext cx="4225925" cy="897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ts val="35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Node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degree, </a:t>
            </a:r>
            <a:r>
              <a:rPr dirty="0" sz="2800" spc="-5" b="1" i="1">
                <a:solidFill>
                  <a:srgbClr val="D60093"/>
                </a:solidFill>
                <a:latin typeface="Calibri"/>
                <a:cs typeface="Calibri"/>
              </a:rPr>
              <a:t>k</a:t>
            </a:r>
            <a:r>
              <a:rPr dirty="0" baseline="-17543" sz="2850" spc="-7" b="1" i="1">
                <a:solidFill>
                  <a:srgbClr val="D60093"/>
                </a:solidFill>
                <a:latin typeface="Calibri"/>
                <a:cs typeface="Calibri"/>
              </a:rPr>
              <a:t>i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the number  of </a:t>
            </a:r>
            <a:r>
              <a:rPr dirty="0" sz="2800" spc="-10">
                <a:latin typeface="Calibri"/>
                <a:cs typeface="Calibri"/>
              </a:rPr>
              <a:t>edges </a:t>
            </a:r>
            <a:r>
              <a:rPr dirty="0" sz="2800" spc="-5">
                <a:latin typeface="Calibri"/>
                <a:cs typeface="Calibri"/>
              </a:rPr>
              <a:t>adjacent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b="1" i="1">
                <a:latin typeface="Calibri"/>
                <a:cs typeface="Calibri"/>
              </a:rPr>
              <a:t>i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4171637" y="2273300"/>
            <a:ext cx="8007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30" i="1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dirty="0" baseline="-24509" sz="2550" spc="-195" i="1">
                <a:solidFill>
                  <a:srgbClr val="000000"/>
                </a:solidFill>
                <a:latin typeface="Times New Roman"/>
                <a:cs typeface="Times New Roman"/>
              </a:rPr>
              <a:t>A  </a:t>
            </a:r>
            <a:r>
              <a:rPr dirty="0" sz="3000" spc="-245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dirty="0" sz="3000" spc="-4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000" spc="-225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74606" y="4212664"/>
            <a:ext cx="397510" cy="109791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Di</a:t>
            </a:r>
            <a:r>
              <a:rPr dirty="0" sz="2400" spc="-30" b="1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dirty="0" sz="2400" b="1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dirty="0" sz="2400" spc="-10" b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sz="2400" spc="-30" b="1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dirty="0" sz="2400" b="1">
                <a:solidFill>
                  <a:srgbClr val="0000FF"/>
                </a:solidFill>
                <a:latin typeface="Calibri"/>
                <a:cs typeface="Calibri"/>
              </a:rPr>
              <a:t>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383393" y="4280231"/>
            <a:ext cx="693420" cy="331470"/>
          </a:xfrm>
          <a:custGeom>
            <a:avLst/>
            <a:gdLst/>
            <a:ahLst/>
            <a:cxnLst/>
            <a:rect l="l" t="t" r="r" b="b"/>
            <a:pathLst>
              <a:path w="693419" h="331470">
                <a:moveTo>
                  <a:pt x="53239" y="24914"/>
                </a:moveTo>
                <a:lnTo>
                  <a:pt x="34435" y="26849"/>
                </a:lnTo>
                <a:lnTo>
                  <a:pt x="45377" y="42266"/>
                </a:lnTo>
                <a:lnTo>
                  <a:pt x="683000" y="331228"/>
                </a:lnTo>
                <a:lnTo>
                  <a:pt x="688646" y="329103"/>
                </a:lnTo>
                <a:lnTo>
                  <a:pt x="692989" y="319521"/>
                </a:lnTo>
                <a:lnTo>
                  <a:pt x="690864" y="313876"/>
                </a:lnTo>
                <a:lnTo>
                  <a:pt x="53239" y="24914"/>
                </a:lnTo>
                <a:close/>
              </a:path>
              <a:path w="693419" h="331470">
                <a:moveTo>
                  <a:pt x="10941" y="26660"/>
                </a:moveTo>
                <a:lnTo>
                  <a:pt x="63552" y="100789"/>
                </a:lnTo>
                <a:lnTo>
                  <a:pt x="69498" y="101799"/>
                </a:lnTo>
                <a:lnTo>
                  <a:pt x="78078" y="95709"/>
                </a:lnTo>
                <a:lnTo>
                  <a:pt x="79087" y="89763"/>
                </a:lnTo>
                <a:lnTo>
                  <a:pt x="45377" y="42266"/>
                </a:lnTo>
                <a:lnTo>
                  <a:pt x="10941" y="26660"/>
                </a:lnTo>
                <a:close/>
              </a:path>
              <a:path w="693419" h="331470">
                <a:moveTo>
                  <a:pt x="18804" y="9308"/>
                </a:moveTo>
                <a:lnTo>
                  <a:pt x="11372" y="10073"/>
                </a:lnTo>
                <a:lnTo>
                  <a:pt x="10711" y="10322"/>
                </a:lnTo>
                <a:lnTo>
                  <a:pt x="6369" y="19905"/>
                </a:lnTo>
                <a:lnTo>
                  <a:pt x="6619" y="20570"/>
                </a:lnTo>
                <a:lnTo>
                  <a:pt x="10941" y="26660"/>
                </a:lnTo>
                <a:lnTo>
                  <a:pt x="45377" y="42266"/>
                </a:lnTo>
                <a:lnTo>
                  <a:pt x="35621" y="28521"/>
                </a:lnTo>
                <a:lnTo>
                  <a:pt x="18192" y="28521"/>
                </a:lnTo>
                <a:lnTo>
                  <a:pt x="24984" y="13534"/>
                </a:lnTo>
                <a:lnTo>
                  <a:pt x="28128" y="13534"/>
                </a:lnTo>
                <a:lnTo>
                  <a:pt x="18804" y="9308"/>
                </a:lnTo>
                <a:close/>
              </a:path>
              <a:path w="693419" h="331470">
                <a:moveTo>
                  <a:pt x="24984" y="13534"/>
                </a:moveTo>
                <a:lnTo>
                  <a:pt x="18192" y="28521"/>
                </a:lnTo>
                <a:lnTo>
                  <a:pt x="34435" y="26849"/>
                </a:lnTo>
                <a:lnTo>
                  <a:pt x="24984" y="13534"/>
                </a:lnTo>
                <a:close/>
              </a:path>
              <a:path w="693419" h="331470">
                <a:moveTo>
                  <a:pt x="34435" y="26849"/>
                </a:moveTo>
                <a:lnTo>
                  <a:pt x="18192" y="28521"/>
                </a:lnTo>
                <a:lnTo>
                  <a:pt x="35621" y="28521"/>
                </a:lnTo>
                <a:lnTo>
                  <a:pt x="34435" y="26849"/>
                </a:lnTo>
                <a:close/>
              </a:path>
              <a:path w="693419" h="331470">
                <a:moveTo>
                  <a:pt x="28128" y="13534"/>
                </a:moveTo>
                <a:lnTo>
                  <a:pt x="24984" y="13534"/>
                </a:lnTo>
                <a:lnTo>
                  <a:pt x="34435" y="26849"/>
                </a:lnTo>
                <a:lnTo>
                  <a:pt x="53239" y="24914"/>
                </a:lnTo>
                <a:lnTo>
                  <a:pt x="28128" y="13534"/>
                </a:lnTo>
                <a:close/>
              </a:path>
              <a:path w="693419" h="331470">
                <a:moveTo>
                  <a:pt x="6619" y="20570"/>
                </a:moveTo>
                <a:lnTo>
                  <a:pt x="8492" y="25551"/>
                </a:lnTo>
                <a:lnTo>
                  <a:pt x="10941" y="26660"/>
                </a:lnTo>
                <a:lnTo>
                  <a:pt x="6619" y="20570"/>
                </a:lnTo>
                <a:close/>
              </a:path>
              <a:path w="693419" h="331470">
                <a:moveTo>
                  <a:pt x="109228" y="0"/>
                </a:moveTo>
                <a:lnTo>
                  <a:pt x="18804" y="9308"/>
                </a:lnTo>
                <a:lnTo>
                  <a:pt x="53239" y="24914"/>
                </a:lnTo>
                <a:lnTo>
                  <a:pt x="111179" y="18950"/>
                </a:lnTo>
                <a:lnTo>
                  <a:pt x="114984" y="14272"/>
                </a:lnTo>
                <a:lnTo>
                  <a:pt x="113907" y="3806"/>
                </a:lnTo>
                <a:lnTo>
                  <a:pt x="109228" y="0"/>
                </a:lnTo>
                <a:close/>
              </a:path>
              <a:path w="693419" h="331470">
                <a:moveTo>
                  <a:pt x="11372" y="10073"/>
                </a:moveTo>
                <a:lnTo>
                  <a:pt x="0" y="11244"/>
                </a:lnTo>
                <a:lnTo>
                  <a:pt x="6619" y="20570"/>
                </a:lnTo>
                <a:lnTo>
                  <a:pt x="6369" y="19905"/>
                </a:lnTo>
                <a:lnTo>
                  <a:pt x="10711" y="10322"/>
                </a:lnTo>
                <a:lnTo>
                  <a:pt x="11372" y="10073"/>
                </a:lnTo>
                <a:close/>
              </a:path>
              <a:path w="693419" h="331470">
                <a:moveTo>
                  <a:pt x="16356" y="8199"/>
                </a:moveTo>
                <a:lnTo>
                  <a:pt x="11372" y="10073"/>
                </a:lnTo>
                <a:lnTo>
                  <a:pt x="18804" y="9308"/>
                </a:lnTo>
                <a:lnTo>
                  <a:pt x="16356" y="8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942164" y="4654593"/>
            <a:ext cx="1150620" cy="545465"/>
          </a:xfrm>
          <a:custGeom>
            <a:avLst/>
            <a:gdLst/>
            <a:ahLst/>
            <a:cxnLst/>
            <a:rect l="l" t="t" r="r" b="b"/>
            <a:pathLst>
              <a:path w="1150620" h="545464">
                <a:moveTo>
                  <a:pt x="1097025" y="24613"/>
                </a:moveTo>
                <a:lnTo>
                  <a:pt x="2093" y="527893"/>
                </a:lnTo>
                <a:lnTo>
                  <a:pt x="0" y="533548"/>
                </a:lnTo>
                <a:lnTo>
                  <a:pt x="4394" y="543107"/>
                </a:lnTo>
                <a:lnTo>
                  <a:pt x="10049" y="545202"/>
                </a:lnTo>
                <a:lnTo>
                  <a:pt x="1104981" y="41923"/>
                </a:lnTo>
                <a:lnTo>
                  <a:pt x="1115840" y="26448"/>
                </a:lnTo>
                <a:lnTo>
                  <a:pt x="1097025" y="24613"/>
                </a:lnTo>
                <a:close/>
              </a:path>
              <a:path w="1150620" h="545464">
                <a:moveTo>
                  <a:pt x="1139333" y="26134"/>
                </a:moveTo>
                <a:lnTo>
                  <a:pt x="1104981" y="41923"/>
                </a:lnTo>
                <a:lnTo>
                  <a:pt x="1071526" y="89601"/>
                </a:lnTo>
                <a:lnTo>
                  <a:pt x="1072567" y="95540"/>
                </a:lnTo>
                <a:lnTo>
                  <a:pt x="1081179" y="101584"/>
                </a:lnTo>
                <a:lnTo>
                  <a:pt x="1087119" y="100543"/>
                </a:lnTo>
                <a:lnTo>
                  <a:pt x="1139333" y="26134"/>
                </a:lnTo>
                <a:close/>
              </a:path>
              <a:path w="1150620" h="545464">
                <a:moveTo>
                  <a:pt x="1115840" y="26448"/>
                </a:moveTo>
                <a:lnTo>
                  <a:pt x="1104981" y="41923"/>
                </a:lnTo>
                <a:lnTo>
                  <a:pt x="1135200" y="28033"/>
                </a:lnTo>
                <a:lnTo>
                  <a:pt x="1132092" y="28033"/>
                </a:lnTo>
                <a:lnTo>
                  <a:pt x="1115840" y="26448"/>
                </a:lnTo>
                <a:close/>
              </a:path>
              <a:path w="1150620" h="545464">
                <a:moveTo>
                  <a:pt x="1125219" y="13083"/>
                </a:moveTo>
                <a:lnTo>
                  <a:pt x="1115840" y="26448"/>
                </a:lnTo>
                <a:lnTo>
                  <a:pt x="1132092" y="28033"/>
                </a:lnTo>
                <a:lnTo>
                  <a:pt x="1125219" y="13083"/>
                </a:lnTo>
                <a:close/>
              </a:path>
              <a:path w="1150620" h="545464">
                <a:moveTo>
                  <a:pt x="1140987" y="13083"/>
                </a:moveTo>
                <a:lnTo>
                  <a:pt x="1125219" y="13083"/>
                </a:lnTo>
                <a:lnTo>
                  <a:pt x="1132092" y="28033"/>
                </a:lnTo>
                <a:lnTo>
                  <a:pt x="1135200" y="28033"/>
                </a:lnTo>
                <a:lnTo>
                  <a:pt x="1139333" y="26134"/>
                </a:lnTo>
                <a:lnTo>
                  <a:pt x="1143624" y="20019"/>
                </a:lnTo>
                <a:lnTo>
                  <a:pt x="1143870" y="19354"/>
                </a:lnTo>
                <a:lnTo>
                  <a:pt x="1140987" y="13083"/>
                </a:lnTo>
                <a:close/>
              </a:path>
              <a:path w="1150620" h="545464">
                <a:moveTo>
                  <a:pt x="1131378" y="8824"/>
                </a:moveTo>
                <a:lnTo>
                  <a:pt x="1097025" y="24613"/>
                </a:lnTo>
                <a:lnTo>
                  <a:pt x="1115840" y="26448"/>
                </a:lnTo>
                <a:lnTo>
                  <a:pt x="1125219" y="13083"/>
                </a:lnTo>
                <a:lnTo>
                  <a:pt x="1140987" y="13083"/>
                </a:lnTo>
                <a:lnTo>
                  <a:pt x="1139476" y="9795"/>
                </a:lnTo>
                <a:lnTo>
                  <a:pt x="1138810" y="9548"/>
                </a:lnTo>
                <a:lnTo>
                  <a:pt x="1131378" y="8824"/>
                </a:lnTo>
                <a:close/>
              </a:path>
              <a:path w="1150620" h="545464">
                <a:moveTo>
                  <a:pt x="1143624" y="20019"/>
                </a:moveTo>
                <a:lnTo>
                  <a:pt x="1139333" y="26134"/>
                </a:lnTo>
                <a:lnTo>
                  <a:pt x="1141776" y="25011"/>
                </a:lnTo>
                <a:lnTo>
                  <a:pt x="1143624" y="20019"/>
                </a:lnTo>
                <a:close/>
              </a:path>
              <a:path w="1150620" h="545464">
                <a:moveTo>
                  <a:pt x="1040905" y="0"/>
                </a:moveTo>
                <a:lnTo>
                  <a:pt x="1036246" y="3830"/>
                </a:lnTo>
                <a:lnTo>
                  <a:pt x="1035225" y="14301"/>
                </a:lnTo>
                <a:lnTo>
                  <a:pt x="1039055" y="18959"/>
                </a:lnTo>
                <a:lnTo>
                  <a:pt x="1097025" y="24613"/>
                </a:lnTo>
                <a:lnTo>
                  <a:pt x="1131378" y="8824"/>
                </a:lnTo>
                <a:lnTo>
                  <a:pt x="1040905" y="0"/>
                </a:lnTo>
                <a:close/>
              </a:path>
              <a:path w="1150620" h="545464">
                <a:moveTo>
                  <a:pt x="1138810" y="9548"/>
                </a:moveTo>
                <a:lnTo>
                  <a:pt x="1139476" y="9795"/>
                </a:lnTo>
                <a:lnTo>
                  <a:pt x="1143870" y="19354"/>
                </a:lnTo>
                <a:lnTo>
                  <a:pt x="1143624" y="20019"/>
                </a:lnTo>
                <a:lnTo>
                  <a:pt x="1150192" y="10659"/>
                </a:lnTo>
                <a:lnTo>
                  <a:pt x="1138810" y="9548"/>
                </a:lnTo>
                <a:close/>
              </a:path>
              <a:path w="1150620" h="545464">
                <a:moveTo>
                  <a:pt x="1133820" y="7701"/>
                </a:moveTo>
                <a:lnTo>
                  <a:pt x="1131378" y="8824"/>
                </a:lnTo>
                <a:lnTo>
                  <a:pt x="1138810" y="9548"/>
                </a:lnTo>
                <a:lnTo>
                  <a:pt x="1133820" y="77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248374" y="4362700"/>
            <a:ext cx="541020" cy="251460"/>
          </a:xfrm>
          <a:custGeom>
            <a:avLst/>
            <a:gdLst/>
            <a:ahLst/>
            <a:cxnLst/>
            <a:rect l="l" t="t" r="r" b="b"/>
            <a:pathLst>
              <a:path w="541019" h="251460">
                <a:moveTo>
                  <a:pt x="53510" y="225353"/>
                </a:moveTo>
                <a:lnTo>
                  <a:pt x="18759" y="240251"/>
                </a:lnTo>
                <a:lnTo>
                  <a:pt x="108974" y="251410"/>
                </a:lnTo>
                <a:lnTo>
                  <a:pt x="113731" y="247700"/>
                </a:lnTo>
                <a:lnTo>
                  <a:pt x="115022" y="237260"/>
                </a:lnTo>
                <a:lnTo>
                  <a:pt x="111314" y="232503"/>
                </a:lnTo>
                <a:lnTo>
                  <a:pt x="53510" y="225353"/>
                </a:lnTo>
                <a:close/>
              </a:path>
              <a:path w="541019" h="251460">
                <a:moveTo>
                  <a:pt x="11362" y="239336"/>
                </a:moveTo>
                <a:lnTo>
                  <a:pt x="16292" y="241308"/>
                </a:lnTo>
                <a:lnTo>
                  <a:pt x="18759" y="240251"/>
                </a:lnTo>
                <a:lnTo>
                  <a:pt x="11362" y="239336"/>
                </a:lnTo>
                <a:close/>
              </a:path>
              <a:path w="541019" h="251460">
                <a:moveTo>
                  <a:pt x="46002" y="207845"/>
                </a:moveTo>
                <a:lnTo>
                  <a:pt x="11255" y="222741"/>
                </a:lnTo>
                <a:lnTo>
                  <a:pt x="6812" y="228736"/>
                </a:lnTo>
                <a:lnTo>
                  <a:pt x="6548" y="229398"/>
                </a:lnTo>
                <a:lnTo>
                  <a:pt x="10693" y="239068"/>
                </a:lnTo>
                <a:lnTo>
                  <a:pt x="11362" y="239336"/>
                </a:lnTo>
                <a:lnTo>
                  <a:pt x="18759" y="240251"/>
                </a:lnTo>
                <a:lnTo>
                  <a:pt x="28320" y="236152"/>
                </a:lnTo>
                <a:lnTo>
                  <a:pt x="25026" y="236152"/>
                </a:lnTo>
                <a:lnTo>
                  <a:pt x="18543" y="221028"/>
                </a:lnTo>
                <a:lnTo>
                  <a:pt x="36233" y="221028"/>
                </a:lnTo>
                <a:lnTo>
                  <a:pt x="46002" y="207845"/>
                </a:lnTo>
                <a:close/>
              </a:path>
              <a:path w="541019" h="251460">
                <a:moveTo>
                  <a:pt x="6812" y="228736"/>
                </a:moveTo>
                <a:lnTo>
                  <a:pt x="0" y="237930"/>
                </a:lnTo>
                <a:lnTo>
                  <a:pt x="11362" y="239336"/>
                </a:lnTo>
                <a:lnTo>
                  <a:pt x="10693" y="239068"/>
                </a:lnTo>
                <a:lnTo>
                  <a:pt x="6548" y="229398"/>
                </a:lnTo>
                <a:lnTo>
                  <a:pt x="6812" y="228736"/>
                </a:lnTo>
                <a:close/>
              </a:path>
              <a:path w="541019" h="251460">
                <a:moveTo>
                  <a:pt x="18543" y="221028"/>
                </a:moveTo>
                <a:lnTo>
                  <a:pt x="25026" y="236152"/>
                </a:lnTo>
                <a:lnTo>
                  <a:pt x="34748" y="223032"/>
                </a:lnTo>
                <a:lnTo>
                  <a:pt x="18543" y="221028"/>
                </a:lnTo>
                <a:close/>
              </a:path>
              <a:path w="541019" h="251460">
                <a:moveTo>
                  <a:pt x="34748" y="223032"/>
                </a:moveTo>
                <a:lnTo>
                  <a:pt x="25026" y="236152"/>
                </a:lnTo>
                <a:lnTo>
                  <a:pt x="28320" y="236152"/>
                </a:lnTo>
                <a:lnTo>
                  <a:pt x="53510" y="225353"/>
                </a:lnTo>
                <a:lnTo>
                  <a:pt x="34748" y="223032"/>
                </a:lnTo>
                <a:close/>
              </a:path>
              <a:path w="541019" h="251460">
                <a:moveTo>
                  <a:pt x="11255" y="222741"/>
                </a:moveTo>
                <a:lnTo>
                  <a:pt x="8787" y="223799"/>
                </a:lnTo>
                <a:lnTo>
                  <a:pt x="6812" y="228736"/>
                </a:lnTo>
                <a:lnTo>
                  <a:pt x="11255" y="222741"/>
                </a:lnTo>
                <a:close/>
              </a:path>
              <a:path w="541019" h="251460">
                <a:moveTo>
                  <a:pt x="530824" y="0"/>
                </a:moveTo>
                <a:lnTo>
                  <a:pt x="46002" y="207845"/>
                </a:lnTo>
                <a:lnTo>
                  <a:pt x="34748" y="223032"/>
                </a:lnTo>
                <a:lnTo>
                  <a:pt x="53510" y="225353"/>
                </a:lnTo>
                <a:lnTo>
                  <a:pt x="538331" y="17509"/>
                </a:lnTo>
                <a:lnTo>
                  <a:pt x="540570" y="11910"/>
                </a:lnTo>
                <a:lnTo>
                  <a:pt x="536425" y="2240"/>
                </a:lnTo>
                <a:lnTo>
                  <a:pt x="530824" y="0"/>
                </a:lnTo>
                <a:close/>
              </a:path>
              <a:path w="541019" h="251460">
                <a:moveTo>
                  <a:pt x="36233" y="221028"/>
                </a:moveTo>
                <a:lnTo>
                  <a:pt x="18543" y="221028"/>
                </a:lnTo>
                <a:lnTo>
                  <a:pt x="34748" y="223032"/>
                </a:lnTo>
                <a:lnTo>
                  <a:pt x="36233" y="221028"/>
                </a:lnTo>
                <a:close/>
              </a:path>
              <a:path w="541019" h="251460">
                <a:moveTo>
                  <a:pt x="71339" y="148818"/>
                </a:moveTo>
                <a:lnTo>
                  <a:pt x="65374" y="149706"/>
                </a:lnTo>
                <a:lnTo>
                  <a:pt x="11255" y="222741"/>
                </a:lnTo>
                <a:lnTo>
                  <a:pt x="46002" y="207845"/>
                </a:lnTo>
                <a:lnTo>
                  <a:pt x="80679" y="161047"/>
                </a:lnTo>
                <a:lnTo>
                  <a:pt x="79792" y="155082"/>
                </a:lnTo>
                <a:lnTo>
                  <a:pt x="71339" y="1488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907404" y="4373493"/>
            <a:ext cx="605155" cy="703580"/>
          </a:xfrm>
          <a:custGeom>
            <a:avLst/>
            <a:gdLst/>
            <a:ahLst/>
            <a:cxnLst/>
            <a:rect l="l" t="t" r="r" b="b"/>
            <a:pathLst>
              <a:path w="605154" h="703579">
                <a:moveTo>
                  <a:pt x="24612" y="28700"/>
                </a:moveTo>
                <a:lnTo>
                  <a:pt x="28011" y="47295"/>
                </a:lnTo>
                <a:lnTo>
                  <a:pt x="590290" y="702979"/>
                </a:lnTo>
                <a:lnTo>
                  <a:pt x="596304" y="703440"/>
                </a:lnTo>
                <a:lnTo>
                  <a:pt x="604291" y="696591"/>
                </a:lnTo>
                <a:lnTo>
                  <a:pt x="604752" y="690577"/>
                </a:lnTo>
                <a:lnTo>
                  <a:pt x="42471" y="34894"/>
                </a:lnTo>
                <a:lnTo>
                  <a:pt x="24612" y="28700"/>
                </a:lnTo>
                <a:close/>
              </a:path>
              <a:path w="605154" h="703579">
                <a:moveTo>
                  <a:pt x="3399" y="18595"/>
                </a:moveTo>
                <a:lnTo>
                  <a:pt x="19743" y="108017"/>
                </a:lnTo>
                <a:lnTo>
                  <a:pt x="24705" y="111445"/>
                </a:lnTo>
                <a:lnTo>
                  <a:pt x="35054" y="109554"/>
                </a:lnTo>
                <a:lnTo>
                  <a:pt x="38483" y="104592"/>
                </a:lnTo>
                <a:lnTo>
                  <a:pt x="28011" y="47295"/>
                </a:lnTo>
                <a:lnTo>
                  <a:pt x="3399" y="18595"/>
                </a:lnTo>
                <a:close/>
              </a:path>
              <a:path w="605154" h="703579">
                <a:moveTo>
                  <a:pt x="17860" y="6194"/>
                </a:moveTo>
                <a:lnTo>
                  <a:pt x="42471" y="34894"/>
                </a:lnTo>
                <a:lnTo>
                  <a:pt x="97500" y="53981"/>
                </a:lnTo>
                <a:lnTo>
                  <a:pt x="102927" y="51349"/>
                </a:lnTo>
                <a:lnTo>
                  <a:pt x="106375" y="41409"/>
                </a:lnTo>
                <a:lnTo>
                  <a:pt x="103743" y="35982"/>
                </a:lnTo>
                <a:lnTo>
                  <a:pt x="17860" y="6194"/>
                </a:lnTo>
                <a:close/>
              </a:path>
              <a:path w="605154" h="703579">
                <a:moveTo>
                  <a:pt x="10099" y="3695"/>
                </a:moveTo>
                <a:lnTo>
                  <a:pt x="2112" y="10543"/>
                </a:lnTo>
                <a:lnTo>
                  <a:pt x="2057" y="11255"/>
                </a:lnTo>
                <a:lnTo>
                  <a:pt x="3399" y="18595"/>
                </a:lnTo>
                <a:lnTo>
                  <a:pt x="28011" y="47295"/>
                </a:lnTo>
                <a:lnTo>
                  <a:pt x="24612" y="28700"/>
                </a:lnTo>
                <a:lnTo>
                  <a:pt x="9184" y="23348"/>
                </a:lnTo>
                <a:lnTo>
                  <a:pt x="21676" y="12637"/>
                </a:lnTo>
                <a:lnTo>
                  <a:pt x="23385" y="12637"/>
                </a:lnTo>
                <a:lnTo>
                  <a:pt x="17860" y="6194"/>
                </a:lnTo>
                <a:lnTo>
                  <a:pt x="10813" y="3750"/>
                </a:lnTo>
                <a:lnTo>
                  <a:pt x="10099" y="3695"/>
                </a:lnTo>
                <a:close/>
              </a:path>
              <a:path w="605154" h="703579">
                <a:moveTo>
                  <a:pt x="23385" y="12637"/>
                </a:moveTo>
                <a:lnTo>
                  <a:pt x="21676" y="12637"/>
                </a:lnTo>
                <a:lnTo>
                  <a:pt x="24612" y="28700"/>
                </a:lnTo>
                <a:lnTo>
                  <a:pt x="42471" y="34894"/>
                </a:lnTo>
                <a:lnTo>
                  <a:pt x="23385" y="12637"/>
                </a:lnTo>
                <a:close/>
              </a:path>
              <a:path w="605154" h="703579">
                <a:moveTo>
                  <a:pt x="21676" y="12637"/>
                </a:moveTo>
                <a:lnTo>
                  <a:pt x="9184" y="23348"/>
                </a:lnTo>
                <a:lnTo>
                  <a:pt x="24612" y="28700"/>
                </a:lnTo>
                <a:lnTo>
                  <a:pt x="21676" y="12637"/>
                </a:lnTo>
                <a:close/>
              </a:path>
              <a:path w="605154" h="703579">
                <a:moveTo>
                  <a:pt x="2057" y="11255"/>
                </a:moveTo>
                <a:lnTo>
                  <a:pt x="1651" y="16556"/>
                </a:lnTo>
                <a:lnTo>
                  <a:pt x="3399" y="18595"/>
                </a:lnTo>
                <a:lnTo>
                  <a:pt x="2057" y="11255"/>
                </a:lnTo>
                <a:close/>
              </a:path>
              <a:path w="605154" h="703579">
                <a:moveTo>
                  <a:pt x="0" y="0"/>
                </a:moveTo>
                <a:lnTo>
                  <a:pt x="2057" y="11255"/>
                </a:lnTo>
                <a:lnTo>
                  <a:pt x="2112" y="10543"/>
                </a:lnTo>
                <a:lnTo>
                  <a:pt x="10099" y="3695"/>
                </a:lnTo>
                <a:lnTo>
                  <a:pt x="10655" y="3695"/>
                </a:lnTo>
                <a:lnTo>
                  <a:pt x="0" y="0"/>
                </a:lnTo>
                <a:close/>
              </a:path>
              <a:path w="605154" h="703579">
                <a:moveTo>
                  <a:pt x="10813" y="3750"/>
                </a:moveTo>
                <a:lnTo>
                  <a:pt x="17860" y="6194"/>
                </a:lnTo>
                <a:lnTo>
                  <a:pt x="16112" y="4156"/>
                </a:lnTo>
                <a:lnTo>
                  <a:pt x="10813" y="3750"/>
                </a:lnTo>
                <a:close/>
              </a:path>
              <a:path w="605154" h="703579">
                <a:moveTo>
                  <a:pt x="10655" y="3695"/>
                </a:moveTo>
                <a:lnTo>
                  <a:pt x="10099" y="3695"/>
                </a:lnTo>
                <a:lnTo>
                  <a:pt x="10813" y="3750"/>
                </a:lnTo>
                <a:lnTo>
                  <a:pt x="10655" y="36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920704" y="5195567"/>
            <a:ext cx="581025" cy="448945"/>
          </a:xfrm>
          <a:custGeom>
            <a:avLst/>
            <a:gdLst/>
            <a:ahLst/>
            <a:cxnLst/>
            <a:rect l="l" t="t" r="r" b="b"/>
            <a:pathLst>
              <a:path w="581025" h="448945">
                <a:moveTo>
                  <a:pt x="550854" y="23038"/>
                </a:moveTo>
                <a:lnTo>
                  <a:pt x="532103" y="25435"/>
                </a:lnTo>
                <a:lnTo>
                  <a:pt x="782" y="433737"/>
                </a:lnTo>
                <a:lnTo>
                  <a:pt x="0" y="439717"/>
                </a:lnTo>
                <a:lnTo>
                  <a:pt x="6410" y="448059"/>
                </a:lnTo>
                <a:lnTo>
                  <a:pt x="12390" y="448842"/>
                </a:lnTo>
                <a:lnTo>
                  <a:pt x="543710" y="40540"/>
                </a:lnTo>
                <a:lnTo>
                  <a:pt x="550854" y="23038"/>
                </a:lnTo>
                <a:close/>
              </a:path>
              <a:path w="581025" h="448945">
                <a:moveTo>
                  <a:pt x="573689" y="17503"/>
                </a:moveTo>
                <a:lnTo>
                  <a:pt x="543710" y="40540"/>
                </a:lnTo>
                <a:lnTo>
                  <a:pt x="521702" y="94466"/>
                </a:lnTo>
                <a:lnTo>
                  <a:pt x="524038" y="100026"/>
                </a:lnTo>
                <a:lnTo>
                  <a:pt x="533779" y="104001"/>
                </a:lnTo>
                <a:lnTo>
                  <a:pt x="539339" y="101664"/>
                </a:lnTo>
                <a:lnTo>
                  <a:pt x="573689" y="17503"/>
                </a:lnTo>
                <a:close/>
              </a:path>
              <a:path w="581025" h="448945">
                <a:moveTo>
                  <a:pt x="575088" y="7919"/>
                </a:moveTo>
                <a:lnTo>
                  <a:pt x="557024" y="7919"/>
                </a:lnTo>
                <a:lnTo>
                  <a:pt x="567051" y="20967"/>
                </a:lnTo>
                <a:lnTo>
                  <a:pt x="550854" y="23038"/>
                </a:lnTo>
                <a:lnTo>
                  <a:pt x="543710" y="40540"/>
                </a:lnTo>
                <a:lnTo>
                  <a:pt x="573689" y="17503"/>
                </a:lnTo>
                <a:lnTo>
                  <a:pt x="576507" y="10599"/>
                </a:lnTo>
                <a:lnTo>
                  <a:pt x="576600" y="9886"/>
                </a:lnTo>
                <a:lnTo>
                  <a:pt x="575088" y="7919"/>
                </a:lnTo>
                <a:close/>
              </a:path>
              <a:path w="581025" h="448945">
                <a:moveTo>
                  <a:pt x="562082" y="2397"/>
                </a:moveTo>
                <a:lnTo>
                  <a:pt x="471912" y="13924"/>
                </a:lnTo>
                <a:lnTo>
                  <a:pt x="468223" y="18694"/>
                </a:lnTo>
                <a:lnTo>
                  <a:pt x="469558" y="29131"/>
                </a:lnTo>
                <a:lnTo>
                  <a:pt x="474328" y="32820"/>
                </a:lnTo>
                <a:lnTo>
                  <a:pt x="532103" y="25435"/>
                </a:lnTo>
                <a:lnTo>
                  <a:pt x="562082" y="2397"/>
                </a:lnTo>
                <a:close/>
              </a:path>
              <a:path w="581025" h="448945">
                <a:moveTo>
                  <a:pt x="569479" y="1451"/>
                </a:moveTo>
                <a:lnTo>
                  <a:pt x="562082" y="2397"/>
                </a:lnTo>
                <a:lnTo>
                  <a:pt x="532103" y="25435"/>
                </a:lnTo>
                <a:lnTo>
                  <a:pt x="550854" y="23038"/>
                </a:lnTo>
                <a:lnTo>
                  <a:pt x="557024" y="7919"/>
                </a:lnTo>
                <a:lnTo>
                  <a:pt x="575088" y="7919"/>
                </a:lnTo>
                <a:lnTo>
                  <a:pt x="570189" y="1544"/>
                </a:lnTo>
                <a:lnTo>
                  <a:pt x="569479" y="1451"/>
                </a:lnTo>
                <a:close/>
              </a:path>
              <a:path w="581025" h="448945">
                <a:moveTo>
                  <a:pt x="557024" y="7919"/>
                </a:moveTo>
                <a:lnTo>
                  <a:pt x="550854" y="23038"/>
                </a:lnTo>
                <a:lnTo>
                  <a:pt x="567051" y="20967"/>
                </a:lnTo>
                <a:lnTo>
                  <a:pt x="557024" y="7919"/>
                </a:lnTo>
                <a:close/>
              </a:path>
              <a:path w="581025" h="448945">
                <a:moveTo>
                  <a:pt x="576507" y="10599"/>
                </a:moveTo>
                <a:lnTo>
                  <a:pt x="573689" y="17503"/>
                </a:lnTo>
                <a:lnTo>
                  <a:pt x="575818" y="15867"/>
                </a:lnTo>
                <a:lnTo>
                  <a:pt x="576507" y="10599"/>
                </a:lnTo>
                <a:close/>
              </a:path>
              <a:path w="581025" h="448945">
                <a:moveTo>
                  <a:pt x="580833" y="0"/>
                </a:moveTo>
                <a:lnTo>
                  <a:pt x="569479" y="1451"/>
                </a:lnTo>
                <a:lnTo>
                  <a:pt x="570189" y="1544"/>
                </a:lnTo>
                <a:lnTo>
                  <a:pt x="576600" y="9886"/>
                </a:lnTo>
                <a:lnTo>
                  <a:pt x="576507" y="10599"/>
                </a:lnTo>
                <a:lnTo>
                  <a:pt x="580833" y="0"/>
                </a:lnTo>
                <a:close/>
              </a:path>
              <a:path w="581025" h="448945">
                <a:moveTo>
                  <a:pt x="564210" y="762"/>
                </a:moveTo>
                <a:lnTo>
                  <a:pt x="562082" y="2397"/>
                </a:lnTo>
                <a:lnTo>
                  <a:pt x="569479" y="1451"/>
                </a:lnTo>
                <a:lnTo>
                  <a:pt x="564210" y="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128718" y="5266748"/>
            <a:ext cx="673735" cy="370840"/>
          </a:xfrm>
          <a:custGeom>
            <a:avLst/>
            <a:gdLst/>
            <a:ahLst/>
            <a:cxnLst/>
            <a:rect l="l" t="t" r="r" b="b"/>
            <a:pathLst>
              <a:path w="673735" h="370839">
                <a:moveTo>
                  <a:pt x="621271" y="349690"/>
                </a:moveTo>
                <a:lnTo>
                  <a:pt x="563060" y="351727"/>
                </a:lnTo>
                <a:lnTo>
                  <a:pt x="558948" y="356138"/>
                </a:lnTo>
                <a:lnTo>
                  <a:pt x="559316" y="366653"/>
                </a:lnTo>
                <a:lnTo>
                  <a:pt x="563727" y="370766"/>
                </a:lnTo>
                <a:lnTo>
                  <a:pt x="654574" y="367585"/>
                </a:lnTo>
                <a:lnTo>
                  <a:pt x="621271" y="349690"/>
                </a:lnTo>
                <a:close/>
              </a:path>
              <a:path w="673735" h="370839">
                <a:moveTo>
                  <a:pt x="662032" y="367324"/>
                </a:moveTo>
                <a:lnTo>
                  <a:pt x="654574" y="367585"/>
                </a:lnTo>
                <a:lnTo>
                  <a:pt x="656940" y="368857"/>
                </a:lnTo>
                <a:lnTo>
                  <a:pt x="662032" y="367324"/>
                </a:lnTo>
                <a:close/>
              </a:path>
              <a:path w="673735" h="370839">
                <a:moveTo>
                  <a:pt x="640163" y="349028"/>
                </a:moveTo>
                <a:lnTo>
                  <a:pt x="621271" y="349690"/>
                </a:lnTo>
                <a:lnTo>
                  <a:pt x="654574" y="367585"/>
                </a:lnTo>
                <a:lnTo>
                  <a:pt x="662032" y="367324"/>
                </a:lnTo>
                <a:lnTo>
                  <a:pt x="662715" y="367119"/>
                </a:lnTo>
                <a:lnTo>
                  <a:pt x="664954" y="362952"/>
                </a:lnTo>
                <a:lnTo>
                  <a:pt x="648693" y="362952"/>
                </a:lnTo>
                <a:lnTo>
                  <a:pt x="640163" y="349028"/>
                </a:lnTo>
                <a:close/>
              </a:path>
              <a:path w="673735" h="370839">
                <a:moveTo>
                  <a:pt x="667490" y="357168"/>
                </a:moveTo>
                <a:lnTo>
                  <a:pt x="667696" y="357851"/>
                </a:lnTo>
                <a:lnTo>
                  <a:pt x="662715" y="367119"/>
                </a:lnTo>
                <a:lnTo>
                  <a:pt x="662032" y="367324"/>
                </a:lnTo>
                <a:lnTo>
                  <a:pt x="673467" y="366924"/>
                </a:lnTo>
                <a:lnTo>
                  <a:pt x="667490" y="357168"/>
                </a:lnTo>
                <a:close/>
              </a:path>
              <a:path w="673735" h="370839">
                <a:moveTo>
                  <a:pt x="656482" y="348457"/>
                </a:moveTo>
                <a:lnTo>
                  <a:pt x="640163" y="349028"/>
                </a:lnTo>
                <a:lnTo>
                  <a:pt x="648693" y="362952"/>
                </a:lnTo>
                <a:lnTo>
                  <a:pt x="656482" y="348457"/>
                </a:lnTo>
                <a:close/>
              </a:path>
              <a:path w="673735" h="370839">
                <a:moveTo>
                  <a:pt x="659222" y="348457"/>
                </a:moveTo>
                <a:lnTo>
                  <a:pt x="656482" y="348457"/>
                </a:lnTo>
                <a:lnTo>
                  <a:pt x="648693" y="362952"/>
                </a:lnTo>
                <a:lnTo>
                  <a:pt x="664954" y="362952"/>
                </a:lnTo>
                <a:lnTo>
                  <a:pt x="667696" y="357851"/>
                </a:lnTo>
                <a:lnTo>
                  <a:pt x="667490" y="357168"/>
                </a:lnTo>
                <a:lnTo>
                  <a:pt x="663592" y="350805"/>
                </a:lnTo>
                <a:lnTo>
                  <a:pt x="659222" y="348457"/>
                </a:lnTo>
                <a:close/>
              </a:path>
              <a:path w="673735" h="370839">
                <a:moveTo>
                  <a:pt x="663592" y="350805"/>
                </a:moveTo>
                <a:lnTo>
                  <a:pt x="667490" y="357168"/>
                </a:lnTo>
                <a:lnTo>
                  <a:pt x="665957" y="352076"/>
                </a:lnTo>
                <a:lnTo>
                  <a:pt x="663592" y="350805"/>
                </a:lnTo>
                <a:close/>
              </a:path>
              <a:path w="673735" h="370839">
                <a:moveTo>
                  <a:pt x="610242" y="271882"/>
                </a:moveTo>
                <a:lnTo>
                  <a:pt x="601270" y="277378"/>
                </a:lnTo>
                <a:lnTo>
                  <a:pt x="599861" y="283243"/>
                </a:lnTo>
                <a:lnTo>
                  <a:pt x="630288" y="332909"/>
                </a:lnTo>
                <a:lnTo>
                  <a:pt x="663592" y="350805"/>
                </a:lnTo>
                <a:lnTo>
                  <a:pt x="616106" y="273291"/>
                </a:lnTo>
                <a:lnTo>
                  <a:pt x="610242" y="271882"/>
                </a:lnTo>
                <a:close/>
              </a:path>
              <a:path w="673735" h="370839">
                <a:moveTo>
                  <a:pt x="10754" y="0"/>
                </a:moveTo>
                <a:lnTo>
                  <a:pt x="4979" y="1738"/>
                </a:lnTo>
                <a:lnTo>
                  <a:pt x="0" y="11005"/>
                </a:lnTo>
                <a:lnTo>
                  <a:pt x="1737" y="16780"/>
                </a:lnTo>
                <a:lnTo>
                  <a:pt x="621271" y="349690"/>
                </a:lnTo>
                <a:lnTo>
                  <a:pt x="640163" y="349028"/>
                </a:lnTo>
                <a:lnTo>
                  <a:pt x="630288" y="332909"/>
                </a:lnTo>
                <a:lnTo>
                  <a:pt x="10754" y="0"/>
                </a:lnTo>
                <a:close/>
              </a:path>
              <a:path w="673735" h="370839">
                <a:moveTo>
                  <a:pt x="630288" y="332909"/>
                </a:moveTo>
                <a:lnTo>
                  <a:pt x="640163" y="349028"/>
                </a:lnTo>
                <a:lnTo>
                  <a:pt x="656482" y="348457"/>
                </a:lnTo>
                <a:lnTo>
                  <a:pt x="659222" y="348457"/>
                </a:lnTo>
                <a:lnTo>
                  <a:pt x="630288" y="3329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793620" y="5086603"/>
            <a:ext cx="1123950" cy="358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131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G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10"/>
              </a:lnSpc>
            </a:pPr>
            <a:r>
              <a:rPr dirty="0" sz="1200" b="1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981218" y="5580379"/>
            <a:ext cx="118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F</a:t>
            </a:r>
            <a:endParaRPr sz="12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068280" y="4089908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079785" y="4300220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774820" y="4007611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273573" y="4979923"/>
            <a:ext cx="127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065534" y="450917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39" y="0"/>
                </a:moveTo>
                <a:lnTo>
                  <a:pt x="55847" y="7185"/>
                </a:lnTo>
                <a:lnTo>
                  <a:pt x="26782" y="26781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7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8" y="156097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8" y="26781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065534" y="450917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751335" y="421742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39" y="0"/>
                </a:moveTo>
                <a:lnTo>
                  <a:pt x="55847" y="7185"/>
                </a:lnTo>
                <a:lnTo>
                  <a:pt x="26782" y="26781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2" y="156097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8" y="156097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8" y="26781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751335" y="421742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474720" y="503949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39" y="0"/>
                </a:moveTo>
                <a:lnTo>
                  <a:pt x="55847" y="7185"/>
                </a:lnTo>
                <a:lnTo>
                  <a:pt x="26781" y="26781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79" y="91440"/>
                </a:lnTo>
                <a:lnTo>
                  <a:pt x="175694" y="55847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474720" y="503949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775363" y="56068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39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775363" y="56068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983500" y="512153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1" y="26781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983500" y="512153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852972" y="4280542"/>
            <a:ext cx="401955" cy="831215"/>
          </a:xfrm>
          <a:custGeom>
            <a:avLst/>
            <a:gdLst/>
            <a:ahLst/>
            <a:cxnLst/>
            <a:rect l="l" t="t" r="r" b="b"/>
            <a:pathLst>
              <a:path w="401955" h="831214">
                <a:moveTo>
                  <a:pt x="376169" y="28100"/>
                </a:moveTo>
                <a:lnTo>
                  <a:pt x="338364" y="57923"/>
                </a:lnTo>
                <a:lnTo>
                  <a:pt x="303156" y="100929"/>
                </a:lnTo>
                <a:lnTo>
                  <a:pt x="264793" y="150493"/>
                </a:lnTo>
                <a:lnTo>
                  <a:pt x="226547" y="203810"/>
                </a:lnTo>
                <a:lnTo>
                  <a:pt x="191324" y="258602"/>
                </a:lnTo>
                <a:lnTo>
                  <a:pt x="162279" y="312317"/>
                </a:lnTo>
                <a:lnTo>
                  <a:pt x="138464" y="366127"/>
                </a:lnTo>
                <a:lnTo>
                  <a:pt x="116136" y="423712"/>
                </a:lnTo>
                <a:lnTo>
                  <a:pt x="95073" y="484535"/>
                </a:lnTo>
                <a:lnTo>
                  <a:pt x="75062" y="548054"/>
                </a:lnTo>
                <a:lnTo>
                  <a:pt x="55891" y="613724"/>
                </a:lnTo>
                <a:lnTo>
                  <a:pt x="37344" y="681022"/>
                </a:lnTo>
                <a:lnTo>
                  <a:pt x="0" y="823241"/>
                </a:lnTo>
                <a:lnTo>
                  <a:pt x="3041" y="828448"/>
                </a:lnTo>
                <a:lnTo>
                  <a:pt x="13217" y="831121"/>
                </a:lnTo>
                <a:lnTo>
                  <a:pt x="18425" y="828079"/>
                </a:lnTo>
                <a:lnTo>
                  <a:pt x="55769" y="685860"/>
                </a:lnTo>
                <a:lnTo>
                  <a:pt x="74256" y="618785"/>
                </a:lnTo>
                <a:lnTo>
                  <a:pt x="93349" y="553393"/>
                </a:lnTo>
                <a:lnTo>
                  <a:pt x="113243" y="490260"/>
                </a:lnTo>
                <a:lnTo>
                  <a:pt x="134136" y="429948"/>
                </a:lnTo>
                <a:lnTo>
                  <a:pt x="156225" y="373016"/>
                </a:lnTo>
                <a:lnTo>
                  <a:pt x="179698" y="320029"/>
                </a:lnTo>
                <a:lnTo>
                  <a:pt x="207866" y="268048"/>
                </a:lnTo>
                <a:lnTo>
                  <a:pt x="242413" y="214354"/>
                </a:lnTo>
                <a:lnTo>
                  <a:pt x="280271" y="161599"/>
                </a:lnTo>
                <a:lnTo>
                  <a:pt x="318126" y="112709"/>
                </a:lnTo>
                <a:lnTo>
                  <a:pt x="353029" y="70082"/>
                </a:lnTo>
                <a:lnTo>
                  <a:pt x="372108" y="47644"/>
                </a:lnTo>
                <a:lnTo>
                  <a:pt x="376169" y="28100"/>
                </a:lnTo>
                <a:close/>
              </a:path>
              <a:path w="401955" h="831214">
                <a:moveTo>
                  <a:pt x="397623" y="18485"/>
                </a:moveTo>
                <a:lnTo>
                  <a:pt x="392906" y="23774"/>
                </a:lnTo>
                <a:lnTo>
                  <a:pt x="381797" y="36423"/>
                </a:lnTo>
                <a:lnTo>
                  <a:pt x="372108" y="47644"/>
                </a:lnTo>
                <a:lnTo>
                  <a:pt x="360477" y="103635"/>
                </a:lnTo>
                <a:lnTo>
                  <a:pt x="363785" y="108678"/>
                </a:lnTo>
                <a:lnTo>
                  <a:pt x="374086" y="110818"/>
                </a:lnTo>
                <a:lnTo>
                  <a:pt x="379129" y="107510"/>
                </a:lnTo>
                <a:lnTo>
                  <a:pt x="397623" y="18485"/>
                </a:lnTo>
                <a:close/>
              </a:path>
              <a:path w="401955" h="831214">
                <a:moveTo>
                  <a:pt x="383437" y="5770"/>
                </a:moveTo>
                <a:lnTo>
                  <a:pt x="296885" y="33478"/>
                </a:lnTo>
                <a:lnTo>
                  <a:pt x="294124" y="38840"/>
                </a:lnTo>
                <a:lnTo>
                  <a:pt x="297331" y="48860"/>
                </a:lnTo>
                <a:lnTo>
                  <a:pt x="302693" y="51621"/>
                </a:lnTo>
                <a:lnTo>
                  <a:pt x="359097" y="33565"/>
                </a:lnTo>
                <a:lnTo>
                  <a:pt x="367378" y="23973"/>
                </a:lnTo>
                <a:lnTo>
                  <a:pt x="378592" y="11203"/>
                </a:lnTo>
                <a:lnTo>
                  <a:pt x="383437" y="5770"/>
                </a:lnTo>
                <a:close/>
              </a:path>
              <a:path w="401955" h="831214">
                <a:moveTo>
                  <a:pt x="398947" y="12111"/>
                </a:moveTo>
                <a:lnTo>
                  <a:pt x="379490" y="12111"/>
                </a:lnTo>
                <a:lnTo>
                  <a:pt x="391720" y="23121"/>
                </a:lnTo>
                <a:lnTo>
                  <a:pt x="376169" y="28100"/>
                </a:lnTo>
                <a:lnTo>
                  <a:pt x="372108" y="47644"/>
                </a:lnTo>
                <a:lnTo>
                  <a:pt x="381797" y="36423"/>
                </a:lnTo>
                <a:lnTo>
                  <a:pt x="392906" y="23774"/>
                </a:lnTo>
                <a:lnTo>
                  <a:pt x="397623" y="18485"/>
                </a:lnTo>
                <a:lnTo>
                  <a:pt x="398947" y="12111"/>
                </a:lnTo>
                <a:close/>
              </a:path>
              <a:path w="401955" h="831214">
                <a:moveTo>
                  <a:pt x="391229" y="3439"/>
                </a:moveTo>
                <a:lnTo>
                  <a:pt x="359097" y="33565"/>
                </a:lnTo>
                <a:lnTo>
                  <a:pt x="376169" y="28100"/>
                </a:lnTo>
                <a:lnTo>
                  <a:pt x="379490" y="12111"/>
                </a:lnTo>
                <a:lnTo>
                  <a:pt x="398947" y="12111"/>
                </a:lnTo>
                <a:lnTo>
                  <a:pt x="399127" y="11243"/>
                </a:lnTo>
                <a:lnTo>
                  <a:pt x="399081" y="10441"/>
                </a:lnTo>
                <a:lnTo>
                  <a:pt x="391229" y="3439"/>
                </a:lnTo>
                <a:close/>
              </a:path>
              <a:path w="401955" h="831214">
                <a:moveTo>
                  <a:pt x="379490" y="12111"/>
                </a:moveTo>
                <a:lnTo>
                  <a:pt x="376169" y="28100"/>
                </a:lnTo>
                <a:lnTo>
                  <a:pt x="391720" y="23121"/>
                </a:lnTo>
                <a:lnTo>
                  <a:pt x="379490" y="12111"/>
                </a:lnTo>
                <a:close/>
              </a:path>
              <a:path w="401955" h="831214">
                <a:moveTo>
                  <a:pt x="399127" y="11243"/>
                </a:moveTo>
                <a:lnTo>
                  <a:pt x="397623" y="18485"/>
                </a:lnTo>
                <a:lnTo>
                  <a:pt x="399426" y="16463"/>
                </a:lnTo>
                <a:lnTo>
                  <a:pt x="399127" y="11243"/>
                </a:lnTo>
                <a:close/>
              </a:path>
              <a:path w="401955" h="831214">
                <a:moveTo>
                  <a:pt x="400748" y="3439"/>
                </a:moveTo>
                <a:lnTo>
                  <a:pt x="391229" y="3439"/>
                </a:lnTo>
                <a:lnTo>
                  <a:pt x="399081" y="10441"/>
                </a:lnTo>
                <a:lnTo>
                  <a:pt x="399127" y="11243"/>
                </a:lnTo>
                <a:lnTo>
                  <a:pt x="400748" y="3439"/>
                </a:lnTo>
                <a:close/>
              </a:path>
              <a:path w="401955" h="831214">
                <a:moveTo>
                  <a:pt x="390609" y="3474"/>
                </a:moveTo>
                <a:lnTo>
                  <a:pt x="385208" y="3784"/>
                </a:lnTo>
                <a:lnTo>
                  <a:pt x="383437" y="5770"/>
                </a:lnTo>
                <a:lnTo>
                  <a:pt x="390609" y="3474"/>
                </a:lnTo>
                <a:close/>
              </a:path>
              <a:path w="401955" h="831214">
                <a:moveTo>
                  <a:pt x="401463" y="0"/>
                </a:moveTo>
                <a:lnTo>
                  <a:pt x="390609" y="3474"/>
                </a:lnTo>
                <a:lnTo>
                  <a:pt x="391229" y="3439"/>
                </a:lnTo>
                <a:lnTo>
                  <a:pt x="400748" y="3439"/>
                </a:lnTo>
                <a:lnTo>
                  <a:pt x="4014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926376" y="4286906"/>
            <a:ext cx="364490" cy="835025"/>
          </a:xfrm>
          <a:custGeom>
            <a:avLst/>
            <a:gdLst/>
            <a:ahLst/>
            <a:cxnLst/>
            <a:rect l="l" t="t" r="r" b="b"/>
            <a:pathLst>
              <a:path w="364490" h="835025">
                <a:moveTo>
                  <a:pt x="3889" y="823824"/>
                </a:moveTo>
                <a:lnTo>
                  <a:pt x="0" y="834652"/>
                </a:lnTo>
                <a:lnTo>
                  <a:pt x="11212" y="832730"/>
                </a:lnTo>
                <a:lnTo>
                  <a:pt x="10641" y="832684"/>
                </a:lnTo>
                <a:lnTo>
                  <a:pt x="3821" y="824673"/>
                </a:lnTo>
                <a:lnTo>
                  <a:pt x="3889" y="823824"/>
                </a:lnTo>
                <a:close/>
              </a:path>
              <a:path w="364490" h="835025">
                <a:moveTo>
                  <a:pt x="18668" y="831451"/>
                </a:moveTo>
                <a:lnTo>
                  <a:pt x="11212" y="832730"/>
                </a:lnTo>
                <a:lnTo>
                  <a:pt x="16652" y="833168"/>
                </a:lnTo>
                <a:lnTo>
                  <a:pt x="18668" y="831451"/>
                </a:lnTo>
                <a:close/>
              </a:path>
              <a:path w="364490" h="835025">
                <a:moveTo>
                  <a:pt x="35787" y="791372"/>
                </a:moveTo>
                <a:lnTo>
                  <a:pt x="29770" y="796721"/>
                </a:lnTo>
                <a:lnTo>
                  <a:pt x="14932" y="809614"/>
                </a:lnTo>
                <a:lnTo>
                  <a:pt x="6377" y="816897"/>
                </a:lnTo>
                <a:lnTo>
                  <a:pt x="3889" y="823824"/>
                </a:lnTo>
                <a:lnTo>
                  <a:pt x="3821" y="824673"/>
                </a:lnTo>
                <a:lnTo>
                  <a:pt x="10641" y="832684"/>
                </a:lnTo>
                <a:lnTo>
                  <a:pt x="11212" y="832730"/>
                </a:lnTo>
                <a:lnTo>
                  <a:pt x="18668" y="831451"/>
                </a:lnTo>
                <a:lnTo>
                  <a:pt x="25395" y="825724"/>
                </a:lnTo>
                <a:lnTo>
                  <a:pt x="23448" y="825724"/>
                </a:lnTo>
                <a:lnTo>
                  <a:pt x="12874" y="813116"/>
                </a:lnTo>
                <a:lnTo>
                  <a:pt x="28968" y="810356"/>
                </a:lnTo>
                <a:lnTo>
                  <a:pt x="35787" y="791372"/>
                </a:lnTo>
                <a:close/>
              </a:path>
              <a:path w="364490" h="835025">
                <a:moveTo>
                  <a:pt x="105007" y="797318"/>
                </a:moveTo>
                <a:lnTo>
                  <a:pt x="46483" y="807353"/>
                </a:lnTo>
                <a:lnTo>
                  <a:pt x="42429" y="810958"/>
                </a:lnTo>
                <a:lnTo>
                  <a:pt x="27427" y="823995"/>
                </a:lnTo>
                <a:lnTo>
                  <a:pt x="18668" y="831451"/>
                </a:lnTo>
                <a:lnTo>
                  <a:pt x="108226" y="816095"/>
                </a:lnTo>
                <a:lnTo>
                  <a:pt x="111709" y="811171"/>
                </a:lnTo>
                <a:lnTo>
                  <a:pt x="109931" y="800801"/>
                </a:lnTo>
                <a:lnTo>
                  <a:pt x="105007" y="797318"/>
                </a:lnTo>
                <a:close/>
              </a:path>
              <a:path w="364490" h="835025">
                <a:moveTo>
                  <a:pt x="28968" y="810356"/>
                </a:moveTo>
                <a:lnTo>
                  <a:pt x="12874" y="813116"/>
                </a:lnTo>
                <a:lnTo>
                  <a:pt x="23448" y="825724"/>
                </a:lnTo>
                <a:lnTo>
                  <a:pt x="28968" y="810356"/>
                </a:lnTo>
                <a:close/>
              </a:path>
              <a:path w="364490" h="835025">
                <a:moveTo>
                  <a:pt x="46483" y="807353"/>
                </a:moveTo>
                <a:lnTo>
                  <a:pt x="28968" y="810356"/>
                </a:lnTo>
                <a:lnTo>
                  <a:pt x="23448" y="825724"/>
                </a:lnTo>
                <a:lnTo>
                  <a:pt x="25395" y="825724"/>
                </a:lnTo>
                <a:lnTo>
                  <a:pt x="27427" y="823995"/>
                </a:lnTo>
                <a:lnTo>
                  <a:pt x="42429" y="810958"/>
                </a:lnTo>
                <a:lnTo>
                  <a:pt x="46483" y="807353"/>
                </a:lnTo>
                <a:close/>
              </a:path>
              <a:path w="364490" h="835025">
                <a:moveTo>
                  <a:pt x="6377" y="816897"/>
                </a:moveTo>
                <a:lnTo>
                  <a:pt x="4304" y="818662"/>
                </a:lnTo>
                <a:lnTo>
                  <a:pt x="3889" y="823824"/>
                </a:lnTo>
                <a:lnTo>
                  <a:pt x="6377" y="816897"/>
                </a:lnTo>
                <a:close/>
              </a:path>
              <a:path w="364490" h="835025">
                <a:moveTo>
                  <a:pt x="42573" y="728738"/>
                </a:moveTo>
                <a:lnTo>
                  <a:pt x="37118" y="731310"/>
                </a:lnTo>
                <a:lnTo>
                  <a:pt x="6377" y="816897"/>
                </a:lnTo>
                <a:lnTo>
                  <a:pt x="14932" y="809614"/>
                </a:lnTo>
                <a:lnTo>
                  <a:pt x="29770" y="796721"/>
                </a:lnTo>
                <a:lnTo>
                  <a:pt x="35787" y="791372"/>
                </a:lnTo>
                <a:lnTo>
                  <a:pt x="55047" y="737750"/>
                </a:lnTo>
                <a:lnTo>
                  <a:pt x="52475" y="732294"/>
                </a:lnTo>
                <a:lnTo>
                  <a:pt x="42573" y="728738"/>
                </a:lnTo>
                <a:close/>
              </a:path>
              <a:path w="364490" h="835025">
                <a:moveTo>
                  <a:pt x="349427" y="0"/>
                </a:moveTo>
                <a:lnTo>
                  <a:pt x="345026" y="4123"/>
                </a:lnTo>
                <a:lnTo>
                  <a:pt x="342605" y="78663"/>
                </a:lnTo>
                <a:lnTo>
                  <a:pt x="339784" y="146084"/>
                </a:lnTo>
                <a:lnTo>
                  <a:pt x="335691" y="212952"/>
                </a:lnTo>
                <a:lnTo>
                  <a:pt x="329733" y="278108"/>
                </a:lnTo>
                <a:lnTo>
                  <a:pt x="321295" y="341000"/>
                </a:lnTo>
                <a:lnTo>
                  <a:pt x="309768" y="401077"/>
                </a:lnTo>
                <a:lnTo>
                  <a:pt x="294608" y="457596"/>
                </a:lnTo>
                <a:lnTo>
                  <a:pt x="275158" y="510348"/>
                </a:lnTo>
                <a:lnTo>
                  <a:pt x="246688" y="562215"/>
                </a:lnTo>
                <a:lnTo>
                  <a:pt x="207176" y="616177"/>
                </a:lnTo>
                <a:lnTo>
                  <a:pt x="161103" y="669428"/>
                </a:lnTo>
                <a:lnTo>
                  <a:pt x="113102" y="719107"/>
                </a:lnTo>
                <a:lnTo>
                  <a:pt x="67790" y="762445"/>
                </a:lnTo>
                <a:lnTo>
                  <a:pt x="35787" y="791372"/>
                </a:lnTo>
                <a:lnTo>
                  <a:pt x="28968" y="810356"/>
                </a:lnTo>
                <a:lnTo>
                  <a:pt x="80837" y="776326"/>
                </a:lnTo>
                <a:lnTo>
                  <a:pt x="126647" y="732501"/>
                </a:lnTo>
                <a:lnTo>
                  <a:pt x="175305" y="682124"/>
                </a:lnTo>
                <a:lnTo>
                  <a:pt x="222269" y="627800"/>
                </a:lnTo>
                <a:lnTo>
                  <a:pt x="263013" y="572033"/>
                </a:lnTo>
                <a:lnTo>
                  <a:pt x="292859" y="517387"/>
                </a:lnTo>
                <a:lnTo>
                  <a:pt x="312904" y="462902"/>
                </a:lnTo>
                <a:lnTo>
                  <a:pt x="328478" y="404661"/>
                </a:lnTo>
                <a:lnTo>
                  <a:pt x="340176" y="343531"/>
                </a:lnTo>
                <a:lnTo>
                  <a:pt x="348704" y="279841"/>
                </a:lnTo>
                <a:lnTo>
                  <a:pt x="354705" y="214115"/>
                </a:lnTo>
                <a:lnTo>
                  <a:pt x="358817" y="146880"/>
                </a:lnTo>
                <a:lnTo>
                  <a:pt x="361691" y="78046"/>
                </a:lnTo>
                <a:lnTo>
                  <a:pt x="364066" y="4740"/>
                </a:lnTo>
                <a:lnTo>
                  <a:pt x="359942" y="340"/>
                </a:lnTo>
                <a:lnTo>
                  <a:pt x="3494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27334" y="413539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8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8" y="156098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8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27334" y="413539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70135" y="509750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2" y="26781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2" y="156097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79" y="91440"/>
                </a:lnTo>
                <a:lnTo>
                  <a:pt x="175694" y="55847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70135" y="509750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4041140" y="3572764"/>
            <a:ext cx="4501515" cy="16097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50"/>
              </a:spcBef>
            </a:pP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5">
                <a:latin typeface="Calibri"/>
                <a:cs typeface="Calibri"/>
              </a:rPr>
              <a:t>directed networks we </a:t>
            </a:r>
            <a:r>
              <a:rPr dirty="0" sz="2800" spc="-10">
                <a:latin typeface="Calibri"/>
                <a:cs typeface="Calibri"/>
              </a:rPr>
              <a:t>define  </a:t>
            </a:r>
            <a:r>
              <a:rPr dirty="0" sz="2800" spc="-5">
                <a:latin typeface="Calibri"/>
                <a:cs typeface="Calibri"/>
              </a:rPr>
              <a:t>an </a:t>
            </a: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in-degree </a:t>
            </a:r>
            <a:r>
              <a:rPr dirty="0" sz="2800" spc="-5">
                <a:latin typeface="Calibri"/>
                <a:cs typeface="Calibri"/>
              </a:rPr>
              <a:t>and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0000FF"/>
                </a:solidFill>
                <a:latin typeface="Calibri"/>
                <a:cs typeface="Calibri"/>
              </a:rPr>
              <a:t>out-degree.</a:t>
            </a:r>
            <a:endParaRPr sz="2800">
              <a:latin typeface="Calibri"/>
              <a:cs typeface="Calibri"/>
            </a:endParaRPr>
          </a:p>
          <a:p>
            <a:pPr marL="12700" marR="287020">
              <a:lnSpc>
                <a:spcPts val="2780"/>
              </a:lnSpc>
              <a:spcBef>
                <a:spcPts val="210"/>
              </a:spcBef>
            </a:pPr>
            <a:r>
              <a:rPr dirty="0" sz="2400">
                <a:latin typeface="Calibri"/>
                <a:cs typeface="Calibri"/>
              </a:rPr>
              <a:t>The </a:t>
            </a:r>
            <a:r>
              <a:rPr dirty="0" sz="2400" spc="-15">
                <a:latin typeface="Calibri"/>
                <a:cs typeface="Calibri"/>
              </a:rPr>
              <a:t>(total) </a:t>
            </a:r>
            <a:r>
              <a:rPr dirty="0" sz="2400" spc="-10">
                <a:latin typeface="Calibri"/>
                <a:cs typeface="Calibri"/>
              </a:rPr>
              <a:t>degree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>
                <a:latin typeface="Calibri"/>
                <a:cs typeface="Calibri"/>
              </a:rPr>
              <a:t>is </a:t>
            </a:r>
            <a:r>
              <a:rPr dirty="0" sz="2400" spc="-5">
                <a:latin typeface="Calibri"/>
                <a:cs typeface="Calibri"/>
              </a:rPr>
              <a:t>the  sum of </a:t>
            </a:r>
            <a:r>
              <a:rPr dirty="0" sz="2400">
                <a:latin typeface="Calibri"/>
                <a:cs typeface="Calibri"/>
              </a:rPr>
              <a:t>in- 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out-degrees.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162499" y="5258801"/>
            <a:ext cx="812165" cy="4419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00" spc="-155" i="1">
                <a:latin typeface="Times New Roman"/>
                <a:cs typeface="Times New Roman"/>
              </a:rPr>
              <a:t>k </a:t>
            </a:r>
            <a:r>
              <a:rPr dirty="0" baseline="41666" sz="2400" spc="-142" i="1">
                <a:latin typeface="Times New Roman"/>
                <a:cs typeface="Times New Roman"/>
              </a:rPr>
              <a:t>in </a:t>
            </a:r>
            <a:r>
              <a:rPr dirty="0" sz="2700" spc="-190">
                <a:latin typeface="Symbol"/>
                <a:cs typeface="Symbol"/>
              </a:rPr>
              <a:t></a:t>
            </a:r>
            <a:r>
              <a:rPr dirty="0" sz="2700" spc="-320">
                <a:latin typeface="Times New Roman"/>
                <a:cs typeface="Times New Roman"/>
              </a:rPr>
              <a:t> </a:t>
            </a:r>
            <a:r>
              <a:rPr dirty="0" sz="2700" spc="-175">
                <a:latin typeface="Times New Roman"/>
                <a:cs typeface="Times New Roman"/>
              </a:rPr>
              <a:t>2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490745" y="5103350"/>
            <a:ext cx="568325" cy="4419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-24691" sz="4050" spc="375" i="1">
                <a:latin typeface="Times New Roman"/>
                <a:cs typeface="Times New Roman"/>
              </a:rPr>
              <a:t>k</a:t>
            </a:r>
            <a:r>
              <a:rPr dirty="0" baseline="-24691" sz="4050" spc="-585" i="1">
                <a:latin typeface="Times New Roman"/>
                <a:cs typeface="Times New Roman"/>
              </a:rPr>
              <a:t> </a:t>
            </a:r>
            <a:r>
              <a:rPr dirty="0" sz="1600" spc="125" i="1">
                <a:latin typeface="Times New Roman"/>
                <a:cs typeface="Times New Roman"/>
              </a:rPr>
              <a:t>out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683387" y="5490152"/>
            <a:ext cx="191960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46250" algn="l"/>
              </a:tabLst>
            </a:pPr>
            <a:r>
              <a:rPr dirty="0" sz="1600" spc="200" i="1">
                <a:latin typeface="Times New Roman"/>
                <a:cs typeface="Times New Roman"/>
              </a:rPr>
              <a:t>C</a:t>
            </a:r>
            <a:r>
              <a:rPr dirty="0" sz="1600" spc="200" i="1">
                <a:latin typeface="Times New Roman"/>
                <a:cs typeface="Times New Roman"/>
              </a:rPr>
              <a:t>	</a:t>
            </a:r>
            <a:r>
              <a:rPr dirty="0" sz="1600" spc="185" i="1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186552" y="5258801"/>
            <a:ext cx="2082164" cy="4419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52830" algn="l"/>
                <a:tab pos="1555750" algn="l"/>
              </a:tabLst>
            </a:pPr>
            <a:r>
              <a:rPr dirty="0" sz="2700" spc="310">
                <a:latin typeface="Symbol"/>
                <a:cs typeface="Symbol"/>
              </a:rPr>
              <a:t></a:t>
            </a:r>
            <a:r>
              <a:rPr dirty="0" sz="2700" spc="-275">
                <a:latin typeface="Times New Roman"/>
                <a:cs typeface="Times New Roman"/>
              </a:rPr>
              <a:t> </a:t>
            </a:r>
            <a:r>
              <a:rPr dirty="0" sz="2700" spc="280">
                <a:latin typeface="Times New Roman"/>
                <a:cs typeface="Times New Roman"/>
              </a:rPr>
              <a:t>1	</a:t>
            </a:r>
            <a:r>
              <a:rPr dirty="0" sz="2700" spc="229" i="1">
                <a:latin typeface="Times New Roman"/>
                <a:cs typeface="Times New Roman"/>
              </a:rPr>
              <a:t>k	</a:t>
            </a:r>
            <a:r>
              <a:rPr dirty="0" sz="2700" spc="285">
                <a:latin typeface="Symbol"/>
                <a:cs typeface="Symbol"/>
              </a:rPr>
              <a:t></a:t>
            </a:r>
            <a:r>
              <a:rPr dirty="0" sz="2700" spc="-125">
                <a:latin typeface="Times New Roman"/>
                <a:cs typeface="Times New Roman"/>
              </a:rPr>
              <a:t> </a:t>
            </a:r>
            <a:r>
              <a:rPr dirty="0" sz="2700" spc="260">
                <a:latin typeface="Times New Roman"/>
                <a:cs typeface="Times New Roman"/>
              </a:rPr>
              <a:t>3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6057186" y="3020559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 h="0">
                <a:moveTo>
                  <a:pt x="0" y="0"/>
                </a:moveTo>
                <a:lnTo>
                  <a:pt x="143978" y="0"/>
                </a:lnTo>
              </a:path>
            </a:pathLst>
          </a:custGeom>
          <a:ln w="146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530257" y="3041781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88272" y="0"/>
                </a:moveTo>
                <a:lnTo>
                  <a:pt x="0" y="177491"/>
                </a:lnTo>
              </a:path>
            </a:pathLst>
          </a:custGeom>
          <a:ln w="159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530257" y="3219272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0" y="0"/>
                </a:moveTo>
                <a:lnTo>
                  <a:pt x="88272" y="177491"/>
                </a:lnTo>
              </a:path>
            </a:pathLst>
          </a:custGeom>
          <a:ln w="159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827641" y="3041781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0" y="0"/>
                </a:moveTo>
                <a:lnTo>
                  <a:pt x="88272" y="177491"/>
                </a:lnTo>
              </a:path>
            </a:pathLst>
          </a:custGeom>
          <a:ln w="159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6827641" y="3219272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88272" y="0"/>
                </a:moveTo>
                <a:lnTo>
                  <a:pt x="0" y="177491"/>
                </a:lnTo>
              </a:path>
            </a:pathLst>
          </a:custGeom>
          <a:ln w="159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7232306" y="2799887"/>
            <a:ext cx="256540" cy="3810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00" spc="-60" u="heavy">
                <a:latin typeface="Times New Roman"/>
                <a:cs typeface="Times New Roman"/>
              </a:rPr>
              <a:t> </a:t>
            </a:r>
            <a:r>
              <a:rPr dirty="0" sz="2300" spc="140" u="heavy">
                <a:latin typeface="Times New Roman"/>
                <a:cs typeface="Times New Roman"/>
              </a:rPr>
              <a:t>1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625675" y="3419562"/>
            <a:ext cx="264795" cy="23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55" i="1">
                <a:latin typeface="Times New Roman"/>
                <a:cs typeface="Times New Roman"/>
              </a:rPr>
              <a:t>i</a:t>
            </a:r>
            <a:r>
              <a:rPr dirty="0" sz="1350" spc="-50">
                <a:latin typeface="Symbol"/>
                <a:cs typeface="Symbol"/>
              </a:rPr>
              <a:t></a:t>
            </a:r>
            <a:r>
              <a:rPr dirty="0" sz="1350" spc="6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672811" y="2779823"/>
            <a:ext cx="152400" cy="23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90" i="1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6037630" y="2829983"/>
            <a:ext cx="239839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6425" algn="l"/>
                <a:tab pos="952500" algn="l"/>
              </a:tabLst>
            </a:pPr>
            <a:r>
              <a:rPr dirty="0" sz="2300" spc="125" i="1">
                <a:latin typeface="Times New Roman"/>
                <a:cs typeface="Times New Roman"/>
              </a:rPr>
              <a:t>k</a:t>
            </a:r>
            <a:r>
              <a:rPr dirty="0" sz="2300" spc="40" i="1">
                <a:latin typeface="Times New Roman"/>
                <a:cs typeface="Times New Roman"/>
              </a:rPr>
              <a:t> </a:t>
            </a:r>
            <a:r>
              <a:rPr dirty="0" sz="2300" spc="150">
                <a:latin typeface="Symbol"/>
                <a:cs typeface="Symbol"/>
              </a:rPr>
              <a:t></a:t>
            </a:r>
            <a:r>
              <a:rPr dirty="0" sz="2300">
                <a:latin typeface="Times New Roman"/>
                <a:cs typeface="Times New Roman"/>
              </a:rPr>
              <a:t>	</a:t>
            </a:r>
            <a:r>
              <a:rPr dirty="0" sz="2300" spc="125" i="1">
                <a:latin typeface="Times New Roman"/>
                <a:cs typeface="Times New Roman"/>
              </a:rPr>
              <a:t>k</a:t>
            </a:r>
            <a:r>
              <a:rPr dirty="0" sz="2300" i="1">
                <a:latin typeface="Times New Roman"/>
                <a:cs typeface="Times New Roman"/>
              </a:rPr>
              <a:t>	</a:t>
            </a:r>
            <a:r>
              <a:rPr dirty="0" sz="2300" spc="150">
                <a:latin typeface="Symbol"/>
                <a:cs typeface="Symbol"/>
              </a:rPr>
              <a:t></a:t>
            </a:r>
            <a:r>
              <a:rPr dirty="0" sz="2300" spc="275">
                <a:latin typeface="Times New Roman"/>
                <a:cs typeface="Times New Roman"/>
              </a:rPr>
              <a:t> </a:t>
            </a:r>
            <a:r>
              <a:rPr dirty="0" baseline="-44685" sz="3450" spc="277" i="1">
                <a:latin typeface="Times New Roman"/>
                <a:cs typeface="Times New Roman"/>
              </a:rPr>
              <a:t>N</a:t>
            </a:r>
            <a:r>
              <a:rPr dirty="0" baseline="-44685" sz="3450" spc="-225" i="1">
                <a:latin typeface="Times New Roman"/>
                <a:cs typeface="Times New Roman"/>
              </a:rPr>
              <a:t> </a:t>
            </a:r>
            <a:r>
              <a:rPr dirty="0" baseline="-6349" sz="5250" spc="637">
                <a:latin typeface="Symbol"/>
                <a:cs typeface="Symbol"/>
              </a:rPr>
              <a:t></a:t>
            </a:r>
            <a:r>
              <a:rPr dirty="0" sz="2300" spc="95" i="1">
                <a:latin typeface="Times New Roman"/>
                <a:cs typeface="Times New Roman"/>
              </a:rPr>
              <a:t>k</a:t>
            </a:r>
            <a:r>
              <a:rPr dirty="0" baseline="-24691" sz="2025" spc="52" i="1">
                <a:latin typeface="Times New Roman"/>
                <a:cs typeface="Times New Roman"/>
              </a:rPr>
              <a:t>i</a:t>
            </a:r>
            <a:r>
              <a:rPr dirty="0" baseline="-24691" sz="2025" spc="150" i="1">
                <a:latin typeface="Times New Roman"/>
                <a:cs typeface="Times New Roman"/>
              </a:rPr>
              <a:t> </a:t>
            </a:r>
            <a:r>
              <a:rPr dirty="0" sz="2300" spc="150">
                <a:latin typeface="Symbol"/>
                <a:cs typeface="Symbol"/>
              </a:rPr>
              <a:t>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8503256" y="2741083"/>
            <a:ext cx="410209" cy="8547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5250" marR="5080" indent="-83185">
              <a:lnSpc>
                <a:spcPct val="118200"/>
              </a:lnSpc>
              <a:spcBef>
                <a:spcPts val="95"/>
              </a:spcBef>
            </a:pPr>
            <a:r>
              <a:rPr dirty="0" sz="2300" spc="285" u="heavy">
                <a:latin typeface="Times New Roman"/>
                <a:cs typeface="Times New Roman"/>
              </a:rPr>
              <a:t>2</a:t>
            </a:r>
            <a:r>
              <a:rPr dirty="0" sz="2300" spc="125" i="1" u="heavy">
                <a:latin typeface="Times New Roman"/>
                <a:cs typeface="Times New Roman"/>
              </a:rPr>
              <a:t>E </a:t>
            </a:r>
            <a:r>
              <a:rPr dirty="0" sz="2300" spc="65" i="1">
                <a:latin typeface="Times New Roman"/>
                <a:cs typeface="Times New Roman"/>
              </a:rPr>
              <a:t> </a:t>
            </a:r>
            <a:r>
              <a:rPr dirty="0" sz="2300" spc="185" i="1">
                <a:latin typeface="Times New Roman"/>
                <a:cs typeface="Times New Roman"/>
              </a:rPr>
              <a:t>N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7141212" y="6170479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 h="0">
                <a:moveTo>
                  <a:pt x="0" y="0"/>
                </a:moveTo>
                <a:lnTo>
                  <a:pt x="349908" y="0"/>
                </a:lnTo>
              </a:path>
            </a:pathLst>
          </a:custGeom>
          <a:ln w="121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7839321" y="6170479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 h="0">
                <a:moveTo>
                  <a:pt x="0" y="0"/>
                </a:moveTo>
                <a:lnTo>
                  <a:pt x="456611" y="0"/>
                </a:lnTo>
              </a:path>
            </a:pathLst>
          </a:custGeom>
          <a:ln w="121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/>
          <p:nvPr/>
        </p:nvSpPr>
        <p:spPr>
          <a:xfrm>
            <a:off x="7123396" y="6044646"/>
            <a:ext cx="1151255" cy="375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-25362" sz="3450" spc="187" i="1">
                <a:latin typeface="Times New Roman"/>
                <a:cs typeface="Times New Roman"/>
              </a:rPr>
              <a:t>k</a:t>
            </a:r>
            <a:r>
              <a:rPr dirty="0" baseline="-25362" sz="3450" spc="-472" i="1">
                <a:latin typeface="Times New Roman"/>
                <a:cs typeface="Times New Roman"/>
              </a:rPr>
              <a:t> </a:t>
            </a:r>
            <a:r>
              <a:rPr dirty="0" sz="1300" spc="75" i="1">
                <a:latin typeface="Times New Roman"/>
                <a:cs typeface="Times New Roman"/>
              </a:rPr>
              <a:t>in</a:t>
            </a:r>
            <a:r>
              <a:rPr dirty="0" sz="1300" spc="155" i="1">
                <a:latin typeface="Times New Roman"/>
                <a:cs typeface="Times New Roman"/>
              </a:rPr>
              <a:t> </a:t>
            </a:r>
            <a:r>
              <a:rPr dirty="0" baseline="-25362" sz="3450" spc="225">
                <a:latin typeface="Symbol"/>
                <a:cs typeface="Symbol"/>
              </a:rPr>
              <a:t></a:t>
            </a:r>
            <a:r>
              <a:rPr dirty="0" baseline="-25362" sz="3450" spc="-15">
                <a:latin typeface="Times New Roman"/>
                <a:cs typeface="Times New Roman"/>
              </a:rPr>
              <a:t> </a:t>
            </a:r>
            <a:r>
              <a:rPr dirty="0" baseline="-25362" sz="3450" spc="187" i="1">
                <a:latin typeface="Times New Roman"/>
                <a:cs typeface="Times New Roman"/>
              </a:rPr>
              <a:t>k</a:t>
            </a:r>
            <a:r>
              <a:rPr dirty="0" baseline="-25362" sz="3450" spc="-442" i="1">
                <a:latin typeface="Times New Roman"/>
                <a:cs typeface="Times New Roman"/>
              </a:rPr>
              <a:t> </a:t>
            </a:r>
            <a:r>
              <a:rPr dirty="0" sz="1300" spc="75" i="1">
                <a:latin typeface="Times New Roman"/>
                <a:cs typeface="Times New Roman"/>
              </a:rPr>
              <a:t>out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4041140" y="2902203"/>
            <a:ext cx="185991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30" b="1">
                <a:solidFill>
                  <a:srgbClr val="D60093"/>
                </a:solidFill>
                <a:latin typeface="Calibri"/>
                <a:cs typeface="Calibri"/>
              </a:rPr>
              <a:t>Avg.</a:t>
            </a:r>
            <a:r>
              <a:rPr dirty="0" sz="2800" spc="-5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degree: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840739" y="5942076"/>
            <a:ext cx="259080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0000FF"/>
                </a:solidFill>
                <a:latin typeface="Calibri"/>
                <a:cs typeface="Calibri"/>
              </a:rPr>
              <a:t>Source: </a:t>
            </a:r>
            <a:r>
              <a:rPr dirty="0" sz="2000" spc="-5">
                <a:latin typeface="Calibri"/>
                <a:cs typeface="Calibri"/>
              </a:rPr>
              <a:t>Node with </a:t>
            </a:r>
            <a:r>
              <a:rPr dirty="0" sz="2000" i="1">
                <a:latin typeface="Calibri"/>
                <a:cs typeface="Calibri"/>
              </a:rPr>
              <a:t>k</a:t>
            </a:r>
            <a:r>
              <a:rPr dirty="0" baseline="25641" sz="1950" i="1">
                <a:latin typeface="Calibri"/>
                <a:cs typeface="Calibri"/>
              </a:rPr>
              <a:t>in </a:t>
            </a:r>
            <a:r>
              <a:rPr dirty="0" sz="2000" i="1">
                <a:latin typeface="Calibri"/>
                <a:cs typeface="Calibri"/>
              </a:rPr>
              <a:t>=</a:t>
            </a:r>
            <a:r>
              <a:rPr dirty="0" sz="2000" spc="-155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-5" b="1">
                <a:solidFill>
                  <a:srgbClr val="0000FF"/>
                </a:solidFill>
                <a:latin typeface="Calibri"/>
                <a:cs typeface="Calibri"/>
              </a:rPr>
              <a:t>Sink: </a:t>
            </a:r>
            <a:r>
              <a:rPr dirty="0" sz="2000" spc="-5">
                <a:latin typeface="Calibri"/>
                <a:cs typeface="Calibri"/>
              </a:rPr>
              <a:t>Node with </a:t>
            </a:r>
            <a:r>
              <a:rPr dirty="0" sz="2000" spc="-15" i="1">
                <a:latin typeface="Calibri"/>
                <a:cs typeface="Calibri"/>
              </a:rPr>
              <a:t>k</a:t>
            </a:r>
            <a:r>
              <a:rPr dirty="0" baseline="25641" sz="1950" spc="-22" i="1">
                <a:latin typeface="Calibri"/>
                <a:cs typeface="Calibri"/>
              </a:rPr>
              <a:t>out </a:t>
            </a:r>
            <a:r>
              <a:rPr dirty="0" sz="2000" i="1">
                <a:latin typeface="Calibri"/>
                <a:cs typeface="Calibri"/>
              </a:rPr>
              <a:t>=</a:t>
            </a:r>
            <a:r>
              <a:rPr dirty="0" sz="2000" spc="-100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4177620" y="6016257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 h="0">
                <a:moveTo>
                  <a:pt x="0" y="0"/>
                </a:moveTo>
                <a:lnTo>
                  <a:pt x="176659" y="0"/>
                </a:lnTo>
              </a:path>
            </a:pathLst>
          </a:custGeom>
          <a:ln w="1439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754708" y="6252147"/>
            <a:ext cx="351790" cy="0"/>
          </a:xfrm>
          <a:custGeom>
            <a:avLst/>
            <a:gdLst/>
            <a:ahLst/>
            <a:cxnLst/>
            <a:rect l="l" t="t" r="r" b="b"/>
            <a:pathLst>
              <a:path w="351789" h="0">
                <a:moveTo>
                  <a:pt x="0" y="0"/>
                </a:moveTo>
                <a:lnTo>
                  <a:pt x="351327" y="0"/>
                </a:lnTo>
              </a:path>
            </a:pathLst>
          </a:custGeom>
          <a:ln w="1439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 txBox="1"/>
          <p:nvPr/>
        </p:nvSpPr>
        <p:spPr>
          <a:xfrm>
            <a:off x="4785183" y="6250263"/>
            <a:ext cx="276860" cy="440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700" spc="175" i="1">
                <a:latin typeface="Times New Roman"/>
                <a:cs typeface="Times New Roman"/>
              </a:rPr>
              <a:t>N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06" name="object 10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107" name="object 107"/>
          <p:cNvSpPr txBox="1"/>
          <p:nvPr/>
        </p:nvSpPr>
        <p:spPr>
          <a:xfrm>
            <a:off x="8700647" y="6699893"/>
            <a:ext cx="1727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64</a:t>
            </a:r>
            <a:endParaRPr sz="900">
              <a:latin typeface="Corbel"/>
              <a:cs typeface="Corbe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4159037" y="5490152"/>
            <a:ext cx="899794" cy="930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4305">
              <a:lnSpc>
                <a:spcPct val="100000"/>
              </a:lnSpc>
              <a:spcBef>
                <a:spcPts val="95"/>
              </a:spcBef>
            </a:pPr>
            <a:r>
              <a:rPr dirty="0" sz="1600" spc="-155" i="1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655955" algn="l"/>
              </a:tabLst>
            </a:pPr>
            <a:r>
              <a:rPr dirty="0" sz="2700" spc="110" i="1">
                <a:latin typeface="Times New Roman"/>
                <a:cs typeface="Times New Roman"/>
              </a:rPr>
              <a:t>k</a:t>
            </a:r>
            <a:r>
              <a:rPr dirty="0" sz="2700" spc="225" i="1">
                <a:latin typeface="Times New Roman"/>
                <a:cs typeface="Times New Roman"/>
              </a:rPr>
              <a:t> </a:t>
            </a:r>
            <a:r>
              <a:rPr dirty="0" sz="2700" spc="140">
                <a:latin typeface="Symbol"/>
                <a:cs typeface="Symbol"/>
              </a:rPr>
              <a:t></a:t>
            </a:r>
            <a:r>
              <a:rPr dirty="0" sz="2700">
                <a:latin typeface="Times New Roman"/>
                <a:cs typeface="Times New Roman"/>
              </a:rPr>
              <a:t>	</a:t>
            </a:r>
            <a:r>
              <a:rPr dirty="0" baseline="34979" sz="4050" spc="232" i="1">
                <a:latin typeface="Times New Roman"/>
                <a:cs typeface="Times New Roman"/>
              </a:rPr>
              <a:t>E</a:t>
            </a:r>
            <a:endParaRPr baseline="34979" sz="4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71551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2" y="1297939"/>
            <a:ext cx="5760085" cy="1320165"/>
          </a:xfrm>
          <a:prstGeom prst="rect"/>
        </p:spPr>
        <p:txBody>
          <a:bodyPr wrap="square" lIns="0" tIns="50165" rIns="0" bIns="0" rtlCol="0" vert="horz">
            <a:spAutoFit/>
          </a:bodyPr>
          <a:lstStyle/>
          <a:p>
            <a:pPr marL="469900" marR="5080" indent="-457200">
              <a:lnSpc>
                <a:spcPct val="91800"/>
              </a:lnSpc>
              <a:spcBef>
                <a:spcPts val="39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3000" spc="-10" b="1">
                <a:solidFill>
                  <a:srgbClr val="008000"/>
                </a:solidFill>
                <a:latin typeface="Calibri"/>
                <a:cs typeface="Calibri"/>
              </a:rPr>
              <a:t>Bipartite </a:t>
            </a:r>
            <a:r>
              <a:rPr dirty="0" sz="3000" spc="-20" b="1">
                <a:solidFill>
                  <a:srgbClr val="008000"/>
                </a:solidFill>
                <a:latin typeface="Calibri"/>
                <a:cs typeface="Calibri"/>
              </a:rPr>
              <a:t>graph </a:t>
            </a:r>
            <a:r>
              <a:rPr dirty="0" sz="2000">
                <a:solidFill>
                  <a:srgbClr val="000000"/>
                </a:solidFill>
              </a:rPr>
              <a:t>is a </a:t>
            </a:r>
            <a:r>
              <a:rPr dirty="0" sz="2000" spc="-10">
                <a:solidFill>
                  <a:srgbClr val="000000"/>
                </a:solidFill>
              </a:rPr>
              <a:t>graph </a:t>
            </a:r>
            <a:r>
              <a:rPr dirty="0" sz="2000" spc="-5">
                <a:solidFill>
                  <a:srgbClr val="000000"/>
                </a:solidFill>
              </a:rPr>
              <a:t>whose nodes can  be divided </a:t>
            </a:r>
            <a:r>
              <a:rPr dirty="0" sz="2000" spc="-10">
                <a:solidFill>
                  <a:srgbClr val="000000"/>
                </a:solidFill>
              </a:rPr>
              <a:t>into two </a:t>
            </a:r>
            <a:r>
              <a:rPr dirty="0" sz="2000" spc="-5">
                <a:solidFill>
                  <a:srgbClr val="000000"/>
                </a:solidFill>
              </a:rPr>
              <a:t>disjoint sets </a:t>
            </a:r>
            <a:r>
              <a:rPr dirty="0" sz="2000" b="1" i="1">
                <a:solidFill>
                  <a:srgbClr val="000000"/>
                </a:solidFill>
                <a:latin typeface="Calibri"/>
                <a:cs typeface="Calibri"/>
              </a:rPr>
              <a:t>U </a:t>
            </a:r>
            <a:r>
              <a:rPr dirty="0" sz="2000" spc="-5">
                <a:solidFill>
                  <a:srgbClr val="000000"/>
                </a:solidFill>
              </a:rPr>
              <a:t>and </a:t>
            </a:r>
            <a:r>
              <a:rPr dirty="0" sz="2000" b="1" i="1">
                <a:solidFill>
                  <a:srgbClr val="000000"/>
                </a:solidFill>
                <a:latin typeface="Calibri"/>
                <a:cs typeface="Calibri"/>
              </a:rPr>
              <a:t>V </a:t>
            </a:r>
            <a:r>
              <a:rPr dirty="0" sz="2000" spc="-5">
                <a:solidFill>
                  <a:srgbClr val="000000"/>
                </a:solidFill>
              </a:rPr>
              <a:t>such that  </a:t>
            </a:r>
            <a:r>
              <a:rPr dirty="0" sz="2000" spc="-10">
                <a:solidFill>
                  <a:srgbClr val="000000"/>
                </a:solidFill>
              </a:rPr>
              <a:t>every </a:t>
            </a:r>
            <a:r>
              <a:rPr dirty="0" sz="2000" spc="-5">
                <a:solidFill>
                  <a:srgbClr val="000000"/>
                </a:solidFill>
              </a:rPr>
              <a:t>link connects </a:t>
            </a:r>
            <a:r>
              <a:rPr dirty="0" sz="2000">
                <a:solidFill>
                  <a:srgbClr val="000000"/>
                </a:solidFill>
              </a:rPr>
              <a:t>a </a:t>
            </a:r>
            <a:r>
              <a:rPr dirty="0" sz="2000" spc="-5">
                <a:solidFill>
                  <a:srgbClr val="000000"/>
                </a:solidFill>
              </a:rPr>
              <a:t>node </a:t>
            </a:r>
            <a:r>
              <a:rPr dirty="0" sz="2000">
                <a:solidFill>
                  <a:srgbClr val="000000"/>
                </a:solidFill>
              </a:rPr>
              <a:t>in </a:t>
            </a:r>
            <a:r>
              <a:rPr dirty="0" sz="2000" b="1" i="1">
                <a:solidFill>
                  <a:srgbClr val="000000"/>
                </a:solidFill>
                <a:latin typeface="Calibri"/>
                <a:cs typeface="Calibri"/>
              </a:rPr>
              <a:t>U </a:t>
            </a:r>
            <a:r>
              <a:rPr dirty="0" sz="2000" spc="-10">
                <a:solidFill>
                  <a:srgbClr val="000000"/>
                </a:solidFill>
              </a:rPr>
              <a:t>to </a:t>
            </a:r>
            <a:r>
              <a:rPr dirty="0" sz="2000" spc="-5">
                <a:solidFill>
                  <a:srgbClr val="000000"/>
                </a:solidFill>
              </a:rPr>
              <a:t>one </a:t>
            </a:r>
            <a:r>
              <a:rPr dirty="0" sz="2000">
                <a:solidFill>
                  <a:srgbClr val="000000"/>
                </a:solidFill>
              </a:rPr>
              <a:t>in </a:t>
            </a:r>
            <a:r>
              <a:rPr dirty="0" sz="2000" b="1" i="1">
                <a:solidFill>
                  <a:srgbClr val="000000"/>
                </a:solidFill>
                <a:latin typeface="Calibri"/>
                <a:cs typeface="Calibri"/>
              </a:rPr>
              <a:t>V</a:t>
            </a:r>
            <a:r>
              <a:rPr dirty="0" sz="2000">
                <a:solidFill>
                  <a:srgbClr val="000000"/>
                </a:solidFill>
              </a:rPr>
              <a:t>; </a:t>
            </a:r>
            <a:r>
              <a:rPr dirty="0" sz="2000" spc="-5">
                <a:solidFill>
                  <a:srgbClr val="000000"/>
                </a:solidFill>
              </a:rPr>
              <a:t>that </a:t>
            </a:r>
            <a:r>
              <a:rPr dirty="0" sz="2000">
                <a:solidFill>
                  <a:srgbClr val="000000"/>
                </a:solidFill>
              </a:rPr>
              <a:t>is,  </a:t>
            </a:r>
            <a:r>
              <a:rPr dirty="0" sz="2000" b="1" i="1">
                <a:solidFill>
                  <a:srgbClr val="000000"/>
                </a:solidFill>
                <a:latin typeface="Calibri"/>
                <a:cs typeface="Calibri"/>
              </a:rPr>
              <a:t>U </a:t>
            </a:r>
            <a:r>
              <a:rPr dirty="0" sz="2000" spc="-5">
                <a:solidFill>
                  <a:srgbClr val="000000"/>
                </a:solidFill>
              </a:rPr>
              <a:t>and </a:t>
            </a:r>
            <a:r>
              <a:rPr dirty="0" sz="2000" b="1" i="1">
                <a:solidFill>
                  <a:srgbClr val="000000"/>
                </a:solidFill>
                <a:latin typeface="Calibri"/>
                <a:cs typeface="Calibri"/>
              </a:rPr>
              <a:t>V </a:t>
            </a:r>
            <a:r>
              <a:rPr dirty="0" sz="2000" spc="-10">
                <a:solidFill>
                  <a:srgbClr val="000000"/>
                </a:solidFill>
              </a:rPr>
              <a:t>are </a:t>
            </a:r>
            <a:r>
              <a:rPr dirty="0" sz="2000" spc="-5" b="1">
                <a:solidFill>
                  <a:srgbClr val="000000"/>
                </a:solidFill>
                <a:latin typeface="Calibri"/>
                <a:cs typeface="Calibri"/>
              </a:rPr>
              <a:t>independent</a:t>
            </a:r>
            <a:r>
              <a:rPr dirty="0" sz="2000" spc="-5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000000"/>
                </a:solidFill>
                <a:latin typeface="Calibri"/>
                <a:cs typeface="Calibri"/>
              </a:rPr>
              <a:t>sets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9362" y="2763324"/>
            <a:ext cx="5728335" cy="357949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6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Examples:</a:t>
            </a:r>
            <a:endParaRPr sz="3000">
              <a:latin typeface="Calibri"/>
              <a:cs typeface="Calibri"/>
            </a:endParaRPr>
          </a:p>
          <a:p>
            <a:pPr lvl="1" marL="762000" indent="-457200">
              <a:lnSpc>
                <a:spcPct val="100000"/>
              </a:lnSpc>
              <a:spcBef>
                <a:spcPts val="395"/>
              </a:spcBef>
              <a:buClr>
                <a:srgbClr val="60B5CC"/>
              </a:buClr>
              <a:buFont typeface="Malgun Gothic"/>
              <a:buChar char="▪"/>
              <a:tabLst>
                <a:tab pos="761365" algn="l"/>
                <a:tab pos="762000" algn="l"/>
              </a:tabLst>
            </a:pPr>
            <a:r>
              <a:rPr dirty="0" sz="2600" spc="-15">
                <a:latin typeface="Calibri"/>
                <a:cs typeface="Calibri"/>
              </a:rPr>
              <a:t>Authors-to-Papers </a:t>
            </a:r>
            <a:r>
              <a:rPr dirty="0" sz="2600" spc="-10">
                <a:latin typeface="Calibri"/>
                <a:cs typeface="Calibri"/>
              </a:rPr>
              <a:t>(they</a:t>
            </a:r>
            <a:r>
              <a:rPr dirty="0" sz="2600" spc="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authored)</a:t>
            </a:r>
            <a:endParaRPr sz="2600">
              <a:latin typeface="Calibri"/>
              <a:cs typeface="Calibri"/>
            </a:endParaRPr>
          </a:p>
          <a:p>
            <a:pPr lvl="1" marL="762000" indent="-457200">
              <a:lnSpc>
                <a:spcPct val="100000"/>
              </a:lnSpc>
              <a:spcBef>
                <a:spcPts val="284"/>
              </a:spcBef>
              <a:buClr>
                <a:srgbClr val="60B5CC"/>
              </a:buClr>
              <a:buFont typeface="Malgun Gothic"/>
              <a:buChar char="▪"/>
              <a:tabLst>
                <a:tab pos="761365" algn="l"/>
                <a:tab pos="762000" algn="l"/>
              </a:tabLst>
            </a:pPr>
            <a:r>
              <a:rPr dirty="0" sz="2600" spc="-10">
                <a:latin typeface="Calibri"/>
                <a:cs typeface="Calibri"/>
              </a:rPr>
              <a:t>Actors-to-Movies (they appeared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in)</a:t>
            </a:r>
            <a:endParaRPr sz="2600">
              <a:latin typeface="Calibri"/>
              <a:cs typeface="Calibri"/>
            </a:endParaRPr>
          </a:p>
          <a:p>
            <a:pPr lvl="1" marL="762000" indent="-457200">
              <a:lnSpc>
                <a:spcPct val="100000"/>
              </a:lnSpc>
              <a:spcBef>
                <a:spcPts val="265"/>
              </a:spcBef>
              <a:buClr>
                <a:srgbClr val="60B5CC"/>
              </a:buClr>
              <a:buFont typeface="Malgun Gothic"/>
              <a:buChar char="▪"/>
              <a:tabLst>
                <a:tab pos="761365" algn="l"/>
                <a:tab pos="762000" algn="l"/>
              </a:tabLst>
            </a:pPr>
            <a:r>
              <a:rPr dirty="0" sz="2600" spc="-10">
                <a:latin typeface="Calibri"/>
                <a:cs typeface="Calibri"/>
              </a:rPr>
              <a:t>Users-to-Movies (they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rated)</a:t>
            </a:r>
            <a:endParaRPr sz="2600">
              <a:latin typeface="Calibri"/>
              <a:cs typeface="Calibri"/>
            </a:endParaRPr>
          </a:p>
          <a:p>
            <a:pPr lvl="1" marL="762000" indent="-457200">
              <a:lnSpc>
                <a:spcPts val="2955"/>
              </a:lnSpc>
              <a:spcBef>
                <a:spcPts val="285"/>
              </a:spcBef>
              <a:buClr>
                <a:srgbClr val="60B5CC"/>
              </a:buClr>
              <a:buFont typeface="Malgun Gothic"/>
              <a:buChar char="▪"/>
              <a:tabLst>
                <a:tab pos="761365" algn="l"/>
                <a:tab pos="762000" algn="l"/>
              </a:tabLst>
            </a:pPr>
            <a:r>
              <a:rPr dirty="0" sz="2600" spc="-10">
                <a:latin typeface="Calibri"/>
                <a:cs typeface="Calibri"/>
              </a:rPr>
              <a:t>Recipes-to-Ingredients (they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contain)</a:t>
            </a:r>
            <a:endParaRPr sz="2600">
              <a:latin typeface="Calibri"/>
              <a:cs typeface="Calibri"/>
            </a:endParaRPr>
          </a:p>
          <a:p>
            <a:pPr marL="469900" indent="-457200">
              <a:lnSpc>
                <a:spcPts val="343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3000" spc="-10" b="1">
                <a:solidFill>
                  <a:srgbClr val="D60093"/>
                </a:solidFill>
                <a:latin typeface="Calibri"/>
                <a:cs typeface="Calibri"/>
              </a:rPr>
              <a:t>“Folded”</a:t>
            </a:r>
            <a:r>
              <a:rPr dirty="0" sz="3000" spc="-8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D60093"/>
                </a:solidFill>
                <a:latin typeface="Calibri"/>
                <a:cs typeface="Calibri"/>
              </a:rPr>
              <a:t>networks:</a:t>
            </a:r>
            <a:endParaRPr sz="3000">
              <a:latin typeface="Calibri"/>
              <a:cs typeface="Calibri"/>
            </a:endParaRPr>
          </a:p>
          <a:p>
            <a:pPr lvl="1" marL="762000" indent="-457200">
              <a:lnSpc>
                <a:spcPct val="100000"/>
              </a:lnSpc>
              <a:spcBef>
                <a:spcPts val="305"/>
              </a:spcBef>
              <a:buClr>
                <a:srgbClr val="60B5CC"/>
              </a:buClr>
              <a:buFont typeface="Malgun Gothic"/>
              <a:buChar char="▪"/>
              <a:tabLst>
                <a:tab pos="761365" algn="l"/>
                <a:tab pos="762000" algn="l"/>
              </a:tabLst>
            </a:pPr>
            <a:r>
              <a:rPr dirty="0" sz="2600" spc="-5">
                <a:latin typeface="Calibri"/>
                <a:cs typeface="Calibri"/>
              </a:rPr>
              <a:t>Author </a:t>
            </a:r>
            <a:r>
              <a:rPr dirty="0" sz="2600" spc="-10">
                <a:latin typeface="Calibri"/>
                <a:cs typeface="Calibri"/>
              </a:rPr>
              <a:t>collaboration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networks</a:t>
            </a:r>
            <a:endParaRPr sz="2600">
              <a:latin typeface="Calibri"/>
              <a:cs typeface="Calibri"/>
            </a:endParaRPr>
          </a:p>
          <a:p>
            <a:pPr lvl="1" marL="762000" indent="-457200">
              <a:lnSpc>
                <a:spcPct val="100000"/>
              </a:lnSpc>
              <a:spcBef>
                <a:spcPts val="380"/>
              </a:spcBef>
              <a:buClr>
                <a:srgbClr val="60B5CC"/>
              </a:buClr>
              <a:buFont typeface="Malgun Gothic"/>
              <a:buChar char="▪"/>
              <a:tabLst>
                <a:tab pos="761365" algn="l"/>
                <a:tab pos="762000" algn="l"/>
              </a:tabLst>
            </a:pPr>
            <a:r>
              <a:rPr dirty="0" sz="2600" spc="-5">
                <a:latin typeface="Calibri"/>
                <a:cs typeface="Calibri"/>
              </a:rPr>
              <a:t>Movie </a:t>
            </a:r>
            <a:r>
              <a:rPr dirty="0" sz="2600" spc="-15">
                <a:latin typeface="Calibri"/>
                <a:cs typeface="Calibri"/>
              </a:rPr>
              <a:t>co-rating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networks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13662" y="3993388"/>
            <a:ext cx="2628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latin typeface="Times New Roman"/>
                <a:cs typeface="Times New Roman"/>
              </a:rPr>
              <a:t>V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82578" y="1508760"/>
            <a:ext cx="1874520" cy="304800"/>
          </a:xfrm>
          <a:custGeom>
            <a:avLst/>
            <a:gdLst/>
            <a:ahLst/>
            <a:cxnLst/>
            <a:rect l="l" t="t" r="r" b="b"/>
            <a:pathLst>
              <a:path w="1874520" h="304800">
                <a:moveTo>
                  <a:pt x="0" y="0"/>
                </a:moveTo>
                <a:lnTo>
                  <a:pt x="187452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82578" y="1813560"/>
            <a:ext cx="1854835" cy="276225"/>
          </a:xfrm>
          <a:custGeom>
            <a:avLst/>
            <a:gdLst/>
            <a:ahLst/>
            <a:cxnLst/>
            <a:rect l="l" t="t" r="r" b="b"/>
            <a:pathLst>
              <a:path w="1854834" h="276225">
                <a:moveTo>
                  <a:pt x="0" y="276225"/>
                </a:moveTo>
                <a:lnTo>
                  <a:pt x="185448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82578" y="2394585"/>
            <a:ext cx="1854835" cy="857250"/>
          </a:xfrm>
          <a:custGeom>
            <a:avLst/>
            <a:gdLst/>
            <a:ahLst/>
            <a:cxnLst/>
            <a:rect l="l" t="t" r="r" b="b"/>
            <a:pathLst>
              <a:path w="1854834" h="857250">
                <a:moveTo>
                  <a:pt x="0" y="857250"/>
                </a:moveTo>
                <a:lnTo>
                  <a:pt x="185448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82578" y="1813560"/>
            <a:ext cx="1874520" cy="2019300"/>
          </a:xfrm>
          <a:custGeom>
            <a:avLst/>
            <a:gdLst/>
            <a:ahLst/>
            <a:cxnLst/>
            <a:rect l="l" t="t" r="r" b="b"/>
            <a:pathLst>
              <a:path w="1874520" h="2019300">
                <a:moveTo>
                  <a:pt x="0" y="2019300"/>
                </a:moveTo>
                <a:lnTo>
                  <a:pt x="187452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82578" y="2670810"/>
            <a:ext cx="1874520" cy="304800"/>
          </a:xfrm>
          <a:custGeom>
            <a:avLst/>
            <a:gdLst/>
            <a:ahLst/>
            <a:cxnLst/>
            <a:rect l="l" t="t" r="r" b="b"/>
            <a:pathLst>
              <a:path w="1874520" h="304800">
                <a:moveTo>
                  <a:pt x="0" y="0"/>
                </a:moveTo>
                <a:lnTo>
                  <a:pt x="1874520" y="3048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782578" y="2089785"/>
            <a:ext cx="1874520" cy="885825"/>
          </a:xfrm>
          <a:custGeom>
            <a:avLst/>
            <a:gdLst/>
            <a:ahLst/>
            <a:cxnLst/>
            <a:rect l="l" t="t" r="r" b="b"/>
            <a:pathLst>
              <a:path w="1874520" h="885825">
                <a:moveTo>
                  <a:pt x="0" y="0"/>
                </a:moveTo>
                <a:lnTo>
                  <a:pt x="1874520" y="88582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782578" y="3251834"/>
            <a:ext cx="1854835" cy="304800"/>
          </a:xfrm>
          <a:custGeom>
            <a:avLst/>
            <a:gdLst/>
            <a:ahLst/>
            <a:cxnLst/>
            <a:rect l="l" t="t" r="r" b="b"/>
            <a:pathLst>
              <a:path w="1854834" h="304800">
                <a:moveTo>
                  <a:pt x="0" y="0"/>
                </a:moveTo>
                <a:lnTo>
                  <a:pt x="1854483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782578" y="3556634"/>
            <a:ext cx="1854835" cy="276225"/>
          </a:xfrm>
          <a:custGeom>
            <a:avLst/>
            <a:gdLst/>
            <a:ahLst/>
            <a:cxnLst/>
            <a:rect l="l" t="t" r="r" b="b"/>
            <a:pathLst>
              <a:path w="1854834" h="276225">
                <a:moveTo>
                  <a:pt x="0" y="276225"/>
                </a:moveTo>
                <a:lnTo>
                  <a:pt x="185448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782578" y="1508760"/>
            <a:ext cx="1874520" cy="885825"/>
          </a:xfrm>
          <a:custGeom>
            <a:avLst/>
            <a:gdLst/>
            <a:ahLst/>
            <a:cxnLst/>
            <a:rect l="l" t="t" r="r" b="b"/>
            <a:pathLst>
              <a:path w="1874520" h="885825">
                <a:moveTo>
                  <a:pt x="0" y="0"/>
                </a:moveTo>
                <a:lnTo>
                  <a:pt x="1874520" y="88582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476488" y="1658111"/>
            <a:ext cx="362711" cy="3627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519938" y="16764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19">
                <a:moveTo>
                  <a:pt x="137159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59" y="274320"/>
                </a:lnTo>
                <a:lnTo>
                  <a:pt x="180512" y="267327"/>
                </a:lnTo>
                <a:lnTo>
                  <a:pt x="218164" y="247856"/>
                </a:lnTo>
                <a:lnTo>
                  <a:pt x="247855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5" y="56154"/>
                </a:lnTo>
                <a:lnTo>
                  <a:pt x="218164" y="26463"/>
                </a:lnTo>
                <a:lnTo>
                  <a:pt x="180512" y="6992"/>
                </a:lnTo>
                <a:lnTo>
                  <a:pt x="137159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519938" y="16764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19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476488" y="2240279"/>
            <a:ext cx="362711" cy="3596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519938" y="225742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19">
                <a:moveTo>
                  <a:pt x="137159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59" y="274320"/>
                </a:lnTo>
                <a:lnTo>
                  <a:pt x="180512" y="267327"/>
                </a:lnTo>
                <a:lnTo>
                  <a:pt x="218164" y="247856"/>
                </a:lnTo>
                <a:lnTo>
                  <a:pt x="247855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5" y="56154"/>
                </a:lnTo>
                <a:lnTo>
                  <a:pt x="218164" y="26463"/>
                </a:lnTo>
                <a:lnTo>
                  <a:pt x="180512" y="6992"/>
                </a:lnTo>
                <a:lnTo>
                  <a:pt x="137159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519938" y="225742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19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476488" y="2819400"/>
            <a:ext cx="362711" cy="3627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519938" y="283845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19">
                <a:moveTo>
                  <a:pt x="137159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59" y="274320"/>
                </a:lnTo>
                <a:lnTo>
                  <a:pt x="180512" y="267327"/>
                </a:lnTo>
                <a:lnTo>
                  <a:pt x="218164" y="247856"/>
                </a:lnTo>
                <a:lnTo>
                  <a:pt x="247855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5" y="56154"/>
                </a:lnTo>
                <a:lnTo>
                  <a:pt x="218164" y="26463"/>
                </a:lnTo>
                <a:lnTo>
                  <a:pt x="180512" y="6992"/>
                </a:lnTo>
                <a:lnTo>
                  <a:pt x="137159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519938" y="283845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19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476488" y="3401567"/>
            <a:ext cx="362711" cy="3627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519938" y="341947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59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59" y="274319"/>
                </a:lnTo>
                <a:lnTo>
                  <a:pt x="180512" y="267327"/>
                </a:lnTo>
                <a:lnTo>
                  <a:pt x="218164" y="247856"/>
                </a:lnTo>
                <a:lnTo>
                  <a:pt x="247855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5" y="56154"/>
                </a:lnTo>
                <a:lnTo>
                  <a:pt x="218164" y="26463"/>
                </a:lnTo>
                <a:lnTo>
                  <a:pt x="180512" y="6992"/>
                </a:lnTo>
                <a:lnTo>
                  <a:pt x="137159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519938" y="341947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601968" y="1353311"/>
            <a:ext cx="362711" cy="362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525768" y="1286255"/>
            <a:ext cx="512064" cy="5699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645418" y="13716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19">
                <a:moveTo>
                  <a:pt x="137159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59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5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645418" y="13716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19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694471" y="1346708"/>
            <a:ext cx="1758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601968" y="1935479"/>
            <a:ext cx="362711" cy="35966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531864" y="1868423"/>
            <a:ext cx="502920" cy="56997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645418" y="195262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19">
                <a:moveTo>
                  <a:pt x="137159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59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5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645418" y="195262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19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698440" y="1925827"/>
            <a:ext cx="168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601968" y="2514600"/>
            <a:ext cx="362711" cy="36271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534911" y="2447544"/>
            <a:ext cx="493775" cy="56997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645418" y="253365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19">
                <a:moveTo>
                  <a:pt x="137159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59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5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645418" y="253365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19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6703202" y="2507995"/>
            <a:ext cx="159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601968" y="3096767"/>
            <a:ext cx="362711" cy="36271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522719" y="3029711"/>
            <a:ext cx="518159" cy="56997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645418" y="311467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59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59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5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645418" y="311467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6691296" y="3090164"/>
            <a:ext cx="183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601968" y="3675888"/>
            <a:ext cx="362711" cy="3627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537959" y="3611879"/>
            <a:ext cx="490727" cy="56997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645418" y="36957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59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59" y="274319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5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645418" y="36957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6639142" y="3637279"/>
            <a:ext cx="282575" cy="80835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350"/>
              </a:spcBef>
            </a:pPr>
            <a:r>
              <a:rPr dirty="0" sz="1800" b="1">
                <a:solidFill>
                  <a:srgbClr val="FFFFFF"/>
                </a:solidFill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dirty="0" sz="2800" b="1" i="1">
                <a:latin typeface="Times New Roman"/>
                <a:cs typeface="Times New Roman"/>
              </a:rPr>
              <a:t>U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8700647" y="6699893"/>
            <a:ext cx="1727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65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3362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17671" y="2698390"/>
            <a:ext cx="1990724" cy="26098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93139" y="1980692"/>
            <a:ext cx="18192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Arial"/>
                <a:cs typeface="Arial"/>
              </a:rPr>
              <a:t>Projection</a:t>
            </a:r>
            <a:r>
              <a:rPr dirty="0" sz="2400" spc="-9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U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58937" y="2556593"/>
            <a:ext cx="1848647" cy="36366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40843" y="1980692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U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37217" y="1980692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V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86772" y="2590987"/>
            <a:ext cx="1781175" cy="2667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634943" y="1980692"/>
            <a:ext cx="1802764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00"/>
                </a:solidFill>
                <a:latin typeface="Arial"/>
                <a:cs typeface="Arial"/>
              </a:rPr>
              <a:t>Projection</a:t>
            </a:r>
            <a:r>
              <a:rPr dirty="0" sz="2400" spc="-9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00"/>
                </a:solidFill>
                <a:latin typeface="Arial"/>
                <a:cs typeface="Arial"/>
              </a:rPr>
              <a:t>V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00647" y="6699893"/>
            <a:ext cx="1727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66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968" y="365759"/>
            <a:ext cx="8802624" cy="50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64984" y="3103371"/>
            <a:ext cx="853440" cy="882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Calibri"/>
                <a:cs typeface="Calibri"/>
              </a:rPr>
              <a:t>A</a:t>
            </a:r>
            <a:r>
              <a:rPr dirty="0" baseline="-17543" sz="2850" spc="-7" b="1" i="1">
                <a:latin typeface="Calibri"/>
                <a:cs typeface="Calibri"/>
              </a:rPr>
              <a:t>ij </a:t>
            </a:r>
            <a:r>
              <a:rPr dirty="0" sz="2800" b="1" i="1">
                <a:latin typeface="Calibri"/>
                <a:cs typeface="Calibri"/>
              </a:rPr>
              <a:t>=</a:t>
            </a:r>
            <a:r>
              <a:rPr dirty="0" sz="2800" spc="-229" b="1" i="1">
                <a:latin typeface="Calibri"/>
                <a:cs typeface="Calibri"/>
              </a:rPr>
              <a:t> </a:t>
            </a:r>
            <a:r>
              <a:rPr dirty="0" sz="2800" b="1" i="1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800" spc="-5" b="1" i="1">
                <a:latin typeface="Calibri"/>
                <a:cs typeface="Calibri"/>
              </a:rPr>
              <a:t>A</a:t>
            </a:r>
            <a:r>
              <a:rPr dirty="0" baseline="-17543" sz="2850" spc="-7" b="1" i="1">
                <a:latin typeface="Calibri"/>
                <a:cs typeface="Calibri"/>
              </a:rPr>
              <a:t>ij </a:t>
            </a:r>
            <a:r>
              <a:rPr dirty="0" sz="2800" b="1" i="1">
                <a:latin typeface="Calibri"/>
                <a:cs typeface="Calibri"/>
              </a:rPr>
              <a:t>=</a:t>
            </a:r>
            <a:r>
              <a:rPr dirty="0" sz="2800" spc="-229" b="1" i="1">
                <a:latin typeface="Calibri"/>
                <a:cs typeface="Calibri"/>
              </a:rPr>
              <a:t> </a:t>
            </a:r>
            <a:r>
              <a:rPr dirty="0" sz="2800" b="1" i="1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36547" y="3080003"/>
            <a:ext cx="3836670" cy="885190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2000">
                <a:latin typeface="Calibri"/>
                <a:cs typeface="Calibri"/>
              </a:rPr>
              <a:t>if </a:t>
            </a:r>
            <a:r>
              <a:rPr dirty="0" sz="2000" spc="-10">
                <a:latin typeface="Calibri"/>
                <a:cs typeface="Calibri"/>
              </a:rPr>
              <a:t>there </a:t>
            </a:r>
            <a:r>
              <a:rPr dirty="0" sz="2000">
                <a:latin typeface="Calibri"/>
                <a:cs typeface="Calibri"/>
              </a:rPr>
              <a:t>is a </a:t>
            </a:r>
            <a:r>
              <a:rPr dirty="0" sz="2000" spc="-5">
                <a:latin typeface="Calibri"/>
                <a:cs typeface="Calibri"/>
              </a:rPr>
              <a:t>link </a:t>
            </a:r>
            <a:r>
              <a:rPr dirty="0" sz="2000" spc="-10">
                <a:latin typeface="Calibri"/>
                <a:cs typeface="Calibri"/>
              </a:rPr>
              <a:t>from </a:t>
            </a:r>
            <a:r>
              <a:rPr dirty="0" sz="2000" spc="-5">
                <a:latin typeface="Calibri"/>
                <a:cs typeface="Calibri"/>
              </a:rPr>
              <a:t>node </a:t>
            </a:r>
            <a:r>
              <a:rPr dirty="0" sz="2000" b="1" i="1">
                <a:latin typeface="Calibri"/>
                <a:cs typeface="Calibri"/>
              </a:rPr>
              <a:t>i </a:t>
            </a:r>
            <a:r>
              <a:rPr dirty="0" sz="2000" spc="-10">
                <a:latin typeface="Calibri"/>
                <a:cs typeface="Calibri"/>
              </a:rPr>
              <a:t>to </a:t>
            </a:r>
            <a:r>
              <a:rPr dirty="0" sz="2000" spc="-5">
                <a:latin typeface="Calibri"/>
                <a:cs typeface="Calibri"/>
              </a:rPr>
              <a:t>node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b="1" i="1">
                <a:latin typeface="Calibri"/>
                <a:cs typeface="Calibri"/>
              </a:rPr>
              <a:t>j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2000" spc="-5">
                <a:latin typeface="Calibri"/>
                <a:cs typeface="Calibri"/>
              </a:rPr>
              <a:t>otherwise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05300" y="4446229"/>
            <a:ext cx="146685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160">
                <a:latin typeface="Symbol"/>
                <a:cs typeface="Symbol"/>
              </a:rPr>
              <a:t>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05300" y="5202234"/>
            <a:ext cx="33401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315">
                <a:latin typeface="Symbol"/>
                <a:cs typeface="Symbol"/>
              </a:rPr>
              <a:t></a:t>
            </a:r>
            <a:r>
              <a:rPr dirty="0" baseline="-28455" sz="3075" spc="-472">
                <a:latin typeface="Symbol"/>
                <a:cs typeface="Symbol"/>
              </a:rPr>
              <a:t></a:t>
            </a:r>
            <a:r>
              <a:rPr dirty="0" baseline="-28455" sz="3075" spc="-562">
                <a:latin typeface="Times New Roman"/>
                <a:cs typeface="Times New Roman"/>
              </a:rPr>
              <a:t> </a:t>
            </a:r>
            <a:r>
              <a:rPr dirty="0" baseline="-51490" sz="3075" spc="315">
                <a:latin typeface="Times New Roman"/>
                <a:cs typeface="Times New Roman"/>
              </a:rPr>
              <a:t>1</a:t>
            </a:r>
            <a:endParaRPr baseline="-51490" sz="3075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01802" y="4950251"/>
            <a:ext cx="33147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-20325" sz="3075" spc="630">
                <a:latin typeface="Times New Roman"/>
                <a:cs typeface="Times New Roman"/>
              </a:rPr>
              <a:t>1</a:t>
            </a:r>
            <a:r>
              <a:rPr dirty="0" sz="2050" spc="-175">
                <a:latin typeface="Symbol"/>
                <a:cs typeface="Symbol"/>
              </a:rPr>
              <a:t>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05300" y="4950251"/>
            <a:ext cx="33655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160">
                <a:latin typeface="Symbol"/>
                <a:cs typeface="Symbol"/>
              </a:rPr>
              <a:t></a:t>
            </a:r>
            <a:r>
              <a:rPr dirty="0" sz="2050" spc="-365">
                <a:latin typeface="Times New Roman"/>
                <a:cs typeface="Times New Roman"/>
              </a:rPr>
              <a:t> </a:t>
            </a:r>
            <a:r>
              <a:rPr dirty="0" baseline="-20325" sz="3075" spc="315">
                <a:latin typeface="Times New Roman"/>
                <a:cs typeface="Times New Roman"/>
              </a:rPr>
              <a:t>0</a:t>
            </a:r>
            <a:endParaRPr baseline="-20325" sz="307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2221" y="4846157"/>
            <a:ext cx="826769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260" i="1">
                <a:latin typeface="Times New Roman"/>
                <a:cs typeface="Times New Roman"/>
              </a:rPr>
              <a:t>A</a:t>
            </a:r>
            <a:r>
              <a:rPr dirty="0" sz="2050" spc="-55" i="1">
                <a:latin typeface="Times New Roman"/>
                <a:cs typeface="Times New Roman"/>
              </a:rPr>
              <a:t> </a:t>
            </a:r>
            <a:r>
              <a:rPr dirty="0" sz="2050" spc="229">
                <a:latin typeface="Symbol"/>
                <a:cs typeface="Symbol"/>
              </a:rPr>
              <a:t>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baseline="31165" sz="3075" spc="240">
                <a:latin typeface="Symbol"/>
                <a:cs typeface="Symbol"/>
              </a:rPr>
              <a:t></a:t>
            </a:r>
            <a:r>
              <a:rPr dirty="0" baseline="31165" sz="3075" spc="-457">
                <a:latin typeface="Times New Roman"/>
                <a:cs typeface="Times New Roman"/>
              </a:rPr>
              <a:t> </a:t>
            </a:r>
            <a:r>
              <a:rPr dirty="0" baseline="40650" sz="3075" spc="315">
                <a:latin typeface="Times New Roman"/>
                <a:cs typeface="Times New Roman"/>
              </a:rPr>
              <a:t>1</a:t>
            </a:r>
            <a:endParaRPr baseline="40650" sz="307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05300" y="5504926"/>
            <a:ext cx="504825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693545" algn="l"/>
                <a:tab pos="3232785" algn="l"/>
                <a:tab pos="4914265" algn="l"/>
              </a:tabLst>
            </a:pPr>
            <a:r>
              <a:rPr dirty="0" sz="2050" spc="160">
                <a:latin typeface="Symbol"/>
                <a:cs typeface="Symbol"/>
              </a:rPr>
              <a:t></a:t>
            </a:r>
            <a:r>
              <a:rPr dirty="0" sz="2050" spc="160">
                <a:latin typeface="Times New Roman"/>
                <a:cs typeface="Times New Roman"/>
              </a:rPr>
              <a:t>	</a:t>
            </a:r>
            <a:r>
              <a:rPr dirty="0" sz="2050" spc="160">
                <a:latin typeface="Symbol"/>
                <a:cs typeface="Symbol"/>
              </a:rPr>
              <a:t></a:t>
            </a:r>
            <a:r>
              <a:rPr dirty="0" sz="2050" spc="160">
                <a:latin typeface="Times New Roman"/>
                <a:cs typeface="Times New Roman"/>
              </a:rPr>
              <a:t>	</a:t>
            </a:r>
            <a:r>
              <a:rPr dirty="0" sz="2050" spc="160">
                <a:latin typeface="Symbol"/>
                <a:cs typeface="Symbol"/>
              </a:rPr>
              <a:t></a:t>
            </a:r>
            <a:r>
              <a:rPr dirty="0" sz="2050" spc="160">
                <a:latin typeface="Times New Roman"/>
                <a:cs typeface="Times New Roman"/>
              </a:rPr>
              <a:t>	</a:t>
            </a:r>
            <a:r>
              <a:rPr dirty="0" sz="2050" spc="160">
                <a:latin typeface="Symbol"/>
                <a:cs typeface="Symbol"/>
              </a:rPr>
              <a:t>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25556" y="5202234"/>
            <a:ext cx="33655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315">
                <a:latin typeface="Symbol"/>
                <a:cs typeface="Symbol"/>
              </a:rPr>
              <a:t></a:t>
            </a:r>
            <a:r>
              <a:rPr dirty="0" baseline="-28455" sz="3075" spc="-472">
                <a:latin typeface="Symbol"/>
                <a:cs typeface="Symbol"/>
              </a:rPr>
              <a:t></a:t>
            </a:r>
            <a:r>
              <a:rPr dirty="0" baseline="-28455" sz="3075" spc="-532">
                <a:latin typeface="Times New Roman"/>
                <a:cs typeface="Times New Roman"/>
              </a:rPr>
              <a:t> </a:t>
            </a:r>
            <a:r>
              <a:rPr dirty="0" baseline="-51490" sz="3075" spc="315">
                <a:latin typeface="Times New Roman"/>
                <a:cs typeface="Times New Roman"/>
              </a:rPr>
              <a:t>0</a:t>
            </a:r>
            <a:endParaRPr baseline="-51490" sz="307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24512" y="4950251"/>
            <a:ext cx="329565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-20325" sz="3075" spc="600">
                <a:latin typeface="Times New Roman"/>
                <a:cs typeface="Times New Roman"/>
              </a:rPr>
              <a:t>0</a:t>
            </a:r>
            <a:r>
              <a:rPr dirty="0" sz="2050" spc="-175">
                <a:latin typeface="Symbol"/>
                <a:cs typeface="Symbol"/>
              </a:rPr>
              <a:t>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25556" y="4950251"/>
            <a:ext cx="33655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160">
                <a:latin typeface="Symbol"/>
                <a:cs typeface="Symbol"/>
              </a:rPr>
              <a:t></a:t>
            </a:r>
            <a:r>
              <a:rPr dirty="0" sz="2050" spc="-365">
                <a:latin typeface="Times New Roman"/>
                <a:cs typeface="Times New Roman"/>
              </a:rPr>
              <a:t> </a:t>
            </a:r>
            <a:r>
              <a:rPr dirty="0" baseline="-20325" sz="3075" spc="315">
                <a:latin typeface="Times New Roman"/>
                <a:cs typeface="Times New Roman"/>
              </a:rPr>
              <a:t>0</a:t>
            </a:r>
            <a:endParaRPr baseline="-20325" sz="307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05300" y="4258607"/>
            <a:ext cx="5048250" cy="15246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1970"/>
              </a:lnSpc>
              <a:spcBef>
                <a:spcPts val="120"/>
              </a:spcBef>
              <a:tabLst>
                <a:tab pos="611505" algn="l"/>
                <a:tab pos="1062355" algn="l"/>
                <a:tab pos="1508760" algn="l"/>
                <a:tab pos="3232785" algn="l"/>
                <a:tab pos="3834129" algn="l"/>
                <a:tab pos="4283075" algn="l"/>
                <a:tab pos="4728845" algn="l"/>
              </a:tabLst>
            </a:pPr>
            <a:r>
              <a:rPr dirty="0" baseline="-4065" sz="3075" spc="240">
                <a:latin typeface="Symbol"/>
                <a:cs typeface="Symbol"/>
              </a:rPr>
              <a:t></a:t>
            </a:r>
            <a:r>
              <a:rPr dirty="0" baseline="-4065" sz="3075" spc="-397">
                <a:latin typeface="Times New Roman"/>
                <a:cs typeface="Times New Roman"/>
              </a:rPr>
              <a:t> </a:t>
            </a: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210">
                <a:latin typeface="Times New Roman"/>
                <a:cs typeface="Times New Roman"/>
              </a:rPr>
              <a:t>1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420">
                <a:latin typeface="Times New Roman"/>
                <a:cs typeface="Times New Roman"/>
              </a:rPr>
              <a:t>1</a:t>
            </a:r>
            <a:r>
              <a:rPr dirty="0" baseline="-4065" sz="3075" spc="240">
                <a:latin typeface="Symbol"/>
                <a:cs typeface="Symbol"/>
              </a:rPr>
              <a:t></a:t>
            </a:r>
            <a:r>
              <a:rPr dirty="0" baseline="-4065" sz="3075">
                <a:latin typeface="Times New Roman"/>
                <a:cs typeface="Times New Roman"/>
              </a:rPr>
              <a:t>	</a:t>
            </a:r>
            <a:r>
              <a:rPr dirty="0" baseline="-4065" sz="3075" spc="240">
                <a:latin typeface="Symbol"/>
                <a:cs typeface="Symbol"/>
              </a:rPr>
              <a:t></a:t>
            </a:r>
            <a:r>
              <a:rPr dirty="0" baseline="-4065" sz="3075" spc="-397">
                <a:latin typeface="Times New Roman"/>
                <a:cs typeface="Times New Roman"/>
              </a:rPr>
              <a:t> </a:t>
            </a: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420">
                <a:latin typeface="Times New Roman"/>
                <a:cs typeface="Times New Roman"/>
              </a:rPr>
              <a:t>1</a:t>
            </a:r>
            <a:r>
              <a:rPr dirty="0" baseline="-4065" sz="3075" spc="240">
                <a:latin typeface="Symbol"/>
                <a:cs typeface="Symbol"/>
              </a:rPr>
              <a:t></a:t>
            </a:r>
            <a:endParaRPr baseline="-4065" sz="3075">
              <a:latin typeface="Symbol"/>
              <a:cs typeface="Symbol"/>
            </a:endParaRPr>
          </a:p>
          <a:p>
            <a:pPr marL="1693545">
              <a:lnSpc>
                <a:spcPts val="1555"/>
              </a:lnSpc>
              <a:tabLst>
                <a:tab pos="3232785" algn="l"/>
                <a:tab pos="4914265" algn="l"/>
              </a:tabLst>
            </a:pPr>
            <a:r>
              <a:rPr dirty="0" sz="2050" spc="-175">
                <a:latin typeface="Symbol"/>
                <a:cs typeface="Symbol"/>
              </a:rPr>
              <a:t></a:t>
            </a:r>
            <a:r>
              <a:rPr dirty="0" sz="2050" spc="-175">
                <a:latin typeface="Times New Roman"/>
                <a:cs typeface="Times New Roman"/>
              </a:rPr>
              <a:t>	</a:t>
            </a:r>
            <a:r>
              <a:rPr dirty="0" sz="2050" spc="160">
                <a:latin typeface="Symbol"/>
                <a:cs typeface="Symbol"/>
              </a:rPr>
              <a:t></a:t>
            </a:r>
            <a:r>
              <a:rPr dirty="0" sz="2050" spc="160">
                <a:latin typeface="Times New Roman"/>
                <a:cs typeface="Times New Roman"/>
              </a:rPr>
              <a:t>	</a:t>
            </a:r>
            <a:r>
              <a:rPr dirty="0" sz="2050" spc="-175">
                <a:latin typeface="Symbol"/>
                <a:cs typeface="Symbol"/>
              </a:rPr>
              <a:t></a:t>
            </a:r>
            <a:endParaRPr sz="2050">
              <a:latin typeface="Symbol"/>
              <a:cs typeface="Symbol"/>
            </a:endParaRPr>
          </a:p>
          <a:p>
            <a:pPr marL="614045">
              <a:lnSpc>
                <a:spcPts val="2045"/>
              </a:lnSpc>
              <a:tabLst>
                <a:tab pos="1062355" algn="l"/>
                <a:tab pos="1508760" algn="l"/>
                <a:tab pos="3834129" algn="l"/>
                <a:tab pos="4283075" algn="l"/>
                <a:tab pos="4731385" algn="l"/>
              </a:tabLst>
            </a:pP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 spc="210">
                <a:latin typeface="Times New Roman"/>
                <a:cs typeface="Times New Roman"/>
              </a:rPr>
              <a:t>	</a:t>
            </a: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 spc="210">
                <a:latin typeface="Times New Roman"/>
                <a:cs typeface="Times New Roman"/>
              </a:rPr>
              <a:t>	</a:t>
            </a:r>
            <a:r>
              <a:rPr dirty="0" sz="2050" spc="420">
                <a:latin typeface="Times New Roman"/>
                <a:cs typeface="Times New Roman"/>
              </a:rPr>
              <a:t>1</a:t>
            </a:r>
            <a:r>
              <a:rPr dirty="0" baseline="-9485" sz="3075" spc="-262">
                <a:latin typeface="Symbol"/>
                <a:cs typeface="Symbol"/>
              </a:rPr>
              <a:t></a:t>
            </a:r>
            <a:r>
              <a:rPr dirty="0" baseline="-9485" sz="3075">
                <a:latin typeface="Times New Roman"/>
                <a:cs typeface="Times New Roman"/>
              </a:rPr>
              <a:t>	</a:t>
            </a: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400">
                <a:latin typeface="Times New Roman"/>
                <a:cs typeface="Times New Roman"/>
              </a:rPr>
              <a:t>0</a:t>
            </a:r>
            <a:r>
              <a:rPr dirty="0" baseline="-9485" sz="3075" spc="-262">
                <a:latin typeface="Symbol"/>
                <a:cs typeface="Symbol"/>
              </a:rPr>
              <a:t></a:t>
            </a:r>
            <a:endParaRPr baseline="-9485" sz="3075">
              <a:latin typeface="Symbol"/>
              <a:cs typeface="Symbol"/>
            </a:endParaRPr>
          </a:p>
          <a:p>
            <a:pPr marL="614045">
              <a:lnSpc>
                <a:spcPct val="100000"/>
              </a:lnSpc>
              <a:spcBef>
                <a:spcPts val="645"/>
              </a:spcBef>
              <a:tabLst>
                <a:tab pos="1062355" algn="l"/>
                <a:tab pos="1693545" algn="l"/>
                <a:tab pos="3834129" algn="l"/>
                <a:tab pos="4283075" algn="l"/>
                <a:tab pos="4914265" algn="l"/>
              </a:tabLst>
            </a:pP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 spc="210">
                <a:latin typeface="Times New Roman"/>
                <a:cs typeface="Times New Roman"/>
              </a:rPr>
              <a:t>	</a:t>
            </a: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 spc="210">
                <a:latin typeface="Times New Roman"/>
                <a:cs typeface="Times New Roman"/>
              </a:rPr>
              <a:t>	</a:t>
            </a:r>
            <a:r>
              <a:rPr dirty="0" baseline="-32520" sz="3075" spc="-1695">
                <a:latin typeface="Symbol"/>
                <a:cs typeface="Symbol"/>
              </a:rPr>
              <a:t></a:t>
            </a:r>
            <a:r>
              <a:rPr dirty="0" baseline="-62330" sz="3075" spc="-262">
                <a:latin typeface="Symbol"/>
                <a:cs typeface="Symbol"/>
              </a:rPr>
              <a:t></a:t>
            </a:r>
            <a:r>
              <a:rPr dirty="0" baseline="-62330" sz="3075">
                <a:latin typeface="Times New Roman"/>
                <a:cs typeface="Times New Roman"/>
              </a:rPr>
              <a:t>	</a:t>
            </a: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baseline="-32520" sz="3075" spc="-1695">
                <a:latin typeface="Symbol"/>
                <a:cs typeface="Symbol"/>
              </a:rPr>
              <a:t></a:t>
            </a:r>
            <a:r>
              <a:rPr dirty="0" baseline="-62330" sz="3075" spc="-262">
                <a:latin typeface="Symbol"/>
                <a:cs typeface="Symbol"/>
              </a:rPr>
              <a:t></a:t>
            </a:r>
            <a:endParaRPr baseline="-62330" sz="3075">
              <a:latin typeface="Symbol"/>
              <a:cs typeface="Symbol"/>
            </a:endParaRPr>
          </a:p>
          <a:p>
            <a:pPr marL="611505">
              <a:lnSpc>
                <a:spcPct val="100000"/>
              </a:lnSpc>
              <a:spcBef>
                <a:spcPts val="645"/>
              </a:spcBef>
              <a:tabLst>
                <a:tab pos="1059815" algn="l"/>
                <a:tab pos="1511300" algn="l"/>
                <a:tab pos="3831590" algn="l"/>
                <a:tab pos="4280535" algn="l"/>
                <a:tab pos="4731385" algn="l"/>
              </a:tabLst>
            </a:pPr>
            <a:r>
              <a:rPr dirty="0" sz="2050" spc="210">
                <a:latin typeface="Times New Roman"/>
                <a:cs typeface="Times New Roman"/>
              </a:rPr>
              <a:t>1	1	0	1	1	0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32478" y="4846157"/>
            <a:ext cx="826769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260" i="1">
                <a:latin typeface="Times New Roman"/>
                <a:cs typeface="Times New Roman"/>
              </a:rPr>
              <a:t>A</a:t>
            </a:r>
            <a:r>
              <a:rPr dirty="0" sz="2050" spc="-55" i="1">
                <a:latin typeface="Times New Roman"/>
                <a:cs typeface="Times New Roman"/>
              </a:rPr>
              <a:t> </a:t>
            </a:r>
            <a:r>
              <a:rPr dirty="0" sz="2050" spc="229">
                <a:latin typeface="Symbol"/>
                <a:cs typeface="Symbol"/>
              </a:rPr>
              <a:t></a:t>
            </a:r>
            <a:r>
              <a:rPr dirty="0" sz="2050" spc="-55">
                <a:latin typeface="Times New Roman"/>
                <a:cs typeface="Times New Roman"/>
              </a:rPr>
              <a:t> </a:t>
            </a:r>
            <a:r>
              <a:rPr dirty="0" baseline="31165" sz="3075" spc="240">
                <a:latin typeface="Symbol"/>
                <a:cs typeface="Symbol"/>
              </a:rPr>
              <a:t></a:t>
            </a:r>
            <a:r>
              <a:rPr dirty="0" baseline="31165" sz="3075" spc="-457">
                <a:latin typeface="Times New Roman"/>
                <a:cs typeface="Times New Roman"/>
              </a:rPr>
              <a:t> </a:t>
            </a:r>
            <a:r>
              <a:rPr dirty="0" baseline="40650" sz="3075" spc="315">
                <a:latin typeface="Times New Roman"/>
                <a:cs typeface="Times New Roman"/>
              </a:rPr>
              <a:t>1</a:t>
            </a:r>
            <a:endParaRPr baseline="40650" sz="307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11875" y="6206235"/>
            <a:ext cx="54032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008000"/>
                </a:solidFill>
                <a:latin typeface="Calibri"/>
                <a:cs typeface="Calibri"/>
              </a:rPr>
              <a:t>Note </a:t>
            </a: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that </a:t>
            </a:r>
            <a:r>
              <a:rPr dirty="0" sz="1600" spc="-15">
                <a:solidFill>
                  <a:srgbClr val="008000"/>
                </a:solidFill>
                <a:latin typeface="Calibri"/>
                <a:cs typeface="Calibri"/>
              </a:rPr>
              <a:t>for </a:t>
            </a:r>
            <a:r>
              <a:rPr dirty="0" sz="1600">
                <a:solidFill>
                  <a:srgbClr val="008000"/>
                </a:solidFill>
                <a:latin typeface="Calibri"/>
                <a:cs typeface="Calibri"/>
              </a:rPr>
              <a:t>a </a:t>
            </a: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directed graph </a:t>
            </a:r>
            <a:r>
              <a:rPr dirty="0" sz="1600" spc="-5">
                <a:solidFill>
                  <a:srgbClr val="008000"/>
                </a:solidFill>
                <a:latin typeface="Calibri"/>
                <a:cs typeface="Calibri"/>
              </a:rPr>
              <a:t>(right) the matrix is not</a:t>
            </a:r>
            <a:r>
              <a:rPr dirty="0" sz="1600" spc="9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symmetric.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81647" y="1883721"/>
            <a:ext cx="241300" cy="991235"/>
          </a:xfrm>
          <a:custGeom>
            <a:avLst/>
            <a:gdLst/>
            <a:ahLst/>
            <a:cxnLst/>
            <a:rect l="l" t="t" r="r" b="b"/>
            <a:pathLst>
              <a:path w="241300" h="991235">
                <a:moveTo>
                  <a:pt x="241066" y="0"/>
                </a:moveTo>
                <a:lnTo>
                  <a:pt x="0" y="990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51589" y="1883721"/>
            <a:ext cx="794385" cy="685800"/>
          </a:xfrm>
          <a:custGeom>
            <a:avLst/>
            <a:gdLst/>
            <a:ahLst/>
            <a:cxnLst/>
            <a:rect l="l" t="t" r="r" b="b"/>
            <a:pathLst>
              <a:path w="794385" h="685800">
                <a:moveTo>
                  <a:pt x="0" y="0"/>
                </a:moveTo>
                <a:lnTo>
                  <a:pt x="793866" y="6857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81648" y="2569519"/>
            <a:ext cx="1035050" cy="305435"/>
          </a:xfrm>
          <a:custGeom>
            <a:avLst/>
            <a:gdLst/>
            <a:ahLst/>
            <a:cxnLst/>
            <a:rect l="l" t="t" r="r" b="b"/>
            <a:pathLst>
              <a:path w="1035050" h="305435">
                <a:moveTo>
                  <a:pt x="0" y="304808"/>
                </a:moveTo>
                <a:lnTo>
                  <a:pt x="103493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061000" y="1857250"/>
            <a:ext cx="1738630" cy="376555"/>
          </a:xfrm>
          <a:custGeom>
            <a:avLst/>
            <a:gdLst/>
            <a:ahLst/>
            <a:cxnLst/>
            <a:rect l="l" t="t" r="r" b="b"/>
            <a:pathLst>
              <a:path w="1738629" h="376555">
                <a:moveTo>
                  <a:pt x="1738160" y="37618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54480" y="2673095"/>
            <a:ext cx="405383" cy="4084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97380" y="2692711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1" y="210598"/>
                </a:lnTo>
                <a:lnTo>
                  <a:pt x="320040" y="160020"/>
                </a:lnTo>
                <a:lnTo>
                  <a:pt x="311881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97380" y="2692711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671083" y="269087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813560" y="1676400"/>
            <a:ext cx="408431" cy="4084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57625" y="169477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857625" y="169477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928253" y="169722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639311" y="2063495"/>
            <a:ext cx="408432" cy="4084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683927" y="208167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1"/>
                </a:lnTo>
                <a:lnTo>
                  <a:pt x="160020" y="320040"/>
                </a:lnTo>
                <a:lnTo>
                  <a:pt x="210598" y="311881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83927" y="208167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624327" y="2395727"/>
            <a:ext cx="405384" cy="4053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667320" y="241268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667320" y="241268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770778" y="207213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50648" y="243789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212132" y="1801111"/>
            <a:ext cx="247650" cy="844550"/>
          </a:xfrm>
          <a:custGeom>
            <a:avLst/>
            <a:gdLst/>
            <a:ahLst/>
            <a:cxnLst/>
            <a:rect l="l" t="t" r="r" b="b"/>
            <a:pathLst>
              <a:path w="247650" h="844550">
                <a:moveTo>
                  <a:pt x="192084" y="79534"/>
                </a:moveTo>
                <a:lnTo>
                  <a:pt x="0" y="832680"/>
                </a:lnTo>
                <a:lnTo>
                  <a:pt x="4617" y="840459"/>
                </a:lnTo>
                <a:lnTo>
                  <a:pt x="19909" y="844359"/>
                </a:lnTo>
                <a:lnTo>
                  <a:pt x="27688" y="839743"/>
                </a:lnTo>
                <a:lnTo>
                  <a:pt x="219772" y="86596"/>
                </a:lnTo>
                <a:lnTo>
                  <a:pt x="192084" y="79534"/>
                </a:lnTo>
                <a:close/>
              </a:path>
              <a:path w="247650" h="844550">
                <a:moveTo>
                  <a:pt x="238720" y="53427"/>
                </a:moveTo>
                <a:lnTo>
                  <a:pt x="205343" y="53427"/>
                </a:lnTo>
                <a:lnTo>
                  <a:pt x="220635" y="57327"/>
                </a:lnTo>
                <a:lnTo>
                  <a:pt x="225253" y="65106"/>
                </a:lnTo>
                <a:lnTo>
                  <a:pt x="219772" y="86596"/>
                </a:lnTo>
                <a:lnTo>
                  <a:pt x="247460" y="93658"/>
                </a:lnTo>
                <a:lnTo>
                  <a:pt x="238720" y="53427"/>
                </a:lnTo>
                <a:close/>
              </a:path>
              <a:path w="247650" h="844550">
                <a:moveTo>
                  <a:pt x="205343" y="53427"/>
                </a:moveTo>
                <a:lnTo>
                  <a:pt x="197565" y="58045"/>
                </a:lnTo>
                <a:lnTo>
                  <a:pt x="192084" y="79534"/>
                </a:lnTo>
                <a:lnTo>
                  <a:pt x="219772" y="86596"/>
                </a:lnTo>
                <a:lnTo>
                  <a:pt x="225253" y="65106"/>
                </a:lnTo>
                <a:lnTo>
                  <a:pt x="220635" y="57327"/>
                </a:lnTo>
                <a:lnTo>
                  <a:pt x="205343" y="53427"/>
                </a:lnTo>
                <a:close/>
              </a:path>
              <a:path w="247650" h="844550">
                <a:moveTo>
                  <a:pt x="227114" y="0"/>
                </a:moveTo>
                <a:lnTo>
                  <a:pt x="164395" y="72472"/>
                </a:lnTo>
                <a:lnTo>
                  <a:pt x="192084" y="79534"/>
                </a:lnTo>
                <a:lnTo>
                  <a:pt x="197565" y="58045"/>
                </a:lnTo>
                <a:lnTo>
                  <a:pt x="205343" y="53427"/>
                </a:lnTo>
                <a:lnTo>
                  <a:pt x="238720" y="53427"/>
                </a:lnTo>
                <a:lnTo>
                  <a:pt x="2271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357651" y="2353218"/>
            <a:ext cx="982980" cy="280670"/>
          </a:xfrm>
          <a:custGeom>
            <a:avLst/>
            <a:gdLst/>
            <a:ahLst/>
            <a:cxnLst/>
            <a:rect l="l" t="t" r="r" b="b"/>
            <a:pathLst>
              <a:path w="982979" h="280669">
                <a:moveTo>
                  <a:pt x="72645" y="197093"/>
                </a:moveTo>
                <a:lnTo>
                  <a:pt x="0" y="259613"/>
                </a:lnTo>
                <a:lnTo>
                  <a:pt x="93602" y="280217"/>
                </a:lnTo>
                <a:lnTo>
                  <a:pt x="87983" y="257931"/>
                </a:lnTo>
                <a:lnTo>
                  <a:pt x="65111" y="257931"/>
                </a:lnTo>
                <a:lnTo>
                  <a:pt x="57345" y="253292"/>
                </a:lnTo>
                <a:lnTo>
                  <a:pt x="53487" y="237990"/>
                </a:lnTo>
                <a:lnTo>
                  <a:pt x="58125" y="230224"/>
                </a:lnTo>
                <a:lnTo>
                  <a:pt x="79631" y="224802"/>
                </a:lnTo>
                <a:lnTo>
                  <a:pt x="72645" y="197093"/>
                </a:lnTo>
                <a:close/>
              </a:path>
              <a:path w="982979" h="280669">
                <a:moveTo>
                  <a:pt x="79631" y="224802"/>
                </a:moveTo>
                <a:lnTo>
                  <a:pt x="58125" y="230224"/>
                </a:lnTo>
                <a:lnTo>
                  <a:pt x="53487" y="237990"/>
                </a:lnTo>
                <a:lnTo>
                  <a:pt x="57345" y="253292"/>
                </a:lnTo>
                <a:lnTo>
                  <a:pt x="65111" y="257931"/>
                </a:lnTo>
                <a:lnTo>
                  <a:pt x="86616" y="252509"/>
                </a:lnTo>
                <a:lnTo>
                  <a:pt x="79631" y="224802"/>
                </a:lnTo>
                <a:close/>
              </a:path>
              <a:path w="982979" h="280669">
                <a:moveTo>
                  <a:pt x="86616" y="252509"/>
                </a:moveTo>
                <a:lnTo>
                  <a:pt x="65111" y="257931"/>
                </a:lnTo>
                <a:lnTo>
                  <a:pt x="87983" y="257931"/>
                </a:lnTo>
                <a:lnTo>
                  <a:pt x="86616" y="252509"/>
                </a:lnTo>
                <a:close/>
              </a:path>
              <a:path w="982979" h="280669">
                <a:moveTo>
                  <a:pt x="971278" y="0"/>
                </a:moveTo>
                <a:lnTo>
                  <a:pt x="79631" y="224802"/>
                </a:lnTo>
                <a:lnTo>
                  <a:pt x="86616" y="252509"/>
                </a:lnTo>
                <a:lnTo>
                  <a:pt x="978264" y="27707"/>
                </a:lnTo>
                <a:lnTo>
                  <a:pt x="982902" y="19941"/>
                </a:lnTo>
                <a:lnTo>
                  <a:pt x="979044" y="4638"/>
                </a:lnTo>
                <a:lnTo>
                  <a:pt x="9712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554465" y="1635368"/>
            <a:ext cx="1405890" cy="373380"/>
          </a:xfrm>
          <a:custGeom>
            <a:avLst/>
            <a:gdLst/>
            <a:ahLst/>
            <a:cxnLst/>
            <a:rect l="l" t="t" r="r" b="b"/>
            <a:pathLst>
              <a:path w="1405890" h="373380">
                <a:moveTo>
                  <a:pt x="1319111" y="345563"/>
                </a:moveTo>
                <a:lnTo>
                  <a:pt x="1312396" y="373338"/>
                </a:lnTo>
                <a:lnTo>
                  <a:pt x="1405793" y="351821"/>
                </a:lnTo>
                <a:lnTo>
                  <a:pt x="1404553" y="350775"/>
                </a:lnTo>
                <a:lnTo>
                  <a:pt x="1340667" y="350775"/>
                </a:lnTo>
                <a:lnTo>
                  <a:pt x="1319111" y="345563"/>
                </a:lnTo>
                <a:close/>
              </a:path>
              <a:path w="1405890" h="373380">
                <a:moveTo>
                  <a:pt x="1325827" y="317788"/>
                </a:moveTo>
                <a:lnTo>
                  <a:pt x="1319111" y="345563"/>
                </a:lnTo>
                <a:lnTo>
                  <a:pt x="1340667" y="350775"/>
                </a:lnTo>
                <a:lnTo>
                  <a:pt x="1348389" y="346059"/>
                </a:lnTo>
                <a:lnTo>
                  <a:pt x="1352097" y="330720"/>
                </a:lnTo>
                <a:lnTo>
                  <a:pt x="1347383" y="323000"/>
                </a:lnTo>
                <a:lnTo>
                  <a:pt x="1325827" y="317788"/>
                </a:lnTo>
                <a:close/>
              </a:path>
              <a:path w="1405890" h="373380">
                <a:moveTo>
                  <a:pt x="1332542" y="290013"/>
                </a:moveTo>
                <a:lnTo>
                  <a:pt x="1325827" y="317788"/>
                </a:lnTo>
                <a:lnTo>
                  <a:pt x="1347383" y="323000"/>
                </a:lnTo>
                <a:lnTo>
                  <a:pt x="1352097" y="330720"/>
                </a:lnTo>
                <a:lnTo>
                  <a:pt x="1348389" y="346059"/>
                </a:lnTo>
                <a:lnTo>
                  <a:pt x="1340667" y="350775"/>
                </a:lnTo>
                <a:lnTo>
                  <a:pt x="1404553" y="350775"/>
                </a:lnTo>
                <a:lnTo>
                  <a:pt x="1332542" y="290013"/>
                </a:lnTo>
                <a:close/>
              </a:path>
              <a:path w="1405890" h="373380">
                <a:moveTo>
                  <a:pt x="11428" y="0"/>
                </a:moveTo>
                <a:lnTo>
                  <a:pt x="3708" y="4714"/>
                </a:lnTo>
                <a:lnTo>
                  <a:pt x="0" y="20053"/>
                </a:lnTo>
                <a:lnTo>
                  <a:pt x="4714" y="27773"/>
                </a:lnTo>
                <a:lnTo>
                  <a:pt x="1319111" y="345563"/>
                </a:lnTo>
                <a:lnTo>
                  <a:pt x="1325827" y="317788"/>
                </a:lnTo>
                <a:lnTo>
                  <a:pt x="114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020055" y="2456688"/>
            <a:ext cx="405384" cy="4084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062473" y="2476141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062473" y="2476141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136177" y="247446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279135" y="1459991"/>
            <a:ext cx="408432" cy="40843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322718" y="147820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322718" y="147820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5393348" y="148081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894576" y="1831848"/>
            <a:ext cx="405383" cy="40843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937264" y="1850665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937264" y="1850665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089903" y="2179320"/>
            <a:ext cx="405384" cy="40538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132413" y="219611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8"/>
                </a:lnTo>
                <a:lnTo>
                  <a:pt x="65514" y="30874"/>
                </a:lnTo>
                <a:lnTo>
                  <a:pt x="30874" y="65514"/>
                </a:lnTo>
                <a:lnTo>
                  <a:pt x="8158" y="109441"/>
                </a:lnTo>
                <a:lnTo>
                  <a:pt x="0" y="160020"/>
                </a:lnTo>
                <a:lnTo>
                  <a:pt x="8158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8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132413" y="219611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7019304" y="187401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215743" y="222148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566225" y="1764818"/>
            <a:ext cx="641985" cy="453390"/>
          </a:xfrm>
          <a:custGeom>
            <a:avLst/>
            <a:gdLst/>
            <a:ahLst/>
            <a:cxnLst/>
            <a:rect l="l" t="t" r="r" b="b"/>
            <a:pathLst>
              <a:path w="641985" h="453389">
                <a:moveTo>
                  <a:pt x="562994" y="415971"/>
                </a:moveTo>
                <a:lnTo>
                  <a:pt x="546619" y="439390"/>
                </a:lnTo>
                <a:lnTo>
                  <a:pt x="641436" y="453386"/>
                </a:lnTo>
                <a:lnTo>
                  <a:pt x="628037" y="428680"/>
                </a:lnTo>
                <a:lnTo>
                  <a:pt x="581171" y="428680"/>
                </a:lnTo>
                <a:lnTo>
                  <a:pt x="562994" y="415971"/>
                </a:lnTo>
                <a:close/>
              </a:path>
              <a:path w="641985" h="453389">
                <a:moveTo>
                  <a:pt x="579368" y="392553"/>
                </a:moveTo>
                <a:lnTo>
                  <a:pt x="562994" y="415971"/>
                </a:lnTo>
                <a:lnTo>
                  <a:pt x="581171" y="428680"/>
                </a:lnTo>
                <a:lnTo>
                  <a:pt x="590078" y="427104"/>
                </a:lnTo>
                <a:lnTo>
                  <a:pt x="599121" y="414171"/>
                </a:lnTo>
                <a:lnTo>
                  <a:pt x="597545" y="405263"/>
                </a:lnTo>
                <a:lnTo>
                  <a:pt x="579368" y="392553"/>
                </a:lnTo>
                <a:close/>
              </a:path>
              <a:path w="641985" h="453389">
                <a:moveTo>
                  <a:pt x="595743" y="369135"/>
                </a:moveTo>
                <a:lnTo>
                  <a:pt x="579368" y="392553"/>
                </a:lnTo>
                <a:lnTo>
                  <a:pt x="597545" y="405263"/>
                </a:lnTo>
                <a:lnTo>
                  <a:pt x="599121" y="414171"/>
                </a:lnTo>
                <a:lnTo>
                  <a:pt x="590078" y="427104"/>
                </a:lnTo>
                <a:lnTo>
                  <a:pt x="581171" y="428680"/>
                </a:lnTo>
                <a:lnTo>
                  <a:pt x="628037" y="428680"/>
                </a:lnTo>
                <a:lnTo>
                  <a:pt x="595743" y="369135"/>
                </a:lnTo>
                <a:close/>
              </a:path>
              <a:path w="641985" h="453389">
                <a:moveTo>
                  <a:pt x="17951" y="0"/>
                </a:moveTo>
                <a:lnTo>
                  <a:pt x="9043" y="1577"/>
                </a:lnTo>
                <a:lnTo>
                  <a:pt x="0" y="14511"/>
                </a:lnTo>
                <a:lnTo>
                  <a:pt x="1577" y="23418"/>
                </a:lnTo>
                <a:lnTo>
                  <a:pt x="562994" y="415971"/>
                </a:lnTo>
                <a:lnTo>
                  <a:pt x="579368" y="392553"/>
                </a:lnTo>
                <a:lnTo>
                  <a:pt x="179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8700647" y="6699893"/>
            <a:ext cx="1727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67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66559" y="4053840"/>
            <a:ext cx="1231392" cy="7498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11721" y="4070939"/>
            <a:ext cx="1143000" cy="665480"/>
          </a:xfrm>
          <a:custGeom>
            <a:avLst/>
            <a:gdLst/>
            <a:ahLst/>
            <a:cxnLst/>
            <a:rect l="l" t="t" r="r" b="b"/>
            <a:pathLst>
              <a:path w="1143000" h="665479">
                <a:moveTo>
                  <a:pt x="1143000" y="665005"/>
                </a:moveTo>
                <a:lnTo>
                  <a:pt x="0" y="665005"/>
                </a:lnTo>
                <a:lnTo>
                  <a:pt x="0" y="0"/>
                </a:lnTo>
                <a:lnTo>
                  <a:pt x="1143000" y="0"/>
                </a:lnTo>
                <a:lnTo>
                  <a:pt x="1143000" y="665005"/>
                </a:lnTo>
                <a:close/>
              </a:path>
            </a:pathLst>
          </a:custGeom>
          <a:solidFill>
            <a:srgbClr val="F0AD00">
              <a:alpha val="2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11721" y="4070939"/>
            <a:ext cx="1143000" cy="665480"/>
          </a:xfrm>
          <a:custGeom>
            <a:avLst/>
            <a:gdLst/>
            <a:ahLst/>
            <a:cxnLst/>
            <a:rect l="l" t="t" r="r" b="b"/>
            <a:pathLst>
              <a:path w="1143000" h="665479">
                <a:moveTo>
                  <a:pt x="1143000" y="665005"/>
                </a:moveTo>
                <a:lnTo>
                  <a:pt x="0" y="665005"/>
                </a:lnTo>
                <a:lnTo>
                  <a:pt x="0" y="0"/>
                </a:lnTo>
                <a:lnTo>
                  <a:pt x="1143000" y="0"/>
                </a:lnTo>
                <a:lnTo>
                  <a:pt x="1143000" y="665005"/>
                </a:lnTo>
                <a:close/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15219" y="4275662"/>
            <a:ext cx="144780" cy="130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69"/>
              </a:lnSpc>
            </a:pPr>
            <a:r>
              <a:rPr dirty="0" sz="1000" spc="175" i="1">
                <a:latin typeface="Arial"/>
                <a:cs typeface="Arial"/>
              </a:rPr>
              <a:t>in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96658" y="4353181"/>
            <a:ext cx="78105" cy="1816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185" i="1">
                <a:latin typeface="Arial"/>
                <a:cs typeface="Arial"/>
              </a:rPr>
              <a:t>i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99860" y="4251422"/>
            <a:ext cx="47815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20675" algn="l"/>
              </a:tabLst>
            </a:pPr>
            <a:r>
              <a:rPr dirty="0" sz="1450" spc="25" i="1">
                <a:latin typeface="Century Gothic"/>
                <a:cs typeface="Century Gothic"/>
              </a:rPr>
              <a:t>k</a:t>
            </a:r>
            <a:r>
              <a:rPr dirty="0" sz="1450" spc="25" i="1">
                <a:latin typeface="Century Gothic"/>
                <a:cs typeface="Century Gothic"/>
              </a:rPr>
              <a:t>	</a:t>
            </a:r>
            <a:r>
              <a:rPr dirty="0" sz="1450" spc="-15">
                <a:latin typeface="Lucida Sans Unicode"/>
                <a:cs typeface="Lucida Sans Unicode"/>
              </a:rPr>
              <a:t>=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72712" y="4074753"/>
            <a:ext cx="143510" cy="1816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200" i="1"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04285" y="4074757"/>
            <a:ext cx="29400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1140">
                <a:latin typeface="Arial"/>
                <a:cs typeface="Arial"/>
              </a:rPr>
              <a:t>X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9922" y="4526598"/>
            <a:ext cx="283210" cy="1816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310" i="1">
                <a:latin typeface="Arial"/>
                <a:cs typeface="Arial"/>
              </a:rPr>
              <a:t>j</a:t>
            </a:r>
            <a:r>
              <a:rPr dirty="0" sz="1000" spc="5">
                <a:latin typeface="Verdana"/>
                <a:cs typeface="Verdana"/>
              </a:rPr>
              <a:t>=1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03879" y="4251422"/>
            <a:ext cx="165100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25" i="1">
                <a:latin typeface="Century Gothic"/>
                <a:cs typeface="Century Gothic"/>
              </a:rPr>
              <a:t>A</a:t>
            </a:r>
            <a:endParaRPr sz="145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43345" y="4335094"/>
            <a:ext cx="139700" cy="1816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225" i="1">
                <a:latin typeface="Arial"/>
                <a:cs typeface="Arial"/>
              </a:rPr>
              <a:t>ij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48640" y="350520"/>
            <a:ext cx="4294632" cy="5547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972744" y="1553509"/>
            <a:ext cx="884555" cy="530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68910">
              <a:lnSpc>
                <a:spcPts val="459"/>
              </a:lnSpc>
            </a:pPr>
            <a:r>
              <a:rPr dirty="0" sz="850" spc="135" i="1">
                <a:latin typeface="Times New Roman"/>
                <a:cs typeface="Times New Roman"/>
              </a:rPr>
              <a:t>N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ts val="2325"/>
              </a:lnSpc>
            </a:pPr>
            <a:r>
              <a:rPr dirty="0" sz="1500" spc="75" i="1">
                <a:latin typeface="Times New Roman"/>
                <a:cs typeface="Times New Roman"/>
              </a:rPr>
              <a:t>k</a:t>
            </a:r>
            <a:r>
              <a:rPr dirty="0" baseline="-26143" sz="1275" spc="112" i="1">
                <a:latin typeface="Times New Roman"/>
                <a:cs typeface="Times New Roman"/>
              </a:rPr>
              <a:t>i </a:t>
            </a:r>
            <a:r>
              <a:rPr dirty="0" sz="1500" spc="175">
                <a:latin typeface="Symbol"/>
                <a:cs typeface="Symbol"/>
              </a:rPr>
              <a:t></a:t>
            </a:r>
            <a:r>
              <a:rPr dirty="0" sz="1500" spc="175">
                <a:latin typeface="Times New Roman"/>
                <a:cs typeface="Times New Roman"/>
              </a:rPr>
              <a:t> </a:t>
            </a:r>
            <a:r>
              <a:rPr dirty="0" baseline="-4938" sz="3375" spc="975">
                <a:latin typeface="Symbol"/>
                <a:cs typeface="Symbol"/>
              </a:rPr>
              <a:t>∑</a:t>
            </a:r>
            <a:r>
              <a:rPr dirty="0" sz="1500" spc="40" i="1">
                <a:latin typeface="Times New Roman"/>
                <a:cs typeface="Times New Roman"/>
              </a:rPr>
              <a:t>A</a:t>
            </a:r>
            <a:r>
              <a:rPr dirty="0" baseline="-26143" sz="1275" spc="75" i="1">
                <a:latin typeface="Times New Roman"/>
                <a:cs typeface="Times New Roman"/>
              </a:rPr>
              <a:t>i</a:t>
            </a:r>
            <a:r>
              <a:rPr dirty="0" baseline="-26143" sz="1275" spc="-75" i="1">
                <a:latin typeface="Times New Roman"/>
                <a:cs typeface="Times New Roman"/>
              </a:rPr>
              <a:t>j</a:t>
            </a:r>
            <a:endParaRPr baseline="-26143" sz="1275">
              <a:latin typeface="Times New Roman"/>
              <a:cs typeface="Times New Roman"/>
            </a:endParaRPr>
          </a:p>
          <a:p>
            <a:pPr algn="ctr" marL="204470">
              <a:lnSpc>
                <a:spcPct val="100000"/>
              </a:lnSpc>
              <a:spcBef>
                <a:spcPts val="280"/>
              </a:spcBef>
            </a:pPr>
            <a:r>
              <a:rPr dirty="0" sz="850" spc="50" i="1">
                <a:latin typeface="Times New Roman"/>
                <a:cs typeface="Times New Roman"/>
              </a:rPr>
              <a:t>j</a:t>
            </a:r>
            <a:r>
              <a:rPr dirty="0" sz="850" spc="-150" i="1">
                <a:latin typeface="Times New Roman"/>
                <a:cs typeface="Times New Roman"/>
              </a:rPr>
              <a:t> </a:t>
            </a:r>
            <a:r>
              <a:rPr dirty="0" sz="850" spc="40">
                <a:latin typeface="Symbol"/>
                <a:cs typeface="Symbol"/>
              </a:rPr>
              <a:t></a:t>
            </a:r>
            <a:r>
              <a:rPr dirty="0" sz="850" spc="40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0805" y="1952220"/>
            <a:ext cx="397510" cy="14319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400" spc="-5" b="1">
                <a:latin typeface="Calibri"/>
                <a:cs typeface="Calibri"/>
              </a:rPr>
              <a:t>U</a:t>
            </a:r>
            <a:r>
              <a:rPr dirty="0" sz="2400" b="1">
                <a:latin typeface="Calibri"/>
                <a:cs typeface="Calibri"/>
              </a:rPr>
              <a:t>nd</a:t>
            </a:r>
            <a:r>
              <a:rPr dirty="0" sz="2400" spc="-5" b="1">
                <a:latin typeface="Calibri"/>
                <a:cs typeface="Calibri"/>
              </a:rPr>
              <a:t>i</a:t>
            </a:r>
            <a:r>
              <a:rPr dirty="0" sz="2400" spc="-30" b="1">
                <a:latin typeface="Calibri"/>
                <a:cs typeface="Calibri"/>
              </a:rPr>
              <a:t>r</a:t>
            </a:r>
            <a:r>
              <a:rPr dirty="0" sz="2400" b="1">
                <a:latin typeface="Calibri"/>
                <a:cs typeface="Calibri"/>
              </a:rPr>
              <a:t>e</a:t>
            </a:r>
            <a:r>
              <a:rPr dirty="0" sz="2400" spc="-5" b="1">
                <a:latin typeface="Calibri"/>
                <a:cs typeface="Calibri"/>
              </a:rPr>
              <a:t>c</a:t>
            </a:r>
            <a:r>
              <a:rPr dirty="0" sz="2400" spc="-25" b="1">
                <a:latin typeface="Calibri"/>
                <a:cs typeface="Calibri"/>
              </a:rPr>
              <a:t>t</a:t>
            </a:r>
            <a:r>
              <a:rPr dirty="0" sz="2400" b="1">
                <a:latin typeface="Calibri"/>
                <a:cs typeface="Calibri"/>
              </a:rPr>
              <a:t>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9101" y="3703609"/>
            <a:ext cx="8648700" cy="93980"/>
          </a:xfrm>
          <a:custGeom>
            <a:avLst/>
            <a:gdLst/>
            <a:ahLst/>
            <a:cxnLst/>
            <a:rect l="l" t="t" r="r" b="b"/>
            <a:pathLst>
              <a:path w="8648700" h="93979">
                <a:moveTo>
                  <a:pt x="0" y="0"/>
                </a:moveTo>
                <a:lnTo>
                  <a:pt x="8648698" y="0"/>
                </a:lnTo>
                <a:lnTo>
                  <a:pt x="8648698" y="93927"/>
                </a:lnTo>
                <a:lnTo>
                  <a:pt x="0" y="93927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846528" y="2073088"/>
            <a:ext cx="280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2700" spc="300" i="1">
                <a:latin typeface="Times New Roman"/>
                <a:cs typeface="Times New Roman"/>
              </a:rPr>
              <a:t>A</a:t>
            </a:r>
            <a:r>
              <a:rPr dirty="0" sz="1050" spc="50" i="1">
                <a:latin typeface="Times New Roman"/>
                <a:cs typeface="Times New Roman"/>
              </a:rPr>
              <a:t>ij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89992" y="1492063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75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12522" y="2177863"/>
            <a:ext cx="163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75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13957" y="1561913"/>
            <a:ext cx="137795" cy="1257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10"/>
              </a:lnSpc>
            </a:pPr>
            <a:r>
              <a:rPr dirty="0" sz="1800" spc="175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r>
              <a:rPr dirty="0" sz="1800" spc="175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r>
              <a:rPr dirty="0" sz="1800" spc="175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r>
              <a:rPr dirty="0" sz="1800" spc="175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98188" y="1470632"/>
            <a:ext cx="2774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0">
                <a:latin typeface="Symbol"/>
                <a:cs typeface="Symbol"/>
              </a:rPr>
              <a:t>⎛</a:t>
            </a:r>
            <a:r>
              <a:rPr dirty="0" baseline="-4629" sz="2700" spc="262">
                <a:latin typeface="Times New Roman"/>
                <a:cs typeface="Times New Roman"/>
              </a:rPr>
              <a:t>0</a:t>
            </a:r>
            <a:endParaRPr baseline="-4629" sz="2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98188" y="2549338"/>
            <a:ext cx="1308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20">
                <a:latin typeface="Symbol"/>
                <a:cs typeface="Symbol"/>
              </a:rPr>
              <a:t>⎝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10888" y="1709699"/>
            <a:ext cx="1417955" cy="528955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>
              <a:lnSpc>
                <a:spcPts val="1455"/>
              </a:lnSpc>
              <a:spcBef>
                <a:spcPts val="1085"/>
              </a:spcBef>
              <a:tabLst>
                <a:tab pos="891540" algn="l"/>
                <a:tab pos="1280160" algn="l"/>
              </a:tabLst>
            </a:pPr>
            <a:r>
              <a:rPr dirty="0" baseline="32407" sz="2700" spc="-525">
                <a:latin typeface="Symbol"/>
                <a:cs typeface="Symbol"/>
              </a:rPr>
              <a:t>⎜</a:t>
            </a:r>
            <a:r>
              <a:rPr dirty="0" sz="1800" spc="17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ts val="1455"/>
              </a:lnSpc>
            </a:pPr>
            <a:r>
              <a:rPr dirty="0" sz="1800" spc="-420">
                <a:latin typeface="Symbol"/>
                <a:cs typeface="Symbol"/>
              </a:rPr>
              <a:t>⎜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03821" y="2015938"/>
            <a:ext cx="3251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90">
                <a:latin typeface="Symbol"/>
                <a:cs typeface="Symbol"/>
              </a:rPr>
              <a:t></a:t>
            </a:r>
            <a:r>
              <a:rPr dirty="0" sz="1800" spc="-204">
                <a:latin typeface="Times New Roman"/>
                <a:cs typeface="Times New Roman"/>
              </a:rPr>
              <a:t> </a:t>
            </a:r>
            <a:r>
              <a:rPr dirty="0" baseline="-35493" sz="2700" spc="-1380">
                <a:latin typeface="Symbol"/>
                <a:cs typeface="Symbol"/>
              </a:rPr>
              <a:t>⎜</a:t>
            </a:r>
            <a:endParaRPr baseline="-35493" sz="27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98188" y="2392175"/>
            <a:ext cx="2774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0">
                <a:latin typeface="Symbol"/>
                <a:cs typeface="Symbol"/>
              </a:rPr>
              <a:t>⎜</a:t>
            </a:r>
            <a:r>
              <a:rPr dirty="0" baseline="-30864" sz="2700" spc="262">
                <a:latin typeface="Times New Roman"/>
                <a:cs typeface="Times New Roman"/>
              </a:rPr>
              <a:t>1</a:t>
            </a:r>
            <a:endParaRPr baseline="-30864" sz="27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78727" y="1470632"/>
            <a:ext cx="26543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980"/>
              </a:lnSpc>
              <a:spcBef>
                <a:spcPts val="100"/>
              </a:spcBef>
            </a:pPr>
            <a:r>
              <a:rPr dirty="0" baseline="-4629" sz="2700" spc="225">
                <a:latin typeface="Times New Roman"/>
                <a:cs typeface="Times New Roman"/>
              </a:rPr>
              <a:t>1</a:t>
            </a:r>
            <a:r>
              <a:rPr dirty="0" sz="1800" spc="-420">
                <a:latin typeface="Symbol"/>
                <a:cs typeface="Symbol"/>
              </a:rPr>
              <a:t>⎞</a:t>
            </a:r>
            <a:endParaRPr sz="1800">
              <a:latin typeface="Symbol"/>
              <a:cs typeface="Symbol"/>
            </a:endParaRPr>
          </a:p>
          <a:p>
            <a:pPr marL="146685">
              <a:lnSpc>
                <a:spcPts val="1980"/>
              </a:lnSpc>
            </a:pPr>
            <a:r>
              <a:rPr dirty="0" sz="1800" spc="-420">
                <a:latin typeface="Symbol"/>
                <a:cs typeface="Symbol"/>
              </a:rPr>
              <a:t>⎟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13069" y="1930213"/>
            <a:ext cx="1308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20">
                <a:latin typeface="Symbol"/>
                <a:cs typeface="Symbol"/>
              </a:rPr>
              <a:t>⎟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89992" y="2109283"/>
            <a:ext cx="654050" cy="7112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  <a:tabLst>
                <a:tab pos="401320" algn="l"/>
              </a:tabLst>
            </a:pPr>
            <a:r>
              <a:rPr dirty="0" sz="1800" spc="175">
                <a:latin typeface="Times New Roman"/>
                <a:cs typeface="Times New Roman"/>
              </a:rPr>
              <a:t>0</a:t>
            </a:r>
            <a:r>
              <a:rPr dirty="0" sz="1800" spc="175">
                <a:latin typeface="Times New Roman"/>
                <a:cs typeface="Times New Roman"/>
              </a:rPr>
              <a:t>	</a:t>
            </a:r>
            <a:r>
              <a:rPr dirty="0" sz="1800" spc="-95">
                <a:latin typeface="Times New Roman"/>
                <a:cs typeface="Times New Roman"/>
              </a:rPr>
              <a:t>1</a:t>
            </a:r>
            <a:r>
              <a:rPr dirty="0" baseline="4629" sz="2700" spc="-1005">
                <a:latin typeface="Symbol"/>
                <a:cs typeface="Symbol"/>
              </a:rPr>
              <a:t>⎟</a:t>
            </a:r>
            <a:endParaRPr baseline="4629" sz="27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401320" algn="l"/>
              </a:tabLst>
            </a:pPr>
            <a:r>
              <a:rPr dirty="0" sz="1800" spc="175">
                <a:latin typeface="Times New Roman"/>
                <a:cs typeface="Times New Roman"/>
              </a:rPr>
              <a:t>1</a:t>
            </a:r>
            <a:r>
              <a:rPr dirty="0" sz="1800" spc="175">
                <a:latin typeface="Times New Roman"/>
                <a:cs typeface="Times New Roman"/>
              </a:rPr>
              <a:t>	</a:t>
            </a:r>
            <a:r>
              <a:rPr dirty="0" sz="1800" spc="-95">
                <a:latin typeface="Times New Roman"/>
                <a:cs typeface="Times New Roman"/>
              </a:rPr>
              <a:t>0</a:t>
            </a:r>
            <a:r>
              <a:rPr dirty="0" baseline="-7716" sz="2700" spc="-1005">
                <a:latin typeface="Symbol"/>
                <a:cs typeface="Symbol"/>
              </a:rPr>
              <a:t>⎠</a:t>
            </a:r>
            <a:endParaRPr baseline="-7716" sz="27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13069" y="2392175"/>
            <a:ext cx="1308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20">
                <a:latin typeface="Symbol"/>
                <a:cs typeface="Symbol"/>
              </a:rPr>
              <a:t>⎟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757928" y="1496567"/>
            <a:ext cx="390144" cy="1438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800600" y="1514288"/>
            <a:ext cx="304800" cy="338455"/>
          </a:xfrm>
          <a:custGeom>
            <a:avLst/>
            <a:gdLst/>
            <a:ahLst/>
            <a:cxnLst/>
            <a:rect l="l" t="t" r="r" b="b"/>
            <a:pathLst>
              <a:path w="304800" h="338455">
                <a:moveTo>
                  <a:pt x="0" y="337916"/>
                </a:moveTo>
                <a:lnTo>
                  <a:pt x="304800" y="337916"/>
                </a:lnTo>
                <a:lnTo>
                  <a:pt x="304800" y="0"/>
                </a:lnTo>
                <a:lnTo>
                  <a:pt x="0" y="0"/>
                </a:lnTo>
                <a:lnTo>
                  <a:pt x="0" y="337916"/>
                </a:lnTo>
                <a:close/>
              </a:path>
            </a:pathLst>
          </a:custGeom>
          <a:solidFill>
            <a:srgbClr val="F0AD00">
              <a:alpha val="2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800600" y="2167305"/>
            <a:ext cx="304800" cy="699770"/>
          </a:xfrm>
          <a:custGeom>
            <a:avLst/>
            <a:gdLst/>
            <a:ahLst/>
            <a:cxnLst/>
            <a:rect l="l" t="t" r="r" b="b"/>
            <a:pathLst>
              <a:path w="304800" h="699769">
                <a:moveTo>
                  <a:pt x="0" y="699532"/>
                </a:moveTo>
                <a:lnTo>
                  <a:pt x="304800" y="699532"/>
                </a:lnTo>
                <a:lnTo>
                  <a:pt x="304800" y="0"/>
                </a:lnTo>
                <a:lnTo>
                  <a:pt x="0" y="0"/>
                </a:lnTo>
                <a:lnTo>
                  <a:pt x="0" y="699532"/>
                </a:lnTo>
                <a:close/>
              </a:path>
            </a:pathLst>
          </a:custGeom>
          <a:solidFill>
            <a:srgbClr val="F0AD00">
              <a:alpha val="2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800600" y="1514288"/>
            <a:ext cx="304800" cy="1352550"/>
          </a:xfrm>
          <a:custGeom>
            <a:avLst/>
            <a:gdLst/>
            <a:ahLst/>
            <a:cxnLst/>
            <a:rect l="l" t="t" r="r" b="b"/>
            <a:pathLst>
              <a:path w="304800" h="1352550">
                <a:moveTo>
                  <a:pt x="0" y="0"/>
                </a:moveTo>
                <a:lnTo>
                  <a:pt x="304800" y="0"/>
                </a:lnTo>
                <a:lnTo>
                  <a:pt x="304800" y="135255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815328" y="1511808"/>
            <a:ext cx="1231392" cy="6492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859587" y="1529438"/>
            <a:ext cx="1143000" cy="561975"/>
          </a:xfrm>
          <a:custGeom>
            <a:avLst/>
            <a:gdLst/>
            <a:ahLst/>
            <a:cxnLst/>
            <a:rect l="l" t="t" r="r" b="b"/>
            <a:pathLst>
              <a:path w="1143000" h="561975">
                <a:moveTo>
                  <a:pt x="0" y="0"/>
                </a:moveTo>
                <a:lnTo>
                  <a:pt x="1143000" y="0"/>
                </a:lnTo>
                <a:lnTo>
                  <a:pt x="1143000" y="561667"/>
                </a:lnTo>
                <a:lnTo>
                  <a:pt x="0" y="561667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2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859587" y="1529438"/>
            <a:ext cx="1143000" cy="561975"/>
          </a:xfrm>
          <a:custGeom>
            <a:avLst/>
            <a:gdLst/>
            <a:ahLst/>
            <a:cxnLst/>
            <a:rect l="l" t="t" r="r" b="b"/>
            <a:pathLst>
              <a:path w="1143000" h="561975">
                <a:moveTo>
                  <a:pt x="0" y="0"/>
                </a:moveTo>
                <a:lnTo>
                  <a:pt x="1143000" y="0"/>
                </a:lnTo>
                <a:lnTo>
                  <a:pt x="1143000" y="561668"/>
                </a:lnTo>
                <a:lnTo>
                  <a:pt x="0" y="561668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7020344" y="2271525"/>
            <a:ext cx="929640" cy="5372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75895">
              <a:lnSpc>
                <a:spcPts val="505"/>
              </a:lnSpc>
            </a:pPr>
            <a:r>
              <a:rPr dirty="0" sz="850" spc="135" i="1">
                <a:latin typeface="Times New Roman"/>
                <a:cs typeface="Times New Roman"/>
              </a:rPr>
              <a:t>N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ts val="2375"/>
              </a:lnSpc>
            </a:pPr>
            <a:r>
              <a:rPr dirty="0" sz="1500" spc="135" i="1">
                <a:latin typeface="Times New Roman"/>
                <a:cs typeface="Times New Roman"/>
              </a:rPr>
              <a:t>k </a:t>
            </a:r>
            <a:r>
              <a:rPr dirty="0" baseline="-26143" sz="1275" spc="75" i="1">
                <a:latin typeface="Times New Roman"/>
                <a:cs typeface="Times New Roman"/>
              </a:rPr>
              <a:t>j </a:t>
            </a:r>
            <a:r>
              <a:rPr dirty="0" sz="1500" spc="175">
                <a:latin typeface="Symbol"/>
                <a:cs typeface="Symbol"/>
              </a:rPr>
              <a:t></a:t>
            </a:r>
            <a:r>
              <a:rPr dirty="0" sz="1500" spc="175">
                <a:latin typeface="Times New Roman"/>
                <a:cs typeface="Times New Roman"/>
              </a:rPr>
              <a:t> </a:t>
            </a:r>
            <a:r>
              <a:rPr dirty="0" baseline="-3703" sz="3375" spc="712">
                <a:latin typeface="Symbol"/>
                <a:cs typeface="Symbol"/>
              </a:rPr>
              <a:t>∑</a:t>
            </a:r>
            <a:r>
              <a:rPr dirty="0" baseline="-3703" sz="3375" spc="712">
                <a:latin typeface="Times New Roman"/>
                <a:cs typeface="Times New Roman"/>
              </a:rPr>
              <a:t> </a:t>
            </a:r>
            <a:r>
              <a:rPr dirty="0" sz="1500" spc="0" i="1">
                <a:latin typeface="Times New Roman"/>
                <a:cs typeface="Times New Roman"/>
              </a:rPr>
              <a:t>A</a:t>
            </a:r>
            <a:r>
              <a:rPr dirty="0" baseline="-26143" sz="1275" spc="0" i="1">
                <a:latin typeface="Times New Roman"/>
                <a:cs typeface="Times New Roman"/>
              </a:rPr>
              <a:t>ij</a:t>
            </a:r>
            <a:endParaRPr baseline="-26143" sz="1275">
              <a:latin typeface="Times New Roman"/>
              <a:cs typeface="Times New Roman"/>
            </a:endParaRPr>
          </a:p>
          <a:p>
            <a:pPr algn="ctr" marL="201930">
              <a:lnSpc>
                <a:spcPct val="100000"/>
              </a:lnSpc>
              <a:spcBef>
                <a:spcPts val="244"/>
              </a:spcBef>
            </a:pPr>
            <a:r>
              <a:rPr dirty="0" sz="850" spc="100" i="1">
                <a:latin typeface="Times New Roman"/>
                <a:cs typeface="Times New Roman"/>
              </a:rPr>
              <a:t>i</a:t>
            </a:r>
            <a:r>
              <a:rPr dirty="0" sz="850" spc="100">
                <a:latin typeface="Symbol"/>
                <a:cs typeface="Symbol"/>
              </a:rPr>
              <a:t></a:t>
            </a:r>
            <a:r>
              <a:rPr dirty="0" sz="850" spc="100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376928" y="1834895"/>
            <a:ext cx="1542288" cy="4023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419600" y="1852204"/>
            <a:ext cx="1456055" cy="315595"/>
          </a:xfrm>
          <a:custGeom>
            <a:avLst/>
            <a:gdLst/>
            <a:ahLst/>
            <a:cxnLst/>
            <a:rect l="l" t="t" r="r" b="b"/>
            <a:pathLst>
              <a:path w="1456054" h="315594">
                <a:moveTo>
                  <a:pt x="0" y="0"/>
                </a:moveTo>
                <a:lnTo>
                  <a:pt x="1455736" y="0"/>
                </a:lnTo>
                <a:lnTo>
                  <a:pt x="1455736" y="315100"/>
                </a:lnTo>
                <a:lnTo>
                  <a:pt x="0" y="315100"/>
                </a:lnTo>
                <a:lnTo>
                  <a:pt x="0" y="0"/>
                </a:lnTo>
                <a:close/>
              </a:path>
            </a:pathLst>
          </a:custGeom>
          <a:solidFill>
            <a:srgbClr val="DD9191">
              <a:alpha val="2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419600" y="1852204"/>
            <a:ext cx="1456055" cy="315595"/>
          </a:xfrm>
          <a:custGeom>
            <a:avLst/>
            <a:gdLst/>
            <a:ahLst/>
            <a:cxnLst/>
            <a:rect l="l" t="t" r="r" b="b"/>
            <a:pathLst>
              <a:path w="1456054" h="315594">
                <a:moveTo>
                  <a:pt x="0" y="0"/>
                </a:moveTo>
                <a:lnTo>
                  <a:pt x="1455737" y="0"/>
                </a:lnTo>
                <a:lnTo>
                  <a:pt x="1455737" y="315101"/>
                </a:lnTo>
                <a:lnTo>
                  <a:pt x="0" y="315101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815328" y="2273807"/>
            <a:ext cx="1228344" cy="6492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858000" y="2291438"/>
            <a:ext cx="1143000" cy="561975"/>
          </a:xfrm>
          <a:custGeom>
            <a:avLst/>
            <a:gdLst/>
            <a:ahLst/>
            <a:cxnLst/>
            <a:rect l="l" t="t" r="r" b="b"/>
            <a:pathLst>
              <a:path w="1143000" h="561975">
                <a:moveTo>
                  <a:pt x="0" y="0"/>
                </a:moveTo>
                <a:lnTo>
                  <a:pt x="1143000" y="0"/>
                </a:lnTo>
                <a:lnTo>
                  <a:pt x="1143000" y="561667"/>
                </a:lnTo>
                <a:lnTo>
                  <a:pt x="0" y="561667"/>
                </a:lnTo>
                <a:lnTo>
                  <a:pt x="0" y="0"/>
                </a:lnTo>
                <a:close/>
              </a:path>
            </a:pathLst>
          </a:custGeom>
          <a:solidFill>
            <a:srgbClr val="DD9191">
              <a:alpha val="2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858000" y="2291438"/>
            <a:ext cx="1143000" cy="561975"/>
          </a:xfrm>
          <a:custGeom>
            <a:avLst/>
            <a:gdLst/>
            <a:ahLst/>
            <a:cxnLst/>
            <a:rect l="l" t="t" r="r" b="b"/>
            <a:pathLst>
              <a:path w="1143000" h="561975">
                <a:moveTo>
                  <a:pt x="0" y="0"/>
                </a:moveTo>
                <a:lnTo>
                  <a:pt x="1143000" y="0"/>
                </a:lnTo>
                <a:lnTo>
                  <a:pt x="1143000" y="561668"/>
                </a:lnTo>
                <a:lnTo>
                  <a:pt x="0" y="561668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6996203" y="3082896"/>
            <a:ext cx="126364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135" u="sng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96203" y="3364182"/>
            <a:ext cx="352425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17094" sz="1950" spc="202">
                <a:latin typeface="Times New Roman"/>
                <a:cs typeface="Times New Roman"/>
              </a:rPr>
              <a:t>2</a:t>
            </a:r>
            <a:r>
              <a:rPr dirty="0" baseline="17094" sz="1950" spc="157">
                <a:latin typeface="Times New Roman"/>
                <a:cs typeface="Times New Roman"/>
              </a:rPr>
              <a:t> </a:t>
            </a:r>
            <a:r>
              <a:rPr dirty="0" sz="750" spc="75" i="1">
                <a:latin typeface="Times New Roman"/>
                <a:cs typeface="Times New Roman"/>
              </a:rPr>
              <a:t>i</a:t>
            </a:r>
            <a:r>
              <a:rPr dirty="0" sz="750" spc="75">
                <a:latin typeface="Symbol"/>
                <a:cs typeface="Symbol"/>
              </a:rPr>
              <a:t></a:t>
            </a:r>
            <a:r>
              <a:rPr dirty="0" sz="750" spc="75"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192958" y="3069005"/>
            <a:ext cx="104139" cy="142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110" i="1">
                <a:latin typeface="Times New Roman"/>
                <a:cs typeface="Times New Roman"/>
              </a:rPr>
              <a:t>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661302" y="3110677"/>
            <a:ext cx="855980" cy="3257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81330" algn="l"/>
              </a:tabLst>
            </a:pPr>
            <a:r>
              <a:rPr dirty="0" sz="1300" spc="150" i="1">
                <a:latin typeface="Times New Roman"/>
                <a:cs typeface="Times New Roman"/>
              </a:rPr>
              <a:t>L</a:t>
            </a:r>
            <a:r>
              <a:rPr dirty="0" sz="1300" spc="105" i="1">
                <a:latin typeface="Times New Roman"/>
                <a:cs typeface="Times New Roman"/>
              </a:rPr>
              <a:t> </a:t>
            </a:r>
            <a:r>
              <a:rPr dirty="0" sz="1300" spc="150">
                <a:latin typeface="Symbol"/>
                <a:cs typeface="Symbol"/>
              </a:rPr>
              <a:t>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baseline="-4273" sz="2925" spc="675">
                <a:latin typeface="Symbol"/>
                <a:cs typeface="Symbol"/>
              </a:rPr>
              <a:t></a:t>
            </a:r>
            <a:r>
              <a:rPr dirty="0" sz="1300" spc="155" i="1">
                <a:latin typeface="Times New Roman"/>
                <a:cs typeface="Times New Roman"/>
              </a:rPr>
              <a:t>k</a:t>
            </a:r>
            <a:r>
              <a:rPr dirty="0" baseline="-25925" sz="1125" spc="60" i="1">
                <a:latin typeface="Times New Roman"/>
                <a:cs typeface="Times New Roman"/>
              </a:rPr>
              <a:t>i</a:t>
            </a:r>
            <a:endParaRPr baseline="-25925" sz="1125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92747" y="3194021"/>
            <a:ext cx="135890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150">
                <a:latin typeface="Symbol"/>
                <a:cs typeface="Symbol"/>
              </a:rPr>
              <a:t>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760197" y="3050253"/>
            <a:ext cx="126364" cy="49085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300" spc="135" u="sng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300" spc="135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956952" y="3069005"/>
            <a:ext cx="104139" cy="142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110" i="1">
                <a:latin typeface="Times New Roman"/>
                <a:cs typeface="Times New Roman"/>
              </a:rPr>
              <a:t>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894158" y="3152349"/>
            <a:ext cx="455295" cy="4235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2275"/>
              </a:lnSpc>
              <a:spcBef>
                <a:spcPts val="114"/>
              </a:spcBef>
            </a:pPr>
            <a:r>
              <a:rPr dirty="0" baseline="5698" sz="2925" spc="450">
                <a:latin typeface="Symbol"/>
                <a:cs typeface="Symbol"/>
              </a:rPr>
              <a:t></a:t>
            </a:r>
            <a:r>
              <a:rPr dirty="0" baseline="5698" sz="2925" spc="-547">
                <a:latin typeface="Times New Roman"/>
                <a:cs typeface="Times New Roman"/>
              </a:rPr>
              <a:t> </a:t>
            </a:r>
            <a:r>
              <a:rPr dirty="0" baseline="14957" sz="1950" spc="112" i="1">
                <a:latin typeface="Times New Roman"/>
                <a:cs typeface="Times New Roman"/>
              </a:rPr>
              <a:t>A</a:t>
            </a:r>
            <a:r>
              <a:rPr dirty="0" sz="750" spc="75" i="1">
                <a:latin typeface="Times New Roman"/>
                <a:cs typeface="Times New Roman"/>
              </a:rPr>
              <a:t>ij</a:t>
            </a:r>
            <a:endParaRPr sz="750">
              <a:latin typeface="Times New Roman"/>
              <a:cs typeface="Times New Roman"/>
            </a:endParaRPr>
          </a:p>
          <a:p>
            <a:pPr marL="83820">
              <a:lnSpc>
                <a:spcPts val="835"/>
              </a:lnSpc>
            </a:pPr>
            <a:r>
              <a:rPr dirty="0" sz="750" spc="35" i="1">
                <a:latin typeface="Times New Roman"/>
                <a:cs typeface="Times New Roman"/>
              </a:rPr>
              <a:t>ij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50806" y="4560136"/>
            <a:ext cx="397510" cy="109791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400" spc="-5" b="1">
                <a:latin typeface="Calibri"/>
                <a:cs typeface="Calibri"/>
              </a:rPr>
              <a:t>Di</a:t>
            </a:r>
            <a:r>
              <a:rPr dirty="0" sz="2400" spc="-30" b="1">
                <a:latin typeface="Calibri"/>
                <a:cs typeface="Calibri"/>
              </a:rPr>
              <a:t>r</a:t>
            </a:r>
            <a:r>
              <a:rPr dirty="0" sz="2400" b="1">
                <a:latin typeface="Calibri"/>
                <a:cs typeface="Calibri"/>
              </a:rPr>
              <a:t>e</a:t>
            </a:r>
            <a:r>
              <a:rPr dirty="0" sz="2400" spc="-10" b="1">
                <a:latin typeface="Calibri"/>
                <a:cs typeface="Calibri"/>
              </a:rPr>
              <a:t>c</a:t>
            </a:r>
            <a:r>
              <a:rPr dirty="0" sz="2400" spc="-30" b="1">
                <a:latin typeface="Calibri"/>
                <a:cs typeface="Calibri"/>
              </a:rPr>
              <a:t>t</a:t>
            </a:r>
            <a:r>
              <a:rPr dirty="0" sz="2400" b="1">
                <a:latin typeface="Calibri"/>
                <a:cs typeface="Calibri"/>
              </a:rPr>
              <a:t>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933661" y="4866144"/>
            <a:ext cx="1101090" cy="5816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60400">
              <a:lnSpc>
                <a:spcPts val="490"/>
              </a:lnSpc>
            </a:pPr>
            <a:r>
              <a:rPr dirty="0" sz="950" spc="125" i="1">
                <a:latin typeface="Times New Roman"/>
                <a:cs typeface="Times New Roman"/>
              </a:rPr>
              <a:t>N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ts val="935"/>
              </a:lnSpc>
              <a:tabLst>
                <a:tab pos="396875" algn="l"/>
              </a:tabLst>
            </a:pPr>
            <a:r>
              <a:rPr dirty="0" sz="1650" spc="175" i="1">
                <a:latin typeface="Times New Roman"/>
                <a:cs typeface="Times New Roman"/>
              </a:rPr>
              <a:t>k</a:t>
            </a:r>
            <a:r>
              <a:rPr dirty="0" baseline="-23391" sz="1425" spc="262" i="1">
                <a:latin typeface="Times New Roman"/>
                <a:cs typeface="Times New Roman"/>
              </a:rPr>
              <a:t>j	</a:t>
            </a:r>
            <a:r>
              <a:rPr dirty="0" sz="1650" spc="180">
                <a:latin typeface="Symbol"/>
                <a:cs typeface="Symbol"/>
              </a:rPr>
              <a:t></a:t>
            </a:r>
            <a:r>
              <a:rPr dirty="0" sz="1650" spc="180">
                <a:latin typeface="Times New Roman"/>
                <a:cs typeface="Times New Roman"/>
              </a:rPr>
              <a:t> </a:t>
            </a:r>
            <a:r>
              <a:rPr dirty="0" baseline="-6802" sz="3675" spc="1102">
                <a:latin typeface="Symbol"/>
                <a:cs typeface="Symbol"/>
              </a:rPr>
              <a:t>∑</a:t>
            </a:r>
            <a:r>
              <a:rPr dirty="0" sz="1650" spc="-85" i="1">
                <a:latin typeface="Times New Roman"/>
                <a:cs typeface="Times New Roman"/>
              </a:rPr>
              <a:t>A</a:t>
            </a:r>
            <a:r>
              <a:rPr dirty="0" baseline="-23391" sz="1425" spc="-217" i="1">
                <a:latin typeface="Times New Roman"/>
                <a:cs typeface="Times New Roman"/>
              </a:rPr>
              <a:t>i</a:t>
            </a:r>
            <a:r>
              <a:rPr dirty="0" baseline="-23391" sz="1425" spc="-209" i="1">
                <a:latin typeface="Times New Roman"/>
                <a:cs typeface="Times New Roman"/>
              </a:rPr>
              <a:t>j</a:t>
            </a:r>
            <a:endParaRPr baseline="-23391" sz="1425">
              <a:latin typeface="Times New Roman"/>
              <a:cs typeface="Times New Roman"/>
            </a:endParaRPr>
          </a:p>
          <a:p>
            <a:pPr marL="131445">
              <a:lnSpc>
                <a:spcPts val="545"/>
              </a:lnSpc>
            </a:pPr>
            <a:r>
              <a:rPr dirty="0" sz="950" spc="80" i="1">
                <a:latin typeface="Times New Roman"/>
                <a:cs typeface="Times New Roman"/>
              </a:rPr>
              <a:t>out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/>
              <a:cs typeface="Times New Roman"/>
            </a:endParaRPr>
          </a:p>
          <a:p>
            <a:pPr marL="624205">
              <a:lnSpc>
                <a:spcPct val="100000"/>
              </a:lnSpc>
            </a:pPr>
            <a:r>
              <a:rPr dirty="0" sz="950" spc="50" i="1">
                <a:latin typeface="Times New Roman"/>
                <a:cs typeface="Times New Roman"/>
              </a:rPr>
              <a:t>i</a:t>
            </a:r>
            <a:r>
              <a:rPr dirty="0" sz="950" spc="50">
                <a:latin typeface="Symbol"/>
                <a:cs typeface="Symbol"/>
              </a:rPr>
              <a:t></a:t>
            </a:r>
            <a:r>
              <a:rPr dirty="0" sz="950" spc="5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502521" y="5776384"/>
            <a:ext cx="58419" cy="142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40" i="1">
                <a:latin typeface="Times New Roman"/>
                <a:cs typeface="Times New Roman"/>
              </a:rPr>
              <a:t>i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517170" y="5660050"/>
            <a:ext cx="116839" cy="142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55" i="1">
                <a:latin typeface="Times New Roman"/>
                <a:cs typeface="Times New Roman"/>
              </a:rPr>
              <a:t>in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207443" y="5911818"/>
            <a:ext cx="184785" cy="142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40" i="1">
                <a:latin typeface="Times New Roman"/>
                <a:cs typeface="Times New Roman"/>
              </a:rPr>
              <a:t>i</a:t>
            </a:r>
            <a:r>
              <a:rPr dirty="0" sz="750" spc="110">
                <a:latin typeface="Symbol"/>
                <a:cs typeface="Symbol"/>
              </a:rPr>
              <a:t></a:t>
            </a:r>
            <a:r>
              <a:rPr dirty="0" sz="750" spc="80"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180573" y="5776384"/>
            <a:ext cx="58419" cy="142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40" i="1">
                <a:latin typeface="Times New Roman"/>
                <a:cs typeface="Times New Roman"/>
              </a:rPr>
              <a:t>j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168016" y="5660050"/>
            <a:ext cx="175260" cy="142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65" i="1">
                <a:latin typeface="Times New Roman"/>
                <a:cs typeface="Times New Roman"/>
              </a:rPr>
              <a:t>out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866660" y="5911818"/>
            <a:ext cx="193040" cy="142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110" i="1">
                <a:latin typeface="Times New Roman"/>
                <a:cs typeface="Times New Roman"/>
              </a:rPr>
              <a:t>j</a:t>
            </a:r>
            <a:r>
              <a:rPr dirty="0" sz="750" spc="105">
                <a:latin typeface="Symbol"/>
                <a:cs typeface="Symbol"/>
              </a:rPr>
              <a:t></a:t>
            </a:r>
            <a:r>
              <a:rPr dirty="0" sz="750" spc="80">
                <a:latin typeface="Times New Roman"/>
                <a:cs typeface="Times New Roman"/>
              </a:rPr>
              <a:t>1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236741" y="5547188"/>
            <a:ext cx="755015" cy="142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62940" algn="l"/>
              </a:tabLst>
            </a:pPr>
            <a:r>
              <a:rPr dirty="0" sz="750" spc="110" i="1">
                <a:latin typeface="Times New Roman"/>
                <a:cs typeface="Times New Roman"/>
              </a:rPr>
              <a:t>N</a:t>
            </a:r>
            <a:r>
              <a:rPr dirty="0" sz="750" spc="110" i="1">
                <a:latin typeface="Times New Roman"/>
                <a:cs typeface="Times New Roman"/>
              </a:rPr>
              <a:t>	</a:t>
            </a:r>
            <a:r>
              <a:rPr dirty="0" sz="750" spc="110" i="1">
                <a:latin typeface="Times New Roman"/>
                <a:cs typeface="Times New Roman"/>
              </a:rPr>
              <a:t>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173959" y="5606224"/>
            <a:ext cx="891540" cy="3257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62940" algn="l"/>
              </a:tabLst>
            </a:pPr>
            <a:r>
              <a:rPr dirty="0" sz="1950" spc="300">
                <a:latin typeface="Symbol"/>
                <a:cs typeface="Symbol"/>
              </a:rPr>
              <a:t></a:t>
            </a:r>
            <a:r>
              <a:rPr dirty="0" sz="1950" spc="300">
                <a:latin typeface="Times New Roman"/>
                <a:cs typeface="Times New Roman"/>
              </a:rPr>
              <a:t>	</a:t>
            </a:r>
            <a:r>
              <a:rPr dirty="0" sz="1950" spc="300">
                <a:latin typeface="Symbol"/>
                <a:cs typeface="Symbol"/>
              </a:rPr>
              <a:t>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864232" y="5665259"/>
            <a:ext cx="2063114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56260" algn="l"/>
                <a:tab pos="822325" algn="l"/>
                <a:tab pos="1207135" algn="l"/>
                <a:tab pos="1533525" algn="l"/>
                <a:tab pos="1927225" algn="l"/>
              </a:tabLst>
            </a:pPr>
            <a:r>
              <a:rPr dirty="0" sz="1300" spc="150" i="1">
                <a:latin typeface="Times New Roman"/>
                <a:cs typeface="Times New Roman"/>
              </a:rPr>
              <a:t>L</a:t>
            </a:r>
            <a:r>
              <a:rPr dirty="0" sz="1300" spc="40" i="1">
                <a:latin typeface="Times New Roman"/>
                <a:cs typeface="Times New Roman"/>
              </a:rPr>
              <a:t> </a:t>
            </a:r>
            <a:r>
              <a:rPr dirty="0" sz="1300" spc="150">
                <a:latin typeface="Symbol"/>
                <a:cs typeface="Symbol"/>
              </a:rPr>
              <a:t>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125" i="1">
                <a:latin typeface="Times New Roman"/>
                <a:cs typeface="Times New Roman"/>
              </a:rPr>
              <a:t>k</a:t>
            </a:r>
            <a:r>
              <a:rPr dirty="0" sz="1300" i="1">
                <a:latin typeface="Times New Roman"/>
                <a:cs typeface="Times New Roman"/>
              </a:rPr>
              <a:t>	</a:t>
            </a:r>
            <a:r>
              <a:rPr dirty="0" sz="1300" spc="150">
                <a:latin typeface="Symbol"/>
                <a:cs typeface="Symbol"/>
              </a:rPr>
              <a:t>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125" i="1">
                <a:latin typeface="Times New Roman"/>
                <a:cs typeface="Times New Roman"/>
              </a:rPr>
              <a:t>k</a:t>
            </a:r>
            <a:r>
              <a:rPr dirty="0" sz="1300" i="1">
                <a:latin typeface="Times New Roman"/>
                <a:cs typeface="Times New Roman"/>
              </a:rPr>
              <a:t>	</a:t>
            </a:r>
            <a:r>
              <a:rPr dirty="0" sz="1300" spc="150">
                <a:latin typeface="Symbol"/>
                <a:cs typeface="Symbol"/>
              </a:rPr>
              <a:t>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165" i="1">
                <a:latin typeface="Times New Roman"/>
                <a:cs typeface="Times New Roman"/>
              </a:rPr>
              <a:t>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900479" y="5776384"/>
            <a:ext cx="90805" cy="142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35" i="1">
                <a:latin typeface="Times New Roman"/>
                <a:cs typeface="Times New Roman"/>
              </a:rPr>
              <a:t>ij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578195" y="5911818"/>
            <a:ext cx="150495" cy="142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40" i="1">
                <a:latin typeface="Times New Roman"/>
                <a:cs typeface="Times New Roman"/>
              </a:rPr>
              <a:t>i</a:t>
            </a:r>
            <a:r>
              <a:rPr dirty="0" sz="750" spc="40">
                <a:latin typeface="Times New Roman"/>
                <a:cs typeface="Times New Roman"/>
              </a:rPr>
              <a:t>,</a:t>
            </a:r>
            <a:r>
              <a:rPr dirty="0" sz="750" spc="-50">
                <a:latin typeface="Times New Roman"/>
                <a:cs typeface="Times New Roman"/>
              </a:rPr>
              <a:t> </a:t>
            </a:r>
            <a:r>
              <a:rPr dirty="0" sz="750" spc="40" i="1">
                <a:latin typeface="Times New Roman"/>
                <a:cs typeface="Times New Roman"/>
              </a:rPr>
              <a:t>j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599123" y="5547188"/>
            <a:ext cx="104139" cy="142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110" i="1">
                <a:latin typeface="Times New Roman"/>
                <a:cs typeface="Times New Roman"/>
              </a:rPr>
              <a:t>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536340" y="5606224"/>
            <a:ext cx="240665" cy="3257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950" spc="300">
                <a:latin typeface="Symbol"/>
                <a:cs typeface="Symbol"/>
              </a:rPr>
              <a:t>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4565903" y="5081015"/>
            <a:ext cx="1542288" cy="44805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610271" y="5098341"/>
            <a:ext cx="1456055" cy="363220"/>
          </a:xfrm>
          <a:custGeom>
            <a:avLst/>
            <a:gdLst/>
            <a:ahLst/>
            <a:cxnLst/>
            <a:rect l="l" t="t" r="r" b="b"/>
            <a:pathLst>
              <a:path w="1456054" h="363220">
                <a:moveTo>
                  <a:pt x="0" y="0"/>
                </a:moveTo>
                <a:lnTo>
                  <a:pt x="1455737" y="0"/>
                </a:lnTo>
                <a:lnTo>
                  <a:pt x="1455737" y="362658"/>
                </a:lnTo>
                <a:lnTo>
                  <a:pt x="0" y="362658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2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610271" y="5098341"/>
            <a:ext cx="1456055" cy="363220"/>
          </a:xfrm>
          <a:custGeom>
            <a:avLst/>
            <a:gdLst/>
            <a:ahLst/>
            <a:cxnLst/>
            <a:rect l="l" t="t" r="r" b="b"/>
            <a:pathLst>
              <a:path w="1456054" h="363220">
                <a:moveTo>
                  <a:pt x="0" y="0"/>
                </a:moveTo>
                <a:lnTo>
                  <a:pt x="1455737" y="0"/>
                </a:lnTo>
                <a:lnTo>
                  <a:pt x="1455737" y="362658"/>
                </a:lnTo>
                <a:lnTo>
                  <a:pt x="0" y="362658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644896" y="4120896"/>
            <a:ext cx="463296" cy="137464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688541" y="4139265"/>
            <a:ext cx="377825" cy="1285875"/>
          </a:xfrm>
          <a:custGeom>
            <a:avLst/>
            <a:gdLst/>
            <a:ahLst/>
            <a:cxnLst/>
            <a:rect l="l" t="t" r="r" b="b"/>
            <a:pathLst>
              <a:path w="377825" h="1285875">
                <a:moveTo>
                  <a:pt x="0" y="0"/>
                </a:moveTo>
                <a:lnTo>
                  <a:pt x="377466" y="0"/>
                </a:lnTo>
                <a:lnTo>
                  <a:pt x="377466" y="1285674"/>
                </a:lnTo>
                <a:lnTo>
                  <a:pt x="0" y="1285674"/>
                </a:lnTo>
                <a:lnTo>
                  <a:pt x="0" y="0"/>
                </a:lnTo>
                <a:close/>
              </a:path>
            </a:pathLst>
          </a:custGeom>
          <a:solidFill>
            <a:srgbClr val="DD9191">
              <a:alpha val="2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688541" y="4139265"/>
            <a:ext cx="377825" cy="1285875"/>
          </a:xfrm>
          <a:custGeom>
            <a:avLst/>
            <a:gdLst/>
            <a:ahLst/>
            <a:cxnLst/>
            <a:rect l="l" t="t" r="r" b="b"/>
            <a:pathLst>
              <a:path w="377825" h="1285875">
                <a:moveTo>
                  <a:pt x="0" y="0"/>
                </a:moveTo>
                <a:lnTo>
                  <a:pt x="377467" y="0"/>
                </a:lnTo>
                <a:lnTo>
                  <a:pt x="377467" y="1285674"/>
                </a:lnTo>
                <a:lnTo>
                  <a:pt x="0" y="1285674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806183" y="4782311"/>
            <a:ext cx="1335024" cy="7284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850084" y="4800600"/>
            <a:ext cx="1248410" cy="642620"/>
          </a:xfrm>
          <a:custGeom>
            <a:avLst/>
            <a:gdLst/>
            <a:ahLst/>
            <a:cxnLst/>
            <a:rect l="l" t="t" r="r" b="b"/>
            <a:pathLst>
              <a:path w="1248409" h="642620">
                <a:moveTo>
                  <a:pt x="0" y="0"/>
                </a:moveTo>
                <a:lnTo>
                  <a:pt x="1248194" y="0"/>
                </a:lnTo>
                <a:lnTo>
                  <a:pt x="1248194" y="642188"/>
                </a:lnTo>
                <a:lnTo>
                  <a:pt x="0" y="642188"/>
                </a:lnTo>
                <a:lnTo>
                  <a:pt x="0" y="0"/>
                </a:lnTo>
                <a:close/>
              </a:path>
            </a:pathLst>
          </a:custGeom>
          <a:solidFill>
            <a:srgbClr val="DD9191">
              <a:alpha val="2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4603586" y="2944063"/>
            <a:ext cx="394970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640"/>
              </a:lnSpc>
              <a:spcBef>
                <a:spcPts val="100"/>
              </a:spcBef>
            </a:pPr>
            <a:r>
              <a:rPr dirty="0" baseline="13888" sz="3300" spc="195" i="1">
                <a:latin typeface="Times New Roman"/>
                <a:cs typeface="Times New Roman"/>
              </a:rPr>
              <a:t>A</a:t>
            </a:r>
            <a:r>
              <a:rPr dirty="0" sz="1250" spc="130" i="1">
                <a:latin typeface="Times New Roman"/>
                <a:cs typeface="Times New Roman"/>
              </a:rPr>
              <a:t>ij</a:t>
            </a:r>
            <a:endParaRPr sz="1250">
              <a:latin typeface="Times New Roman"/>
              <a:cs typeface="Times New Roman"/>
            </a:endParaRPr>
          </a:p>
          <a:p>
            <a:pPr marL="68580">
              <a:lnSpc>
                <a:spcPts val="2640"/>
              </a:lnSpc>
            </a:pPr>
            <a:r>
              <a:rPr dirty="0" baseline="13888" sz="3300" spc="382" i="1">
                <a:latin typeface="Times New Roman"/>
                <a:cs typeface="Times New Roman"/>
              </a:rPr>
              <a:t>A</a:t>
            </a:r>
            <a:r>
              <a:rPr dirty="0" sz="1250" spc="75" i="1">
                <a:latin typeface="Times New Roman"/>
                <a:cs typeface="Times New Roman"/>
              </a:rPr>
              <a:t>ii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043086" y="2874187"/>
            <a:ext cx="66230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640"/>
              </a:lnSpc>
              <a:spcBef>
                <a:spcPts val="100"/>
              </a:spcBef>
            </a:pPr>
            <a:r>
              <a:rPr dirty="0" sz="2200" spc="250">
                <a:latin typeface="Symbol"/>
                <a:cs typeface="Symbol"/>
              </a:rPr>
              <a:t></a:t>
            </a:r>
            <a:r>
              <a:rPr dirty="0" sz="2200" spc="250">
                <a:latin typeface="Times New Roman"/>
                <a:cs typeface="Times New Roman"/>
              </a:rPr>
              <a:t> </a:t>
            </a:r>
            <a:r>
              <a:rPr dirty="0" sz="2200" spc="275" i="1">
                <a:latin typeface="Times New Roman"/>
                <a:cs typeface="Times New Roman"/>
              </a:rPr>
              <a:t>A</a:t>
            </a:r>
            <a:r>
              <a:rPr dirty="0" sz="2200" spc="-375" i="1">
                <a:latin typeface="Times New Roman"/>
                <a:cs typeface="Times New Roman"/>
              </a:rPr>
              <a:t> </a:t>
            </a:r>
            <a:r>
              <a:rPr dirty="0" baseline="-24444" sz="1875" spc="112" i="1">
                <a:latin typeface="Times New Roman"/>
                <a:cs typeface="Times New Roman"/>
              </a:rPr>
              <a:t>ji</a:t>
            </a:r>
            <a:endParaRPr baseline="-24444" sz="1875">
              <a:latin typeface="Times New Roman"/>
              <a:cs typeface="Times New Roman"/>
            </a:endParaRPr>
          </a:p>
          <a:p>
            <a:pPr marL="53975">
              <a:lnSpc>
                <a:spcPts val="2640"/>
              </a:lnSpc>
            </a:pPr>
            <a:r>
              <a:rPr dirty="0" sz="2200" spc="250">
                <a:latin typeface="Symbol"/>
                <a:cs typeface="Symbol"/>
              </a:rPr>
              <a:t></a:t>
            </a:r>
            <a:r>
              <a:rPr dirty="0" sz="2200" spc="-120">
                <a:latin typeface="Times New Roman"/>
                <a:cs typeface="Times New Roman"/>
              </a:rPr>
              <a:t> </a:t>
            </a:r>
            <a:r>
              <a:rPr dirty="0" sz="2200" spc="225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749167" y="5681569"/>
            <a:ext cx="937894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7515" algn="l"/>
              </a:tabLst>
            </a:pPr>
            <a:r>
              <a:rPr dirty="0" sz="2200" spc="275" i="1">
                <a:latin typeface="Times New Roman"/>
                <a:cs typeface="Times New Roman"/>
              </a:rPr>
              <a:t>A	</a:t>
            </a:r>
            <a:r>
              <a:rPr dirty="0" sz="2200" spc="250">
                <a:latin typeface="Symbol"/>
                <a:cs typeface="Symbol"/>
              </a:rPr>
              <a:t></a:t>
            </a:r>
            <a:r>
              <a:rPr dirty="0" sz="2200" spc="100">
                <a:latin typeface="Times New Roman"/>
                <a:cs typeface="Times New Roman"/>
              </a:rPr>
              <a:t> </a:t>
            </a:r>
            <a:r>
              <a:rPr dirty="0" sz="2200" spc="275" i="1"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701406" y="5868100"/>
            <a:ext cx="135255" cy="221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 spc="75" i="1">
                <a:latin typeface="Times New Roman"/>
                <a:cs typeface="Times New Roman"/>
              </a:rPr>
              <a:t>ji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790437" y="5856178"/>
            <a:ext cx="339090" cy="59055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ctr" marL="121285">
              <a:lnSpc>
                <a:spcPct val="100000"/>
              </a:lnSpc>
              <a:spcBef>
                <a:spcPts val="229"/>
              </a:spcBef>
            </a:pPr>
            <a:r>
              <a:rPr dirty="0" sz="1250" spc="75" i="1">
                <a:latin typeface="Times New Roman"/>
                <a:cs typeface="Times New Roman"/>
              </a:rPr>
              <a:t>ij</a:t>
            </a:r>
            <a:endParaRPr sz="12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dirty="0" baseline="13888" sz="3300" spc="382" i="1">
                <a:latin typeface="Times New Roman"/>
                <a:cs typeface="Times New Roman"/>
              </a:rPr>
              <a:t>A</a:t>
            </a:r>
            <a:r>
              <a:rPr dirty="0" sz="1250" spc="75" i="1">
                <a:latin typeface="Times New Roman"/>
                <a:cs typeface="Times New Roman"/>
              </a:rPr>
              <a:t>ii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15571" y="6014357"/>
            <a:ext cx="44704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250">
                <a:latin typeface="Symbol"/>
                <a:cs typeface="Symbol"/>
              </a:rPr>
              <a:t></a:t>
            </a:r>
            <a:r>
              <a:rPr dirty="0" sz="2200" spc="-120">
                <a:latin typeface="Times New Roman"/>
                <a:cs typeface="Times New Roman"/>
              </a:rPr>
              <a:t> </a:t>
            </a:r>
            <a:r>
              <a:rPr dirty="0" sz="2200" spc="225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015323" y="4281101"/>
            <a:ext cx="163830" cy="154305"/>
          </a:xfrm>
          <a:custGeom>
            <a:avLst/>
            <a:gdLst/>
            <a:ahLst/>
            <a:cxnLst/>
            <a:rect l="l" t="t" r="r" b="b"/>
            <a:pathLst>
              <a:path w="163829" h="154304">
                <a:moveTo>
                  <a:pt x="0" y="0"/>
                </a:moveTo>
                <a:lnTo>
                  <a:pt x="163506" y="0"/>
                </a:lnTo>
                <a:lnTo>
                  <a:pt x="163506" y="153887"/>
                </a:lnTo>
                <a:lnTo>
                  <a:pt x="0" y="153887"/>
                </a:lnTo>
                <a:lnTo>
                  <a:pt x="0" y="0"/>
                </a:lnTo>
                <a:close/>
              </a:path>
            </a:pathLst>
          </a:custGeom>
          <a:solidFill>
            <a:srgbClr val="E9D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7002623" y="4267708"/>
            <a:ext cx="1879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latin typeface="Times New Roman"/>
                <a:cs typeface="Times New Roman"/>
              </a:rPr>
              <a:t>out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7062525" y="4978618"/>
            <a:ext cx="227965" cy="154305"/>
          </a:xfrm>
          <a:custGeom>
            <a:avLst/>
            <a:gdLst/>
            <a:ahLst/>
            <a:cxnLst/>
            <a:rect l="l" t="t" r="r" b="b"/>
            <a:pathLst>
              <a:path w="227965" h="154304">
                <a:moveTo>
                  <a:pt x="0" y="0"/>
                </a:moveTo>
                <a:lnTo>
                  <a:pt x="227625" y="0"/>
                </a:lnTo>
                <a:lnTo>
                  <a:pt x="227625" y="153888"/>
                </a:lnTo>
                <a:lnTo>
                  <a:pt x="0" y="153888"/>
                </a:lnTo>
                <a:lnTo>
                  <a:pt x="0" y="0"/>
                </a:lnTo>
                <a:close/>
              </a:path>
            </a:pathLst>
          </a:custGeom>
          <a:solidFill>
            <a:srgbClr val="E4D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6850084" y="4800600"/>
            <a:ext cx="1248410" cy="642620"/>
          </a:xfrm>
          <a:prstGeom prst="rect">
            <a:avLst/>
          </a:prstGeom>
          <a:ln w="6350">
            <a:solidFill>
              <a:srgbClr val="F0AC00"/>
            </a:solidFill>
          </a:ln>
        </p:spPr>
        <p:txBody>
          <a:bodyPr wrap="square" lIns="0" tIns="6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Times New Roman"/>
              <a:cs typeface="Times New Roman"/>
            </a:endParaRPr>
          </a:p>
          <a:p>
            <a:pPr marL="208915">
              <a:lnSpc>
                <a:spcPct val="100000"/>
              </a:lnSpc>
            </a:pPr>
            <a:r>
              <a:rPr dirty="0" sz="1000" spc="-5" i="1">
                <a:latin typeface="Times New Roman"/>
                <a:cs typeface="Times New Roman"/>
              </a:rPr>
              <a:t>in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981704" y="5183263"/>
            <a:ext cx="132080" cy="3022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00" spc="140">
                <a:latin typeface="Symbol"/>
                <a:cs typeface="Symbol"/>
              </a:rPr>
              <a:t>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506714" y="4917727"/>
            <a:ext cx="132080" cy="3022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00" spc="-695">
                <a:latin typeface="Symbol"/>
                <a:cs typeface="Symbol"/>
              </a:rPr>
              <a:t></a:t>
            </a:r>
            <a:r>
              <a:rPr dirty="0" baseline="-29320" sz="2700" spc="209">
                <a:latin typeface="Symbol"/>
                <a:cs typeface="Symbol"/>
              </a:rPr>
              <a:t></a:t>
            </a:r>
            <a:endParaRPr baseline="-29320" sz="2700">
              <a:latin typeface="Symbol"/>
              <a:cs typeface="Symbo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506714" y="4254527"/>
            <a:ext cx="132080" cy="3022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00" spc="140">
                <a:latin typeface="Symbol"/>
                <a:cs typeface="Symbol"/>
              </a:rPr>
              <a:t>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506714" y="5183263"/>
            <a:ext cx="132080" cy="3022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00" spc="140">
                <a:latin typeface="Symbol"/>
                <a:cs typeface="Symbol"/>
              </a:rPr>
              <a:t>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688541" y="5098341"/>
            <a:ext cx="377825" cy="363220"/>
          </a:xfrm>
          <a:prstGeom prst="rect">
            <a:avLst/>
          </a:prstGeom>
          <a:ln w="6350">
            <a:solidFill>
              <a:srgbClr val="F0AC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42240">
              <a:lnSpc>
                <a:spcPts val="830"/>
              </a:lnSpc>
            </a:pPr>
            <a:r>
              <a:rPr dirty="0" baseline="-50925" sz="2700" spc="-667">
                <a:latin typeface="Times New Roman"/>
                <a:cs typeface="Times New Roman"/>
              </a:rPr>
              <a:t>0</a:t>
            </a:r>
            <a:r>
              <a:rPr dirty="0" baseline="-29320" sz="2700" spc="-667">
                <a:latin typeface="Symbol"/>
                <a:cs typeface="Symbol"/>
              </a:rPr>
              <a:t></a:t>
            </a:r>
            <a:r>
              <a:rPr dirty="0" sz="1800" spc="-445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653505" y="5128001"/>
            <a:ext cx="936625" cy="3022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391160" algn="l"/>
                <a:tab pos="784860" algn="l"/>
              </a:tabLst>
            </a:pP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 spc="185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1</a:t>
            </a:r>
            <a:r>
              <a:rPr dirty="0" sz="1800" spc="185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506714" y="4696677"/>
            <a:ext cx="298450" cy="3022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00" spc="140">
                <a:latin typeface="Symbol"/>
                <a:cs typeface="Symbol"/>
              </a:rPr>
              <a:t></a:t>
            </a:r>
            <a:r>
              <a:rPr dirty="0" sz="1800" spc="-335">
                <a:latin typeface="Times New Roman"/>
                <a:cs typeface="Times New Roman"/>
              </a:rPr>
              <a:t> </a:t>
            </a:r>
            <a:r>
              <a:rPr dirty="0" baseline="-20061" sz="2700" spc="277">
                <a:latin typeface="Times New Roman"/>
                <a:cs typeface="Times New Roman"/>
              </a:rPr>
              <a:t>0</a:t>
            </a:r>
            <a:endParaRPr baseline="-20061" sz="27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4506714" y="4089936"/>
            <a:ext cx="1607185" cy="9944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r" marR="5080">
              <a:lnSpc>
                <a:spcPts val="1730"/>
              </a:lnSpc>
              <a:spcBef>
                <a:spcPts val="114"/>
              </a:spcBef>
              <a:tabLst>
                <a:tab pos="527050" algn="l"/>
                <a:tab pos="920750" algn="l"/>
                <a:tab pos="1312545" algn="l"/>
              </a:tabLst>
            </a:pPr>
            <a:r>
              <a:rPr dirty="0" baseline="-4629" sz="2700" spc="209">
                <a:latin typeface="Symbol"/>
                <a:cs typeface="Symbol"/>
              </a:rPr>
              <a:t></a:t>
            </a:r>
            <a:r>
              <a:rPr dirty="0" baseline="-4629" sz="2700" spc="-352">
                <a:latin typeface="Times New Roman"/>
                <a:cs typeface="Times New Roman"/>
              </a:rPr>
              <a:t> 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370">
                <a:latin typeface="Times New Roman"/>
                <a:cs typeface="Times New Roman"/>
              </a:rPr>
              <a:t>1</a:t>
            </a:r>
            <a:r>
              <a:rPr dirty="0" baseline="-4629" sz="2700" spc="209">
                <a:latin typeface="Symbol"/>
                <a:cs typeface="Symbol"/>
              </a:rPr>
              <a:t></a:t>
            </a:r>
            <a:endParaRPr baseline="-4629" sz="2700">
              <a:latin typeface="Symbol"/>
              <a:cs typeface="Symbol"/>
            </a:endParaRPr>
          </a:p>
          <a:p>
            <a:pPr algn="r" marR="5080">
              <a:lnSpc>
                <a:spcPts val="1360"/>
              </a:lnSpc>
            </a:pPr>
            <a:r>
              <a:rPr dirty="0" sz="1800" spc="-155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  <a:p>
            <a:pPr algn="r" marR="5080">
              <a:lnSpc>
                <a:spcPts val="1795"/>
              </a:lnSpc>
              <a:tabLst>
                <a:tab pos="393065" algn="l"/>
                <a:tab pos="786765" algn="l"/>
              </a:tabLst>
            </a:pP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 spc="185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 spc="185">
                <a:latin typeface="Times New Roman"/>
                <a:cs typeface="Times New Roman"/>
              </a:rPr>
              <a:t>	</a:t>
            </a:r>
            <a:r>
              <a:rPr dirty="0" sz="1800" spc="355">
                <a:latin typeface="Times New Roman"/>
                <a:cs typeface="Times New Roman"/>
              </a:rPr>
              <a:t>0</a:t>
            </a:r>
            <a:r>
              <a:rPr dirty="0" baseline="-9259" sz="2700" spc="-165">
                <a:latin typeface="Symbol"/>
                <a:cs typeface="Symbol"/>
              </a:rPr>
              <a:t></a:t>
            </a:r>
            <a:endParaRPr baseline="-9259" sz="2700">
              <a:latin typeface="Symbol"/>
              <a:cs typeface="Symbol"/>
            </a:endParaRPr>
          </a:p>
          <a:p>
            <a:pPr algn="r" marR="5080">
              <a:lnSpc>
                <a:spcPct val="100000"/>
              </a:lnSpc>
              <a:spcBef>
                <a:spcPts val="560"/>
              </a:spcBef>
              <a:tabLst>
                <a:tab pos="393065" algn="l"/>
                <a:tab pos="786765" algn="l"/>
              </a:tabLst>
            </a:pP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 spc="185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 spc="185">
                <a:latin typeface="Times New Roman"/>
                <a:cs typeface="Times New Roman"/>
              </a:rPr>
              <a:t>	</a:t>
            </a:r>
            <a:r>
              <a:rPr dirty="0" sz="1800" spc="355">
                <a:latin typeface="Times New Roman"/>
                <a:cs typeface="Times New Roman"/>
              </a:rPr>
              <a:t>0</a:t>
            </a:r>
            <a:r>
              <a:rPr dirty="0" baseline="20061" sz="2700" spc="-165">
                <a:latin typeface="Symbol"/>
                <a:cs typeface="Symbol"/>
              </a:rPr>
              <a:t></a:t>
            </a:r>
            <a:endParaRPr baseline="20061" sz="2700">
              <a:latin typeface="Symbol"/>
              <a:cs typeface="Symbo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074163" y="4605361"/>
            <a:ext cx="728345" cy="3022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00" spc="225" i="1">
                <a:latin typeface="Times New Roman"/>
                <a:cs typeface="Times New Roman"/>
              </a:rPr>
              <a:t>A</a:t>
            </a:r>
            <a:r>
              <a:rPr dirty="0" sz="1800" spc="-55" i="1">
                <a:latin typeface="Times New Roman"/>
                <a:cs typeface="Times New Roman"/>
              </a:rPr>
              <a:t> </a:t>
            </a:r>
            <a:r>
              <a:rPr dirty="0" sz="1800" spc="200">
                <a:latin typeface="Symbol"/>
                <a:cs typeface="Symbol"/>
              </a:rPr>
              <a:t>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baseline="30864" sz="2700" spc="209">
                <a:latin typeface="Symbol"/>
                <a:cs typeface="Symbol"/>
              </a:rPr>
              <a:t></a:t>
            </a:r>
            <a:r>
              <a:rPr dirty="0" baseline="30864" sz="2700" spc="-405">
                <a:latin typeface="Times New Roman"/>
                <a:cs typeface="Times New Roman"/>
              </a:rPr>
              <a:t> </a:t>
            </a:r>
            <a:r>
              <a:rPr dirty="0" baseline="41666" sz="2700" spc="277">
                <a:latin typeface="Times New Roman"/>
                <a:cs typeface="Times New Roman"/>
              </a:rPr>
              <a:t>1</a:t>
            </a:r>
            <a:endParaRPr baseline="41666" sz="27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1160818" y="1922222"/>
            <a:ext cx="241300" cy="991235"/>
          </a:xfrm>
          <a:custGeom>
            <a:avLst/>
            <a:gdLst/>
            <a:ahLst/>
            <a:cxnLst/>
            <a:rect l="l" t="t" r="r" b="b"/>
            <a:pathLst>
              <a:path w="241300" h="991235">
                <a:moveTo>
                  <a:pt x="241066" y="0"/>
                </a:moveTo>
                <a:lnTo>
                  <a:pt x="0" y="990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1430760" y="1922222"/>
            <a:ext cx="794385" cy="685800"/>
          </a:xfrm>
          <a:custGeom>
            <a:avLst/>
            <a:gdLst/>
            <a:ahLst/>
            <a:cxnLst/>
            <a:rect l="l" t="t" r="r" b="b"/>
            <a:pathLst>
              <a:path w="794385" h="685800">
                <a:moveTo>
                  <a:pt x="0" y="0"/>
                </a:moveTo>
                <a:lnTo>
                  <a:pt x="793866" y="6857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160820" y="2608020"/>
            <a:ext cx="1035050" cy="305435"/>
          </a:xfrm>
          <a:custGeom>
            <a:avLst/>
            <a:gdLst/>
            <a:ahLst/>
            <a:cxnLst/>
            <a:rect l="l" t="t" r="r" b="b"/>
            <a:pathLst>
              <a:path w="1035050" h="305435">
                <a:moveTo>
                  <a:pt x="0" y="304808"/>
                </a:moveTo>
                <a:lnTo>
                  <a:pt x="103493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1440171" y="1895751"/>
            <a:ext cx="1738630" cy="376555"/>
          </a:xfrm>
          <a:custGeom>
            <a:avLst/>
            <a:gdLst/>
            <a:ahLst/>
            <a:cxnLst/>
            <a:rect l="l" t="t" r="r" b="b"/>
            <a:pathLst>
              <a:path w="1738630" h="376555">
                <a:moveTo>
                  <a:pt x="1738160" y="37618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932688" y="2712720"/>
            <a:ext cx="408431" cy="40843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976551" y="2731212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976551" y="2731212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 txBox="1"/>
          <p:nvPr/>
        </p:nvSpPr>
        <p:spPr>
          <a:xfrm>
            <a:off x="1050254" y="27305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1191767" y="1716023"/>
            <a:ext cx="408431" cy="40538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1236796" y="1733278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1" y="210598"/>
                </a:lnTo>
                <a:lnTo>
                  <a:pt x="320039" y="160020"/>
                </a:lnTo>
                <a:lnTo>
                  <a:pt x="311881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1236796" y="1733278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/>
          <p:nvPr/>
        </p:nvSpPr>
        <p:spPr>
          <a:xfrm>
            <a:off x="1307424" y="173380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3020567" y="2103120"/>
            <a:ext cx="405383" cy="40538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3063097" y="212017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3063097" y="212017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2002535" y="2432304"/>
            <a:ext cx="408431" cy="40843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2046490" y="2451185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2046490" y="2451185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 txBox="1"/>
          <p:nvPr/>
        </p:nvSpPr>
        <p:spPr>
          <a:xfrm>
            <a:off x="3149949" y="210870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2129820" y="247446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1285025" y="4775316"/>
            <a:ext cx="247650" cy="844550"/>
          </a:xfrm>
          <a:custGeom>
            <a:avLst/>
            <a:gdLst/>
            <a:ahLst/>
            <a:cxnLst/>
            <a:rect l="l" t="t" r="r" b="b"/>
            <a:pathLst>
              <a:path w="247650" h="844550">
                <a:moveTo>
                  <a:pt x="192084" y="79535"/>
                </a:moveTo>
                <a:lnTo>
                  <a:pt x="0" y="832681"/>
                </a:lnTo>
                <a:lnTo>
                  <a:pt x="4617" y="840460"/>
                </a:lnTo>
                <a:lnTo>
                  <a:pt x="19909" y="844360"/>
                </a:lnTo>
                <a:lnTo>
                  <a:pt x="27688" y="839743"/>
                </a:lnTo>
                <a:lnTo>
                  <a:pt x="219772" y="86597"/>
                </a:lnTo>
                <a:lnTo>
                  <a:pt x="192084" y="79535"/>
                </a:lnTo>
                <a:close/>
              </a:path>
              <a:path w="247650" h="844550">
                <a:moveTo>
                  <a:pt x="238720" y="53427"/>
                </a:moveTo>
                <a:lnTo>
                  <a:pt x="205343" y="53427"/>
                </a:lnTo>
                <a:lnTo>
                  <a:pt x="220635" y="57327"/>
                </a:lnTo>
                <a:lnTo>
                  <a:pt x="225253" y="65107"/>
                </a:lnTo>
                <a:lnTo>
                  <a:pt x="219772" y="86597"/>
                </a:lnTo>
                <a:lnTo>
                  <a:pt x="247460" y="93658"/>
                </a:lnTo>
                <a:lnTo>
                  <a:pt x="238720" y="53427"/>
                </a:lnTo>
                <a:close/>
              </a:path>
              <a:path w="247650" h="844550">
                <a:moveTo>
                  <a:pt x="205343" y="53427"/>
                </a:moveTo>
                <a:lnTo>
                  <a:pt x="197565" y="58045"/>
                </a:lnTo>
                <a:lnTo>
                  <a:pt x="192084" y="79535"/>
                </a:lnTo>
                <a:lnTo>
                  <a:pt x="219772" y="86597"/>
                </a:lnTo>
                <a:lnTo>
                  <a:pt x="225253" y="65107"/>
                </a:lnTo>
                <a:lnTo>
                  <a:pt x="220635" y="57327"/>
                </a:lnTo>
                <a:lnTo>
                  <a:pt x="205343" y="53427"/>
                </a:lnTo>
                <a:close/>
              </a:path>
              <a:path w="247650" h="844550">
                <a:moveTo>
                  <a:pt x="227114" y="0"/>
                </a:moveTo>
                <a:lnTo>
                  <a:pt x="164395" y="72473"/>
                </a:lnTo>
                <a:lnTo>
                  <a:pt x="192084" y="79535"/>
                </a:lnTo>
                <a:lnTo>
                  <a:pt x="197565" y="58045"/>
                </a:lnTo>
                <a:lnTo>
                  <a:pt x="205343" y="53427"/>
                </a:lnTo>
                <a:lnTo>
                  <a:pt x="238720" y="53427"/>
                </a:lnTo>
                <a:lnTo>
                  <a:pt x="2271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1449793" y="5317858"/>
            <a:ext cx="1002665" cy="272415"/>
          </a:xfrm>
          <a:custGeom>
            <a:avLst/>
            <a:gdLst/>
            <a:ahLst/>
            <a:cxnLst/>
            <a:rect l="l" t="t" r="r" b="b"/>
            <a:pathLst>
              <a:path w="1002664" h="272414">
                <a:moveTo>
                  <a:pt x="73503" y="188422"/>
                </a:moveTo>
                <a:lnTo>
                  <a:pt x="0" y="249928"/>
                </a:lnTo>
                <a:lnTo>
                  <a:pt x="93308" y="271827"/>
                </a:lnTo>
                <a:lnTo>
                  <a:pt x="87923" y="249148"/>
                </a:lnTo>
                <a:lnTo>
                  <a:pt x="65129" y="249148"/>
                </a:lnTo>
                <a:lnTo>
                  <a:pt x="57428" y="244402"/>
                </a:lnTo>
                <a:lnTo>
                  <a:pt x="53781" y="229048"/>
                </a:lnTo>
                <a:lnTo>
                  <a:pt x="58527" y="221347"/>
                </a:lnTo>
                <a:lnTo>
                  <a:pt x="80105" y="216223"/>
                </a:lnTo>
                <a:lnTo>
                  <a:pt x="73503" y="188422"/>
                </a:lnTo>
                <a:close/>
              </a:path>
              <a:path w="1002664" h="272414">
                <a:moveTo>
                  <a:pt x="80105" y="216223"/>
                </a:moveTo>
                <a:lnTo>
                  <a:pt x="58527" y="221347"/>
                </a:lnTo>
                <a:lnTo>
                  <a:pt x="53781" y="229048"/>
                </a:lnTo>
                <a:lnTo>
                  <a:pt x="57428" y="244402"/>
                </a:lnTo>
                <a:lnTo>
                  <a:pt x="65129" y="249148"/>
                </a:lnTo>
                <a:lnTo>
                  <a:pt x="86706" y="244025"/>
                </a:lnTo>
                <a:lnTo>
                  <a:pt x="80105" y="216223"/>
                </a:lnTo>
                <a:close/>
              </a:path>
              <a:path w="1002664" h="272414">
                <a:moveTo>
                  <a:pt x="86706" y="244025"/>
                </a:moveTo>
                <a:lnTo>
                  <a:pt x="65129" y="249148"/>
                </a:lnTo>
                <a:lnTo>
                  <a:pt x="87923" y="249148"/>
                </a:lnTo>
                <a:lnTo>
                  <a:pt x="86706" y="244025"/>
                </a:lnTo>
                <a:close/>
              </a:path>
              <a:path w="1002664" h="272414">
                <a:moveTo>
                  <a:pt x="990747" y="0"/>
                </a:moveTo>
                <a:lnTo>
                  <a:pt x="80105" y="216223"/>
                </a:lnTo>
                <a:lnTo>
                  <a:pt x="86706" y="244025"/>
                </a:lnTo>
                <a:lnTo>
                  <a:pt x="997348" y="27801"/>
                </a:lnTo>
                <a:lnTo>
                  <a:pt x="1002094" y="20100"/>
                </a:lnTo>
                <a:lnTo>
                  <a:pt x="998448" y="4745"/>
                </a:lnTo>
                <a:lnTo>
                  <a:pt x="9907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1627357" y="4609574"/>
            <a:ext cx="1405890" cy="373380"/>
          </a:xfrm>
          <a:custGeom>
            <a:avLst/>
            <a:gdLst/>
            <a:ahLst/>
            <a:cxnLst/>
            <a:rect l="l" t="t" r="r" b="b"/>
            <a:pathLst>
              <a:path w="1405889" h="373379">
                <a:moveTo>
                  <a:pt x="1319112" y="345563"/>
                </a:moveTo>
                <a:lnTo>
                  <a:pt x="1312397" y="373338"/>
                </a:lnTo>
                <a:lnTo>
                  <a:pt x="1405794" y="351821"/>
                </a:lnTo>
                <a:lnTo>
                  <a:pt x="1404554" y="350775"/>
                </a:lnTo>
                <a:lnTo>
                  <a:pt x="1340669" y="350775"/>
                </a:lnTo>
                <a:lnTo>
                  <a:pt x="1319112" y="345563"/>
                </a:lnTo>
                <a:close/>
              </a:path>
              <a:path w="1405889" h="373379">
                <a:moveTo>
                  <a:pt x="1325827" y="317788"/>
                </a:moveTo>
                <a:lnTo>
                  <a:pt x="1319112" y="345563"/>
                </a:lnTo>
                <a:lnTo>
                  <a:pt x="1340669" y="350775"/>
                </a:lnTo>
                <a:lnTo>
                  <a:pt x="1348390" y="346061"/>
                </a:lnTo>
                <a:lnTo>
                  <a:pt x="1352099" y="330720"/>
                </a:lnTo>
                <a:lnTo>
                  <a:pt x="1347384" y="323000"/>
                </a:lnTo>
                <a:lnTo>
                  <a:pt x="1325827" y="317788"/>
                </a:lnTo>
                <a:close/>
              </a:path>
              <a:path w="1405889" h="373379">
                <a:moveTo>
                  <a:pt x="1332542" y="290013"/>
                </a:moveTo>
                <a:lnTo>
                  <a:pt x="1325827" y="317788"/>
                </a:lnTo>
                <a:lnTo>
                  <a:pt x="1347384" y="323000"/>
                </a:lnTo>
                <a:lnTo>
                  <a:pt x="1352099" y="330720"/>
                </a:lnTo>
                <a:lnTo>
                  <a:pt x="1348390" y="346061"/>
                </a:lnTo>
                <a:lnTo>
                  <a:pt x="1340669" y="350775"/>
                </a:lnTo>
                <a:lnTo>
                  <a:pt x="1404554" y="350775"/>
                </a:lnTo>
                <a:lnTo>
                  <a:pt x="1332542" y="290013"/>
                </a:lnTo>
                <a:close/>
              </a:path>
              <a:path w="1405889" h="373379">
                <a:moveTo>
                  <a:pt x="11430" y="0"/>
                </a:moveTo>
                <a:lnTo>
                  <a:pt x="3709" y="4714"/>
                </a:lnTo>
                <a:lnTo>
                  <a:pt x="0" y="20053"/>
                </a:lnTo>
                <a:lnTo>
                  <a:pt x="4715" y="27774"/>
                </a:lnTo>
                <a:lnTo>
                  <a:pt x="1319112" y="345563"/>
                </a:lnTo>
                <a:lnTo>
                  <a:pt x="1325827" y="317788"/>
                </a:lnTo>
                <a:lnTo>
                  <a:pt x="114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1091183" y="5431535"/>
            <a:ext cx="408431" cy="40843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1135366" y="545034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20" y="0"/>
                </a:moveTo>
                <a:lnTo>
                  <a:pt x="109441" y="8158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9"/>
                </a:lnTo>
                <a:lnTo>
                  <a:pt x="30874" y="254526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40"/>
                </a:lnTo>
                <a:lnTo>
                  <a:pt x="210599" y="311882"/>
                </a:lnTo>
                <a:lnTo>
                  <a:pt x="254526" y="289165"/>
                </a:lnTo>
                <a:lnTo>
                  <a:pt x="289165" y="254526"/>
                </a:lnTo>
                <a:lnTo>
                  <a:pt x="311882" y="210599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6" y="30874"/>
                </a:lnTo>
                <a:lnTo>
                  <a:pt x="210599" y="8158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1135366" y="545034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 txBox="1"/>
          <p:nvPr/>
        </p:nvSpPr>
        <p:spPr>
          <a:xfrm>
            <a:off x="1209070" y="544931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1353311" y="4434840"/>
            <a:ext cx="405384" cy="40538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1395611" y="445241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1395611" y="445241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 txBox="1"/>
          <p:nvPr/>
        </p:nvSpPr>
        <p:spPr>
          <a:xfrm>
            <a:off x="1466240" y="44526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2965704" y="4806696"/>
            <a:ext cx="408431" cy="40843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3010157" y="4824872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3010157" y="4824872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2161032" y="5151120"/>
            <a:ext cx="408431" cy="40843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2205306" y="5170321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2205306" y="5170321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 txBox="1"/>
          <p:nvPr/>
        </p:nvSpPr>
        <p:spPr>
          <a:xfrm>
            <a:off x="3092197" y="484885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2288636" y="519328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1639119" y="4739025"/>
            <a:ext cx="641985" cy="453390"/>
          </a:xfrm>
          <a:custGeom>
            <a:avLst/>
            <a:gdLst/>
            <a:ahLst/>
            <a:cxnLst/>
            <a:rect l="l" t="t" r="r" b="b"/>
            <a:pathLst>
              <a:path w="641985" h="453389">
                <a:moveTo>
                  <a:pt x="562993" y="415971"/>
                </a:moveTo>
                <a:lnTo>
                  <a:pt x="546619" y="439389"/>
                </a:lnTo>
                <a:lnTo>
                  <a:pt x="641436" y="453386"/>
                </a:lnTo>
                <a:lnTo>
                  <a:pt x="628037" y="428680"/>
                </a:lnTo>
                <a:lnTo>
                  <a:pt x="581169" y="428680"/>
                </a:lnTo>
                <a:lnTo>
                  <a:pt x="562993" y="415971"/>
                </a:lnTo>
                <a:close/>
              </a:path>
              <a:path w="641985" h="453389">
                <a:moveTo>
                  <a:pt x="579368" y="392552"/>
                </a:moveTo>
                <a:lnTo>
                  <a:pt x="562993" y="415971"/>
                </a:lnTo>
                <a:lnTo>
                  <a:pt x="581169" y="428680"/>
                </a:lnTo>
                <a:lnTo>
                  <a:pt x="590077" y="427103"/>
                </a:lnTo>
                <a:lnTo>
                  <a:pt x="599121" y="414169"/>
                </a:lnTo>
                <a:lnTo>
                  <a:pt x="597545" y="405262"/>
                </a:lnTo>
                <a:lnTo>
                  <a:pt x="579368" y="392552"/>
                </a:lnTo>
                <a:close/>
              </a:path>
              <a:path w="641985" h="453389">
                <a:moveTo>
                  <a:pt x="595743" y="369135"/>
                </a:moveTo>
                <a:lnTo>
                  <a:pt x="579368" y="392552"/>
                </a:lnTo>
                <a:lnTo>
                  <a:pt x="597545" y="405262"/>
                </a:lnTo>
                <a:lnTo>
                  <a:pt x="599121" y="414169"/>
                </a:lnTo>
                <a:lnTo>
                  <a:pt x="590077" y="427103"/>
                </a:lnTo>
                <a:lnTo>
                  <a:pt x="581169" y="428680"/>
                </a:lnTo>
                <a:lnTo>
                  <a:pt x="628037" y="428680"/>
                </a:lnTo>
                <a:lnTo>
                  <a:pt x="595743" y="369135"/>
                </a:lnTo>
                <a:close/>
              </a:path>
              <a:path w="641985" h="453389">
                <a:moveTo>
                  <a:pt x="17951" y="0"/>
                </a:moveTo>
                <a:lnTo>
                  <a:pt x="9043" y="1577"/>
                </a:lnTo>
                <a:lnTo>
                  <a:pt x="0" y="14509"/>
                </a:lnTo>
                <a:lnTo>
                  <a:pt x="1577" y="23417"/>
                </a:lnTo>
                <a:lnTo>
                  <a:pt x="562993" y="415971"/>
                </a:lnTo>
                <a:lnTo>
                  <a:pt x="579368" y="392552"/>
                </a:lnTo>
                <a:lnTo>
                  <a:pt x="179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35" name="object 13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136" name="object 136"/>
          <p:cNvSpPr txBox="1"/>
          <p:nvPr/>
        </p:nvSpPr>
        <p:spPr>
          <a:xfrm>
            <a:off x="8700647" y="6699893"/>
            <a:ext cx="1727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68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50520"/>
            <a:ext cx="7446264" cy="5547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905000" y="1295400"/>
            <a:ext cx="5061372" cy="50990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00647" y="6699893"/>
            <a:ext cx="1727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69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4105" y="1188211"/>
            <a:ext cx="7000875" cy="106108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315"/>
              </a:lnSpc>
              <a:spcBef>
                <a:spcPts val="100"/>
              </a:spcBef>
            </a:pPr>
            <a:r>
              <a:rPr dirty="0" spc="-15" b="1">
                <a:solidFill>
                  <a:srgbClr val="000000"/>
                </a:solidFill>
                <a:latin typeface="Calibri"/>
                <a:cs typeface="Calibri"/>
              </a:rPr>
              <a:t>Most </a:t>
            </a:r>
            <a:r>
              <a:rPr dirty="0" spc="-10" b="1">
                <a:solidFill>
                  <a:srgbClr val="000000"/>
                </a:solidFill>
                <a:latin typeface="Calibri"/>
                <a:cs typeface="Calibri"/>
              </a:rPr>
              <a:t>real-world </a:t>
            </a:r>
            <a:r>
              <a:rPr dirty="0" spc="-15" b="1">
                <a:solidFill>
                  <a:srgbClr val="000000"/>
                </a:solidFill>
                <a:latin typeface="Calibri"/>
                <a:cs typeface="Calibri"/>
              </a:rPr>
              <a:t>networks </a:t>
            </a:r>
            <a:r>
              <a:rPr dirty="0" spc="-20" b="1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dirty="0" spc="1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8000FF"/>
                </a:solidFill>
                <a:latin typeface="Calibri"/>
                <a:cs typeface="Calibri"/>
              </a:rPr>
              <a:t>sparse</a:t>
            </a:r>
          </a:p>
          <a:p>
            <a:pPr algn="ctr">
              <a:lnSpc>
                <a:spcPts val="3835"/>
              </a:lnSpc>
              <a:tabLst>
                <a:tab pos="880744" algn="l"/>
              </a:tabLst>
            </a:pP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E &lt;&lt;	E</a:t>
            </a:r>
            <a:r>
              <a:rPr dirty="0" baseline="-18518" sz="3150" b="1">
                <a:solidFill>
                  <a:srgbClr val="0000FF"/>
                </a:solidFill>
                <a:latin typeface="Calibri"/>
                <a:cs typeface="Calibri"/>
              </a:rPr>
              <a:t>max 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(or k &lt;&lt;</a:t>
            </a:r>
            <a:r>
              <a:rPr dirty="0" sz="3200" spc="-5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N-1)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5624" y="5600090"/>
            <a:ext cx="7577455" cy="986155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50"/>
              </a:spcBef>
            </a:pP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Consequence: </a:t>
            </a:r>
            <a:r>
              <a:rPr dirty="0" sz="2800" spc="-5" b="1">
                <a:latin typeface="Calibri"/>
                <a:cs typeface="Calibri"/>
              </a:rPr>
              <a:t>Adjacency </a:t>
            </a:r>
            <a:r>
              <a:rPr dirty="0" sz="2800" spc="-10" b="1">
                <a:latin typeface="Calibri"/>
                <a:cs typeface="Calibri"/>
              </a:rPr>
              <a:t>matrix </a:t>
            </a:r>
            <a:r>
              <a:rPr dirty="0" sz="2800" spc="-5" b="1">
                <a:latin typeface="Calibri"/>
                <a:cs typeface="Calibri"/>
              </a:rPr>
              <a:t>is filled with</a:t>
            </a:r>
            <a:r>
              <a:rPr dirty="0" sz="2800" spc="75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zeros</a:t>
            </a:r>
            <a:r>
              <a:rPr dirty="0" sz="2800" spc="-15">
                <a:latin typeface="Calibri"/>
                <a:cs typeface="Calibri"/>
              </a:rPr>
              <a:t>!</a:t>
            </a:r>
            <a:endParaRPr sz="2800">
              <a:latin typeface="Calibri"/>
              <a:cs typeface="Calibri"/>
            </a:endParaRPr>
          </a:p>
          <a:p>
            <a:pPr algn="ctr" marR="73660">
              <a:lnSpc>
                <a:spcPct val="100000"/>
              </a:lnSpc>
              <a:spcBef>
                <a:spcPts val="750"/>
              </a:spcBef>
            </a:pPr>
            <a:r>
              <a:rPr dirty="0" sz="2000" spc="-5">
                <a:latin typeface="Calibri"/>
                <a:cs typeface="Calibri"/>
              </a:rPr>
              <a:t>(</a:t>
            </a:r>
            <a:r>
              <a:rPr dirty="0" sz="2000" spc="-5" b="1">
                <a:solidFill>
                  <a:srgbClr val="008000"/>
                </a:solidFill>
                <a:latin typeface="Calibri"/>
                <a:cs typeface="Calibri"/>
              </a:rPr>
              <a:t>Density of the </a:t>
            </a:r>
            <a:r>
              <a:rPr dirty="0" sz="2000" spc="-10" b="1">
                <a:solidFill>
                  <a:srgbClr val="008000"/>
                </a:solidFill>
                <a:latin typeface="Calibri"/>
                <a:cs typeface="Calibri"/>
              </a:rPr>
              <a:t>matrix </a:t>
            </a:r>
            <a:r>
              <a:rPr dirty="0" sz="2000" spc="-5" b="1">
                <a:solidFill>
                  <a:srgbClr val="008000"/>
                </a:solidFill>
                <a:latin typeface="Calibri"/>
                <a:cs typeface="Calibri"/>
              </a:rPr>
              <a:t>(</a:t>
            </a:r>
            <a:r>
              <a:rPr dirty="0" sz="2000" spc="-5" b="1" i="1">
                <a:solidFill>
                  <a:srgbClr val="008000"/>
                </a:solidFill>
                <a:latin typeface="Calibri"/>
                <a:cs typeface="Calibri"/>
              </a:rPr>
              <a:t>E/N</a:t>
            </a:r>
            <a:r>
              <a:rPr dirty="0" baseline="25641" sz="1950" spc="-7" b="1" i="1">
                <a:solidFill>
                  <a:srgbClr val="008000"/>
                </a:solidFill>
                <a:latin typeface="Calibri"/>
                <a:cs typeface="Calibri"/>
              </a:rPr>
              <a:t>2</a:t>
            </a:r>
            <a:r>
              <a:rPr dirty="0" sz="2000" spc="-5" b="1">
                <a:solidFill>
                  <a:srgbClr val="008000"/>
                </a:solidFill>
                <a:latin typeface="Calibri"/>
                <a:cs typeface="Calibri"/>
              </a:rPr>
              <a:t>): </a:t>
            </a:r>
            <a:r>
              <a:rPr dirty="0" sz="2000" spc="-5">
                <a:latin typeface="Calibri"/>
                <a:cs typeface="Calibri"/>
              </a:rPr>
              <a:t>WWW=1.51x10</a:t>
            </a:r>
            <a:r>
              <a:rPr dirty="0" baseline="25641" sz="1950" spc="-7">
                <a:latin typeface="Calibri"/>
                <a:cs typeface="Calibri"/>
              </a:rPr>
              <a:t>-5</a:t>
            </a:r>
            <a:r>
              <a:rPr dirty="0" sz="2000" spc="-5">
                <a:latin typeface="Calibri"/>
                <a:cs typeface="Calibri"/>
              </a:rPr>
              <a:t>, </a:t>
            </a:r>
            <a:r>
              <a:rPr dirty="0" sz="2000">
                <a:latin typeface="Calibri"/>
                <a:cs typeface="Calibri"/>
              </a:rPr>
              <a:t>MSN </a:t>
            </a:r>
            <a:r>
              <a:rPr dirty="0" sz="2000" spc="-5">
                <a:latin typeface="Calibri"/>
                <a:cs typeface="Calibri"/>
              </a:rPr>
              <a:t>IM </a:t>
            </a:r>
            <a:r>
              <a:rPr dirty="0" sz="2000">
                <a:latin typeface="Calibri"/>
                <a:cs typeface="Calibri"/>
              </a:rPr>
              <a:t>=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2.27x10</a:t>
            </a:r>
            <a:r>
              <a:rPr dirty="0" baseline="25641" sz="1950" spc="-7">
                <a:latin typeface="Calibri"/>
                <a:cs typeface="Calibri"/>
              </a:rPr>
              <a:t>-8</a:t>
            </a:r>
            <a:r>
              <a:rPr dirty="0" sz="2000" spc="-5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5216" y="350520"/>
            <a:ext cx="6891528" cy="548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91271" y="2549424"/>
            <a:ext cx="8352727" cy="29611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26047" y="6723724"/>
            <a:ext cx="13398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70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015" y="347472"/>
            <a:ext cx="74980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3633" y="1324356"/>
            <a:ext cx="60693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000000"/>
                </a:solidFill>
                <a:latin typeface="Calibri"/>
                <a:cs typeface="Calibri"/>
              </a:rPr>
              <a:t>Represent graph </a:t>
            </a:r>
            <a:r>
              <a:rPr dirty="0" sz="3200" spc="-5" b="1">
                <a:solidFill>
                  <a:srgbClr val="000000"/>
                </a:solidFill>
                <a:latin typeface="Calibri"/>
                <a:cs typeface="Calibri"/>
              </a:rPr>
              <a:t>as </a:t>
            </a:r>
            <a:r>
              <a:rPr dirty="0" sz="3200" b="1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list </a:t>
            </a:r>
            <a:r>
              <a:rPr dirty="0" sz="3200" b="1">
                <a:solidFill>
                  <a:srgbClr val="60B5CC"/>
                </a:solidFill>
                <a:latin typeface="Calibri"/>
                <a:cs typeface="Calibri"/>
              </a:rPr>
              <a:t>of</a:t>
            </a:r>
            <a:r>
              <a:rPr dirty="0" sz="3200" spc="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edges</a:t>
            </a:r>
            <a:r>
              <a:rPr dirty="0" sz="3200" spc="-10" b="1">
                <a:solidFill>
                  <a:srgbClr val="000000"/>
                </a:solidFill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088" y="1801876"/>
            <a:ext cx="1047750" cy="1068070"/>
          </a:xfrm>
          <a:prstGeom prst="rect">
            <a:avLst/>
          </a:prstGeom>
        </p:spPr>
        <p:txBody>
          <a:bodyPr wrap="square" lIns="0" tIns="1073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(2,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300">
                <a:latin typeface="Calibri"/>
                <a:cs typeface="Calibri"/>
              </a:rPr>
              <a:t>3)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(2,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300">
                <a:latin typeface="Calibri"/>
                <a:cs typeface="Calibri"/>
              </a:rPr>
              <a:t>4)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2088" y="2847339"/>
            <a:ext cx="1047750" cy="257683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(3,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300">
                <a:latin typeface="Calibri"/>
                <a:cs typeface="Calibri"/>
              </a:rPr>
              <a:t>2)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(3,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300">
                <a:latin typeface="Calibri"/>
                <a:cs typeface="Calibri"/>
              </a:rPr>
              <a:t>4)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(4,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300">
                <a:latin typeface="Calibri"/>
                <a:cs typeface="Calibri"/>
              </a:rPr>
              <a:t>5)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(5,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300">
                <a:latin typeface="Calibri"/>
                <a:cs typeface="Calibri"/>
              </a:rPr>
              <a:t>2)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(5,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300">
                <a:latin typeface="Calibri"/>
                <a:cs typeface="Calibri"/>
              </a:rPr>
              <a:t>1)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52212" y="3347876"/>
            <a:ext cx="321310" cy="781685"/>
          </a:xfrm>
          <a:custGeom>
            <a:avLst/>
            <a:gdLst/>
            <a:ahLst/>
            <a:cxnLst/>
            <a:rect l="l" t="t" r="r" b="b"/>
            <a:pathLst>
              <a:path w="321310" h="781685">
                <a:moveTo>
                  <a:pt x="53316" y="74829"/>
                </a:moveTo>
                <a:lnTo>
                  <a:pt x="26658" y="85118"/>
                </a:lnTo>
                <a:lnTo>
                  <a:pt x="294062" y="777919"/>
                </a:lnTo>
                <a:lnTo>
                  <a:pt x="302333" y="781584"/>
                </a:lnTo>
                <a:lnTo>
                  <a:pt x="317056" y="775901"/>
                </a:lnTo>
                <a:lnTo>
                  <a:pt x="320720" y="767631"/>
                </a:lnTo>
                <a:lnTo>
                  <a:pt x="53316" y="74829"/>
                </a:lnTo>
                <a:close/>
              </a:path>
              <a:path w="321310" h="781685">
                <a:moveTo>
                  <a:pt x="9119" y="0"/>
                </a:moveTo>
                <a:lnTo>
                  <a:pt x="0" y="95408"/>
                </a:lnTo>
                <a:lnTo>
                  <a:pt x="26658" y="85118"/>
                </a:lnTo>
                <a:lnTo>
                  <a:pt x="18672" y="64428"/>
                </a:lnTo>
                <a:lnTo>
                  <a:pt x="22336" y="56156"/>
                </a:lnTo>
                <a:lnTo>
                  <a:pt x="37059" y="50474"/>
                </a:lnTo>
                <a:lnTo>
                  <a:pt x="64533" y="50474"/>
                </a:lnTo>
                <a:lnTo>
                  <a:pt x="9119" y="0"/>
                </a:lnTo>
                <a:close/>
              </a:path>
              <a:path w="321310" h="781685">
                <a:moveTo>
                  <a:pt x="37059" y="50474"/>
                </a:moveTo>
                <a:lnTo>
                  <a:pt x="22336" y="56156"/>
                </a:lnTo>
                <a:lnTo>
                  <a:pt x="18672" y="64428"/>
                </a:lnTo>
                <a:lnTo>
                  <a:pt x="26658" y="85118"/>
                </a:lnTo>
                <a:lnTo>
                  <a:pt x="53316" y="74829"/>
                </a:lnTo>
                <a:lnTo>
                  <a:pt x="45330" y="54138"/>
                </a:lnTo>
                <a:lnTo>
                  <a:pt x="37059" y="50474"/>
                </a:lnTo>
                <a:close/>
              </a:path>
              <a:path w="321310" h="781685">
                <a:moveTo>
                  <a:pt x="64533" y="50474"/>
                </a:moveTo>
                <a:lnTo>
                  <a:pt x="37059" y="50474"/>
                </a:lnTo>
                <a:lnTo>
                  <a:pt x="45330" y="54138"/>
                </a:lnTo>
                <a:lnTo>
                  <a:pt x="53316" y="74829"/>
                </a:lnTo>
                <a:lnTo>
                  <a:pt x="79974" y="64540"/>
                </a:lnTo>
                <a:lnTo>
                  <a:pt x="64533" y="504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39389" y="4112273"/>
            <a:ext cx="1113790" cy="86360"/>
          </a:xfrm>
          <a:custGeom>
            <a:avLst/>
            <a:gdLst/>
            <a:ahLst/>
            <a:cxnLst/>
            <a:rect l="l" t="t" r="r" b="b"/>
            <a:pathLst>
              <a:path w="1113790" h="86360">
                <a:moveTo>
                  <a:pt x="86093" y="28563"/>
                </a:moveTo>
                <a:lnTo>
                  <a:pt x="85287" y="57126"/>
                </a:lnTo>
                <a:lnTo>
                  <a:pt x="1106457" y="85942"/>
                </a:lnTo>
                <a:lnTo>
                  <a:pt x="1113031" y="79728"/>
                </a:lnTo>
                <a:lnTo>
                  <a:pt x="1113476" y="63953"/>
                </a:lnTo>
                <a:lnTo>
                  <a:pt x="1107262" y="57378"/>
                </a:lnTo>
                <a:lnTo>
                  <a:pt x="86093" y="28563"/>
                </a:lnTo>
                <a:close/>
              </a:path>
              <a:path w="1113790" h="86360">
                <a:moveTo>
                  <a:pt x="86899" y="0"/>
                </a:moveTo>
                <a:lnTo>
                  <a:pt x="0" y="40426"/>
                </a:lnTo>
                <a:lnTo>
                  <a:pt x="84481" y="85690"/>
                </a:lnTo>
                <a:lnTo>
                  <a:pt x="85287" y="57126"/>
                </a:lnTo>
                <a:lnTo>
                  <a:pt x="63117" y="56501"/>
                </a:lnTo>
                <a:lnTo>
                  <a:pt x="56904" y="49926"/>
                </a:lnTo>
                <a:lnTo>
                  <a:pt x="57349" y="34151"/>
                </a:lnTo>
                <a:lnTo>
                  <a:pt x="63924" y="27937"/>
                </a:lnTo>
                <a:lnTo>
                  <a:pt x="86111" y="27937"/>
                </a:lnTo>
                <a:lnTo>
                  <a:pt x="86899" y="0"/>
                </a:lnTo>
                <a:close/>
              </a:path>
              <a:path w="1113790" h="86360">
                <a:moveTo>
                  <a:pt x="63924" y="27937"/>
                </a:moveTo>
                <a:lnTo>
                  <a:pt x="57349" y="34151"/>
                </a:lnTo>
                <a:lnTo>
                  <a:pt x="56904" y="49926"/>
                </a:lnTo>
                <a:lnTo>
                  <a:pt x="63117" y="56501"/>
                </a:lnTo>
                <a:lnTo>
                  <a:pt x="85287" y="57126"/>
                </a:lnTo>
                <a:lnTo>
                  <a:pt x="86093" y="28563"/>
                </a:lnTo>
                <a:lnTo>
                  <a:pt x="63924" y="27937"/>
                </a:lnTo>
                <a:close/>
              </a:path>
              <a:path w="1113790" h="86360">
                <a:moveTo>
                  <a:pt x="86111" y="27937"/>
                </a:moveTo>
                <a:lnTo>
                  <a:pt x="63924" y="27937"/>
                </a:lnTo>
                <a:lnTo>
                  <a:pt x="86093" y="28563"/>
                </a:lnTo>
                <a:lnTo>
                  <a:pt x="86111" y="279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86238" y="3106428"/>
            <a:ext cx="541655" cy="1104265"/>
          </a:xfrm>
          <a:custGeom>
            <a:avLst/>
            <a:gdLst/>
            <a:ahLst/>
            <a:cxnLst/>
            <a:rect l="l" t="t" r="r" b="b"/>
            <a:pathLst>
              <a:path w="541654" h="1104264">
                <a:moveTo>
                  <a:pt x="489611" y="71046"/>
                </a:moveTo>
                <a:lnTo>
                  <a:pt x="0" y="1088257"/>
                </a:lnTo>
                <a:lnTo>
                  <a:pt x="2989" y="1096796"/>
                </a:lnTo>
                <a:lnTo>
                  <a:pt x="17209" y="1103640"/>
                </a:lnTo>
                <a:lnTo>
                  <a:pt x="25747" y="1100650"/>
                </a:lnTo>
                <a:lnTo>
                  <a:pt x="515359" y="83439"/>
                </a:lnTo>
                <a:lnTo>
                  <a:pt x="489611" y="71046"/>
                </a:lnTo>
                <a:close/>
              </a:path>
              <a:path w="541654" h="1104264">
                <a:moveTo>
                  <a:pt x="540388" y="48073"/>
                </a:moveTo>
                <a:lnTo>
                  <a:pt x="507768" y="48073"/>
                </a:lnTo>
                <a:lnTo>
                  <a:pt x="521989" y="54917"/>
                </a:lnTo>
                <a:lnTo>
                  <a:pt x="524978" y="63455"/>
                </a:lnTo>
                <a:lnTo>
                  <a:pt x="515359" y="83439"/>
                </a:lnTo>
                <a:lnTo>
                  <a:pt x="541107" y="95832"/>
                </a:lnTo>
                <a:lnTo>
                  <a:pt x="540388" y="48073"/>
                </a:lnTo>
                <a:close/>
              </a:path>
              <a:path w="541654" h="1104264">
                <a:moveTo>
                  <a:pt x="507768" y="48073"/>
                </a:moveTo>
                <a:lnTo>
                  <a:pt x="499230" y="51062"/>
                </a:lnTo>
                <a:lnTo>
                  <a:pt x="489611" y="71046"/>
                </a:lnTo>
                <a:lnTo>
                  <a:pt x="515359" y="83439"/>
                </a:lnTo>
                <a:lnTo>
                  <a:pt x="524978" y="63455"/>
                </a:lnTo>
                <a:lnTo>
                  <a:pt x="521989" y="54917"/>
                </a:lnTo>
                <a:lnTo>
                  <a:pt x="507768" y="48073"/>
                </a:lnTo>
                <a:close/>
              </a:path>
              <a:path w="541654" h="1104264">
                <a:moveTo>
                  <a:pt x="539664" y="0"/>
                </a:moveTo>
                <a:lnTo>
                  <a:pt x="463863" y="58653"/>
                </a:lnTo>
                <a:lnTo>
                  <a:pt x="489611" y="71046"/>
                </a:lnTo>
                <a:lnTo>
                  <a:pt x="499230" y="51062"/>
                </a:lnTo>
                <a:lnTo>
                  <a:pt x="507768" y="48073"/>
                </a:lnTo>
                <a:lnTo>
                  <a:pt x="540388" y="48073"/>
                </a:lnTo>
                <a:lnTo>
                  <a:pt x="5396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19272" y="3221833"/>
            <a:ext cx="596900" cy="825500"/>
          </a:xfrm>
          <a:custGeom>
            <a:avLst/>
            <a:gdLst/>
            <a:ahLst/>
            <a:cxnLst/>
            <a:rect l="l" t="t" r="r" b="b"/>
            <a:pathLst>
              <a:path w="596900" h="825500">
                <a:moveTo>
                  <a:pt x="15130" y="730592"/>
                </a:moveTo>
                <a:lnTo>
                  <a:pt x="0" y="825234"/>
                </a:lnTo>
                <a:lnTo>
                  <a:pt x="79405" y="783391"/>
                </a:lnTo>
                <a:lnTo>
                  <a:pt x="39719" y="783391"/>
                </a:lnTo>
                <a:lnTo>
                  <a:pt x="26896" y="774194"/>
                </a:lnTo>
                <a:lnTo>
                  <a:pt x="25425" y="765268"/>
                </a:lnTo>
                <a:lnTo>
                  <a:pt x="38351" y="747246"/>
                </a:lnTo>
                <a:lnTo>
                  <a:pt x="15130" y="730592"/>
                </a:lnTo>
                <a:close/>
              </a:path>
              <a:path w="596900" h="825500">
                <a:moveTo>
                  <a:pt x="38351" y="747246"/>
                </a:moveTo>
                <a:lnTo>
                  <a:pt x="25425" y="765268"/>
                </a:lnTo>
                <a:lnTo>
                  <a:pt x="26896" y="774194"/>
                </a:lnTo>
                <a:lnTo>
                  <a:pt x="39719" y="783391"/>
                </a:lnTo>
                <a:lnTo>
                  <a:pt x="48646" y="781922"/>
                </a:lnTo>
                <a:lnTo>
                  <a:pt x="61571" y="763900"/>
                </a:lnTo>
                <a:lnTo>
                  <a:pt x="38351" y="747246"/>
                </a:lnTo>
                <a:close/>
              </a:path>
              <a:path w="596900" h="825500">
                <a:moveTo>
                  <a:pt x="61571" y="763900"/>
                </a:moveTo>
                <a:lnTo>
                  <a:pt x="48646" y="781922"/>
                </a:lnTo>
                <a:lnTo>
                  <a:pt x="39719" y="783391"/>
                </a:lnTo>
                <a:lnTo>
                  <a:pt x="79405" y="783391"/>
                </a:lnTo>
                <a:lnTo>
                  <a:pt x="84791" y="780553"/>
                </a:lnTo>
                <a:lnTo>
                  <a:pt x="61571" y="763900"/>
                </a:lnTo>
                <a:close/>
              </a:path>
              <a:path w="596900" h="825500">
                <a:moveTo>
                  <a:pt x="582146" y="0"/>
                </a:moveTo>
                <a:lnTo>
                  <a:pt x="573219" y="1470"/>
                </a:lnTo>
                <a:lnTo>
                  <a:pt x="38351" y="747246"/>
                </a:lnTo>
                <a:lnTo>
                  <a:pt x="61571" y="763900"/>
                </a:lnTo>
                <a:lnTo>
                  <a:pt x="596440" y="18124"/>
                </a:lnTo>
                <a:lnTo>
                  <a:pt x="594970" y="9197"/>
                </a:lnTo>
                <a:lnTo>
                  <a:pt x="5821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27030" y="3015503"/>
            <a:ext cx="520065" cy="1031875"/>
          </a:xfrm>
          <a:custGeom>
            <a:avLst/>
            <a:gdLst/>
            <a:ahLst/>
            <a:cxnLst/>
            <a:rect l="l" t="t" r="r" b="b"/>
            <a:pathLst>
              <a:path w="520064" h="1031875">
                <a:moveTo>
                  <a:pt x="468469" y="961094"/>
                </a:moveTo>
                <a:lnTo>
                  <a:pt x="442865" y="973780"/>
                </a:lnTo>
                <a:lnTo>
                  <a:pt x="519330" y="1031565"/>
                </a:lnTo>
                <a:lnTo>
                  <a:pt x="519504" y="983858"/>
                </a:lnTo>
                <a:lnTo>
                  <a:pt x="486887" y="983858"/>
                </a:lnTo>
                <a:lnTo>
                  <a:pt x="478316" y="980967"/>
                </a:lnTo>
                <a:lnTo>
                  <a:pt x="468469" y="961094"/>
                </a:lnTo>
                <a:close/>
              </a:path>
              <a:path w="520064" h="1031875">
                <a:moveTo>
                  <a:pt x="494074" y="948408"/>
                </a:moveTo>
                <a:lnTo>
                  <a:pt x="468469" y="961094"/>
                </a:lnTo>
                <a:lnTo>
                  <a:pt x="478316" y="980967"/>
                </a:lnTo>
                <a:lnTo>
                  <a:pt x="486887" y="983858"/>
                </a:lnTo>
                <a:lnTo>
                  <a:pt x="501028" y="976852"/>
                </a:lnTo>
                <a:lnTo>
                  <a:pt x="503920" y="968281"/>
                </a:lnTo>
                <a:lnTo>
                  <a:pt x="494074" y="948408"/>
                </a:lnTo>
                <a:close/>
              </a:path>
              <a:path w="520064" h="1031875">
                <a:moveTo>
                  <a:pt x="519678" y="935722"/>
                </a:moveTo>
                <a:lnTo>
                  <a:pt x="494074" y="948408"/>
                </a:lnTo>
                <a:lnTo>
                  <a:pt x="503920" y="968281"/>
                </a:lnTo>
                <a:lnTo>
                  <a:pt x="501028" y="976852"/>
                </a:lnTo>
                <a:lnTo>
                  <a:pt x="486887" y="983858"/>
                </a:lnTo>
                <a:lnTo>
                  <a:pt x="519504" y="983858"/>
                </a:lnTo>
                <a:lnTo>
                  <a:pt x="519678" y="935722"/>
                </a:lnTo>
                <a:close/>
              </a:path>
              <a:path w="520064" h="1031875">
                <a:moveTo>
                  <a:pt x="17033" y="0"/>
                </a:moveTo>
                <a:lnTo>
                  <a:pt x="2891" y="7006"/>
                </a:lnTo>
                <a:lnTo>
                  <a:pt x="0" y="15577"/>
                </a:lnTo>
                <a:lnTo>
                  <a:pt x="468469" y="961094"/>
                </a:lnTo>
                <a:lnTo>
                  <a:pt x="494074" y="948408"/>
                </a:lnTo>
                <a:lnTo>
                  <a:pt x="25604" y="2891"/>
                </a:lnTo>
                <a:lnTo>
                  <a:pt x="170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24144" y="2804160"/>
            <a:ext cx="426720" cy="423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67932" y="2822882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4">
                <a:moveTo>
                  <a:pt x="169100" y="0"/>
                </a:moveTo>
                <a:lnTo>
                  <a:pt x="124146" y="5974"/>
                </a:lnTo>
                <a:lnTo>
                  <a:pt x="83752" y="22834"/>
                </a:lnTo>
                <a:lnTo>
                  <a:pt x="49528" y="48987"/>
                </a:lnTo>
                <a:lnTo>
                  <a:pt x="23087" y="82837"/>
                </a:lnTo>
                <a:lnTo>
                  <a:pt x="6040" y="122790"/>
                </a:lnTo>
                <a:lnTo>
                  <a:pt x="0" y="167252"/>
                </a:lnTo>
                <a:lnTo>
                  <a:pt x="6040" y="211714"/>
                </a:lnTo>
                <a:lnTo>
                  <a:pt x="23087" y="251667"/>
                </a:lnTo>
                <a:lnTo>
                  <a:pt x="49528" y="285517"/>
                </a:lnTo>
                <a:lnTo>
                  <a:pt x="83752" y="311669"/>
                </a:lnTo>
                <a:lnTo>
                  <a:pt x="124146" y="328529"/>
                </a:lnTo>
                <a:lnTo>
                  <a:pt x="169100" y="334504"/>
                </a:lnTo>
                <a:lnTo>
                  <a:pt x="214053" y="328529"/>
                </a:lnTo>
                <a:lnTo>
                  <a:pt x="254448" y="311669"/>
                </a:lnTo>
                <a:lnTo>
                  <a:pt x="288672" y="285517"/>
                </a:lnTo>
                <a:lnTo>
                  <a:pt x="315113" y="251667"/>
                </a:lnTo>
                <a:lnTo>
                  <a:pt x="332160" y="211714"/>
                </a:lnTo>
                <a:lnTo>
                  <a:pt x="338201" y="167252"/>
                </a:lnTo>
                <a:lnTo>
                  <a:pt x="332160" y="122790"/>
                </a:lnTo>
                <a:lnTo>
                  <a:pt x="315113" y="82837"/>
                </a:lnTo>
                <a:lnTo>
                  <a:pt x="288672" y="48987"/>
                </a:lnTo>
                <a:lnTo>
                  <a:pt x="254448" y="22834"/>
                </a:lnTo>
                <a:lnTo>
                  <a:pt x="214053" y="5974"/>
                </a:lnTo>
                <a:lnTo>
                  <a:pt x="169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67932" y="2822882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4">
                <a:moveTo>
                  <a:pt x="0" y="167252"/>
                </a:moveTo>
                <a:lnTo>
                  <a:pt x="6040" y="122790"/>
                </a:lnTo>
                <a:lnTo>
                  <a:pt x="23087" y="82836"/>
                </a:lnTo>
                <a:lnTo>
                  <a:pt x="49528" y="48987"/>
                </a:lnTo>
                <a:lnTo>
                  <a:pt x="83751" y="22834"/>
                </a:lnTo>
                <a:lnTo>
                  <a:pt x="124146" y="5974"/>
                </a:lnTo>
                <a:lnTo>
                  <a:pt x="169100" y="0"/>
                </a:lnTo>
                <a:lnTo>
                  <a:pt x="214053" y="5974"/>
                </a:lnTo>
                <a:lnTo>
                  <a:pt x="254447" y="22834"/>
                </a:lnTo>
                <a:lnTo>
                  <a:pt x="288671" y="48987"/>
                </a:lnTo>
                <a:lnTo>
                  <a:pt x="315112" y="82836"/>
                </a:lnTo>
                <a:lnTo>
                  <a:pt x="332159" y="122790"/>
                </a:lnTo>
                <a:lnTo>
                  <a:pt x="338200" y="167252"/>
                </a:lnTo>
                <a:lnTo>
                  <a:pt x="332159" y="211714"/>
                </a:lnTo>
                <a:lnTo>
                  <a:pt x="315112" y="251668"/>
                </a:lnTo>
                <a:lnTo>
                  <a:pt x="288671" y="285517"/>
                </a:lnTo>
                <a:lnTo>
                  <a:pt x="254447" y="311670"/>
                </a:lnTo>
                <a:lnTo>
                  <a:pt x="214053" y="328530"/>
                </a:lnTo>
                <a:lnTo>
                  <a:pt x="169100" y="334505"/>
                </a:lnTo>
                <a:lnTo>
                  <a:pt x="124146" y="328530"/>
                </a:lnTo>
                <a:lnTo>
                  <a:pt x="83751" y="311670"/>
                </a:lnTo>
                <a:lnTo>
                  <a:pt x="49528" y="285517"/>
                </a:lnTo>
                <a:lnTo>
                  <a:pt x="23087" y="251668"/>
                </a:lnTo>
                <a:lnTo>
                  <a:pt x="6040" y="211714"/>
                </a:lnTo>
                <a:lnTo>
                  <a:pt x="0" y="16725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077967" y="3980688"/>
            <a:ext cx="426720" cy="4236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22048" y="3999937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5">
                <a:moveTo>
                  <a:pt x="169099" y="0"/>
                </a:moveTo>
                <a:lnTo>
                  <a:pt x="124146" y="5974"/>
                </a:lnTo>
                <a:lnTo>
                  <a:pt x="83751" y="22834"/>
                </a:lnTo>
                <a:lnTo>
                  <a:pt x="49528" y="48986"/>
                </a:lnTo>
                <a:lnTo>
                  <a:pt x="23087" y="82836"/>
                </a:lnTo>
                <a:lnTo>
                  <a:pt x="6040" y="122789"/>
                </a:lnTo>
                <a:lnTo>
                  <a:pt x="0" y="167252"/>
                </a:lnTo>
                <a:lnTo>
                  <a:pt x="6040" y="211714"/>
                </a:lnTo>
                <a:lnTo>
                  <a:pt x="23087" y="251667"/>
                </a:lnTo>
                <a:lnTo>
                  <a:pt x="49528" y="285517"/>
                </a:lnTo>
                <a:lnTo>
                  <a:pt x="83751" y="311669"/>
                </a:lnTo>
                <a:lnTo>
                  <a:pt x="124146" y="328529"/>
                </a:lnTo>
                <a:lnTo>
                  <a:pt x="169099" y="334504"/>
                </a:lnTo>
                <a:lnTo>
                  <a:pt x="214052" y="328529"/>
                </a:lnTo>
                <a:lnTo>
                  <a:pt x="254447" y="311669"/>
                </a:lnTo>
                <a:lnTo>
                  <a:pt x="288671" y="285517"/>
                </a:lnTo>
                <a:lnTo>
                  <a:pt x="315112" y="251667"/>
                </a:lnTo>
                <a:lnTo>
                  <a:pt x="332159" y="211714"/>
                </a:lnTo>
                <a:lnTo>
                  <a:pt x="338199" y="167252"/>
                </a:lnTo>
                <a:lnTo>
                  <a:pt x="332159" y="122789"/>
                </a:lnTo>
                <a:lnTo>
                  <a:pt x="315112" y="82836"/>
                </a:lnTo>
                <a:lnTo>
                  <a:pt x="288671" y="48986"/>
                </a:lnTo>
                <a:lnTo>
                  <a:pt x="254447" y="22834"/>
                </a:lnTo>
                <a:lnTo>
                  <a:pt x="214052" y="5974"/>
                </a:lnTo>
                <a:lnTo>
                  <a:pt x="1690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22048" y="3999937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5">
                <a:moveTo>
                  <a:pt x="0" y="167252"/>
                </a:moveTo>
                <a:lnTo>
                  <a:pt x="6040" y="122790"/>
                </a:lnTo>
                <a:lnTo>
                  <a:pt x="23087" y="82836"/>
                </a:lnTo>
                <a:lnTo>
                  <a:pt x="49528" y="48987"/>
                </a:lnTo>
                <a:lnTo>
                  <a:pt x="83751" y="22834"/>
                </a:lnTo>
                <a:lnTo>
                  <a:pt x="124146" y="5974"/>
                </a:lnTo>
                <a:lnTo>
                  <a:pt x="169100" y="0"/>
                </a:lnTo>
                <a:lnTo>
                  <a:pt x="214053" y="5974"/>
                </a:lnTo>
                <a:lnTo>
                  <a:pt x="254447" y="22834"/>
                </a:lnTo>
                <a:lnTo>
                  <a:pt x="288671" y="48987"/>
                </a:lnTo>
                <a:lnTo>
                  <a:pt x="315112" y="82836"/>
                </a:lnTo>
                <a:lnTo>
                  <a:pt x="332159" y="122790"/>
                </a:lnTo>
                <a:lnTo>
                  <a:pt x="338200" y="167252"/>
                </a:lnTo>
                <a:lnTo>
                  <a:pt x="332159" y="211714"/>
                </a:lnTo>
                <a:lnTo>
                  <a:pt x="315112" y="251668"/>
                </a:lnTo>
                <a:lnTo>
                  <a:pt x="288671" y="285517"/>
                </a:lnTo>
                <a:lnTo>
                  <a:pt x="254447" y="311670"/>
                </a:lnTo>
                <a:lnTo>
                  <a:pt x="214053" y="328530"/>
                </a:lnTo>
                <a:lnTo>
                  <a:pt x="169100" y="334505"/>
                </a:lnTo>
                <a:lnTo>
                  <a:pt x="124146" y="328530"/>
                </a:lnTo>
                <a:lnTo>
                  <a:pt x="83751" y="311670"/>
                </a:lnTo>
                <a:lnTo>
                  <a:pt x="49528" y="285517"/>
                </a:lnTo>
                <a:lnTo>
                  <a:pt x="23087" y="251668"/>
                </a:lnTo>
                <a:lnTo>
                  <a:pt x="6040" y="211714"/>
                </a:lnTo>
                <a:lnTo>
                  <a:pt x="0" y="16725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315455" y="3980688"/>
            <a:ext cx="423672" cy="4236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357873" y="3999937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5">
                <a:moveTo>
                  <a:pt x="169100" y="0"/>
                </a:moveTo>
                <a:lnTo>
                  <a:pt x="124146" y="5974"/>
                </a:lnTo>
                <a:lnTo>
                  <a:pt x="83752" y="22834"/>
                </a:lnTo>
                <a:lnTo>
                  <a:pt x="49528" y="48986"/>
                </a:lnTo>
                <a:lnTo>
                  <a:pt x="23087" y="82836"/>
                </a:lnTo>
                <a:lnTo>
                  <a:pt x="6040" y="122789"/>
                </a:lnTo>
                <a:lnTo>
                  <a:pt x="0" y="167252"/>
                </a:lnTo>
                <a:lnTo>
                  <a:pt x="6040" y="211714"/>
                </a:lnTo>
                <a:lnTo>
                  <a:pt x="23087" y="251667"/>
                </a:lnTo>
                <a:lnTo>
                  <a:pt x="49528" y="285517"/>
                </a:lnTo>
                <a:lnTo>
                  <a:pt x="83752" y="311669"/>
                </a:lnTo>
                <a:lnTo>
                  <a:pt x="124146" y="328529"/>
                </a:lnTo>
                <a:lnTo>
                  <a:pt x="169100" y="334504"/>
                </a:lnTo>
                <a:lnTo>
                  <a:pt x="214053" y="328529"/>
                </a:lnTo>
                <a:lnTo>
                  <a:pt x="254448" y="311669"/>
                </a:lnTo>
                <a:lnTo>
                  <a:pt x="288671" y="285517"/>
                </a:lnTo>
                <a:lnTo>
                  <a:pt x="315112" y="251667"/>
                </a:lnTo>
                <a:lnTo>
                  <a:pt x="332159" y="211714"/>
                </a:lnTo>
                <a:lnTo>
                  <a:pt x="338199" y="167252"/>
                </a:lnTo>
                <a:lnTo>
                  <a:pt x="332159" y="122789"/>
                </a:lnTo>
                <a:lnTo>
                  <a:pt x="315112" y="82836"/>
                </a:lnTo>
                <a:lnTo>
                  <a:pt x="288671" y="48986"/>
                </a:lnTo>
                <a:lnTo>
                  <a:pt x="254448" y="22834"/>
                </a:lnTo>
                <a:lnTo>
                  <a:pt x="214053" y="5974"/>
                </a:lnTo>
                <a:lnTo>
                  <a:pt x="169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357873" y="3999937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5">
                <a:moveTo>
                  <a:pt x="0" y="167252"/>
                </a:moveTo>
                <a:lnTo>
                  <a:pt x="6040" y="122790"/>
                </a:lnTo>
                <a:lnTo>
                  <a:pt x="23087" y="82836"/>
                </a:lnTo>
                <a:lnTo>
                  <a:pt x="49528" y="48987"/>
                </a:lnTo>
                <a:lnTo>
                  <a:pt x="83751" y="22834"/>
                </a:lnTo>
                <a:lnTo>
                  <a:pt x="124146" y="5974"/>
                </a:lnTo>
                <a:lnTo>
                  <a:pt x="169100" y="0"/>
                </a:lnTo>
                <a:lnTo>
                  <a:pt x="214053" y="5974"/>
                </a:lnTo>
                <a:lnTo>
                  <a:pt x="254447" y="22834"/>
                </a:lnTo>
                <a:lnTo>
                  <a:pt x="288671" y="48987"/>
                </a:lnTo>
                <a:lnTo>
                  <a:pt x="315112" y="82836"/>
                </a:lnTo>
                <a:lnTo>
                  <a:pt x="332159" y="122790"/>
                </a:lnTo>
                <a:lnTo>
                  <a:pt x="338200" y="167252"/>
                </a:lnTo>
                <a:lnTo>
                  <a:pt x="332159" y="211714"/>
                </a:lnTo>
                <a:lnTo>
                  <a:pt x="315112" y="251668"/>
                </a:lnTo>
                <a:lnTo>
                  <a:pt x="288671" y="285517"/>
                </a:lnTo>
                <a:lnTo>
                  <a:pt x="254447" y="311670"/>
                </a:lnTo>
                <a:lnTo>
                  <a:pt x="214053" y="328530"/>
                </a:lnTo>
                <a:lnTo>
                  <a:pt x="169100" y="334505"/>
                </a:lnTo>
                <a:lnTo>
                  <a:pt x="124146" y="328530"/>
                </a:lnTo>
                <a:lnTo>
                  <a:pt x="83751" y="311670"/>
                </a:lnTo>
                <a:lnTo>
                  <a:pt x="49528" y="285517"/>
                </a:lnTo>
                <a:lnTo>
                  <a:pt x="23087" y="251668"/>
                </a:lnTo>
                <a:lnTo>
                  <a:pt x="6040" y="211714"/>
                </a:lnTo>
                <a:lnTo>
                  <a:pt x="0" y="16725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995159" y="3035807"/>
            <a:ext cx="426720" cy="420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039359" y="3054267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5">
                <a:moveTo>
                  <a:pt x="169099" y="0"/>
                </a:moveTo>
                <a:lnTo>
                  <a:pt x="124146" y="5974"/>
                </a:lnTo>
                <a:lnTo>
                  <a:pt x="83751" y="22834"/>
                </a:lnTo>
                <a:lnTo>
                  <a:pt x="49528" y="48987"/>
                </a:lnTo>
                <a:lnTo>
                  <a:pt x="23087" y="82837"/>
                </a:lnTo>
                <a:lnTo>
                  <a:pt x="6040" y="122790"/>
                </a:lnTo>
                <a:lnTo>
                  <a:pt x="0" y="167252"/>
                </a:lnTo>
                <a:lnTo>
                  <a:pt x="6040" y="211714"/>
                </a:lnTo>
                <a:lnTo>
                  <a:pt x="23087" y="251668"/>
                </a:lnTo>
                <a:lnTo>
                  <a:pt x="49528" y="285518"/>
                </a:lnTo>
                <a:lnTo>
                  <a:pt x="83751" y="311670"/>
                </a:lnTo>
                <a:lnTo>
                  <a:pt x="124146" y="328530"/>
                </a:lnTo>
                <a:lnTo>
                  <a:pt x="169099" y="334505"/>
                </a:lnTo>
                <a:lnTo>
                  <a:pt x="214052" y="328530"/>
                </a:lnTo>
                <a:lnTo>
                  <a:pt x="254447" y="311670"/>
                </a:lnTo>
                <a:lnTo>
                  <a:pt x="288671" y="285518"/>
                </a:lnTo>
                <a:lnTo>
                  <a:pt x="315112" y="251668"/>
                </a:lnTo>
                <a:lnTo>
                  <a:pt x="332159" y="211714"/>
                </a:lnTo>
                <a:lnTo>
                  <a:pt x="338199" y="167252"/>
                </a:lnTo>
                <a:lnTo>
                  <a:pt x="332159" y="122790"/>
                </a:lnTo>
                <a:lnTo>
                  <a:pt x="315112" y="82837"/>
                </a:lnTo>
                <a:lnTo>
                  <a:pt x="288671" y="48987"/>
                </a:lnTo>
                <a:lnTo>
                  <a:pt x="254447" y="22834"/>
                </a:lnTo>
                <a:lnTo>
                  <a:pt x="214052" y="5974"/>
                </a:lnTo>
                <a:lnTo>
                  <a:pt x="1690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039359" y="3054267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5">
                <a:moveTo>
                  <a:pt x="0" y="167252"/>
                </a:moveTo>
                <a:lnTo>
                  <a:pt x="6040" y="122790"/>
                </a:lnTo>
                <a:lnTo>
                  <a:pt x="23087" y="82836"/>
                </a:lnTo>
                <a:lnTo>
                  <a:pt x="49528" y="48987"/>
                </a:lnTo>
                <a:lnTo>
                  <a:pt x="83751" y="22834"/>
                </a:lnTo>
                <a:lnTo>
                  <a:pt x="124146" y="5974"/>
                </a:lnTo>
                <a:lnTo>
                  <a:pt x="169100" y="0"/>
                </a:lnTo>
                <a:lnTo>
                  <a:pt x="214053" y="5974"/>
                </a:lnTo>
                <a:lnTo>
                  <a:pt x="254447" y="22834"/>
                </a:lnTo>
                <a:lnTo>
                  <a:pt x="288671" y="48987"/>
                </a:lnTo>
                <a:lnTo>
                  <a:pt x="315112" y="82836"/>
                </a:lnTo>
                <a:lnTo>
                  <a:pt x="332159" y="122790"/>
                </a:lnTo>
                <a:lnTo>
                  <a:pt x="338200" y="167252"/>
                </a:lnTo>
                <a:lnTo>
                  <a:pt x="332159" y="211714"/>
                </a:lnTo>
                <a:lnTo>
                  <a:pt x="315112" y="251668"/>
                </a:lnTo>
                <a:lnTo>
                  <a:pt x="288671" y="285517"/>
                </a:lnTo>
                <a:lnTo>
                  <a:pt x="254447" y="311670"/>
                </a:lnTo>
                <a:lnTo>
                  <a:pt x="214053" y="328530"/>
                </a:lnTo>
                <a:lnTo>
                  <a:pt x="169100" y="334505"/>
                </a:lnTo>
                <a:lnTo>
                  <a:pt x="124146" y="328530"/>
                </a:lnTo>
                <a:lnTo>
                  <a:pt x="83751" y="311670"/>
                </a:lnTo>
                <a:lnTo>
                  <a:pt x="49528" y="285517"/>
                </a:lnTo>
                <a:lnTo>
                  <a:pt x="23087" y="251668"/>
                </a:lnTo>
                <a:lnTo>
                  <a:pt x="6040" y="211714"/>
                </a:lnTo>
                <a:lnTo>
                  <a:pt x="0" y="16725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645152" y="2980944"/>
            <a:ext cx="426720" cy="4206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689762" y="2998936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5">
                <a:moveTo>
                  <a:pt x="169100" y="0"/>
                </a:moveTo>
                <a:lnTo>
                  <a:pt x="124146" y="5974"/>
                </a:lnTo>
                <a:lnTo>
                  <a:pt x="83752" y="22834"/>
                </a:lnTo>
                <a:lnTo>
                  <a:pt x="49528" y="48987"/>
                </a:lnTo>
                <a:lnTo>
                  <a:pt x="23087" y="82837"/>
                </a:lnTo>
                <a:lnTo>
                  <a:pt x="6040" y="122790"/>
                </a:lnTo>
                <a:lnTo>
                  <a:pt x="0" y="167252"/>
                </a:lnTo>
                <a:lnTo>
                  <a:pt x="6040" y="211714"/>
                </a:lnTo>
                <a:lnTo>
                  <a:pt x="23087" y="251668"/>
                </a:lnTo>
                <a:lnTo>
                  <a:pt x="49528" y="285518"/>
                </a:lnTo>
                <a:lnTo>
                  <a:pt x="83752" y="311670"/>
                </a:lnTo>
                <a:lnTo>
                  <a:pt x="124146" y="328530"/>
                </a:lnTo>
                <a:lnTo>
                  <a:pt x="169100" y="334505"/>
                </a:lnTo>
                <a:lnTo>
                  <a:pt x="214053" y="328530"/>
                </a:lnTo>
                <a:lnTo>
                  <a:pt x="254448" y="311670"/>
                </a:lnTo>
                <a:lnTo>
                  <a:pt x="288671" y="285518"/>
                </a:lnTo>
                <a:lnTo>
                  <a:pt x="315112" y="251668"/>
                </a:lnTo>
                <a:lnTo>
                  <a:pt x="332159" y="211714"/>
                </a:lnTo>
                <a:lnTo>
                  <a:pt x="338199" y="167252"/>
                </a:lnTo>
                <a:lnTo>
                  <a:pt x="332159" y="122790"/>
                </a:lnTo>
                <a:lnTo>
                  <a:pt x="315112" y="82837"/>
                </a:lnTo>
                <a:lnTo>
                  <a:pt x="288671" y="48987"/>
                </a:lnTo>
                <a:lnTo>
                  <a:pt x="254448" y="22834"/>
                </a:lnTo>
                <a:lnTo>
                  <a:pt x="214053" y="5974"/>
                </a:lnTo>
                <a:lnTo>
                  <a:pt x="169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689762" y="2998936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5">
                <a:moveTo>
                  <a:pt x="0" y="167252"/>
                </a:moveTo>
                <a:lnTo>
                  <a:pt x="6040" y="122790"/>
                </a:lnTo>
                <a:lnTo>
                  <a:pt x="23087" y="82836"/>
                </a:lnTo>
                <a:lnTo>
                  <a:pt x="49528" y="48987"/>
                </a:lnTo>
                <a:lnTo>
                  <a:pt x="83751" y="22834"/>
                </a:lnTo>
                <a:lnTo>
                  <a:pt x="124146" y="5974"/>
                </a:lnTo>
                <a:lnTo>
                  <a:pt x="169100" y="0"/>
                </a:lnTo>
                <a:lnTo>
                  <a:pt x="214053" y="5974"/>
                </a:lnTo>
                <a:lnTo>
                  <a:pt x="254447" y="22834"/>
                </a:lnTo>
                <a:lnTo>
                  <a:pt x="288671" y="48987"/>
                </a:lnTo>
                <a:lnTo>
                  <a:pt x="315112" y="82836"/>
                </a:lnTo>
                <a:lnTo>
                  <a:pt x="332159" y="122790"/>
                </a:lnTo>
                <a:lnTo>
                  <a:pt x="338200" y="167252"/>
                </a:lnTo>
                <a:lnTo>
                  <a:pt x="332159" y="211714"/>
                </a:lnTo>
                <a:lnTo>
                  <a:pt x="315112" y="251668"/>
                </a:lnTo>
                <a:lnTo>
                  <a:pt x="288671" y="285517"/>
                </a:lnTo>
                <a:lnTo>
                  <a:pt x="254447" y="311670"/>
                </a:lnTo>
                <a:lnTo>
                  <a:pt x="214053" y="328530"/>
                </a:lnTo>
                <a:lnTo>
                  <a:pt x="169100" y="334505"/>
                </a:lnTo>
                <a:lnTo>
                  <a:pt x="124146" y="328530"/>
                </a:lnTo>
                <a:lnTo>
                  <a:pt x="83751" y="311670"/>
                </a:lnTo>
                <a:lnTo>
                  <a:pt x="49528" y="285517"/>
                </a:lnTo>
                <a:lnTo>
                  <a:pt x="23087" y="251668"/>
                </a:lnTo>
                <a:lnTo>
                  <a:pt x="6040" y="211714"/>
                </a:lnTo>
                <a:lnTo>
                  <a:pt x="0" y="16725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126671" y="307187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55244" y="284022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60444" y="401370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04273" y="39923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777073" y="300786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116248" y="2999249"/>
            <a:ext cx="920115" cy="215265"/>
          </a:xfrm>
          <a:custGeom>
            <a:avLst/>
            <a:gdLst/>
            <a:ahLst/>
            <a:cxnLst/>
            <a:rect l="l" t="t" r="r" b="b"/>
            <a:pathLst>
              <a:path w="920115" h="215264">
                <a:moveTo>
                  <a:pt x="833149" y="187038"/>
                </a:moveTo>
                <a:lnTo>
                  <a:pt x="828249" y="215190"/>
                </a:lnTo>
                <a:lnTo>
                  <a:pt x="909452" y="190841"/>
                </a:lnTo>
                <a:lnTo>
                  <a:pt x="854999" y="190841"/>
                </a:lnTo>
                <a:lnTo>
                  <a:pt x="833149" y="187038"/>
                </a:lnTo>
                <a:close/>
              </a:path>
              <a:path w="920115" h="215264">
                <a:moveTo>
                  <a:pt x="838048" y="158886"/>
                </a:moveTo>
                <a:lnTo>
                  <a:pt x="833149" y="187038"/>
                </a:lnTo>
                <a:lnTo>
                  <a:pt x="854999" y="190841"/>
                </a:lnTo>
                <a:lnTo>
                  <a:pt x="862398" y="185637"/>
                </a:lnTo>
                <a:lnTo>
                  <a:pt x="865103" y="170088"/>
                </a:lnTo>
                <a:lnTo>
                  <a:pt x="859899" y="162689"/>
                </a:lnTo>
                <a:lnTo>
                  <a:pt x="838048" y="158886"/>
                </a:lnTo>
                <a:close/>
              </a:path>
              <a:path w="920115" h="215264">
                <a:moveTo>
                  <a:pt x="842948" y="130735"/>
                </a:moveTo>
                <a:lnTo>
                  <a:pt x="838048" y="158886"/>
                </a:lnTo>
                <a:lnTo>
                  <a:pt x="859899" y="162689"/>
                </a:lnTo>
                <a:lnTo>
                  <a:pt x="865103" y="170088"/>
                </a:lnTo>
                <a:lnTo>
                  <a:pt x="862398" y="185637"/>
                </a:lnTo>
                <a:lnTo>
                  <a:pt x="854999" y="190841"/>
                </a:lnTo>
                <a:lnTo>
                  <a:pt x="909452" y="190841"/>
                </a:lnTo>
                <a:lnTo>
                  <a:pt x="920054" y="187662"/>
                </a:lnTo>
                <a:lnTo>
                  <a:pt x="842948" y="130735"/>
                </a:lnTo>
                <a:close/>
              </a:path>
              <a:path w="920115" h="215264">
                <a:moveTo>
                  <a:pt x="86905" y="28152"/>
                </a:moveTo>
                <a:lnTo>
                  <a:pt x="82005" y="56303"/>
                </a:lnTo>
                <a:lnTo>
                  <a:pt x="833149" y="187038"/>
                </a:lnTo>
                <a:lnTo>
                  <a:pt x="838048" y="158886"/>
                </a:lnTo>
                <a:lnTo>
                  <a:pt x="86905" y="28152"/>
                </a:lnTo>
                <a:close/>
              </a:path>
              <a:path w="920115" h="215264">
                <a:moveTo>
                  <a:pt x="91805" y="0"/>
                </a:moveTo>
                <a:lnTo>
                  <a:pt x="0" y="27528"/>
                </a:lnTo>
                <a:lnTo>
                  <a:pt x="77105" y="84454"/>
                </a:lnTo>
                <a:lnTo>
                  <a:pt x="82005" y="56303"/>
                </a:lnTo>
                <a:lnTo>
                  <a:pt x="60156" y="52500"/>
                </a:lnTo>
                <a:lnTo>
                  <a:pt x="54950" y="45101"/>
                </a:lnTo>
                <a:lnTo>
                  <a:pt x="57656" y="29554"/>
                </a:lnTo>
                <a:lnTo>
                  <a:pt x="65055" y="24348"/>
                </a:lnTo>
                <a:lnTo>
                  <a:pt x="87567" y="24348"/>
                </a:lnTo>
                <a:lnTo>
                  <a:pt x="91805" y="0"/>
                </a:lnTo>
                <a:close/>
              </a:path>
              <a:path w="920115" h="215264">
                <a:moveTo>
                  <a:pt x="65055" y="24348"/>
                </a:moveTo>
                <a:lnTo>
                  <a:pt x="57656" y="29554"/>
                </a:lnTo>
                <a:lnTo>
                  <a:pt x="54950" y="45101"/>
                </a:lnTo>
                <a:lnTo>
                  <a:pt x="60156" y="52500"/>
                </a:lnTo>
                <a:lnTo>
                  <a:pt x="82005" y="56303"/>
                </a:lnTo>
                <a:lnTo>
                  <a:pt x="86905" y="28152"/>
                </a:lnTo>
                <a:lnTo>
                  <a:pt x="65055" y="24348"/>
                </a:lnTo>
                <a:close/>
              </a:path>
              <a:path w="920115" h="215264">
                <a:moveTo>
                  <a:pt x="87567" y="24348"/>
                </a:moveTo>
                <a:lnTo>
                  <a:pt x="65055" y="24348"/>
                </a:lnTo>
                <a:lnTo>
                  <a:pt x="86905" y="28152"/>
                </a:lnTo>
                <a:lnTo>
                  <a:pt x="87567" y="243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713347" y="6723724"/>
            <a:ext cx="16002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71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015" y="347472"/>
            <a:ext cx="876909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76923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Adjacency</a:t>
            </a:r>
            <a:r>
              <a:rPr dirty="0" sz="3200" spc="-8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list: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825921"/>
            <a:ext cx="4926330" cy="456374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Easier to </a:t>
            </a:r>
            <a:r>
              <a:rPr dirty="0" sz="2800" spc="-10">
                <a:latin typeface="Calibri"/>
                <a:cs typeface="Calibri"/>
              </a:rPr>
              <a:t>work </a:t>
            </a:r>
            <a:r>
              <a:rPr dirty="0" sz="2800" spc="-5">
                <a:latin typeface="Calibri"/>
                <a:cs typeface="Calibri"/>
              </a:rPr>
              <a:t>with if </a:t>
            </a:r>
            <a:r>
              <a:rPr dirty="0" sz="2800" spc="-10">
                <a:latin typeface="Calibri"/>
                <a:cs typeface="Calibri"/>
              </a:rPr>
              <a:t>network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275">
                <a:latin typeface="Calibri"/>
                <a:cs typeface="Calibri"/>
              </a:rPr>
              <a:t>is</a:t>
            </a:r>
            <a:endParaRPr sz="28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 spc="-15">
                <a:latin typeface="Calibri"/>
                <a:cs typeface="Calibri"/>
              </a:rPr>
              <a:t>Large</a:t>
            </a:r>
            <a:endParaRPr sz="24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620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 spc="-10">
                <a:latin typeface="Calibri"/>
                <a:cs typeface="Calibri"/>
              </a:rPr>
              <a:t>Sparse</a:t>
            </a:r>
            <a:endParaRPr sz="2400">
              <a:latin typeface="Calibri"/>
              <a:cs typeface="Calibri"/>
            </a:endParaRPr>
          </a:p>
          <a:p>
            <a:pPr marL="287020" marR="186055" indent="-274320">
              <a:lnSpc>
                <a:spcPts val="3310"/>
              </a:lnSpc>
              <a:spcBef>
                <a:spcPts val="76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Allows </a:t>
            </a:r>
            <a:r>
              <a:rPr dirty="0" sz="2800">
                <a:latin typeface="Calibri"/>
                <a:cs typeface="Calibri"/>
              </a:rPr>
              <a:t>us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quickly </a:t>
            </a:r>
            <a:r>
              <a:rPr dirty="0" sz="2800" spc="-20">
                <a:latin typeface="Calibri"/>
                <a:cs typeface="Calibri"/>
              </a:rPr>
              <a:t>retrieve </a:t>
            </a:r>
            <a:r>
              <a:rPr dirty="0" sz="2800" spc="-210">
                <a:latin typeface="Calibri"/>
                <a:cs typeface="Calibri"/>
              </a:rPr>
              <a:t>all  </a:t>
            </a:r>
            <a:r>
              <a:rPr dirty="0" sz="2800" spc="-10">
                <a:latin typeface="Calibri"/>
                <a:cs typeface="Calibri"/>
              </a:rPr>
              <a:t>neighbors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given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</a:t>
            </a:r>
            <a:endParaRPr sz="28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535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 spc="-5">
                <a:latin typeface="Calibri"/>
                <a:cs typeface="Calibri"/>
              </a:rPr>
              <a:t>1:</a:t>
            </a:r>
            <a:endParaRPr sz="24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595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 spc="-5">
                <a:latin typeface="Calibri"/>
                <a:cs typeface="Calibri"/>
              </a:rPr>
              <a:t>2: 3,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525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 spc="-5">
                <a:latin typeface="Calibri"/>
                <a:cs typeface="Calibri"/>
              </a:rPr>
              <a:t>3: 2,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620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 spc="-5">
                <a:latin typeface="Calibri"/>
                <a:cs typeface="Calibri"/>
              </a:rPr>
              <a:t>4: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525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 spc="-5">
                <a:latin typeface="Calibri"/>
                <a:cs typeface="Calibri"/>
              </a:rPr>
              <a:t>5: 1,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20065" y="2991740"/>
            <a:ext cx="321310" cy="781685"/>
          </a:xfrm>
          <a:custGeom>
            <a:avLst/>
            <a:gdLst/>
            <a:ahLst/>
            <a:cxnLst/>
            <a:rect l="l" t="t" r="r" b="b"/>
            <a:pathLst>
              <a:path w="321309" h="781685">
                <a:moveTo>
                  <a:pt x="53316" y="74830"/>
                </a:moveTo>
                <a:lnTo>
                  <a:pt x="26657" y="85119"/>
                </a:lnTo>
                <a:lnTo>
                  <a:pt x="294062" y="777920"/>
                </a:lnTo>
                <a:lnTo>
                  <a:pt x="302332" y="781584"/>
                </a:lnTo>
                <a:lnTo>
                  <a:pt x="317055" y="775902"/>
                </a:lnTo>
                <a:lnTo>
                  <a:pt x="320720" y="767631"/>
                </a:lnTo>
                <a:lnTo>
                  <a:pt x="53316" y="74830"/>
                </a:lnTo>
                <a:close/>
              </a:path>
              <a:path w="321309" h="781685">
                <a:moveTo>
                  <a:pt x="9118" y="0"/>
                </a:moveTo>
                <a:lnTo>
                  <a:pt x="0" y="95408"/>
                </a:lnTo>
                <a:lnTo>
                  <a:pt x="26657" y="85119"/>
                </a:lnTo>
                <a:lnTo>
                  <a:pt x="18671" y="64428"/>
                </a:lnTo>
                <a:lnTo>
                  <a:pt x="22335" y="56158"/>
                </a:lnTo>
                <a:lnTo>
                  <a:pt x="37058" y="50474"/>
                </a:lnTo>
                <a:lnTo>
                  <a:pt x="64531" y="50474"/>
                </a:lnTo>
                <a:lnTo>
                  <a:pt x="9118" y="0"/>
                </a:lnTo>
                <a:close/>
              </a:path>
              <a:path w="321309" h="781685">
                <a:moveTo>
                  <a:pt x="37058" y="50474"/>
                </a:moveTo>
                <a:lnTo>
                  <a:pt x="22335" y="56158"/>
                </a:lnTo>
                <a:lnTo>
                  <a:pt x="18671" y="64428"/>
                </a:lnTo>
                <a:lnTo>
                  <a:pt x="26657" y="85119"/>
                </a:lnTo>
                <a:lnTo>
                  <a:pt x="53316" y="74830"/>
                </a:lnTo>
                <a:lnTo>
                  <a:pt x="45330" y="54138"/>
                </a:lnTo>
                <a:lnTo>
                  <a:pt x="37058" y="50474"/>
                </a:lnTo>
                <a:close/>
              </a:path>
              <a:path w="321309" h="781685">
                <a:moveTo>
                  <a:pt x="64531" y="50474"/>
                </a:moveTo>
                <a:lnTo>
                  <a:pt x="37058" y="50474"/>
                </a:lnTo>
                <a:lnTo>
                  <a:pt x="45330" y="54138"/>
                </a:lnTo>
                <a:lnTo>
                  <a:pt x="53316" y="74830"/>
                </a:lnTo>
                <a:lnTo>
                  <a:pt x="79974" y="64541"/>
                </a:lnTo>
                <a:lnTo>
                  <a:pt x="64531" y="504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907242" y="3756138"/>
            <a:ext cx="1113790" cy="86360"/>
          </a:xfrm>
          <a:custGeom>
            <a:avLst/>
            <a:gdLst/>
            <a:ahLst/>
            <a:cxnLst/>
            <a:rect l="l" t="t" r="r" b="b"/>
            <a:pathLst>
              <a:path w="1113790" h="86360">
                <a:moveTo>
                  <a:pt x="86093" y="28564"/>
                </a:moveTo>
                <a:lnTo>
                  <a:pt x="85287" y="57127"/>
                </a:lnTo>
                <a:lnTo>
                  <a:pt x="1106457" y="85943"/>
                </a:lnTo>
                <a:lnTo>
                  <a:pt x="1113030" y="79729"/>
                </a:lnTo>
                <a:lnTo>
                  <a:pt x="1113476" y="63954"/>
                </a:lnTo>
                <a:lnTo>
                  <a:pt x="1107262" y="57379"/>
                </a:lnTo>
                <a:lnTo>
                  <a:pt x="86093" y="28564"/>
                </a:lnTo>
                <a:close/>
              </a:path>
              <a:path w="1113790" h="86360">
                <a:moveTo>
                  <a:pt x="86899" y="0"/>
                </a:moveTo>
                <a:lnTo>
                  <a:pt x="0" y="40427"/>
                </a:lnTo>
                <a:lnTo>
                  <a:pt x="84481" y="85690"/>
                </a:lnTo>
                <a:lnTo>
                  <a:pt x="85287" y="57127"/>
                </a:lnTo>
                <a:lnTo>
                  <a:pt x="63117" y="56502"/>
                </a:lnTo>
                <a:lnTo>
                  <a:pt x="56903" y="49927"/>
                </a:lnTo>
                <a:lnTo>
                  <a:pt x="57349" y="34152"/>
                </a:lnTo>
                <a:lnTo>
                  <a:pt x="63924" y="27938"/>
                </a:lnTo>
                <a:lnTo>
                  <a:pt x="86111" y="27938"/>
                </a:lnTo>
                <a:lnTo>
                  <a:pt x="86899" y="0"/>
                </a:lnTo>
                <a:close/>
              </a:path>
              <a:path w="1113790" h="86360">
                <a:moveTo>
                  <a:pt x="63924" y="27938"/>
                </a:moveTo>
                <a:lnTo>
                  <a:pt x="57349" y="34152"/>
                </a:lnTo>
                <a:lnTo>
                  <a:pt x="56903" y="49927"/>
                </a:lnTo>
                <a:lnTo>
                  <a:pt x="63117" y="56502"/>
                </a:lnTo>
                <a:lnTo>
                  <a:pt x="85287" y="57127"/>
                </a:lnTo>
                <a:lnTo>
                  <a:pt x="86093" y="28564"/>
                </a:lnTo>
                <a:lnTo>
                  <a:pt x="63924" y="27938"/>
                </a:lnTo>
                <a:close/>
              </a:path>
              <a:path w="1113790" h="86360">
                <a:moveTo>
                  <a:pt x="86111" y="27938"/>
                </a:moveTo>
                <a:lnTo>
                  <a:pt x="63924" y="27938"/>
                </a:lnTo>
                <a:lnTo>
                  <a:pt x="86093" y="28564"/>
                </a:lnTo>
                <a:lnTo>
                  <a:pt x="86111" y="279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54093" y="2750294"/>
            <a:ext cx="541655" cy="1104265"/>
          </a:xfrm>
          <a:custGeom>
            <a:avLst/>
            <a:gdLst/>
            <a:ahLst/>
            <a:cxnLst/>
            <a:rect l="l" t="t" r="r" b="b"/>
            <a:pathLst>
              <a:path w="541654" h="1104264">
                <a:moveTo>
                  <a:pt x="489610" y="71046"/>
                </a:moveTo>
                <a:lnTo>
                  <a:pt x="0" y="1088257"/>
                </a:lnTo>
                <a:lnTo>
                  <a:pt x="2989" y="1096794"/>
                </a:lnTo>
                <a:lnTo>
                  <a:pt x="17208" y="1103640"/>
                </a:lnTo>
                <a:lnTo>
                  <a:pt x="25746" y="1100650"/>
                </a:lnTo>
                <a:lnTo>
                  <a:pt x="515358" y="83439"/>
                </a:lnTo>
                <a:lnTo>
                  <a:pt x="489610" y="71046"/>
                </a:lnTo>
                <a:close/>
              </a:path>
              <a:path w="541654" h="1104264">
                <a:moveTo>
                  <a:pt x="540387" y="48072"/>
                </a:moveTo>
                <a:lnTo>
                  <a:pt x="507767" y="48072"/>
                </a:lnTo>
                <a:lnTo>
                  <a:pt x="521987" y="54917"/>
                </a:lnTo>
                <a:lnTo>
                  <a:pt x="524977" y="63455"/>
                </a:lnTo>
                <a:lnTo>
                  <a:pt x="515358" y="83439"/>
                </a:lnTo>
                <a:lnTo>
                  <a:pt x="541106" y="95832"/>
                </a:lnTo>
                <a:lnTo>
                  <a:pt x="540387" y="48072"/>
                </a:lnTo>
                <a:close/>
              </a:path>
              <a:path w="541654" h="1104264">
                <a:moveTo>
                  <a:pt x="507767" y="48072"/>
                </a:moveTo>
                <a:lnTo>
                  <a:pt x="499229" y="51061"/>
                </a:lnTo>
                <a:lnTo>
                  <a:pt x="489610" y="71046"/>
                </a:lnTo>
                <a:lnTo>
                  <a:pt x="515358" y="83439"/>
                </a:lnTo>
                <a:lnTo>
                  <a:pt x="524977" y="63455"/>
                </a:lnTo>
                <a:lnTo>
                  <a:pt x="521987" y="54917"/>
                </a:lnTo>
                <a:lnTo>
                  <a:pt x="507767" y="48072"/>
                </a:lnTo>
                <a:close/>
              </a:path>
              <a:path w="541654" h="1104264">
                <a:moveTo>
                  <a:pt x="539663" y="0"/>
                </a:moveTo>
                <a:lnTo>
                  <a:pt x="463862" y="58653"/>
                </a:lnTo>
                <a:lnTo>
                  <a:pt x="489610" y="71046"/>
                </a:lnTo>
                <a:lnTo>
                  <a:pt x="499229" y="51061"/>
                </a:lnTo>
                <a:lnTo>
                  <a:pt x="507767" y="48072"/>
                </a:lnTo>
                <a:lnTo>
                  <a:pt x="540387" y="48072"/>
                </a:lnTo>
                <a:lnTo>
                  <a:pt x="539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087126" y="2865699"/>
            <a:ext cx="596900" cy="825500"/>
          </a:xfrm>
          <a:custGeom>
            <a:avLst/>
            <a:gdLst/>
            <a:ahLst/>
            <a:cxnLst/>
            <a:rect l="l" t="t" r="r" b="b"/>
            <a:pathLst>
              <a:path w="596900" h="825500">
                <a:moveTo>
                  <a:pt x="15130" y="730591"/>
                </a:moveTo>
                <a:lnTo>
                  <a:pt x="0" y="825233"/>
                </a:lnTo>
                <a:lnTo>
                  <a:pt x="79404" y="783391"/>
                </a:lnTo>
                <a:lnTo>
                  <a:pt x="39719" y="783391"/>
                </a:lnTo>
                <a:lnTo>
                  <a:pt x="26894" y="774194"/>
                </a:lnTo>
                <a:lnTo>
                  <a:pt x="25425" y="765267"/>
                </a:lnTo>
                <a:lnTo>
                  <a:pt x="38350" y="747245"/>
                </a:lnTo>
                <a:lnTo>
                  <a:pt x="15130" y="730591"/>
                </a:lnTo>
                <a:close/>
              </a:path>
              <a:path w="596900" h="825500">
                <a:moveTo>
                  <a:pt x="38350" y="747245"/>
                </a:moveTo>
                <a:lnTo>
                  <a:pt x="25425" y="765267"/>
                </a:lnTo>
                <a:lnTo>
                  <a:pt x="26894" y="774194"/>
                </a:lnTo>
                <a:lnTo>
                  <a:pt x="39719" y="783391"/>
                </a:lnTo>
                <a:lnTo>
                  <a:pt x="48646" y="781921"/>
                </a:lnTo>
                <a:lnTo>
                  <a:pt x="61571" y="763899"/>
                </a:lnTo>
                <a:lnTo>
                  <a:pt x="38350" y="747245"/>
                </a:lnTo>
                <a:close/>
              </a:path>
              <a:path w="596900" h="825500">
                <a:moveTo>
                  <a:pt x="61571" y="763899"/>
                </a:moveTo>
                <a:lnTo>
                  <a:pt x="48646" y="781921"/>
                </a:lnTo>
                <a:lnTo>
                  <a:pt x="39719" y="783391"/>
                </a:lnTo>
                <a:lnTo>
                  <a:pt x="79404" y="783391"/>
                </a:lnTo>
                <a:lnTo>
                  <a:pt x="84791" y="780553"/>
                </a:lnTo>
                <a:lnTo>
                  <a:pt x="61571" y="763899"/>
                </a:lnTo>
                <a:close/>
              </a:path>
              <a:path w="596900" h="825500">
                <a:moveTo>
                  <a:pt x="582146" y="0"/>
                </a:moveTo>
                <a:lnTo>
                  <a:pt x="573219" y="1469"/>
                </a:lnTo>
                <a:lnTo>
                  <a:pt x="38350" y="747245"/>
                </a:lnTo>
                <a:lnTo>
                  <a:pt x="61571" y="763899"/>
                </a:lnTo>
                <a:lnTo>
                  <a:pt x="596440" y="18122"/>
                </a:lnTo>
                <a:lnTo>
                  <a:pt x="594970" y="9197"/>
                </a:lnTo>
                <a:lnTo>
                  <a:pt x="5821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94883" y="2659368"/>
            <a:ext cx="520065" cy="1031875"/>
          </a:xfrm>
          <a:custGeom>
            <a:avLst/>
            <a:gdLst/>
            <a:ahLst/>
            <a:cxnLst/>
            <a:rect l="l" t="t" r="r" b="b"/>
            <a:pathLst>
              <a:path w="520065" h="1031875">
                <a:moveTo>
                  <a:pt x="468468" y="961094"/>
                </a:moveTo>
                <a:lnTo>
                  <a:pt x="442865" y="973780"/>
                </a:lnTo>
                <a:lnTo>
                  <a:pt x="519329" y="1031563"/>
                </a:lnTo>
                <a:lnTo>
                  <a:pt x="519503" y="983858"/>
                </a:lnTo>
                <a:lnTo>
                  <a:pt x="486887" y="983858"/>
                </a:lnTo>
                <a:lnTo>
                  <a:pt x="478315" y="980967"/>
                </a:lnTo>
                <a:lnTo>
                  <a:pt x="468468" y="961094"/>
                </a:lnTo>
                <a:close/>
              </a:path>
              <a:path w="520065" h="1031875">
                <a:moveTo>
                  <a:pt x="494074" y="948407"/>
                </a:moveTo>
                <a:lnTo>
                  <a:pt x="468468" y="961094"/>
                </a:lnTo>
                <a:lnTo>
                  <a:pt x="478315" y="980967"/>
                </a:lnTo>
                <a:lnTo>
                  <a:pt x="486887" y="983858"/>
                </a:lnTo>
                <a:lnTo>
                  <a:pt x="501027" y="976852"/>
                </a:lnTo>
                <a:lnTo>
                  <a:pt x="503920" y="968279"/>
                </a:lnTo>
                <a:lnTo>
                  <a:pt x="494074" y="948407"/>
                </a:lnTo>
                <a:close/>
              </a:path>
              <a:path w="520065" h="1031875">
                <a:moveTo>
                  <a:pt x="519678" y="935722"/>
                </a:moveTo>
                <a:lnTo>
                  <a:pt x="494074" y="948407"/>
                </a:lnTo>
                <a:lnTo>
                  <a:pt x="503920" y="968279"/>
                </a:lnTo>
                <a:lnTo>
                  <a:pt x="501027" y="976852"/>
                </a:lnTo>
                <a:lnTo>
                  <a:pt x="486887" y="983858"/>
                </a:lnTo>
                <a:lnTo>
                  <a:pt x="519503" y="983858"/>
                </a:lnTo>
                <a:lnTo>
                  <a:pt x="519678" y="935722"/>
                </a:lnTo>
                <a:close/>
              </a:path>
              <a:path w="520065" h="1031875">
                <a:moveTo>
                  <a:pt x="17031" y="0"/>
                </a:moveTo>
                <a:lnTo>
                  <a:pt x="2891" y="7006"/>
                </a:lnTo>
                <a:lnTo>
                  <a:pt x="0" y="15577"/>
                </a:lnTo>
                <a:lnTo>
                  <a:pt x="468468" y="961094"/>
                </a:lnTo>
                <a:lnTo>
                  <a:pt x="494074" y="948407"/>
                </a:lnTo>
                <a:lnTo>
                  <a:pt x="25604" y="2891"/>
                </a:lnTo>
                <a:lnTo>
                  <a:pt x="170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93280" y="2447544"/>
            <a:ext cx="423672" cy="423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235785" y="2466746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4">
                <a:moveTo>
                  <a:pt x="169100" y="0"/>
                </a:moveTo>
                <a:lnTo>
                  <a:pt x="124146" y="5974"/>
                </a:lnTo>
                <a:lnTo>
                  <a:pt x="83752" y="22834"/>
                </a:lnTo>
                <a:lnTo>
                  <a:pt x="49528" y="48987"/>
                </a:lnTo>
                <a:lnTo>
                  <a:pt x="23087" y="82837"/>
                </a:lnTo>
                <a:lnTo>
                  <a:pt x="6040" y="122790"/>
                </a:lnTo>
                <a:lnTo>
                  <a:pt x="0" y="167252"/>
                </a:lnTo>
                <a:lnTo>
                  <a:pt x="6040" y="211714"/>
                </a:lnTo>
                <a:lnTo>
                  <a:pt x="23087" y="251668"/>
                </a:lnTo>
                <a:lnTo>
                  <a:pt x="49528" y="285518"/>
                </a:lnTo>
                <a:lnTo>
                  <a:pt x="83752" y="311670"/>
                </a:lnTo>
                <a:lnTo>
                  <a:pt x="124146" y="328530"/>
                </a:lnTo>
                <a:lnTo>
                  <a:pt x="169100" y="334505"/>
                </a:lnTo>
                <a:lnTo>
                  <a:pt x="214053" y="328530"/>
                </a:lnTo>
                <a:lnTo>
                  <a:pt x="254448" y="311670"/>
                </a:lnTo>
                <a:lnTo>
                  <a:pt x="288671" y="285518"/>
                </a:lnTo>
                <a:lnTo>
                  <a:pt x="315112" y="251668"/>
                </a:lnTo>
                <a:lnTo>
                  <a:pt x="332159" y="211714"/>
                </a:lnTo>
                <a:lnTo>
                  <a:pt x="338199" y="167252"/>
                </a:lnTo>
                <a:lnTo>
                  <a:pt x="332159" y="122790"/>
                </a:lnTo>
                <a:lnTo>
                  <a:pt x="315112" y="82837"/>
                </a:lnTo>
                <a:lnTo>
                  <a:pt x="288671" y="48987"/>
                </a:lnTo>
                <a:lnTo>
                  <a:pt x="254448" y="22834"/>
                </a:lnTo>
                <a:lnTo>
                  <a:pt x="214053" y="5974"/>
                </a:lnTo>
                <a:lnTo>
                  <a:pt x="169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35785" y="2466746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4">
                <a:moveTo>
                  <a:pt x="0" y="167252"/>
                </a:moveTo>
                <a:lnTo>
                  <a:pt x="6040" y="122790"/>
                </a:lnTo>
                <a:lnTo>
                  <a:pt x="23087" y="82836"/>
                </a:lnTo>
                <a:lnTo>
                  <a:pt x="49528" y="48987"/>
                </a:lnTo>
                <a:lnTo>
                  <a:pt x="83751" y="22834"/>
                </a:lnTo>
                <a:lnTo>
                  <a:pt x="124146" y="5974"/>
                </a:lnTo>
                <a:lnTo>
                  <a:pt x="169100" y="0"/>
                </a:lnTo>
                <a:lnTo>
                  <a:pt x="214053" y="5974"/>
                </a:lnTo>
                <a:lnTo>
                  <a:pt x="254447" y="22834"/>
                </a:lnTo>
                <a:lnTo>
                  <a:pt x="288671" y="48987"/>
                </a:lnTo>
                <a:lnTo>
                  <a:pt x="315112" y="82836"/>
                </a:lnTo>
                <a:lnTo>
                  <a:pt x="332159" y="122790"/>
                </a:lnTo>
                <a:lnTo>
                  <a:pt x="338200" y="167252"/>
                </a:lnTo>
                <a:lnTo>
                  <a:pt x="332159" y="211714"/>
                </a:lnTo>
                <a:lnTo>
                  <a:pt x="315112" y="251668"/>
                </a:lnTo>
                <a:lnTo>
                  <a:pt x="288671" y="285517"/>
                </a:lnTo>
                <a:lnTo>
                  <a:pt x="254447" y="311670"/>
                </a:lnTo>
                <a:lnTo>
                  <a:pt x="214053" y="328530"/>
                </a:lnTo>
                <a:lnTo>
                  <a:pt x="169100" y="334505"/>
                </a:lnTo>
                <a:lnTo>
                  <a:pt x="124146" y="328530"/>
                </a:lnTo>
                <a:lnTo>
                  <a:pt x="83751" y="311670"/>
                </a:lnTo>
                <a:lnTo>
                  <a:pt x="49528" y="285517"/>
                </a:lnTo>
                <a:lnTo>
                  <a:pt x="23087" y="251668"/>
                </a:lnTo>
                <a:lnTo>
                  <a:pt x="6040" y="211714"/>
                </a:lnTo>
                <a:lnTo>
                  <a:pt x="0" y="16725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47104" y="3624071"/>
            <a:ext cx="423672" cy="4236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589900" y="3643801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5">
                <a:moveTo>
                  <a:pt x="169100" y="0"/>
                </a:moveTo>
                <a:lnTo>
                  <a:pt x="124146" y="5974"/>
                </a:lnTo>
                <a:lnTo>
                  <a:pt x="83752" y="22834"/>
                </a:lnTo>
                <a:lnTo>
                  <a:pt x="49528" y="48987"/>
                </a:lnTo>
                <a:lnTo>
                  <a:pt x="23087" y="82837"/>
                </a:lnTo>
                <a:lnTo>
                  <a:pt x="6040" y="122790"/>
                </a:lnTo>
                <a:lnTo>
                  <a:pt x="0" y="167252"/>
                </a:lnTo>
                <a:lnTo>
                  <a:pt x="6040" y="211714"/>
                </a:lnTo>
                <a:lnTo>
                  <a:pt x="23087" y="251668"/>
                </a:lnTo>
                <a:lnTo>
                  <a:pt x="49528" y="285518"/>
                </a:lnTo>
                <a:lnTo>
                  <a:pt x="83752" y="311670"/>
                </a:lnTo>
                <a:lnTo>
                  <a:pt x="124146" y="328530"/>
                </a:lnTo>
                <a:lnTo>
                  <a:pt x="169100" y="334505"/>
                </a:lnTo>
                <a:lnTo>
                  <a:pt x="214053" y="328530"/>
                </a:lnTo>
                <a:lnTo>
                  <a:pt x="254448" y="311670"/>
                </a:lnTo>
                <a:lnTo>
                  <a:pt x="288672" y="285518"/>
                </a:lnTo>
                <a:lnTo>
                  <a:pt x="315113" y="251668"/>
                </a:lnTo>
                <a:lnTo>
                  <a:pt x="332160" y="211714"/>
                </a:lnTo>
                <a:lnTo>
                  <a:pt x="338200" y="167252"/>
                </a:lnTo>
                <a:lnTo>
                  <a:pt x="332160" y="122790"/>
                </a:lnTo>
                <a:lnTo>
                  <a:pt x="315113" y="82837"/>
                </a:lnTo>
                <a:lnTo>
                  <a:pt x="288672" y="48987"/>
                </a:lnTo>
                <a:lnTo>
                  <a:pt x="254448" y="22834"/>
                </a:lnTo>
                <a:lnTo>
                  <a:pt x="214053" y="5974"/>
                </a:lnTo>
                <a:lnTo>
                  <a:pt x="169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589900" y="3643801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5">
                <a:moveTo>
                  <a:pt x="0" y="167252"/>
                </a:moveTo>
                <a:lnTo>
                  <a:pt x="6040" y="122790"/>
                </a:lnTo>
                <a:lnTo>
                  <a:pt x="23087" y="82836"/>
                </a:lnTo>
                <a:lnTo>
                  <a:pt x="49528" y="48987"/>
                </a:lnTo>
                <a:lnTo>
                  <a:pt x="83751" y="22834"/>
                </a:lnTo>
                <a:lnTo>
                  <a:pt x="124146" y="5974"/>
                </a:lnTo>
                <a:lnTo>
                  <a:pt x="169100" y="0"/>
                </a:lnTo>
                <a:lnTo>
                  <a:pt x="214053" y="5974"/>
                </a:lnTo>
                <a:lnTo>
                  <a:pt x="254447" y="22834"/>
                </a:lnTo>
                <a:lnTo>
                  <a:pt x="288671" y="48987"/>
                </a:lnTo>
                <a:lnTo>
                  <a:pt x="315112" y="82836"/>
                </a:lnTo>
                <a:lnTo>
                  <a:pt x="332159" y="122790"/>
                </a:lnTo>
                <a:lnTo>
                  <a:pt x="338200" y="167252"/>
                </a:lnTo>
                <a:lnTo>
                  <a:pt x="332159" y="211714"/>
                </a:lnTo>
                <a:lnTo>
                  <a:pt x="315112" y="251668"/>
                </a:lnTo>
                <a:lnTo>
                  <a:pt x="288671" y="285517"/>
                </a:lnTo>
                <a:lnTo>
                  <a:pt x="254447" y="311670"/>
                </a:lnTo>
                <a:lnTo>
                  <a:pt x="214053" y="328530"/>
                </a:lnTo>
                <a:lnTo>
                  <a:pt x="169100" y="334505"/>
                </a:lnTo>
                <a:lnTo>
                  <a:pt x="124146" y="328530"/>
                </a:lnTo>
                <a:lnTo>
                  <a:pt x="83751" y="311670"/>
                </a:lnTo>
                <a:lnTo>
                  <a:pt x="49528" y="285517"/>
                </a:lnTo>
                <a:lnTo>
                  <a:pt x="23087" y="251668"/>
                </a:lnTo>
                <a:lnTo>
                  <a:pt x="6040" y="211714"/>
                </a:lnTo>
                <a:lnTo>
                  <a:pt x="0" y="16725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781543" y="3624071"/>
            <a:ext cx="426720" cy="4236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825726" y="3643801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5">
                <a:moveTo>
                  <a:pt x="169100" y="0"/>
                </a:moveTo>
                <a:lnTo>
                  <a:pt x="124146" y="5974"/>
                </a:lnTo>
                <a:lnTo>
                  <a:pt x="83752" y="22834"/>
                </a:lnTo>
                <a:lnTo>
                  <a:pt x="49528" y="48987"/>
                </a:lnTo>
                <a:lnTo>
                  <a:pt x="23087" y="82837"/>
                </a:lnTo>
                <a:lnTo>
                  <a:pt x="6040" y="122790"/>
                </a:lnTo>
                <a:lnTo>
                  <a:pt x="0" y="167252"/>
                </a:lnTo>
                <a:lnTo>
                  <a:pt x="6040" y="211714"/>
                </a:lnTo>
                <a:lnTo>
                  <a:pt x="23087" y="251668"/>
                </a:lnTo>
                <a:lnTo>
                  <a:pt x="49528" y="285518"/>
                </a:lnTo>
                <a:lnTo>
                  <a:pt x="83752" y="311670"/>
                </a:lnTo>
                <a:lnTo>
                  <a:pt x="124146" y="328530"/>
                </a:lnTo>
                <a:lnTo>
                  <a:pt x="169100" y="334505"/>
                </a:lnTo>
                <a:lnTo>
                  <a:pt x="214053" y="328530"/>
                </a:lnTo>
                <a:lnTo>
                  <a:pt x="254448" y="311670"/>
                </a:lnTo>
                <a:lnTo>
                  <a:pt x="288671" y="285518"/>
                </a:lnTo>
                <a:lnTo>
                  <a:pt x="315112" y="251668"/>
                </a:lnTo>
                <a:lnTo>
                  <a:pt x="332159" y="211714"/>
                </a:lnTo>
                <a:lnTo>
                  <a:pt x="338199" y="167252"/>
                </a:lnTo>
                <a:lnTo>
                  <a:pt x="332159" y="122790"/>
                </a:lnTo>
                <a:lnTo>
                  <a:pt x="315112" y="82837"/>
                </a:lnTo>
                <a:lnTo>
                  <a:pt x="288671" y="48987"/>
                </a:lnTo>
                <a:lnTo>
                  <a:pt x="254448" y="22834"/>
                </a:lnTo>
                <a:lnTo>
                  <a:pt x="214053" y="5974"/>
                </a:lnTo>
                <a:lnTo>
                  <a:pt x="169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825726" y="3643801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5">
                <a:moveTo>
                  <a:pt x="0" y="167252"/>
                </a:moveTo>
                <a:lnTo>
                  <a:pt x="6040" y="122790"/>
                </a:lnTo>
                <a:lnTo>
                  <a:pt x="23087" y="82836"/>
                </a:lnTo>
                <a:lnTo>
                  <a:pt x="49528" y="48987"/>
                </a:lnTo>
                <a:lnTo>
                  <a:pt x="83751" y="22834"/>
                </a:lnTo>
                <a:lnTo>
                  <a:pt x="124146" y="5974"/>
                </a:lnTo>
                <a:lnTo>
                  <a:pt x="169100" y="0"/>
                </a:lnTo>
                <a:lnTo>
                  <a:pt x="214053" y="5974"/>
                </a:lnTo>
                <a:lnTo>
                  <a:pt x="254447" y="22834"/>
                </a:lnTo>
                <a:lnTo>
                  <a:pt x="288671" y="48987"/>
                </a:lnTo>
                <a:lnTo>
                  <a:pt x="315112" y="82836"/>
                </a:lnTo>
                <a:lnTo>
                  <a:pt x="332159" y="122790"/>
                </a:lnTo>
                <a:lnTo>
                  <a:pt x="338200" y="167252"/>
                </a:lnTo>
                <a:lnTo>
                  <a:pt x="332159" y="211714"/>
                </a:lnTo>
                <a:lnTo>
                  <a:pt x="315112" y="251668"/>
                </a:lnTo>
                <a:lnTo>
                  <a:pt x="288671" y="285517"/>
                </a:lnTo>
                <a:lnTo>
                  <a:pt x="254447" y="311670"/>
                </a:lnTo>
                <a:lnTo>
                  <a:pt x="214053" y="328530"/>
                </a:lnTo>
                <a:lnTo>
                  <a:pt x="169100" y="334505"/>
                </a:lnTo>
                <a:lnTo>
                  <a:pt x="124146" y="328530"/>
                </a:lnTo>
                <a:lnTo>
                  <a:pt x="83751" y="311670"/>
                </a:lnTo>
                <a:lnTo>
                  <a:pt x="49528" y="285517"/>
                </a:lnTo>
                <a:lnTo>
                  <a:pt x="23087" y="251668"/>
                </a:lnTo>
                <a:lnTo>
                  <a:pt x="6040" y="211714"/>
                </a:lnTo>
                <a:lnTo>
                  <a:pt x="0" y="16725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464295" y="2679192"/>
            <a:ext cx="423672" cy="4236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507213" y="2698132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4">
                <a:moveTo>
                  <a:pt x="169099" y="0"/>
                </a:moveTo>
                <a:lnTo>
                  <a:pt x="124146" y="5974"/>
                </a:lnTo>
                <a:lnTo>
                  <a:pt x="83751" y="22834"/>
                </a:lnTo>
                <a:lnTo>
                  <a:pt x="49528" y="48987"/>
                </a:lnTo>
                <a:lnTo>
                  <a:pt x="23087" y="82837"/>
                </a:lnTo>
                <a:lnTo>
                  <a:pt x="6040" y="122790"/>
                </a:lnTo>
                <a:lnTo>
                  <a:pt x="0" y="167252"/>
                </a:lnTo>
                <a:lnTo>
                  <a:pt x="6040" y="211714"/>
                </a:lnTo>
                <a:lnTo>
                  <a:pt x="23087" y="251668"/>
                </a:lnTo>
                <a:lnTo>
                  <a:pt x="49528" y="285518"/>
                </a:lnTo>
                <a:lnTo>
                  <a:pt x="83751" y="311670"/>
                </a:lnTo>
                <a:lnTo>
                  <a:pt x="124146" y="328530"/>
                </a:lnTo>
                <a:lnTo>
                  <a:pt x="169099" y="334505"/>
                </a:lnTo>
                <a:lnTo>
                  <a:pt x="214052" y="328530"/>
                </a:lnTo>
                <a:lnTo>
                  <a:pt x="254447" y="311670"/>
                </a:lnTo>
                <a:lnTo>
                  <a:pt x="288671" y="285518"/>
                </a:lnTo>
                <a:lnTo>
                  <a:pt x="315112" y="251668"/>
                </a:lnTo>
                <a:lnTo>
                  <a:pt x="332159" y="211714"/>
                </a:lnTo>
                <a:lnTo>
                  <a:pt x="338199" y="167252"/>
                </a:lnTo>
                <a:lnTo>
                  <a:pt x="332159" y="122790"/>
                </a:lnTo>
                <a:lnTo>
                  <a:pt x="315112" y="82837"/>
                </a:lnTo>
                <a:lnTo>
                  <a:pt x="288671" y="48987"/>
                </a:lnTo>
                <a:lnTo>
                  <a:pt x="254447" y="22834"/>
                </a:lnTo>
                <a:lnTo>
                  <a:pt x="214052" y="5974"/>
                </a:lnTo>
                <a:lnTo>
                  <a:pt x="1690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507213" y="2698132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4">
                <a:moveTo>
                  <a:pt x="0" y="167252"/>
                </a:moveTo>
                <a:lnTo>
                  <a:pt x="6040" y="122790"/>
                </a:lnTo>
                <a:lnTo>
                  <a:pt x="23087" y="82836"/>
                </a:lnTo>
                <a:lnTo>
                  <a:pt x="49528" y="48987"/>
                </a:lnTo>
                <a:lnTo>
                  <a:pt x="83751" y="22834"/>
                </a:lnTo>
                <a:lnTo>
                  <a:pt x="124146" y="5974"/>
                </a:lnTo>
                <a:lnTo>
                  <a:pt x="169100" y="0"/>
                </a:lnTo>
                <a:lnTo>
                  <a:pt x="214053" y="5974"/>
                </a:lnTo>
                <a:lnTo>
                  <a:pt x="254447" y="22834"/>
                </a:lnTo>
                <a:lnTo>
                  <a:pt x="288671" y="48987"/>
                </a:lnTo>
                <a:lnTo>
                  <a:pt x="315112" y="82836"/>
                </a:lnTo>
                <a:lnTo>
                  <a:pt x="332159" y="122790"/>
                </a:lnTo>
                <a:lnTo>
                  <a:pt x="338200" y="167252"/>
                </a:lnTo>
                <a:lnTo>
                  <a:pt x="332159" y="211714"/>
                </a:lnTo>
                <a:lnTo>
                  <a:pt x="315112" y="251668"/>
                </a:lnTo>
                <a:lnTo>
                  <a:pt x="288671" y="285517"/>
                </a:lnTo>
                <a:lnTo>
                  <a:pt x="254447" y="311670"/>
                </a:lnTo>
                <a:lnTo>
                  <a:pt x="214053" y="328530"/>
                </a:lnTo>
                <a:lnTo>
                  <a:pt x="169100" y="334505"/>
                </a:lnTo>
                <a:lnTo>
                  <a:pt x="124146" y="328530"/>
                </a:lnTo>
                <a:lnTo>
                  <a:pt x="83751" y="311670"/>
                </a:lnTo>
                <a:lnTo>
                  <a:pt x="49528" y="285517"/>
                </a:lnTo>
                <a:lnTo>
                  <a:pt x="23087" y="251668"/>
                </a:lnTo>
                <a:lnTo>
                  <a:pt x="6040" y="211714"/>
                </a:lnTo>
                <a:lnTo>
                  <a:pt x="0" y="16725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14288" y="2624327"/>
            <a:ext cx="426719" cy="4206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157615" y="2642801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4">
                <a:moveTo>
                  <a:pt x="169099" y="0"/>
                </a:moveTo>
                <a:lnTo>
                  <a:pt x="124146" y="5974"/>
                </a:lnTo>
                <a:lnTo>
                  <a:pt x="83751" y="22834"/>
                </a:lnTo>
                <a:lnTo>
                  <a:pt x="49528" y="48986"/>
                </a:lnTo>
                <a:lnTo>
                  <a:pt x="23087" y="82836"/>
                </a:lnTo>
                <a:lnTo>
                  <a:pt x="6040" y="122789"/>
                </a:lnTo>
                <a:lnTo>
                  <a:pt x="0" y="167251"/>
                </a:lnTo>
                <a:lnTo>
                  <a:pt x="6040" y="211714"/>
                </a:lnTo>
                <a:lnTo>
                  <a:pt x="23087" y="251667"/>
                </a:lnTo>
                <a:lnTo>
                  <a:pt x="49528" y="285517"/>
                </a:lnTo>
                <a:lnTo>
                  <a:pt x="83751" y="311669"/>
                </a:lnTo>
                <a:lnTo>
                  <a:pt x="124146" y="328529"/>
                </a:lnTo>
                <a:lnTo>
                  <a:pt x="169099" y="334504"/>
                </a:lnTo>
                <a:lnTo>
                  <a:pt x="214052" y="328529"/>
                </a:lnTo>
                <a:lnTo>
                  <a:pt x="254447" y="311669"/>
                </a:lnTo>
                <a:lnTo>
                  <a:pt x="288671" y="285517"/>
                </a:lnTo>
                <a:lnTo>
                  <a:pt x="315112" y="251667"/>
                </a:lnTo>
                <a:lnTo>
                  <a:pt x="332159" y="211714"/>
                </a:lnTo>
                <a:lnTo>
                  <a:pt x="338199" y="167251"/>
                </a:lnTo>
                <a:lnTo>
                  <a:pt x="332159" y="122789"/>
                </a:lnTo>
                <a:lnTo>
                  <a:pt x="315112" y="82836"/>
                </a:lnTo>
                <a:lnTo>
                  <a:pt x="288671" y="48986"/>
                </a:lnTo>
                <a:lnTo>
                  <a:pt x="254447" y="22834"/>
                </a:lnTo>
                <a:lnTo>
                  <a:pt x="214052" y="5974"/>
                </a:lnTo>
                <a:lnTo>
                  <a:pt x="1690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157615" y="2642801"/>
            <a:ext cx="338455" cy="334645"/>
          </a:xfrm>
          <a:custGeom>
            <a:avLst/>
            <a:gdLst/>
            <a:ahLst/>
            <a:cxnLst/>
            <a:rect l="l" t="t" r="r" b="b"/>
            <a:pathLst>
              <a:path w="338454" h="334644">
                <a:moveTo>
                  <a:pt x="0" y="167252"/>
                </a:moveTo>
                <a:lnTo>
                  <a:pt x="6040" y="122790"/>
                </a:lnTo>
                <a:lnTo>
                  <a:pt x="23087" y="82836"/>
                </a:lnTo>
                <a:lnTo>
                  <a:pt x="49528" y="48987"/>
                </a:lnTo>
                <a:lnTo>
                  <a:pt x="83751" y="22834"/>
                </a:lnTo>
                <a:lnTo>
                  <a:pt x="124146" y="5974"/>
                </a:lnTo>
                <a:lnTo>
                  <a:pt x="169100" y="0"/>
                </a:lnTo>
                <a:lnTo>
                  <a:pt x="214053" y="5974"/>
                </a:lnTo>
                <a:lnTo>
                  <a:pt x="254447" y="22834"/>
                </a:lnTo>
                <a:lnTo>
                  <a:pt x="288671" y="48987"/>
                </a:lnTo>
                <a:lnTo>
                  <a:pt x="315112" y="82836"/>
                </a:lnTo>
                <a:lnTo>
                  <a:pt x="332159" y="122790"/>
                </a:lnTo>
                <a:lnTo>
                  <a:pt x="338200" y="167252"/>
                </a:lnTo>
                <a:lnTo>
                  <a:pt x="332159" y="211714"/>
                </a:lnTo>
                <a:lnTo>
                  <a:pt x="315112" y="251668"/>
                </a:lnTo>
                <a:lnTo>
                  <a:pt x="288671" y="285517"/>
                </a:lnTo>
                <a:lnTo>
                  <a:pt x="254447" y="311670"/>
                </a:lnTo>
                <a:lnTo>
                  <a:pt x="214053" y="328530"/>
                </a:lnTo>
                <a:lnTo>
                  <a:pt x="169100" y="334505"/>
                </a:lnTo>
                <a:lnTo>
                  <a:pt x="124146" y="328530"/>
                </a:lnTo>
                <a:lnTo>
                  <a:pt x="83751" y="311670"/>
                </a:lnTo>
                <a:lnTo>
                  <a:pt x="49528" y="285517"/>
                </a:lnTo>
                <a:lnTo>
                  <a:pt x="23087" y="251668"/>
                </a:lnTo>
                <a:lnTo>
                  <a:pt x="6040" y="211714"/>
                </a:lnTo>
                <a:lnTo>
                  <a:pt x="0" y="167252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594525" y="271830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23097" y="248666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28296" y="36570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72126" y="363880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44927" y="265125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584102" y="2643115"/>
            <a:ext cx="920115" cy="215265"/>
          </a:xfrm>
          <a:custGeom>
            <a:avLst/>
            <a:gdLst/>
            <a:ahLst/>
            <a:cxnLst/>
            <a:rect l="l" t="t" r="r" b="b"/>
            <a:pathLst>
              <a:path w="920115" h="215264">
                <a:moveTo>
                  <a:pt x="833147" y="187038"/>
                </a:moveTo>
                <a:lnTo>
                  <a:pt x="828248" y="215190"/>
                </a:lnTo>
                <a:lnTo>
                  <a:pt x="909448" y="190841"/>
                </a:lnTo>
                <a:lnTo>
                  <a:pt x="854998" y="190841"/>
                </a:lnTo>
                <a:lnTo>
                  <a:pt x="833147" y="187038"/>
                </a:lnTo>
                <a:close/>
              </a:path>
              <a:path w="920115" h="215264">
                <a:moveTo>
                  <a:pt x="838047" y="158886"/>
                </a:moveTo>
                <a:lnTo>
                  <a:pt x="833147" y="187038"/>
                </a:lnTo>
                <a:lnTo>
                  <a:pt x="854998" y="190841"/>
                </a:lnTo>
                <a:lnTo>
                  <a:pt x="862397" y="185635"/>
                </a:lnTo>
                <a:lnTo>
                  <a:pt x="865103" y="170088"/>
                </a:lnTo>
                <a:lnTo>
                  <a:pt x="859897" y="162689"/>
                </a:lnTo>
                <a:lnTo>
                  <a:pt x="838047" y="158886"/>
                </a:lnTo>
                <a:close/>
              </a:path>
              <a:path w="920115" h="215264">
                <a:moveTo>
                  <a:pt x="842947" y="130735"/>
                </a:moveTo>
                <a:lnTo>
                  <a:pt x="838047" y="158886"/>
                </a:lnTo>
                <a:lnTo>
                  <a:pt x="859897" y="162689"/>
                </a:lnTo>
                <a:lnTo>
                  <a:pt x="865103" y="170088"/>
                </a:lnTo>
                <a:lnTo>
                  <a:pt x="862397" y="185635"/>
                </a:lnTo>
                <a:lnTo>
                  <a:pt x="854998" y="190841"/>
                </a:lnTo>
                <a:lnTo>
                  <a:pt x="909448" y="190841"/>
                </a:lnTo>
                <a:lnTo>
                  <a:pt x="920054" y="187661"/>
                </a:lnTo>
                <a:lnTo>
                  <a:pt x="842947" y="130735"/>
                </a:lnTo>
                <a:close/>
              </a:path>
              <a:path w="920115" h="215264">
                <a:moveTo>
                  <a:pt x="86904" y="28150"/>
                </a:moveTo>
                <a:lnTo>
                  <a:pt x="82005" y="56303"/>
                </a:lnTo>
                <a:lnTo>
                  <a:pt x="833147" y="187038"/>
                </a:lnTo>
                <a:lnTo>
                  <a:pt x="838047" y="158886"/>
                </a:lnTo>
                <a:lnTo>
                  <a:pt x="86904" y="28150"/>
                </a:lnTo>
                <a:close/>
              </a:path>
              <a:path w="920115" h="215264">
                <a:moveTo>
                  <a:pt x="91804" y="0"/>
                </a:moveTo>
                <a:lnTo>
                  <a:pt x="0" y="27527"/>
                </a:lnTo>
                <a:lnTo>
                  <a:pt x="77105" y="84454"/>
                </a:lnTo>
                <a:lnTo>
                  <a:pt x="82005" y="56303"/>
                </a:lnTo>
                <a:lnTo>
                  <a:pt x="60154" y="52500"/>
                </a:lnTo>
                <a:lnTo>
                  <a:pt x="54950" y="45101"/>
                </a:lnTo>
                <a:lnTo>
                  <a:pt x="57656" y="29552"/>
                </a:lnTo>
                <a:lnTo>
                  <a:pt x="65055" y="24348"/>
                </a:lnTo>
                <a:lnTo>
                  <a:pt x="87566" y="24348"/>
                </a:lnTo>
                <a:lnTo>
                  <a:pt x="91804" y="0"/>
                </a:lnTo>
                <a:close/>
              </a:path>
              <a:path w="920115" h="215264">
                <a:moveTo>
                  <a:pt x="65055" y="24348"/>
                </a:moveTo>
                <a:lnTo>
                  <a:pt x="57656" y="29552"/>
                </a:lnTo>
                <a:lnTo>
                  <a:pt x="54950" y="45101"/>
                </a:lnTo>
                <a:lnTo>
                  <a:pt x="60154" y="52500"/>
                </a:lnTo>
                <a:lnTo>
                  <a:pt x="82005" y="56303"/>
                </a:lnTo>
                <a:lnTo>
                  <a:pt x="86904" y="28150"/>
                </a:lnTo>
                <a:lnTo>
                  <a:pt x="65055" y="24348"/>
                </a:lnTo>
                <a:close/>
              </a:path>
              <a:path w="920115" h="215264">
                <a:moveTo>
                  <a:pt x="87566" y="24348"/>
                </a:moveTo>
                <a:lnTo>
                  <a:pt x="65055" y="24348"/>
                </a:lnTo>
                <a:lnTo>
                  <a:pt x="86904" y="28150"/>
                </a:lnTo>
                <a:lnTo>
                  <a:pt x="87566" y="243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713347" y="6723724"/>
            <a:ext cx="16002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72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3398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8790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Possible</a:t>
            </a:r>
            <a:r>
              <a:rPr dirty="0" sz="3200" spc="-7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options: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3347" y="6723724"/>
            <a:ext cx="16002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73</a:t>
            </a:r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826259"/>
            <a:ext cx="7402830" cy="302196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30">
                <a:latin typeface="Calibri"/>
                <a:cs typeface="Calibri"/>
              </a:rPr>
              <a:t>Weight </a:t>
            </a:r>
            <a:r>
              <a:rPr dirty="0" sz="2800" spc="-5">
                <a:latin typeface="Calibri"/>
                <a:cs typeface="Calibri"/>
              </a:rPr>
              <a:t>(</a:t>
            </a:r>
            <a:r>
              <a:rPr dirty="0" sz="2800" spc="-5" i="1">
                <a:latin typeface="Calibri"/>
                <a:cs typeface="Calibri"/>
              </a:rPr>
              <a:t>e.g.</a:t>
            </a:r>
            <a:r>
              <a:rPr dirty="0" sz="2800" spc="-5">
                <a:latin typeface="Calibri"/>
                <a:cs typeface="Calibri"/>
              </a:rPr>
              <a:t>, </a:t>
            </a:r>
            <a:r>
              <a:rPr dirty="0" sz="2800" spc="-10">
                <a:latin typeface="Calibri"/>
                <a:cs typeface="Calibri"/>
              </a:rPr>
              <a:t>frequency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communication)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Ranking </a:t>
            </a:r>
            <a:r>
              <a:rPr dirty="0" sz="2800" spc="-10">
                <a:latin typeface="Calibri"/>
                <a:cs typeface="Calibri"/>
              </a:rPr>
              <a:t>(best </a:t>
            </a:r>
            <a:r>
              <a:rPr dirty="0" sz="2800" spc="-5">
                <a:latin typeface="Calibri"/>
                <a:cs typeface="Calibri"/>
              </a:rPr>
              <a:t>friend, </a:t>
            </a:r>
            <a:r>
              <a:rPr dirty="0" sz="2800" spc="-10">
                <a:latin typeface="Calibri"/>
                <a:cs typeface="Calibri"/>
              </a:rPr>
              <a:t>second best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friend…)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35">
                <a:latin typeface="Calibri"/>
                <a:cs typeface="Calibri"/>
              </a:rPr>
              <a:t>Type </a:t>
            </a:r>
            <a:r>
              <a:rPr dirty="0" sz="2800" spc="-5">
                <a:latin typeface="Calibri"/>
                <a:cs typeface="Calibri"/>
              </a:rPr>
              <a:t>(friend, </a:t>
            </a:r>
            <a:r>
              <a:rPr dirty="0" sz="2800" spc="-20">
                <a:latin typeface="Calibri"/>
                <a:cs typeface="Calibri"/>
              </a:rPr>
              <a:t>relative,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co-worker)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Sign: Friend vs. </a:t>
            </a:r>
            <a:r>
              <a:rPr dirty="0" sz="2800" spc="-15">
                <a:latin typeface="Calibri"/>
                <a:cs typeface="Calibri"/>
              </a:rPr>
              <a:t>Foe, </a:t>
            </a:r>
            <a:r>
              <a:rPr dirty="0" sz="2800" spc="-45">
                <a:latin typeface="Calibri"/>
                <a:cs typeface="Calibri"/>
              </a:rPr>
              <a:t>Trust </a:t>
            </a:r>
            <a:r>
              <a:rPr dirty="0" sz="2800" spc="-5">
                <a:latin typeface="Calibri"/>
                <a:cs typeface="Calibri"/>
              </a:rPr>
              <a:t>vs.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Distrust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ts val="3290"/>
              </a:lnSpc>
              <a:spcBef>
                <a:spcPts val="91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Properties </a:t>
            </a:r>
            <a:r>
              <a:rPr dirty="0" sz="2800" spc="-5">
                <a:latin typeface="Calibri"/>
                <a:cs typeface="Calibri"/>
              </a:rPr>
              <a:t>depending on the </a:t>
            </a:r>
            <a:r>
              <a:rPr dirty="0" sz="2800" spc="-10">
                <a:latin typeface="Calibri"/>
                <a:cs typeface="Calibri"/>
              </a:rPr>
              <a:t>structure </a:t>
            </a:r>
            <a:r>
              <a:rPr dirty="0" sz="2800" spc="-5">
                <a:latin typeface="Calibri"/>
                <a:cs typeface="Calibri"/>
              </a:rPr>
              <a:t>of the </a:t>
            </a:r>
            <a:r>
              <a:rPr dirty="0" sz="2800" spc="-165">
                <a:latin typeface="Calibri"/>
                <a:cs typeface="Calibri"/>
              </a:rPr>
              <a:t>rest  </a:t>
            </a:r>
            <a:r>
              <a:rPr dirty="0" sz="2800" spc="-5">
                <a:latin typeface="Calibri"/>
                <a:cs typeface="Calibri"/>
              </a:rPr>
              <a:t>of the </a:t>
            </a:r>
            <a:r>
              <a:rPr dirty="0" sz="2800" spc="-15">
                <a:latin typeface="Calibri"/>
                <a:cs typeface="Calibri"/>
              </a:rPr>
              <a:t>graph: </a:t>
            </a:r>
            <a:r>
              <a:rPr dirty="0" sz="2800" spc="-5">
                <a:latin typeface="Calibri"/>
                <a:cs typeface="Calibri"/>
              </a:rPr>
              <a:t>Number of </a:t>
            </a:r>
            <a:r>
              <a:rPr dirty="0" sz="2800" spc="-10">
                <a:latin typeface="Calibri"/>
                <a:cs typeface="Calibri"/>
              </a:rPr>
              <a:t>common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friends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4424"/>
            <a:ext cx="5212080" cy="554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54684" y="1347723"/>
            <a:ext cx="2139315" cy="731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 b="1">
                <a:solidFill>
                  <a:srgbClr val="FF0066"/>
                </a:solidFill>
                <a:latin typeface="Calibri"/>
                <a:cs typeface="Calibri"/>
              </a:rPr>
              <a:t>Unweighted</a:t>
            </a:r>
            <a:endParaRPr sz="28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40"/>
              </a:spcBef>
            </a:pPr>
            <a:r>
              <a:rPr dirty="0" sz="1800" spc="-5">
                <a:latin typeface="Calibri"/>
                <a:cs typeface="Calibri"/>
              </a:rPr>
              <a:t>(undirected)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09109" y="1347723"/>
            <a:ext cx="1767839" cy="731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19405" algn="l"/>
                <a:tab pos="332740" algn="l"/>
              </a:tabLst>
            </a:pPr>
            <a:r>
              <a:rPr dirty="0" sz="2800" spc="-25" b="1">
                <a:solidFill>
                  <a:srgbClr val="0000FF"/>
                </a:solidFill>
                <a:latin typeface="Calibri"/>
                <a:cs typeface="Calibri"/>
              </a:rPr>
              <a:t>Weighted</a:t>
            </a:r>
            <a:endParaRPr sz="2800">
              <a:latin typeface="Calibri"/>
              <a:cs typeface="Calibri"/>
            </a:endParaRPr>
          </a:p>
          <a:p>
            <a:pPr algn="ctr" marL="48260">
              <a:lnSpc>
                <a:spcPct val="100000"/>
              </a:lnSpc>
              <a:spcBef>
                <a:spcPts val="40"/>
              </a:spcBef>
            </a:pPr>
            <a:r>
              <a:rPr dirty="0" sz="1800" spc="-5">
                <a:latin typeface="Calibri"/>
                <a:cs typeface="Calibri"/>
              </a:rPr>
              <a:t>(undirected)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35138" y="2629678"/>
            <a:ext cx="241300" cy="991235"/>
          </a:xfrm>
          <a:custGeom>
            <a:avLst/>
            <a:gdLst/>
            <a:ahLst/>
            <a:cxnLst/>
            <a:rect l="l" t="t" r="r" b="b"/>
            <a:pathLst>
              <a:path w="241300" h="991235">
                <a:moveTo>
                  <a:pt x="241066" y="0"/>
                </a:moveTo>
                <a:lnTo>
                  <a:pt x="0" y="990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76204" y="2629678"/>
            <a:ext cx="794385" cy="685800"/>
          </a:xfrm>
          <a:custGeom>
            <a:avLst/>
            <a:gdLst/>
            <a:ahLst/>
            <a:cxnLst/>
            <a:rect l="l" t="t" r="r" b="b"/>
            <a:pathLst>
              <a:path w="794385" h="685800">
                <a:moveTo>
                  <a:pt x="0" y="0"/>
                </a:moveTo>
                <a:lnTo>
                  <a:pt x="793866" y="6857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35139" y="3315478"/>
            <a:ext cx="1035050" cy="305435"/>
          </a:xfrm>
          <a:custGeom>
            <a:avLst/>
            <a:gdLst/>
            <a:ahLst/>
            <a:cxnLst/>
            <a:rect l="l" t="t" r="r" b="b"/>
            <a:pathLst>
              <a:path w="1035050" h="305435">
                <a:moveTo>
                  <a:pt x="0" y="304808"/>
                </a:moveTo>
                <a:lnTo>
                  <a:pt x="103493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70072" y="2324879"/>
            <a:ext cx="381000" cy="990600"/>
          </a:xfrm>
          <a:custGeom>
            <a:avLst/>
            <a:gdLst/>
            <a:ahLst/>
            <a:cxnLst/>
            <a:rect l="l" t="t" r="r" b="b"/>
            <a:pathLst>
              <a:path w="381000" h="990600">
                <a:moveTo>
                  <a:pt x="380999" y="0"/>
                </a:moveTo>
                <a:lnTo>
                  <a:pt x="0" y="99059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07008" y="3419855"/>
            <a:ext cx="408431" cy="4084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50869" y="3438668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50869" y="3438668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66088" y="2423160"/>
            <a:ext cx="408431" cy="4053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11114" y="244073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8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8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11114" y="244073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572119" y="24714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679192" y="1972055"/>
            <a:ext cx="405383" cy="4084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21400" y="199023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1"/>
                </a:lnTo>
                <a:lnTo>
                  <a:pt x="160019" y="320039"/>
                </a:lnTo>
                <a:lnTo>
                  <a:pt x="210598" y="311881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1" y="210598"/>
                </a:lnTo>
                <a:lnTo>
                  <a:pt x="320039" y="160020"/>
                </a:lnTo>
                <a:lnTo>
                  <a:pt x="311881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721400" y="199023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276855" y="3139439"/>
            <a:ext cx="408431" cy="4084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20809" y="3158642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8" y="109441"/>
                </a:lnTo>
                <a:lnTo>
                  <a:pt x="0" y="160020"/>
                </a:lnTo>
                <a:lnTo>
                  <a:pt x="8158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320809" y="3158642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803438" y="200812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94513" y="316331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3231" y="4326807"/>
            <a:ext cx="193675" cy="3022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00" spc="215" i="1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50198" y="4480393"/>
            <a:ext cx="1244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85" i="1">
                <a:latin typeface="Times New Roman"/>
                <a:cs typeface="Times New Roman"/>
              </a:rPr>
              <a:t>ij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24574" y="3363310"/>
            <a:ext cx="382270" cy="95631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marL="116205">
              <a:lnSpc>
                <a:spcPts val="1985"/>
              </a:lnSpc>
              <a:spcBef>
                <a:spcPts val="600"/>
              </a:spcBef>
            </a:pPr>
            <a:r>
              <a:rPr dirty="0" sz="1800" spc="210">
                <a:latin typeface="Symbol"/>
                <a:cs typeface="Symbol"/>
              </a:rPr>
              <a:t></a:t>
            </a:r>
            <a:r>
              <a:rPr dirty="0" baseline="-4629" sz="2700" spc="262">
                <a:latin typeface="Times New Roman"/>
                <a:cs typeface="Times New Roman"/>
              </a:rPr>
              <a:t>0</a:t>
            </a:r>
            <a:endParaRPr baseline="-4629" sz="2700">
              <a:latin typeface="Times New Roman"/>
              <a:cs typeface="Times New Roman"/>
            </a:endParaRPr>
          </a:p>
          <a:p>
            <a:pPr marL="116205">
              <a:lnSpc>
                <a:spcPts val="1985"/>
              </a:lnSpc>
            </a:pPr>
            <a:r>
              <a:rPr dirty="0" sz="1800" spc="135">
                <a:latin typeface="Symbol"/>
                <a:cs typeface="Symbol"/>
              </a:rPr>
              <a:t>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28279" y="4715527"/>
            <a:ext cx="131445" cy="3022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00" spc="135">
                <a:latin typeface="Symbol"/>
                <a:cs typeface="Symbol"/>
              </a:rPr>
              <a:t>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35340" y="3786865"/>
            <a:ext cx="267335" cy="53276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1985"/>
              </a:lnSpc>
              <a:spcBef>
                <a:spcPts val="115"/>
              </a:spcBef>
            </a:pPr>
            <a:r>
              <a:rPr dirty="0" baseline="-4629" sz="2700" spc="247">
                <a:latin typeface="Times New Roman"/>
                <a:cs typeface="Times New Roman"/>
              </a:rPr>
              <a:t>0</a:t>
            </a:r>
            <a:r>
              <a:rPr dirty="0" sz="1800" spc="135">
                <a:latin typeface="Symbol"/>
                <a:cs typeface="Symbol"/>
              </a:rPr>
              <a:t></a:t>
            </a:r>
            <a:endParaRPr sz="1800">
              <a:latin typeface="Symbol"/>
              <a:cs typeface="Symbol"/>
            </a:endParaRPr>
          </a:p>
          <a:p>
            <a:pPr marL="147955">
              <a:lnSpc>
                <a:spcPts val="1985"/>
              </a:lnSpc>
            </a:pPr>
            <a:r>
              <a:rPr dirty="0" sz="1800" spc="-160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71226" y="4715527"/>
            <a:ext cx="131445" cy="3022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00" spc="-160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16662" y="5804068"/>
            <a:ext cx="376555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0" i="1">
                <a:latin typeface="Times New Roman"/>
                <a:cs typeface="Times New Roman"/>
              </a:rPr>
              <a:t>E</a:t>
            </a:r>
            <a:r>
              <a:rPr dirty="0" sz="1950" spc="-100" i="1">
                <a:latin typeface="Times New Roman"/>
                <a:cs typeface="Times New Roman"/>
              </a:rPr>
              <a:t> </a:t>
            </a:r>
            <a:r>
              <a:rPr dirty="0" sz="1950" spc="0">
                <a:latin typeface="Symbol"/>
                <a:cs typeface="Symbol"/>
              </a:rPr>
              <a:t>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36195" y="5652446"/>
            <a:ext cx="150495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0" u="sng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37494" y="6073180"/>
            <a:ext cx="487045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15669" sz="2925" spc="0">
                <a:latin typeface="Times New Roman"/>
                <a:cs typeface="Times New Roman"/>
              </a:rPr>
              <a:t>2</a:t>
            </a:r>
            <a:r>
              <a:rPr dirty="0" baseline="15669" sz="2925" spc="-405">
                <a:latin typeface="Times New Roman"/>
                <a:cs typeface="Times New Roman"/>
              </a:rPr>
              <a:t> </a:t>
            </a:r>
            <a:r>
              <a:rPr dirty="0" sz="1150" spc="-5" i="1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, </a:t>
            </a:r>
            <a:r>
              <a:rPr dirty="0" sz="1150" spc="-30" i="1">
                <a:latin typeface="Times New Roman"/>
                <a:cs typeface="Times New Roman"/>
              </a:rPr>
              <a:t>j</a:t>
            </a:r>
            <a:r>
              <a:rPr dirty="0" sz="1150" spc="-30">
                <a:latin typeface="Symbol"/>
                <a:cs typeface="Symbol"/>
              </a:rPr>
              <a:t></a:t>
            </a:r>
            <a:r>
              <a:rPr dirty="0" sz="1150" spc="-3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31882" y="3739544"/>
            <a:ext cx="2170430" cy="209613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algn="ctr" marL="207645">
              <a:lnSpc>
                <a:spcPct val="100000"/>
              </a:lnSpc>
              <a:spcBef>
                <a:spcPts val="655"/>
              </a:spcBef>
              <a:tabLst>
                <a:tab pos="738505" algn="l"/>
              </a:tabLst>
            </a:pPr>
            <a:r>
              <a:rPr dirty="0" sz="1800" spc="175">
                <a:latin typeface="Times New Roman"/>
                <a:cs typeface="Times New Roman"/>
              </a:rPr>
              <a:t>1	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  <a:tabLst>
                <a:tab pos="854710" algn="l"/>
                <a:tab pos="1385570" algn="l"/>
                <a:tab pos="1915795" algn="l"/>
              </a:tabLst>
            </a:pPr>
            <a:r>
              <a:rPr dirty="0" baseline="-41666" sz="2700" spc="300">
                <a:latin typeface="Symbol"/>
                <a:cs typeface="Symbol"/>
              </a:rPr>
              <a:t></a:t>
            </a:r>
            <a:r>
              <a:rPr dirty="0" baseline="-41666" sz="2700" spc="-142">
                <a:latin typeface="Times New Roman"/>
                <a:cs typeface="Times New Roman"/>
              </a:rPr>
              <a:t> </a:t>
            </a:r>
            <a:r>
              <a:rPr dirty="0" baseline="-23148" sz="2700" spc="315">
                <a:latin typeface="Symbol"/>
                <a:cs typeface="Symbol"/>
              </a:rPr>
              <a:t></a:t>
            </a:r>
            <a:r>
              <a:rPr dirty="0" sz="1800" spc="17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65">
                <a:latin typeface="Times New Roman"/>
                <a:cs typeface="Times New Roman"/>
              </a:rPr>
              <a:t>1</a:t>
            </a:r>
            <a:r>
              <a:rPr dirty="0" baseline="-23148" sz="2700" spc="-240">
                <a:latin typeface="Symbol"/>
                <a:cs typeface="Symbol"/>
              </a:rPr>
              <a:t></a:t>
            </a:r>
            <a:endParaRPr baseline="-23148" sz="2700">
              <a:latin typeface="Symbol"/>
              <a:cs typeface="Symbol"/>
            </a:endParaRPr>
          </a:p>
          <a:p>
            <a:pPr marL="208915">
              <a:lnSpc>
                <a:spcPct val="100000"/>
              </a:lnSpc>
              <a:spcBef>
                <a:spcPts val="555"/>
              </a:spcBef>
              <a:tabLst>
                <a:tab pos="854710" algn="l"/>
                <a:tab pos="1385570" algn="l"/>
                <a:tab pos="1915795" algn="l"/>
              </a:tabLst>
            </a:pPr>
            <a:r>
              <a:rPr dirty="0" baseline="4629" sz="2700" spc="315">
                <a:latin typeface="Symbol"/>
                <a:cs typeface="Symbol"/>
              </a:rPr>
              <a:t></a:t>
            </a:r>
            <a:r>
              <a:rPr dirty="0" sz="1800" spc="17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65">
                <a:latin typeface="Times New Roman"/>
                <a:cs typeface="Times New Roman"/>
              </a:rPr>
              <a:t>0</a:t>
            </a:r>
            <a:r>
              <a:rPr dirty="0" baseline="4629" sz="2700" spc="-240">
                <a:latin typeface="Symbol"/>
                <a:cs typeface="Symbol"/>
              </a:rPr>
              <a:t></a:t>
            </a:r>
            <a:endParaRPr baseline="4629" sz="2700">
              <a:latin typeface="Symbol"/>
              <a:cs typeface="Symbol"/>
            </a:endParaRPr>
          </a:p>
          <a:p>
            <a:pPr marL="208915">
              <a:lnSpc>
                <a:spcPct val="100000"/>
              </a:lnSpc>
              <a:spcBef>
                <a:spcPts val="555"/>
              </a:spcBef>
              <a:tabLst>
                <a:tab pos="854710" algn="l"/>
                <a:tab pos="1385570" algn="l"/>
                <a:tab pos="1915795" algn="l"/>
              </a:tabLst>
            </a:pPr>
            <a:r>
              <a:rPr dirty="0" baseline="-7716" sz="2700" spc="315">
                <a:latin typeface="Symbol"/>
                <a:cs typeface="Symbol"/>
              </a:rPr>
              <a:t></a:t>
            </a:r>
            <a:r>
              <a:rPr dirty="0" sz="1800" spc="17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65">
                <a:latin typeface="Times New Roman"/>
                <a:cs typeface="Times New Roman"/>
              </a:rPr>
              <a:t>0</a:t>
            </a:r>
            <a:r>
              <a:rPr dirty="0" baseline="-7716" sz="2700" spc="202">
                <a:latin typeface="Symbol"/>
                <a:cs typeface="Symbol"/>
              </a:rPr>
              <a:t></a:t>
            </a:r>
            <a:endParaRPr baseline="-7716" sz="2700">
              <a:latin typeface="Symbol"/>
              <a:cs typeface="Symbol"/>
            </a:endParaRPr>
          </a:p>
          <a:p>
            <a:pPr marL="177165">
              <a:lnSpc>
                <a:spcPct val="100000"/>
              </a:lnSpc>
              <a:spcBef>
                <a:spcPts val="555"/>
              </a:spcBef>
            </a:pPr>
            <a:r>
              <a:rPr dirty="0" sz="1950" spc="-35" i="1">
                <a:latin typeface="Times New Roman"/>
                <a:cs typeface="Times New Roman"/>
              </a:rPr>
              <a:t>A</a:t>
            </a:r>
            <a:r>
              <a:rPr dirty="0" baseline="-24154" sz="1725" spc="-52" i="1">
                <a:latin typeface="Times New Roman"/>
                <a:cs typeface="Times New Roman"/>
              </a:rPr>
              <a:t>ii </a:t>
            </a:r>
            <a:r>
              <a:rPr dirty="0" sz="1950" spc="0">
                <a:latin typeface="Symbol"/>
                <a:cs typeface="Symbol"/>
              </a:rPr>
              <a:t></a:t>
            </a:r>
            <a:r>
              <a:rPr dirty="0" sz="1950" spc="-105">
                <a:latin typeface="Times New Roman"/>
                <a:cs typeface="Times New Roman"/>
              </a:rPr>
              <a:t> </a:t>
            </a:r>
            <a:r>
              <a:rPr dirty="0" sz="1950" spc="0">
                <a:latin typeface="Times New Roman"/>
                <a:cs typeface="Times New Roman"/>
              </a:rPr>
              <a:t>0</a:t>
            </a:r>
            <a:endParaRPr sz="1950">
              <a:latin typeface="Times New Roman"/>
              <a:cs typeface="Times New Roman"/>
            </a:endParaRPr>
          </a:p>
          <a:p>
            <a:pPr marL="579755">
              <a:lnSpc>
                <a:spcPct val="100000"/>
              </a:lnSpc>
              <a:spcBef>
                <a:spcPts val="1135"/>
              </a:spcBef>
            </a:pPr>
            <a:r>
              <a:rPr dirty="0" sz="1150" spc="-10" i="1">
                <a:latin typeface="Times New Roman"/>
                <a:cs typeface="Times New Roman"/>
              </a:rPr>
              <a:t>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25279" y="5110395"/>
            <a:ext cx="766445" cy="72580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baseline="14245" sz="2925" spc="-52" i="1">
                <a:latin typeface="Times New Roman"/>
                <a:cs typeface="Times New Roman"/>
              </a:rPr>
              <a:t>A</a:t>
            </a:r>
            <a:r>
              <a:rPr dirty="0" sz="1150" spc="-35" i="1">
                <a:latin typeface="Times New Roman"/>
                <a:cs typeface="Times New Roman"/>
              </a:rPr>
              <a:t>ij </a:t>
            </a:r>
            <a:r>
              <a:rPr dirty="0" baseline="14245" sz="2925" spc="0">
                <a:latin typeface="Symbol"/>
                <a:cs typeface="Symbol"/>
              </a:rPr>
              <a:t></a:t>
            </a:r>
            <a:r>
              <a:rPr dirty="0" baseline="14245" sz="2925" spc="15">
                <a:latin typeface="Times New Roman"/>
                <a:cs typeface="Times New Roman"/>
              </a:rPr>
              <a:t> </a:t>
            </a:r>
            <a:r>
              <a:rPr dirty="0" baseline="14245" sz="2925" spc="37" i="1">
                <a:latin typeface="Times New Roman"/>
                <a:cs typeface="Times New Roman"/>
              </a:rPr>
              <a:t>A</a:t>
            </a:r>
            <a:r>
              <a:rPr dirty="0" sz="1150" spc="25" i="1">
                <a:latin typeface="Times New Roman"/>
                <a:cs typeface="Times New Roman"/>
              </a:rPr>
              <a:t>ji</a:t>
            </a:r>
            <a:endParaRPr sz="115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  <a:spcBef>
                <a:spcPts val="645"/>
              </a:spcBef>
            </a:pPr>
            <a:r>
              <a:rPr dirty="0" sz="1150" spc="-5" u="sng">
                <a:latin typeface="Times New Roman"/>
                <a:cs typeface="Times New Roman"/>
              </a:rPr>
              <a:t> </a:t>
            </a:r>
            <a:r>
              <a:rPr dirty="0" sz="1150" spc="-5" u="sng">
                <a:latin typeface="Times New Roman"/>
                <a:cs typeface="Times New Roman"/>
              </a:rPr>
              <a:t> 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19334" y="5741056"/>
            <a:ext cx="556260" cy="479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aseline="2824" sz="4425" spc="-7">
                <a:latin typeface="Symbol"/>
                <a:cs typeface="Symbol"/>
              </a:rPr>
              <a:t></a:t>
            </a:r>
            <a:r>
              <a:rPr dirty="0" baseline="2824" sz="4425" spc="-735">
                <a:latin typeface="Times New Roman"/>
                <a:cs typeface="Times New Roman"/>
              </a:rPr>
              <a:t> </a:t>
            </a:r>
            <a:r>
              <a:rPr dirty="0" baseline="14245" sz="2925" spc="-52" i="1">
                <a:latin typeface="Times New Roman"/>
                <a:cs typeface="Times New Roman"/>
              </a:rPr>
              <a:t>A</a:t>
            </a:r>
            <a:r>
              <a:rPr dirty="0" sz="1150" spc="-35" i="1">
                <a:latin typeface="Times New Roman"/>
                <a:cs typeface="Times New Roman"/>
              </a:rPr>
              <a:t>ij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51257" y="5804068"/>
            <a:ext cx="333375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0" i="1">
                <a:latin typeface="Times New Roman"/>
                <a:cs typeface="Times New Roman"/>
              </a:rPr>
              <a:t>k</a:t>
            </a:r>
            <a:r>
              <a:rPr dirty="0" sz="1950" spc="-114" i="1">
                <a:latin typeface="Times New Roman"/>
                <a:cs typeface="Times New Roman"/>
              </a:rPr>
              <a:t> </a:t>
            </a:r>
            <a:r>
              <a:rPr dirty="0" sz="1950" spc="0">
                <a:latin typeface="Symbol"/>
                <a:cs typeface="Symbol"/>
              </a:rPr>
              <a:t>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29226" y="5602431"/>
            <a:ext cx="316865" cy="7308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5565" marR="5080" indent="-63500">
              <a:lnSpc>
                <a:spcPct val="118600"/>
              </a:lnSpc>
              <a:spcBef>
                <a:spcPts val="90"/>
              </a:spcBef>
            </a:pPr>
            <a:r>
              <a:rPr dirty="0" sz="1950" spc="110" u="sng">
                <a:latin typeface="Times New Roman"/>
                <a:cs typeface="Times New Roman"/>
              </a:rPr>
              <a:t>2</a:t>
            </a:r>
            <a:r>
              <a:rPr dirty="0" sz="1950" spc="0" i="1" u="sng">
                <a:latin typeface="Times New Roman"/>
                <a:cs typeface="Times New Roman"/>
              </a:rPr>
              <a:t>E </a:t>
            </a:r>
            <a:r>
              <a:rPr dirty="0" sz="1950" i="1">
                <a:latin typeface="Times New Roman"/>
                <a:cs typeface="Times New Roman"/>
              </a:rPr>
              <a:t> </a:t>
            </a:r>
            <a:r>
              <a:rPr dirty="0" sz="1950" spc="0" i="1">
                <a:latin typeface="Times New Roman"/>
                <a:cs typeface="Times New Roman"/>
              </a:rPr>
              <a:t>N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007138" y="2653135"/>
            <a:ext cx="241300" cy="991235"/>
          </a:xfrm>
          <a:custGeom>
            <a:avLst/>
            <a:gdLst/>
            <a:ahLst/>
            <a:cxnLst/>
            <a:rect l="l" t="t" r="r" b="b"/>
            <a:pathLst>
              <a:path w="241300" h="991235">
                <a:moveTo>
                  <a:pt x="241066" y="0"/>
                </a:moveTo>
                <a:lnTo>
                  <a:pt x="0" y="990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248204" y="2653135"/>
            <a:ext cx="794385" cy="685800"/>
          </a:xfrm>
          <a:custGeom>
            <a:avLst/>
            <a:gdLst/>
            <a:ahLst/>
            <a:cxnLst/>
            <a:rect l="l" t="t" r="r" b="b"/>
            <a:pathLst>
              <a:path w="794384" h="685800">
                <a:moveTo>
                  <a:pt x="0" y="0"/>
                </a:moveTo>
                <a:lnTo>
                  <a:pt x="793866" y="685799"/>
                </a:lnTo>
              </a:path>
            </a:pathLst>
          </a:custGeom>
          <a:ln w="571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007137" y="3338934"/>
            <a:ext cx="1035050" cy="305435"/>
          </a:xfrm>
          <a:custGeom>
            <a:avLst/>
            <a:gdLst/>
            <a:ahLst/>
            <a:cxnLst/>
            <a:rect l="l" t="t" r="r" b="b"/>
            <a:pathLst>
              <a:path w="1035050" h="305435">
                <a:moveTo>
                  <a:pt x="0" y="304808"/>
                </a:moveTo>
                <a:lnTo>
                  <a:pt x="103493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042072" y="2348336"/>
            <a:ext cx="381000" cy="990600"/>
          </a:xfrm>
          <a:custGeom>
            <a:avLst/>
            <a:gdLst/>
            <a:ahLst/>
            <a:cxnLst/>
            <a:rect l="l" t="t" r="r" b="b"/>
            <a:pathLst>
              <a:path w="381000" h="990600">
                <a:moveTo>
                  <a:pt x="380999" y="0"/>
                </a:moveTo>
                <a:lnTo>
                  <a:pt x="0" y="990598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779008" y="3444240"/>
            <a:ext cx="408432" cy="4084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822870" y="346212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1"/>
                </a:lnTo>
                <a:lnTo>
                  <a:pt x="160020" y="320039"/>
                </a:lnTo>
                <a:lnTo>
                  <a:pt x="210598" y="311881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822870" y="346212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038088" y="2444495"/>
            <a:ext cx="408432" cy="40843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083114" y="2464192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1"/>
                </a:lnTo>
                <a:lnTo>
                  <a:pt x="160019" y="320040"/>
                </a:lnTo>
                <a:lnTo>
                  <a:pt x="210598" y="311881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083114" y="2464192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6154513" y="24714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251192" y="1996439"/>
            <a:ext cx="405383" cy="4053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293399" y="201369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1"/>
                </a:lnTo>
                <a:lnTo>
                  <a:pt x="160020" y="320040"/>
                </a:lnTo>
                <a:lnTo>
                  <a:pt x="210598" y="311881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293399" y="201369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848856" y="3163823"/>
            <a:ext cx="408431" cy="4084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892809" y="3182099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8" y="109441"/>
                </a:lnTo>
                <a:lnTo>
                  <a:pt x="0" y="160019"/>
                </a:lnTo>
                <a:lnTo>
                  <a:pt x="8158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892809" y="3182099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7385833" y="20355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976909" y="31877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207286" y="4326807"/>
            <a:ext cx="194310" cy="3022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00" spc="225" i="1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373335" y="4480393"/>
            <a:ext cx="123825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85" i="1">
                <a:latin typeface="Times New Roman"/>
                <a:cs typeface="Times New Roman"/>
              </a:rPr>
              <a:t>ij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749225" y="3417960"/>
            <a:ext cx="381635" cy="90170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ctr" marL="86360">
              <a:lnSpc>
                <a:spcPct val="100000"/>
              </a:lnSpc>
              <a:spcBef>
                <a:spcPts val="47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85"/>
              </a:lnSpc>
              <a:spcBef>
                <a:spcPts val="385"/>
              </a:spcBef>
            </a:pPr>
            <a:r>
              <a:rPr dirty="0" sz="1800" spc="135">
                <a:latin typeface="Symbol"/>
                <a:cs typeface="Symbol"/>
              </a:rPr>
              <a:t></a:t>
            </a:r>
            <a:r>
              <a:rPr dirty="0" sz="1800" spc="325">
                <a:latin typeface="Times New Roman"/>
                <a:cs typeface="Times New Roman"/>
              </a:rPr>
              <a:t> </a:t>
            </a:r>
            <a:r>
              <a:rPr dirty="0" baseline="-4629" sz="2700" spc="270">
                <a:latin typeface="Times New Roman"/>
                <a:cs typeface="Times New Roman"/>
              </a:rPr>
              <a:t>0</a:t>
            </a:r>
            <a:endParaRPr baseline="-4629" sz="2700">
              <a:latin typeface="Times New Roman"/>
              <a:cs typeface="Times New Roman"/>
            </a:endParaRPr>
          </a:p>
          <a:p>
            <a:pPr marL="12700">
              <a:lnSpc>
                <a:spcPts val="1985"/>
              </a:lnSpc>
            </a:pPr>
            <a:r>
              <a:rPr dirty="0" sz="1800" spc="135">
                <a:latin typeface="Symbol"/>
                <a:cs typeface="Symbol"/>
              </a:rPr>
              <a:t>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749225" y="4715527"/>
            <a:ext cx="132080" cy="3022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00" spc="135">
                <a:latin typeface="Symbol"/>
                <a:cs typeface="Symbol"/>
              </a:rPr>
              <a:t>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041008" y="4017240"/>
            <a:ext cx="132080" cy="3022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00" spc="-155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041008" y="4715527"/>
            <a:ext cx="132080" cy="3022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00" spc="-155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7590416" y="5780911"/>
            <a:ext cx="117475" cy="0"/>
          </a:xfrm>
          <a:custGeom>
            <a:avLst/>
            <a:gdLst/>
            <a:ahLst/>
            <a:cxnLst/>
            <a:rect l="l" t="t" r="r" b="b"/>
            <a:pathLst>
              <a:path w="117475" h="0">
                <a:moveTo>
                  <a:pt x="0" y="0"/>
                </a:moveTo>
                <a:lnTo>
                  <a:pt x="117002" y="0"/>
                </a:lnTo>
              </a:path>
            </a:pathLst>
          </a:custGeom>
          <a:ln w="101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8037267" y="5942299"/>
            <a:ext cx="192405" cy="318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35" i="1">
                <a:latin typeface="Times New Roman"/>
                <a:cs typeface="Times New Roman"/>
              </a:rPr>
              <a:t>N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75" name="object 7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76" name="object 76"/>
          <p:cNvSpPr txBox="1"/>
          <p:nvPr/>
        </p:nvSpPr>
        <p:spPr>
          <a:xfrm>
            <a:off x="8713347" y="6723724"/>
            <a:ext cx="16002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74</a:t>
            </a:r>
            <a:endParaRPr sz="900">
              <a:latin typeface="Corbel"/>
              <a:cs typeface="Corbe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093466" y="5914353"/>
            <a:ext cx="10604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0" i="1">
                <a:latin typeface="Times New Roman"/>
                <a:cs typeface="Times New Roman"/>
              </a:rPr>
              <a:t>ij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549767" y="5325919"/>
            <a:ext cx="238125" cy="318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14619" sz="2850" spc="-187" i="1">
                <a:latin typeface="Times New Roman"/>
                <a:cs typeface="Times New Roman"/>
              </a:rPr>
              <a:t>A</a:t>
            </a:r>
            <a:r>
              <a:rPr dirty="0" sz="1100" spc="0" i="1">
                <a:latin typeface="Times New Roman"/>
                <a:cs typeface="Times New Roman"/>
              </a:rPr>
              <a:t>ij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547725" y="5942299"/>
            <a:ext cx="150495" cy="318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25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573815" y="5597898"/>
            <a:ext cx="717550" cy="318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-35087" sz="2850" spc="37" i="1">
                <a:latin typeface="Times New Roman"/>
                <a:cs typeface="Times New Roman"/>
              </a:rPr>
              <a:t>k </a:t>
            </a:r>
            <a:r>
              <a:rPr dirty="0" baseline="-35087" sz="2850" spc="44">
                <a:latin typeface="Symbol"/>
                <a:cs typeface="Symbol"/>
              </a:rPr>
              <a:t></a:t>
            </a:r>
            <a:r>
              <a:rPr dirty="0" baseline="-35087" sz="2850" spc="232">
                <a:latin typeface="Times New Roman"/>
                <a:cs typeface="Times New Roman"/>
              </a:rPr>
              <a:t> </a:t>
            </a:r>
            <a:r>
              <a:rPr dirty="0" sz="1900" spc="75" u="sng">
                <a:latin typeface="Times New Roman"/>
                <a:cs typeface="Times New Roman"/>
              </a:rPr>
              <a:t>2</a:t>
            </a:r>
            <a:r>
              <a:rPr dirty="0" sz="1900" spc="75" i="1" u="sng">
                <a:latin typeface="Times New Roman"/>
                <a:cs typeface="Times New Roman"/>
              </a:rPr>
              <a:t>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554167" y="3739544"/>
            <a:ext cx="2783205" cy="1844039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068070">
              <a:lnSpc>
                <a:spcPct val="100000"/>
              </a:lnSpc>
              <a:spcBef>
                <a:spcPts val="655"/>
              </a:spcBef>
              <a:tabLst>
                <a:tab pos="1606550" algn="l"/>
                <a:tab pos="2353310" algn="l"/>
              </a:tabLst>
            </a:pPr>
            <a:r>
              <a:rPr dirty="0" sz="1800" spc="180">
                <a:latin typeface="Times New Roman"/>
                <a:cs typeface="Times New Roman"/>
              </a:rPr>
              <a:t>2	</a:t>
            </a:r>
            <a:r>
              <a:rPr dirty="0" sz="1800" spc="150">
                <a:latin typeface="Times New Roman"/>
                <a:cs typeface="Times New Roman"/>
              </a:rPr>
              <a:t>0.5	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baseline="4629" sz="2700" spc="277">
                <a:latin typeface="Symbol"/>
                <a:cs typeface="Symbol"/>
              </a:rPr>
              <a:t></a:t>
            </a:r>
            <a:endParaRPr baseline="4629" sz="27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  <a:tabLst>
                <a:tab pos="1068070" algn="l"/>
                <a:tab pos="1710055" algn="l"/>
                <a:tab pos="2353310" algn="l"/>
              </a:tabLst>
            </a:pPr>
            <a:r>
              <a:rPr dirty="0" baseline="-41666" sz="2700" spc="300">
                <a:latin typeface="Symbol"/>
                <a:cs typeface="Symbol"/>
              </a:rPr>
              <a:t></a:t>
            </a:r>
            <a:r>
              <a:rPr dirty="0" baseline="-41666" sz="2700" spc="-165">
                <a:latin typeface="Times New Roman"/>
                <a:cs typeface="Times New Roman"/>
              </a:rPr>
              <a:t> </a:t>
            </a:r>
            <a:r>
              <a:rPr dirty="0" baseline="-23148" sz="2700" spc="202">
                <a:latin typeface="Symbol"/>
                <a:cs typeface="Symbol"/>
              </a:rPr>
              <a:t></a:t>
            </a:r>
            <a:r>
              <a:rPr dirty="0" baseline="-23148" sz="2700" spc="637">
                <a:latin typeface="Times New Roman"/>
                <a:cs typeface="Times New Roman"/>
              </a:rPr>
              <a:t> </a:t>
            </a:r>
            <a:r>
              <a:rPr dirty="0" sz="1800" spc="180">
                <a:latin typeface="Times New Roman"/>
                <a:cs typeface="Times New Roman"/>
              </a:rPr>
              <a:t>2	0	1	</a:t>
            </a:r>
            <a:r>
              <a:rPr dirty="0" sz="1800" spc="40">
                <a:latin typeface="Times New Roman"/>
                <a:cs typeface="Times New Roman"/>
              </a:rPr>
              <a:t>4</a:t>
            </a:r>
            <a:r>
              <a:rPr dirty="0" baseline="-23148" sz="2700" spc="60">
                <a:latin typeface="Symbol"/>
                <a:cs typeface="Symbol"/>
              </a:rPr>
              <a:t></a:t>
            </a:r>
            <a:endParaRPr baseline="-23148" sz="2700">
              <a:latin typeface="Symbol"/>
              <a:cs typeface="Symbol"/>
            </a:endParaRPr>
          </a:p>
          <a:p>
            <a:pPr marL="207645">
              <a:lnSpc>
                <a:spcPct val="100000"/>
              </a:lnSpc>
              <a:spcBef>
                <a:spcPts val="555"/>
              </a:spcBef>
              <a:tabLst>
                <a:tab pos="1068070" algn="l"/>
                <a:tab pos="1710055" algn="l"/>
                <a:tab pos="2353310" algn="l"/>
              </a:tabLst>
            </a:pPr>
            <a:r>
              <a:rPr dirty="0" baseline="4629" sz="2700" spc="240">
                <a:latin typeface="Symbol"/>
                <a:cs typeface="Symbol"/>
              </a:rPr>
              <a:t></a:t>
            </a:r>
            <a:r>
              <a:rPr dirty="0" sz="1800" spc="160">
                <a:latin typeface="Times New Roman"/>
                <a:cs typeface="Times New Roman"/>
              </a:rPr>
              <a:t>0.5	</a:t>
            </a:r>
            <a:r>
              <a:rPr dirty="0" sz="1800" spc="180">
                <a:latin typeface="Times New Roman"/>
                <a:cs typeface="Times New Roman"/>
              </a:rPr>
              <a:t>1	0	</a:t>
            </a:r>
            <a:r>
              <a:rPr dirty="0" sz="1800" spc="40">
                <a:latin typeface="Times New Roman"/>
                <a:cs typeface="Times New Roman"/>
              </a:rPr>
              <a:t>0</a:t>
            </a:r>
            <a:r>
              <a:rPr dirty="0" baseline="4629" sz="2700" spc="60">
                <a:latin typeface="Symbol"/>
                <a:cs typeface="Symbol"/>
              </a:rPr>
              <a:t></a:t>
            </a:r>
            <a:endParaRPr baseline="4629" sz="2700">
              <a:latin typeface="Symbol"/>
              <a:cs typeface="Symbol"/>
            </a:endParaRPr>
          </a:p>
          <a:p>
            <a:pPr marL="207645">
              <a:lnSpc>
                <a:spcPct val="100000"/>
              </a:lnSpc>
              <a:spcBef>
                <a:spcPts val="555"/>
              </a:spcBef>
              <a:tabLst>
                <a:tab pos="1068070" algn="l"/>
                <a:tab pos="1710055" algn="l"/>
                <a:tab pos="2353310" algn="l"/>
              </a:tabLst>
            </a:pPr>
            <a:r>
              <a:rPr dirty="0" baseline="-7716" sz="2700" spc="202">
                <a:latin typeface="Symbol"/>
                <a:cs typeface="Symbol"/>
              </a:rPr>
              <a:t></a:t>
            </a:r>
            <a:r>
              <a:rPr dirty="0" baseline="-7716" sz="2700" spc="637">
                <a:latin typeface="Times New Roman"/>
                <a:cs typeface="Times New Roman"/>
              </a:rPr>
              <a:t> </a:t>
            </a:r>
            <a:r>
              <a:rPr dirty="0" sz="1800" spc="180">
                <a:latin typeface="Times New Roman"/>
                <a:cs typeface="Times New Roman"/>
              </a:rPr>
              <a:t>0	4	0	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baseline="-7716" sz="2700" spc="277">
                <a:latin typeface="Symbol"/>
                <a:cs typeface="Symbol"/>
              </a:rPr>
              <a:t></a:t>
            </a:r>
            <a:endParaRPr baseline="-7716" sz="2700">
              <a:latin typeface="Symbol"/>
              <a:cs typeface="Symbol"/>
            </a:endParaRPr>
          </a:p>
          <a:p>
            <a:pPr marL="354965">
              <a:lnSpc>
                <a:spcPct val="100000"/>
              </a:lnSpc>
              <a:spcBef>
                <a:spcPts val="1145"/>
              </a:spcBef>
              <a:tabLst>
                <a:tab pos="2311400" algn="l"/>
              </a:tabLst>
            </a:pPr>
            <a:r>
              <a:rPr dirty="0" sz="1900" spc="-35" i="1">
                <a:latin typeface="Times New Roman"/>
                <a:cs typeface="Times New Roman"/>
              </a:rPr>
              <a:t>A</a:t>
            </a:r>
            <a:r>
              <a:rPr dirty="0" baseline="-25252" sz="1650" spc="-52" i="1">
                <a:latin typeface="Times New Roman"/>
                <a:cs typeface="Times New Roman"/>
              </a:rPr>
              <a:t>ii</a:t>
            </a:r>
            <a:r>
              <a:rPr dirty="0" baseline="-25252" sz="1650" spc="187" i="1">
                <a:latin typeface="Times New Roman"/>
                <a:cs typeface="Times New Roman"/>
              </a:rPr>
              <a:t> </a:t>
            </a:r>
            <a:r>
              <a:rPr dirty="0" sz="1900" spc="30">
                <a:latin typeface="Symbol"/>
                <a:cs typeface="Symbol"/>
              </a:rPr>
              <a:t></a:t>
            </a:r>
            <a:r>
              <a:rPr dirty="0" sz="1900" spc="-50">
                <a:latin typeface="Times New Roman"/>
                <a:cs typeface="Times New Roman"/>
              </a:rPr>
              <a:t> </a:t>
            </a:r>
            <a:r>
              <a:rPr dirty="0" sz="1900" spc="25">
                <a:latin typeface="Times New Roman"/>
                <a:cs typeface="Times New Roman"/>
              </a:rPr>
              <a:t>0	</a:t>
            </a:r>
            <a:r>
              <a:rPr dirty="0" sz="1900" spc="30">
                <a:latin typeface="Symbol"/>
                <a:cs typeface="Symbol"/>
              </a:rPr>
              <a:t></a:t>
            </a:r>
            <a:r>
              <a:rPr dirty="0" sz="1900" spc="40">
                <a:latin typeface="Times New Roman"/>
                <a:cs typeface="Times New Roman"/>
              </a:rPr>
              <a:t> </a:t>
            </a:r>
            <a:r>
              <a:rPr dirty="0" sz="1900" spc="35" i="1">
                <a:latin typeface="Times New Roman"/>
                <a:cs typeface="Times New Roman"/>
              </a:rPr>
              <a:t>A</a:t>
            </a:r>
            <a:r>
              <a:rPr dirty="0" baseline="-25252" sz="1650" spc="52" i="1">
                <a:latin typeface="Times New Roman"/>
                <a:cs typeface="Times New Roman"/>
              </a:rPr>
              <a:t>ji</a:t>
            </a:r>
            <a:endParaRPr baseline="-25252" sz="16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109617" y="5605519"/>
            <a:ext cx="2209800" cy="488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728345">
              <a:lnSpc>
                <a:spcPts val="760"/>
              </a:lnSpc>
              <a:spcBef>
                <a:spcPts val="120"/>
              </a:spcBef>
            </a:pPr>
            <a:r>
              <a:rPr dirty="0" sz="1100" spc="25" i="1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2860"/>
              </a:lnSpc>
            </a:pPr>
            <a:r>
              <a:rPr dirty="0" sz="1900" spc="35" i="1">
                <a:latin typeface="Times New Roman"/>
                <a:cs typeface="Times New Roman"/>
              </a:rPr>
              <a:t>E </a:t>
            </a:r>
            <a:r>
              <a:rPr dirty="0" sz="1900" spc="30">
                <a:latin typeface="Symbol"/>
                <a:cs typeface="Symbol"/>
              </a:rPr>
              <a:t></a:t>
            </a:r>
            <a:r>
              <a:rPr dirty="0" sz="1900" spc="30">
                <a:latin typeface="Times New Roman"/>
                <a:cs typeface="Times New Roman"/>
              </a:rPr>
              <a:t> </a:t>
            </a:r>
            <a:r>
              <a:rPr dirty="0" baseline="35087" sz="2850" spc="37" u="sng">
                <a:latin typeface="Times New Roman"/>
                <a:cs typeface="Times New Roman"/>
              </a:rPr>
              <a:t>1</a:t>
            </a:r>
            <a:r>
              <a:rPr dirty="0" baseline="35087" sz="2850" spc="37">
                <a:latin typeface="Times New Roman"/>
                <a:cs typeface="Times New Roman"/>
              </a:rPr>
              <a:t> </a:t>
            </a:r>
            <a:r>
              <a:rPr dirty="0" baseline="-8771" sz="4275" spc="97">
                <a:latin typeface="Symbol"/>
                <a:cs typeface="Symbol"/>
              </a:rPr>
              <a:t></a:t>
            </a:r>
            <a:r>
              <a:rPr dirty="0" baseline="-8771" sz="4275" spc="-900">
                <a:latin typeface="Times New Roman"/>
                <a:cs typeface="Times New Roman"/>
              </a:rPr>
              <a:t> </a:t>
            </a:r>
            <a:r>
              <a:rPr dirty="0" sz="1900" spc="25" i="1">
                <a:latin typeface="Times New Roman"/>
                <a:cs typeface="Times New Roman"/>
              </a:rPr>
              <a:t>nonzero</a:t>
            </a:r>
            <a:r>
              <a:rPr dirty="0" sz="1900" spc="25">
                <a:latin typeface="Times New Roman"/>
                <a:cs typeface="Times New Roman"/>
              </a:rPr>
              <a:t>( </a:t>
            </a:r>
            <a:r>
              <a:rPr dirty="0" sz="1900" spc="35" i="1">
                <a:latin typeface="Times New Roman"/>
                <a:cs typeface="Times New Roman"/>
              </a:rPr>
              <a:t>A </a:t>
            </a:r>
            <a:r>
              <a:rPr dirty="0" sz="1900" spc="15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721942" y="6086545"/>
            <a:ext cx="34607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50" i="1">
                <a:latin typeface="Times New Roman"/>
                <a:cs typeface="Times New Roman"/>
              </a:rPr>
              <a:t>i</a:t>
            </a:r>
            <a:r>
              <a:rPr dirty="0" sz="1100" spc="50">
                <a:latin typeface="Times New Roman"/>
                <a:cs typeface="Times New Roman"/>
              </a:rPr>
              <a:t>,</a:t>
            </a:r>
            <a:r>
              <a:rPr dirty="0" sz="1100" spc="-75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j</a:t>
            </a:r>
            <a:r>
              <a:rPr dirty="0" sz="1100" spc="-190" i="1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Symbol"/>
                <a:cs typeface="Symbol"/>
              </a:rPr>
              <a:t></a:t>
            </a:r>
            <a:r>
              <a:rPr dirty="0" sz="1100" spc="-1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82602" y="6386067"/>
            <a:ext cx="26727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008000"/>
                </a:solidFill>
                <a:latin typeface="Calibri"/>
                <a:cs typeface="Calibri"/>
              </a:rPr>
              <a:t>Examples: </a:t>
            </a:r>
            <a:r>
              <a:rPr dirty="0" sz="1600" spc="-5">
                <a:solidFill>
                  <a:srgbClr val="008000"/>
                </a:solidFill>
                <a:latin typeface="Calibri"/>
                <a:cs typeface="Calibri"/>
              </a:rPr>
              <a:t>Friendship,</a:t>
            </a:r>
            <a:r>
              <a:rPr dirty="0" sz="1600" spc="-3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Calibri"/>
                <a:cs typeface="Calibri"/>
              </a:rPr>
              <a:t>Hyperlink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031740" y="6343396"/>
            <a:ext cx="3393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008000"/>
                </a:solidFill>
                <a:latin typeface="Calibri"/>
                <a:cs typeface="Calibri"/>
              </a:rPr>
              <a:t>Examples: </a:t>
            </a: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Collaboration, Internet,</a:t>
            </a:r>
            <a:r>
              <a:rPr dirty="0" sz="1600" spc="5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Roads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1049" y="2258710"/>
            <a:ext cx="417195" cy="1069340"/>
          </a:xfrm>
          <a:custGeom>
            <a:avLst/>
            <a:gdLst/>
            <a:ahLst/>
            <a:cxnLst/>
            <a:rect l="l" t="t" r="r" b="b"/>
            <a:pathLst>
              <a:path w="417195" h="1069339">
                <a:moveTo>
                  <a:pt x="406616" y="0"/>
                </a:moveTo>
                <a:lnTo>
                  <a:pt x="409589" y="53406"/>
                </a:lnTo>
                <a:lnTo>
                  <a:pt x="412342" y="106666"/>
                </a:lnTo>
                <a:lnTo>
                  <a:pt x="414653" y="159635"/>
                </a:lnTo>
                <a:lnTo>
                  <a:pt x="416302" y="212167"/>
                </a:lnTo>
                <a:lnTo>
                  <a:pt x="417068" y="264115"/>
                </a:lnTo>
                <a:lnTo>
                  <a:pt x="416731" y="315335"/>
                </a:lnTo>
                <a:lnTo>
                  <a:pt x="415069" y="365681"/>
                </a:lnTo>
                <a:lnTo>
                  <a:pt x="411863" y="415006"/>
                </a:lnTo>
                <a:lnTo>
                  <a:pt x="406891" y="463166"/>
                </a:lnTo>
                <a:lnTo>
                  <a:pt x="399933" y="510014"/>
                </a:lnTo>
                <a:lnTo>
                  <a:pt x="390767" y="555405"/>
                </a:lnTo>
                <a:lnTo>
                  <a:pt x="379174" y="599192"/>
                </a:lnTo>
                <a:lnTo>
                  <a:pt x="364933" y="641231"/>
                </a:lnTo>
                <a:lnTo>
                  <a:pt x="279322" y="783236"/>
                </a:lnTo>
                <a:lnTo>
                  <a:pt x="157052" y="921933"/>
                </a:lnTo>
                <a:lnTo>
                  <a:pt x="47490" y="1027223"/>
                </a:lnTo>
                <a:lnTo>
                  <a:pt x="0" y="1069008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028670" y="2178119"/>
            <a:ext cx="368935" cy="1093470"/>
          </a:xfrm>
          <a:custGeom>
            <a:avLst/>
            <a:gdLst/>
            <a:ahLst/>
            <a:cxnLst/>
            <a:rect l="l" t="t" r="r" b="b"/>
            <a:pathLst>
              <a:path w="368934" h="1093470">
                <a:moveTo>
                  <a:pt x="32156" y="1093134"/>
                </a:moveTo>
                <a:lnTo>
                  <a:pt x="25725" y="1040033"/>
                </a:lnTo>
                <a:lnTo>
                  <a:pt x="19523" y="987063"/>
                </a:lnTo>
                <a:lnTo>
                  <a:pt x="13781" y="934356"/>
                </a:lnTo>
                <a:lnTo>
                  <a:pt x="8728" y="882042"/>
                </a:lnTo>
                <a:lnTo>
                  <a:pt x="4593" y="830252"/>
                </a:lnTo>
                <a:lnTo>
                  <a:pt x="1607" y="779118"/>
                </a:lnTo>
                <a:lnTo>
                  <a:pt x="0" y="728771"/>
                </a:lnTo>
                <a:lnTo>
                  <a:pt x="0" y="679341"/>
                </a:lnTo>
                <a:lnTo>
                  <a:pt x="1837" y="630960"/>
                </a:lnTo>
                <a:lnTo>
                  <a:pt x="5742" y="583760"/>
                </a:lnTo>
                <a:lnTo>
                  <a:pt x="11943" y="537870"/>
                </a:lnTo>
                <a:lnTo>
                  <a:pt x="20671" y="493423"/>
                </a:lnTo>
                <a:lnTo>
                  <a:pt x="32156" y="450549"/>
                </a:lnTo>
                <a:lnTo>
                  <a:pt x="108375" y="303289"/>
                </a:lnTo>
                <a:lnTo>
                  <a:pt x="221390" y="156953"/>
                </a:lnTo>
                <a:lnTo>
                  <a:pt x="323891" y="44777"/>
                </a:lnTo>
                <a:lnTo>
                  <a:pt x="36857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221364" y="2598070"/>
            <a:ext cx="763270" cy="769620"/>
          </a:xfrm>
          <a:custGeom>
            <a:avLst/>
            <a:gdLst/>
            <a:ahLst/>
            <a:cxnLst/>
            <a:rect l="l" t="t" r="r" b="b"/>
            <a:pathLst>
              <a:path w="763270" h="769620">
                <a:moveTo>
                  <a:pt x="762792" y="769590"/>
                </a:moveTo>
                <a:lnTo>
                  <a:pt x="713627" y="742826"/>
                </a:lnTo>
                <a:lnTo>
                  <a:pt x="664704" y="715989"/>
                </a:lnTo>
                <a:lnTo>
                  <a:pt x="616265" y="689004"/>
                </a:lnTo>
                <a:lnTo>
                  <a:pt x="568552" y="661798"/>
                </a:lnTo>
                <a:lnTo>
                  <a:pt x="521807" y="634297"/>
                </a:lnTo>
                <a:lnTo>
                  <a:pt x="476272" y="606426"/>
                </a:lnTo>
                <a:lnTo>
                  <a:pt x="432189" y="578113"/>
                </a:lnTo>
                <a:lnTo>
                  <a:pt x="389799" y="549282"/>
                </a:lnTo>
                <a:lnTo>
                  <a:pt x="349345" y="519861"/>
                </a:lnTo>
                <a:lnTo>
                  <a:pt x="311069" y="489776"/>
                </a:lnTo>
                <a:lnTo>
                  <a:pt x="275213" y="458952"/>
                </a:lnTo>
                <a:lnTo>
                  <a:pt x="242018" y="427317"/>
                </a:lnTo>
                <a:lnTo>
                  <a:pt x="150569" y="306436"/>
                </a:lnTo>
                <a:lnTo>
                  <a:pt x="73334" y="165558"/>
                </a:lnTo>
                <a:lnTo>
                  <a:pt x="19937" y="48730"/>
                </a:ln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18488" y="2276855"/>
            <a:ext cx="445007" cy="387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66118" y="2324632"/>
            <a:ext cx="330200" cy="272415"/>
          </a:xfrm>
          <a:custGeom>
            <a:avLst/>
            <a:gdLst/>
            <a:ahLst/>
            <a:cxnLst/>
            <a:rect l="l" t="t" r="r" b="b"/>
            <a:pathLst>
              <a:path w="330200" h="272414">
                <a:moveTo>
                  <a:pt x="165036" y="0"/>
                </a:moveTo>
                <a:lnTo>
                  <a:pt x="112872" y="6939"/>
                </a:lnTo>
                <a:lnTo>
                  <a:pt x="67568" y="26264"/>
                </a:lnTo>
                <a:lnTo>
                  <a:pt x="31842" y="55732"/>
                </a:lnTo>
                <a:lnTo>
                  <a:pt x="8413" y="93100"/>
                </a:lnTo>
                <a:lnTo>
                  <a:pt x="0" y="136127"/>
                </a:lnTo>
                <a:lnTo>
                  <a:pt x="8413" y="179154"/>
                </a:lnTo>
                <a:lnTo>
                  <a:pt x="31842" y="216523"/>
                </a:lnTo>
                <a:lnTo>
                  <a:pt x="67568" y="245991"/>
                </a:lnTo>
                <a:lnTo>
                  <a:pt x="112872" y="265316"/>
                </a:lnTo>
                <a:lnTo>
                  <a:pt x="165036" y="272256"/>
                </a:lnTo>
                <a:lnTo>
                  <a:pt x="217200" y="265316"/>
                </a:lnTo>
                <a:lnTo>
                  <a:pt x="243223" y="254215"/>
                </a:lnTo>
                <a:lnTo>
                  <a:pt x="165036" y="254215"/>
                </a:lnTo>
                <a:lnTo>
                  <a:pt x="118573" y="248195"/>
                </a:lnTo>
                <a:lnTo>
                  <a:pt x="78221" y="231431"/>
                </a:lnTo>
                <a:lnTo>
                  <a:pt x="46400" y="205868"/>
                </a:lnTo>
                <a:lnTo>
                  <a:pt x="25533" y="173452"/>
                </a:lnTo>
                <a:lnTo>
                  <a:pt x="18039" y="136127"/>
                </a:lnTo>
                <a:lnTo>
                  <a:pt x="25533" y="98802"/>
                </a:lnTo>
                <a:lnTo>
                  <a:pt x="46400" y="66386"/>
                </a:lnTo>
                <a:lnTo>
                  <a:pt x="78221" y="40824"/>
                </a:lnTo>
                <a:lnTo>
                  <a:pt x="118573" y="24060"/>
                </a:lnTo>
                <a:lnTo>
                  <a:pt x="165036" y="18040"/>
                </a:lnTo>
                <a:lnTo>
                  <a:pt x="243224" y="18040"/>
                </a:lnTo>
                <a:lnTo>
                  <a:pt x="217200" y="6939"/>
                </a:lnTo>
                <a:lnTo>
                  <a:pt x="165036" y="0"/>
                </a:lnTo>
                <a:close/>
              </a:path>
              <a:path w="330200" h="272414">
                <a:moveTo>
                  <a:pt x="243224" y="18040"/>
                </a:moveTo>
                <a:lnTo>
                  <a:pt x="165036" y="18040"/>
                </a:lnTo>
                <a:lnTo>
                  <a:pt x="211498" y="24060"/>
                </a:lnTo>
                <a:lnTo>
                  <a:pt x="251850" y="40824"/>
                </a:lnTo>
                <a:lnTo>
                  <a:pt x="283671" y="66386"/>
                </a:lnTo>
                <a:lnTo>
                  <a:pt x="304539" y="98802"/>
                </a:lnTo>
                <a:lnTo>
                  <a:pt x="312033" y="136127"/>
                </a:lnTo>
                <a:lnTo>
                  <a:pt x="304539" y="173452"/>
                </a:lnTo>
                <a:lnTo>
                  <a:pt x="283671" y="205868"/>
                </a:lnTo>
                <a:lnTo>
                  <a:pt x="251850" y="231431"/>
                </a:lnTo>
                <a:lnTo>
                  <a:pt x="211498" y="248195"/>
                </a:lnTo>
                <a:lnTo>
                  <a:pt x="165036" y="254215"/>
                </a:lnTo>
                <a:lnTo>
                  <a:pt x="243223" y="254215"/>
                </a:lnTo>
                <a:lnTo>
                  <a:pt x="262504" y="245991"/>
                </a:lnTo>
                <a:lnTo>
                  <a:pt x="298230" y="216523"/>
                </a:lnTo>
                <a:lnTo>
                  <a:pt x="321659" y="179154"/>
                </a:lnTo>
                <a:lnTo>
                  <a:pt x="330072" y="136127"/>
                </a:lnTo>
                <a:lnTo>
                  <a:pt x="321659" y="93100"/>
                </a:lnTo>
                <a:lnTo>
                  <a:pt x="298230" y="55732"/>
                </a:lnTo>
                <a:lnTo>
                  <a:pt x="262504" y="26264"/>
                </a:lnTo>
                <a:lnTo>
                  <a:pt x="243224" y="18040"/>
                </a:lnTo>
                <a:close/>
              </a:path>
            </a:pathLst>
          </a:custGeom>
          <a:solidFill>
            <a:srgbClr val="D925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66118" y="2324632"/>
            <a:ext cx="330200" cy="272415"/>
          </a:xfrm>
          <a:custGeom>
            <a:avLst/>
            <a:gdLst/>
            <a:ahLst/>
            <a:cxnLst/>
            <a:rect l="l" t="t" r="r" b="b"/>
            <a:pathLst>
              <a:path w="330200" h="272414">
                <a:moveTo>
                  <a:pt x="0" y="136128"/>
                </a:moveTo>
                <a:lnTo>
                  <a:pt x="8413" y="93101"/>
                </a:lnTo>
                <a:lnTo>
                  <a:pt x="31842" y="55732"/>
                </a:lnTo>
                <a:lnTo>
                  <a:pt x="67568" y="26264"/>
                </a:lnTo>
                <a:lnTo>
                  <a:pt x="112872" y="6939"/>
                </a:lnTo>
                <a:lnTo>
                  <a:pt x="165036" y="0"/>
                </a:lnTo>
                <a:lnTo>
                  <a:pt x="217200" y="6939"/>
                </a:lnTo>
                <a:lnTo>
                  <a:pt x="262504" y="26264"/>
                </a:lnTo>
                <a:lnTo>
                  <a:pt x="298230" y="55732"/>
                </a:lnTo>
                <a:lnTo>
                  <a:pt x="321659" y="93101"/>
                </a:lnTo>
                <a:lnTo>
                  <a:pt x="330073" y="136128"/>
                </a:lnTo>
                <a:lnTo>
                  <a:pt x="321659" y="179155"/>
                </a:lnTo>
                <a:lnTo>
                  <a:pt x="298230" y="216523"/>
                </a:lnTo>
                <a:lnTo>
                  <a:pt x="262504" y="245991"/>
                </a:lnTo>
                <a:lnTo>
                  <a:pt x="217200" y="265316"/>
                </a:lnTo>
                <a:lnTo>
                  <a:pt x="165036" y="272256"/>
                </a:lnTo>
                <a:lnTo>
                  <a:pt x="112872" y="265316"/>
                </a:lnTo>
                <a:lnTo>
                  <a:pt x="67568" y="245991"/>
                </a:lnTo>
                <a:lnTo>
                  <a:pt x="31842" y="216523"/>
                </a:lnTo>
                <a:lnTo>
                  <a:pt x="8413" y="179155"/>
                </a:lnTo>
                <a:lnTo>
                  <a:pt x="0" y="13612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84157" y="2342672"/>
            <a:ext cx="294005" cy="236220"/>
          </a:xfrm>
          <a:custGeom>
            <a:avLst/>
            <a:gdLst/>
            <a:ahLst/>
            <a:cxnLst/>
            <a:rect l="l" t="t" r="r" b="b"/>
            <a:pathLst>
              <a:path w="294005" h="236219">
                <a:moveTo>
                  <a:pt x="0" y="118088"/>
                </a:moveTo>
                <a:lnTo>
                  <a:pt x="28361" y="187829"/>
                </a:lnTo>
                <a:lnTo>
                  <a:pt x="60182" y="213392"/>
                </a:lnTo>
                <a:lnTo>
                  <a:pt x="100534" y="230156"/>
                </a:lnTo>
                <a:lnTo>
                  <a:pt x="146996" y="236176"/>
                </a:lnTo>
                <a:lnTo>
                  <a:pt x="193459" y="230156"/>
                </a:lnTo>
                <a:lnTo>
                  <a:pt x="233811" y="213392"/>
                </a:lnTo>
                <a:lnTo>
                  <a:pt x="265631" y="187829"/>
                </a:lnTo>
                <a:lnTo>
                  <a:pt x="286499" y="155413"/>
                </a:lnTo>
                <a:lnTo>
                  <a:pt x="293993" y="118088"/>
                </a:lnTo>
                <a:lnTo>
                  <a:pt x="286499" y="80763"/>
                </a:lnTo>
                <a:lnTo>
                  <a:pt x="265631" y="48346"/>
                </a:lnTo>
                <a:lnTo>
                  <a:pt x="233811" y="22784"/>
                </a:lnTo>
                <a:lnTo>
                  <a:pt x="193459" y="6020"/>
                </a:lnTo>
                <a:lnTo>
                  <a:pt x="146996" y="0"/>
                </a:lnTo>
                <a:lnTo>
                  <a:pt x="100534" y="6020"/>
                </a:lnTo>
                <a:lnTo>
                  <a:pt x="60182" y="22784"/>
                </a:lnTo>
                <a:lnTo>
                  <a:pt x="28361" y="48346"/>
                </a:lnTo>
                <a:lnTo>
                  <a:pt x="7494" y="80763"/>
                </a:lnTo>
                <a:lnTo>
                  <a:pt x="0" y="11808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04160" y="1859279"/>
            <a:ext cx="445007" cy="3870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51071" y="1905863"/>
            <a:ext cx="330200" cy="272415"/>
          </a:xfrm>
          <a:custGeom>
            <a:avLst/>
            <a:gdLst/>
            <a:ahLst/>
            <a:cxnLst/>
            <a:rect l="l" t="t" r="r" b="b"/>
            <a:pathLst>
              <a:path w="330200" h="272414">
                <a:moveTo>
                  <a:pt x="165036" y="0"/>
                </a:moveTo>
                <a:lnTo>
                  <a:pt x="112872" y="6939"/>
                </a:lnTo>
                <a:lnTo>
                  <a:pt x="67568" y="26265"/>
                </a:lnTo>
                <a:lnTo>
                  <a:pt x="31842" y="55733"/>
                </a:lnTo>
                <a:lnTo>
                  <a:pt x="8413" y="93101"/>
                </a:lnTo>
                <a:lnTo>
                  <a:pt x="0" y="136128"/>
                </a:lnTo>
                <a:lnTo>
                  <a:pt x="8413" y="179155"/>
                </a:lnTo>
                <a:lnTo>
                  <a:pt x="31842" y="216524"/>
                </a:lnTo>
                <a:lnTo>
                  <a:pt x="67568" y="245991"/>
                </a:lnTo>
                <a:lnTo>
                  <a:pt x="112872" y="265316"/>
                </a:lnTo>
                <a:lnTo>
                  <a:pt x="165036" y="272256"/>
                </a:lnTo>
                <a:lnTo>
                  <a:pt x="217201" y="265316"/>
                </a:lnTo>
                <a:lnTo>
                  <a:pt x="243221" y="254217"/>
                </a:lnTo>
                <a:lnTo>
                  <a:pt x="165036" y="254217"/>
                </a:lnTo>
                <a:lnTo>
                  <a:pt x="118574" y="248196"/>
                </a:lnTo>
                <a:lnTo>
                  <a:pt x="78222" y="231432"/>
                </a:lnTo>
                <a:lnTo>
                  <a:pt x="46402" y="205870"/>
                </a:lnTo>
                <a:lnTo>
                  <a:pt x="25534" y="173453"/>
                </a:lnTo>
                <a:lnTo>
                  <a:pt x="18040" y="136128"/>
                </a:lnTo>
                <a:lnTo>
                  <a:pt x="25534" y="98803"/>
                </a:lnTo>
                <a:lnTo>
                  <a:pt x="46402" y="66387"/>
                </a:lnTo>
                <a:lnTo>
                  <a:pt x="78222" y="40824"/>
                </a:lnTo>
                <a:lnTo>
                  <a:pt x="118574" y="24060"/>
                </a:lnTo>
                <a:lnTo>
                  <a:pt x="165036" y="18040"/>
                </a:lnTo>
                <a:lnTo>
                  <a:pt x="243223" y="18040"/>
                </a:lnTo>
                <a:lnTo>
                  <a:pt x="217201" y="6939"/>
                </a:lnTo>
                <a:lnTo>
                  <a:pt x="165036" y="0"/>
                </a:lnTo>
                <a:close/>
              </a:path>
              <a:path w="330200" h="272414">
                <a:moveTo>
                  <a:pt x="243223" y="18040"/>
                </a:moveTo>
                <a:lnTo>
                  <a:pt x="165036" y="18040"/>
                </a:lnTo>
                <a:lnTo>
                  <a:pt x="211499" y="24060"/>
                </a:lnTo>
                <a:lnTo>
                  <a:pt x="251851" y="40824"/>
                </a:lnTo>
                <a:lnTo>
                  <a:pt x="283672" y="66387"/>
                </a:lnTo>
                <a:lnTo>
                  <a:pt x="304539" y="98803"/>
                </a:lnTo>
                <a:lnTo>
                  <a:pt x="312033" y="136128"/>
                </a:lnTo>
                <a:lnTo>
                  <a:pt x="304539" y="173453"/>
                </a:lnTo>
                <a:lnTo>
                  <a:pt x="283672" y="205870"/>
                </a:lnTo>
                <a:lnTo>
                  <a:pt x="251851" y="231432"/>
                </a:lnTo>
                <a:lnTo>
                  <a:pt x="211499" y="248196"/>
                </a:lnTo>
                <a:lnTo>
                  <a:pt x="165036" y="254217"/>
                </a:lnTo>
                <a:lnTo>
                  <a:pt x="243221" y="254217"/>
                </a:lnTo>
                <a:lnTo>
                  <a:pt x="262505" y="245991"/>
                </a:lnTo>
                <a:lnTo>
                  <a:pt x="298230" y="216524"/>
                </a:lnTo>
                <a:lnTo>
                  <a:pt x="321659" y="179155"/>
                </a:lnTo>
                <a:lnTo>
                  <a:pt x="330073" y="136128"/>
                </a:lnTo>
                <a:lnTo>
                  <a:pt x="321659" y="93101"/>
                </a:lnTo>
                <a:lnTo>
                  <a:pt x="298230" y="55733"/>
                </a:lnTo>
                <a:lnTo>
                  <a:pt x="262505" y="26265"/>
                </a:lnTo>
                <a:lnTo>
                  <a:pt x="243223" y="18040"/>
                </a:lnTo>
                <a:close/>
              </a:path>
            </a:pathLst>
          </a:custGeom>
          <a:solidFill>
            <a:srgbClr val="D925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51071" y="1905863"/>
            <a:ext cx="330200" cy="272415"/>
          </a:xfrm>
          <a:custGeom>
            <a:avLst/>
            <a:gdLst/>
            <a:ahLst/>
            <a:cxnLst/>
            <a:rect l="l" t="t" r="r" b="b"/>
            <a:pathLst>
              <a:path w="330200" h="272414">
                <a:moveTo>
                  <a:pt x="0" y="136128"/>
                </a:moveTo>
                <a:lnTo>
                  <a:pt x="8413" y="93101"/>
                </a:lnTo>
                <a:lnTo>
                  <a:pt x="31842" y="55732"/>
                </a:lnTo>
                <a:lnTo>
                  <a:pt x="67568" y="26264"/>
                </a:lnTo>
                <a:lnTo>
                  <a:pt x="112872" y="6939"/>
                </a:lnTo>
                <a:lnTo>
                  <a:pt x="165036" y="0"/>
                </a:lnTo>
                <a:lnTo>
                  <a:pt x="217200" y="6939"/>
                </a:lnTo>
                <a:lnTo>
                  <a:pt x="262504" y="26264"/>
                </a:lnTo>
                <a:lnTo>
                  <a:pt x="298230" y="55732"/>
                </a:lnTo>
                <a:lnTo>
                  <a:pt x="321659" y="93101"/>
                </a:lnTo>
                <a:lnTo>
                  <a:pt x="330073" y="136128"/>
                </a:lnTo>
                <a:lnTo>
                  <a:pt x="321659" y="179155"/>
                </a:lnTo>
                <a:lnTo>
                  <a:pt x="298230" y="216523"/>
                </a:lnTo>
                <a:lnTo>
                  <a:pt x="262504" y="245991"/>
                </a:lnTo>
                <a:lnTo>
                  <a:pt x="217200" y="265316"/>
                </a:lnTo>
                <a:lnTo>
                  <a:pt x="165036" y="272256"/>
                </a:lnTo>
                <a:lnTo>
                  <a:pt x="112872" y="265316"/>
                </a:lnTo>
                <a:lnTo>
                  <a:pt x="67568" y="245991"/>
                </a:lnTo>
                <a:lnTo>
                  <a:pt x="31842" y="216523"/>
                </a:lnTo>
                <a:lnTo>
                  <a:pt x="8413" y="179155"/>
                </a:lnTo>
                <a:lnTo>
                  <a:pt x="0" y="13612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69110" y="1923903"/>
            <a:ext cx="294005" cy="236220"/>
          </a:xfrm>
          <a:custGeom>
            <a:avLst/>
            <a:gdLst/>
            <a:ahLst/>
            <a:cxnLst/>
            <a:rect l="l" t="t" r="r" b="b"/>
            <a:pathLst>
              <a:path w="294005" h="236219">
                <a:moveTo>
                  <a:pt x="0" y="118088"/>
                </a:moveTo>
                <a:lnTo>
                  <a:pt x="28361" y="187829"/>
                </a:lnTo>
                <a:lnTo>
                  <a:pt x="60182" y="213392"/>
                </a:lnTo>
                <a:lnTo>
                  <a:pt x="100534" y="230156"/>
                </a:lnTo>
                <a:lnTo>
                  <a:pt x="146996" y="236176"/>
                </a:lnTo>
                <a:lnTo>
                  <a:pt x="193459" y="230156"/>
                </a:lnTo>
                <a:lnTo>
                  <a:pt x="233811" y="213392"/>
                </a:lnTo>
                <a:lnTo>
                  <a:pt x="265631" y="187829"/>
                </a:lnTo>
                <a:lnTo>
                  <a:pt x="286499" y="155413"/>
                </a:lnTo>
                <a:lnTo>
                  <a:pt x="293993" y="118088"/>
                </a:lnTo>
                <a:lnTo>
                  <a:pt x="286499" y="80763"/>
                </a:lnTo>
                <a:lnTo>
                  <a:pt x="265631" y="48346"/>
                </a:lnTo>
                <a:lnTo>
                  <a:pt x="233811" y="22784"/>
                </a:lnTo>
                <a:lnTo>
                  <a:pt x="193459" y="6020"/>
                </a:lnTo>
                <a:lnTo>
                  <a:pt x="146996" y="0"/>
                </a:lnTo>
                <a:lnTo>
                  <a:pt x="100534" y="6020"/>
                </a:lnTo>
                <a:lnTo>
                  <a:pt x="60182" y="22784"/>
                </a:lnTo>
                <a:lnTo>
                  <a:pt x="28361" y="48346"/>
                </a:lnTo>
                <a:lnTo>
                  <a:pt x="7494" y="80763"/>
                </a:lnTo>
                <a:lnTo>
                  <a:pt x="0" y="11808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5216" y="344424"/>
            <a:ext cx="5212080" cy="5547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09109" y="1347723"/>
            <a:ext cx="1990725" cy="731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Multigraph</a:t>
            </a:r>
            <a:endParaRPr sz="2800">
              <a:latin typeface="Calibri"/>
              <a:cs typeface="Calibri"/>
            </a:endParaRPr>
          </a:p>
          <a:p>
            <a:pPr marL="332105">
              <a:lnSpc>
                <a:spcPct val="100000"/>
              </a:lnSpc>
              <a:spcBef>
                <a:spcPts val="40"/>
              </a:spcBef>
            </a:pPr>
            <a:r>
              <a:rPr dirty="0" sz="1800" spc="-5">
                <a:latin typeface="Calibri"/>
                <a:cs typeface="Calibri"/>
              </a:rPr>
              <a:t>(undirected)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35138" y="2629678"/>
            <a:ext cx="241300" cy="991235"/>
          </a:xfrm>
          <a:custGeom>
            <a:avLst/>
            <a:gdLst/>
            <a:ahLst/>
            <a:cxnLst/>
            <a:rect l="l" t="t" r="r" b="b"/>
            <a:pathLst>
              <a:path w="241300" h="991235">
                <a:moveTo>
                  <a:pt x="241066" y="0"/>
                </a:moveTo>
                <a:lnTo>
                  <a:pt x="0" y="990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76204" y="2629678"/>
            <a:ext cx="794385" cy="685800"/>
          </a:xfrm>
          <a:custGeom>
            <a:avLst/>
            <a:gdLst/>
            <a:ahLst/>
            <a:cxnLst/>
            <a:rect l="l" t="t" r="r" b="b"/>
            <a:pathLst>
              <a:path w="794385" h="685800">
                <a:moveTo>
                  <a:pt x="0" y="0"/>
                </a:moveTo>
                <a:lnTo>
                  <a:pt x="793866" y="6857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35139" y="3315478"/>
            <a:ext cx="1035050" cy="305435"/>
          </a:xfrm>
          <a:custGeom>
            <a:avLst/>
            <a:gdLst/>
            <a:ahLst/>
            <a:cxnLst/>
            <a:rect l="l" t="t" r="r" b="b"/>
            <a:pathLst>
              <a:path w="1035050" h="305435">
                <a:moveTo>
                  <a:pt x="0" y="304808"/>
                </a:moveTo>
                <a:lnTo>
                  <a:pt x="103493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470072" y="2324879"/>
            <a:ext cx="381000" cy="990600"/>
          </a:xfrm>
          <a:custGeom>
            <a:avLst/>
            <a:gdLst/>
            <a:ahLst/>
            <a:cxnLst/>
            <a:rect l="l" t="t" r="r" b="b"/>
            <a:pathLst>
              <a:path w="381000" h="990600">
                <a:moveTo>
                  <a:pt x="380999" y="0"/>
                </a:moveTo>
                <a:lnTo>
                  <a:pt x="0" y="99059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07008" y="3419855"/>
            <a:ext cx="408431" cy="4084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50869" y="3438668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50869" y="3438668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466088" y="2423160"/>
            <a:ext cx="408431" cy="4053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11114" y="244073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8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8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11114" y="244073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572119" y="24714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679192" y="1972055"/>
            <a:ext cx="405383" cy="4084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721400" y="199023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1"/>
                </a:lnTo>
                <a:lnTo>
                  <a:pt x="160019" y="320039"/>
                </a:lnTo>
                <a:lnTo>
                  <a:pt x="210598" y="311881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1" y="210598"/>
                </a:lnTo>
                <a:lnTo>
                  <a:pt x="320039" y="160020"/>
                </a:lnTo>
                <a:lnTo>
                  <a:pt x="311881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721400" y="199023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276855" y="3139439"/>
            <a:ext cx="408431" cy="40843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320809" y="3158642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8" y="109441"/>
                </a:lnTo>
                <a:lnTo>
                  <a:pt x="0" y="160020"/>
                </a:lnTo>
                <a:lnTo>
                  <a:pt x="8158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320809" y="3158642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54684" y="1347723"/>
            <a:ext cx="3573779" cy="9601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 b="1">
                <a:solidFill>
                  <a:srgbClr val="0000FF"/>
                </a:solidFill>
                <a:latin typeface="Calibri"/>
                <a:cs typeface="Calibri"/>
              </a:rPr>
              <a:t>Self-edges</a:t>
            </a:r>
            <a:r>
              <a:rPr dirty="0" sz="2800" spc="-5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(self-loops)</a:t>
            </a:r>
            <a:endParaRPr sz="2800">
              <a:latin typeface="Calibri"/>
              <a:cs typeface="Calibri"/>
            </a:endParaRPr>
          </a:p>
          <a:p>
            <a:pPr marL="332740">
              <a:lnSpc>
                <a:spcPts val="1980"/>
              </a:lnSpc>
              <a:spcBef>
                <a:spcPts val="40"/>
              </a:spcBef>
            </a:pPr>
            <a:r>
              <a:rPr dirty="0" sz="1800" spc="-5">
                <a:latin typeface="Calibri"/>
                <a:cs typeface="Calibri"/>
              </a:rPr>
              <a:t>(undirected)</a:t>
            </a:r>
            <a:endParaRPr sz="1800">
              <a:latin typeface="Calibri"/>
              <a:cs typeface="Calibri"/>
            </a:endParaRPr>
          </a:p>
          <a:p>
            <a:pPr algn="ctr" marL="876300">
              <a:lnSpc>
                <a:spcPts val="1980"/>
              </a:lnSpc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94513" y="316331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007138" y="2653135"/>
            <a:ext cx="241300" cy="991235"/>
          </a:xfrm>
          <a:custGeom>
            <a:avLst/>
            <a:gdLst/>
            <a:ahLst/>
            <a:cxnLst/>
            <a:rect l="l" t="t" r="r" b="b"/>
            <a:pathLst>
              <a:path w="241300" h="991235">
                <a:moveTo>
                  <a:pt x="241066" y="0"/>
                </a:moveTo>
                <a:lnTo>
                  <a:pt x="0" y="990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248204" y="2653135"/>
            <a:ext cx="794385" cy="685800"/>
          </a:xfrm>
          <a:custGeom>
            <a:avLst/>
            <a:gdLst/>
            <a:ahLst/>
            <a:cxnLst/>
            <a:rect l="l" t="t" r="r" b="b"/>
            <a:pathLst>
              <a:path w="794384" h="685800">
                <a:moveTo>
                  <a:pt x="0" y="0"/>
                </a:moveTo>
                <a:lnTo>
                  <a:pt x="793866" y="6857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007137" y="3338934"/>
            <a:ext cx="1035050" cy="305435"/>
          </a:xfrm>
          <a:custGeom>
            <a:avLst/>
            <a:gdLst/>
            <a:ahLst/>
            <a:cxnLst/>
            <a:rect l="l" t="t" r="r" b="b"/>
            <a:pathLst>
              <a:path w="1035050" h="305435">
                <a:moveTo>
                  <a:pt x="0" y="304808"/>
                </a:moveTo>
                <a:lnTo>
                  <a:pt x="103493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042072" y="2348336"/>
            <a:ext cx="381000" cy="990600"/>
          </a:xfrm>
          <a:custGeom>
            <a:avLst/>
            <a:gdLst/>
            <a:ahLst/>
            <a:cxnLst/>
            <a:rect l="l" t="t" r="r" b="b"/>
            <a:pathLst>
              <a:path w="381000" h="990600">
                <a:moveTo>
                  <a:pt x="380999" y="0"/>
                </a:moveTo>
                <a:lnTo>
                  <a:pt x="0" y="99059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779008" y="3444240"/>
            <a:ext cx="408432" cy="40843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822870" y="346212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1"/>
                </a:lnTo>
                <a:lnTo>
                  <a:pt x="160020" y="320039"/>
                </a:lnTo>
                <a:lnTo>
                  <a:pt x="210598" y="311881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822870" y="346212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038088" y="2444495"/>
            <a:ext cx="408432" cy="4084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083114" y="2464192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1"/>
                </a:lnTo>
                <a:lnTo>
                  <a:pt x="160019" y="320040"/>
                </a:lnTo>
                <a:lnTo>
                  <a:pt x="210598" y="311881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083114" y="2464192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6154513" y="24714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251192" y="1996439"/>
            <a:ext cx="405383" cy="40538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293399" y="201369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1"/>
                </a:lnTo>
                <a:lnTo>
                  <a:pt x="160020" y="320040"/>
                </a:lnTo>
                <a:lnTo>
                  <a:pt x="210598" y="311881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293399" y="201369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848856" y="3163823"/>
            <a:ext cx="408431" cy="40843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892809" y="3182099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8" y="109441"/>
                </a:lnTo>
                <a:lnTo>
                  <a:pt x="0" y="160019"/>
                </a:lnTo>
                <a:lnTo>
                  <a:pt x="8158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892809" y="3182099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7385833" y="20355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976909" y="31877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91169" y="4296472"/>
            <a:ext cx="193675" cy="3022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00" spc="215" i="1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58136" y="4450058"/>
            <a:ext cx="1244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85" i="1">
                <a:latin typeface="Times New Roman"/>
                <a:cs typeface="Times New Roman"/>
              </a:rPr>
              <a:t>ij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324574" y="3393409"/>
            <a:ext cx="390525" cy="89598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marL="123825">
              <a:lnSpc>
                <a:spcPts val="1985"/>
              </a:lnSpc>
              <a:spcBef>
                <a:spcPts val="360"/>
              </a:spcBef>
            </a:pPr>
            <a:r>
              <a:rPr dirty="0" sz="1800" spc="210">
                <a:latin typeface="Symbol"/>
                <a:cs typeface="Symbol"/>
              </a:rPr>
              <a:t></a:t>
            </a:r>
            <a:r>
              <a:rPr dirty="0" baseline="-4629" sz="2700" spc="262">
                <a:latin typeface="Times New Roman"/>
                <a:cs typeface="Times New Roman"/>
              </a:rPr>
              <a:t>1</a:t>
            </a:r>
            <a:endParaRPr baseline="-4629" sz="2700">
              <a:latin typeface="Times New Roman"/>
              <a:cs typeface="Times New Roman"/>
            </a:endParaRPr>
          </a:p>
          <a:p>
            <a:pPr marL="123825">
              <a:lnSpc>
                <a:spcPts val="1985"/>
              </a:lnSpc>
            </a:pPr>
            <a:r>
              <a:rPr dirty="0" sz="1800" spc="135">
                <a:latin typeface="Symbol"/>
                <a:cs typeface="Symbol"/>
              </a:rPr>
              <a:t>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436217" y="4685192"/>
            <a:ext cx="131445" cy="3022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00" spc="135">
                <a:latin typeface="Symbol"/>
                <a:cs typeface="Symbol"/>
              </a:rPr>
              <a:t>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143278" y="3756530"/>
            <a:ext cx="267335" cy="53276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1985"/>
              </a:lnSpc>
              <a:spcBef>
                <a:spcPts val="115"/>
              </a:spcBef>
            </a:pPr>
            <a:r>
              <a:rPr dirty="0" baseline="-4629" sz="2700" spc="247">
                <a:latin typeface="Times New Roman"/>
                <a:cs typeface="Times New Roman"/>
              </a:rPr>
              <a:t>0</a:t>
            </a:r>
            <a:r>
              <a:rPr dirty="0" sz="1800" spc="135">
                <a:latin typeface="Symbol"/>
                <a:cs typeface="Symbol"/>
              </a:rPr>
              <a:t></a:t>
            </a:r>
            <a:endParaRPr sz="1800">
              <a:latin typeface="Symbol"/>
              <a:cs typeface="Symbol"/>
            </a:endParaRPr>
          </a:p>
          <a:p>
            <a:pPr marL="147955">
              <a:lnSpc>
                <a:spcPts val="1985"/>
              </a:lnSpc>
            </a:pPr>
            <a:r>
              <a:rPr dirty="0" sz="1800" spc="-160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279164" y="4685192"/>
            <a:ext cx="131445" cy="3022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00" spc="-160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271968" y="5600067"/>
            <a:ext cx="335280" cy="5441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09855">
              <a:lnSpc>
                <a:spcPts val="980"/>
              </a:lnSpc>
              <a:spcBef>
                <a:spcPts val="114"/>
              </a:spcBef>
            </a:pPr>
            <a:r>
              <a:rPr dirty="0" sz="1100" spc="180" i="1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3080"/>
              </a:lnSpc>
            </a:pPr>
            <a:r>
              <a:rPr dirty="0" sz="2850" spc="-1270">
                <a:latin typeface="Symbol"/>
                <a:cs typeface="Symbol"/>
              </a:rPr>
              <a:t></a:t>
            </a:r>
            <a:endParaRPr sz="2850">
              <a:latin typeface="Symbol"/>
              <a:cs typeface="Symbo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953992" y="5908132"/>
            <a:ext cx="123189" cy="196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70" i="1">
                <a:latin typeface="Times New Roman"/>
                <a:cs typeface="Times New Roman"/>
              </a:rPr>
              <a:t>ii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01569" y="5908132"/>
            <a:ext cx="123189" cy="196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70" i="1">
                <a:latin typeface="Times New Roman"/>
                <a:cs typeface="Times New Roman"/>
              </a:rPr>
              <a:t>ij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842321" y="5600067"/>
            <a:ext cx="1162050" cy="4876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676275">
              <a:lnSpc>
                <a:spcPts val="760"/>
              </a:lnSpc>
              <a:spcBef>
                <a:spcPts val="114"/>
              </a:spcBef>
            </a:pPr>
            <a:r>
              <a:rPr dirty="0" sz="1100" spc="180" i="1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2860"/>
              </a:lnSpc>
              <a:tabLst>
                <a:tab pos="360045" algn="l"/>
              </a:tabLst>
            </a:pPr>
            <a:r>
              <a:rPr dirty="0" sz="1900" spc="280" i="1">
                <a:latin typeface="Times New Roman"/>
                <a:cs typeface="Times New Roman"/>
              </a:rPr>
              <a:t>A	</a:t>
            </a:r>
            <a:r>
              <a:rPr dirty="0" sz="1900" spc="250">
                <a:latin typeface="Symbol"/>
                <a:cs typeface="Symbol"/>
              </a:rPr>
              <a:t></a:t>
            </a:r>
            <a:r>
              <a:rPr dirty="0" sz="1900" spc="-229">
                <a:latin typeface="Times New Roman"/>
                <a:cs typeface="Times New Roman"/>
              </a:rPr>
              <a:t> </a:t>
            </a:r>
            <a:r>
              <a:rPr dirty="0" baseline="-8771" sz="4275" spc="750">
                <a:latin typeface="Symbol"/>
                <a:cs typeface="Symbol"/>
              </a:rPr>
              <a:t></a:t>
            </a:r>
            <a:r>
              <a:rPr dirty="0" baseline="-8771" sz="4275" spc="-412">
                <a:latin typeface="Times New Roman"/>
                <a:cs typeface="Times New Roman"/>
              </a:rPr>
              <a:t> </a:t>
            </a:r>
            <a:r>
              <a:rPr dirty="0" sz="1900" spc="280" i="1">
                <a:latin typeface="Times New Roman"/>
                <a:cs typeface="Times New Roman"/>
              </a:rPr>
              <a:t>A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764404" y="5260333"/>
            <a:ext cx="578485" cy="3175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900" spc="250">
                <a:latin typeface="Symbol"/>
                <a:cs typeface="Symbol"/>
              </a:rPr>
              <a:t></a:t>
            </a:r>
            <a:r>
              <a:rPr dirty="0" sz="1900" spc="175">
                <a:latin typeface="Times New Roman"/>
                <a:cs typeface="Times New Roman"/>
              </a:rPr>
              <a:t> </a:t>
            </a:r>
            <a:r>
              <a:rPr dirty="0" sz="1900" spc="175" i="1">
                <a:latin typeface="Times New Roman"/>
                <a:cs typeface="Times New Roman"/>
              </a:rPr>
              <a:t>A</a:t>
            </a:r>
            <a:r>
              <a:rPr dirty="0" baseline="-25252" sz="1650" spc="262" i="1">
                <a:latin typeface="Times New Roman"/>
                <a:cs typeface="Times New Roman"/>
              </a:rPr>
              <a:t>ji</a:t>
            </a:r>
            <a:endParaRPr baseline="-25252" sz="16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398023" y="5321163"/>
            <a:ext cx="281940" cy="3175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baseline="14619" sz="2850" spc="120" i="1">
                <a:latin typeface="Times New Roman"/>
                <a:cs typeface="Times New Roman"/>
              </a:rPr>
              <a:t>A</a:t>
            </a:r>
            <a:r>
              <a:rPr dirty="0" sz="1100" spc="70" i="1">
                <a:latin typeface="Times New Roman"/>
                <a:cs typeface="Times New Roman"/>
              </a:rPr>
              <a:t>ij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086049" y="6079896"/>
            <a:ext cx="1633220" cy="196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381760" algn="l"/>
              </a:tabLst>
            </a:pPr>
            <a:r>
              <a:rPr dirty="0" sz="1100" spc="175" i="1">
                <a:latin typeface="Times New Roman"/>
                <a:cs typeface="Times New Roman"/>
              </a:rPr>
              <a:t>i</a:t>
            </a:r>
            <a:r>
              <a:rPr dirty="0" sz="1100" spc="65">
                <a:latin typeface="Times New Roman"/>
                <a:cs typeface="Times New Roman"/>
              </a:rPr>
              <a:t>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75" i="1">
                <a:latin typeface="Times New Roman"/>
                <a:cs typeface="Times New Roman"/>
              </a:rPr>
              <a:t>j</a:t>
            </a:r>
            <a:r>
              <a:rPr dirty="0" sz="1100" spc="-145" i="1">
                <a:latin typeface="Times New Roman"/>
                <a:cs typeface="Times New Roman"/>
              </a:rPr>
              <a:t> </a:t>
            </a:r>
            <a:r>
              <a:rPr dirty="0" sz="1100" spc="75">
                <a:latin typeface="Symbol"/>
                <a:cs typeface="Symbol"/>
              </a:rPr>
              <a:t></a:t>
            </a:r>
            <a:r>
              <a:rPr dirty="0" sz="1100" spc="85">
                <a:latin typeface="Times New Roman"/>
                <a:cs typeface="Times New Roman"/>
              </a:rPr>
              <a:t>1</a:t>
            </a:r>
            <a:r>
              <a:rPr dirty="0" sz="1100" spc="80">
                <a:latin typeface="Times New Roman"/>
                <a:cs typeface="Times New Roman"/>
              </a:rPr>
              <a:t>,</a:t>
            </a:r>
            <a:r>
              <a:rPr dirty="0" sz="1100" spc="175" i="1">
                <a:latin typeface="Times New Roman"/>
                <a:cs typeface="Times New Roman"/>
              </a:rPr>
              <a:t>i</a:t>
            </a:r>
            <a:r>
              <a:rPr dirty="0" sz="1100" spc="150">
                <a:latin typeface="Symbol"/>
                <a:cs typeface="Symbol"/>
              </a:rPr>
              <a:t>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75" i="1">
                <a:latin typeface="Times New Roman"/>
                <a:cs typeface="Times New Roman"/>
              </a:rPr>
              <a:t>j</a:t>
            </a:r>
            <a:r>
              <a:rPr dirty="0" sz="1100" i="1">
                <a:latin typeface="Times New Roman"/>
                <a:cs typeface="Times New Roman"/>
              </a:rPr>
              <a:t>	</a:t>
            </a:r>
            <a:r>
              <a:rPr dirty="0" sz="1100" spc="175" i="1">
                <a:latin typeface="Times New Roman"/>
                <a:cs typeface="Times New Roman"/>
              </a:rPr>
              <a:t>i</a:t>
            </a:r>
            <a:r>
              <a:rPr dirty="0" sz="1100" spc="75">
                <a:latin typeface="Symbol"/>
                <a:cs typeface="Symbol"/>
              </a:rPr>
              <a:t></a:t>
            </a:r>
            <a:r>
              <a:rPr dirty="0" sz="1100" spc="135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47006" y="5745855"/>
            <a:ext cx="705485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r" marR="9525">
              <a:lnSpc>
                <a:spcPts val="1889"/>
              </a:lnSpc>
              <a:spcBef>
                <a:spcPts val="114"/>
              </a:spcBef>
            </a:pPr>
            <a:r>
              <a:rPr dirty="0" sz="1900" spc="280" i="1">
                <a:latin typeface="Times New Roman"/>
                <a:cs typeface="Times New Roman"/>
              </a:rPr>
              <a:t>E </a:t>
            </a:r>
            <a:r>
              <a:rPr dirty="0" sz="1900" spc="250">
                <a:latin typeface="Symbol"/>
                <a:cs typeface="Symbol"/>
              </a:rPr>
              <a:t></a:t>
            </a:r>
            <a:r>
              <a:rPr dirty="0" sz="1900" spc="40">
                <a:latin typeface="Times New Roman"/>
                <a:cs typeface="Times New Roman"/>
              </a:rPr>
              <a:t> </a:t>
            </a:r>
            <a:r>
              <a:rPr dirty="0" baseline="35087" sz="2850" spc="345" u="sng">
                <a:latin typeface="Times New Roman"/>
                <a:cs typeface="Times New Roman"/>
              </a:rPr>
              <a:t>1</a:t>
            </a:r>
            <a:endParaRPr baseline="35087" sz="2850">
              <a:latin typeface="Times New Roman"/>
              <a:cs typeface="Times New Roman"/>
            </a:endParaRPr>
          </a:p>
          <a:p>
            <a:pPr algn="r" marR="5080">
              <a:lnSpc>
                <a:spcPts val="1889"/>
              </a:lnSpc>
            </a:pPr>
            <a:r>
              <a:rPr dirty="0" sz="1900" spc="229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239820" y="3709210"/>
            <a:ext cx="2170430" cy="186880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algn="ctr" marL="207645">
              <a:lnSpc>
                <a:spcPct val="100000"/>
              </a:lnSpc>
              <a:spcBef>
                <a:spcPts val="655"/>
              </a:spcBef>
              <a:tabLst>
                <a:tab pos="738505" algn="l"/>
              </a:tabLst>
            </a:pPr>
            <a:r>
              <a:rPr dirty="0" sz="1800" spc="175">
                <a:latin typeface="Times New Roman"/>
                <a:cs typeface="Times New Roman"/>
              </a:rPr>
              <a:t>1	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  <a:tabLst>
                <a:tab pos="854710" algn="l"/>
                <a:tab pos="1385570" algn="l"/>
                <a:tab pos="1915795" algn="l"/>
              </a:tabLst>
            </a:pPr>
            <a:r>
              <a:rPr dirty="0" baseline="-41666" sz="2700" spc="300">
                <a:latin typeface="Symbol"/>
                <a:cs typeface="Symbol"/>
              </a:rPr>
              <a:t></a:t>
            </a:r>
            <a:r>
              <a:rPr dirty="0" baseline="-41666" sz="2700" spc="-142">
                <a:latin typeface="Times New Roman"/>
                <a:cs typeface="Times New Roman"/>
              </a:rPr>
              <a:t> </a:t>
            </a:r>
            <a:r>
              <a:rPr dirty="0" baseline="-23148" sz="2700" spc="315">
                <a:latin typeface="Symbol"/>
                <a:cs typeface="Symbol"/>
              </a:rPr>
              <a:t></a:t>
            </a:r>
            <a:r>
              <a:rPr dirty="0" sz="1800" spc="17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65">
                <a:latin typeface="Times New Roman"/>
                <a:cs typeface="Times New Roman"/>
              </a:rPr>
              <a:t>1</a:t>
            </a:r>
            <a:r>
              <a:rPr dirty="0" baseline="-23148" sz="2700" spc="-240">
                <a:latin typeface="Symbol"/>
                <a:cs typeface="Symbol"/>
              </a:rPr>
              <a:t></a:t>
            </a:r>
            <a:endParaRPr baseline="-23148" sz="2700">
              <a:latin typeface="Symbol"/>
              <a:cs typeface="Symbol"/>
            </a:endParaRPr>
          </a:p>
          <a:p>
            <a:pPr algn="ctr" marL="196215">
              <a:lnSpc>
                <a:spcPct val="100000"/>
              </a:lnSpc>
              <a:spcBef>
                <a:spcPts val="555"/>
              </a:spcBef>
              <a:tabLst>
                <a:tab pos="842010" algn="l"/>
                <a:tab pos="1372870" algn="l"/>
                <a:tab pos="1903095" algn="l"/>
              </a:tabLst>
            </a:pPr>
            <a:r>
              <a:rPr dirty="0" baseline="4629" sz="2700" spc="315">
                <a:latin typeface="Symbol"/>
                <a:cs typeface="Symbol"/>
              </a:rPr>
              <a:t></a:t>
            </a:r>
            <a:r>
              <a:rPr dirty="0" sz="1800" spc="17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65">
                <a:latin typeface="Times New Roman"/>
                <a:cs typeface="Times New Roman"/>
              </a:rPr>
              <a:t>0</a:t>
            </a:r>
            <a:r>
              <a:rPr dirty="0" baseline="4629" sz="2700" spc="-240">
                <a:latin typeface="Symbol"/>
                <a:cs typeface="Symbol"/>
              </a:rPr>
              <a:t></a:t>
            </a:r>
            <a:endParaRPr baseline="4629" sz="2700">
              <a:latin typeface="Symbol"/>
              <a:cs typeface="Symbol"/>
            </a:endParaRPr>
          </a:p>
          <a:p>
            <a:pPr algn="ctr" marL="196215">
              <a:lnSpc>
                <a:spcPct val="100000"/>
              </a:lnSpc>
              <a:spcBef>
                <a:spcPts val="555"/>
              </a:spcBef>
              <a:tabLst>
                <a:tab pos="842010" algn="l"/>
                <a:tab pos="1372870" algn="l"/>
                <a:tab pos="1903095" algn="l"/>
              </a:tabLst>
            </a:pPr>
            <a:r>
              <a:rPr dirty="0" baseline="-7716" sz="2700" spc="315">
                <a:latin typeface="Symbol"/>
                <a:cs typeface="Symbol"/>
              </a:rPr>
              <a:t></a:t>
            </a:r>
            <a:r>
              <a:rPr dirty="0" sz="1800" spc="17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65">
                <a:latin typeface="Times New Roman"/>
                <a:cs typeface="Times New Roman"/>
              </a:rPr>
              <a:t>1</a:t>
            </a:r>
            <a:r>
              <a:rPr dirty="0" baseline="-7716" sz="2700" spc="202">
                <a:latin typeface="Symbol"/>
                <a:cs typeface="Symbol"/>
              </a:rPr>
              <a:t></a:t>
            </a:r>
            <a:endParaRPr baseline="-7716" sz="2700">
              <a:latin typeface="Symbol"/>
              <a:cs typeface="Symbol"/>
            </a:endParaRPr>
          </a:p>
          <a:p>
            <a:pPr marL="120014">
              <a:lnSpc>
                <a:spcPct val="100000"/>
              </a:lnSpc>
              <a:spcBef>
                <a:spcPts val="1345"/>
              </a:spcBef>
            </a:pPr>
            <a:r>
              <a:rPr dirty="0" sz="1900" spc="75" i="1">
                <a:latin typeface="Times New Roman"/>
                <a:cs typeface="Times New Roman"/>
              </a:rPr>
              <a:t>A</a:t>
            </a:r>
            <a:r>
              <a:rPr dirty="0" baseline="-25252" sz="1650" spc="112" i="1">
                <a:latin typeface="Times New Roman"/>
                <a:cs typeface="Times New Roman"/>
              </a:rPr>
              <a:t>ii </a:t>
            </a:r>
            <a:r>
              <a:rPr dirty="0" sz="1900" spc="250">
                <a:latin typeface="Symbol"/>
                <a:cs typeface="Symbol"/>
              </a:rPr>
              <a:t></a:t>
            </a:r>
            <a:r>
              <a:rPr dirty="0" sz="1900" spc="105">
                <a:latin typeface="Times New Roman"/>
                <a:cs typeface="Times New Roman"/>
              </a:rPr>
              <a:t> </a:t>
            </a:r>
            <a:r>
              <a:rPr dirty="0" sz="1900" spc="229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8007426" y="5768433"/>
            <a:ext cx="133985" cy="0"/>
          </a:xfrm>
          <a:custGeom>
            <a:avLst/>
            <a:gdLst/>
            <a:ahLst/>
            <a:cxnLst/>
            <a:rect l="l" t="t" r="r" b="b"/>
            <a:pathLst>
              <a:path w="133984" h="0">
                <a:moveTo>
                  <a:pt x="0" y="0"/>
                </a:moveTo>
                <a:lnTo>
                  <a:pt x="133827" y="0"/>
                </a:lnTo>
              </a:path>
            </a:pathLst>
          </a:custGeom>
          <a:ln w="102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8520360" y="5931480"/>
            <a:ext cx="216535" cy="3213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900" spc="225" i="1">
                <a:latin typeface="Times New Roman"/>
                <a:cs typeface="Times New Roman"/>
              </a:rPr>
              <a:t>N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440842" y="5903268"/>
            <a:ext cx="11811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50" i="1">
                <a:latin typeface="Times New Roman"/>
                <a:cs typeface="Times New Roman"/>
              </a:rPr>
              <a:t>ij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962759" y="5309227"/>
            <a:ext cx="268605" cy="3213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baseline="14619" sz="2850" spc="30" i="1">
                <a:latin typeface="Times New Roman"/>
                <a:cs typeface="Times New Roman"/>
              </a:rPr>
              <a:t>A</a:t>
            </a:r>
            <a:r>
              <a:rPr dirty="0" sz="1100" spc="50" i="1">
                <a:latin typeface="Times New Roman"/>
                <a:cs typeface="Times New Roman"/>
              </a:rPr>
              <a:t>ij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672828" y="5931480"/>
            <a:ext cx="168275" cy="3213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900" spc="165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990266" y="5583797"/>
            <a:ext cx="817244" cy="3213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baseline="-35087" sz="2850" spc="225" i="1">
                <a:latin typeface="Times New Roman"/>
                <a:cs typeface="Times New Roman"/>
              </a:rPr>
              <a:t>k </a:t>
            </a:r>
            <a:r>
              <a:rPr dirty="0" baseline="-35087" sz="2850" spc="277">
                <a:latin typeface="Symbol"/>
                <a:cs typeface="Symbol"/>
              </a:rPr>
              <a:t></a:t>
            </a:r>
            <a:r>
              <a:rPr dirty="0" baseline="-35087" sz="2850" spc="300">
                <a:latin typeface="Times New Roman"/>
                <a:cs typeface="Times New Roman"/>
              </a:rPr>
              <a:t> </a:t>
            </a:r>
            <a:r>
              <a:rPr dirty="0" sz="1900" spc="235" u="sng">
                <a:latin typeface="Times New Roman"/>
                <a:cs typeface="Times New Roman"/>
              </a:rPr>
              <a:t>2</a:t>
            </a:r>
            <a:r>
              <a:rPr dirty="0" sz="1900" spc="235" i="1" u="sng">
                <a:latin typeface="Times New Roman"/>
                <a:cs typeface="Times New Roman"/>
              </a:rPr>
              <a:t>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309971" y="5247664"/>
            <a:ext cx="549910" cy="3213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900" spc="185">
                <a:latin typeface="Symbol"/>
                <a:cs typeface="Symbol"/>
              </a:rPr>
              <a:t></a:t>
            </a:r>
            <a:r>
              <a:rPr dirty="0" sz="1900" spc="125">
                <a:latin typeface="Times New Roman"/>
                <a:cs typeface="Times New Roman"/>
              </a:rPr>
              <a:t> </a:t>
            </a:r>
            <a:r>
              <a:rPr dirty="0" sz="1900" spc="130" i="1">
                <a:latin typeface="Times New Roman"/>
                <a:cs typeface="Times New Roman"/>
              </a:rPr>
              <a:t>A</a:t>
            </a:r>
            <a:r>
              <a:rPr dirty="0" baseline="-25252" sz="1650" spc="195" i="1">
                <a:latin typeface="Times New Roman"/>
                <a:cs typeface="Times New Roman"/>
              </a:rPr>
              <a:t>ji</a:t>
            </a:r>
            <a:endParaRPr baseline="-25252" sz="165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171721" y="5591491"/>
            <a:ext cx="2523490" cy="4933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831215">
              <a:lnSpc>
                <a:spcPts val="745"/>
              </a:lnSpc>
              <a:spcBef>
                <a:spcPts val="130"/>
              </a:spcBef>
            </a:pPr>
            <a:r>
              <a:rPr dirty="0" sz="1100" spc="135" i="1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2905"/>
              </a:lnSpc>
            </a:pPr>
            <a:r>
              <a:rPr dirty="0" sz="1900" spc="204" i="1">
                <a:latin typeface="Times New Roman"/>
                <a:cs typeface="Times New Roman"/>
              </a:rPr>
              <a:t>E</a:t>
            </a:r>
            <a:r>
              <a:rPr dirty="0" sz="1900" spc="130" i="1">
                <a:latin typeface="Times New Roman"/>
                <a:cs typeface="Times New Roman"/>
              </a:rPr>
              <a:t> </a:t>
            </a:r>
            <a:r>
              <a:rPr dirty="0" sz="1900" spc="185">
                <a:latin typeface="Symbol"/>
                <a:cs typeface="Symbol"/>
              </a:rPr>
              <a:t></a:t>
            </a:r>
            <a:r>
              <a:rPr dirty="0" sz="1900" spc="175">
                <a:latin typeface="Times New Roman"/>
                <a:cs typeface="Times New Roman"/>
              </a:rPr>
              <a:t> </a:t>
            </a:r>
            <a:r>
              <a:rPr dirty="0" baseline="35087" sz="2850" spc="247" u="sng">
                <a:latin typeface="Times New Roman"/>
                <a:cs typeface="Times New Roman"/>
              </a:rPr>
              <a:t>1</a:t>
            </a:r>
            <a:r>
              <a:rPr dirty="0" baseline="35087" sz="2850" spc="-44">
                <a:latin typeface="Times New Roman"/>
                <a:cs typeface="Times New Roman"/>
              </a:rPr>
              <a:t> </a:t>
            </a:r>
            <a:r>
              <a:rPr dirty="0" baseline="-8620" sz="4350" spc="494">
                <a:latin typeface="Symbol"/>
                <a:cs typeface="Symbol"/>
              </a:rPr>
              <a:t></a:t>
            </a:r>
            <a:r>
              <a:rPr dirty="0" baseline="-8620" sz="4350" spc="-660">
                <a:latin typeface="Times New Roman"/>
                <a:cs typeface="Times New Roman"/>
              </a:rPr>
              <a:t> </a:t>
            </a:r>
            <a:r>
              <a:rPr dirty="0" sz="1900" spc="150" i="1">
                <a:latin typeface="Times New Roman"/>
                <a:cs typeface="Times New Roman"/>
              </a:rPr>
              <a:t>nonzero</a:t>
            </a:r>
            <a:r>
              <a:rPr dirty="0" sz="1900" spc="150">
                <a:latin typeface="Times New Roman"/>
                <a:cs typeface="Times New Roman"/>
              </a:rPr>
              <a:t>(</a:t>
            </a:r>
            <a:r>
              <a:rPr dirty="0" sz="1900" spc="-250">
                <a:latin typeface="Times New Roman"/>
                <a:cs typeface="Times New Roman"/>
              </a:rPr>
              <a:t> </a:t>
            </a:r>
            <a:r>
              <a:rPr dirty="0" sz="1900" spc="204" i="1">
                <a:latin typeface="Times New Roman"/>
                <a:cs typeface="Times New Roman"/>
              </a:rPr>
              <a:t>A</a:t>
            </a:r>
            <a:r>
              <a:rPr dirty="0" sz="1900" spc="365" i="1">
                <a:latin typeface="Times New Roman"/>
                <a:cs typeface="Times New Roman"/>
              </a:rPr>
              <a:t> </a:t>
            </a:r>
            <a:r>
              <a:rPr dirty="0" sz="1900" spc="11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872097" y="6077101"/>
            <a:ext cx="39243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100" i="1">
                <a:latin typeface="Times New Roman"/>
                <a:cs typeface="Times New Roman"/>
              </a:rPr>
              <a:t>i</a:t>
            </a:r>
            <a:r>
              <a:rPr dirty="0" sz="1100" spc="100">
                <a:latin typeface="Times New Roman"/>
                <a:cs typeface="Times New Roman"/>
              </a:rPr>
              <a:t>,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50" i="1">
                <a:latin typeface="Times New Roman"/>
                <a:cs typeface="Times New Roman"/>
              </a:rPr>
              <a:t>j</a:t>
            </a:r>
            <a:r>
              <a:rPr dirty="0" sz="1100" spc="-175" i="1">
                <a:latin typeface="Times New Roman"/>
                <a:cs typeface="Times New Roman"/>
              </a:rPr>
              <a:t> </a:t>
            </a:r>
            <a:r>
              <a:rPr dirty="0" sz="1100" spc="65">
                <a:latin typeface="Symbol"/>
                <a:cs typeface="Symbol"/>
              </a:rPr>
              <a:t></a:t>
            </a:r>
            <a:r>
              <a:rPr dirty="0" sz="1100" spc="65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310768" y="4296472"/>
            <a:ext cx="193675" cy="3022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00" spc="215" i="1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477735" y="4450058"/>
            <a:ext cx="1244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85" i="1">
                <a:latin typeface="Times New Roman"/>
                <a:cs typeface="Times New Roman"/>
              </a:rPr>
              <a:t>ij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855816" y="3448059"/>
            <a:ext cx="278765" cy="84074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29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85"/>
              </a:lnSpc>
              <a:spcBef>
                <a:spcPts val="145"/>
              </a:spcBef>
            </a:pPr>
            <a:r>
              <a:rPr dirty="0" sz="1800" spc="210">
                <a:latin typeface="Symbol"/>
                <a:cs typeface="Symbol"/>
              </a:rPr>
              <a:t></a:t>
            </a:r>
            <a:r>
              <a:rPr dirty="0" baseline="-4629" sz="2700" spc="262">
                <a:latin typeface="Times New Roman"/>
                <a:cs typeface="Times New Roman"/>
              </a:rPr>
              <a:t>0</a:t>
            </a:r>
            <a:endParaRPr baseline="-4629" sz="2700">
              <a:latin typeface="Times New Roman"/>
              <a:cs typeface="Times New Roman"/>
            </a:endParaRPr>
          </a:p>
          <a:p>
            <a:pPr marL="12700">
              <a:lnSpc>
                <a:spcPts val="1985"/>
              </a:lnSpc>
            </a:pPr>
            <a:r>
              <a:rPr dirty="0" sz="1800" spc="135">
                <a:latin typeface="Symbol"/>
                <a:cs typeface="Symbol"/>
              </a:rPr>
              <a:t>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855816" y="4685192"/>
            <a:ext cx="131445" cy="3022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00" spc="135">
                <a:latin typeface="Symbol"/>
                <a:cs typeface="Symbol"/>
              </a:rPr>
              <a:t>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698764" y="3986905"/>
            <a:ext cx="131445" cy="3022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00" spc="-160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659419" y="3709210"/>
            <a:ext cx="2170430" cy="1859914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854710">
              <a:lnSpc>
                <a:spcPct val="100000"/>
              </a:lnSpc>
              <a:spcBef>
                <a:spcPts val="655"/>
              </a:spcBef>
              <a:tabLst>
                <a:tab pos="1385570" algn="l"/>
                <a:tab pos="1915795" algn="l"/>
              </a:tabLst>
            </a:pPr>
            <a:r>
              <a:rPr dirty="0" sz="1800" spc="175">
                <a:latin typeface="Times New Roman"/>
                <a:cs typeface="Times New Roman"/>
              </a:rPr>
              <a:t>2</a:t>
            </a:r>
            <a:r>
              <a:rPr dirty="0" sz="1800" spc="175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1</a:t>
            </a:r>
            <a:r>
              <a:rPr dirty="0" sz="1800" spc="175">
                <a:latin typeface="Times New Roman"/>
                <a:cs typeface="Times New Roman"/>
              </a:rPr>
              <a:t>	</a:t>
            </a:r>
            <a:r>
              <a:rPr dirty="0" sz="1800" spc="165">
                <a:latin typeface="Times New Roman"/>
                <a:cs typeface="Times New Roman"/>
              </a:rPr>
              <a:t>0</a:t>
            </a:r>
            <a:r>
              <a:rPr dirty="0" baseline="4629" sz="2700" spc="202">
                <a:latin typeface="Symbol"/>
                <a:cs typeface="Symbol"/>
              </a:rPr>
              <a:t></a:t>
            </a:r>
            <a:endParaRPr baseline="4629" sz="27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  <a:tabLst>
                <a:tab pos="854710" algn="l"/>
                <a:tab pos="1385570" algn="l"/>
                <a:tab pos="1927860" algn="l"/>
              </a:tabLst>
            </a:pPr>
            <a:r>
              <a:rPr dirty="0" baseline="-41666" sz="2700" spc="300">
                <a:latin typeface="Symbol"/>
                <a:cs typeface="Symbol"/>
              </a:rPr>
              <a:t></a:t>
            </a:r>
            <a:r>
              <a:rPr dirty="0" baseline="-41666" sz="2700" spc="-142">
                <a:latin typeface="Times New Roman"/>
                <a:cs typeface="Times New Roman"/>
              </a:rPr>
              <a:t> </a:t>
            </a:r>
            <a:r>
              <a:rPr dirty="0" baseline="-23148" sz="2700" spc="315">
                <a:latin typeface="Symbol"/>
                <a:cs typeface="Symbol"/>
              </a:rPr>
              <a:t></a:t>
            </a:r>
            <a:r>
              <a:rPr dirty="0" sz="1800" spc="175">
                <a:latin typeface="Times New Roman"/>
                <a:cs typeface="Times New Roman"/>
              </a:rPr>
              <a:t>2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70">
                <a:latin typeface="Times New Roman"/>
                <a:cs typeface="Times New Roman"/>
              </a:rPr>
              <a:t>3</a:t>
            </a:r>
            <a:r>
              <a:rPr dirty="0" baseline="-23148" sz="2700" spc="-240">
                <a:latin typeface="Symbol"/>
                <a:cs typeface="Symbol"/>
              </a:rPr>
              <a:t></a:t>
            </a:r>
            <a:endParaRPr baseline="-23148" sz="2700">
              <a:latin typeface="Symbol"/>
              <a:cs typeface="Symbol"/>
            </a:endParaRPr>
          </a:p>
          <a:p>
            <a:pPr marL="208915">
              <a:lnSpc>
                <a:spcPct val="100000"/>
              </a:lnSpc>
              <a:spcBef>
                <a:spcPts val="555"/>
              </a:spcBef>
              <a:tabLst>
                <a:tab pos="854710" algn="l"/>
                <a:tab pos="1385570" algn="l"/>
                <a:tab pos="1915795" algn="l"/>
              </a:tabLst>
            </a:pPr>
            <a:r>
              <a:rPr dirty="0" baseline="4629" sz="2700" spc="315">
                <a:latin typeface="Symbol"/>
                <a:cs typeface="Symbol"/>
              </a:rPr>
              <a:t></a:t>
            </a:r>
            <a:r>
              <a:rPr dirty="0" sz="1800" spc="17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65">
                <a:latin typeface="Times New Roman"/>
                <a:cs typeface="Times New Roman"/>
              </a:rPr>
              <a:t>0</a:t>
            </a:r>
            <a:r>
              <a:rPr dirty="0" baseline="4629" sz="2700" spc="-240">
                <a:latin typeface="Symbol"/>
                <a:cs typeface="Symbol"/>
              </a:rPr>
              <a:t></a:t>
            </a:r>
            <a:endParaRPr baseline="4629" sz="2700">
              <a:latin typeface="Symbol"/>
              <a:cs typeface="Symbol"/>
            </a:endParaRPr>
          </a:p>
          <a:p>
            <a:pPr marL="208915">
              <a:lnSpc>
                <a:spcPct val="100000"/>
              </a:lnSpc>
              <a:spcBef>
                <a:spcPts val="555"/>
              </a:spcBef>
              <a:tabLst>
                <a:tab pos="866140" algn="l"/>
                <a:tab pos="1385570" algn="l"/>
                <a:tab pos="1915795" algn="l"/>
              </a:tabLst>
            </a:pPr>
            <a:r>
              <a:rPr dirty="0" baseline="-7716" sz="2700" spc="315">
                <a:latin typeface="Symbol"/>
                <a:cs typeface="Symbol"/>
              </a:rPr>
              <a:t></a:t>
            </a:r>
            <a:r>
              <a:rPr dirty="0" sz="1800" spc="17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3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7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65">
                <a:latin typeface="Times New Roman"/>
                <a:cs typeface="Times New Roman"/>
              </a:rPr>
              <a:t>0</a:t>
            </a:r>
            <a:r>
              <a:rPr dirty="0" baseline="-7716" sz="2700" spc="202">
                <a:latin typeface="Symbol"/>
                <a:cs typeface="Symbol"/>
              </a:rPr>
              <a:t></a:t>
            </a:r>
            <a:endParaRPr baseline="-7716" sz="2700">
              <a:latin typeface="Symbol"/>
              <a:cs typeface="Symbol"/>
            </a:endParaRPr>
          </a:p>
          <a:p>
            <a:pPr marL="424815">
              <a:lnSpc>
                <a:spcPct val="100000"/>
              </a:lnSpc>
              <a:spcBef>
                <a:spcPts val="1270"/>
              </a:spcBef>
            </a:pPr>
            <a:r>
              <a:rPr dirty="0" sz="1900" spc="40" i="1">
                <a:latin typeface="Times New Roman"/>
                <a:cs typeface="Times New Roman"/>
              </a:rPr>
              <a:t>A</a:t>
            </a:r>
            <a:r>
              <a:rPr dirty="0" baseline="-25252" sz="1650" spc="60" i="1">
                <a:latin typeface="Times New Roman"/>
                <a:cs typeface="Times New Roman"/>
              </a:rPr>
              <a:t>ii </a:t>
            </a:r>
            <a:r>
              <a:rPr dirty="0" sz="1900" spc="185">
                <a:latin typeface="Symbol"/>
                <a:cs typeface="Symbol"/>
              </a:rPr>
              <a:t></a:t>
            </a:r>
            <a:r>
              <a:rPr dirty="0" sz="1900" spc="50">
                <a:latin typeface="Times New Roman"/>
                <a:cs typeface="Times New Roman"/>
              </a:rPr>
              <a:t> </a:t>
            </a:r>
            <a:r>
              <a:rPr dirty="0" sz="1900" spc="165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698764" y="4685192"/>
            <a:ext cx="131445" cy="3022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00" spc="-160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1350263" y="3691128"/>
            <a:ext cx="548639" cy="55168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392936" y="3706367"/>
            <a:ext cx="466344" cy="47548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493519" y="3810000"/>
            <a:ext cx="265175" cy="26822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910839" y="4718303"/>
            <a:ext cx="545591" cy="55473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950464" y="4736591"/>
            <a:ext cx="466343" cy="47244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3051048" y="4837176"/>
            <a:ext cx="265175" cy="27127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7339583" y="4026408"/>
            <a:ext cx="548640" cy="55473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7379207" y="4044696"/>
            <a:ext cx="469392" cy="47243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7482840" y="4145279"/>
            <a:ext cx="265175" cy="27127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6294120" y="4712208"/>
            <a:ext cx="548640" cy="55473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6333744" y="4730496"/>
            <a:ext cx="469392" cy="47243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6437376" y="4831079"/>
            <a:ext cx="265175" cy="27127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760720" y="4026408"/>
            <a:ext cx="548639" cy="55473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800344" y="4044696"/>
            <a:ext cx="469391" cy="47243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903976" y="4145279"/>
            <a:ext cx="265175" cy="27127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6294120" y="3691128"/>
            <a:ext cx="548640" cy="55168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6333744" y="3706367"/>
            <a:ext cx="469392" cy="47548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437376" y="3810000"/>
            <a:ext cx="265175" cy="26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882602" y="6386067"/>
            <a:ext cx="25666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008000"/>
                </a:solidFill>
                <a:latin typeface="Calibri"/>
                <a:cs typeface="Calibri"/>
              </a:rPr>
              <a:t>Examples: </a:t>
            </a: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Proteins,</a:t>
            </a:r>
            <a:r>
              <a:rPr dirty="0" sz="1600" spc="-3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Calibri"/>
                <a:cs typeface="Calibri"/>
              </a:rPr>
              <a:t>Hyperlinks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4" name="object 10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05" name="object 10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106" name="object 10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/>
              <a:t>75</a:t>
            </a:r>
          </a:p>
        </p:txBody>
      </p:sp>
      <p:sp>
        <p:nvSpPr>
          <p:cNvPr id="103" name="object 103"/>
          <p:cNvSpPr txBox="1"/>
          <p:nvPr/>
        </p:nvSpPr>
        <p:spPr>
          <a:xfrm>
            <a:off x="5031740" y="6343396"/>
            <a:ext cx="34359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008000"/>
                </a:solidFill>
                <a:latin typeface="Calibri"/>
                <a:cs typeface="Calibri"/>
              </a:rPr>
              <a:t>Examples: </a:t>
            </a: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Communication,</a:t>
            </a:r>
            <a:r>
              <a:rPr dirty="0" sz="1600" spc="5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Collaboration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4340" y="3544315"/>
            <a:ext cx="1901189" cy="568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Largest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Component: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5"/>
              </a:lnSpc>
            </a:pPr>
            <a:r>
              <a:rPr dirty="0" sz="1800" spc="-10" b="1">
                <a:latin typeface="Calibri"/>
                <a:cs typeface="Calibri"/>
              </a:rPr>
              <a:t>Giant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Component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84340" y="4370323"/>
            <a:ext cx="2083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Isolated </a:t>
            </a:r>
            <a:r>
              <a:rPr dirty="0" sz="1800" spc="-5" b="1">
                <a:latin typeface="Calibri"/>
                <a:cs typeface="Calibri"/>
              </a:rPr>
              <a:t>node </a:t>
            </a:r>
            <a:r>
              <a:rPr dirty="0" sz="1600" spc="-5">
                <a:solidFill>
                  <a:srgbClr val="008000"/>
                </a:solidFill>
                <a:latin typeface="Calibri"/>
                <a:cs typeface="Calibri"/>
              </a:rPr>
              <a:t>(node</a:t>
            </a:r>
            <a:r>
              <a:rPr dirty="0" sz="1600" spc="-5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8000"/>
                </a:solidFill>
                <a:latin typeface="Calibri"/>
                <a:cs typeface="Calibri"/>
              </a:rPr>
              <a:t>H)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9976" y="341375"/>
            <a:ext cx="8412480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48703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Connected (undirected)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graph: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1920747"/>
            <a:ext cx="7473315" cy="1428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Any </a:t>
            </a:r>
            <a:r>
              <a:rPr dirty="0" sz="2800" spc="-15">
                <a:latin typeface="Calibri"/>
                <a:cs typeface="Calibri"/>
              </a:rPr>
              <a:t>two </a:t>
            </a:r>
            <a:r>
              <a:rPr dirty="0" sz="2800" spc="-10">
                <a:latin typeface="Calibri"/>
                <a:cs typeface="Calibri"/>
              </a:rPr>
              <a:t>vertices can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5">
                <a:latin typeface="Calibri"/>
                <a:cs typeface="Calibri"/>
              </a:rPr>
              <a:t>joined by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path</a:t>
            </a:r>
            <a:endParaRPr sz="2800">
              <a:latin typeface="Calibri"/>
              <a:cs typeface="Calibri"/>
            </a:endParaRPr>
          </a:p>
          <a:p>
            <a:pPr marL="332740" marR="5080" indent="-320040">
              <a:lnSpc>
                <a:spcPts val="3820"/>
              </a:lnSpc>
              <a:spcBef>
                <a:spcPts val="17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0">
                <a:latin typeface="Calibri"/>
                <a:cs typeface="Calibri"/>
              </a:rPr>
              <a:t>disconnected </a:t>
            </a:r>
            <a:r>
              <a:rPr dirty="0" sz="3200" spc="-15">
                <a:latin typeface="Calibri"/>
                <a:cs typeface="Calibri"/>
              </a:rPr>
              <a:t>graph </a:t>
            </a:r>
            <a:r>
              <a:rPr dirty="0" sz="3200">
                <a:latin typeface="Calibri"/>
                <a:cs typeface="Calibri"/>
              </a:rPr>
              <a:t>is made up </a:t>
            </a:r>
            <a:r>
              <a:rPr dirty="0" sz="3200" spc="-10">
                <a:latin typeface="Calibri"/>
                <a:cs typeface="Calibri"/>
              </a:rPr>
              <a:t>by </a:t>
            </a:r>
            <a:r>
              <a:rPr dirty="0" sz="3200" spc="-15">
                <a:latin typeface="Calibri"/>
                <a:cs typeface="Calibri"/>
              </a:rPr>
              <a:t>two </a:t>
            </a:r>
            <a:r>
              <a:rPr dirty="0" sz="3200" spc="-5">
                <a:latin typeface="Calibri"/>
                <a:cs typeface="Calibri"/>
              </a:rPr>
              <a:t>or  </a:t>
            </a:r>
            <a:r>
              <a:rPr dirty="0" sz="3200" spc="-15">
                <a:latin typeface="Calibri"/>
                <a:cs typeface="Calibri"/>
              </a:rPr>
              <a:t>more connected</a:t>
            </a:r>
            <a:r>
              <a:rPr dirty="0" sz="3200" spc="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components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5722" y="4800091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1043" y="4647691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7158" y="3647947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12174" y="3361435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96388" y="4049434"/>
            <a:ext cx="534035" cy="637540"/>
          </a:xfrm>
          <a:custGeom>
            <a:avLst/>
            <a:gdLst/>
            <a:ahLst/>
            <a:cxnLst/>
            <a:rect l="l" t="t" r="r" b="b"/>
            <a:pathLst>
              <a:path w="534035" h="637539">
                <a:moveTo>
                  <a:pt x="0" y="637016"/>
                </a:moveTo>
                <a:lnTo>
                  <a:pt x="53345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85937" y="3559903"/>
            <a:ext cx="815975" cy="425450"/>
          </a:xfrm>
          <a:custGeom>
            <a:avLst/>
            <a:gdLst/>
            <a:ahLst/>
            <a:cxnLst/>
            <a:rect l="l" t="t" r="r" b="b"/>
            <a:pathLst>
              <a:path w="815975" h="425450">
                <a:moveTo>
                  <a:pt x="0" y="424874"/>
                </a:moveTo>
                <a:lnTo>
                  <a:pt x="81570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766297" y="3586685"/>
            <a:ext cx="125730" cy="984250"/>
          </a:xfrm>
          <a:custGeom>
            <a:avLst/>
            <a:gdLst/>
            <a:ahLst/>
            <a:cxnLst/>
            <a:rect l="l" t="t" r="r" b="b"/>
            <a:pathLst>
              <a:path w="125730" h="984250">
                <a:moveTo>
                  <a:pt x="125335" y="98390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59155" y="4049434"/>
            <a:ext cx="968375" cy="548005"/>
          </a:xfrm>
          <a:custGeom>
            <a:avLst/>
            <a:gdLst/>
            <a:ahLst/>
            <a:cxnLst/>
            <a:rect l="l" t="t" r="r" b="b"/>
            <a:pathLst>
              <a:path w="968375" h="548004">
                <a:moveTo>
                  <a:pt x="0" y="0"/>
                </a:moveTo>
                <a:lnTo>
                  <a:pt x="967819" y="54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85937" y="4897079"/>
            <a:ext cx="815975" cy="363855"/>
          </a:xfrm>
          <a:custGeom>
            <a:avLst/>
            <a:gdLst/>
            <a:ahLst/>
            <a:cxnLst/>
            <a:rect l="l" t="t" r="r" b="b"/>
            <a:pathLst>
              <a:path w="815975" h="363854">
                <a:moveTo>
                  <a:pt x="0" y="0"/>
                </a:moveTo>
                <a:lnTo>
                  <a:pt x="815702" y="36379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85937" y="5325528"/>
            <a:ext cx="789305" cy="298450"/>
          </a:xfrm>
          <a:custGeom>
            <a:avLst/>
            <a:gdLst/>
            <a:ahLst/>
            <a:cxnLst/>
            <a:rect l="l" t="t" r="r" b="b"/>
            <a:pathLst>
              <a:path w="789305" h="298450">
                <a:moveTo>
                  <a:pt x="0" y="298031"/>
                </a:moveTo>
                <a:lnTo>
                  <a:pt x="78892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794497" y="4988519"/>
            <a:ext cx="0" cy="544195"/>
          </a:xfrm>
          <a:custGeom>
            <a:avLst/>
            <a:gdLst/>
            <a:ahLst/>
            <a:cxnLst/>
            <a:rect l="l" t="t" r="r" b="b"/>
            <a:pathLst>
              <a:path w="0" h="544195">
                <a:moveTo>
                  <a:pt x="0" y="543601"/>
                </a:moveTo>
                <a:lnTo>
                  <a:pt x="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896179" y="5165852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20300" y="4745228"/>
            <a:ext cx="118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F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07600" y="5485891"/>
            <a:ext cx="144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G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794497" y="4076217"/>
            <a:ext cx="0" cy="729615"/>
          </a:xfrm>
          <a:custGeom>
            <a:avLst/>
            <a:gdLst/>
            <a:ahLst/>
            <a:cxnLst/>
            <a:rect l="l" t="t" r="r" b="b"/>
            <a:pathLst>
              <a:path w="0" h="729614">
                <a:moveTo>
                  <a:pt x="0" y="729422"/>
                </a:moveTo>
                <a:lnTo>
                  <a:pt x="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703057" y="389333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1" y="26781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40291" y="46596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2" y="26781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2" y="156097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040291" y="46596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674857" y="340380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8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674857" y="340380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800192" y="457058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1" y="26781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800192" y="457058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703057" y="480563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1" y="26781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703057" y="55321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1" y="26781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703057" y="55321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674857" y="523408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1" y="26781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674857" y="523408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322321" y="4842764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27643" y="4687315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93756" y="3690620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88776" y="3404108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472989" y="4091271"/>
            <a:ext cx="534035" cy="637540"/>
          </a:xfrm>
          <a:custGeom>
            <a:avLst/>
            <a:gdLst/>
            <a:ahLst/>
            <a:cxnLst/>
            <a:rect l="l" t="t" r="r" b="b"/>
            <a:pathLst>
              <a:path w="534035" h="637539">
                <a:moveTo>
                  <a:pt x="0" y="637016"/>
                </a:moveTo>
                <a:lnTo>
                  <a:pt x="53345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162537" y="3601738"/>
            <a:ext cx="815975" cy="425450"/>
          </a:xfrm>
          <a:custGeom>
            <a:avLst/>
            <a:gdLst/>
            <a:ahLst/>
            <a:cxnLst/>
            <a:rect l="l" t="t" r="r" b="b"/>
            <a:pathLst>
              <a:path w="815975" h="425450">
                <a:moveTo>
                  <a:pt x="0" y="424874"/>
                </a:moveTo>
                <a:lnTo>
                  <a:pt x="81570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042896" y="3628520"/>
            <a:ext cx="125730" cy="984250"/>
          </a:xfrm>
          <a:custGeom>
            <a:avLst/>
            <a:gdLst/>
            <a:ahLst/>
            <a:cxnLst/>
            <a:rect l="l" t="t" r="r" b="b"/>
            <a:pathLst>
              <a:path w="125729" h="984250">
                <a:moveTo>
                  <a:pt x="125335" y="98390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135754" y="4091270"/>
            <a:ext cx="968375" cy="548005"/>
          </a:xfrm>
          <a:custGeom>
            <a:avLst/>
            <a:gdLst/>
            <a:ahLst/>
            <a:cxnLst/>
            <a:rect l="l" t="t" r="r" b="b"/>
            <a:pathLst>
              <a:path w="968375" h="548004">
                <a:moveTo>
                  <a:pt x="0" y="0"/>
                </a:moveTo>
                <a:lnTo>
                  <a:pt x="967819" y="54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071097" y="5030355"/>
            <a:ext cx="0" cy="544195"/>
          </a:xfrm>
          <a:custGeom>
            <a:avLst/>
            <a:gdLst/>
            <a:ahLst/>
            <a:cxnLst/>
            <a:rect l="l" t="t" r="r" b="b"/>
            <a:pathLst>
              <a:path w="0" h="544195">
                <a:moveTo>
                  <a:pt x="0" y="543601"/>
                </a:moveTo>
                <a:lnTo>
                  <a:pt x="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6172779" y="5205476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796900" y="4787900"/>
            <a:ext cx="118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F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84200" y="5528564"/>
            <a:ext cx="144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979657" y="393517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39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8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979657" y="393517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316891" y="470150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40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8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316891" y="470150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951457" y="344564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39" y="0"/>
                </a:moveTo>
                <a:lnTo>
                  <a:pt x="55847" y="7185"/>
                </a:lnTo>
                <a:lnTo>
                  <a:pt x="26781" y="26781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951457" y="344564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076791" y="46124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39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8"/>
                </a:lnTo>
                <a:lnTo>
                  <a:pt x="55847" y="175694"/>
                </a:lnTo>
                <a:lnTo>
                  <a:pt x="91439" y="182879"/>
                </a:lnTo>
                <a:lnTo>
                  <a:pt x="127032" y="175694"/>
                </a:lnTo>
                <a:lnTo>
                  <a:pt x="156098" y="156098"/>
                </a:lnTo>
                <a:lnTo>
                  <a:pt x="175694" y="127032"/>
                </a:lnTo>
                <a:lnTo>
                  <a:pt x="182879" y="91439"/>
                </a:lnTo>
                <a:lnTo>
                  <a:pt x="175694" y="55847"/>
                </a:lnTo>
                <a:lnTo>
                  <a:pt x="156098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076791" y="46124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979657" y="484747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39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8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979657" y="484747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979657" y="557395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39" y="0"/>
                </a:moveTo>
                <a:lnTo>
                  <a:pt x="55847" y="7185"/>
                </a:lnTo>
                <a:lnTo>
                  <a:pt x="26781" y="26781"/>
                </a:lnTo>
                <a:lnTo>
                  <a:pt x="7185" y="55846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3"/>
                </a:lnTo>
                <a:lnTo>
                  <a:pt x="91439" y="182879"/>
                </a:lnTo>
                <a:lnTo>
                  <a:pt x="127032" y="175693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6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979657" y="557395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951457" y="527592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39" y="0"/>
                </a:moveTo>
                <a:lnTo>
                  <a:pt x="55847" y="7185"/>
                </a:lnTo>
                <a:lnTo>
                  <a:pt x="26781" y="26781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951457" y="527592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/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52297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25105" cy="197358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99800"/>
              </a:lnSpc>
              <a:spcBef>
                <a:spcPts val="105"/>
              </a:spcBef>
            </a:pPr>
            <a:r>
              <a:rPr dirty="0" sz="3200">
                <a:solidFill>
                  <a:srgbClr val="000000"/>
                </a:solidFill>
              </a:rPr>
              <a:t>The </a:t>
            </a:r>
            <a:r>
              <a:rPr dirty="0" sz="3200" spc="-5">
                <a:solidFill>
                  <a:srgbClr val="000000"/>
                </a:solidFill>
              </a:rPr>
              <a:t>adjacency </a:t>
            </a:r>
            <a:r>
              <a:rPr dirty="0" sz="3200" spc="-10">
                <a:solidFill>
                  <a:srgbClr val="000000"/>
                </a:solidFill>
              </a:rPr>
              <a:t>matrix </a:t>
            </a:r>
            <a:r>
              <a:rPr dirty="0" sz="3200" spc="-5">
                <a:solidFill>
                  <a:srgbClr val="000000"/>
                </a:solidFill>
              </a:rPr>
              <a:t>of </a:t>
            </a:r>
            <a:r>
              <a:rPr dirty="0" sz="3200">
                <a:solidFill>
                  <a:srgbClr val="000000"/>
                </a:solidFill>
              </a:rPr>
              <a:t>a </a:t>
            </a:r>
            <a:r>
              <a:rPr dirty="0" sz="3200" spc="-10">
                <a:solidFill>
                  <a:srgbClr val="000000"/>
                </a:solidFill>
              </a:rPr>
              <a:t>network </a:t>
            </a:r>
            <a:r>
              <a:rPr dirty="0" sz="3200" spc="-5">
                <a:solidFill>
                  <a:srgbClr val="000000"/>
                </a:solidFill>
              </a:rPr>
              <a:t>with </a:t>
            </a:r>
            <a:r>
              <a:rPr dirty="0" sz="3200" spc="-20">
                <a:solidFill>
                  <a:srgbClr val="000000"/>
                </a:solidFill>
              </a:rPr>
              <a:t>several  </a:t>
            </a:r>
            <a:r>
              <a:rPr dirty="0" sz="3200" spc="-10">
                <a:solidFill>
                  <a:srgbClr val="000000"/>
                </a:solidFill>
              </a:rPr>
              <a:t>components can </a:t>
            </a:r>
            <a:r>
              <a:rPr dirty="0" sz="3200">
                <a:solidFill>
                  <a:srgbClr val="000000"/>
                </a:solidFill>
              </a:rPr>
              <a:t>be </a:t>
            </a:r>
            <a:r>
              <a:rPr dirty="0" sz="3200" spc="-15">
                <a:solidFill>
                  <a:srgbClr val="000000"/>
                </a:solidFill>
              </a:rPr>
              <a:t>written </a:t>
            </a:r>
            <a:r>
              <a:rPr dirty="0" sz="3200">
                <a:solidFill>
                  <a:srgbClr val="000000"/>
                </a:solidFill>
              </a:rPr>
              <a:t>in a </a:t>
            </a:r>
            <a:r>
              <a:rPr dirty="0" sz="3200" spc="-25">
                <a:solidFill>
                  <a:srgbClr val="000000"/>
                </a:solidFill>
              </a:rPr>
              <a:t>block- </a:t>
            </a:r>
            <a:r>
              <a:rPr dirty="0" sz="3200" spc="-5">
                <a:solidFill>
                  <a:srgbClr val="000000"/>
                </a:solidFill>
              </a:rPr>
              <a:t>diagonal  </a:t>
            </a:r>
            <a:r>
              <a:rPr dirty="0" sz="3200" spc="-20">
                <a:solidFill>
                  <a:srgbClr val="000000"/>
                </a:solidFill>
              </a:rPr>
              <a:t>form, </a:t>
            </a:r>
            <a:r>
              <a:rPr dirty="0" sz="3200" spc="-5">
                <a:solidFill>
                  <a:srgbClr val="000000"/>
                </a:solidFill>
              </a:rPr>
              <a:t>so </a:t>
            </a:r>
            <a:r>
              <a:rPr dirty="0" sz="3200" spc="-10">
                <a:solidFill>
                  <a:srgbClr val="000000"/>
                </a:solidFill>
              </a:rPr>
              <a:t>that </a:t>
            </a:r>
            <a:r>
              <a:rPr dirty="0" sz="3200" spc="-20">
                <a:solidFill>
                  <a:srgbClr val="000000"/>
                </a:solidFill>
              </a:rPr>
              <a:t>nonzero </a:t>
            </a:r>
            <a:r>
              <a:rPr dirty="0" sz="3200" spc="-5">
                <a:solidFill>
                  <a:srgbClr val="000000"/>
                </a:solidFill>
              </a:rPr>
              <a:t>elements </a:t>
            </a:r>
            <a:r>
              <a:rPr dirty="0" sz="3200" spc="-20">
                <a:solidFill>
                  <a:srgbClr val="000000"/>
                </a:solidFill>
              </a:rPr>
              <a:t>are </a:t>
            </a:r>
            <a:r>
              <a:rPr dirty="0" sz="3200" spc="-10">
                <a:solidFill>
                  <a:srgbClr val="000000"/>
                </a:solidFill>
              </a:rPr>
              <a:t>confined </a:t>
            </a:r>
            <a:r>
              <a:rPr dirty="0" sz="3200" spc="-15">
                <a:solidFill>
                  <a:srgbClr val="000000"/>
                </a:solidFill>
              </a:rPr>
              <a:t>to  </a:t>
            </a:r>
            <a:r>
              <a:rPr dirty="0" sz="3200" spc="-10">
                <a:solidFill>
                  <a:srgbClr val="000000"/>
                </a:solidFill>
              </a:rPr>
              <a:t>squares, </a:t>
            </a:r>
            <a:r>
              <a:rPr dirty="0" sz="3200" spc="-5">
                <a:solidFill>
                  <a:srgbClr val="000000"/>
                </a:solidFill>
              </a:rPr>
              <a:t>with </a:t>
            </a:r>
            <a:r>
              <a:rPr dirty="0" sz="3200">
                <a:solidFill>
                  <a:srgbClr val="000000"/>
                </a:solidFill>
              </a:rPr>
              <a:t>all </a:t>
            </a:r>
            <a:r>
              <a:rPr dirty="0" sz="3200" spc="-5">
                <a:solidFill>
                  <a:srgbClr val="000000"/>
                </a:solidFill>
              </a:rPr>
              <a:t>other elements being</a:t>
            </a:r>
            <a:r>
              <a:rPr dirty="0" sz="3200" spc="30">
                <a:solidFill>
                  <a:srgbClr val="000000"/>
                </a:solidFill>
              </a:rPr>
              <a:t> </a:t>
            </a:r>
            <a:r>
              <a:rPr dirty="0" sz="3200" spc="-30">
                <a:solidFill>
                  <a:srgbClr val="000000"/>
                </a:solidFill>
              </a:rPr>
              <a:t>zero: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743747" y="3376847"/>
            <a:ext cx="304800" cy="1284605"/>
          </a:xfrm>
          <a:prstGeom prst="rect">
            <a:avLst/>
          </a:prstGeom>
        </p:spPr>
        <p:txBody>
          <a:bodyPr wrap="square" lIns="0" tIns="127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800" spc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onnec</a:t>
            </a:r>
            <a:r>
              <a:rPr dirty="0" sz="1800" spc="-25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7060" y="5277508"/>
            <a:ext cx="304800" cy="1029335"/>
          </a:xfrm>
          <a:prstGeom prst="rect">
            <a:avLst/>
          </a:prstGeom>
        </p:spPr>
        <p:txBody>
          <a:bodyPr wrap="square" lIns="0" tIns="127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Connec</a:t>
            </a:r>
            <a:r>
              <a:rPr dirty="0" sz="1800" spc="-25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12586" y="3513717"/>
            <a:ext cx="3362558" cy="10354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54932" y="5157835"/>
            <a:ext cx="3520213" cy="10805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90755" y="3253116"/>
            <a:ext cx="1605220" cy="15904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56972" y="4919755"/>
            <a:ext cx="1672788" cy="17030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/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82149" y="4295800"/>
            <a:ext cx="884555" cy="797560"/>
          </a:xfrm>
          <a:custGeom>
            <a:avLst/>
            <a:gdLst/>
            <a:ahLst/>
            <a:cxnLst/>
            <a:rect l="l" t="t" r="r" b="b"/>
            <a:pathLst>
              <a:path w="884555" h="797560">
                <a:moveTo>
                  <a:pt x="878859" y="780721"/>
                </a:moveTo>
                <a:lnTo>
                  <a:pt x="878916" y="781799"/>
                </a:lnTo>
                <a:lnTo>
                  <a:pt x="868361" y="793530"/>
                </a:lnTo>
                <a:lnTo>
                  <a:pt x="867285" y="793587"/>
                </a:lnTo>
                <a:lnTo>
                  <a:pt x="884099" y="797076"/>
                </a:lnTo>
                <a:lnTo>
                  <a:pt x="878859" y="780721"/>
                </a:lnTo>
                <a:close/>
              </a:path>
              <a:path w="884555" h="797560">
                <a:moveTo>
                  <a:pt x="856332" y="791314"/>
                </a:moveTo>
                <a:lnTo>
                  <a:pt x="859326" y="794007"/>
                </a:lnTo>
                <a:lnTo>
                  <a:pt x="867285" y="793587"/>
                </a:lnTo>
                <a:lnTo>
                  <a:pt x="856332" y="791314"/>
                </a:lnTo>
                <a:close/>
              </a:path>
              <a:path w="884555" h="797560">
                <a:moveTo>
                  <a:pt x="814176" y="753382"/>
                </a:moveTo>
                <a:lnTo>
                  <a:pt x="856332" y="791314"/>
                </a:lnTo>
                <a:lnTo>
                  <a:pt x="867285" y="793587"/>
                </a:lnTo>
                <a:lnTo>
                  <a:pt x="868361" y="793530"/>
                </a:lnTo>
                <a:lnTo>
                  <a:pt x="878312" y="782469"/>
                </a:lnTo>
                <a:lnTo>
                  <a:pt x="849414" y="782469"/>
                </a:lnTo>
                <a:lnTo>
                  <a:pt x="841941" y="759144"/>
                </a:lnTo>
                <a:lnTo>
                  <a:pt x="814176" y="753382"/>
                </a:lnTo>
                <a:close/>
              </a:path>
              <a:path w="884555" h="797560">
                <a:moveTo>
                  <a:pt x="761023" y="742353"/>
                </a:moveTo>
                <a:lnTo>
                  <a:pt x="753459" y="747316"/>
                </a:lnTo>
                <a:lnTo>
                  <a:pt x="750253" y="762768"/>
                </a:lnTo>
                <a:lnTo>
                  <a:pt x="755216" y="770331"/>
                </a:lnTo>
                <a:lnTo>
                  <a:pt x="856332" y="791314"/>
                </a:lnTo>
                <a:lnTo>
                  <a:pt x="814176" y="753382"/>
                </a:lnTo>
                <a:lnTo>
                  <a:pt x="761023" y="742353"/>
                </a:lnTo>
                <a:close/>
              </a:path>
              <a:path w="884555" h="797560">
                <a:moveTo>
                  <a:pt x="841941" y="759144"/>
                </a:moveTo>
                <a:lnTo>
                  <a:pt x="849414" y="782469"/>
                </a:lnTo>
                <a:lnTo>
                  <a:pt x="865922" y="764120"/>
                </a:lnTo>
                <a:lnTo>
                  <a:pt x="841941" y="759144"/>
                </a:lnTo>
                <a:close/>
              </a:path>
              <a:path w="884555" h="797560">
                <a:moveTo>
                  <a:pt x="833290" y="732142"/>
                </a:moveTo>
                <a:lnTo>
                  <a:pt x="841941" y="759144"/>
                </a:lnTo>
                <a:lnTo>
                  <a:pt x="865922" y="764120"/>
                </a:lnTo>
                <a:lnTo>
                  <a:pt x="849414" y="782469"/>
                </a:lnTo>
                <a:lnTo>
                  <a:pt x="878312" y="782469"/>
                </a:lnTo>
                <a:lnTo>
                  <a:pt x="878916" y="781799"/>
                </a:lnTo>
                <a:lnTo>
                  <a:pt x="878859" y="780721"/>
                </a:lnTo>
                <a:lnTo>
                  <a:pt x="875448" y="770073"/>
                </a:lnTo>
                <a:lnTo>
                  <a:pt x="833290" y="732142"/>
                </a:lnTo>
                <a:close/>
              </a:path>
              <a:path w="884555" h="797560">
                <a:moveTo>
                  <a:pt x="875448" y="770073"/>
                </a:moveTo>
                <a:lnTo>
                  <a:pt x="878859" y="780721"/>
                </a:lnTo>
                <a:lnTo>
                  <a:pt x="878439" y="772765"/>
                </a:lnTo>
                <a:lnTo>
                  <a:pt x="875448" y="770073"/>
                </a:lnTo>
                <a:close/>
              </a:path>
              <a:path w="884555" h="797560">
                <a:moveTo>
                  <a:pt x="835896" y="667584"/>
                </a:moveTo>
                <a:lnTo>
                  <a:pt x="820868" y="672398"/>
                </a:lnTo>
                <a:lnTo>
                  <a:pt x="816728" y="680441"/>
                </a:lnTo>
                <a:lnTo>
                  <a:pt x="833290" y="732142"/>
                </a:lnTo>
                <a:lnTo>
                  <a:pt x="875448" y="770073"/>
                </a:lnTo>
                <a:lnTo>
                  <a:pt x="843940" y="671724"/>
                </a:lnTo>
                <a:lnTo>
                  <a:pt x="835896" y="667584"/>
                </a:lnTo>
                <a:close/>
              </a:path>
              <a:path w="884555" h="797560">
                <a:moveTo>
                  <a:pt x="19589" y="0"/>
                </a:moveTo>
                <a:lnTo>
                  <a:pt x="10556" y="476"/>
                </a:lnTo>
                <a:lnTo>
                  <a:pt x="0" y="12207"/>
                </a:lnTo>
                <a:lnTo>
                  <a:pt x="477" y="21242"/>
                </a:lnTo>
                <a:lnTo>
                  <a:pt x="814176" y="753382"/>
                </a:lnTo>
                <a:lnTo>
                  <a:pt x="841941" y="759144"/>
                </a:lnTo>
                <a:lnTo>
                  <a:pt x="833290" y="732142"/>
                </a:lnTo>
                <a:lnTo>
                  <a:pt x="195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579259" y="4745823"/>
            <a:ext cx="771525" cy="363855"/>
          </a:xfrm>
          <a:custGeom>
            <a:avLst/>
            <a:gdLst/>
            <a:ahLst/>
            <a:cxnLst/>
            <a:rect l="l" t="t" r="r" b="b"/>
            <a:pathLst>
              <a:path w="771525" h="363854">
                <a:moveTo>
                  <a:pt x="690892" y="34541"/>
                </a:moveTo>
                <a:lnTo>
                  <a:pt x="3279" y="337110"/>
                </a:lnTo>
                <a:lnTo>
                  <a:pt x="0" y="345541"/>
                </a:lnTo>
                <a:lnTo>
                  <a:pt x="6356" y="359986"/>
                </a:lnTo>
                <a:lnTo>
                  <a:pt x="14787" y="363264"/>
                </a:lnTo>
                <a:lnTo>
                  <a:pt x="702401" y="60696"/>
                </a:lnTo>
                <a:lnTo>
                  <a:pt x="719065" y="37754"/>
                </a:lnTo>
                <a:lnTo>
                  <a:pt x="690892" y="34541"/>
                </a:lnTo>
                <a:close/>
              </a:path>
              <a:path w="771525" h="363854">
                <a:moveTo>
                  <a:pt x="754308" y="37855"/>
                </a:moveTo>
                <a:lnTo>
                  <a:pt x="702401" y="60696"/>
                </a:lnTo>
                <a:lnTo>
                  <a:pt x="670497" y="104618"/>
                </a:lnTo>
                <a:lnTo>
                  <a:pt x="671913" y="113554"/>
                </a:lnTo>
                <a:lnTo>
                  <a:pt x="684682" y="122828"/>
                </a:lnTo>
                <a:lnTo>
                  <a:pt x="693618" y="121411"/>
                </a:lnTo>
                <a:lnTo>
                  <a:pt x="754308" y="37855"/>
                </a:lnTo>
                <a:close/>
              </a:path>
              <a:path w="771525" h="363854">
                <a:moveTo>
                  <a:pt x="719065" y="37754"/>
                </a:moveTo>
                <a:lnTo>
                  <a:pt x="702401" y="60696"/>
                </a:lnTo>
                <a:lnTo>
                  <a:pt x="748231" y="40529"/>
                </a:lnTo>
                <a:lnTo>
                  <a:pt x="743400" y="40529"/>
                </a:lnTo>
                <a:lnTo>
                  <a:pt x="719065" y="37754"/>
                </a:lnTo>
                <a:close/>
              </a:path>
              <a:path w="771525" h="363854">
                <a:moveTo>
                  <a:pt x="733459" y="17937"/>
                </a:moveTo>
                <a:lnTo>
                  <a:pt x="719065" y="37754"/>
                </a:lnTo>
                <a:lnTo>
                  <a:pt x="743400" y="40529"/>
                </a:lnTo>
                <a:lnTo>
                  <a:pt x="733459" y="17937"/>
                </a:lnTo>
                <a:close/>
              </a:path>
              <a:path w="771525" h="363854">
                <a:moveTo>
                  <a:pt x="756933" y="17937"/>
                </a:moveTo>
                <a:lnTo>
                  <a:pt x="733459" y="17937"/>
                </a:lnTo>
                <a:lnTo>
                  <a:pt x="743400" y="40529"/>
                </a:lnTo>
                <a:lnTo>
                  <a:pt x="748231" y="40529"/>
                </a:lnTo>
                <a:lnTo>
                  <a:pt x="754308" y="37855"/>
                </a:lnTo>
                <a:lnTo>
                  <a:pt x="760885" y="28801"/>
                </a:lnTo>
                <a:lnTo>
                  <a:pt x="761273" y="27802"/>
                </a:lnTo>
                <a:lnTo>
                  <a:pt x="756933" y="17937"/>
                </a:lnTo>
                <a:close/>
              </a:path>
              <a:path w="771525" h="363854">
                <a:moveTo>
                  <a:pt x="760885" y="28801"/>
                </a:moveTo>
                <a:lnTo>
                  <a:pt x="754308" y="37855"/>
                </a:lnTo>
                <a:lnTo>
                  <a:pt x="757995" y="36233"/>
                </a:lnTo>
                <a:lnTo>
                  <a:pt x="760885" y="28801"/>
                </a:lnTo>
                <a:close/>
              </a:path>
              <a:path w="771525" h="363854">
                <a:moveTo>
                  <a:pt x="742800" y="11700"/>
                </a:moveTo>
                <a:lnTo>
                  <a:pt x="690892" y="34541"/>
                </a:lnTo>
                <a:lnTo>
                  <a:pt x="719065" y="37754"/>
                </a:lnTo>
                <a:lnTo>
                  <a:pt x="733459" y="17937"/>
                </a:lnTo>
                <a:lnTo>
                  <a:pt x="756933" y="17937"/>
                </a:lnTo>
                <a:lnTo>
                  <a:pt x="754918" y="13357"/>
                </a:lnTo>
                <a:lnTo>
                  <a:pt x="753918" y="12968"/>
                </a:lnTo>
                <a:lnTo>
                  <a:pt x="742800" y="11700"/>
                </a:lnTo>
                <a:close/>
              </a:path>
              <a:path w="771525" h="363854">
                <a:moveTo>
                  <a:pt x="640193" y="0"/>
                </a:moveTo>
                <a:lnTo>
                  <a:pt x="633112" y="5631"/>
                </a:lnTo>
                <a:lnTo>
                  <a:pt x="631324" y="21310"/>
                </a:lnTo>
                <a:lnTo>
                  <a:pt x="636955" y="28390"/>
                </a:lnTo>
                <a:lnTo>
                  <a:pt x="690892" y="34541"/>
                </a:lnTo>
                <a:lnTo>
                  <a:pt x="742800" y="11700"/>
                </a:lnTo>
                <a:lnTo>
                  <a:pt x="640193" y="0"/>
                </a:lnTo>
                <a:close/>
              </a:path>
              <a:path w="771525" h="363854">
                <a:moveTo>
                  <a:pt x="753918" y="12968"/>
                </a:moveTo>
                <a:lnTo>
                  <a:pt x="754918" y="13357"/>
                </a:lnTo>
                <a:lnTo>
                  <a:pt x="761273" y="27802"/>
                </a:lnTo>
                <a:lnTo>
                  <a:pt x="760885" y="28801"/>
                </a:lnTo>
                <a:lnTo>
                  <a:pt x="770972" y="14913"/>
                </a:lnTo>
                <a:lnTo>
                  <a:pt x="753918" y="12968"/>
                </a:lnTo>
                <a:close/>
              </a:path>
              <a:path w="771525" h="363854">
                <a:moveTo>
                  <a:pt x="746486" y="10078"/>
                </a:moveTo>
                <a:lnTo>
                  <a:pt x="742800" y="11700"/>
                </a:lnTo>
                <a:lnTo>
                  <a:pt x="753918" y="12968"/>
                </a:lnTo>
                <a:lnTo>
                  <a:pt x="746486" y="10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74147" y="4837892"/>
            <a:ext cx="132715" cy="509905"/>
          </a:xfrm>
          <a:custGeom>
            <a:avLst/>
            <a:gdLst/>
            <a:ahLst/>
            <a:cxnLst/>
            <a:rect l="l" t="t" r="r" b="b"/>
            <a:pathLst>
              <a:path w="132714" h="509904">
                <a:moveTo>
                  <a:pt x="57378" y="494814"/>
                </a:moveTo>
                <a:lnTo>
                  <a:pt x="65982" y="509666"/>
                </a:lnTo>
                <a:lnTo>
                  <a:pt x="74231" y="495622"/>
                </a:lnTo>
                <a:lnTo>
                  <a:pt x="58134" y="495574"/>
                </a:lnTo>
                <a:lnTo>
                  <a:pt x="57378" y="494814"/>
                </a:lnTo>
                <a:close/>
              </a:path>
              <a:path w="132714" h="509904">
                <a:moveTo>
                  <a:pt x="51939" y="428419"/>
                </a:moveTo>
                <a:lnTo>
                  <a:pt x="51817" y="485214"/>
                </a:lnTo>
                <a:lnTo>
                  <a:pt x="57378" y="494814"/>
                </a:lnTo>
                <a:lnTo>
                  <a:pt x="58134" y="495574"/>
                </a:lnTo>
                <a:lnTo>
                  <a:pt x="73916" y="495622"/>
                </a:lnTo>
                <a:lnTo>
                  <a:pt x="74673" y="494870"/>
                </a:lnTo>
                <a:lnTo>
                  <a:pt x="80344" y="485214"/>
                </a:lnTo>
                <a:lnTo>
                  <a:pt x="80377" y="474148"/>
                </a:lnTo>
                <a:lnTo>
                  <a:pt x="53748" y="474074"/>
                </a:lnTo>
                <a:lnTo>
                  <a:pt x="66153" y="452954"/>
                </a:lnTo>
                <a:lnTo>
                  <a:pt x="51939" y="428419"/>
                </a:lnTo>
                <a:close/>
              </a:path>
              <a:path w="132714" h="509904">
                <a:moveTo>
                  <a:pt x="74673" y="494870"/>
                </a:moveTo>
                <a:lnTo>
                  <a:pt x="73916" y="495622"/>
                </a:lnTo>
                <a:lnTo>
                  <a:pt x="74231" y="495622"/>
                </a:lnTo>
                <a:lnTo>
                  <a:pt x="74673" y="494870"/>
                </a:lnTo>
                <a:close/>
              </a:path>
              <a:path w="132714" h="509904">
                <a:moveTo>
                  <a:pt x="80344" y="485214"/>
                </a:moveTo>
                <a:lnTo>
                  <a:pt x="74673" y="494870"/>
                </a:lnTo>
                <a:lnTo>
                  <a:pt x="80332" y="489244"/>
                </a:lnTo>
                <a:lnTo>
                  <a:pt x="80344" y="485214"/>
                </a:lnTo>
                <a:close/>
              </a:path>
              <a:path w="132714" h="509904">
                <a:moveTo>
                  <a:pt x="51769" y="485132"/>
                </a:moveTo>
                <a:lnTo>
                  <a:pt x="51842" y="489244"/>
                </a:lnTo>
                <a:lnTo>
                  <a:pt x="57378" y="494814"/>
                </a:lnTo>
                <a:lnTo>
                  <a:pt x="51769" y="485132"/>
                </a:lnTo>
                <a:close/>
              </a:path>
              <a:path w="132714" h="509904">
                <a:moveTo>
                  <a:pt x="116762" y="379418"/>
                </a:moveTo>
                <a:lnTo>
                  <a:pt x="108007" y="381695"/>
                </a:lnTo>
                <a:lnTo>
                  <a:pt x="80564" y="428419"/>
                </a:lnTo>
                <a:lnTo>
                  <a:pt x="80441" y="452954"/>
                </a:lnTo>
                <a:lnTo>
                  <a:pt x="80344" y="485214"/>
                </a:lnTo>
                <a:lnTo>
                  <a:pt x="132646" y="396167"/>
                </a:lnTo>
                <a:lnTo>
                  <a:pt x="130370" y="387412"/>
                </a:lnTo>
                <a:lnTo>
                  <a:pt x="116762" y="379418"/>
                </a:lnTo>
                <a:close/>
              </a:path>
              <a:path w="132714" h="509904">
                <a:moveTo>
                  <a:pt x="15984" y="379117"/>
                </a:moveTo>
                <a:lnTo>
                  <a:pt x="2329" y="387028"/>
                </a:lnTo>
                <a:lnTo>
                  <a:pt x="0" y="395770"/>
                </a:lnTo>
                <a:lnTo>
                  <a:pt x="51769" y="485132"/>
                </a:lnTo>
                <a:lnTo>
                  <a:pt x="51939" y="428419"/>
                </a:lnTo>
                <a:lnTo>
                  <a:pt x="24725" y="381445"/>
                </a:lnTo>
                <a:lnTo>
                  <a:pt x="15984" y="379117"/>
                </a:lnTo>
                <a:close/>
              </a:path>
              <a:path w="132714" h="509904">
                <a:moveTo>
                  <a:pt x="66153" y="452954"/>
                </a:moveTo>
                <a:lnTo>
                  <a:pt x="53748" y="474074"/>
                </a:lnTo>
                <a:lnTo>
                  <a:pt x="78431" y="474148"/>
                </a:lnTo>
                <a:lnTo>
                  <a:pt x="66153" y="452954"/>
                </a:lnTo>
                <a:close/>
              </a:path>
              <a:path w="132714" h="509904">
                <a:moveTo>
                  <a:pt x="80514" y="428504"/>
                </a:moveTo>
                <a:lnTo>
                  <a:pt x="66153" y="452954"/>
                </a:lnTo>
                <a:lnTo>
                  <a:pt x="78431" y="474148"/>
                </a:lnTo>
                <a:lnTo>
                  <a:pt x="80377" y="474148"/>
                </a:lnTo>
                <a:lnTo>
                  <a:pt x="80514" y="428504"/>
                </a:lnTo>
                <a:close/>
              </a:path>
              <a:path w="132714" h="509904">
                <a:moveTo>
                  <a:pt x="59616" y="0"/>
                </a:moveTo>
                <a:lnTo>
                  <a:pt x="53200" y="6377"/>
                </a:lnTo>
                <a:lnTo>
                  <a:pt x="52086" y="379117"/>
                </a:lnTo>
                <a:lnTo>
                  <a:pt x="51988" y="428504"/>
                </a:lnTo>
                <a:lnTo>
                  <a:pt x="66153" y="452954"/>
                </a:lnTo>
                <a:lnTo>
                  <a:pt x="80514" y="428504"/>
                </a:lnTo>
                <a:lnTo>
                  <a:pt x="81751" y="14268"/>
                </a:lnTo>
                <a:lnTo>
                  <a:pt x="81690" y="6377"/>
                </a:lnTo>
                <a:lnTo>
                  <a:pt x="75398" y="48"/>
                </a:lnTo>
                <a:lnTo>
                  <a:pt x="596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95450" y="5189843"/>
            <a:ext cx="769620" cy="265430"/>
          </a:xfrm>
          <a:custGeom>
            <a:avLst/>
            <a:gdLst/>
            <a:ahLst/>
            <a:cxnLst/>
            <a:rect l="l" t="t" r="r" b="b"/>
            <a:pathLst>
              <a:path w="769620" h="265429">
                <a:moveTo>
                  <a:pt x="81987" y="41017"/>
                </a:moveTo>
                <a:lnTo>
                  <a:pt x="54499" y="47973"/>
                </a:lnTo>
                <a:lnTo>
                  <a:pt x="74084" y="68477"/>
                </a:lnTo>
                <a:lnTo>
                  <a:pt x="756870" y="265000"/>
                </a:lnTo>
                <a:lnTo>
                  <a:pt x="764787" y="260623"/>
                </a:lnTo>
                <a:lnTo>
                  <a:pt x="769152" y="245456"/>
                </a:lnTo>
                <a:lnTo>
                  <a:pt x="764774" y="237540"/>
                </a:lnTo>
                <a:lnTo>
                  <a:pt x="81987" y="41017"/>
                </a:lnTo>
                <a:close/>
              </a:path>
              <a:path w="769620" h="265429">
                <a:moveTo>
                  <a:pt x="19585" y="52791"/>
                </a:moveTo>
                <a:lnTo>
                  <a:pt x="90916" y="127471"/>
                </a:lnTo>
                <a:lnTo>
                  <a:pt x="99960" y="127678"/>
                </a:lnTo>
                <a:lnTo>
                  <a:pt x="111372" y="116777"/>
                </a:lnTo>
                <a:lnTo>
                  <a:pt x="111580" y="107734"/>
                </a:lnTo>
                <a:lnTo>
                  <a:pt x="74084" y="68477"/>
                </a:lnTo>
                <a:lnTo>
                  <a:pt x="19585" y="52791"/>
                </a:lnTo>
                <a:close/>
              </a:path>
              <a:path w="769620" h="265429">
                <a:moveTo>
                  <a:pt x="27489" y="25331"/>
                </a:moveTo>
                <a:lnTo>
                  <a:pt x="16639" y="28077"/>
                </a:lnTo>
                <a:lnTo>
                  <a:pt x="15702" y="28595"/>
                </a:lnTo>
                <a:lnTo>
                  <a:pt x="11337" y="43760"/>
                </a:lnTo>
                <a:lnTo>
                  <a:pt x="11857" y="44701"/>
                </a:lnTo>
                <a:lnTo>
                  <a:pt x="19585" y="52791"/>
                </a:lnTo>
                <a:lnTo>
                  <a:pt x="74084" y="68477"/>
                </a:lnTo>
                <a:lnTo>
                  <a:pt x="60238" y="53981"/>
                </a:lnTo>
                <a:lnTo>
                  <a:pt x="30754" y="53981"/>
                </a:lnTo>
                <a:lnTo>
                  <a:pt x="37581" y="30261"/>
                </a:lnTo>
                <a:lnTo>
                  <a:pt x="44616" y="30261"/>
                </a:lnTo>
                <a:lnTo>
                  <a:pt x="27489" y="25331"/>
                </a:lnTo>
                <a:close/>
              </a:path>
              <a:path w="769620" h="265429">
                <a:moveTo>
                  <a:pt x="37581" y="30261"/>
                </a:moveTo>
                <a:lnTo>
                  <a:pt x="30754" y="53981"/>
                </a:lnTo>
                <a:lnTo>
                  <a:pt x="54499" y="47973"/>
                </a:lnTo>
                <a:lnTo>
                  <a:pt x="37581" y="30261"/>
                </a:lnTo>
                <a:close/>
              </a:path>
              <a:path w="769620" h="265429">
                <a:moveTo>
                  <a:pt x="54499" y="47973"/>
                </a:moveTo>
                <a:lnTo>
                  <a:pt x="30754" y="53981"/>
                </a:lnTo>
                <a:lnTo>
                  <a:pt x="60238" y="53981"/>
                </a:lnTo>
                <a:lnTo>
                  <a:pt x="54499" y="47973"/>
                </a:lnTo>
                <a:close/>
              </a:path>
              <a:path w="769620" h="265429">
                <a:moveTo>
                  <a:pt x="11857" y="44701"/>
                </a:moveTo>
                <a:lnTo>
                  <a:pt x="15714" y="51677"/>
                </a:lnTo>
                <a:lnTo>
                  <a:pt x="19585" y="52791"/>
                </a:lnTo>
                <a:lnTo>
                  <a:pt x="11857" y="44701"/>
                </a:lnTo>
                <a:close/>
              </a:path>
              <a:path w="769620" h="265429">
                <a:moveTo>
                  <a:pt x="44616" y="30261"/>
                </a:moveTo>
                <a:lnTo>
                  <a:pt x="37581" y="30261"/>
                </a:lnTo>
                <a:lnTo>
                  <a:pt x="54499" y="47973"/>
                </a:lnTo>
                <a:lnTo>
                  <a:pt x="81987" y="41017"/>
                </a:lnTo>
                <a:lnTo>
                  <a:pt x="44616" y="30261"/>
                </a:lnTo>
                <a:close/>
              </a:path>
              <a:path w="769620" h="265429">
                <a:moveTo>
                  <a:pt x="16639" y="28077"/>
                </a:moveTo>
                <a:lnTo>
                  <a:pt x="0" y="32287"/>
                </a:lnTo>
                <a:lnTo>
                  <a:pt x="11857" y="44701"/>
                </a:lnTo>
                <a:lnTo>
                  <a:pt x="11337" y="43760"/>
                </a:lnTo>
                <a:lnTo>
                  <a:pt x="15702" y="28595"/>
                </a:lnTo>
                <a:lnTo>
                  <a:pt x="16639" y="28077"/>
                </a:lnTo>
                <a:close/>
              </a:path>
              <a:path w="769620" h="265429">
                <a:moveTo>
                  <a:pt x="127607" y="0"/>
                </a:moveTo>
                <a:lnTo>
                  <a:pt x="27489" y="25331"/>
                </a:lnTo>
                <a:lnTo>
                  <a:pt x="81987" y="41017"/>
                </a:lnTo>
                <a:lnTo>
                  <a:pt x="134616" y="27701"/>
                </a:lnTo>
                <a:lnTo>
                  <a:pt x="139247" y="19931"/>
                </a:lnTo>
                <a:lnTo>
                  <a:pt x="135376" y="4631"/>
                </a:lnTo>
                <a:lnTo>
                  <a:pt x="127607" y="0"/>
                </a:lnTo>
                <a:close/>
              </a:path>
              <a:path w="769620" h="265429">
                <a:moveTo>
                  <a:pt x="23618" y="24217"/>
                </a:moveTo>
                <a:lnTo>
                  <a:pt x="16639" y="28077"/>
                </a:lnTo>
                <a:lnTo>
                  <a:pt x="27489" y="25331"/>
                </a:lnTo>
                <a:lnTo>
                  <a:pt x="23618" y="242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364069" y="5504179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53516" y="4790947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55602" y="4394708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31506" y="5401350"/>
            <a:ext cx="730885" cy="227329"/>
          </a:xfrm>
          <a:custGeom>
            <a:avLst/>
            <a:gdLst/>
            <a:ahLst/>
            <a:cxnLst/>
            <a:rect l="l" t="t" r="r" b="b"/>
            <a:pathLst>
              <a:path w="730885" h="227329">
                <a:moveTo>
                  <a:pt x="82279" y="42879"/>
                </a:moveTo>
                <a:lnTo>
                  <a:pt x="55103" y="50971"/>
                </a:lnTo>
                <a:lnTo>
                  <a:pt x="75523" y="70643"/>
                </a:lnTo>
                <a:lnTo>
                  <a:pt x="719095" y="227221"/>
                </a:lnTo>
                <a:lnTo>
                  <a:pt x="726823" y="222517"/>
                </a:lnTo>
                <a:lnTo>
                  <a:pt x="730553" y="207183"/>
                </a:lnTo>
                <a:lnTo>
                  <a:pt x="725850" y="199455"/>
                </a:lnTo>
                <a:lnTo>
                  <a:pt x="82279" y="42879"/>
                </a:lnTo>
                <a:close/>
              </a:path>
              <a:path w="730885" h="227329">
                <a:moveTo>
                  <a:pt x="20420" y="57237"/>
                </a:moveTo>
                <a:lnTo>
                  <a:pt x="94795" y="128887"/>
                </a:lnTo>
                <a:lnTo>
                  <a:pt x="103840" y="128718"/>
                </a:lnTo>
                <a:lnTo>
                  <a:pt x="114790" y="117351"/>
                </a:lnTo>
                <a:lnTo>
                  <a:pt x="114621" y="108308"/>
                </a:lnTo>
                <a:lnTo>
                  <a:pt x="75523" y="70643"/>
                </a:lnTo>
                <a:lnTo>
                  <a:pt x="20420" y="57237"/>
                </a:lnTo>
                <a:close/>
              </a:path>
              <a:path w="730885" h="227329">
                <a:moveTo>
                  <a:pt x="27175" y="29473"/>
                </a:moveTo>
                <a:lnTo>
                  <a:pt x="16444" y="32668"/>
                </a:lnTo>
                <a:lnTo>
                  <a:pt x="15533" y="33223"/>
                </a:lnTo>
                <a:lnTo>
                  <a:pt x="11802" y="48558"/>
                </a:lnTo>
                <a:lnTo>
                  <a:pt x="12356" y="49468"/>
                </a:lnTo>
                <a:lnTo>
                  <a:pt x="20420" y="57237"/>
                </a:lnTo>
                <a:lnTo>
                  <a:pt x="75523" y="70643"/>
                </a:lnTo>
                <a:lnTo>
                  <a:pt x="62358" y="57961"/>
                </a:lnTo>
                <a:lnTo>
                  <a:pt x="31629" y="57961"/>
                </a:lnTo>
                <a:lnTo>
                  <a:pt x="37463" y="33978"/>
                </a:lnTo>
                <a:lnTo>
                  <a:pt x="45695" y="33978"/>
                </a:lnTo>
                <a:lnTo>
                  <a:pt x="27175" y="29473"/>
                </a:lnTo>
                <a:close/>
              </a:path>
              <a:path w="730885" h="227329">
                <a:moveTo>
                  <a:pt x="37463" y="33978"/>
                </a:moveTo>
                <a:lnTo>
                  <a:pt x="31629" y="57961"/>
                </a:lnTo>
                <a:lnTo>
                  <a:pt x="55103" y="50971"/>
                </a:lnTo>
                <a:lnTo>
                  <a:pt x="37463" y="33978"/>
                </a:lnTo>
                <a:close/>
              </a:path>
              <a:path w="730885" h="227329">
                <a:moveTo>
                  <a:pt x="55103" y="50971"/>
                </a:moveTo>
                <a:lnTo>
                  <a:pt x="31629" y="57961"/>
                </a:lnTo>
                <a:lnTo>
                  <a:pt x="62358" y="57961"/>
                </a:lnTo>
                <a:lnTo>
                  <a:pt x="55103" y="50971"/>
                </a:lnTo>
                <a:close/>
              </a:path>
              <a:path w="730885" h="227329">
                <a:moveTo>
                  <a:pt x="12356" y="49468"/>
                </a:moveTo>
                <a:lnTo>
                  <a:pt x="16506" y="56285"/>
                </a:lnTo>
                <a:lnTo>
                  <a:pt x="20420" y="57237"/>
                </a:lnTo>
                <a:lnTo>
                  <a:pt x="12356" y="49468"/>
                </a:lnTo>
                <a:close/>
              </a:path>
              <a:path w="730885" h="227329">
                <a:moveTo>
                  <a:pt x="45695" y="33978"/>
                </a:moveTo>
                <a:lnTo>
                  <a:pt x="37463" y="33978"/>
                </a:lnTo>
                <a:lnTo>
                  <a:pt x="55103" y="50971"/>
                </a:lnTo>
                <a:lnTo>
                  <a:pt x="82279" y="42879"/>
                </a:lnTo>
                <a:lnTo>
                  <a:pt x="45695" y="33978"/>
                </a:lnTo>
                <a:close/>
              </a:path>
              <a:path w="730885" h="227329">
                <a:moveTo>
                  <a:pt x="16444" y="32668"/>
                </a:moveTo>
                <a:lnTo>
                  <a:pt x="0" y="37565"/>
                </a:lnTo>
                <a:lnTo>
                  <a:pt x="12356" y="49468"/>
                </a:lnTo>
                <a:lnTo>
                  <a:pt x="11802" y="48558"/>
                </a:lnTo>
                <a:lnTo>
                  <a:pt x="15533" y="33223"/>
                </a:lnTo>
                <a:lnTo>
                  <a:pt x="16444" y="32668"/>
                </a:lnTo>
                <a:close/>
              </a:path>
              <a:path w="730885" h="227329">
                <a:moveTo>
                  <a:pt x="126152" y="0"/>
                </a:moveTo>
                <a:lnTo>
                  <a:pt x="27175" y="29473"/>
                </a:lnTo>
                <a:lnTo>
                  <a:pt x="82279" y="42879"/>
                </a:lnTo>
                <a:lnTo>
                  <a:pt x="134308" y="27386"/>
                </a:lnTo>
                <a:lnTo>
                  <a:pt x="138612" y="19429"/>
                </a:lnTo>
                <a:lnTo>
                  <a:pt x="134109" y="4305"/>
                </a:lnTo>
                <a:lnTo>
                  <a:pt x="126152" y="0"/>
                </a:lnTo>
                <a:close/>
              </a:path>
              <a:path w="730885" h="227329">
                <a:moveTo>
                  <a:pt x="23260" y="28520"/>
                </a:moveTo>
                <a:lnTo>
                  <a:pt x="16444" y="32668"/>
                </a:lnTo>
                <a:lnTo>
                  <a:pt x="27175" y="29473"/>
                </a:lnTo>
                <a:lnTo>
                  <a:pt x="23260" y="285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16909" y="4445267"/>
            <a:ext cx="803275" cy="332105"/>
          </a:xfrm>
          <a:custGeom>
            <a:avLst/>
            <a:gdLst/>
            <a:ahLst/>
            <a:cxnLst/>
            <a:rect l="l" t="t" r="r" b="b"/>
            <a:pathLst>
              <a:path w="803275" h="332104">
                <a:moveTo>
                  <a:pt x="721800" y="37421"/>
                </a:moveTo>
                <a:lnTo>
                  <a:pt x="3761" y="304860"/>
                </a:lnTo>
                <a:lnTo>
                  <a:pt x="0" y="313088"/>
                </a:lnTo>
                <a:lnTo>
                  <a:pt x="5507" y="327877"/>
                </a:lnTo>
                <a:lnTo>
                  <a:pt x="13735" y="331638"/>
                </a:lnTo>
                <a:lnTo>
                  <a:pt x="731774" y="64199"/>
                </a:lnTo>
                <a:lnTo>
                  <a:pt x="749740" y="42261"/>
                </a:lnTo>
                <a:lnTo>
                  <a:pt x="721800" y="37421"/>
                </a:lnTo>
                <a:close/>
              </a:path>
              <a:path w="803275" h="332104">
                <a:moveTo>
                  <a:pt x="784919" y="44405"/>
                </a:moveTo>
                <a:lnTo>
                  <a:pt x="731774" y="64199"/>
                </a:lnTo>
                <a:lnTo>
                  <a:pt x="697378" y="106199"/>
                </a:lnTo>
                <a:lnTo>
                  <a:pt x="698275" y="115201"/>
                </a:lnTo>
                <a:lnTo>
                  <a:pt x="710484" y="125200"/>
                </a:lnTo>
                <a:lnTo>
                  <a:pt x="719486" y="124303"/>
                </a:lnTo>
                <a:lnTo>
                  <a:pt x="784919" y="44405"/>
                </a:lnTo>
                <a:close/>
              </a:path>
              <a:path w="803275" h="332104">
                <a:moveTo>
                  <a:pt x="749740" y="42261"/>
                </a:moveTo>
                <a:lnTo>
                  <a:pt x="731774" y="64199"/>
                </a:lnTo>
                <a:lnTo>
                  <a:pt x="779449" y="46442"/>
                </a:lnTo>
                <a:lnTo>
                  <a:pt x="773873" y="46442"/>
                </a:lnTo>
                <a:lnTo>
                  <a:pt x="749740" y="42261"/>
                </a:lnTo>
                <a:close/>
              </a:path>
              <a:path w="803275" h="332104">
                <a:moveTo>
                  <a:pt x="765258" y="23312"/>
                </a:moveTo>
                <a:lnTo>
                  <a:pt x="749740" y="42261"/>
                </a:lnTo>
                <a:lnTo>
                  <a:pt x="773873" y="46442"/>
                </a:lnTo>
                <a:lnTo>
                  <a:pt x="765258" y="23312"/>
                </a:lnTo>
                <a:close/>
              </a:path>
              <a:path w="803275" h="332104">
                <a:moveTo>
                  <a:pt x="788189" y="23312"/>
                </a:moveTo>
                <a:lnTo>
                  <a:pt x="765258" y="23312"/>
                </a:lnTo>
                <a:lnTo>
                  <a:pt x="773873" y="46442"/>
                </a:lnTo>
                <a:lnTo>
                  <a:pt x="779449" y="46442"/>
                </a:lnTo>
                <a:lnTo>
                  <a:pt x="784919" y="44405"/>
                </a:lnTo>
                <a:lnTo>
                  <a:pt x="792015" y="35740"/>
                </a:lnTo>
                <a:lnTo>
                  <a:pt x="792458" y="34771"/>
                </a:lnTo>
                <a:lnTo>
                  <a:pt x="788189" y="23312"/>
                </a:lnTo>
                <a:close/>
              </a:path>
              <a:path w="803275" h="332104">
                <a:moveTo>
                  <a:pt x="792015" y="35740"/>
                </a:moveTo>
                <a:lnTo>
                  <a:pt x="784919" y="44405"/>
                </a:lnTo>
                <a:lnTo>
                  <a:pt x="788696" y="42998"/>
                </a:lnTo>
                <a:lnTo>
                  <a:pt x="792015" y="35740"/>
                </a:lnTo>
                <a:close/>
              </a:path>
              <a:path w="803275" h="332104">
                <a:moveTo>
                  <a:pt x="774944" y="17627"/>
                </a:moveTo>
                <a:lnTo>
                  <a:pt x="721800" y="37421"/>
                </a:lnTo>
                <a:lnTo>
                  <a:pt x="749740" y="42261"/>
                </a:lnTo>
                <a:lnTo>
                  <a:pt x="765258" y="23312"/>
                </a:lnTo>
                <a:lnTo>
                  <a:pt x="788189" y="23312"/>
                </a:lnTo>
                <a:lnTo>
                  <a:pt x="786949" y="19982"/>
                </a:lnTo>
                <a:lnTo>
                  <a:pt x="785980" y="19539"/>
                </a:lnTo>
                <a:lnTo>
                  <a:pt x="774944" y="17627"/>
                </a:lnTo>
                <a:close/>
              </a:path>
              <a:path w="803275" h="332104">
                <a:moveTo>
                  <a:pt x="673188" y="0"/>
                </a:moveTo>
                <a:lnTo>
                  <a:pt x="665793" y="5210"/>
                </a:lnTo>
                <a:lnTo>
                  <a:pt x="663100" y="20760"/>
                </a:lnTo>
                <a:lnTo>
                  <a:pt x="668310" y="28154"/>
                </a:lnTo>
                <a:lnTo>
                  <a:pt x="721800" y="37421"/>
                </a:lnTo>
                <a:lnTo>
                  <a:pt x="774944" y="17627"/>
                </a:lnTo>
                <a:lnTo>
                  <a:pt x="673188" y="0"/>
                </a:lnTo>
                <a:close/>
              </a:path>
              <a:path w="803275" h="332104">
                <a:moveTo>
                  <a:pt x="785980" y="19539"/>
                </a:moveTo>
                <a:lnTo>
                  <a:pt x="786949" y="19982"/>
                </a:lnTo>
                <a:lnTo>
                  <a:pt x="792458" y="34771"/>
                </a:lnTo>
                <a:lnTo>
                  <a:pt x="792015" y="35740"/>
                </a:lnTo>
                <a:lnTo>
                  <a:pt x="802885" y="22467"/>
                </a:lnTo>
                <a:lnTo>
                  <a:pt x="785980" y="19539"/>
                </a:lnTo>
                <a:close/>
              </a:path>
              <a:path w="803275" h="332104">
                <a:moveTo>
                  <a:pt x="778722" y="16220"/>
                </a:moveTo>
                <a:lnTo>
                  <a:pt x="774944" y="17627"/>
                </a:lnTo>
                <a:lnTo>
                  <a:pt x="785980" y="19539"/>
                </a:lnTo>
                <a:lnTo>
                  <a:pt x="778722" y="1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42903" y="5205982"/>
            <a:ext cx="839469" cy="353695"/>
          </a:xfrm>
          <a:custGeom>
            <a:avLst/>
            <a:gdLst/>
            <a:ahLst/>
            <a:cxnLst/>
            <a:rect l="l" t="t" r="r" b="b"/>
            <a:pathLst>
              <a:path w="839469" h="353695">
                <a:moveTo>
                  <a:pt x="80933" y="316298"/>
                </a:moveTo>
                <a:lnTo>
                  <a:pt x="27985" y="336613"/>
                </a:lnTo>
                <a:lnTo>
                  <a:pt x="129910" y="353241"/>
                </a:lnTo>
                <a:lnTo>
                  <a:pt x="137253" y="347958"/>
                </a:lnTo>
                <a:lnTo>
                  <a:pt x="139795" y="332381"/>
                </a:lnTo>
                <a:lnTo>
                  <a:pt x="134512" y="325038"/>
                </a:lnTo>
                <a:lnTo>
                  <a:pt x="80933" y="316298"/>
                </a:lnTo>
                <a:close/>
              </a:path>
              <a:path w="839469" h="353695">
                <a:moveTo>
                  <a:pt x="16939" y="334811"/>
                </a:moveTo>
                <a:lnTo>
                  <a:pt x="24225" y="338056"/>
                </a:lnTo>
                <a:lnTo>
                  <a:pt x="27985" y="336613"/>
                </a:lnTo>
                <a:lnTo>
                  <a:pt x="16939" y="334811"/>
                </a:lnTo>
                <a:close/>
              </a:path>
              <a:path w="839469" h="353695">
                <a:moveTo>
                  <a:pt x="70697" y="289619"/>
                </a:moveTo>
                <a:lnTo>
                  <a:pt x="17749" y="309934"/>
                </a:lnTo>
                <a:lnTo>
                  <a:pt x="10742" y="318664"/>
                </a:lnTo>
                <a:lnTo>
                  <a:pt x="10307" y="319641"/>
                </a:lnTo>
                <a:lnTo>
                  <a:pt x="15961" y="334375"/>
                </a:lnTo>
                <a:lnTo>
                  <a:pt x="16939" y="334811"/>
                </a:lnTo>
                <a:lnTo>
                  <a:pt x="27985" y="336613"/>
                </a:lnTo>
                <a:lnTo>
                  <a:pt x="43049" y="330833"/>
                </a:lnTo>
                <a:lnTo>
                  <a:pt x="37616" y="330833"/>
                </a:lnTo>
                <a:lnTo>
                  <a:pt x="28774" y="307789"/>
                </a:lnTo>
                <a:lnTo>
                  <a:pt x="56112" y="307789"/>
                </a:lnTo>
                <a:lnTo>
                  <a:pt x="70697" y="289619"/>
                </a:lnTo>
                <a:close/>
              </a:path>
              <a:path w="839469" h="353695">
                <a:moveTo>
                  <a:pt x="10742" y="318664"/>
                </a:moveTo>
                <a:lnTo>
                  <a:pt x="0" y="332047"/>
                </a:lnTo>
                <a:lnTo>
                  <a:pt x="16939" y="334811"/>
                </a:lnTo>
                <a:lnTo>
                  <a:pt x="15961" y="334375"/>
                </a:lnTo>
                <a:lnTo>
                  <a:pt x="10307" y="319641"/>
                </a:lnTo>
                <a:lnTo>
                  <a:pt x="10742" y="318664"/>
                </a:lnTo>
                <a:close/>
              </a:path>
              <a:path w="839469" h="353695">
                <a:moveTo>
                  <a:pt x="28774" y="307789"/>
                </a:moveTo>
                <a:lnTo>
                  <a:pt x="37616" y="330833"/>
                </a:lnTo>
                <a:lnTo>
                  <a:pt x="52947" y="311732"/>
                </a:lnTo>
                <a:lnTo>
                  <a:pt x="28774" y="307789"/>
                </a:lnTo>
                <a:close/>
              </a:path>
              <a:path w="839469" h="353695">
                <a:moveTo>
                  <a:pt x="52947" y="311732"/>
                </a:moveTo>
                <a:lnTo>
                  <a:pt x="37616" y="330833"/>
                </a:lnTo>
                <a:lnTo>
                  <a:pt x="43049" y="330833"/>
                </a:lnTo>
                <a:lnTo>
                  <a:pt x="80933" y="316298"/>
                </a:lnTo>
                <a:lnTo>
                  <a:pt x="52947" y="311732"/>
                </a:lnTo>
                <a:close/>
              </a:path>
              <a:path w="839469" h="353695">
                <a:moveTo>
                  <a:pt x="17749" y="309934"/>
                </a:moveTo>
                <a:lnTo>
                  <a:pt x="13989" y="311377"/>
                </a:lnTo>
                <a:lnTo>
                  <a:pt x="10742" y="318664"/>
                </a:lnTo>
                <a:lnTo>
                  <a:pt x="17749" y="309934"/>
                </a:lnTo>
                <a:close/>
              </a:path>
              <a:path w="839469" h="353695">
                <a:moveTo>
                  <a:pt x="825544" y="0"/>
                </a:moveTo>
                <a:lnTo>
                  <a:pt x="70697" y="289619"/>
                </a:lnTo>
                <a:lnTo>
                  <a:pt x="52947" y="311732"/>
                </a:lnTo>
                <a:lnTo>
                  <a:pt x="80933" y="316298"/>
                </a:lnTo>
                <a:lnTo>
                  <a:pt x="835780" y="26678"/>
                </a:lnTo>
                <a:lnTo>
                  <a:pt x="839461" y="18415"/>
                </a:lnTo>
                <a:lnTo>
                  <a:pt x="833808" y="3680"/>
                </a:lnTo>
                <a:lnTo>
                  <a:pt x="825544" y="0"/>
                </a:lnTo>
                <a:close/>
              </a:path>
              <a:path w="839469" h="353695">
                <a:moveTo>
                  <a:pt x="56112" y="307789"/>
                </a:moveTo>
                <a:lnTo>
                  <a:pt x="28774" y="307789"/>
                </a:lnTo>
                <a:lnTo>
                  <a:pt x="52947" y="311732"/>
                </a:lnTo>
                <a:lnTo>
                  <a:pt x="56112" y="307789"/>
                </a:lnTo>
                <a:close/>
              </a:path>
              <a:path w="839469" h="353695">
                <a:moveTo>
                  <a:pt x="91386" y="228413"/>
                </a:moveTo>
                <a:lnTo>
                  <a:pt x="82393" y="229397"/>
                </a:lnTo>
                <a:lnTo>
                  <a:pt x="17749" y="309934"/>
                </a:lnTo>
                <a:lnTo>
                  <a:pt x="70697" y="289619"/>
                </a:lnTo>
                <a:lnTo>
                  <a:pt x="104678" y="247284"/>
                </a:lnTo>
                <a:lnTo>
                  <a:pt x="103694" y="238291"/>
                </a:lnTo>
                <a:lnTo>
                  <a:pt x="91386" y="2284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435806" y="5464555"/>
            <a:ext cx="144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09442" y="4309364"/>
            <a:ext cx="118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F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7678" y="5455411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39417" y="506605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8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39417" y="506605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41950" y="415560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2" y="26781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7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8" y="156097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8" y="26781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41950" y="415560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350172" y="466932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40" y="0"/>
                </a:moveTo>
                <a:lnTo>
                  <a:pt x="55847" y="7185"/>
                </a:lnTo>
                <a:lnTo>
                  <a:pt x="26781" y="26781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50172" y="466932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348690" y="534749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39" y="0"/>
                </a:moveTo>
                <a:lnTo>
                  <a:pt x="55847" y="7185"/>
                </a:lnTo>
                <a:lnTo>
                  <a:pt x="26782" y="26781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7"/>
                </a:lnTo>
                <a:lnTo>
                  <a:pt x="55847" y="175694"/>
                </a:lnTo>
                <a:lnTo>
                  <a:pt x="91439" y="182879"/>
                </a:lnTo>
                <a:lnTo>
                  <a:pt x="127032" y="175694"/>
                </a:lnTo>
                <a:lnTo>
                  <a:pt x="156098" y="156097"/>
                </a:lnTo>
                <a:lnTo>
                  <a:pt x="175694" y="127032"/>
                </a:lnTo>
                <a:lnTo>
                  <a:pt x="182879" y="91439"/>
                </a:lnTo>
                <a:lnTo>
                  <a:pt x="175694" y="55847"/>
                </a:lnTo>
                <a:lnTo>
                  <a:pt x="156098" y="26781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348690" y="534749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486867" y="551122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2" y="156097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8" y="156097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8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86867" y="551122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19732" y="437631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40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8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319732" y="437631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246313" y="552138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40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8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246313" y="552138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69976" y="341375"/>
            <a:ext cx="7787640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1245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Strongly connected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directed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/>
              <a:t>78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18108" y="1920747"/>
            <a:ext cx="7509509" cy="23837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625475" marR="71755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has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path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 spc="-5">
                <a:latin typeface="Calibri"/>
                <a:cs typeface="Calibri"/>
              </a:rPr>
              <a:t>each node </a:t>
            </a:r>
            <a:r>
              <a:rPr dirty="0" sz="2800" spc="-15">
                <a:latin typeface="Calibri"/>
                <a:cs typeface="Calibri"/>
              </a:rPr>
              <a:t>to every </a:t>
            </a:r>
            <a:r>
              <a:rPr dirty="0" sz="2800" spc="-5">
                <a:latin typeface="Calibri"/>
                <a:cs typeface="Calibri"/>
              </a:rPr>
              <a:t>other  </a:t>
            </a:r>
            <a:r>
              <a:rPr dirty="0" sz="2800" spc="-114">
                <a:latin typeface="Calibri"/>
                <a:cs typeface="Calibri"/>
              </a:rPr>
              <a:t>node </a:t>
            </a:r>
            <a:r>
              <a:rPr dirty="0" sz="2800" spc="-5">
                <a:latin typeface="Calibri"/>
                <a:cs typeface="Calibri"/>
              </a:rPr>
              <a:t>and vice </a:t>
            </a:r>
            <a:r>
              <a:rPr dirty="0" sz="2800" spc="-20">
                <a:latin typeface="Calibri"/>
                <a:cs typeface="Calibri"/>
              </a:rPr>
              <a:t>versa </a:t>
            </a:r>
            <a:r>
              <a:rPr dirty="0" sz="2800">
                <a:latin typeface="Calibri"/>
                <a:cs typeface="Calibri"/>
              </a:rPr>
              <a:t>(e.g., </a:t>
            </a:r>
            <a:r>
              <a:rPr dirty="0" sz="2800" spc="-10">
                <a:latin typeface="Calibri"/>
                <a:cs typeface="Calibri"/>
              </a:rPr>
              <a:t>A-B path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>
                <a:latin typeface="Calibri"/>
                <a:cs typeface="Calibri"/>
              </a:rPr>
              <a:t>B-A  </a:t>
            </a:r>
            <a:r>
              <a:rPr dirty="0" sz="2800" spc="-10">
                <a:latin typeface="Calibri"/>
                <a:cs typeface="Calibri"/>
              </a:rPr>
              <a:t>path)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Weakly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connected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directed</a:t>
            </a:r>
            <a:r>
              <a:rPr dirty="0" sz="3200" spc="-3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0">
                <a:latin typeface="Calibri"/>
                <a:cs typeface="Calibri"/>
              </a:rPr>
              <a:t>connected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20">
                <a:latin typeface="Calibri"/>
                <a:cs typeface="Calibri"/>
              </a:rPr>
              <a:t>disregard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edge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directions</a:t>
            </a:r>
            <a:endParaRPr sz="2800">
              <a:latin typeface="Calibri"/>
              <a:cs typeface="Calibri"/>
            </a:endParaRPr>
          </a:p>
          <a:p>
            <a:pPr marL="683260">
              <a:lnSpc>
                <a:spcPct val="100000"/>
              </a:lnSpc>
              <a:spcBef>
                <a:spcPts val="2460"/>
              </a:spcBef>
            </a:pPr>
            <a:r>
              <a:rPr dirty="0" sz="1200" b="1"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93741" y="5428996"/>
            <a:ext cx="3031490" cy="1007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385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Graph </a:t>
            </a:r>
            <a:r>
              <a:rPr dirty="0" sz="1600">
                <a:solidFill>
                  <a:srgbClr val="008000"/>
                </a:solidFill>
                <a:latin typeface="Calibri"/>
                <a:cs typeface="Calibri"/>
              </a:rPr>
              <a:t>on </a:t>
            </a:r>
            <a:r>
              <a:rPr dirty="0" sz="1600" spc="-5">
                <a:solidFill>
                  <a:srgbClr val="008000"/>
                </a:solidFill>
                <a:latin typeface="Calibri"/>
                <a:cs typeface="Calibri"/>
              </a:rPr>
              <a:t>the </a:t>
            </a: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left </a:t>
            </a:r>
            <a:r>
              <a:rPr dirty="0" sz="1600" spc="-5">
                <a:solidFill>
                  <a:srgbClr val="008000"/>
                </a:solidFill>
                <a:latin typeface="Calibri"/>
                <a:cs typeface="Calibri"/>
              </a:rPr>
              <a:t>is </a:t>
            </a: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connected  </a:t>
            </a:r>
            <a:r>
              <a:rPr dirty="0" sz="1600" spc="-5">
                <a:solidFill>
                  <a:srgbClr val="008000"/>
                </a:solidFill>
                <a:latin typeface="Calibri"/>
                <a:cs typeface="Calibri"/>
              </a:rPr>
              <a:t>but not </a:t>
            </a: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strongly connected</a:t>
            </a:r>
            <a:r>
              <a:rPr dirty="0" sz="1600" spc="2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Calibri"/>
                <a:cs typeface="Calibri"/>
              </a:rPr>
              <a:t>(e.g.,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895"/>
              </a:lnSpc>
            </a:pPr>
            <a:r>
              <a:rPr dirty="0" sz="1600" spc="-5">
                <a:solidFill>
                  <a:srgbClr val="008000"/>
                </a:solidFill>
                <a:latin typeface="Calibri"/>
                <a:cs typeface="Calibri"/>
              </a:rPr>
              <a:t>there is no </a:t>
            </a:r>
            <a:r>
              <a:rPr dirty="0" sz="1600" spc="-20">
                <a:solidFill>
                  <a:srgbClr val="008000"/>
                </a:solidFill>
                <a:latin typeface="Calibri"/>
                <a:cs typeface="Calibri"/>
              </a:rPr>
              <a:t>way </a:t>
            </a: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to get from </a:t>
            </a:r>
            <a:r>
              <a:rPr dirty="0" sz="1600">
                <a:solidFill>
                  <a:srgbClr val="008000"/>
                </a:solidFill>
                <a:latin typeface="Calibri"/>
                <a:cs typeface="Calibri"/>
              </a:rPr>
              <a:t>F </a:t>
            </a: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to </a:t>
            </a:r>
            <a:r>
              <a:rPr dirty="0" sz="1600">
                <a:solidFill>
                  <a:srgbClr val="008000"/>
                </a:solidFill>
                <a:latin typeface="Calibri"/>
                <a:cs typeface="Calibri"/>
              </a:rPr>
              <a:t>G</a:t>
            </a:r>
            <a:r>
              <a:rPr dirty="0" sz="1600" spc="4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by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following </a:t>
            </a:r>
            <a:r>
              <a:rPr dirty="0" sz="1600" spc="-5">
                <a:solidFill>
                  <a:srgbClr val="008000"/>
                </a:solidFill>
                <a:latin typeface="Calibri"/>
                <a:cs typeface="Calibri"/>
              </a:rPr>
              <a:t>the </a:t>
            </a:r>
            <a:r>
              <a:rPr dirty="0" sz="1600" spc="-10">
                <a:solidFill>
                  <a:srgbClr val="008000"/>
                </a:solidFill>
                <a:latin typeface="Calibri"/>
                <a:cs typeface="Calibri"/>
              </a:rPr>
              <a:t>edge </a:t>
            </a:r>
            <a:r>
              <a:rPr dirty="0" sz="1600" spc="-5">
                <a:solidFill>
                  <a:srgbClr val="008000"/>
                </a:solidFill>
                <a:latin typeface="Calibri"/>
                <a:cs typeface="Calibri"/>
              </a:rPr>
              <a:t>directions).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2419" y="2979366"/>
            <a:ext cx="2686524" cy="25233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258175" y="3427009"/>
            <a:ext cx="3030970" cy="14382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03366" y="4330700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96345" y="4364228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2459" y="3532123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9529" y="3175507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41906" y="4635500"/>
            <a:ext cx="118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F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216" y="4894579"/>
            <a:ext cx="144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6205" y="4291076"/>
            <a:ext cx="127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08493" y="3376676"/>
            <a:ext cx="127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83469" y="4550155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72916" y="3955796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75002" y="3626611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55206" y="4516628"/>
            <a:ext cx="144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28842" y="3553459"/>
            <a:ext cx="118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F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37078" y="4510532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69976" y="341375"/>
            <a:ext cx="7787640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32065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algn="just"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00"/>
                </a:solidFill>
                <a:latin typeface="Calibri"/>
                <a:cs typeface="Calibri"/>
              </a:rPr>
              <a:t>Strongly connected components </a:t>
            </a:r>
            <a:r>
              <a:rPr dirty="0" sz="3200" spc="-5" b="1">
                <a:solidFill>
                  <a:srgbClr val="000000"/>
                </a:solidFill>
                <a:latin typeface="Calibri"/>
                <a:cs typeface="Calibri"/>
              </a:rPr>
              <a:t>(SCCs) </a:t>
            </a:r>
            <a:r>
              <a:rPr dirty="0" sz="3200" spc="-10">
                <a:solidFill>
                  <a:srgbClr val="000000"/>
                </a:solidFill>
              </a:rPr>
              <a:t>can  </a:t>
            </a:r>
            <a:r>
              <a:rPr dirty="0" sz="3200">
                <a:solidFill>
                  <a:srgbClr val="000000"/>
                </a:solidFill>
              </a:rPr>
              <a:t>be </a:t>
            </a:r>
            <a:r>
              <a:rPr dirty="0" sz="3200" spc="-5">
                <a:solidFill>
                  <a:srgbClr val="000000"/>
                </a:solidFill>
              </a:rPr>
              <a:t>identified, </a:t>
            </a:r>
            <a:r>
              <a:rPr dirty="0" sz="3200">
                <a:solidFill>
                  <a:srgbClr val="000000"/>
                </a:solidFill>
              </a:rPr>
              <a:t>but </a:t>
            </a:r>
            <a:r>
              <a:rPr dirty="0" sz="3200" spc="-5">
                <a:solidFill>
                  <a:srgbClr val="000000"/>
                </a:solidFill>
              </a:rPr>
              <a:t>not </a:t>
            </a:r>
            <a:r>
              <a:rPr dirty="0" sz="3200" spc="-15">
                <a:solidFill>
                  <a:srgbClr val="000000"/>
                </a:solidFill>
              </a:rPr>
              <a:t>every </a:t>
            </a:r>
            <a:r>
              <a:rPr dirty="0" sz="3200" spc="-5">
                <a:solidFill>
                  <a:srgbClr val="000000"/>
                </a:solidFill>
              </a:rPr>
              <a:t>node </a:t>
            </a:r>
            <a:r>
              <a:rPr dirty="0" sz="3200">
                <a:solidFill>
                  <a:srgbClr val="000000"/>
                </a:solidFill>
              </a:rPr>
              <a:t>is </a:t>
            </a:r>
            <a:r>
              <a:rPr dirty="0" sz="3200" spc="-5">
                <a:solidFill>
                  <a:srgbClr val="000000"/>
                </a:solidFill>
              </a:rPr>
              <a:t>part of </a:t>
            </a:r>
            <a:r>
              <a:rPr dirty="0" sz="3200">
                <a:solidFill>
                  <a:srgbClr val="000000"/>
                </a:solidFill>
              </a:rPr>
              <a:t>a  </a:t>
            </a:r>
            <a:r>
              <a:rPr dirty="0" sz="3200" spc="-5">
                <a:solidFill>
                  <a:srgbClr val="000000"/>
                </a:solidFill>
              </a:rPr>
              <a:t>nontrivial </a:t>
            </a:r>
            <a:r>
              <a:rPr dirty="0" sz="3200" spc="-15">
                <a:solidFill>
                  <a:srgbClr val="000000"/>
                </a:solidFill>
              </a:rPr>
              <a:t>strongly connected</a:t>
            </a:r>
            <a:r>
              <a:rPr dirty="0" sz="3200" spc="55">
                <a:solidFill>
                  <a:srgbClr val="000000"/>
                </a:solidFill>
              </a:rPr>
              <a:t> </a:t>
            </a:r>
            <a:r>
              <a:rPr dirty="0" sz="3200" spc="-10">
                <a:solidFill>
                  <a:srgbClr val="000000"/>
                </a:solidFill>
              </a:rPr>
              <a:t>component.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r>
              <a:rPr dirty="0"/>
              <a:t>79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564077" y="4879340"/>
            <a:ext cx="5086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S</a:t>
            </a:r>
            <a:r>
              <a:rPr dirty="0" sz="1800">
                <a:latin typeface="Arial"/>
                <a:cs typeface="Arial"/>
              </a:rPr>
              <a:t>CC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7400" y="3087116"/>
            <a:ext cx="5086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S</a:t>
            </a:r>
            <a:r>
              <a:rPr dirty="0" sz="1800">
                <a:latin typeface="Arial"/>
                <a:cs typeface="Arial"/>
              </a:rPr>
              <a:t>CC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3678" y="5290820"/>
            <a:ext cx="5130800" cy="1286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8485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SCC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5">
                <a:solidFill>
                  <a:srgbClr val="FF0000"/>
                </a:solidFill>
                <a:latin typeface="Calibri"/>
                <a:cs typeface="Calibri"/>
              </a:rPr>
              <a:t>In-component</a:t>
            </a:r>
            <a:r>
              <a:rPr dirty="0" sz="1600" spc="-5">
                <a:latin typeface="Calibri"/>
                <a:cs typeface="Calibri"/>
              </a:rPr>
              <a:t>: nodes </a:t>
            </a:r>
            <a:r>
              <a:rPr dirty="0" sz="1600" spc="-10">
                <a:latin typeface="Calibri"/>
                <a:cs typeface="Calibri"/>
              </a:rPr>
              <a:t>that can reach </a:t>
            </a:r>
            <a:r>
              <a:rPr dirty="0" sz="1600" spc="-5">
                <a:latin typeface="Calibri"/>
                <a:cs typeface="Calibri"/>
              </a:rPr>
              <a:t>the</a:t>
            </a:r>
            <a:r>
              <a:rPr dirty="0" sz="1600" spc="0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SCC,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FF0000"/>
                </a:solidFill>
                <a:latin typeface="Calibri"/>
                <a:cs typeface="Calibri"/>
              </a:rPr>
              <a:t>Out-component</a:t>
            </a:r>
            <a:r>
              <a:rPr dirty="0" sz="1600" spc="-10">
                <a:latin typeface="Calibri"/>
                <a:cs typeface="Calibri"/>
              </a:rPr>
              <a:t>: </a:t>
            </a:r>
            <a:r>
              <a:rPr dirty="0" sz="1600" spc="-5">
                <a:latin typeface="Calibri"/>
                <a:cs typeface="Calibri"/>
              </a:rPr>
              <a:t>nodes </a:t>
            </a:r>
            <a:r>
              <a:rPr dirty="0" sz="1600" spc="-10">
                <a:latin typeface="Calibri"/>
                <a:cs typeface="Calibri"/>
              </a:rPr>
              <a:t>that can </a:t>
            </a:r>
            <a:r>
              <a:rPr dirty="0" sz="1600" spc="-5">
                <a:latin typeface="Calibri"/>
                <a:cs typeface="Calibri"/>
              </a:rPr>
              <a:t>be reached </a:t>
            </a:r>
            <a:r>
              <a:rPr dirty="0" sz="1600" spc="-10">
                <a:latin typeface="Calibri"/>
                <a:cs typeface="Calibri"/>
              </a:rPr>
              <a:t>from </a:t>
            </a:r>
            <a:r>
              <a:rPr dirty="0" sz="1600" spc="-5">
                <a:latin typeface="Calibri"/>
                <a:cs typeface="Calibri"/>
              </a:rPr>
              <a:t>the</a:t>
            </a:r>
            <a:r>
              <a:rPr dirty="0" sz="1600" spc="40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SCC.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71856"/>
            <a:ext cx="2383536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41718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0000"/>
                </a:solidFill>
                <a:latin typeface="Calibri"/>
                <a:cs typeface="Calibri"/>
              </a:rPr>
              <a:t>Machine learning </a:t>
            </a:r>
            <a:r>
              <a:rPr dirty="0" sz="3200" b="1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dirty="0" sz="32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000000"/>
                </a:solidFill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1/13/21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</a:t>
            </a:r>
            <a:r>
              <a:rPr dirty="0" spc="5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6522" y="6723724"/>
            <a:ext cx="14287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80</a:t>
            </a:r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920747"/>
            <a:ext cx="6608445" cy="456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Applications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>
                <a:latin typeface="Calibri"/>
                <a:cs typeface="Calibri"/>
              </a:rPr>
              <a:t>use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cases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62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latin typeface="Calibri"/>
                <a:cs typeface="Calibri"/>
              </a:rPr>
              <a:t>Different </a:t>
            </a:r>
            <a:r>
              <a:rPr dirty="0" sz="3200" spc="-5" b="1">
                <a:latin typeface="Calibri"/>
                <a:cs typeface="Calibri"/>
              </a:rPr>
              <a:t>types </a:t>
            </a:r>
            <a:r>
              <a:rPr dirty="0" sz="3200" b="1">
                <a:latin typeface="Calibri"/>
                <a:cs typeface="Calibri"/>
              </a:rPr>
              <a:t>of</a:t>
            </a:r>
            <a:r>
              <a:rPr dirty="0" sz="3200" spc="-15" b="1">
                <a:latin typeface="Calibri"/>
                <a:cs typeface="Calibri"/>
              </a:rPr>
              <a:t> tasks: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level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Edge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level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Graph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level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5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Choice </a:t>
            </a:r>
            <a:r>
              <a:rPr dirty="0" sz="3200" b="1">
                <a:latin typeface="Calibri"/>
                <a:cs typeface="Calibri"/>
              </a:rPr>
              <a:t>of a </a:t>
            </a:r>
            <a:r>
              <a:rPr dirty="0" sz="3200" spc="-20" b="1">
                <a:latin typeface="Calibri"/>
                <a:cs typeface="Calibri"/>
              </a:rPr>
              <a:t>graph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representation: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ct val="101400"/>
              </a:lnSpc>
              <a:spcBef>
                <a:spcPts val="6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Directed, </a:t>
            </a:r>
            <a:r>
              <a:rPr dirty="0" sz="2800" spc="-10">
                <a:latin typeface="Calibri"/>
                <a:cs typeface="Calibri"/>
              </a:rPr>
              <a:t>undirected, bipartite, </a:t>
            </a:r>
            <a:r>
              <a:rPr dirty="0" sz="2800" spc="-75">
                <a:latin typeface="Calibri"/>
                <a:cs typeface="Calibri"/>
              </a:rPr>
              <a:t>weighted,  </a:t>
            </a:r>
            <a:r>
              <a:rPr dirty="0" sz="2800" spc="-5">
                <a:latin typeface="Calibri"/>
                <a:cs typeface="Calibri"/>
              </a:rPr>
              <a:t>adjacency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matrix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2026-10-20T23:38:17Z</dcterms:created>
  <dcterms:modified xsi:type="dcterms:W3CDTF">2026-10-20T23:38:17Z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2021-01-14T00:00:00Z</vt:filetime>
  </property>
  <property fmtid="{D5CDD505-2E9C-101B-9397-08002B2CF9AE}" pid="3" name="LastSaved">
    <vt:filetime>2026-10-20T00:00:00Z</vt:filetime>
  </property>
</Properties>
</file>