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D6009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D6009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D6009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209994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D6009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1769364"/>
            <a:ext cx="7919720" cy="444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Relationship Id="rId4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hyperlink" Target="http://www.stanford.edu/" TargetMode="External"/><Relationship Id="rId5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hyperlink" Target="http://www.stanford.edu/" TargetMode="External"/><Relationship Id="rId4" Type="http://schemas.openxmlformats.org/officeDocument/2006/relationships/hyperlink" Target="http://cs224w.stanford.edu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Relationship Id="rId25" Type="http://schemas.openxmlformats.org/officeDocument/2006/relationships/image" Target="../media/image72.png"/><Relationship Id="rId26" Type="http://schemas.openxmlformats.org/officeDocument/2006/relationships/image" Target="../media/image73.png"/><Relationship Id="rId27" Type="http://schemas.openxmlformats.org/officeDocument/2006/relationships/image" Target="../media/image74.png"/><Relationship Id="rId28" Type="http://schemas.openxmlformats.org/officeDocument/2006/relationships/image" Target="../media/image75.png"/><Relationship Id="rId29" Type="http://schemas.openxmlformats.org/officeDocument/2006/relationships/image" Target="../media/image76.png"/><Relationship Id="rId30" Type="http://schemas.openxmlformats.org/officeDocument/2006/relationships/image" Target="../media/image77.png"/><Relationship Id="rId31" Type="http://schemas.openxmlformats.org/officeDocument/2006/relationships/image" Target="../media/image78.png"/><Relationship Id="rId32" Type="http://schemas.openxmlformats.org/officeDocument/2006/relationships/hyperlink" Target="http://cs224w.stanford.edu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png"/><Relationship Id="rId3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.png"/><Relationship Id="rId3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png"/><Relationship Id="rId3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hyperlink" Target="http://cs224w.stanford.edu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06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Relationship Id="rId9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140.png"/><Relationship Id="rId8" Type="http://schemas.openxmlformats.org/officeDocument/2006/relationships/image" Target="../media/image141.png"/><Relationship Id="rId9" Type="http://schemas.openxmlformats.org/officeDocument/2006/relationships/image" Target="../media/image142.png"/><Relationship Id="rId10" Type="http://schemas.openxmlformats.org/officeDocument/2006/relationships/image" Target="../media/image143.png"/><Relationship Id="rId11" Type="http://schemas.openxmlformats.org/officeDocument/2006/relationships/image" Target="../media/image144.png"/><Relationship Id="rId12" Type="http://schemas.openxmlformats.org/officeDocument/2006/relationships/image" Target="../media/image145.png"/><Relationship Id="rId13" Type="http://schemas.openxmlformats.org/officeDocument/2006/relationships/image" Target="../media/image146.png"/><Relationship Id="rId14" Type="http://schemas.openxmlformats.org/officeDocument/2006/relationships/image" Target="../media/image147.png"/><Relationship Id="rId15" Type="http://schemas.openxmlformats.org/officeDocument/2006/relationships/image" Target="../media/image148.png"/><Relationship Id="rId16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Relationship Id="rId6" Type="http://schemas.openxmlformats.org/officeDocument/2006/relationships/image" Target="../media/image153.png"/><Relationship Id="rId7" Type="http://schemas.openxmlformats.org/officeDocument/2006/relationships/image" Target="../media/image154.png"/><Relationship Id="rId8" Type="http://schemas.openxmlformats.org/officeDocument/2006/relationships/image" Target="../media/image155.png"/><Relationship Id="rId9" Type="http://schemas.openxmlformats.org/officeDocument/2006/relationships/image" Target="../media/image156.png"/><Relationship Id="rId10" Type="http://schemas.openxmlformats.org/officeDocument/2006/relationships/image" Target="../media/image157.png"/><Relationship Id="rId11" Type="http://schemas.openxmlformats.org/officeDocument/2006/relationships/image" Target="../media/image158.png"/><Relationship Id="rId12" Type="http://schemas.openxmlformats.org/officeDocument/2006/relationships/image" Target="../media/image159.png"/><Relationship Id="rId13" Type="http://schemas.openxmlformats.org/officeDocument/2006/relationships/image" Target="../media/image160.png"/><Relationship Id="rId14" Type="http://schemas.openxmlformats.org/officeDocument/2006/relationships/image" Target="../media/image161.png"/><Relationship Id="rId15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2.png"/><Relationship Id="rId3" Type="http://schemas.openxmlformats.org/officeDocument/2006/relationships/hyperlink" Target="http://cs224w.stanford.edu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3.png"/><Relationship Id="rId3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4.png"/><Relationship Id="rId3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Relationship Id="rId4" Type="http://schemas.openxmlformats.org/officeDocument/2006/relationships/image" Target="../media/image167.png"/><Relationship Id="rId5" Type="http://schemas.openxmlformats.org/officeDocument/2006/relationships/image" Target="../media/image168.png"/><Relationship Id="rId6" Type="http://schemas.openxmlformats.org/officeDocument/2006/relationships/image" Target="../media/image169.png"/><Relationship Id="rId7" Type="http://schemas.openxmlformats.org/officeDocument/2006/relationships/image" Target="../media/image170.png"/><Relationship Id="rId8" Type="http://schemas.openxmlformats.org/officeDocument/2006/relationships/image" Target="../media/image171.png"/><Relationship Id="rId9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2.png"/><Relationship Id="rId3" Type="http://schemas.openxmlformats.org/officeDocument/2006/relationships/image" Target="../media/image173.jpg"/><Relationship Id="rId4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4.png"/><Relationship Id="rId3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78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180.png"/><Relationship Id="rId5" Type="http://schemas.openxmlformats.org/officeDocument/2006/relationships/image" Target="../media/image181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Relationship Id="rId5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1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2.png"/><Relationship Id="rId3" Type="http://schemas.openxmlformats.org/officeDocument/2006/relationships/image" Target="../media/image193.png"/><Relationship Id="rId4" Type="http://schemas.openxmlformats.org/officeDocument/2006/relationships/image" Target="../media/image194.png"/><Relationship Id="rId5" Type="http://schemas.openxmlformats.org/officeDocument/2006/relationships/image" Target="../media/image195.png"/><Relationship Id="rId6" Type="http://schemas.openxmlformats.org/officeDocument/2006/relationships/image" Target="../media/image196.png"/><Relationship Id="rId7" Type="http://schemas.openxmlformats.org/officeDocument/2006/relationships/image" Target="../media/image197.png"/><Relationship Id="rId8" Type="http://schemas.openxmlformats.org/officeDocument/2006/relationships/image" Target="../media/image198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9.png"/><Relationship Id="rId3" Type="http://schemas.openxmlformats.org/officeDocument/2006/relationships/image" Target="../media/image200.png"/><Relationship Id="rId4" Type="http://schemas.openxmlformats.org/officeDocument/2006/relationships/image" Target="../media/image201.png"/><Relationship Id="rId5" Type="http://schemas.openxmlformats.org/officeDocument/2006/relationships/image" Target="../media/image202.png"/><Relationship Id="rId6" Type="http://schemas.openxmlformats.org/officeDocument/2006/relationships/image" Target="../media/image203.png"/><Relationship Id="rId7" Type="http://schemas.openxmlformats.org/officeDocument/2006/relationships/image" Target="../media/image204.png"/><Relationship Id="rId8" Type="http://schemas.openxmlformats.org/officeDocument/2006/relationships/image" Target="../media/image205.png"/><Relationship Id="rId9" Type="http://schemas.openxmlformats.org/officeDocument/2006/relationships/image" Target="../media/image206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7.png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Relationship Id="rId8" Type="http://schemas.openxmlformats.org/officeDocument/2006/relationships/image" Target="../media/image213.png"/><Relationship Id="rId9" Type="http://schemas.openxmlformats.org/officeDocument/2006/relationships/image" Target="../media/image214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5.png"/><Relationship Id="rId3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6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7.png"/><Relationship Id="rId3" Type="http://schemas.openxmlformats.org/officeDocument/2006/relationships/image" Target="../media/image218.png"/><Relationship Id="rId4" Type="http://schemas.openxmlformats.org/officeDocument/2006/relationships/image" Target="../media/image219.png"/><Relationship Id="rId5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png"/><Relationship Id="rId7" Type="http://schemas.openxmlformats.org/officeDocument/2006/relationships/image" Target="../media/image225.png"/><Relationship Id="rId8" Type="http://schemas.openxmlformats.org/officeDocument/2006/relationships/image" Target="../media/image226.png"/><Relationship Id="rId9" Type="http://schemas.openxmlformats.org/officeDocument/2006/relationships/hyperlink" Target="http://cs224w.stanford.edu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image" Target="../media/image232.png"/><Relationship Id="rId8" Type="http://schemas.openxmlformats.org/officeDocument/2006/relationships/hyperlink" Target="http://cs224w.stanford.edu/" TargetMode="Externa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3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234.png"/><Relationship Id="rId5" Type="http://schemas.openxmlformats.org/officeDocument/2006/relationships/image" Target="../media/image235.png"/><Relationship Id="rId6" Type="http://schemas.openxmlformats.org/officeDocument/2006/relationships/image" Target="../media/image236.png"/><Relationship Id="rId7" Type="http://schemas.openxmlformats.org/officeDocument/2006/relationships/image" Target="../media/image237.png"/><Relationship Id="rId8" Type="http://schemas.openxmlformats.org/officeDocument/2006/relationships/image" Target="../media/image238.png"/><Relationship Id="rId9" Type="http://schemas.openxmlformats.org/officeDocument/2006/relationships/image" Target="../media/image239.png"/><Relationship Id="rId10" Type="http://schemas.openxmlformats.org/officeDocument/2006/relationships/image" Target="../media/image240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1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2.png"/><Relationship Id="rId3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246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7.png"/><Relationship Id="rId3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3.png"/><Relationship Id="rId3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4.png"/><Relationship Id="rId3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5.png"/><Relationship Id="rId3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6.png"/><Relationship Id="rId3" Type="http://schemas.openxmlformats.org/officeDocument/2006/relationships/image" Target="../media/image257.png"/><Relationship Id="rId4" Type="http://schemas.openxmlformats.org/officeDocument/2006/relationships/image" Target="../media/image258.png"/><Relationship Id="rId5" Type="http://schemas.openxmlformats.org/officeDocument/2006/relationships/image" Target="../media/image259.png"/><Relationship Id="rId6" Type="http://schemas.openxmlformats.org/officeDocument/2006/relationships/image" Target="../media/image260.png"/><Relationship Id="rId7" Type="http://schemas.openxmlformats.org/officeDocument/2006/relationships/image" Target="../media/image261.png"/><Relationship Id="rId8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2.png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png"/><Relationship Id="rId11" Type="http://schemas.openxmlformats.org/officeDocument/2006/relationships/image" Target="../media/image271.png"/><Relationship Id="rId12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2.png"/><Relationship Id="rId3" Type="http://schemas.openxmlformats.org/officeDocument/2006/relationships/image" Target="../media/image273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76.png"/><Relationship Id="rId7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7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5527" y="2514600"/>
            <a:ext cx="7534656" cy="18470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38892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655559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00"/>
                </a:solidFill>
              </a:rPr>
              <a:t>In </a:t>
            </a:r>
            <a:r>
              <a:rPr dirty="0" sz="3000" spc="-5">
                <a:solidFill>
                  <a:srgbClr val="000000"/>
                </a:solidFill>
              </a:rPr>
              <a:t>this </a:t>
            </a:r>
            <a:r>
              <a:rPr dirty="0" sz="3000" spc="-10">
                <a:solidFill>
                  <a:srgbClr val="000000"/>
                </a:solidFill>
              </a:rPr>
              <a:t>lecture, </a:t>
            </a:r>
            <a:r>
              <a:rPr dirty="0" sz="3000" spc="-15">
                <a:solidFill>
                  <a:srgbClr val="000000"/>
                </a:solidFill>
              </a:rPr>
              <a:t>we </a:t>
            </a:r>
            <a:r>
              <a:rPr dirty="0" sz="3000" spc="-25">
                <a:solidFill>
                  <a:srgbClr val="000000"/>
                </a:solidFill>
              </a:rPr>
              <a:t>investigate </a:t>
            </a:r>
            <a:r>
              <a:rPr dirty="0" sz="3000" spc="-20">
                <a:solidFill>
                  <a:srgbClr val="000000"/>
                </a:solidFill>
              </a:rPr>
              <a:t>graph </a:t>
            </a:r>
            <a:r>
              <a:rPr dirty="0" sz="3000" spc="-5">
                <a:solidFill>
                  <a:srgbClr val="000000"/>
                </a:solidFill>
              </a:rPr>
              <a:t>analysis and  learning </a:t>
            </a:r>
            <a:r>
              <a:rPr dirty="0" sz="3000" spc="-15">
                <a:solidFill>
                  <a:srgbClr val="000000"/>
                </a:solidFill>
              </a:rPr>
              <a:t>from </a:t>
            </a:r>
            <a:r>
              <a:rPr dirty="0" sz="3000">
                <a:solidFill>
                  <a:srgbClr val="000000"/>
                </a:solidFill>
              </a:rPr>
              <a:t>a </a:t>
            </a:r>
            <a:r>
              <a:rPr dirty="0" sz="3000" spc="-10">
                <a:solidFill>
                  <a:srgbClr val="000000"/>
                </a:solidFill>
              </a:rPr>
              <a:t>matrix</a:t>
            </a:r>
            <a:r>
              <a:rPr dirty="0" sz="3000" spc="-20">
                <a:solidFill>
                  <a:srgbClr val="000000"/>
                </a:solidFill>
              </a:rPr>
              <a:t> </a:t>
            </a:r>
            <a:r>
              <a:rPr dirty="0" sz="3000" spc="-10">
                <a:solidFill>
                  <a:srgbClr val="000000"/>
                </a:solidFill>
              </a:rPr>
              <a:t>perspective.</a:t>
            </a:r>
            <a:endParaRPr sz="3000"/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40" b="0">
                <a:solidFill>
                  <a:srgbClr val="000000"/>
                </a:solidFill>
                <a:latin typeface="Calibri"/>
                <a:cs typeface="Calibri"/>
              </a:rPr>
              <a:t>Treating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graph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as a </a:t>
            </a:r>
            <a:r>
              <a:rPr dirty="0" sz="3000" spc="-10" b="0">
                <a:solidFill>
                  <a:srgbClr val="000000"/>
                </a:solidFill>
                <a:latin typeface="Calibri"/>
                <a:cs typeface="Calibri"/>
              </a:rPr>
              <a:t>matrix allows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us</a:t>
            </a:r>
            <a:r>
              <a:rPr dirty="0" sz="3000" spc="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to: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721355"/>
            <a:ext cx="7750175" cy="225996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Determine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10">
                <a:latin typeface="Calibri"/>
                <a:cs typeface="Calibri"/>
              </a:rPr>
              <a:t>importance </a:t>
            </a:r>
            <a:r>
              <a:rPr dirty="0" sz="2400" spc="-5">
                <a:latin typeface="Calibri"/>
                <a:cs typeface="Calibri"/>
              </a:rPr>
              <a:t>via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random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walk</a:t>
            </a:r>
            <a:r>
              <a:rPr dirty="0" sz="2400" spc="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(PageRank)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Obtain </a:t>
            </a:r>
            <a:r>
              <a:rPr dirty="0" sz="2400" spc="-5">
                <a:latin typeface="Calibri"/>
                <a:cs typeface="Calibri"/>
              </a:rPr>
              <a:t>node embeddings </a:t>
            </a:r>
            <a:r>
              <a:rPr dirty="0" sz="2400">
                <a:latin typeface="Calibri"/>
                <a:cs typeface="Calibri"/>
              </a:rPr>
              <a:t>via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matrix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factorization</a:t>
            </a:r>
            <a:r>
              <a:rPr dirty="0" sz="2400" spc="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(MF)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View other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node embeddings </a:t>
            </a:r>
            <a:r>
              <a:rPr dirty="0" sz="2400">
                <a:latin typeface="Calibri"/>
                <a:cs typeface="Calibri"/>
              </a:rPr>
              <a:t>(e.g. </a:t>
            </a:r>
            <a:r>
              <a:rPr dirty="0" sz="2400" spc="-15">
                <a:latin typeface="Calibri"/>
                <a:cs typeface="Calibri"/>
              </a:rPr>
              <a:t>Node2Vec)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MF</a:t>
            </a:r>
            <a:endParaRPr sz="2400">
              <a:latin typeface="Calibri"/>
              <a:cs typeface="Calibri"/>
            </a:endParaRPr>
          </a:p>
          <a:p>
            <a:pPr marL="332740" marR="395605" indent="-320040">
              <a:lnSpc>
                <a:spcPct val="100000"/>
              </a:lnSpc>
              <a:spcBef>
                <a:spcPts val="2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Random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walk, matrix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factorization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and node  embeddings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are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closely</a:t>
            </a:r>
            <a:r>
              <a:rPr dirty="0" sz="3000" spc="1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related!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7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6847" y="669442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3804" y="5411129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43746" y="5411129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73804" y="6096928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53156" y="5384659"/>
            <a:ext cx="1738630" cy="376555"/>
          </a:xfrm>
          <a:custGeom>
            <a:avLst/>
            <a:gdLst/>
            <a:ahLst/>
            <a:cxnLst/>
            <a:rect l="l" t="t" r="r" b="b"/>
            <a:pathLst>
              <a:path w="1738629" h="376554">
                <a:moveTo>
                  <a:pt x="1738160" y="376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47216" y="6202679"/>
            <a:ext cx="405384" cy="4053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89536" y="622011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40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89536" y="622011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40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463239" y="622045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06296" y="5202935"/>
            <a:ext cx="408431" cy="408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49780" y="522218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19" y="320040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49780" y="522218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720410" y="52237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32047" y="5590032"/>
            <a:ext cx="408431" cy="4084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76082" y="560908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76082" y="560908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417064" y="5922263"/>
            <a:ext cx="405384" cy="4084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59475" y="594009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59475" y="5940092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562934" y="55986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42805" y="59644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73142" y="6247555"/>
            <a:ext cx="1320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140">
                <a:latin typeface="Symbol"/>
                <a:cs typeface="Symbol"/>
              </a:rPr>
              <a:t>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93481" y="5315878"/>
            <a:ext cx="1320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140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93481" y="6247555"/>
            <a:ext cx="1320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140">
                <a:latin typeface="Symbol"/>
                <a:cs typeface="Symbol"/>
              </a:rPr>
              <a:t>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93481" y="5981179"/>
            <a:ext cx="2971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-275">
                <a:latin typeface="Symbol"/>
                <a:cs typeface="Symbol"/>
              </a:rPr>
              <a:t></a:t>
            </a:r>
            <a:r>
              <a:rPr dirty="0" baseline="-29320" sz="2700" spc="-412">
                <a:latin typeface="Symbol"/>
                <a:cs typeface="Symbol"/>
              </a:rPr>
              <a:t></a:t>
            </a:r>
            <a:r>
              <a:rPr dirty="0" baseline="-29320" sz="2700" spc="-509">
                <a:latin typeface="Times New Roman"/>
                <a:cs typeface="Times New Roman"/>
              </a:rPr>
              <a:t> </a:t>
            </a:r>
            <a:r>
              <a:rPr dirty="0" baseline="-50925" sz="2700" spc="277">
                <a:latin typeface="Times New Roman"/>
                <a:cs typeface="Times New Roman"/>
              </a:rPr>
              <a:t>1</a:t>
            </a:r>
            <a:endParaRPr baseline="-50925" sz="2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10437" y="5759429"/>
            <a:ext cx="29527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20061" sz="2700" spc="555">
                <a:latin typeface="Times New Roman"/>
                <a:cs typeface="Times New Roman"/>
              </a:rPr>
              <a:t>1</a:t>
            </a:r>
            <a:r>
              <a:rPr dirty="0" sz="1800" spc="-15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93481" y="5759429"/>
            <a:ext cx="29908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140">
                <a:latin typeface="Symbol"/>
                <a:cs typeface="Symbol"/>
              </a:rPr>
              <a:t></a:t>
            </a:r>
            <a:r>
              <a:rPr dirty="0" sz="1800" spc="-330">
                <a:latin typeface="Times New Roman"/>
                <a:cs typeface="Times New Roman"/>
              </a:rPr>
              <a:t> </a:t>
            </a:r>
            <a:r>
              <a:rPr dirty="0" baseline="-20061" sz="2700" spc="277">
                <a:latin typeface="Times New Roman"/>
                <a:cs typeface="Times New Roman"/>
              </a:rPr>
              <a:t>0</a:t>
            </a:r>
            <a:endParaRPr baseline="-20061" sz="2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93481" y="5150766"/>
            <a:ext cx="1612265" cy="1344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r" marR="5080">
              <a:lnSpc>
                <a:spcPts val="1730"/>
              </a:lnSpc>
              <a:spcBef>
                <a:spcPts val="120"/>
              </a:spcBef>
              <a:tabLst>
                <a:tab pos="527050" algn="l"/>
                <a:tab pos="923925" algn="l"/>
                <a:tab pos="1316355" algn="l"/>
              </a:tabLst>
            </a:pPr>
            <a:r>
              <a:rPr dirty="0" baseline="-4629" sz="2700" spc="209">
                <a:latin typeface="Symbol"/>
                <a:cs typeface="Symbol"/>
              </a:rPr>
              <a:t></a:t>
            </a:r>
            <a:r>
              <a:rPr dirty="0" baseline="-4629" sz="2700" spc="-352">
                <a:latin typeface="Times New Roman"/>
                <a:cs typeface="Times New Roman"/>
              </a:rPr>
              <a:t> 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370">
                <a:latin typeface="Times New Roman"/>
                <a:cs typeface="Times New Roman"/>
              </a:rPr>
              <a:t>1</a:t>
            </a:r>
            <a:r>
              <a:rPr dirty="0" baseline="-4629" sz="2700" spc="209">
                <a:latin typeface="Symbol"/>
                <a:cs typeface="Symbol"/>
              </a:rPr>
              <a:t></a:t>
            </a:r>
            <a:endParaRPr baseline="-4629" sz="2700">
              <a:latin typeface="Symbol"/>
              <a:cs typeface="Symbol"/>
            </a:endParaRPr>
          </a:p>
          <a:p>
            <a:pPr algn="r" marR="5080">
              <a:lnSpc>
                <a:spcPts val="1365"/>
              </a:lnSpc>
            </a:pPr>
            <a:r>
              <a:rPr dirty="0" sz="1800" spc="-15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  <a:p>
            <a:pPr marL="541655">
              <a:lnSpc>
                <a:spcPts val="1795"/>
              </a:lnSpc>
              <a:tabLst>
                <a:tab pos="936625" algn="l"/>
                <a:tab pos="1329055" algn="l"/>
              </a:tabLst>
            </a:pP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370">
                <a:latin typeface="Times New Roman"/>
                <a:cs typeface="Times New Roman"/>
              </a:rPr>
              <a:t>1</a:t>
            </a:r>
            <a:r>
              <a:rPr dirty="0" baseline="-9259" sz="2700" spc="-225">
                <a:latin typeface="Symbol"/>
                <a:cs typeface="Symbol"/>
              </a:rPr>
              <a:t></a:t>
            </a:r>
            <a:endParaRPr baseline="-9259" sz="2700">
              <a:latin typeface="Symbol"/>
              <a:cs typeface="Symbol"/>
            </a:endParaRPr>
          </a:p>
          <a:p>
            <a:pPr marL="541655">
              <a:lnSpc>
                <a:spcPct val="100000"/>
              </a:lnSpc>
              <a:spcBef>
                <a:spcPts val="570"/>
              </a:spcBef>
              <a:tabLst>
                <a:tab pos="936625" algn="l"/>
                <a:tab pos="1492250" algn="l"/>
              </a:tabLst>
            </a:pP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baseline="-32407" sz="2700" spc="-1485">
                <a:latin typeface="Symbol"/>
                <a:cs typeface="Symbol"/>
              </a:rPr>
              <a:t></a:t>
            </a:r>
            <a:r>
              <a:rPr dirty="0" baseline="-61728" sz="2700" spc="-225">
                <a:latin typeface="Symbol"/>
                <a:cs typeface="Symbol"/>
              </a:rPr>
              <a:t></a:t>
            </a:r>
            <a:endParaRPr baseline="-61728" sz="2700">
              <a:latin typeface="Symbol"/>
              <a:cs typeface="Symbol"/>
            </a:endParaRPr>
          </a:p>
          <a:p>
            <a:pPr marL="539750">
              <a:lnSpc>
                <a:spcPct val="100000"/>
              </a:lnSpc>
              <a:spcBef>
                <a:spcPts val="570"/>
              </a:spcBef>
              <a:tabLst>
                <a:tab pos="934085" algn="l"/>
                <a:tab pos="1331595" algn="l"/>
              </a:tabLst>
            </a:pPr>
            <a:r>
              <a:rPr dirty="0" sz="1800" spc="185">
                <a:latin typeface="Times New Roman"/>
                <a:cs typeface="Times New Roman"/>
              </a:rPr>
              <a:t>1	1	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59561" y="5667823"/>
            <a:ext cx="73088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229" i="1">
                <a:latin typeface="Times New Roman"/>
                <a:cs typeface="Times New Roman"/>
              </a:rPr>
              <a:t>A</a:t>
            </a:r>
            <a:r>
              <a:rPr dirty="0" sz="1800" spc="-50" i="1">
                <a:latin typeface="Times New Roman"/>
                <a:cs typeface="Times New Roman"/>
              </a:rPr>
              <a:t> </a:t>
            </a:r>
            <a:r>
              <a:rPr dirty="0" sz="1800" spc="204">
                <a:latin typeface="Symbol"/>
                <a:cs typeface="Symbol"/>
              </a:rPr>
              <a:t>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baseline="30864" sz="2700" spc="209">
                <a:latin typeface="Symbol"/>
                <a:cs typeface="Symbol"/>
              </a:rPr>
              <a:t></a:t>
            </a:r>
            <a:r>
              <a:rPr dirty="0" baseline="30864" sz="2700" spc="-405">
                <a:latin typeface="Times New Roman"/>
                <a:cs typeface="Times New Roman"/>
              </a:rPr>
              <a:t> </a:t>
            </a:r>
            <a:r>
              <a:rPr dirty="0" baseline="41666" sz="2700" spc="277">
                <a:latin typeface="Times New Roman"/>
                <a:cs typeface="Times New Roman"/>
              </a:rPr>
              <a:t>1</a:t>
            </a:r>
            <a:endParaRPr baseline="41666" sz="2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100132" y="5670162"/>
            <a:ext cx="894080" cy="335280"/>
          </a:xfrm>
          <a:custGeom>
            <a:avLst/>
            <a:gdLst/>
            <a:ahLst/>
            <a:cxnLst/>
            <a:rect l="l" t="t" r="r" b="b"/>
            <a:pathLst>
              <a:path w="894079" h="335279">
                <a:moveTo>
                  <a:pt x="0" y="83683"/>
                </a:moveTo>
                <a:lnTo>
                  <a:pt x="726622" y="83683"/>
                </a:lnTo>
                <a:lnTo>
                  <a:pt x="726622" y="0"/>
                </a:lnTo>
                <a:lnTo>
                  <a:pt x="893989" y="167368"/>
                </a:lnTo>
                <a:lnTo>
                  <a:pt x="726622" y="334735"/>
                </a:lnTo>
                <a:lnTo>
                  <a:pt x="726622" y="251051"/>
                </a:lnTo>
                <a:lnTo>
                  <a:pt x="0" y="251051"/>
                </a:lnTo>
                <a:lnTo>
                  <a:pt x="0" y="83683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2228088"/>
            <a:ext cx="7040880" cy="2060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44511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141720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/>
              <a:t>Q: </a:t>
            </a:r>
            <a:r>
              <a:rPr dirty="0" spc="-15"/>
              <a:t>What </a:t>
            </a:r>
            <a:r>
              <a:rPr dirty="0" spc="-5"/>
              <a:t>does the </a:t>
            </a:r>
            <a:r>
              <a:rPr dirty="0" spc="-40"/>
              <a:t>Web </a:t>
            </a:r>
            <a:r>
              <a:rPr dirty="0" spc="-5"/>
              <a:t>“look </a:t>
            </a:r>
            <a:r>
              <a:rPr dirty="0" spc="-20"/>
              <a:t>like” at  </a:t>
            </a:r>
            <a:r>
              <a:rPr dirty="0"/>
              <a:t>a </a:t>
            </a:r>
            <a:r>
              <a:rPr dirty="0" spc="-5"/>
              <a:t>global</a:t>
            </a:r>
            <a:r>
              <a:rPr dirty="0" spc="-75"/>
              <a:t> </a:t>
            </a:r>
            <a:r>
              <a:rPr dirty="0" spc="-10"/>
              <a:t>level?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40">
                <a:solidFill>
                  <a:srgbClr val="0000FF"/>
                </a:solidFill>
              </a:rPr>
              <a:t>Web </a:t>
            </a:r>
            <a:r>
              <a:rPr dirty="0" spc="-5">
                <a:solidFill>
                  <a:srgbClr val="0000FF"/>
                </a:solidFill>
              </a:rPr>
              <a:t>as </a:t>
            </a:r>
            <a:r>
              <a:rPr dirty="0">
                <a:solidFill>
                  <a:srgbClr val="0000FF"/>
                </a:solidFill>
              </a:rPr>
              <a:t>a</a:t>
            </a:r>
            <a:r>
              <a:rPr dirty="0" spc="-55">
                <a:solidFill>
                  <a:srgbClr val="0000FF"/>
                </a:solidFill>
              </a:rPr>
              <a:t> </a:t>
            </a:r>
            <a:r>
              <a:rPr dirty="0" spc="-15">
                <a:solidFill>
                  <a:srgbClr val="0000FF"/>
                </a:solidFill>
              </a:rPr>
              <a:t>graph: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819907"/>
            <a:ext cx="4670425" cy="31730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>
                <a:latin typeface="Calibri"/>
                <a:cs typeface="Calibri"/>
              </a:rPr>
              <a:t>= </a:t>
            </a:r>
            <a:r>
              <a:rPr dirty="0" sz="2800" spc="-15">
                <a:latin typeface="Calibri"/>
                <a:cs typeface="Calibri"/>
              </a:rPr>
              <a:t>web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pages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Edges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hyperlinks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60B5CC"/>
              </a:buClr>
              <a:buFont typeface="Malgun Gothic"/>
              <a:buChar char="▪"/>
            </a:pPr>
            <a:endParaRPr sz="31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8000FF"/>
                </a:solidFill>
                <a:latin typeface="Calibri"/>
                <a:cs typeface="Calibri"/>
              </a:rPr>
              <a:t>Side issue: </a:t>
            </a:r>
            <a:r>
              <a:rPr dirty="0" sz="2800" spc="-10">
                <a:solidFill>
                  <a:srgbClr val="8000FF"/>
                </a:solidFill>
                <a:latin typeface="Calibri"/>
                <a:cs typeface="Calibri"/>
              </a:rPr>
              <a:t>What </a:t>
            </a:r>
            <a:r>
              <a:rPr dirty="0" sz="2800" spc="-5">
                <a:solidFill>
                  <a:srgbClr val="8000FF"/>
                </a:solidFill>
                <a:latin typeface="Calibri"/>
                <a:cs typeface="Calibri"/>
              </a:rPr>
              <a:t>is </a:t>
            </a:r>
            <a:r>
              <a:rPr dirty="0" sz="2800">
                <a:solidFill>
                  <a:srgbClr val="8000FF"/>
                </a:solidFill>
                <a:latin typeface="Calibri"/>
                <a:cs typeface="Calibri"/>
              </a:rPr>
              <a:t>a</a:t>
            </a:r>
            <a:r>
              <a:rPr dirty="0" sz="2800" spc="-25">
                <a:solidFill>
                  <a:srgbClr val="8000F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8000FF"/>
                </a:solidFill>
                <a:latin typeface="Calibri"/>
                <a:cs typeface="Calibri"/>
              </a:rPr>
              <a:t>node?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Dynamic pages </a:t>
            </a:r>
            <a:r>
              <a:rPr dirty="0" sz="2400" spc="-15">
                <a:latin typeface="Calibri"/>
                <a:cs typeface="Calibri"/>
              </a:rPr>
              <a:t>created </a:t>
            </a:r>
            <a:r>
              <a:rPr dirty="0" sz="2400" spc="-5">
                <a:latin typeface="Calibri"/>
                <a:cs typeface="Calibri"/>
              </a:rPr>
              <a:t>on 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0">
                <a:latin typeface="Calibri"/>
                <a:cs typeface="Calibri"/>
              </a:rPr>
              <a:t>fly</a:t>
            </a:r>
            <a:endParaRPr sz="2400">
              <a:latin typeface="Calibri"/>
              <a:cs typeface="Calibri"/>
            </a:endParaRPr>
          </a:p>
          <a:p>
            <a:pPr lvl="1" marL="552450" marR="632460" indent="-228600">
              <a:lnSpc>
                <a:spcPct val="100000"/>
              </a:lnSpc>
              <a:spcBef>
                <a:spcPts val="62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25">
                <a:latin typeface="Calibri"/>
                <a:cs typeface="Calibri"/>
              </a:rPr>
              <a:t>“dark </a:t>
            </a:r>
            <a:r>
              <a:rPr dirty="0" sz="2400">
                <a:latin typeface="Calibri"/>
                <a:cs typeface="Calibri"/>
              </a:rPr>
              <a:t>matter” – </a:t>
            </a:r>
            <a:r>
              <a:rPr dirty="0" sz="2400" spc="-50">
                <a:latin typeface="Calibri"/>
                <a:cs typeface="Calibri"/>
              </a:rPr>
              <a:t>inaccessible  </a:t>
            </a:r>
            <a:r>
              <a:rPr dirty="0" sz="2400" spc="-10">
                <a:latin typeface="Calibri"/>
                <a:cs typeface="Calibri"/>
              </a:rPr>
              <a:t>database </a:t>
            </a:r>
            <a:r>
              <a:rPr dirty="0" sz="2400" spc="-20">
                <a:latin typeface="Calibri"/>
                <a:cs typeface="Calibri"/>
              </a:rPr>
              <a:t>generated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pages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92548" y="2286000"/>
            <a:ext cx="3687970" cy="2590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50520"/>
            <a:ext cx="4782312" cy="548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18032" y="1575816"/>
            <a:ext cx="1316736" cy="1679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66800" y="1600200"/>
            <a:ext cx="1219200" cy="15797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6800" y="1600200"/>
            <a:ext cx="1219200" cy="1579880"/>
          </a:xfrm>
          <a:custGeom>
            <a:avLst/>
            <a:gdLst/>
            <a:ahLst/>
            <a:cxnLst/>
            <a:rect l="l" t="t" r="r" b="b"/>
            <a:pathLst>
              <a:path w="1219200" h="1579880">
                <a:moveTo>
                  <a:pt x="0" y="0"/>
                </a:moveTo>
                <a:lnTo>
                  <a:pt x="1219200" y="0"/>
                </a:lnTo>
                <a:lnTo>
                  <a:pt x="1219200" y="1283271"/>
                </a:lnTo>
                <a:lnTo>
                  <a:pt x="1168413" y="1284439"/>
                </a:lnTo>
                <a:lnTo>
                  <a:pt x="1120441" y="1287826"/>
                </a:lnTo>
                <a:lnTo>
                  <a:pt x="1075114" y="1293257"/>
                </a:lnTo>
                <a:lnTo>
                  <a:pt x="1032260" y="1300555"/>
                </a:lnTo>
                <a:lnTo>
                  <a:pt x="991710" y="1309545"/>
                </a:lnTo>
                <a:lnTo>
                  <a:pt x="953293" y="1320052"/>
                </a:lnTo>
                <a:lnTo>
                  <a:pt x="916838" y="1331899"/>
                </a:lnTo>
                <a:lnTo>
                  <a:pt x="849131" y="1358911"/>
                </a:lnTo>
                <a:lnTo>
                  <a:pt x="787226" y="1389177"/>
                </a:lnTo>
                <a:lnTo>
                  <a:pt x="729756" y="1421291"/>
                </a:lnTo>
                <a:lnTo>
                  <a:pt x="675358" y="1453846"/>
                </a:lnTo>
                <a:lnTo>
                  <a:pt x="648884" y="1469850"/>
                </a:lnTo>
                <a:lnTo>
                  <a:pt x="622666" y="1485437"/>
                </a:lnTo>
                <a:lnTo>
                  <a:pt x="570315" y="1514658"/>
                </a:lnTo>
                <a:lnTo>
                  <a:pt x="516940" y="1540103"/>
                </a:lnTo>
                <a:lnTo>
                  <a:pt x="461177" y="1560366"/>
                </a:lnTo>
                <a:lnTo>
                  <a:pt x="401660" y="1574042"/>
                </a:lnTo>
                <a:lnTo>
                  <a:pt x="337025" y="1579725"/>
                </a:lnTo>
                <a:lnTo>
                  <a:pt x="302361" y="1579130"/>
                </a:lnTo>
                <a:lnTo>
                  <a:pt x="227489" y="1570187"/>
                </a:lnTo>
                <a:lnTo>
                  <a:pt x="186939" y="1561488"/>
                </a:lnTo>
                <a:lnTo>
                  <a:pt x="144085" y="1549737"/>
                </a:lnTo>
                <a:lnTo>
                  <a:pt x="98758" y="1534757"/>
                </a:lnTo>
                <a:lnTo>
                  <a:pt x="50786" y="1516372"/>
                </a:lnTo>
                <a:lnTo>
                  <a:pt x="0" y="1494409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48000" y="2185416"/>
            <a:ext cx="1319784" cy="1932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8479" y="2261616"/>
            <a:ext cx="1301495" cy="14935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98800" y="2209800"/>
            <a:ext cx="1219200" cy="18335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98800" y="2209800"/>
            <a:ext cx="1219200" cy="1833880"/>
          </a:xfrm>
          <a:custGeom>
            <a:avLst/>
            <a:gdLst/>
            <a:ahLst/>
            <a:cxnLst/>
            <a:rect l="l" t="t" r="r" b="b"/>
            <a:pathLst>
              <a:path w="1219200" h="1833879">
                <a:moveTo>
                  <a:pt x="0" y="0"/>
                </a:moveTo>
                <a:lnTo>
                  <a:pt x="1219200" y="0"/>
                </a:lnTo>
                <a:lnTo>
                  <a:pt x="1219200" y="1489445"/>
                </a:lnTo>
                <a:lnTo>
                  <a:pt x="1171084" y="1490659"/>
                </a:lnTo>
                <a:lnTo>
                  <a:pt x="1125496" y="1494189"/>
                </a:lnTo>
                <a:lnTo>
                  <a:pt x="1082291" y="1499860"/>
                </a:lnTo>
                <a:lnTo>
                  <a:pt x="1041325" y="1507501"/>
                </a:lnTo>
                <a:lnTo>
                  <a:pt x="1002452" y="1516938"/>
                </a:lnTo>
                <a:lnTo>
                  <a:pt x="965529" y="1528000"/>
                </a:lnTo>
                <a:lnTo>
                  <a:pt x="896955" y="1554304"/>
                </a:lnTo>
                <a:lnTo>
                  <a:pt x="834446" y="1585033"/>
                </a:lnTo>
                <a:lnTo>
                  <a:pt x="776847" y="1618806"/>
                </a:lnTo>
                <a:lnTo>
                  <a:pt x="723004" y="1654240"/>
                </a:lnTo>
                <a:lnTo>
                  <a:pt x="671759" y="1689956"/>
                </a:lnTo>
                <a:lnTo>
                  <a:pt x="646751" y="1707487"/>
                </a:lnTo>
                <a:lnTo>
                  <a:pt x="597240" y="1741035"/>
                </a:lnTo>
                <a:lnTo>
                  <a:pt x="547440" y="1771411"/>
                </a:lnTo>
                <a:lnTo>
                  <a:pt x="496195" y="1797234"/>
                </a:lnTo>
                <a:lnTo>
                  <a:pt x="442352" y="1817124"/>
                </a:lnTo>
                <a:lnTo>
                  <a:pt x="384753" y="1829698"/>
                </a:lnTo>
                <a:lnTo>
                  <a:pt x="322244" y="1833576"/>
                </a:lnTo>
                <a:lnTo>
                  <a:pt x="288787" y="1831822"/>
                </a:lnTo>
                <a:lnTo>
                  <a:pt x="216747" y="1820066"/>
                </a:lnTo>
                <a:lnTo>
                  <a:pt x="177874" y="1809719"/>
                </a:lnTo>
                <a:lnTo>
                  <a:pt x="136908" y="1796161"/>
                </a:lnTo>
                <a:lnTo>
                  <a:pt x="93703" y="1779222"/>
                </a:lnTo>
                <a:lnTo>
                  <a:pt x="48115" y="1758726"/>
                </a:lnTo>
                <a:lnTo>
                  <a:pt x="0" y="173450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81015" y="3051048"/>
            <a:ext cx="1319784" cy="16794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56632" y="3148583"/>
            <a:ext cx="1408176" cy="12527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30800" y="3076492"/>
            <a:ext cx="1219200" cy="157972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30800" y="3076492"/>
            <a:ext cx="1219200" cy="1579880"/>
          </a:xfrm>
          <a:custGeom>
            <a:avLst/>
            <a:gdLst/>
            <a:ahLst/>
            <a:cxnLst/>
            <a:rect l="l" t="t" r="r" b="b"/>
            <a:pathLst>
              <a:path w="1219200" h="1579879">
                <a:moveTo>
                  <a:pt x="0" y="0"/>
                </a:moveTo>
                <a:lnTo>
                  <a:pt x="1219200" y="0"/>
                </a:lnTo>
                <a:lnTo>
                  <a:pt x="1219200" y="1283272"/>
                </a:lnTo>
                <a:lnTo>
                  <a:pt x="1168413" y="1284440"/>
                </a:lnTo>
                <a:lnTo>
                  <a:pt x="1120441" y="1287827"/>
                </a:lnTo>
                <a:lnTo>
                  <a:pt x="1075114" y="1293258"/>
                </a:lnTo>
                <a:lnTo>
                  <a:pt x="1032260" y="1300556"/>
                </a:lnTo>
                <a:lnTo>
                  <a:pt x="991710" y="1309546"/>
                </a:lnTo>
                <a:lnTo>
                  <a:pt x="953293" y="1320053"/>
                </a:lnTo>
                <a:lnTo>
                  <a:pt x="916838" y="1331900"/>
                </a:lnTo>
                <a:lnTo>
                  <a:pt x="849131" y="1358912"/>
                </a:lnTo>
                <a:lnTo>
                  <a:pt x="787226" y="1389178"/>
                </a:lnTo>
                <a:lnTo>
                  <a:pt x="729756" y="1421291"/>
                </a:lnTo>
                <a:lnTo>
                  <a:pt x="675358" y="1453846"/>
                </a:lnTo>
                <a:lnTo>
                  <a:pt x="648884" y="1469850"/>
                </a:lnTo>
                <a:lnTo>
                  <a:pt x="622666" y="1485437"/>
                </a:lnTo>
                <a:lnTo>
                  <a:pt x="570315" y="1514658"/>
                </a:lnTo>
                <a:lnTo>
                  <a:pt x="516940" y="1540103"/>
                </a:lnTo>
                <a:lnTo>
                  <a:pt x="461177" y="1560367"/>
                </a:lnTo>
                <a:lnTo>
                  <a:pt x="401660" y="1574043"/>
                </a:lnTo>
                <a:lnTo>
                  <a:pt x="337025" y="1579725"/>
                </a:lnTo>
                <a:lnTo>
                  <a:pt x="302361" y="1579130"/>
                </a:lnTo>
                <a:lnTo>
                  <a:pt x="227489" y="1570187"/>
                </a:lnTo>
                <a:lnTo>
                  <a:pt x="186939" y="1561488"/>
                </a:lnTo>
                <a:lnTo>
                  <a:pt x="144085" y="1549737"/>
                </a:lnTo>
                <a:lnTo>
                  <a:pt x="98758" y="1534757"/>
                </a:lnTo>
                <a:lnTo>
                  <a:pt x="50786" y="1516372"/>
                </a:lnTo>
                <a:lnTo>
                  <a:pt x="0" y="1494409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14031" y="3788664"/>
            <a:ext cx="1316735" cy="16794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62800" y="3814638"/>
            <a:ext cx="1219200" cy="157972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162800" y="3814638"/>
            <a:ext cx="1219200" cy="1579880"/>
          </a:xfrm>
          <a:custGeom>
            <a:avLst/>
            <a:gdLst/>
            <a:ahLst/>
            <a:cxnLst/>
            <a:rect l="l" t="t" r="r" b="b"/>
            <a:pathLst>
              <a:path w="1219200" h="1579879">
                <a:moveTo>
                  <a:pt x="0" y="0"/>
                </a:moveTo>
                <a:lnTo>
                  <a:pt x="1219200" y="0"/>
                </a:lnTo>
                <a:lnTo>
                  <a:pt x="1219200" y="1283272"/>
                </a:lnTo>
                <a:lnTo>
                  <a:pt x="1168413" y="1284440"/>
                </a:lnTo>
                <a:lnTo>
                  <a:pt x="1120441" y="1287827"/>
                </a:lnTo>
                <a:lnTo>
                  <a:pt x="1075114" y="1293258"/>
                </a:lnTo>
                <a:lnTo>
                  <a:pt x="1032260" y="1300556"/>
                </a:lnTo>
                <a:lnTo>
                  <a:pt x="991710" y="1309546"/>
                </a:lnTo>
                <a:lnTo>
                  <a:pt x="953293" y="1320053"/>
                </a:lnTo>
                <a:lnTo>
                  <a:pt x="916838" y="1331900"/>
                </a:lnTo>
                <a:lnTo>
                  <a:pt x="849131" y="1358912"/>
                </a:lnTo>
                <a:lnTo>
                  <a:pt x="787226" y="1389178"/>
                </a:lnTo>
                <a:lnTo>
                  <a:pt x="729756" y="1421292"/>
                </a:lnTo>
                <a:lnTo>
                  <a:pt x="675358" y="1453847"/>
                </a:lnTo>
                <a:lnTo>
                  <a:pt x="648884" y="1469851"/>
                </a:lnTo>
                <a:lnTo>
                  <a:pt x="622666" y="1485438"/>
                </a:lnTo>
                <a:lnTo>
                  <a:pt x="570315" y="1514658"/>
                </a:lnTo>
                <a:lnTo>
                  <a:pt x="516940" y="1540104"/>
                </a:lnTo>
                <a:lnTo>
                  <a:pt x="461177" y="1560367"/>
                </a:lnTo>
                <a:lnTo>
                  <a:pt x="401660" y="1574043"/>
                </a:lnTo>
                <a:lnTo>
                  <a:pt x="337025" y="1579726"/>
                </a:lnTo>
                <a:lnTo>
                  <a:pt x="302361" y="1579130"/>
                </a:lnTo>
                <a:lnTo>
                  <a:pt x="227489" y="1570188"/>
                </a:lnTo>
                <a:lnTo>
                  <a:pt x="186939" y="1561489"/>
                </a:lnTo>
                <a:lnTo>
                  <a:pt x="144085" y="1549737"/>
                </a:lnTo>
                <a:lnTo>
                  <a:pt x="98758" y="1534757"/>
                </a:lnTo>
                <a:lnTo>
                  <a:pt x="50786" y="1516373"/>
                </a:lnTo>
                <a:lnTo>
                  <a:pt x="0" y="1494409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3"/>
              </a:rPr>
              <a:t>http://cs224w.stanford.edu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78231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5392928"/>
            <a:ext cx="8178800" cy="1095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915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>
                <a:latin typeface="Calibri"/>
                <a:cs typeface="Calibri"/>
              </a:rPr>
              <a:t>In </a:t>
            </a:r>
            <a:r>
              <a:rPr dirty="0" sz="2700" spc="-10">
                <a:latin typeface="Calibri"/>
                <a:cs typeface="Calibri"/>
              </a:rPr>
              <a:t>early </a:t>
            </a:r>
            <a:r>
              <a:rPr dirty="0" sz="2700" spc="-25">
                <a:latin typeface="Calibri"/>
                <a:cs typeface="Calibri"/>
              </a:rPr>
              <a:t>days </a:t>
            </a:r>
            <a:r>
              <a:rPr dirty="0" sz="2700">
                <a:latin typeface="Calibri"/>
                <a:cs typeface="Calibri"/>
              </a:rPr>
              <a:t>of </a:t>
            </a:r>
            <a:r>
              <a:rPr dirty="0" sz="2700" spc="-10">
                <a:latin typeface="Calibri"/>
                <a:cs typeface="Calibri"/>
              </a:rPr>
              <a:t>the </a:t>
            </a:r>
            <a:r>
              <a:rPr dirty="0" sz="2700" spc="-40">
                <a:latin typeface="Calibri"/>
                <a:cs typeface="Calibri"/>
              </a:rPr>
              <a:t>Web </a:t>
            </a:r>
            <a:r>
              <a:rPr dirty="0" sz="2700" spc="-10">
                <a:latin typeface="Calibri"/>
                <a:cs typeface="Calibri"/>
              </a:rPr>
              <a:t>links </a:t>
            </a:r>
            <a:r>
              <a:rPr dirty="0" sz="2700" spc="-20">
                <a:latin typeface="Calibri"/>
                <a:cs typeface="Calibri"/>
              </a:rPr>
              <a:t>were</a:t>
            </a:r>
            <a:r>
              <a:rPr dirty="0" sz="2700" spc="75">
                <a:latin typeface="Calibri"/>
                <a:cs typeface="Calibri"/>
              </a:rPr>
              <a:t> </a:t>
            </a:r>
            <a:r>
              <a:rPr dirty="0" sz="2700" spc="-15" b="1">
                <a:solidFill>
                  <a:srgbClr val="D60093"/>
                </a:solidFill>
                <a:latin typeface="Calibri"/>
                <a:cs typeface="Calibri"/>
              </a:rPr>
              <a:t>navigational</a:t>
            </a:r>
            <a:endParaRPr sz="2700">
              <a:latin typeface="Calibri"/>
              <a:cs typeface="Calibri"/>
            </a:endParaRPr>
          </a:p>
          <a:p>
            <a:pPr marL="332740" marR="5080" indent="-320040">
              <a:lnSpc>
                <a:spcPct val="80000"/>
              </a:lnSpc>
              <a:spcBef>
                <a:spcPts val="325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65">
                <a:latin typeface="Calibri"/>
                <a:cs typeface="Calibri"/>
              </a:rPr>
              <a:t>Today </a:t>
            </a:r>
            <a:r>
              <a:rPr dirty="0" sz="2700" spc="-20">
                <a:latin typeface="Calibri"/>
                <a:cs typeface="Calibri"/>
              </a:rPr>
              <a:t>many </a:t>
            </a:r>
            <a:r>
              <a:rPr dirty="0" sz="2700" spc="-10">
                <a:latin typeface="Calibri"/>
                <a:cs typeface="Calibri"/>
              </a:rPr>
              <a:t>links </a:t>
            </a:r>
            <a:r>
              <a:rPr dirty="0" sz="2700" spc="-15">
                <a:latin typeface="Calibri"/>
                <a:cs typeface="Calibri"/>
              </a:rPr>
              <a:t>are </a:t>
            </a:r>
            <a:r>
              <a:rPr dirty="0" sz="2700" spc="-10" b="1">
                <a:solidFill>
                  <a:srgbClr val="D60093"/>
                </a:solidFill>
                <a:latin typeface="Calibri"/>
                <a:cs typeface="Calibri"/>
              </a:rPr>
              <a:t>transactional </a:t>
            </a:r>
            <a:r>
              <a:rPr dirty="0" sz="2700" spc="-10">
                <a:latin typeface="Calibri"/>
                <a:cs typeface="Calibri"/>
              </a:rPr>
              <a:t>(used </a:t>
            </a:r>
            <a:r>
              <a:rPr dirty="0" sz="2700" spc="-5">
                <a:latin typeface="Calibri"/>
                <a:cs typeface="Calibri"/>
              </a:rPr>
              <a:t>not </a:t>
            </a:r>
            <a:r>
              <a:rPr dirty="0" sz="2700" spc="-15">
                <a:latin typeface="Calibri"/>
                <a:cs typeface="Calibri"/>
              </a:rPr>
              <a:t>to </a:t>
            </a:r>
            <a:r>
              <a:rPr dirty="0" sz="2700" spc="-25">
                <a:latin typeface="Calibri"/>
                <a:cs typeface="Calibri"/>
              </a:rPr>
              <a:t>navigate  </a:t>
            </a:r>
            <a:r>
              <a:rPr dirty="0" sz="2700" spc="-15">
                <a:latin typeface="Calibri"/>
                <a:cs typeface="Calibri"/>
              </a:rPr>
              <a:t>from </a:t>
            </a:r>
            <a:r>
              <a:rPr dirty="0" sz="2700" spc="-10">
                <a:latin typeface="Calibri"/>
                <a:cs typeface="Calibri"/>
              </a:rPr>
              <a:t>page </a:t>
            </a:r>
            <a:r>
              <a:rPr dirty="0" sz="2700" spc="-20">
                <a:latin typeface="Calibri"/>
                <a:cs typeface="Calibri"/>
              </a:rPr>
              <a:t>to </a:t>
            </a:r>
            <a:r>
              <a:rPr dirty="0" sz="2700" spc="-10">
                <a:latin typeface="Calibri"/>
                <a:cs typeface="Calibri"/>
              </a:rPr>
              <a:t>page, but </a:t>
            </a:r>
            <a:r>
              <a:rPr dirty="0" sz="2700" spc="-20">
                <a:latin typeface="Calibri"/>
                <a:cs typeface="Calibri"/>
              </a:rPr>
              <a:t>to </a:t>
            </a:r>
            <a:r>
              <a:rPr dirty="0" sz="2700" spc="-15">
                <a:latin typeface="Calibri"/>
                <a:cs typeface="Calibri"/>
              </a:rPr>
              <a:t>post, </a:t>
            </a:r>
            <a:r>
              <a:rPr dirty="0" sz="2700" spc="-10">
                <a:latin typeface="Calibri"/>
                <a:cs typeface="Calibri"/>
              </a:rPr>
              <a:t>comment, </a:t>
            </a:r>
            <a:r>
              <a:rPr dirty="0" sz="2700" spc="-20">
                <a:latin typeface="Calibri"/>
                <a:cs typeface="Calibri"/>
              </a:rPr>
              <a:t>like, </a:t>
            </a:r>
            <a:r>
              <a:rPr dirty="0" sz="2700" spc="-55">
                <a:latin typeface="Calibri"/>
                <a:cs typeface="Calibri"/>
              </a:rPr>
              <a:t>buy,</a:t>
            </a:r>
            <a:r>
              <a:rPr dirty="0" sz="2700" spc="100">
                <a:latin typeface="Calibri"/>
                <a:cs typeface="Calibri"/>
              </a:rPr>
              <a:t> </a:t>
            </a:r>
            <a:r>
              <a:rPr dirty="0" sz="2700" spc="-5">
                <a:latin typeface="Calibri"/>
                <a:cs typeface="Calibri"/>
              </a:rPr>
              <a:t>…)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8032" y="1575816"/>
            <a:ext cx="1316736" cy="1679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6800" y="1600200"/>
            <a:ext cx="1219200" cy="15797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6800" y="1600200"/>
            <a:ext cx="1219200" cy="1579880"/>
          </a:xfrm>
          <a:custGeom>
            <a:avLst/>
            <a:gdLst/>
            <a:ahLst/>
            <a:cxnLst/>
            <a:rect l="l" t="t" r="r" b="b"/>
            <a:pathLst>
              <a:path w="1219200" h="1579880">
                <a:moveTo>
                  <a:pt x="0" y="0"/>
                </a:moveTo>
                <a:lnTo>
                  <a:pt x="1219200" y="0"/>
                </a:lnTo>
                <a:lnTo>
                  <a:pt x="1219200" y="1283271"/>
                </a:lnTo>
                <a:lnTo>
                  <a:pt x="1168413" y="1284439"/>
                </a:lnTo>
                <a:lnTo>
                  <a:pt x="1120441" y="1287826"/>
                </a:lnTo>
                <a:lnTo>
                  <a:pt x="1075114" y="1293257"/>
                </a:lnTo>
                <a:lnTo>
                  <a:pt x="1032260" y="1300555"/>
                </a:lnTo>
                <a:lnTo>
                  <a:pt x="991710" y="1309545"/>
                </a:lnTo>
                <a:lnTo>
                  <a:pt x="953293" y="1320052"/>
                </a:lnTo>
                <a:lnTo>
                  <a:pt x="916838" y="1331899"/>
                </a:lnTo>
                <a:lnTo>
                  <a:pt x="849131" y="1358911"/>
                </a:lnTo>
                <a:lnTo>
                  <a:pt x="787226" y="1389177"/>
                </a:lnTo>
                <a:lnTo>
                  <a:pt x="729756" y="1421291"/>
                </a:lnTo>
                <a:lnTo>
                  <a:pt x="675358" y="1453846"/>
                </a:lnTo>
                <a:lnTo>
                  <a:pt x="648884" y="1469850"/>
                </a:lnTo>
                <a:lnTo>
                  <a:pt x="622666" y="1485437"/>
                </a:lnTo>
                <a:lnTo>
                  <a:pt x="570315" y="1514658"/>
                </a:lnTo>
                <a:lnTo>
                  <a:pt x="516940" y="1540103"/>
                </a:lnTo>
                <a:lnTo>
                  <a:pt x="461177" y="1560366"/>
                </a:lnTo>
                <a:lnTo>
                  <a:pt x="401660" y="1574042"/>
                </a:lnTo>
                <a:lnTo>
                  <a:pt x="337025" y="1579725"/>
                </a:lnTo>
                <a:lnTo>
                  <a:pt x="302361" y="1579130"/>
                </a:lnTo>
                <a:lnTo>
                  <a:pt x="227489" y="1570187"/>
                </a:lnTo>
                <a:lnTo>
                  <a:pt x="186939" y="1561488"/>
                </a:lnTo>
                <a:lnTo>
                  <a:pt x="144085" y="1549737"/>
                </a:lnTo>
                <a:lnTo>
                  <a:pt x="98758" y="1534757"/>
                </a:lnTo>
                <a:lnTo>
                  <a:pt x="50786" y="1516372"/>
                </a:lnTo>
                <a:lnTo>
                  <a:pt x="0" y="1494409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9518" y="2332227"/>
            <a:ext cx="8940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u="sng">
                <a:solidFill>
                  <a:srgbClr val="0000FF"/>
                </a:solidFill>
                <a:latin typeface="Corbel"/>
                <a:cs typeface="Corbel"/>
              </a:rPr>
              <a:t>Networks</a:t>
            </a:r>
            <a:r>
              <a:rPr dirty="0" sz="1600" spc="-5">
                <a:latin typeface="Corbel"/>
                <a:cs typeface="Corbel"/>
              </a:rPr>
              <a:t>.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0" y="2185416"/>
            <a:ext cx="1319784" cy="1932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8479" y="2261616"/>
            <a:ext cx="1301495" cy="14935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98800" y="2209800"/>
            <a:ext cx="1219200" cy="18335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98800" y="2209800"/>
            <a:ext cx="1219200" cy="1833880"/>
          </a:xfrm>
          <a:custGeom>
            <a:avLst/>
            <a:gdLst/>
            <a:ahLst/>
            <a:cxnLst/>
            <a:rect l="l" t="t" r="r" b="b"/>
            <a:pathLst>
              <a:path w="1219200" h="1833879">
                <a:moveTo>
                  <a:pt x="0" y="0"/>
                </a:moveTo>
                <a:lnTo>
                  <a:pt x="1219200" y="0"/>
                </a:lnTo>
                <a:lnTo>
                  <a:pt x="1219200" y="1489445"/>
                </a:lnTo>
                <a:lnTo>
                  <a:pt x="1171084" y="1490659"/>
                </a:lnTo>
                <a:lnTo>
                  <a:pt x="1125496" y="1494189"/>
                </a:lnTo>
                <a:lnTo>
                  <a:pt x="1082291" y="1499860"/>
                </a:lnTo>
                <a:lnTo>
                  <a:pt x="1041325" y="1507501"/>
                </a:lnTo>
                <a:lnTo>
                  <a:pt x="1002452" y="1516938"/>
                </a:lnTo>
                <a:lnTo>
                  <a:pt x="965529" y="1528000"/>
                </a:lnTo>
                <a:lnTo>
                  <a:pt x="896955" y="1554304"/>
                </a:lnTo>
                <a:lnTo>
                  <a:pt x="834446" y="1585033"/>
                </a:lnTo>
                <a:lnTo>
                  <a:pt x="776847" y="1618806"/>
                </a:lnTo>
                <a:lnTo>
                  <a:pt x="723004" y="1654240"/>
                </a:lnTo>
                <a:lnTo>
                  <a:pt x="671759" y="1689956"/>
                </a:lnTo>
                <a:lnTo>
                  <a:pt x="646751" y="1707487"/>
                </a:lnTo>
                <a:lnTo>
                  <a:pt x="597240" y="1741035"/>
                </a:lnTo>
                <a:lnTo>
                  <a:pt x="547440" y="1771411"/>
                </a:lnTo>
                <a:lnTo>
                  <a:pt x="496195" y="1797234"/>
                </a:lnTo>
                <a:lnTo>
                  <a:pt x="442352" y="1817124"/>
                </a:lnTo>
                <a:lnTo>
                  <a:pt x="384753" y="1829698"/>
                </a:lnTo>
                <a:lnTo>
                  <a:pt x="322244" y="1833576"/>
                </a:lnTo>
                <a:lnTo>
                  <a:pt x="288787" y="1831822"/>
                </a:lnTo>
                <a:lnTo>
                  <a:pt x="216747" y="1820066"/>
                </a:lnTo>
                <a:lnTo>
                  <a:pt x="177874" y="1809719"/>
                </a:lnTo>
                <a:lnTo>
                  <a:pt x="136908" y="1796161"/>
                </a:lnTo>
                <a:lnTo>
                  <a:pt x="93703" y="1779222"/>
                </a:lnTo>
                <a:lnTo>
                  <a:pt x="48115" y="1758726"/>
                </a:lnTo>
                <a:lnTo>
                  <a:pt x="0" y="1734504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450399" y="3054604"/>
            <a:ext cx="5156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0" u="sng">
                <a:solidFill>
                  <a:srgbClr val="0000FF"/>
                </a:solidFill>
                <a:latin typeface="Corbel"/>
                <a:cs typeface="Corbel"/>
              </a:rPr>
              <a:t>G</a:t>
            </a:r>
            <a:r>
              <a:rPr dirty="0" sz="1600" u="sng">
                <a:solidFill>
                  <a:srgbClr val="0000FF"/>
                </a:solidFill>
                <a:latin typeface="Corbel"/>
                <a:cs typeface="Corbel"/>
              </a:rPr>
              <a:t>a</a:t>
            </a:r>
            <a:r>
              <a:rPr dirty="0" sz="1600" spc="-10" u="sng">
                <a:solidFill>
                  <a:srgbClr val="0000FF"/>
                </a:solidFill>
                <a:latin typeface="Corbel"/>
                <a:cs typeface="Corbel"/>
              </a:rPr>
              <a:t>t</a:t>
            </a:r>
            <a:r>
              <a:rPr dirty="0" sz="1600" u="sng">
                <a:solidFill>
                  <a:srgbClr val="0000FF"/>
                </a:solidFill>
                <a:latin typeface="Corbel"/>
                <a:cs typeface="Corbel"/>
              </a:rPr>
              <a:t>es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81015" y="3051048"/>
            <a:ext cx="1319784" cy="16794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56632" y="3148583"/>
            <a:ext cx="1408176" cy="12527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30800" y="3076492"/>
            <a:ext cx="1219200" cy="157972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30800" y="3076492"/>
            <a:ext cx="1219200" cy="1579880"/>
          </a:xfrm>
          <a:custGeom>
            <a:avLst/>
            <a:gdLst/>
            <a:ahLst/>
            <a:cxnLst/>
            <a:rect l="l" t="t" r="r" b="b"/>
            <a:pathLst>
              <a:path w="1219200" h="1579879">
                <a:moveTo>
                  <a:pt x="0" y="0"/>
                </a:moveTo>
                <a:lnTo>
                  <a:pt x="1219200" y="0"/>
                </a:lnTo>
                <a:lnTo>
                  <a:pt x="1219200" y="1283272"/>
                </a:lnTo>
                <a:lnTo>
                  <a:pt x="1168413" y="1284440"/>
                </a:lnTo>
                <a:lnTo>
                  <a:pt x="1120441" y="1287827"/>
                </a:lnTo>
                <a:lnTo>
                  <a:pt x="1075114" y="1293258"/>
                </a:lnTo>
                <a:lnTo>
                  <a:pt x="1032260" y="1300556"/>
                </a:lnTo>
                <a:lnTo>
                  <a:pt x="991710" y="1309546"/>
                </a:lnTo>
                <a:lnTo>
                  <a:pt x="953293" y="1320053"/>
                </a:lnTo>
                <a:lnTo>
                  <a:pt x="916838" y="1331900"/>
                </a:lnTo>
                <a:lnTo>
                  <a:pt x="849131" y="1358912"/>
                </a:lnTo>
                <a:lnTo>
                  <a:pt x="787226" y="1389178"/>
                </a:lnTo>
                <a:lnTo>
                  <a:pt x="729756" y="1421291"/>
                </a:lnTo>
                <a:lnTo>
                  <a:pt x="675358" y="1453846"/>
                </a:lnTo>
                <a:lnTo>
                  <a:pt x="648884" y="1469850"/>
                </a:lnTo>
                <a:lnTo>
                  <a:pt x="622666" y="1485437"/>
                </a:lnTo>
                <a:lnTo>
                  <a:pt x="570315" y="1514658"/>
                </a:lnTo>
                <a:lnTo>
                  <a:pt x="516940" y="1540103"/>
                </a:lnTo>
                <a:lnTo>
                  <a:pt x="461177" y="1560367"/>
                </a:lnTo>
                <a:lnTo>
                  <a:pt x="401660" y="1574043"/>
                </a:lnTo>
                <a:lnTo>
                  <a:pt x="337025" y="1579725"/>
                </a:lnTo>
                <a:lnTo>
                  <a:pt x="302361" y="1579130"/>
                </a:lnTo>
                <a:lnTo>
                  <a:pt x="227489" y="1570187"/>
                </a:lnTo>
                <a:lnTo>
                  <a:pt x="186939" y="1561488"/>
                </a:lnTo>
                <a:lnTo>
                  <a:pt x="144085" y="1549737"/>
                </a:lnTo>
                <a:lnTo>
                  <a:pt x="98758" y="1534757"/>
                </a:lnTo>
                <a:lnTo>
                  <a:pt x="50786" y="1516372"/>
                </a:lnTo>
                <a:lnTo>
                  <a:pt x="0" y="1494409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460110" y="3941572"/>
            <a:ext cx="7664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u="sng">
                <a:solidFill>
                  <a:srgbClr val="0000FF"/>
                </a:solidFill>
                <a:latin typeface="Corbel"/>
                <a:cs typeface="Corbel"/>
              </a:rPr>
              <a:t>Stanford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14031" y="3788664"/>
            <a:ext cx="1316735" cy="16794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162800" y="3814638"/>
            <a:ext cx="1219200" cy="157972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62800" y="3814638"/>
            <a:ext cx="1219200" cy="1579880"/>
          </a:xfrm>
          <a:custGeom>
            <a:avLst/>
            <a:gdLst/>
            <a:ahLst/>
            <a:cxnLst/>
            <a:rect l="l" t="t" r="r" b="b"/>
            <a:pathLst>
              <a:path w="1219200" h="1579879">
                <a:moveTo>
                  <a:pt x="0" y="0"/>
                </a:moveTo>
                <a:lnTo>
                  <a:pt x="1219200" y="0"/>
                </a:lnTo>
                <a:lnTo>
                  <a:pt x="1219200" y="1283272"/>
                </a:lnTo>
                <a:lnTo>
                  <a:pt x="1168413" y="1284440"/>
                </a:lnTo>
                <a:lnTo>
                  <a:pt x="1120441" y="1287827"/>
                </a:lnTo>
                <a:lnTo>
                  <a:pt x="1075114" y="1293258"/>
                </a:lnTo>
                <a:lnTo>
                  <a:pt x="1032260" y="1300556"/>
                </a:lnTo>
                <a:lnTo>
                  <a:pt x="991710" y="1309546"/>
                </a:lnTo>
                <a:lnTo>
                  <a:pt x="953293" y="1320053"/>
                </a:lnTo>
                <a:lnTo>
                  <a:pt x="916838" y="1331900"/>
                </a:lnTo>
                <a:lnTo>
                  <a:pt x="849131" y="1358912"/>
                </a:lnTo>
                <a:lnTo>
                  <a:pt x="787226" y="1389178"/>
                </a:lnTo>
                <a:lnTo>
                  <a:pt x="729756" y="1421292"/>
                </a:lnTo>
                <a:lnTo>
                  <a:pt x="675358" y="1453847"/>
                </a:lnTo>
                <a:lnTo>
                  <a:pt x="648884" y="1469851"/>
                </a:lnTo>
                <a:lnTo>
                  <a:pt x="622666" y="1485438"/>
                </a:lnTo>
                <a:lnTo>
                  <a:pt x="570315" y="1514658"/>
                </a:lnTo>
                <a:lnTo>
                  <a:pt x="516940" y="1540104"/>
                </a:lnTo>
                <a:lnTo>
                  <a:pt x="461177" y="1560367"/>
                </a:lnTo>
                <a:lnTo>
                  <a:pt x="401660" y="1574043"/>
                </a:lnTo>
                <a:lnTo>
                  <a:pt x="337025" y="1579726"/>
                </a:lnTo>
                <a:lnTo>
                  <a:pt x="302361" y="1579130"/>
                </a:lnTo>
                <a:lnTo>
                  <a:pt x="227489" y="1570188"/>
                </a:lnTo>
                <a:lnTo>
                  <a:pt x="186939" y="1561489"/>
                </a:lnTo>
                <a:lnTo>
                  <a:pt x="144085" y="1549737"/>
                </a:lnTo>
                <a:lnTo>
                  <a:pt x="98758" y="1534757"/>
                </a:lnTo>
                <a:lnTo>
                  <a:pt x="50786" y="1516373"/>
                </a:lnTo>
                <a:lnTo>
                  <a:pt x="0" y="1494409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60231" y="2574631"/>
            <a:ext cx="1438910" cy="585470"/>
          </a:xfrm>
          <a:custGeom>
            <a:avLst/>
            <a:gdLst/>
            <a:ahLst/>
            <a:cxnLst/>
            <a:rect l="l" t="t" r="r" b="b"/>
            <a:pathLst>
              <a:path w="1438910" h="585469">
                <a:moveTo>
                  <a:pt x="1357714" y="547994"/>
                </a:moveTo>
                <a:lnTo>
                  <a:pt x="1304127" y="556672"/>
                </a:lnTo>
                <a:lnTo>
                  <a:pt x="1298835" y="564010"/>
                </a:lnTo>
                <a:lnTo>
                  <a:pt x="1301357" y="579588"/>
                </a:lnTo>
                <a:lnTo>
                  <a:pt x="1308695" y="584880"/>
                </a:lnTo>
                <a:lnTo>
                  <a:pt x="1410639" y="568371"/>
                </a:lnTo>
                <a:lnTo>
                  <a:pt x="1357714" y="547994"/>
                </a:lnTo>
                <a:close/>
              </a:path>
              <a:path w="1438910" h="585469">
                <a:moveTo>
                  <a:pt x="1421697" y="566580"/>
                </a:moveTo>
                <a:lnTo>
                  <a:pt x="1410639" y="568371"/>
                </a:lnTo>
                <a:lnTo>
                  <a:pt x="1414401" y="569819"/>
                </a:lnTo>
                <a:lnTo>
                  <a:pt x="1421697" y="566580"/>
                </a:lnTo>
                <a:close/>
              </a:path>
              <a:path w="1438910" h="585469">
                <a:moveTo>
                  <a:pt x="1385705" y="543461"/>
                </a:moveTo>
                <a:lnTo>
                  <a:pt x="1357714" y="547994"/>
                </a:lnTo>
                <a:lnTo>
                  <a:pt x="1410639" y="568371"/>
                </a:lnTo>
                <a:lnTo>
                  <a:pt x="1421697" y="566580"/>
                </a:lnTo>
                <a:lnTo>
                  <a:pt x="1422670" y="566148"/>
                </a:lnTo>
                <a:lnTo>
                  <a:pt x="1424043" y="562580"/>
                </a:lnTo>
                <a:lnTo>
                  <a:pt x="1401015" y="562580"/>
                </a:lnTo>
                <a:lnTo>
                  <a:pt x="1385705" y="543461"/>
                </a:lnTo>
                <a:close/>
              </a:path>
              <a:path w="1438910" h="585469">
                <a:moveTo>
                  <a:pt x="1427906" y="550446"/>
                </a:moveTo>
                <a:lnTo>
                  <a:pt x="1428339" y="551421"/>
                </a:lnTo>
                <a:lnTo>
                  <a:pt x="1422670" y="566148"/>
                </a:lnTo>
                <a:lnTo>
                  <a:pt x="1421697" y="566580"/>
                </a:lnTo>
                <a:lnTo>
                  <a:pt x="1438630" y="563838"/>
                </a:lnTo>
                <a:lnTo>
                  <a:pt x="1427906" y="550446"/>
                </a:lnTo>
                <a:close/>
              </a:path>
              <a:path w="1438910" h="585469">
                <a:moveTo>
                  <a:pt x="1409884" y="539545"/>
                </a:moveTo>
                <a:lnTo>
                  <a:pt x="1385705" y="543461"/>
                </a:lnTo>
                <a:lnTo>
                  <a:pt x="1401015" y="562580"/>
                </a:lnTo>
                <a:lnTo>
                  <a:pt x="1409884" y="539545"/>
                </a:lnTo>
                <a:close/>
              </a:path>
              <a:path w="1438910" h="585469">
                <a:moveTo>
                  <a:pt x="1415298" y="539545"/>
                </a:moveTo>
                <a:lnTo>
                  <a:pt x="1409884" y="539545"/>
                </a:lnTo>
                <a:lnTo>
                  <a:pt x="1401015" y="562580"/>
                </a:lnTo>
                <a:lnTo>
                  <a:pt x="1424043" y="562580"/>
                </a:lnTo>
                <a:lnTo>
                  <a:pt x="1428339" y="551421"/>
                </a:lnTo>
                <a:lnTo>
                  <a:pt x="1427906" y="550446"/>
                </a:lnTo>
                <a:lnTo>
                  <a:pt x="1420907" y="541705"/>
                </a:lnTo>
                <a:lnTo>
                  <a:pt x="1415298" y="539545"/>
                </a:lnTo>
                <a:close/>
              </a:path>
              <a:path w="1438910" h="585469">
                <a:moveTo>
                  <a:pt x="1420907" y="541705"/>
                </a:moveTo>
                <a:lnTo>
                  <a:pt x="1427906" y="550446"/>
                </a:lnTo>
                <a:lnTo>
                  <a:pt x="1424669" y="543153"/>
                </a:lnTo>
                <a:lnTo>
                  <a:pt x="1420907" y="541705"/>
                </a:lnTo>
                <a:close/>
              </a:path>
              <a:path w="1438910" h="585469">
                <a:moveTo>
                  <a:pt x="13938" y="0"/>
                </a:moveTo>
                <a:lnTo>
                  <a:pt x="5670" y="3670"/>
                </a:lnTo>
                <a:lnTo>
                  <a:pt x="0" y="18398"/>
                </a:lnTo>
                <a:lnTo>
                  <a:pt x="3671" y="26666"/>
                </a:lnTo>
                <a:lnTo>
                  <a:pt x="1357714" y="547994"/>
                </a:lnTo>
                <a:lnTo>
                  <a:pt x="1385705" y="543461"/>
                </a:lnTo>
                <a:lnTo>
                  <a:pt x="1367982" y="521328"/>
                </a:lnTo>
                <a:lnTo>
                  <a:pt x="13938" y="0"/>
                </a:lnTo>
                <a:close/>
              </a:path>
              <a:path w="1438910" h="585469">
                <a:moveTo>
                  <a:pt x="1367982" y="521328"/>
                </a:moveTo>
                <a:lnTo>
                  <a:pt x="1385705" y="543461"/>
                </a:lnTo>
                <a:lnTo>
                  <a:pt x="1409884" y="539545"/>
                </a:lnTo>
                <a:lnTo>
                  <a:pt x="1415298" y="539545"/>
                </a:lnTo>
                <a:lnTo>
                  <a:pt x="1367982" y="521328"/>
                </a:lnTo>
                <a:close/>
              </a:path>
              <a:path w="1438910" h="585469">
                <a:moveTo>
                  <a:pt x="1347364" y="460096"/>
                </a:moveTo>
                <a:lnTo>
                  <a:pt x="1335045" y="469960"/>
                </a:lnTo>
                <a:lnTo>
                  <a:pt x="1334049" y="478952"/>
                </a:lnTo>
                <a:lnTo>
                  <a:pt x="1367982" y="521328"/>
                </a:lnTo>
                <a:lnTo>
                  <a:pt x="1420907" y="541705"/>
                </a:lnTo>
                <a:lnTo>
                  <a:pt x="1356354" y="461092"/>
                </a:lnTo>
                <a:lnTo>
                  <a:pt x="1347364" y="46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69970" y="3336570"/>
            <a:ext cx="1261110" cy="557530"/>
          </a:xfrm>
          <a:custGeom>
            <a:avLst/>
            <a:gdLst/>
            <a:ahLst/>
            <a:cxnLst/>
            <a:rect l="l" t="t" r="r" b="b"/>
            <a:pathLst>
              <a:path w="1261110" h="557529">
                <a:moveTo>
                  <a:pt x="1180503" y="521716"/>
                </a:moveTo>
                <a:lnTo>
                  <a:pt x="1126671" y="528739"/>
                </a:lnTo>
                <a:lnTo>
                  <a:pt x="1121155" y="535909"/>
                </a:lnTo>
                <a:lnTo>
                  <a:pt x="1123198" y="551558"/>
                </a:lnTo>
                <a:lnTo>
                  <a:pt x="1130368" y="557074"/>
                </a:lnTo>
                <a:lnTo>
                  <a:pt x="1232774" y="543714"/>
                </a:lnTo>
                <a:lnTo>
                  <a:pt x="1180503" y="521716"/>
                </a:lnTo>
                <a:close/>
              </a:path>
              <a:path w="1261110" h="557529">
                <a:moveTo>
                  <a:pt x="1243863" y="542268"/>
                </a:moveTo>
                <a:lnTo>
                  <a:pt x="1232774" y="543714"/>
                </a:lnTo>
                <a:lnTo>
                  <a:pt x="1236483" y="545275"/>
                </a:lnTo>
                <a:lnTo>
                  <a:pt x="1243863" y="542268"/>
                </a:lnTo>
                <a:close/>
              </a:path>
              <a:path w="1261110" h="557529">
                <a:moveTo>
                  <a:pt x="1208619" y="518049"/>
                </a:moveTo>
                <a:lnTo>
                  <a:pt x="1180503" y="521716"/>
                </a:lnTo>
                <a:lnTo>
                  <a:pt x="1232774" y="543714"/>
                </a:lnTo>
                <a:lnTo>
                  <a:pt x="1243863" y="542268"/>
                </a:lnTo>
                <a:lnTo>
                  <a:pt x="1244860" y="541862"/>
                </a:lnTo>
                <a:lnTo>
                  <a:pt x="1246641" y="537630"/>
                </a:lnTo>
                <a:lnTo>
                  <a:pt x="1223332" y="537630"/>
                </a:lnTo>
                <a:lnTo>
                  <a:pt x="1208619" y="518049"/>
                </a:lnTo>
                <a:close/>
              </a:path>
              <a:path w="1261110" h="557529">
                <a:moveTo>
                  <a:pt x="1250575" y="526318"/>
                </a:moveTo>
                <a:lnTo>
                  <a:pt x="1250981" y="527315"/>
                </a:lnTo>
                <a:lnTo>
                  <a:pt x="1244860" y="541862"/>
                </a:lnTo>
                <a:lnTo>
                  <a:pt x="1243863" y="542268"/>
                </a:lnTo>
                <a:lnTo>
                  <a:pt x="1260890" y="540047"/>
                </a:lnTo>
                <a:lnTo>
                  <a:pt x="1250575" y="526318"/>
                </a:lnTo>
                <a:close/>
              </a:path>
              <a:path w="1261110" h="557529">
                <a:moveTo>
                  <a:pt x="1232907" y="514880"/>
                </a:moveTo>
                <a:lnTo>
                  <a:pt x="1208619" y="518049"/>
                </a:lnTo>
                <a:lnTo>
                  <a:pt x="1223332" y="537630"/>
                </a:lnTo>
                <a:lnTo>
                  <a:pt x="1232907" y="514880"/>
                </a:lnTo>
                <a:close/>
              </a:path>
              <a:path w="1261110" h="557529">
                <a:moveTo>
                  <a:pt x="1237925" y="514880"/>
                </a:moveTo>
                <a:lnTo>
                  <a:pt x="1232907" y="514880"/>
                </a:lnTo>
                <a:lnTo>
                  <a:pt x="1223332" y="537630"/>
                </a:lnTo>
                <a:lnTo>
                  <a:pt x="1246641" y="537630"/>
                </a:lnTo>
                <a:lnTo>
                  <a:pt x="1250981" y="527315"/>
                </a:lnTo>
                <a:lnTo>
                  <a:pt x="1250575" y="526318"/>
                </a:lnTo>
                <a:lnTo>
                  <a:pt x="1243857" y="517377"/>
                </a:lnTo>
                <a:lnTo>
                  <a:pt x="1237925" y="514880"/>
                </a:lnTo>
                <a:close/>
              </a:path>
              <a:path w="1261110" h="557529">
                <a:moveTo>
                  <a:pt x="1243857" y="517377"/>
                </a:moveTo>
                <a:lnTo>
                  <a:pt x="1250575" y="526318"/>
                </a:lnTo>
                <a:lnTo>
                  <a:pt x="1247566" y="518938"/>
                </a:lnTo>
                <a:lnTo>
                  <a:pt x="1243857" y="517377"/>
                </a:lnTo>
                <a:close/>
              </a:path>
              <a:path w="1261110" h="557529">
                <a:moveTo>
                  <a:pt x="14498" y="0"/>
                </a:moveTo>
                <a:lnTo>
                  <a:pt x="6121" y="3413"/>
                </a:lnTo>
                <a:lnTo>
                  <a:pt x="0" y="17960"/>
                </a:lnTo>
                <a:lnTo>
                  <a:pt x="3413" y="26337"/>
                </a:lnTo>
                <a:lnTo>
                  <a:pt x="1180503" y="521716"/>
                </a:lnTo>
                <a:lnTo>
                  <a:pt x="1208619" y="518049"/>
                </a:lnTo>
                <a:lnTo>
                  <a:pt x="1191586" y="495379"/>
                </a:lnTo>
                <a:lnTo>
                  <a:pt x="14498" y="0"/>
                </a:lnTo>
                <a:close/>
              </a:path>
              <a:path w="1261110" h="557529">
                <a:moveTo>
                  <a:pt x="1191586" y="495379"/>
                </a:moveTo>
                <a:lnTo>
                  <a:pt x="1208619" y="518049"/>
                </a:lnTo>
                <a:lnTo>
                  <a:pt x="1232907" y="514880"/>
                </a:lnTo>
                <a:lnTo>
                  <a:pt x="1237925" y="514880"/>
                </a:lnTo>
                <a:lnTo>
                  <a:pt x="1191586" y="495379"/>
                </a:lnTo>
                <a:close/>
              </a:path>
              <a:path w="1261110" h="557529">
                <a:moveTo>
                  <a:pt x="1172865" y="433541"/>
                </a:moveTo>
                <a:lnTo>
                  <a:pt x="1160249" y="443021"/>
                </a:lnTo>
                <a:lnTo>
                  <a:pt x="1158976" y="451977"/>
                </a:lnTo>
                <a:lnTo>
                  <a:pt x="1191586" y="495379"/>
                </a:lnTo>
                <a:lnTo>
                  <a:pt x="1243857" y="517377"/>
                </a:lnTo>
                <a:lnTo>
                  <a:pt x="1181822" y="434813"/>
                </a:lnTo>
                <a:lnTo>
                  <a:pt x="1172865" y="4335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24453" y="4175053"/>
            <a:ext cx="1438910" cy="471170"/>
          </a:xfrm>
          <a:custGeom>
            <a:avLst/>
            <a:gdLst/>
            <a:ahLst/>
            <a:cxnLst/>
            <a:rect l="l" t="t" r="r" b="b"/>
            <a:pathLst>
              <a:path w="1438909" h="471170">
                <a:moveTo>
                  <a:pt x="1356506" y="430212"/>
                </a:moveTo>
                <a:lnTo>
                  <a:pt x="1303756" y="443039"/>
                </a:lnTo>
                <a:lnTo>
                  <a:pt x="1299052" y="450766"/>
                </a:lnTo>
                <a:lnTo>
                  <a:pt x="1302782" y="466100"/>
                </a:lnTo>
                <a:lnTo>
                  <a:pt x="1310509" y="470804"/>
                </a:lnTo>
                <a:lnTo>
                  <a:pt x="1410856" y="446403"/>
                </a:lnTo>
                <a:lnTo>
                  <a:pt x="1356506" y="430212"/>
                </a:lnTo>
                <a:close/>
              </a:path>
              <a:path w="1438909" h="471170">
                <a:moveTo>
                  <a:pt x="1421719" y="443761"/>
                </a:moveTo>
                <a:lnTo>
                  <a:pt x="1410856" y="446403"/>
                </a:lnTo>
                <a:lnTo>
                  <a:pt x="1414712" y="447551"/>
                </a:lnTo>
                <a:lnTo>
                  <a:pt x="1421719" y="443761"/>
                </a:lnTo>
                <a:close/>
              </a:path>
              <a:path w="1438909" h="471170">
                <a:moveTo>
                  <a:pt x="1384059" y="423511"/>
                </a:moveTo>
                <a:lnTo>
                  <a:pt x="1356506" y="430212"/>
                </a:lnTo>
                <a:lnTo>
                  <a:pt x="1410856" y="446403"/>
                </a:lnTo>
                <a:lnTo>
                  <a:pt x="1421719" y="443761"/>
                </a:lnTo>
                <a:lnTo>
                  <a:pt x="1422669" y="443247"/>
                </a:lnTo>
                <a:lnTo>
                  <a:pt x="1423225" y="441379"/>
                </a:lnTo>
                <a:lnTo>
                  <a:pt x="1400811" y="441379"/>
                </a:lnTo>
                <a:lnTo>
                  <a:pt x="1384059" y="423511"/>
                </a:lnTo>
                <a:close/>
              </a:path>
              <a:path w="1438909" h="471170">
                <a:moveTo>
                  <a:pt x="1426662" y="427173"/>
                </a:moveTo>
                <a:lnTo>
                  <a:pt x="1427175" y="428122"/>
                </a:lnTo>
                <a:lnTo>
                  <a:pt x="1422669" y="443247"/>
                </a:lnTo>
                <a:lnTo>
                  <a:pt x="1421719" y="443761"/>
                </a:lnTo>
                <a:lnTo>
                  <a:pt x="1438409" y="439703"/>
                </a:lnTo>
                <a:lnTo>
                  <a:pt x="1426662" y="427173"/>
                </a:lnTo>
                <a:close/>
              </a:path>
              <a:path w="1438909" h="471170">
                <a:moveTo>
                  <a:pt x="1407858" y="417724"/>
                </a:moveTo>
                <a:lnTo>
                  <a:pt x="1384059" y="423511"/>
                </a:lnTo>
                <a:lnTo>
                  <a:pt x="1400811" y="441379"/>
                </a:lnTo>
                <a:lnTo>
                  <a:pt x="1407858" y="417724"/>
                </a:lnTo>
                <a:close/>
              </a:path>
              <a:path w="1438909" h="471170">
                <a:moveTo>
                  <a:pt x="1414677" y="417724"/>
                </a:moveTo>
                <a:lnTo>
                  <a:pt x="1407858" y="417724"/>
                </a:lnTo>
                <a:lnTo>
                  <a:pt x="1400811" y="441379"/>
                </a:lnTo>
                <a:lnTo>
                  <a:pt x="1423225" y="441379"/>
                </a:lnTo>
                <a:lnTo>
                  <a:pt x="1427175" y="428122"/>
                </a:lnTo>
                <a:lnTo>
                  <a:pt x="1426662" y="427173"/>
                </a:lnTo>
                <a:lnTo>
                  <a:pt x="1419014" y="419016"/>
                </a:lnTo>
                <a:lnTo>
                  <a:pt x="1414677" y="417724"/>
                </a:lnTo>
                <a:close/>
              </a:path>
              <a:path w="1438909" h="471170">
                <a:moveTo>
                  <a:pt x="12462" y="0"/>
                </a:moveTo>
                <a:lnTo>
                  <a:pt x="4505" y="4304"/>
                </a:lnTo>
                <a:lnTo>
                  <a:pt x="0" y="19429"/>
                </a:lnTo>
                <a:lnTo>
                  <a:pt x="4304" y="27386"/>
                </a:lnTo>
                <a:lnTo>
                  <a:pt x="1356506" y="430212"/>
                </a:lnTo>
                <a:lnTo>
                  <a:pt x="1384059" y="423511"/>
                </a:lnTo>
                <a:lnTo>
                  <a:pt x="1364664" y="402825"/>
                </a:lnTo>
                <a:lnTo>
                  <a:pt x="12462" y="0"/>
                </a:lnTo>
                <a:close/>
              </a:path>
              <a:path w="1438909" h="471170">
                <a:moveTo>
                  <a:pt x="1419014" y="419016"/>
                </a:moveTo>
                <a:lnTo>
                  <a:pt x="1426662" y="427173"/>
                </a:lnTo>
                <a:lnTo>
                  <a:pt x="1422871" y="420165"/>
                </a:lnTo>
                <a:lnTo>
                  <a:pt x="1419014" y="419016"/>
                </a:lnTo>
                <a:close/>
              </a:path>
              <a:path w="1438909" h="471170">
                <a:moveTo>
                  <a:pt x="1364664" y="402825"/>
                </a:moveTo>
                <a:lnTo>
                  <a:pt x="1384059" y="423511"/>
                </a:lnTo>
                <a:lnTo>
                  <a:pt x="1407858" y="417724"/>
                </a:lnTo>
                <a:lnTo>
                  <a:pt x="1414677" y="417724"/>
                </a:lnTo>
                <a:lnTo>
                  <a:pt x="1364664" y="402825"/>
                </a:lnTo>
                <a:close/>
              </a:path>
              <a:path w="1438909" h="471170">
                <a:moveTo>
                  <a:pt x="1339338" y="343387"/>
                </a:moveTo>
                <a:lnTo>
                  <a:pt x="1327825" y="354181"/>
                </a:lnTo>
                <a:lnTo>
                  <a:pt x="1327534" y="363223"/>
                </a:lnTo>
                <a:lnTo>
                  <a:pt x="1364664" y="402825"/>
                </a:lnTo>
                <a:lnTo>
                  <a:pt x="1419014" y="419016"/>
                </a:lnTo>
                <a:lnTo>
                  <a:pt x="1348380" y="343678"/>
                </a:lnTo>
                <a:lnTo>
                  <a:pt x="1339338" y="343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3"/>
              </a:rPr>
              <a:t>http://cs224w.stanford.edu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50520"/>
            <a:ext cx="7010400" cy="548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57859" y="1447801"/>
            <a:ext cx="6628279" cy="48291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4424"/>
            <a:ext cx="7010400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8200" y="1502633"/>
            <a:ext cx="3200400" cy="40599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84167" y="1752600"/>
            <a:ext cx="3276599" cy="36310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78939" y="5821171"/>
            <a:ext cx="1212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8000"/>
                </a:solidFill>
                <a:latin typeface="Corbel"/>
                <a:cs typeface="Corbel"/>
              </a:rPr>
              <a:t>Citations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37844" y="5885179"/>
            <a:ext cx="3978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8000"/>
                </a:solidFill>
                <a:latin typeface="Corbel"/>
                <a:cs typeface="Corbel"/>
              </a:rPr>
              <a:t>References </a:t>
            </a:r>
            <a:r>
              <a:rPr dirty="0" sz="2400" b="1">
                <a:solidFill>
                  <a:srgbClr val="008000"/>
                </a:solidFill>
                <a:latin typeface="Corbel"/>
                <a:cs typeface="Corbel"/>
              </a:rPr>
              <a:t>in an</a:t>
            </a:r>
            <a:r>
              <a:rPr dirty="0" sz="2400" spc="-25" b="1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2400" spc="-5" b="1">
                <a:solidFill>
                  <a:srgbClr val="008000"/>
                </a:solidFill>
                <a:latin typeface="Corbel"/>
                <a:cs typeface="Corbel"/>
              </a:rPr>
              <a:t>Encyclopedia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601711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62102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How </a:t>
            </a:r>
            <a:r>
              <a:rPr dirty="0"/>
              <a:t>is </a:t>
            </a:r>
            <a:r>
              <a:rPr dirty="0" spc="-5"/>
              <a:t>the </a:t>
            </a:r>
            <a:r>
              <a:rPr dirty="0" spc="-40"/>
              <a:t>Web </a:t>
            </a:r>
            <a:r>
              <a:rPr dirty="0" spc="-20"/>
              <a:t>linked?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What </a:t>
            </a:r>
            <a:r>
              <a:rPr dirty="0"/>
              <a:t>is </a:t>
            </a:r>
            <a:r>
              <a:rPr dirty="0" spc="-5"/>
              <a:t>the “map” </a:t>
            </a:r>
            <a:r>
              <a:rPr dirty="0"/>
              <a:t>of </a:t>
            </a:r>
            <a:r>
              <a:rPr dirty="0" spc="-5"/>
              <a:t>the</a:t>
            </a:r>
            <a:r>
              <a:rPr dirty="0" spc="-45"/>
              <a:t> </a:t>
            </a:r>
            <a:r>
              <a:rPr dirty="0" spc="-35"/>
              <a:t>Web?</a:t>
            </a:r>
          </a:p>
        </p:txBody>
      </p:sp>
      <p:sp>
        <p:nvSpPr>
          <p:cNvPr id="4" name="object 4"/>
          <p:cNvSpPr/>
          <p:nvPr/>
        </p:nvSpPr>
        <p:spPr>
          <a:xfrm>
            <a:off x="1876148" y="4315035"/>
            <a:ext cx="884555" cy="797560"/>
          </a:xfrm>
          <a:custGeom>
            <a:avLst/>
            <a:gdLst/>
            <a:ahLst/>
            <a:cxnLst/>
            <a:rect l="l" t="t" r="r" b="b"/>
            <a:pathLst>
              <a:path w="884555" h="797560">
                <a:moveTo>
                  <a:pt x="878859" y="780726"/>
                </a:moveTo>
                <a:lnTo>
                  <a:pt x="878916" y="781799"/>
                </a:lnTo>
                <a:lnTo>
                  <a:pt x="868359" y="793531"/>
                </a:lnTo>
                <a:lnTo>
                  <a:pt x="867283" y="793588"/>
                </a:lnTo>
                <a:lnTo>
                  <a:pt x="884097" y="797077"/>
                </a:lnTo>
                <a:lnTo>
                  <a:pt x="878859" y="780726"/>
                </a:lnTo>
                <a:close/>
              </a:path>
              <a:path w="884555" h="797560">
                <a:moveTo>
                  <a:pt x="856335" y="791316"/>
                </a:moveTo>
                <a:lnTo>
                  <a:pt x="859326" y="794007"/>
                </a:lnTo>
                <a:lnTo>
                  <a:pt x="867283" y="793588"/>
                </a:lnTo>
                <a:lnTo>
                  <a:pt x="856335" y="791316"/>
                </a:lnTo>
                <a:close/>
              </a:path>
              <a:path w="884555" h="797560">
                <a:moveTo>
                  <a:pt x="814177" y="753384"/>
                </a:moveTo>
                <a:lnTo>
                  <a:pt x="856335" y="791316"/>
                </a:lnTo>
                <a:lnTo>
                  <a:pt x="867283" y="793588"/>
                </a:lnTo>
                <a:lnTo>
                  <a:pt x="868359" y="793531"/>
                </a:lnTo>
                <a:lnTo>
                  <a:pt x="878312" y="782469"/>
                </a:lnTo>
                <a:lnTo>
                  <a:pt x="849412" y="782469"/>
                </a:lnTo>
                <a:lnTo>
                  <a:pt x="841940" y="759145"/>
                </a:lnTo>
                <a:lnTo>
                  <a:pt x="814177" y="753384"/>
                </a:lnTo>
                <a:close/>
              </a:path>
              <a:path w="884555" h="797560">
                <a:moveTo>
                  <a:pt x="761022" y="742353"/>
                </a:moveTo>
                <a:lnTo>
                  <a:pt x="753459" y="747316"/>
                </a:lnTo>
                <a:lnTo>
                  <a:pt x="750252" y="762769"/>
                </a:lnTo>
                <a:lnTo>
                  <a:pt x="755215" y="770332"/>
                </a:lnTo>
                <a:lnTo>
                  <a:pt x="856335" y="791316"/>
                </a:lnTo>
                <a:lnTo>
                  <a:pt x="814177" y="753384"/>
                </a:lnTo>
                <a:lnTo>
                  <a:pt x="761022" y="742353"/>
                </a:lnTo>
                <a:close/>
              </a:path>
              <a:path w="884555" h="797560">
                <a:moveTo>
                  <a:pt x="841940" y="759145"/>
                </a:moveTo>
                <a:lnTo>
                  <a:pt x="849412" y="782469"/>
                </a:lnTo>
                <a:lnTo>
                  <a:pt x="865921" y="764122"/>
                </a:lnTo>
                <a:lnTo>
                  <a:pt x="841940" y="759145"/>
                </a:lnTo>
                <a:close/>
              </a:path>
              <a:path w="884555" h="797560">
                <a:moveTo>
                  <a:pt x="833289" y="732141"/>
                </a:moveTo>
                <a:lnTo>
                  <a:pt x="841940" y="759145"/>
                </a:lnTo>
                <a:lnTo>
                  <a:pt x="865921" y="764122"/>
                </a:lnTo>
                <a:lnTo>
                  <a:pt x="849412" y="782469"/>
                </a:lnTo>
                <a:lnTo>
                  <a:pt x="878312" y="782469"/>
                </a:lnTo>
                <a:lnTo>
                  <a:pt x="878916" y="781799"/>
                </a:lnTo>
                <a:lnTo>
                  <a:pt x="878859" y="780726"/>
                </a:lnTo>
                <a:lnTo>
                  <a:pt x="875446" y="770073"/>
                </a:lnTo>
                <a:lnTo>
                  <a:pt x="833289" y="732141"/>
                </a:lnTo>
                <a:close/>
              </a:path>
              <a:path w="884555" h="797560">
                <a:moveTo>
                  <a:pt x="875446" y="770073"/>
                </a:moveTo>
                <a:lnTo>
                  <a:pt x="878859" y="780726"/>
                </a:lnTo>
                <a:lnTo>
                  <a:pt x="878438" y="772765"/>
                </a:lnTo>
                <a:lnTo>
                  <a:pt x="875446" y="770073"/>
                </a:lnTo>
                <a:close/>
              </a:path>
              <a:path w="884555" h="797560">
                <a:moveTo>
                  <a:pt x="835896" y="667584"/>
                </a:moveTo>
                <a:lnTo>
                  <a:pt x="820867" y="672400"/>
                </a:lnTo>
                <a:lnTo>
                  <a:pt x="816726" y="680443"/>
                </a:lnTo>
                <a:lnTo>
                  <a:pt x="833289" y="732141"/>
                </a:lnTo>
                <a:lnTo>
                  <a:pt x="875446" y="770073"/>
                </a:lnTo>
                <a:lnTo>
                  <a:pt x="843939" y="671724"/>
                </a:lnTo>
                <a:lnTo>
                  <a:pt x="835896" y="667584"/>
                </a:lnTo>
                <a:close/>
              </a:path>
              <a:path w="884555" h="797560">
                <a:moveTo>
                  <a:pt x="19589" y="0"/>
                </a:moveTo>
                <a:lnTo>
                  <a:pt x="10556" y="476"/>
                </a:lnTo>
                <a:lnTo>
                  <a:pt x="0" y="12208"/>
                </a:lnTo>
                <a:lnTo>
                  <a:pt x="476" y="21242"/>
                </a:lnTo>
                <a:lnTo>
                  <a:pt x="814177" y="753384"/>
                </a:lnTo>
                <a:lnTo>
                  <a:pt x="841940" y="759145"/>
                </a:lnTo>
                <a:lnTo>
                  <a:pt x="833289" y="732141"/>
                </a:lnTo>
                <a:lnTo>
                  <a:pt x="19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73256" y="4765059"/>
            <a:ext cx="771525" cy="363855"/>
          </a:xfrm>
          <a:custGeom>
            <a:avLst/>
            <a:gdLst/>
            <a:ahLst/>
            <a:cxnLst/>
            <a:rect l="l" t="t" r="r" b="b"/>
            <a:pathLst>
              <a:path w="771525" h="363854">
                <a:moveTo>
                  <a:pt x="690893" y="34542"/>
                </a:moveTo>
                <a:lnTo>
                  <a:pt x="3279" y="337110"/>
                </a:lnTo>
                <a:lnTo>
                  <a:pt x="0" y="345541"/>
                </a:lnTo>
                <a:lnTo>
                  <a:pt x="6356" y="359986"/>
                </a:lnTo>
                <a:lnTo>
                  <a:pt x="14787" y="363265"/>
                </a:lnTo>
                <a:lnTo>
                  <a:pt x="702400" y="60697"/>
                </a:lnTo>
                <a:lnTo>
                  <a:pt x="719065" y="37754"/>
                </a:lnTo>
                <a:lnTo>
                  <a:pt x="690893" y="34542"/>
                </a:lnTo>
                <a:close/>
              </a:path>
              <a:path w="771525" h="363854">
                <a:moveTo>
                  <a:pt x="754309" y="37856"/>
                </a:moveTo>
                <a:lnTo>
                  <a:pt x="702400" y="60697"/>
                </a:lnTo>
                <a:lnTo>
                  <a:pt x="670497" y="104620"/>
                </a:lnTo>
                <a:lnTo>
                  <a:pt x="671915" y="113554"/>
                </a:lnTo>
                <a:lnTo>
                  <a:pt x="684683" y="122829"/>
                </a:lnTo>
                <a:lnTo>
                  <a:pt x="693618" y="121413"/>
                </a:lnTo>
                <a:lnTo>
                  <a:pt x="754309" y="37856"/>
                </a:lnTo>
                <a:close/>
              </a:path>
              <a:path w="771525" h="363854">
                <a:moveTo>
                  <a:pt x="719065" y="37754"/>
                </a:moveTo>
                <a:lnTo>
                  <a:pt x="702400" y="60697"/>
                </a:lnTo>
                <a:lnTo>
                  <a:pt x="748234" y="40529"/>
                </a:lnTo>
                <a:lnTo>
                  <a:pt x="743400" y="40529"/>
                </a:lnTo>
                <a:lnTo>
                  <a:pt x="719065" y="37754"/>
                </a:lnTo>
                <a:close/>
              </a:path>
              <a:path w="771525" h="363854">
                <a:moveTo>
                  <a:pt x="733459" y="17937"/>
                </a:moveTo>
                <a:lnTo>
                  <a:pt x="719065" y="37754"/>
                </a:lnTo>
                <a:lnTo>
                  <a:pt x="743400" y="40529"/>
                </a:lnTo>
                <a:lnTo>
                  <a:pt x="733459" y="17937"/>
                </a:lnTo>
                <a:close/>
              </a:path>
              <a:path w="771525" h="363854">
                <a:moveTo>
                  <a:pt x="756933" y="17937"/>
                </a:moveTo>
                <a:lnTo>
                  <a:pt x="733459" y="17937"/>
                </a:lnTo>
                <a:lnTo>
                  <a:pt x="743400" y="40529"/>
                </a:lnTo>
                <a:lnTo>
                  <a:pt x="748234" y="40529"/>
                </a:lnTo>
                <a:lnTo>
                  <a:pt x="754309" y="37856"/>
                </a:lnTo>
                <a:lnTo>
                  <a:pt x="760886" y="28801"/>
                </a:lnTo>
                <a:lnTo>
                  <a:pt x="761274" y="27802"/>
                </a:lnTo>
                <a:lnTo>
                  <a:pt x="756933" y="17937"/>
                </a:lnTo>
                <a:close/>
              </a:path>
              <a:path w="771525" h="363854">
                <a:moveTo>
                  <a:pt x="760886" y="28801"/>
                </a:moveTo>
                <a:lnTo>
                  <a:pt x="754309" y="37856"/>
                </a:lnTo>
                <a:lnTo>
                  <a:pt x="757995" y="36234"/>
                </a:lnTo>
                <a:lnTo>
                  <a:pt x="760886" y="28801"/>
                </a:lnTo>
                <a:close/>
              </a:path>
              <a:path w="771525" h="363854">
                <a:moveTo>
                  <a:pt x="742802" y="11701"/>
                </a:moveTo>
                <a:lnTo>
                  <a:pt x="690893" y="34542"/>
                </a:lnTo>
                <a:lnTo>
                  <a:pt x="719065" y="37754"/>
                </a:lnTo>
                <a:lnTo>
                  <a:pt x="733459" y="17937"/>
                </a:lnTo>
                <a:lnTo>
                  <a:pt x="756933" y="17937"/>
                </a:lnTo>
                <a:lnTo>
                  <a:pt x="754918" y="13357"/>
                </a:lnTo>
                <a:lnTo>
                  <a:pt x="753917" y="12968"/>
                </a:lnTo>
                <a:lnTo>
                  <a:pt x="742802" y="11701"/>
                </a:lnTo>
                <a:close/>
              </a:path>
              <a:path w="771525" h="363854">
                <a:moveTo>
                  <a:pt x="640193" y="0"/>
                </a:moveTo>
                <a:lnTo>
                  <a:pt x="633112" y="5631"/>
                </a:lnTo>
                <a:lnTo>
                  <a:pt x="631324" y="21311"/>
                </a:lnTo>
                <a:lnTo>
                  <a:pt x="636955" y="28392"/>
                </a:lnTo>
                <a:lnTo>
                  <a:pt x="690893" y="34542"/>
                </a:lnTo>
                <a:lnTo>
                  <a:pt x="742802" y="11701"/>
                </a:lnTo>
                <a:lnTo>
                  <a:pt x="640193" y="0"/>
                </a:lnTo>
                <a:close/>
              </a:path>
              <a:path w="771525" h="363854">
                <a:moveTo>
                  <a:pt x="753917" y="12968"/>
                </a:moveTo>
                <a:lnTo>
                  <a:pt x="754918" y="13357"/>
                </a:lnTo>
                <a:lnTo>
                  <a:pt x="761274" y="27802"/>
                </a:lnTo>
                <a:lnTo>
                  <a:pt x="760886" y="28801"/>
                </a:lnTo>
                <a:lnTo>
                  <a:pt x="770973" y="14913"/>
                </a:lnTo>
                <a:lnTo>
                  <a:pt x="753917" y="12968"/>
                </a:lnTo>
                <a:close/>
              </a:path>
              <a:path w="771525" h="363854">
                <a:moveTo>
                  <a:pt x="746486" y="10079"/>
                </a:moveTo>
                <a:lnTo>
                  <a:pt x="742802" y="11701"/>
                </a:lnTo>
                <a:lnTo>
                  <a:pt x="753917" y="12968"/>
                </a:lnTo>
                <a:lnTo>
                  <a:pt x="746486" y="10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68146" y="4857129"/>
            <a:ext cx="132715" cy="509905"/>
          </a:xfrm>
          <a:custGeom>
            <a:avLst/>
            <a:gdLst/>
            <a:ahLst/>
            <a:cxnLst/>
            <a:rect l="l" t="t" r="r" b="b"/>
            <a:pathLst>
              <a:path w="132714" h="509904">
                <a:moveTo>
                  <a:pt x="57380" y="494815"/>
                </a:moveTo>
                <a:lnTo>
                  <a:pt x="65982" y="509664"/>
                </a:lnTo>
                <a:lnTo>
                  <a:pt x="74231" y="495621"/>
                </a:lnTo>
                <a:lnTo>
                  <a:pt x="58134" y="495574"/>
                </a:lnTo>
                <a:lnTo>
                  <a:pt x="57380" y="494815"/>
                </a:lnTo>
                <a:close/>
              </a:path>
              <a:path w="132714" h="509904">
                <a:moveTo>
                  <a:pt x="51937" y="428418"/>
                </a:moveTo>
                <a:lnTo>
                  <a:pt x="51818" y="485215"/>
                </a:lnTo>
                <a:lnTo>
                  <a:pt x="57380" y="494815"/>
                </a:lnTo>
                <a:lnTo>
                  <a:pt x="58134" y="495574"/>
                </a:lnTo>
                <a:lnTo>
                  <a:pt x="73915" y="495621"/>
                </a:lnTo>
                <a:lnTo>
                  <a:pt x="74674" y="494866"/>
                </a:lnTo>
                <a:lnTo>
                  <a:pt x="80343" y="485215"/>
                </a:lnTo>
                <a:lnTo>
                  <a:pt x="80376" y="474148"/>
                </a:lnTo>
                <a:lnTo>
                  <a:pt x="53747" y="474073"/>
                </a:lnTo>
                <a:lnTo>
                  <a:pt x="66152" y="452954"/>
                </a:lnTo>
                <a:lnTo>
                  <a:pt x="51937" y="428418"/>
                </a:lnTo>
                <a:close/>
              </a:path>
              <a:path w="132714" h="509904">
                <a:moveTo>
                  <a:pt x="74674" y="494866"/>
                </a:moveTo>
                <a:lnTo>
                  <a:pt x="73915" y="495621"/>
                </a:lnTo>
                <a:lnTo>
                  <a:pt x="74231" y="495621"/>
                </a:lnTo>
                <a:lnTo>
                  <a:pt x="74674" y="494866"/>
                </a:lnTo>
                <a:close/>
              </a:path>
              <a:path w="132714" h="509904">
                <a:moveTo>
                  <a:pt x="80343" y="485215"/>
                </a:moveTo>
                <a:lnTo>
                  <a:pt x="74674" y="494866"/>
                </a:lnTo>
                <a:lnTo>
                  <a:pt x="80331" y="489243"/>
                </a:lnTo>
                <a:lnTo>
                  <a:pt x="80343" y="485215"/>
                </a:lnTo>
                <a:close/>
              </a:path>
              <a:path w="132714" h="509904">
                <a:moveTo>
                  <a:pt x="51768" y="485129"/>
                </a:moveTo>
                <a:lnTo>
                  <a:pt x="51840" y="489243"/>
                </a:lnTo>
                <a:lnTo>
                  <a:pt x="57380" y="494815"/>
                </a:lnTo>
                <a:lnTo>
                  <a:pt x="51768" y="485129"/>
                </a:lnTo>
                <a:close/>
              </a:path>
              <a:path w="132714" h="509904">
                <a:moveTo>
                  <a:pt x="116761" y="379418"/>
                </a:moveTo>
                <a:lnTo>
                  <a:pt x="108007" y="381694"/>
                </a:lnTo>
                <a:lnTo>
                  <a:pt x="80563" y="428418"/>
                </a:lnTo>
                <a:lnTo>
                  <a:pt x="80439" y="452954"/>
                </a:lnTo>
                <a:lnTo>
                  <a:pt x="80343" y="485215"/>
                </a:lnTo>
                <a:lnTo>
                  <a:pt x="132646" y="396166"/>
                </a:lnTo>
                <a:lnTo>
                  <a:pt x="130369" y="387410"/>
                </a:lnTo>
                <a:lnTo>
                  <a:pt x="116761" y="379418"/>
                </a:lnTo>
                <a:close/>
              </a:path>
              <a:path w="132714" h="509904">
                <a:moveTo>
                  <a:pt x="15982" y="379117"/>
                </a:moveTo>
                <a:lnTo>
                  <a:pt x="2327" y="387028"/>
                </a:lnTo>
                <a:lnTo>
                  <a:pt x="0" y="395770"/>
                </a:lnTo>
                <a:lnTo>
                  <a:pt x="51768" y="485129"/>
                </a:lnTo>
                <a:lnTo>
                  <a:pt x="51937" y="428418"/>
                </a:lnTo>
                <a:lnTo>
                  <a:pt x="24725" y="381445"/>
                </a:lnTo>
                <a:lnTo>
                  <a:pt x="15982" y="379117"/>
                </a:lnTo>
                <a:close/>
              </a:path>
              <a:path w="132714" h="509904">
                <a:moveTo>
                  <a:pt x="66152" y="452954"/>
                </a:moveTo>
                <a:lnTo>
                  <a:pt x="53747" y="474073"/>
                </a:lnTo>
                <a:lnTo>
                  <a:pt x="78430" y="474148"/>
                </a:lnTo>
                <a:lnTo>
                  <a:pt x="66152" y="452954"/>
                </a:lnTo>
                <a:close/>
              </a:path>
              <a:path w="132714" h="509904">
                <a:moveTo>
                  <a:pt x="80512" y="428504"/>
                </a:moveTo>
                <a:lnTo>
                  <a:pt x="66152" y="452954"/>
                </a:lnTo>
                <a:lnTo>
                  <a:pt x="78430" y="474148"/>
                </a:lnTo>
                <a:lnTo>
                  <a:pt x="80376" y="474148"/>
                </a:lnTo>
                <a:lnTo>
                  <a:pt x="80512" y="428504"/>
                </a:lnTo>
                <a:close/>
              </a:path>
              <a:path w="132714" h="509904">
                <a:moveTo>
                  <a:pt x="59616" y="0"/>
                </a:moveTo>
                <a:lnTo>
                  <a:pt x="53200" y="6377"/>
                </a:lnTo>
                <a:lnTo>
                  <a:pt x="52085" y="379117"/>
                </a:lnTo>
                <a:lnTo>
                  <a:pt x="51987" y="428504"/>
                </a:lnTo>
                <a:lnTo>
                  <a:pt x="66152" y="452954"/>
                </a:lnTo>
                <a:lnTo>
                  <a:pt x="80512" y="428504"/>
                </a:lnTo>
                <a:lnTo>
                  <a:pt x="81751" y="14268"/>
                </a:lnTo>
                <a:lnTo>
                  <a:pt x="81690" y="6377"/>
                </a:lnTo>
                <a:lnTo>
                  <a:pt x="75397" y="46"/>
                </a:lnTo>
                <a:lnTo>
                  <a:pt x="596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89449" y="5209078"/>
            <a:ext cx="769620" cy="265430"/>
          </a:xfrm>
          <a:custGeom>
            <a:avLst/>
            <a:gdLst/>
            <a:ahLst/>
            <a:cxnLst/>
            <a:rect l="l" t="t" r="r" b="b"/>
            <a:pathLst>
              <a:path w="769620" h="265429">
                <a:moveTo>
                  <a:pt x="81988" y="41017"/>
                </a:moveTo>
                <a:lnTo>
                  <a:pt x="54498" y="47973"/>
                </a:lnTo>
                <a:lnTo>
                  <a:pt x="74083" y="68477"/>
                </a:lnTo>
                <a:lnTo>
                  <a:pt x="756870" y="265002"/>
                </a:lnTo>
                <a:lnTo>
                  <a:pt x="764786" y="260624"/>
                </a:lnTo>
                <a:lnTo>
                  <a:pt x="769152" y="245457"/>
                </a:lnTo>
                <a:lnTo>
                  <a:pt x="764773" y="237540"/>
                </a:lnTo>
                <a:lnTo>
                  <a:pt x="81988" y="41017"/>
                </a:lnTo>
                <a:close/>
              </a:path>
              <a:path w="769620" h="265429">
                <a:moveTo>
                  <a:pt x="19584" y="52791"/>
                </a:moveTo>
                <a:lnTo>
                  <a:pt x="90916" y="127471"/>
                </a:lnTo>
                <a:lnTo>
                  <a:pt x="99960" y="127679"/>
                </a:lnTo>
                <a:lnTo>
                  <a:pt x="111372" y="116779"/>
                </a:lnTo>
                <a:lnTo>
                  <a:pt x="111579" y="107734"/>
                </a:lnTo>
                <a:lnTo>
                  <a:pt x="74083" y="68477"/>
                </a:lnTo>
                <a:lnTo>
                  <a:pt x="19584" y="52791"/>
                </a:lnTo>
                <a:close/>
              </a:path>
              <a:path w="769620" h="265429">
                <a:moveTo>
                  <a:pt x="27489" y="25331"/>
                </a:moveTo>
                <a:lnTo>
                  <a:pt x="16637" y="28077"/>
                </a:lnTo>
                <a:lnTo>
                  <a:pt x="15701" y="28595"/>
                </a:lnTo>
                <a:lnTo>
                  <a:pt x="11336" y="43761"/>
                </a:lnTo>
                <a:lnTo>
                  <a:pt x="11853" y="44697"/>
                </a:lnTo>
                <a:lnTo>
                  <a:pt x="19584" y="52791"/>
                </a:lnTo>
                <a:lnTo>
                  <a:pt x="74083" y="68477"/>
                </a:lnTo>
                <a:lnTo>
                  <a:pt x="60236" y="53981"/>
                </a:lnTo>
                <a:lnTo>
                  <a:pt x="30753" y="53981"/>
                </a:lnTo>
                <a:lnTo>
                  <a:pt x="37580" y="30261"/>
                </a:lnTo>
                <a:lnTo>
                  <a:pt x="44616" y="30261"/>
                </a:lnTo>
                <a:lnTo>
                  <a:pt x="27489" y="25331"/>
                </a:lnTo>
                <a:close/>
              </a:path>
              <a:path w="769620" h="265429">
                <a:moveTo>
                  <a:pt x="37580" y="30261"/>
                </a:moveTo>
                <a:lnTo>
                  <a:pt x="30753" y="53981"/>
                </a:lnTo>
                <a:lnTo>
                  <a:pt x="54498" y="47973"/>
                </a:lnTo>
                <a:lnTo>
                  <a:pt x="37580" y="30261"/>
                </a:lnTo>
                <a:close/>
              </a:path>
              <a:path w="769620" h="265429">
                <a:moveTo>
                  <a:pt x="54498" y="47973"/>
                </a:moveTo>
                <a:lnTo>
                  <a:pt x="30753" y="53981"/>
                </a:lnTo>
                <a:lnTo>
                  <a:pt x="60236" y="53981"/>
                </a:lnTo>
                <a:lnTo>
                  <a:pt x="54498" y="47973"/>
                </a:lnTo>
                <a:close/>
              </a:path>
              <a:path w="769620" h="265429">
                <a:moveTo>
                  <a:pt x="11853" y="44697"/>
                </a:moveTo>
                <a:lnTo>
                  <a:pt x="15713" y="51677"/>
                </a:lnTo>
                <a:lnTo>
                  <a:pt x="19584" y="52791"/>
                </a:lnTo>
                <a:lnTo>
                  <a:pt x="11853" y="44697"/>
                </a:lnTo>
                <a:close/>
              </a:path>
              <a:path w="769620" h="265429">
                <a:moveTo>
                  <a:pt x="44616" y="30261"/>
                </a:moveTo>
                <a:lnTo>
                  <a:pt x="37580" y="30261"/>
                </a:lnTo>
                <a:lnTo>
                  <a:pt x="54498" y="47973"/>
                </a:lnTo>
                <a:lnTo>
                  <a:pt x="81988" y="41017"/>
                </a:lnTo>
                <a:lnTo>
                  <a:pt x="44616" y="30261"/>
                </a:lnTo>
                <a:close/>
              </a:path>
              <a:path w="769620" h="265429">
                <a:moveTo>
                  <a:pt x="16637" y="28077"/>
                </a:moveTo>
                <a:lnTo>
                  <a:pt x="0" y="32287"/>
                </a:lnTo>
                <a:lnTo>
                  <a:pt x="11853" y="44697"/>
                </a:lnTo>
                <a:lnTo>
                  <a:pt x="11336" y="43761"/>
                </a:lnTo>
                <a:lnTo>
                  <a:pt x="15701" y="28595"/>
                </a:lnTo>
                <a:lnTo>
                  <a:pt x="16637" y="28077"/>
                </a:lnTo>
                <a:close/>
              </a:path>
              <a:path w="769620" h="265429">
                <a:moveTo>
                  <a:pt x="127605" y="0"/>
                </a:moveTo>
                <a:lnTo>
                  <a:pt x="27489" y="25331"/>
                </a:lnTo>
                <a:lnTo>
                  <a:pt x="81988" y="41017"/>
                </a:lnTo>
                <a:lnTo>
                  <a:pt x="134614" y="27702"/>
                </a:lnTo>
                <a:lnTo>
                  <a:pt x="139247" y="19931"/>
                </a:lnTo>
                <a:lnTo>
                  <a:pt x="135376" y="4631"/>
                </a:lnTo>
                <a:lnTo>
                  <a:pt x="127605" y="0"/>
                </a:lnTo>
                <a:close/>
              </a:path>
              <a:path w="769620" h="265429">
                <a:moveTo>
                  <a:pt x="23618" y="24217"/>
                </a:moveTo>
                <a:lnTo>
                  <a:pt x="16637" y="28077"/>
                </a:lnTo>
                <a:lnTo>
                  <a:pt x="27489" y="25331"/>
                </a:lnTo>
                <a:lnTo>
                  <a:pt x="23618" y="242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8108" y="2433247"/>
            <a:ext cx="7494270" cy="188976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3200" spc="-40" b="1">
                <a:solidFill>
                  <a:srgbClr val="0000FF"/>
                </a:solidFill>
                <a:latin typeface="Calibri"/>
                <a:cs typeface="Calibri"/>
              </a:rPr>
              <a:t>Web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as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200" spc="-15" b="1" u="heavy">
                <a:solidFill>
                  <a:srgbClr val="0000FF"/>
                </a:solidFill>
                <a:latin typeface="Calibri"/>
                <a:cs typeface="Calibri"/>
              </a:rPr>
              <a:t>directed </a:t>
            </a:r>
            <a:r>
              <a:rPr dirty="0" sz="3200" spc="-20" b="1" u="heavy">
                <a:solidFill>
                  <a:srgbClr val="0000FF"/>
                </a:solidFill>
                <a:latin typeface="Calibri"/>
                <a:cs typeface="Calibri"/>
              </a:rPr>
              <a:t>graph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7F7F7F"/>
                </a:solidFill>
                <a:latin typeface="Calibri"/>
                <a:cs typeface="Calibri"/>
              </a:rPr>
              <a:t>[Broder </a:t>
            </a:r>
            <a:r>
              <a:rPr dirty="0" sz="3200" spc="-15">
                <a:solidFill>
                  <a:srgbClr val="7F7F7F"/>
                </a:solidFill>
                <a:latin typeface="Calibri"/>
                <a:cs typeface="Calibri"/>
              </a:rPr>
              <a:t>et </a:t>
            </a:r>
            <a:r>
              <a:rPr dirty="0" sz="3200">
                <a:solidFill>
                  <a:srgbClr val="7F7F7F"/>
                </a:solidFill>
                <a:latin typeface="Calibri"/>
                <a:cs typeface="Calibri"/>
              </a:rPr>
              <a:t>al.</a:t>
            </a:r>
            <a:r>
              <a:rPr dirty="0" sz="3200" spc="6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7F7F7F"/>
                </a:solidFill>
                <a:latin typeface="Calibri"/>
                <a:cs typeface="Calibri"/>
              </a:rPr>
              <a:t>2000]:</a:t>
            </a:r>
            <a:endParaRPr sz="32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5" b="1" i="1">
                <a:latin typeface="Times New Roman"/>
                <a:cs typeface="Times New Roman"/>
              </a:rPr>
              <a:t>v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0">
                <a:latin typeface="Calibri"/>
                <a:cs typeface="Calibri"/>
              </a:rPr>
              <a:t>what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b="1" i="1">
                <a:latin typeface="Times New Roman"/>
                <a:cs typeface="Times New Roman"/>
              </a:rPr>
              <a:t>v</a:t>
            </a:r>
            <a:r>
              <a:rPr dirty="0" sz="2800" spc="-60" b="1" i="1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Calibri"/>
                <a:cs typeface="Calibri"/>
              </a:rPr>
              <a:t>reach?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What </a:t>
            </a:r>
            <a:r>
              <a:rPr dirty="0" sz="2800" spc="-5">
                <a:latin typeface="Calibri"/>
                <a:cs typeface="Calibri"/>
              </a:rPr>
              <a:t>other nodes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15">
                <a:latin typeface="Calibri"/>
                <a:cs typeface="Calibri"/>
              </a:rPr>
              <a:t>reach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v</a:t>
            </a:r>
            <a:r>
              <a:rPr dirty="0" sz="2800" spc="-5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  <a:p>
            <a:pPr marL="977265">
              <a:lnSpc>
                <a:spcPct val="100000"/>
              </a:lnSpc>
              <a:spcBef>
                <a:spcPts val="420"/>
              </a:spcBef>
            </a:pPr>
            <a:r>
              <a:rPr dirty="0" sz="1200" b="1"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58067" y="5525515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7514" y="4809235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9600" y="4412996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25504" y="5420586"/>
            <a:ext cx="730885" cy="227329"/>
          </a:xfrm>
          <a:custGeom>
            <a:avLst/>
            <a:gdLst/>
            <a:ahLst/>
            <a:cxnLst/>
            <a:rect l="l" t="t" r="r" b="b"/>
            <a:pathLst>
              <a:path w="730885" h="227329">
                <a:moveTo>
                  <a:pt x="82280" y="42879"/>
                </a:moveTo>
                <a:lnTo>
                  <a:pt x="55103" y="50972"/>
                </a:lnTo>
                <a:lnTo>
                  <a:pt x="75525" y="70645"/>
                </a:lnTo>
                <a:lnTo>
                  <a:pt x="719096" y="227221"/>
                </a:lnTo>
                <a:lnTo>
                  <a:pt x="726823" y="222518"/>
                </a:lnTo>
                <a:lnTo>
                  <a:pt x="730554" y="207184"/>
                </a:lnTo>
                <a:lnTo>
                  <a:pt x="725851" y="199456"/>
                </a:lnTo>
                <a:lnTo>
                  <a:pt x="82280" y="42879"/>
                </a:lnTo>
                <a:close/>
              </a:path>
              <a:path w="730885" h="227329">
                <a:moveTo>
                  <a:pt x="20420" y="57238"/>
                </a:moveTo>
                <a:lnTo>
                  <a:pt x="94796" y="128887"/>
                </a:lnTo>
                <a:lnTo>
                  <a:pt x="103841" y="128718"/>
                </a:lnTo>
                <a:lnTo>
                  <a:pt x="114790" y="117353"/>
                </a:lnTo>
                <a:lnTo>
                  <a:pt x="114621" y="108308"/>
                </a:lnTo>
                <a:lnTo>
                  <a:pt x="75525" y="70645"/>
                </a:lnTo>
                <a:lnTo>
                  <a:pt x="20420" y="57238"/>
                </a:lnTo>
                <a:close/>
              </a:path>
              <a:path w="730885" h="227329">
                <a:moveTo>
                  <a:pt x="27178" y="29473"/>
                </a:moveTo>
                <a:lnTo>
                  <a:pt x="16444" y="32669"/>
                </a:lnTo>
                <a:lnTo>
                  <a:pt x="15533" y="33224"/>
                </a:lnTo>
                <a:lnTo>
                  <a:pt x="11803" y="48558"/>
                </a:lnTo>
                <a:lnTo>
                  <a:pt x="12360" y="49474"/>
                </a:lnTo>
                <a:lnTo>
                  <a:pt x="20420" y="57238"/>
                </a:lnTo>
                <a:lnTo>
                  <a:pt x="75525" y="70645"/>
                </a:lnTo>
                <a:lnTo>
                  <a:pt x="62360" y="57962"/>
                </a:lnTo>
                <a:lnTo>
                  <a:pt x="31629" y="57962"/>
                </a:lnTo>
                <a:lnTo>
                  <a:pt x="37464" y="33980"/>
                </a:lnTo>
                <a:lnTo>
                  <a:pt x="45702" y="33980"/>
                </a:lnTo>
                <a:lnTo>
                  <a:pt x="27178" y="29473"/>
                </a:lnTo>
                <a:close/>
              </a:path>
              <a:path w="730885" h="227329">
                <a:moveTo>
                  <a:pt x="37464" y="33980"/>
                </a:moveTo>
                <a:lnTo>
                  <a:pt x="31629" y="57962"/>
                </a:lnTo>
                <a:lnTo>
                  <a:pt x="55103" y="50972"/>
                </a:lnTo>
                <a:lnTo>
                  <a:pt x="37464" y="33980"/>
                </a:lnTo>
                <a:close/>
              </a:path>
              <a:path w="730885" h="227329">
                <a:moveTo>
                  <a:pt x="55103" y="50972"/>
                </a:moveTo>
                <a:lnTo>
                  <a:pt x="31629" y="57962"/>
                </a:lnTo>
                <a:lnTo>
                  <a:pt x="62360" y="57962"/>
                </a:lnTo>
                <a:lnTo>
                  <a:pt x="55103" y="50972"/>
                </a:lnTo>
                <a:close/>
              </a:path>
              <a:path w="730885" h="227329">
                <a:moveTo>
                  <a:pt x="12360" y="49474"/>
                </a:moveTo>
                <a:lnTo>
                  <a:pt x="16506" y="56286"/>
                </a:lnTo>
                <a:lnTo>
                  <a:pt x="20420" y="57238"/>
                </a:lnTo>
                <a:lnTo>
                  <a:pt x="12360" y="49474"/>
                </a:lnTo>
                <a:close/>
              </a:path>
              <a:path w="730885" h="227329">
                <a:moveTo>
                  <a:pt x="45702" y="33980"/>
                </a:moveTo>
                <a:lnTo>
                  <a:pt x="37464" y="33980"/>
                </a:lnTo>
                <a:lnTo>
                  <a:pt x="55103" y="50972"/>
                </a:lnTo>
                <a:lnTo>
                  <a:pt x="82280" y="42879"/>
                </a:lnTo>
                <a:lnTo>
                  <a:pt x="45702" y="33980"/>
                </a:lnTo>
                <a:close/>
              </a:path>
              <a:path w="730885" h="227329">
                <a:moveTo>
                  <a:pt x="16444" y="32669"/>
                </a:moveTo>
                <a:lnTo>
                  <a:pt x="0" y="37566"/>
                </a:lnTo>
                <a:lnTo>
                  <a:pt x="12360" y="49474"/>
                </a:lnTo>
                <a:lnTo>
                  <a:pt x="11803" y="48558"/>
                </a:lnTo>
                <a:lnTo>
                  <a:pt x="15533" y="33224"/>
                </a:lnTo>
                <a:lnTo>
                  <a:pt x="16444" y="32669"/>
                </a:lnTo>
                <a:close/>
              </a:path>
              <a:path w="730885" h="227329">
                <a:moveTo>
                  <a:pt x="126154" y="0"/>
                </a:moveTo>
                <a:lnTo>
                  <a:pt x="27178" y="29473"/>
                </a:lnTo>
                <a:lnTo>
                  <a:pt x="82280" y="42879"/>
                </a:lnTo>
                <a:lnTo>
                  <a:pt x="134308" y="27386"/>
                </a:lnTo>
                <a:lnTo>
                  <a:pt x="138614" y="19430"/>
                </a:lnTo>
                <a:lnTo>
                  <a:pt x="134110" y="4305"/>
                </a:lnTo>
                <a:lnTo>
                  <a:pt x="126154" y="0"/>
                </a:lnTo>
                <a:close/>
              </a:path>
              <a:path w="730885" h="227329">
                <a:moveTo>
                  <a:pt x="23261" y="28520"/>
                </a:moveTo>
                <a:lnTo>
                  <a:pt x="16444" y="32669"/>
                </a:lnTo>
                <a:lnTo>
                  <a:pt x="27178" y="29473"/>
                </a:lnTo>
                <a:lnTo>
                  <a:pt x="23261" y="28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10906" y="4464503"/>
            <a:ext cx="803275" cy="332105"/>
          </a:xfrm>
          <a:custGeom>
            <a:avLst/>
            <a:gdLst/>
            <a:ahLst/>
            <a:cxnLst/>
            <a:rect l="l" t="t" r="r" b="b"/>
            <a:pathLst>
              <a:path w="803275" h="332104">
                <a:moveTo>
                  <a:pt x="721802" y="37422"/>
                </a:moveTo>
                <a:lnTo>
                  <a:pt x="3761" y="304862"/>
                </a:lnTo>
                <a:lnTo>
                  <a:pt x="0" y="313089"/>
                </a:lnTo>
                <a:lnTo>
                  <a:pt x="5507" y="327877"/>
                </a:lnTo>
                <a:lnTo>
                  <a:pt x="13735" y="331640"/>
                </a:lnTo>
                <a:lnTo>
                  <a:pt x="731774" y="64200"/>
                </a:lnTo>
                <a:lnTo>
                  <a:pt x="749741" y="42261"/>
                </a:lnTo>
                <a:lnTo>
                  <a:pt x="721802" y="37422"/>
                </a:lnTo>
                <a:close/>
              </a:path>
              <a:path w="803275" h="332104">
                <a:moveTo>
                  <a:pt x="784919" y="44406"/>
                </a:moveTo>
                <a:lnTo>
                  <a:pt x="731774" y="64200"/>
                </a:lnTo>
                <a:lnTo>
                  <a:pt x="697379" y="106199"/>
                </a:lnTo>
                <a:lnTo>
                  <a:pt x="698276" y="115201"/>
                </a:lnTo>
                <a:lnTo>
                  <a:pt x="710484" y="125200"/>
                </a:lnTo>
                <a:lnTo>
                  <a:pt x="719488" y="124305"/>
                </a:lnTo>
                <a:lnTo>
                  <a:pt x="784919" y="44406"/>
                </a:lnTo>
                <a:close/>
              </a:path>
              <a:path w="803275" h="332104">
                <a:moveTo>
                  <a:pt x="749741" y="42261"/>
                </a:moveTo>
                <a:lnTo>
                  <a:pt x="731774" y="64200"/>
                </a:lnTo>
                <a:lnTo>
                  <a:pt x="779452" y="46442"/>
                </a:lnTo>
                <a:lnTo>
                  <a:pt x="773874" y="46442"/>
                </a:lnTo>
                <a:lnTo>
                  <a:pt x="749741" y="42261"/>
                </a:lnTo>
                <a:close/>
              </a:path>
              <a:path w="803275" h="332104">
                <a:moveTo>
                  <a:pt x="765258" y="23313"/>
                </a:moveTo>
                <a:lnTo>
                  <a:pt x="749741" y="42261"/>
                </a:lnTo>
                <a:lnTo>
                  <a:pt x="773874" y="46442"/>
                </a:lnTo>
                <a:lnTo>
                  <a:pt x="765258" y="23313"/>
                </a:lnTo>
                <a:close/>
              </a:path>
              <a:path w="803275" h="332104">
                <a:moveTo>
                  <a:pt x="788190" y="23313"/>
                </a:moveTo>
                <a:lnTo>
                  <a:pt x="765258" y="23313"/>
                </a:lnTo>
                <a:lnTo>
                  <a:pt x="773874" y="46442"/>
                </a:lnTo>
                <a:lnTo>
                  <a:pt x="779452" y="46442"/>
                </a:lnTo>
                <a:lnTo>
                  <a:pt x="784919" y="44406"/>
                </a:lnTo>
                <a:lnTo>
                  <a:pt x="792015" y="35742"/>
                </a:lnTo>
                <a:lnTo>
                  <a:pt x="792458" y="34772"/>
                </a:lnTo>
                <a:lnTo>
                  <a:pt x="788190" y="23313"/>
                </a:lnTo>
                <a:close/>
              </a:path>
              <a:path w="803275" h="332104">
                <a:moveTo>
                  <a:pt x="792015" y="35742"/>
                </a:moveTo>
                <a:lnTo>
                  <a:pt x="784919" y="44406"/>
                </a:lnTo>
                <a:lnTo>
                  <a:pt x="788696" y="42999"/>
                </a:lnTo>
                <a:lnTo>
                  <a:pt x="792015" y="35742"/>
                </a:lnTo>
                <a:close/>
              </a:path>
              <a:path w="803275" h="332104">
                <a:moveTo>
                  <a:pt x="774946" y="17628"/>
                </a:moveTo>
                <a:lnTo>
                  <a:pt x="721802" y="37422"/>
                </a:lnTo>
                <a:lnTo>
                  <a:pt x="749741" y="42261"/>
                </a:lnTo>
                <a:lnTo>
                  <a:pt x="765258" y="23313"/>
                </a:lnTo>
                <a:lnTo>
                  <a:pt x="788190" y="23313"/>
                </a:lnTo>
                <a:lnTo>
                  <a:pt x="786950" y="19983"/>
                </a:lnTo>
                <a:lnTo>
                  <a:pt x="785981" y="19540"/>
                </a:lnTo>
                <a:lnTo>
                  <a:pt x="774946" y="17628"/>
                </a:lnTo>
                <a:close/>
              </a:path>
              <a:path w="803275" h="332104">
                <a:moveTo>
                  <a:pt x="673188" y="0"/>
                </a:moveTo>
                <a:lnTo>
                  <a:pt x="665794" y="5210"/>
                </a:lnTo>
                <a:lnTo>
                  <a:pt x="663101" y="20760"/>
                </a:lnTo>
                <a:lnTo>
                  <a:pt x="668312" y="28155"/>
                </a:lnTo>
                <a:lnTo>
                  <a:pt x="721802" y="37422"/>
                </a:lnTo>
                <a:lnTo>
                  <a:pt x="774946" y="17628"/>
                </a:lnTo>
                <a:lnTo>
                  <a:pt x="673188" y="0"/>
                </a:lnTo>
                <a:close/>
              </a:path>
              <a:path w="803275" h="332104">
                <a:moveTo>
                  <a:pt x="785981" y="19540"/>
                </a:moveTo>
                <a:lnTo>
                  <a:pt x="786950" y="19983"/>
                </a:lnTo>
                <a:lnTo>
                  <a:pt x="792458" y="34772"/>
                </a:lnTo>
                <a:lnTo>
                  <a:pt x="792015" y="35742"/>
                </a:lnTo>
                <a:lnTo>
                  <a:pt x="802885" y="22468"/>
                </a:lnTo>
                <a:lnTo>
                  <a:pt x="785981" y="19540"/>
                </a:lnTo>
                <a:close/>
              </a:path>
              <a:path w="803275" h="332104">
                <a:moveTo>
                  <a:pt x="778723" y="16221"/>
                </a:moveTo>
                <a:lnTo>
                  <a:pt x="774946" y="17628"/>
                </a:lnTo>
                <a:lnTo>
                  <a:pt x="785981" y="19540"/>
                </a:lnTo>
                <a:lnTo>
                  <a:pt x="778723" y="162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36902" y="5225219"/>
            <a:ext cx="839469" cy="353695"/>
          </a:xfrm>
          <a:custGeom>
            <a:avLst/>
            <a:gdLst/>
            <a:ahLst/>
            <a:cxnLst/>
            <a:rect l="l" t="t" r="r" b="b"/>
            <a:pathLst>
              <a:path w="839469" h="353695">
                <a:moveTo>
                  <a:pt x="80933" y="316297"/>
                </a:moveTo>
                <a:lnTo>
                  <a:pt x="27986" y="336612"/>
                </a:lnTo>
                <a:lnTo>
                  <a:pt x="129909" y="353240"/>
                </a:lnTo>
                <a:lnTo>
                  <a:pt x="137252" y="347957"/>
                </a:lnTo>
                <a:lnTo>
                  <a:pt x="139793" y="332381"/>
                </a:lnTo>
                <a:lnTo>
                  <a:pt x="134510" y="325038"/>
                </a:lnTo>
                <a:lnTo>
                  <a:pt x="80933" y="316297"/>
                </a:lnTo>
                <a:close/>
              </a:path>
              <a:path w="839469" h="353695">
                <a:moveTo>
                  <a:pt x="16936" y="334809"/>
                </a:moveTo>
                <a:lnTo>
                  <a:pt x="24223" y="338056"/>
                </a:lnTo>
                <a:lnTo>
                  <a:pt x="27986" y="336612"/>
                </a:lnTo>
                <a:lnTo>
                  <a:pt x="16936" y="334809"/>
                </a:lnTo>
                <a:close/>
              </a:path>
              <a:path w="839469" h="353695">
                <a:moveTo>
                  <a:pt x="70697" y="289618"/>
                </a:moveTo>
                <a:lnTo>
                  <a:pt x="17749" y="309934"/>
                </a:lnTo>
                <a:lnTo>
                  <a:pt x="10743" y="318662"/>
                </a:lnTo>
                <a:lnTo>
                  <a:pt x="10307" y="319641"/>
                </a:lnTo>
                <a:lnTo>
                  <a:pt x="15960" y="334374"/>
                </a:lnTo>
                <a:lnTo>
                  <a:pt x="16936" y="334809"/>
                </a:lnTo>
                <a:lnTo>
                  <a:pt x="27986" y="336612"/>
                </a:lnTo>
                <a:lnTo>
                  <a:pt x="43048" y="330833"/>
                </a:lnTo>
                <a:lnTo>
                  <a:pt x="37616" y="330833"/>
                </a:lnTo>
                <a:lnTo>
                  <a:pt x="28774" y="307788"/>
                </a:lnTo>
                <a:lnTo>
                  <a:pt x="56113" y="307788"/>
                </a:lnTo>
                <a:lnTo>
                  <a:pt x="70697" y="289618"/>
                </a:lnTo>
                <a:close/>
              </a:path>
              <a:path w="839469" h="353695">
                <a:moveTo>
                  <a:pt x="10743" y="318662"/>
                </a:moveTo>
                <a:lnTo>
                  <a:pt x="0" y="332046"/>
                </a:lnTo>
                <a:lnTo>
                  <a:pt x="16936" y="334809"/>
                </a:lnTo>
                <a:lnTo>
                  <a:pt x="15960" y="334374"/>
                </a:lnTo>
                <a:lnTo>
                  <a:pt x="10307" y="319641"/>
                </a:lnTo>
                <a:lnTo>
                  <a:pt x="10743" y="318662"/>
                </a:lnTo>
                <a:close/>
              </a:path>
              <a:path w="839469" h="353695">
                <a:moveTo>
                  <a:pt x="28774" y="307788"/>
                </a:moveTo>
                <a:lnTo>
                  <a:pt x="37616" y="330833"/>
                </a:lnTo>
                <a:lnTo>
                  <a:pt x="52948" y="311732"/>
                </a:lnTo>
                <a:lnTo>
                  <a:pt x="28774" y="307788"/>
                </a:lnTo>
                <a:close/>
              </a:path>
              <a:path w="839469" h="353695">
                <a:moveTo>
                  <a:pt x="52948" y="311732"/>
                </a:moveTo>
                <a:lnTo>
                  <a:pt x="37616" y="330833"/>
                </a:lnTo>
                <a:lnTo>
                  <a:pt x="43048" y="330833"/>
                </a:lnTo>
                <a:lnTo>
                  <a:pt x="80933" y="316297"/>
                </a:lnTo>
                <a:lnTo>
                  <a:pt x="52948" y="311732"/>
                </a:lnTo>
                <a:close/>
              </a:path>
              <a:path w="839469" h="353695">
                <a:moveTo>
                  <a:pt x="17749" y="309934"/>
                </a:moveTo>
                <a:lnTo>
                  <a:pt x="13987" y="311377"/>
                </a:lnTo>
                <a:lnTo>
                  <a:pt x="10743" y="318662"/>
                </a:lnTo>
                <a:lnTo>
                  <a:pt x="17749" y="309934"/>
                </a:lnTo>
                <a:close/>
              </a:path>
              <a:path w="839469" h="353695">
                <a:moveTo>
                  <a:pt x="825543" y="0"/>
                </a:moveTo>
                <a:lnTo>
                  <a:pt x="70697" y="289618"/>
                </a:lnTo>
                <a:lnTo>
                  <a:pt x="52948" y="311732"/>
                </a:lnTo>
                <a:lnTo>
                  <a:pt x="80933" y="316297"/>
                </a:lnTo>
                <a:lnTo>
                  <a:pt x="835779" y="26677"/>
                </a:lnTo>
                <a:lnTo>
                  <a:pt x="839459" y="18415"/>
                </a:lnTo>
                <a:lnTo>
                  <a:pt x="833807" y="3680"/>
                </a:lnTo>
                <a:lnTo>
                  <a:pt x="825543" y="0"/>
                </a:lnTo>
                <a:close/>
              </a:path>
              <a:path w="839469" h="353695">
                <a:moveTo>
                  <a:pt x="56113" y="307788"/>
                </a:moveTo>
                <a:lnTo>
                  <a:pt x="28774" y="307788"/>
                </a:lnTo>
                <a:lnTo>
                  <a:pt x="52948" y="311732"/>
                </a:lnTo>
                <a:lnTo>
                  <a:pt x="56113" y="307788"/>
                </a:lnTo>
                <a:close/>
              </a:path>
              <a:path w="839469" h="353695">
                <a:moveTo>
                  <a:pt x="91386" y="228412"/>
                </a:moveTo>
                <a:lnTo>
                  <a:pt x="82393" y="229396"/>
                </a:lnTo>
                <a:lnTo>
                  <a:pt x="17749" y="309934"/>
                </a:lnTo>
                <a:lnTo>
                  <a:pt x="70697" y="289618"/>
                </a:lnTo>
                <a:lnTo>
                  <a:pt x="104678" y="247282"/>
                </a:lnTo>
                <a:lnTo>
                  <a:pt x="103692" y="238291"/>
                </a:lnTo>
                <a:lnTo>
                  <a:pt x="91386" y="2284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729805" y="5485891"/>
            <a:ext cx="144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03440" y="4330700"/>
            <a:ext cx="118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1677" y="5473700"/>
            <a:ext cx="135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33414" y="50852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8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33414" y="50852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35949" y="417483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35949" y="417483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44169" y="468855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39" y="182879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644169" y="468855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42688" y="536672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1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1" y="156098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42688" y="536672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780866" y="553046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1" y="26781"/>
                </a:lnTo>
                <a:lnTo>
                  <a:pt x="7185" y="55846"/>
                </a:lnTo>
                <a:lnTo>
                  <a:pt x="0" y="91439"/>
                </a:lnTo>
                <a:lnTo>
                  <a:pt x="7185" y="127032"/>
                </a:lnTo>
                <a:lnTo>
                  <a:pt x="26781" y="156097"/>
                </a:lnTo>
                <a:lnTo>
                  <a:pt x="55847" y="175693"/>
                </a:lnTo>
                <a:lnTo>
                  <a:pt x="91440" y="182879"/>
                </a:lnTo>
                <a:lnTo>
                  <a:pt x="127032" y="175693"/>
                </a:lnTo>
                <a:lnTo>
                  <a:pt x="156097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6"/>
                </a:lnTo>
                <a:lnTo>
                  <a:pt x="156097" y="26781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780866" y="553046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13729" y="439555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79" y="91440"/>
                </a:lnTo>
                <a:lnTo>
                  <a:pt x="175694" y="55847"/>
                </a:lnTo>
                <a:lnTo>
                  <a:pt x="156098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613729" y="439555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540310" y="554061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1439" y="0"/>
                </a:moveTo>
                <a:lnTo>
                  <a:pt x="55847" y="7185"/>
                </a:lnTo>
                <a:lnTo>
                  <a:pt x="26782" y="26781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3"/>
                </a:lnTo>
                <a:lnTo>
                  <a:pt x="91439" y="182879"/>
                </a:lnTo>
                <a:lnTo>
                  <a:pt x="127032" y="175693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8" y="26781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40310" y="554061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0" y="3154362"/>
            <a:ext cx="3429000" cy="25606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47472"/>
            <a:ext cx="6982968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252365"/>
            <a:ext cx="7661275" cy="1120775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All </a:t>
            </a:r>
            <a:r>
              <a:rPr dirty="0" spc="-10"/>
              <a:t>web </a:t>
            </a:r>
            <a:r>
              <a:rPr dirty="0" spc="-15"/>
              <a:t>pages are </a:t>
            </a:r>
            <a:r>
              <a:rPr dirty="0" spc="-5"/>
              <a:t>not equally</a:t>
            </a:r>
            <a:r>
              <a:rPr dirty="0" spc="55"/>
              <a:t> </a:t>
            </a:r>
            <a:r>
              <a:rPr dirty="0" spc="-5"/>
              <a:t>“important”</a:t>
            </a:r>
          </a:p>
          <a:p>
            <a:pPr marL="350520">
              <a:lnSpc>
                <a:spcPct val="100000"/>
              </a:lnSpc>
              <a:spcBef>
                <a:spcPts val="660"/>
              </a:spcBef>
            </a:pPr>
            <a:r>
              <a:rPr dirty="0" sz="2800" spc="-10" b="0" u="heavy">
                <a:solidFill>
                  <a:srgbClr val="168BBA"/>
                </a:solidFill>
                <a:latin typeface="Calibri"/>
                <a:cs typeface="Calibri"/>
              </a:rPr>
              <a:t>thispersondoesnotexist.com</a:t>
            </a:r>
            <a:r>
              <a:rPr dirty="0" sz="2800" spc="-10" b="0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800" spc="-5" b="0">
                <a:solidFill>
                  <a:srgbClr val="000000"/>
                </a:solidFill>
                <a:latin typeface="Calibri"/>
                <a:cs typeface="Calibri"/>
              </a:rPr>
              <a:t>vs.</a:t>
            </a:r>
            <a:r>
              <a:rPr dirty="0" sz="2800" spc="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800" spc="-30" b="0" u="heavy">
                <a:solidFill>
                  <a:srgbClr val="168BBA"/>
                </a:solidFill>
                <a:latin typeface="Calibri"/>
                <a:cs typeface="Calibri"/>
                <a:hlinkClick r:id="rId4"/>
              </a:rPr>
              <a:t>www.stanford.edu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833116"/>
            <a:ext cx="4205605" cy="29514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17399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There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5">
                <a:latin typeface="Calibri"/>
                <a:cs typeface="Calibri"/>
              </a:rPr>
              <a:t>large diversity 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15">
                <a:latin typeface="Calibri"/>
                <a:cs typeface="Calibri"/>
              </a:rPr>
              <a:t>web-graph  </a:t>
            </a:r>
            <a:r>
              <a:rPr dirty="0" sz="3200" spc="-5">
                <a:latin typeface="Calibri"/>
                <a:cs typeface="Calibri"/>
              </a:rPr>
              <a:t>node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connectivity.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FF0000"/>
                </a:solidFill>
                <a:latin typeface="Calibri"/>
                <a:cs typeface="Calibri"/>
              </a:rPr>
              <a:t>So, </a:t>
            </a:r>
            <a:r>
              <a:rPr dirty="0" sz="3200" spc="-25" b="1">
                <a:solidFill>
                  <a:srgbClr val="FF0000"/>
                </a:solidFill>
                <a:latin typeface="Calibri"/>
                <a:cs typeface="Calibri"/>
              </a:rPr>
              <a:t>let’s rank </a:t>
            </a: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3200" spc="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FF0000"/>
                </a:solidFill>
                <a:latin typeface="Calibri"/>
                <a:cs typeface="Calibri"/>
              </a:rPr>
              <a:t>pages</a:t>
            </a:r>
            <a:endParaRPr sz="3200">
              <a:latin typeface="Calibri"/>
              <a:cs typeface="Calibri"/>
            </a:endParaRPr>
          </a:p>
          <a:p>
            <a:pPr marL="332740" marR="450215">
              <a:lnSpc>
                <a:spcPts val="3790"/>
              </a:lnSpc>
              <a:spcBef>
                <a:spcPts val="219"/>
              </a:spcBef>
            </a:pP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using the </a:t>
            </a:r>
            <a:r>
              <a:rPr dirty="0" sz="3200" spc="-10" b="1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dirty="0" sz="3200" spc="-6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FF0000"/>
                </a:solidFill>
                <a:latin typeface="Calibri"/>
                <a:cs typeface="Calibri"/>
              </a:rPr>
              <a:t>graph  </a:t>
            </a: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link</a:t>
            </a:r>
            <a:r>
              <a:rPr dirty="0" sz="3200" spc="-8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FF0000"/>
                </a:solidFill>
                <a:latin typeface="Calibri"/>
                <a:cs typeface="Calibri"/>
              </a:rPr>
              <a:t>structure!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94462" y="50344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199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399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199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72462" y="31019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0760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0219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will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cover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following </a:t>
            </a:r>
            <a:r>
              <a:rPr dirty="0" spc="-5">
                <a:solidFill>
                  <a:srgbClr val="0070C0"/>
                </a:solidFill>
              </a:rPr>
              <a:t>Link </a:t>
            </a:r>
            <a:r>
              <a:rPr dirty="0" spc="-10">
                <a:solidFill>
                  <a:srgbClr val="0070C0"/>
                </a:solidFill>
              </a:rPr>
              <a:t>Analysis  approaches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compute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10">
                <a:solidFill>
                  <a:srgbClr val="C00000"/>
                </a:solidFill>
              </a:rPr>
              <a:t>importance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 nodes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a</a:t>
            </a:r>
            <a:r>
              <a:rPr dirty="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2819907"/>
            <a:ext cx="4452620" cy="155892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PageRank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Personalized </a:t>
            </a:r>
            <a:r>
              <a:rPr dirty="0" sz="2800" spc="-15">
                <a:latin typeface="Calibri"/>
                <a:cs typeface="Calibri"/>
              </a:rPr>
              <a:t>PageRank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10">
                <a:latin typeface="Calibri"/>
                <a:cs typeface="Calibri"/>
              </a:rPr>
              <a:t>(PPR)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Random </a:t>
            </a:r>
            <a:r>
              <a:rPr dirty="0" sz="2800" spc="-30">
                <a:latin typeface="Calibri"/>
                <a:cs typeface="Calibri"/>
              </a:rPr>
              <a:t>Walk </a:t>
            </a:r>
            <a:r>
              <a:rPr dirty="0" sz="2800" spc="-5">
                <a:latin typeface="Calibri"/>
                <a:cs typeface="Calibri"/>
              </a:rPr>
              <a:t>with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Restarts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38937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412748"/>
            <a:ext cx="3580129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FF"/>
                </a:solidFill>
              </a:rPr>
              <a:t>Idea: </a:t>
            </a:r>
            <a:r>
              <a:rPr dirty="0" spc="-10">
                <a:solidFill>
                  <a:srgbClr val="0000FF"/>
                </a:solidFill>
              </a:rPr>
              <a:t>Links </a:t>
            </a:r>
            <a:r>
              <a:rPr dirty="0" spc="-5">
                <a:solidFill>
                  <a:srgbClr val="0000FF"/>
                </a:solidFill>
              </a:rPr>
              <a:t>as</a:t>
            </a:r>
            <a:r>
              <a:rPr dirty="0" spc="-65">
                <a:solidFill>
                  <a:srgbClr val="0000FF"/>
                </a:solidFill>
              </a:rPr>
              <a:t> </a:t>
            </a:r>
            <a:r>
              <a:rPr dirty="0" spc="-15">
                <a:solidFill>
                  <a:srgbClr val="0000FF"/>
                </a:solidFill>
              </a:rPr>
              <a:t>votes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889929"/>
            <a:ext cx="6868795" cy="4189729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 b="1">
                <a:latin typeface="Calibri"/>
                <a:cs typeface="Calibri"/>
              </a:rPr>
              <a:t>Page </a:t>
            </a:r>
            <a:r>
              <a:rPr dirty="0" sz="2800" b="1">
                <a:latin typeface="Calibri"/>
                <a:cs typeface="Calibri"/>
              </a:rPr>
              <a:t>is </a:t>
            </a:r>
            <a:r>
              <a:rPr dirty="0" sz="2800" spc="-15" b="1">
                <a:latin typeface="Calibri"/>
                <a:cs typeface="Calibri"/>
              </a:rPr>
              <a:t>more </a:t>
            </a:r>
            <a:r>
              <a:rPr dirty="0" sz="2800" spc="-10" b="1">
                <a:latin typeface="Calibri"/>
                <a:cs typeface="Calibri"/>
              </a:rPr>
              <a:t>important </a:t>
            </a:r>
            <a:r>
              <a:rPr dirty="0" sz="2800" b="1">
                <a:latin typeface="Calibri"/>
                <a:cs typeface="Calibri"/>
              </a:rPr>
              <a:t>if it </a:t>
            </a:r>
            <a:r>
              <a:rPr dirty="0" sz="2800" spc="-5" b="1">
                <a:latin typeface="Calibri"/>
                <a:cs typeface="Calibri"/>
              </a:rPr>
              <a:t>has </a:t>
            </a:r>
            <a:r>
              <a:rPr dirty="0" sz="2800" spc="-15" b="1">
                <a:latin typeface="Calibri"/>
                <a:cs typeface="Calibri"/>
              </a:rPr>
              <a:t>more</a:t>
            </a:r>
            <a:r>
              <a:rPr dirty="0" sz="2800" spc="65" b="1">
                <a:latin typeface="Calibri"/>
                <a:cs typeface="Calibri"/>
              </a:rPr>
              <a:t> </a:t>
            </a:r>
            <a:r>
              <a:rPr dirty="0" sz="2800" spc="-110" b="1">
                <a:latin typeface="Calibri"/>
                <a:cs typeface="Calibri"/>
              </a:rPr>
              <a:t>links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ts val="284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In-coming </a:t>
            </a:r>
            <a:r>
              <a:rPr dirty="0" sz="2400" spc="-10">
                <a:latin typeface="Calibri"/>
                <a:cs typeface="Calibri"/>
              </a:rPr>
              <a:t>links? </a:t>
            </a:r>
            <a:r>
              <a:rPr dirty="0" sz="2400" spc="-15">
                <a:latin typeface="Calibri"/>
                <a:cs typeface="Calibri"/>
              </a:rPr>
              <a:t>Out-going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links?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8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Think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in-links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as</a:t>
            </a:r>
            <a:r>
              <a:rPr dirty="0" sz="3200" spc="-2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votes: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0" u="heavy">
                <a:solidFill>
                  <a:srgbClr val="168BBA"/>
                </a:solidFill>
                <a:latin typeface="Calibri"/>
                <a:cs typeface="Calibri"/>
                <a:hlinkClick r:id="rId3"/>
              </a:rPr>
              <a:t>www.stanford.edu</a:t>
            </a:r>
            <a:r>
              <a:rPr dirty="0" sz="2800" spc="-30">
                <a:solidFill>
                  <a:srgbClr val="168BBA"/>
                </a:solidFill>
                <a:latin typeface="Calibri"/>
                <a:cs typeface="Calibri"/>
                <a:hlinkClick r:id="rId3"/>
              </a:rPr>
              <a:t> </a:t>
            </a:r>
            <a:r>
              <a:rPr dirty="0" sz="2800" spc="-5">
                <a:latin typeface="Calibri"/>
                <a:cs typeface="Calibri"/>
              </a:rPr>
              <a:t>has </a:t>
            </a:r>
            <a:r>
              <a:rPr dirty="0" sz="2800">
                <a:latin typeface="Calibri"/>
                <a:cs typeface="Calibri"/>
              </a:rPr>
              <a:t>23,400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in-links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u="heavy">
                <a:solidFill>
                  <a:srgbClr val="168BBA"/>
                </a:solidFill>
                <a:latin typeface="Calibri"/>
                <a:cs typeface="Calibri"/>
              </a:rPr>
              <a:t>thispersondoesnotexist.com</a:t>
            </a:r>
            <a:r>
              <a:rPr dirty="0" sz="2800" spc="-10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has 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in-link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3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Are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all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in-links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equal?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Links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10">
                <a:latin typeface="Calibri"/>
                <a:cs typeface="Calibri"/>
              </a:rPr>
              <a:t>important pages </a:t>
            </a:r>
            <a:r>
              <a:rPr dirty="0" sz="2800" spc="-15">
                <a:latin typeface="Calibri"/>
                <a:cs typeface="Calibri"/>
              </a:rPr>
              <a:t>count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more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Recursive </a:t>
            </a:r>
            <a:r>
              <a:rPr dirty="0" sz="2800" spc="-10">
                <a:latin typeface="Calibri"/>
                <a:cs typeface="Calibri"/>
              </a:rPr>
              <a:t>question!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140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99935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/>
              <a:t>A </a:t>
            </a:r>
            <a:r>
              <a:rPr dirty="0" spc="-15"/>
              <a:t>“vote” </a:t>
            </a:r>
            <a:r>
              <a:rPr dirty="0" spc="-10"/>
              <a:t>from </a:t>
            </a:r>
            <a:r>
              <a:rPr dirty="0" spc="-5"/>
              <a:t>an</a:t>
            </a:r>
            <a:r>
              <a:rPr dirty="0" spc="-60"/>
              <a:t> </a:t>
            </a:r>
            <a:r>
              <a:rPr dirty="0" spc="-10"/>
              <a:t>important  </a:t>
            </a:r>
            <a:r>
              <a:rPr dirty="0" spc="-15"/>
              <a:t>page </a:t>
            </a:r>
            <a:r>
              <a:rPr dirty="0"/>
              <a:t>is </a:t>
            </a:r>
            <a:r>
              <a:rPr dirty="0" spc="-10"/>
              <a:t>worth</a:t>
            </a:r>
            <a:r>
              <a:rPr dirty="0" spc="-50"/>
              <a:t> </a:t>
            </a:r>
            <a:r>
              <a:rPr dirty="0" spc="-10"/>
              <a:t>more: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4791710" cy="403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87020" marR="1016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Each </a:t>
            </a:r>
            <a:r>
              <a:rPr dirty="0" sz="2800" spc="-30">
                <a:latin typeface="Calibri"/>
                <a:cs typeface="Calibri"/>
              </a:rPr>
              <a:t>link’s </a:t>
            </a:r>
            <a:r>
              <a:rPr dirty="0" sz="2800" spc="-20">
                <a:latin typeface="Calibri"/>
                <a:cs typeface="Calibri"/>
              </a:rPr>
              <a:t>vote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proportional 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importance </a:t>
            </a:r>
            <a:r>
              <a:rPr dirty="0" sz="2800" spc="-5">
                <a:latin typeface="Calibri"/>
                <a:cs typeface="Calibri"/>
              </a:rPr>
              <a:t>of its </a:t>
            </a:r>
            <a:r>
              <a:rPr dirty="0" sz="2800" spc="-10">
                <a:latin typeface="Calibri"/>
                <a:cs typeface="Calibri"/>
              </a:rPr>
              <a:t>source  page</a:t>
            </a:r>
            <a:endParaRPr sz="2800">
              <a:latin typeface="Calibri"/>
              <a:cs typeface="Calibri"/>
            </a:endParaRPr>
          </a:p>
          <a:p>
            <a:pPr algn="just" marL="287020" marR="5080" indent="-274320">
              <a:lnSpc>
                <a:spcPct val="996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10">
                <a:latin typeface="Calibri"/>
                <a:cs typeface="Calibri"/>
              </a:rPr>
              <a:t>page </a:t>
            </a:r>
            <a:r>
              <a:rPr dirty="0" sz="2800" b="1" i="1">
                <a:solidFill>
                  <a:srgbClr val="008000"/>
                </a:solidFill>
                <a:latin typeface="Calibri"/>
                <a:cs typeface="Calibri"/>
              </a:rPr>
              <a:t>i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0">
                <a:latin typeface="Calibri"/>
                <a:cs typeface="Calibri"/>
              </a:rPr>
              <a:t>importance </a:t>
            </a:r>
            <a:r>
              <a:rPr dirty="0" sz="2800" b="1" i="1">
                <a:solidFill>
                  <a:srgbClr val="008000"/>
                </a:solidFill>
                <a:latin typeface="Calibri"/>
                <a:cs typeface="Calibri"/>
              </a:rPr>
              <a:t>r</a:t>
            </a:r>
            <a:r>
              <a:rPr dirty="0" baseline="-17543" sz="2850" b="1" i="1">
                <a:solidFill>
                  <a:srgbClr val="008000"/>
                </a:solidFill>
                <a:latin typeface="Calibri"/>
                <a:cs typeface="Calibri"/>
              </a:rPr>
              <a:t>i </a:t>
            </a:r>
            <a:r>
              <a:rPr dirty="0" sz="2800" spc="-45">
                <a:latin typeface="Calibri"/>
                <a:cs typeface="Calibri"/>
              </a:rPr>
              <a:t>has </a:t>
            </a:r>
            <a:r>
              <a:rPr dirty="0" sz="2800" spc="-4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5" b="1" i="1">
                <a:solidFill>
                  <a:srgbClr val="008000"/>
                </a:solidFill>
                <a:latin typeface="Calibri"/>
                <a:cs typeface="Calibri"/>
              </a:rPr>
              <a:t>d</a:t>
            </a:r>
            <a:r>
              <a:rPr dirty="0" baseline="-17543" sz="2850" spc="-7" b="1" i="1">
                <a:solidFill>
                  <a:srgbClr val="008000"/>
                </a:solidFill>
                <a:latin typeface="Calibri"/>
                <a:cs typeface="Calibri"/>
              </a:rPr>
              <a:t>i </a:t>
            </a:r>
            <a:r>
              <a:rPr dirty="0" sz="2800" spc="-15">
                <a:latin typeface="Calibri"/>
                <a:cs typeface="Calibri"/>
              </a:rPr>
              <a:t>out-links, </a:t>
            </a:r>
            <a:r>
              <a:rPr dirty="0" sz="2800" spc="-5">
                <a:latin typeface="Calibri"/>
                <a:cs typeface="Calibri"/>
              </a:rPr>
              <a:t>each link </a:t>
            </a:r>
            <a:r>
              <a:rPr dirty="0" sz="2800" spc="-15">
                <a:latin typeface="Calibri"/>
                <a:cs typeface="Calibri"/>
              </a:rPr>
              <a:t>gets </a:t>
            </a:r>
            <a:r>
              <a:rPr dirty="0" sz="2800" b="1" i="1">
                <a:solidFill>
                  <a:srgbClr val="008000"/>
                </a:solidFill>
                <a:latin typeface="Calibri"/>
                <a:cs typeface="Calibri"/>
              </a:rPr>
              <a:t>r</a:t>
            </a:r>
            <a:r>
              <a:rPr dirty="0" baseline="-17543" sz="2850" b="1" i="1">
                <a:solidFill>
                  <a:srgbClr val="008000"/>
                </a:solidFill>
                <a:latin typeface="Calibri"/>
                <a:cs typeface="Calibri"/>
              </a:rPr>
              <a:t>i </a:t>
            </a:r>
            <a:r>
              <a:rPr dirty="0" sz="2800" b="1" i="1">
                <a:solidFill>
                  <a:srgbClr val="008000"/>
                </a:solidFill>
                <a:latin typeface="Calibri"/>
                <a:cs typeface="Calibri"/>
              </a:rPr>
              <a:t>/ </a:t>
            </a:r>
            <a:r>
              <a:rPr dirty="0" sz="2800" spc="-5" b="1" i="1">
                <a:solidFill>
                  <a:srgbClr val="008000"/>
                </a:solidFill>
                <a:latin typeface="Calibri"/>
                <a:cs typeface="Calibri"/>
              </a:rPr>
              <a:t>d</a:t>
            </a:r>
            <a:r>
              <a:rPr dirty="0" baseline="-17543" sz="2850" spc="-7" b="1" i="1">
                <a:solidFill>
                  <a:srgbClr val="008000"/>
                </a:solidFill>
                <a:latin typeface="Calibri"/>
                <a:cs typeface="Calibri"/>
              </a:rPr>
              <a:t>i </a:t>
            </a:r>
            <a:r>
              <a:rPr dirty="0" sz="1900" spc="-5" b="1" i="1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votes</a:t>
            </a:r>
            <a:endParaRPr sz="2800">
              <a:latin typeface="Calibri"/>
              <a:cs typeface="Calibri"/>
            </a:endParaRPr>
          </a:p>
          <a:p>
            <a:pPr marL="287020" marR="191135" indent="-274320">
              <a:lnSpc>
                <a:spcPct val="996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>
                <a:latin typeface="Calibri"/>
                <a:cs typeface="Calibri"/>
              </a:rPr>
              <a:t>Page </a:t>
            </a:r>
            <a:r>
              <a:rPr dirty="0" sz="2800" spc="-60" b="1" i="1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dirty="0" sz="2800" spc="-60">
                <a:latin typeface="Calibri"/>
                <a:cs typeface="Calibri"/>
              </a:rPr>
              <a:t>’s </a:t>
            </a:r>
            <a:r>
              <a:rPr dirty="0" sz="2800" spc="-10">
                <a:latin typeface="Calibri"/>
                <a:cs typeface="Calibri"/>
              </a:rPr>
              <a:t>own importance </a:t>
            </a:r>
            <a:r>
              <a:rPr dirty="0" sz="2800" b="1" i="1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dirty="0" baseline="-17543" sz="2850" b="1" i="1">
                <a:solidFill>
                  <a:srgbClr val="FF0000"/>
                </a:solidFill>
                <a:latin typeface="Calibri"/>
                <a:cs typeface="Calibri"/>
              </a:rPr>
              <a:t>j </a:t>
            </a:r>
            <a:r>
              <a:rPr dirty="0" sz="2800" spc="-10">
                <a:latin typeface="Calibri"/>
                <a:cs typeface="Calibri"/>
              </a:rPr>
              <a:t>is 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sum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5">
                <a:latin typeface="Calibri"/>
                <a:cs typeface="Calibri"/>
              </a:rPr>
              <a:t>votes </a:t>
            </a:r>
            <a:r>
              <a:rPr dirty="0" sz="2800" spc="-5">
                <a:latin typeface="Calibri"/>
                <a:cs typeface="Calibri"/>
              </a:rPr>
              <a:t>on its in-  </a:t>
            </a:r>
            <a:r>
              <a:rPr dirty="0" sz="2800" spc="-10">
                <a:latin typeface="Calibri"/>
                <a:cs typeface="Calibri"/>
              </a:rPr>
              <a:t>links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56814" y="4617211"/>
            <a:ext cx="17824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dirty="0" baseline="-17361" sz="2400" b="1" i="1">
                <a:solidFill>
                  <a:srgbClr val="FF0000"/>
                </a:solidFill>
                <a:latin typeface="Arial"/>
                <a:cs typeface="Arial"/>
              </a:rPr>
              <a:t>j </a:t>
            </a: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= </a:t>
            </a:r>
            <a:r>
              <a:rPr dirty="0" sz="2400" spc="-5" b="1" i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361" sz="2400" spc="-7" b="1" i="1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2400" spc="-5" b="1" i="1">
                <a:solidFill>
                  <a:srgbClr val="008000"/>
                </a:solidFill>
                <a:latin typeface="Arial"/>
                <a:cs typeface="Arial"/>
              </a:rPr>
              <a:t>/3 </a:t>
            </a:r>
            <a:r>
              <a:rPr dirty="0" sz="2400" b="1" i="1">
                <a:latin typeface="Arial"/>
                <a:cs typeface="Arial"/>
              </a:rPr>
              <a:t>+</a:t>
            </a:r>
            <a:r>
              <a:rPr dirty="0" sz="2400" spc="-245" b="1" i="1">
                <a:latin typeface="Arial"/>
                <a:cs typeface="Arial"/>
              </a:rPr>
              <a:t> </a:t>
            </a:r>
            <a:r>
              <a:rPr dirty="0" sz="2400" spc="-5" b="1" i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361" sz="2400" spc="-7" b="1" i="1">
                <a:solidFill>
                  <a:srgbClr val="008000"/>
                </a:solidFill>
                <a:latin typeface="Arial"/>
                <a:cs typeface="Arial"/>
              </a:rPr>
              <a:t>k</a:t>
            </a:r>
            <a:r>
              <a:rPr dirty="0" sz="2400" spc="-5" b="1" i="1">
                <a:solidFill>
                  <a:srgbClr val="008000"/>
                </a:solidFill>
                <a:latin typeface="Arial"/>
                <a:cs typeface="Arial"/>
              </a:rPr>
              <a:t>/4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11695" y="3151632"/>
            <a:ext cx="646176" cy="7955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45842" y="3170181"/>
            <a:ext cx="466090" cy="620395"/>
          </a:xfrm>
          <a:custGeom>
            <a:avLst/>
            <a:gdLst/>
            <a:ahLst/>
            <a:cxnLst/>
            <a:rect l="l" t="t" r="r" b="b"/>
            <a:pathLst>
              <a:path w="466090" h="620395">
                <a:moveTo>
                  <a:pt x="16841" y="525547"/>
                </a:moveTo>
                <a:lnTo>
                  <a:pt x="0" y="619899"/>
                </a:lnTo>
                <a:lnTo>
                  <a:pt x="81572" y="578783"/>
                </a:lnTo>
                <a:lnTo>
                  <a:pt x="40471" y="578783"/>
                </a:lnTo>
                <a:lnTo>
                  <a:pt x="27815" y="569354"/>
                </a:lnTo>
                <a:lnTo>
                  <a:pt x="26507" y="560404"/>
                </a:lnTo>
                <a:lnTo>
                  <a:pt x="39756" y="542618"/>
                </a:lnTo>
                <a:lnTo>
                  <a:pt x="16841" y="525547"/>
                </a:lnTo>
                <a:close/>
              </a:path>
              <a:path w="466090" h="620395">
                <a:moveTo>
                  <a:pt x="39756" y="542618"/>
                </a:moveTo>
                <a:lnTo>
                  <a:pt x="26507" y="560404"/>
                </a:lnTo>
                <a:lnTo>
                  <a:pt x="27815" y="569354"/>
                </a:lnTo>
                <a:lnTo>
                  <a:pt x="40471" y="578783"/>
                </a:lnTo>
                <a:lnTo>
                  <a:pt x="49422" y="577475"/>
                </a:lnTo>
                <a:lnTo>
                  <a:pt x="62671" y="559689"/>
                </a:lnTo>
                <a:lnTo>
                  <a:pt x="39756" y="542618"/>
                </a:lnTo>
                <a:close/>
              </a:path>
              <a:path w="466090" h="620395">
                <a:moveTo>
                  <a:pt x="62671" y="559689"/>
                </a:moveTo>
                <a:lnTo>
                  <a:pt x="49422" y="577475"/>
                </a:lnTo>
                <a:lnTo>
                  <a:pt x="40471" y="578783"/>
                </a:lnTo>
                <a:lnTo>
                  <a:pt x="81572" y="578783"/>
                </a:lnTo>
                <a:lnTo>
                  <a:pt x="85586" y="576760"/>
                </a:lnTo>
                <a:lnTo>
                  <a:pt x="62671" y="559689"/>
                </a:lnTo>
                <a:close/>
              </a:path>
              <a:path w="466090" h="620395">
                <a:moveTo>
                  <a:pt x="451971" y="0"/>
                </a:moveTo>
                <a:lnTo>
                  <a:pt x="443020" y="1309"/>
                </a:lnTo>
                <a:lnTo>
                  <a:pt x="39756" y="542618"/>
                </a:lnTo>
                <a:lnTo>
                  <a:pt x="62671" y="559689"/>
                </a:lnTo>
                <a:lnTo>
                  <a:pt x="465935" y="18379"/>
                </a:lnTo>
                <a:lnTo>
                  <a:pt x="464626" y="9428"/>
                </a:lnTo>
                <a:lnTo>
                  <a:pt x="451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93864" y="3154679"/>
            <a:ext cx="944879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37432" y="3175474"/>
            <a:ext cx="768350" cy="360045"/>
          </a:xfrm>
          <a:custGeom>
            <a:avLst/>
            <a:gdLst/>
            <a:ahLst/>
            <a:cxnLst/>
            <a:rect l="l" t="t" r="r" b="b"/>
            <a:pathLst>
              <a:path w="768350" h="360045">
                <a:moveTo>
                  <a:pt x="683744" y="333583"/>
                </a:moveTo>
                <a:lnTo>
                  <a:pt x="671977" y="359623"/>
                </a:lnTo>
                <a:lnTo>
                  <a:pt x="767746" y="355866"/>
                </a:lnTo>
                <a:lnTo>
                  <a:pt x="757054" y="342717"/>
                </a:lnTo>
                <a:lnTo>
                  <a:pt x="703955" y="342717"/>
                </a:lnTo>
                <a:lnTo>
                  <a:pt x="683744" y="333583"/>
                </a:lnTo>
                <a:close/>
              </a:path>
              <a:path w="768350" h="360045">
                <a:moveTo>
                  <a:pt x="695511" y="307544"/>
                </a:moveTo>
                <a:lnTo>
                  <a:pt x="683744" y="333583"/>
                </a:lnTo>
                <a:lnTo>
                  <a:pt x="703955" y="342717"/>
                </a:lnTo>
                <a:lnTo>
                  <a:pt x="712419" y="339523"/>
                </a:lnTo>
                <a:lnTo>
                  <a:pt x="718917" y="325141"/>
                </a:lnTo>
                <a:lnTo>
                  <a:pt x="715722" y="316678"/>
                </a:lnTo>
                <a:lnTo>
                  <a:pt x="695511" y="307544"/>
                </a:lnTo>
                <a:close/>
              </a:path>
              <a:path w="768350" h="360045">
                <a:moveTo>
                  <a:pt x="707279" y="281504"/>
                </a:moveTo>
                <a:lnTo>
                  <a:pt x="695511" y="307544"/>
                </a:lnTo>
                <a:lnTo>
                  <a:pt x="715722" y="316678"/>
                </a:lnTo>
                <a:lnTo>
                  <a:pt x="718917" y="325141"/>
                </a:lnTo>
                <a:lnTo>
                  <a:pt x="712419" y="339523"/>
                </a:lnTo>
                <a:lnTo>
                  <a:pt x="703955" y="342717"/>
                </a:lnTo>
                <a:lnTo>
                  <a:pt x="757054" y="342717"/>
                </a:lnTo>
                <a:lnTo>
                  <a:pt x="707279" y="281504"/>
                </a:lnTo>
                <a:close/>
              </a:path>
              <a:path w="768350" h="360045">
                <a:moveTo>
                  <a:pt x="14961" y="0"/>
                </a:moveTo>
                <a:lnTo>
                  <a:pt x="6498" y="3195"/>
                </a:lnTo>
                <a:lnTo>
                  <a:pt x="0" y="17576"/>
                </a:lnTo>
                <a:lnTo>
                  <a:pt x="3194" y="26040"/>
                </a:lnTo>
                <a:lnTo>
                  <a:pt x="683744" y="333583"/>
                </a:lnTo>
                <a:lnTo>
                  <a:pt x="695511" y="307544"/>
                </a:lnTo>
                <a:lnTo>
                  <a:pt x="149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12152" y="3160776"/>
            <a:ext cx="475488" cy="9601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58188" y="3179206"/>
            <a:ext cx="308610" cy="783590"/>
          </a:xfrm>
          <a:custGeom>
            <a:avLst/>
            <a:gdLst/>
            <a:ahLst/>
            <a:cxnLst/>
            <a:rect l="l" t="t" r="r" b="b"/>
            <a:pathLst>
              <a:path w="308609" h="783589">
                <a:moveTo>
                  <a:pt x="254326" y="707791"/>
                </a:moveTo>
                <a:lnTo>
                  <a:pt x="227495" y="717622"/>
                </a:lnTo>
                <a:lnTo>
                  <a:pt x="297233" y="783369"/>
                </a:lnTo>
                <a:lnTo>
                  <a:pt x="302986" y="732422"/>
                </a:lnTo>
                <a:lnTo>
                  <a:pt x="270163" y="732422"/>
                </a:lnTo>
                <a:lnTo>
                  <a:pt x="261956" y="728616"/>
                </a:lnTo>
                <a:lnTo>
                  <a:pt x="254326" y="707791"/>
                </a:lnTo>
                <a:close/>
              </a:path>
              <a:path w="308609" h="783589">
                <a:moveTo>
                  <a:pt x="281156" y="697961"/>
                </a:moveTo>
                <a:lnTo>
                  <a:pt x="254326" y="707791"/>
                </a:lnTo>
                <a:lnTo>
                  <a:pt x="261956" y="728616"/>
                </a:lnTo>
                <a:lnTo>
                  <a:pt x="270163" y="732422"/>
                </a:lnTo>
                <a:lnTo>
                  <a:pt x="284981" y="726993"/>
                </a:lnTo>
                <a:lnTo>
                  <a:pt x="288786" y="718786"/>
                </a:lnTo>
                <a:lnTo>
                  <a:pt x="281156" y="697961"/>
                </a:lnTo>
                <a:close/>
              </a:path>
              <a:path w="308609" h="783589">
                <a:moveTo>
                  <a:pt x="307987" y="688131"/>
                </a:moveTo>
                <a:lnTo>
                  <a:pt x="281156" y="697961"/>
                </a:lnTo>
                <a:lnTo>
                  <a:pt x="288786" y="718786"/>
                </a:lnTo>
                <a:lnTo>
                  <a:pt x="284981" y="726993"/>
                </a:lnTo>
                <a:lnTo>
                  <a:pt x="270163" y="732422"/>
                </a:lnTo>
                <a:lnTo>
                  <a:pt x="302986" y="732422"/>
                </a:lnTo>
                <a:lnTo>
                  <a:pt x="307987" y="688131"/>
                </a:lnTo>
                <a:close/>
              </a:path>
              <a:path w="308609" h="783589">
                <a:moveTo>
                  <a:pt x="18623" y="0"/>
                </a:moveTo>
                <a:lnTo>
                  <a:pt x="3804" y="5429"/>
                </a:lnTo>
                <a:lnTo>
                  <a:pt x="0" y="13635"/>
                </a:lnTo>
                <a:lnTo>
                  <a:pt x="254326" y="707791"/>
                </a:lnTo>
                <a:lnTo>
                  <a:pt x="281156" y="697961"/>
                </a:lnTo>
                <a:lnTo>
                  <a:pt x="26831" y="3806"/>
                </a:lnTo>
                <a:lnTo>
                  <a:pt x="186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41464" y="3032760"/>
            <a:ext cx="390144" cy="3749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90662" y="3056980"/>
            <a:ext cx="290830" cy="276860"/>
          </a:xfrm>
          <a:custGeom>
            <a:avLst/>
            <a:gdLst/>
            <a:ahLst/>
            <a:cxnLst/>
            <a:rect l="l" t="t" r="r" b="b"/>
            <a:pathLst>
              <a:path w="290829" h="276860">
                <a:moveTo>
                  <a:pt x="145235" y="0"/>
                </a:moveTo>
                <a:lnTo>
                  <a:pt x="99330" y="7053"/>
                </a:lnTo>
                <a:lnTo>
                  <a:pt x="59461" y="26694"/>
                </a:lnTo>
                <a:lnTo>
                  <a:pt x="28022" y="56643"/>
                </a:lnTo>
                <a:lnTo>
                  <a:pt x="7404" y="94623"/>
                </a:lnTo>
                <a:lnTo>
                  <a:pt x="0" y="138353"/>
                </a:lnTo>
                <a:lnTo>
                  <a:pt x="7404" y="182084"/>
                </a:lnTo>
                <a:lnTo>
                  <a:pt x="28022" y="220064"/>
                </a:lnTo>
                <a:lnTo>
                  <a:pt x="59461" y="250014"/>
                </a:lnTo>
                <a:lnTo>
                  <a:pt x="99330" y="269655"/>
                </a:lnTo>
                <a:lnTo>
                  <a:pt x="145235" y="276708"/>
                </a:lnTo>
                <a:lnTo>
                  <a:pt x="191141" y="269655"/>
                </a:lnTo>
                <a:lnTo>
                  <a:pt x="231009" y="250014"/>
                </a:lnTo>
                <a:lnTo>
                  <a:pt x="262448" y="220064"/>
                </a:lnTo>
                <a:lnTo>
                  <a:pt x="283066" y="182084"/>
                </a:lnTo>
                <a:lnTo>
                  <a:pt x="290470" y="138353"/>
                </a:lnTo>
                <a:lnTo>
                  <a:pt x="283066" y="94623"/>
                </a:lnTo>
                <a:lnTo>
                  <a:pt x="262448" y="56643"/>
                </a:lnTo>
                <a:lnTo>
                  <a:pt x="231009" y="26694"/>
                </a:lnTo>
                <a:lnTo>
                  <a:pt x="191141" y="7053"/>
                </a:lnTo>
                <a:lnTo>
                  <a:pt x="1452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90661" y="3056980"/>
            <a:ext cx="290830" cy="276860"/>
          </a:xfrm>
          <a:custGeom>
            <a:avLst/>
            <a:gdLst/>
            <a:ahLst/>
            <a:cxnLst/>
            <a:rect l="l" t="t" r="r" b="b"/>
            <a:pathLst>
              <a:path w="290829" h="276860">
                <a:moveTo>
                  <a:pt x="145235" y="0"/>
                </a:moveTo>
                <a:lnTo>
                  <a:pt x="191141" y="7053"/>
                </a:lnTo>
                <a:lnTo>
                  <a:pt x="231009" y="26694"/>
                </a:lnTo>
                <a:lnTo>
                  <a:pt x="262448" y="56644"/>
                </a:lnTo>
                <a:lnTo>
                  <a:pt x="283066" y="94623"/>
                </a:lnTo>
                <a:lnTo>
                  <a:pt x="290471" y="138354"/>
                </a:lnTo>
                <a:lnTo>
                  <a:pt x="283066" y="182085"/>
                </a:lnTo>
                <a:lnTo>
                  <a:pt x="262448" y="220064"/>
                </a:lnTo>
                <a:lnTo>
                  <a:pt x="231009" y="250014"/>
                </a:lnTo>
                <a:lnTo>
                  <a:pt x="191141" y="269655"/>
                </a:lnTo>
                <a:lnTo>
                  <a:pt x="145235" y="276709"/>
                </a:lnTo>
                <a:lnTo>
                  <a:pt x="99329" y="269655"/>
                </a:lnTo>
                <a:lnTo>
                  <a:pt x="59461" y="250014"/>
                </a:lnTo>
                <a:lnTo>
                  <a:pt x="28022" y="220064"/>
                </a:lnTo>
                <a:lnTo>
                  <a:pt x="7404" y="182085"/>
                </a:lnTo>
                <a:lnTo>
                  <a:pt x="0" y="138354"/>
                </a:lnTo>
                <a:lnTo>
                  <a:pt x="7404" y="94623"/>
                </a:lnTo>
                <a:lnTo>
                  <a:pt x="28022" y="56644"/>
                </a:lnTo>
                <a:lnTo>
                  <a:pt x="59461" y="26694"/>
                </a:lnTo>
                <a:lnTo>
                  <a:pt x="99329" y="7053"/>
                </a:lnTo>
                <a:lnTo>
                  <a:pt x="145235" y="0"/>
                </a:lnTo>
                <a:close/>
              </a:path>
            </a:pathLst>
          </a:custGeom>
          <a:ln w="6350">
            <a:solidFill>
              <a:srgbClr val="E4667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56119" y="2505455"/>
            <a:ext cx="356616" cy="7040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99682" y="2525068"/>
            <a:ext cx="194945" cy="526415"/>
          </a:xfrm>
          <a:custGeom>
            <a:avLst/>
            <a:gdLst/>
            <a:ahLst/>
            <a:cxnLst/>
            <a:rect l="l" t="t" r="r" b="b"/>
            <a:pathLst>
              <a:path w="194945" h="526414">
                <a:moveTo>
                  <a:pt x="140062" y="448708"/>
                </a:moveTo>
                <a:lnTo>
                  <a:pt x="112857" y="457451"/>
                </a:lnTo>
                <a:lnTo>
                  <a:pt x="179891" y="525951"/>
                </a:lnTo>
                <a:lnTo>
                  <a:pt x="187894" y="473956"/>
                </a:lnTo>
                <a:lnTo>
                  <a:pt x="154894" y="473956"/>
                </a:lnTo>
                <a:lnTo>
                  <a:pt x="146847" y="469822"/>
                </a:lnTo>
                <a:lnTo>
                  <a:pt x="140062" y="448708"/>
                </a:lnTo>
                <a:close/>
              </a:path>
              <a:path w="194945" h="526414">
                <a:moveTo>
                  <a:pt x="167266" y="439966"/>
                </a:moveTo>
                <a:lnTo>
                  <a:pt x="140062" y="448708"/>
                </a:lnTo>
                <a:lnTo>
                  <a:pt x="146847" y="469822"/>
                </a:lnTo>
                <a:lnTo>
                  <a:pt x="154894" y="473956"/>
                </a:lnTo>
                <a:lnTo>
                  <a:pt x="169918" y="469127"/>
                </a:lnTo>
                <a:lnTo>
                  <a:pt x="174052" y="461079"/>
                </a:lnTo>
                <a:lnTo>
                  <a:pt x="167266" y="439966"/>
                </a:lnTo>
                <a:close/>
              </a:path>
              <a:path w="194945" h="526414">
                <a:moveTo>
                  <a:pt x="194471" y="431223"/>
                </a:moveTo>
                <a:lnTo>
                  <a:pt x="167266" y="439966"/>
                </a:lnTo>
                <a:lnTo>
                  <a:pt x="174052" y="461079"/>
                </a:lnTo>
                <a:lnTo>
                  <a:pt x="169918" y="469127"/>
                </a:lnTo>
                <a:lnTo>
                  <a:pt x="154894" y="473956"/>
                </a:lnTo>
                <a:lnTo>
                  <a:pt x="187894" y="473956"/>
                </a:lnTo>
                <a:lnTo>
                  <a:pt x="194471" y="431223"/>
                </a:lnTo>
                <a:close/>
              </a:path>
              <a:path w="194945" h="526414">
                <a:moveTo>
                  <a:pt x="19157" y="0"/>
                </a:moveTo>
                <a:lnTo>
                  <a:pt x="4132" y="4828"/>
                </a:lnTo>
                <a:lnTo>
                  <a:pt x="0" y="12875"/>
                </a:lnTo>
                <a:lnTo>
                  <a:pt x="140062" y="448708"/>
                </a:lnTo>
                <a:lnTo>
                  <a:pt x="167266" y="439966"/>
                </a:lnTo>
                <a:lnTo>
                  <a:pt x="27204" y="4132"/>
                </a:lnTo>
                <a:lnTo>
                  <a:pt x="191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99959" y="2481072"/>
            <a:ext cx="655320" cy="7802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33779" y="2500030"/>
            <a:ext cx="476250" cy="603250"/>
          </a:xfrm>
          <a:custGeom>
            <a:avLst/>
            <a:gdLst/>
            <a:ahLst/>
            <a:cxnLst/>
            <a:rect l="l" t="t" r="r" b="b"/>
            <a:pathLst>
              <a:path w="476250" h="603250">
                <a:moveTo>
                  <a:pt x="19098" y="509250"/>
                </a:moveTo>
                <a:lnTo>
                  <a:pt x="0" y="603172"/>
                </a:lnTo>
                <a:lnTo>
                  <a:pt x="84614" y="563037"/>
                </a:lnTo>
                <a:lnTo>
                  <a:pt x="41443" y="563037"/>
                </a:lnTo>
                <a:lnTo>
                  <a:pt x="29018" y="553308"/>
                </a:lnTo>
                <a:lnTo>
                  <a:pt x="27924" y="544328"/>
                </a:lnTo>
                <a:lnTo>
                  <a:pt x="41597" y="526866"/>
                </a:lnTo>
                <a:lnTo>
                  <a:pt x="19098" y="509250"/>
                </a:lnTo>
                <a:close/>
              </a:path>
              <a:path w="476250" h="603250">
                <a:moveTo>
                  <a:pt x="41597" y="526866"/>
                </a:moveTo>
                <a:lnTo>
                  <a:pt x="27924" y="544328"/>
                </a:lnTo>
                <a:lnTo>
                  <a:pt x="29018" y="553308"/>
                </a:lnTo>
                <a:lnTo>
                  <a:pt x="41443" y="563037"/>
                </a:lnTo>
                <a:lnTo>
                  <a:pt x="50424" y="561944"/>
                </a:lnTo>
                <a:lnTo>
                  <a:pt x="64096" y="544482"/>
                </a:lnTo>
                <a:lnTo>
                  <a:pt x="41597" y="526866"/>
                </a:lnTo>
                <a:close/>
              </a:path>
              <a:path w="476250" h="603250">
                <a:moveTo>
                  <a:pt x="64096" y="544482"/>
                </a:moveTo>
                <a:lnTo>
                  <a:pt x="50424" y="561944"/>
                </a:lnTo>
                <a:lnTo>
                  <a:pt x="41443" y="563037"/>
                </a:lnTo>
                <a:lnTo>
                  <a:pt x="84614" y="563037"/>
                </a:lnTo>
                <a:lnTo>
                  <a:pt x="86596" y="562098"/>
                </a:lnTo>
                <a:lnTo>
                  <a:pt x="64096" y="544482"/>
                </a:lnTo>
                <a:close/>
              </a:path>
              <a:path w="476250" h="603250">
                <a:moveTo>
                  <a:pt x="462231" y="0"/>
                </a:moveTo>
                <a:lnTo>
                  <a:pt x="453251" y="1093"/>
                </a:lnTo>
                <a:lnTo>
                  <a:pt x="41597" y="526866"/>
                </a:lnTo>
                <a:lnTo>
                  <a:pt x="64096" y="544482"/>
                </a:lnTo>
                <a:lnTo>
                  <a:pt x="475750" y="18708"/>
                </a:lnTo>
                <a:lnTo>
                  <a:pt x="474657" y="9729"/>
                </a:lnTo>
                <a:lnTo>
                  <a:pt x="4622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990319" y="2882900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Arial"/>
                <a:cs typeface="Arial"/>
              </a:rPr>
              <a:t>j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18704" y="2362200"/>
            <a:ext cx="786383" cy="606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963385" y="2380423"/>
            <a:ext cx="610870" cy="429259"/>
          </a:xfrm>
          <a:custGeom>
            <a:avLst/>
            <a:gdLst/>
            <a:ahLst/>
            <a:cxnLst/>
            <a:rect l="l" t="t" r="r" b="b"/>
            <a:pathLst>
              <a:path w="610870" h="429260">
                <a:moveTo>
                  <a:pt x="531754" y="392045"/>
                </a:moveTo>
                <a:lnTo>
                  <a:pt x="515443" y="415507"/>
                </a:lnTo>
                <a:lnTo>
                  <a:pt x="610295" y="429249"/>
                </a:lnTo>
                <a:lnTo>
                  <a:pt x="596899" y="404705"/>
                </a:lnTo>
                <a:lnTo>
                  <a:pt x="549964" y="404705"/>
                </a:lnTo>
                <a:lnTo>
                  <a:pt x="531754" y="392045"/>
                </a:lnTo>
                <a:close/>
              </a:path>
              <a:path w="610870" h="429260">
                <a:moveTo>
                  <a:pt x="548066" y="368583"/>
                </a:moveTo>
                <a:lnTo>
                  <a:pt x="531754" y="392045"/>
                </a:lnTo>
                <a:lnTo>
                  <a:pt x="549964" y="404705"/>
                </a:lnTo>
                <a:lnTo>
                  <a:pt x="558868" y="403105"/>
                </a:lnTo>
                <a:lnTo>
                  <a:pt x="567876" y="390147"/>
                </a:lnTo>
                <a:lnTo>
                  <a:pt x="566276" y="381243"/>
                </a:lnTo>
                <a:lnTo>
                  <a:pt x="548066" y="368583"/>
                </a:lnTo>
                <a:close/>
              </a:path>
              <a:path w="610870" h="429260">
                <a:moveTo>
                  <a:pt x="564377" y="345122"/>
                </a:moveTo>
                <a:lnTo>
                  <a:pt x="548066" y="368583"/>
                </a:lnTo>
                <a:lnTo>
                  <a:pt x="566276" y="381243"/>
                </a:lnTo>
                <a:lnTo>
                  <a:pt x="567876" y="390147"/>
                </a:lnTo>
                <a:lnTo>
                  <a:pt x="558868" y="403105"/>
                </a:lnTo>
                <a:lnTo>
                  <a:pt x="549964" y="404705"/>
                </a:lnTo>
                <a:lnTo>
                  <a:pt x="596899" y="404705"/>
                </a:lnTo>
                <a:lnTo>
                  <a:pt x="564377" y="345122"/>
                </a:lnTo>
                <a:close/>
              </a:path>
              <a:path w="610870" h="429260">
                <a:moveTo>
                  <a:pt x="17912" y="0"/>
                </a:moveTo>
                <a:lnTo>
                  <a:pt x="9009" y="1600"/>
                </a:lnTo>
                <a:lnTo>
                  <a:pt x="0" y="14558"/>
                </a:lnTo>
                <a:lnTo>
                  <a:pt x="1600" y="23460"/>
                </a:lnTo>
                <a:lnTo>
                  <a:pt x="531754" y="392045"/>
                </a:lnTo>
                <a:lnTo>
                  <a:pt x="548066" y="368583"/>
                </a:lnTo>
                <a:lnTo>
                  <a:pt x="17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918704" y="2148839"/>
            <a:ext cx="786383" cy="3322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963908" y="2235238"/>
            <a:ext cx="610235" cy="177165"/>
          </a:xfrm>
          <a:custGeom>
            <a:avLst/>
            <a:gdLst/>
            <a:ahLst/>
            <a:cxnLst/>
            <a:rect l="l" t="t" r="r" b="b"/>
            <a:pathLst>
              <a:path w="610234" h="177164">
                <a:moveTo>
                  <a:pt x="523050" y="27821"/>
                </a:moveTo>
                <a:lnTo>
                  <a:pt x="4768" y="149311"/>
                </a:lnTo>
                <a:lnTo>
                  <a:pt x="0" y="156999"/>
                </a:lnTo>
                <a:lnTo>
                  <a:pt x="3601" y="172364"/>
                </a:lnTo>
                <a:lnTo>
                  <a:pt x="11290" y="177131"/>
                </a:lnTo>
                <a:lnTo>
                  <a:pt x="529572" y="55641"/>
                </a:lnTo>
                <a:lnTo>
                  <a:pt x="523050" y="27821"/>
                </a:lnTo>
                <a:close/>
              </a:path>
              <a:path w="610234" h="177164">
                <a:moveTo>
                  <a:pt x="609062" y="22759"/>
                </a:moveTo>
                <a:lnTo>
                  <a:pt x="544644" y="22759"/>
                </a:lnTo>
                <a:lnTo>
                  <a:pt x="552331" y="27527"/>
                </a:lnTo>
                <a:lnTo>
                  <a:pt x="555933" y="42892"/>
                </a:lnTo>
                <a:lnTo>
                  <a:pt x="551166" y="50580"/>
                </a:lnTo>
                <a:lnTo>
                  <a:pt x="529572" y="55641"/>
                </a:lnTo>
                <a:lnTo>
                  <a:pt x="536093" y="83463"/>
                </a:lnTo>
                <a:lnTo>
                  <a:pt x="609062" y="22759"/>
                </a:lnTo>
                <a:close/>
              </a:path>
              <a:path w="610234" h="177164">
                <a:moveTo>
                  <a:pt x="544644" y="22759"/>
                </a:moveTo>
                <a:lnTo>
                  <a:pt x="523050" y="27821"/>
                </a:lnTo>
                <a:lnTo>
                  <a:pt x="529572" y="55641"/>
                </a:lnTo>
                <a:lnTo>
                  <a:pt x="551166" y="50580"/>
                </a:lnTo>
                <a:lnTo>
                  <a:pt x="555933" y="42892"/>
                </a:lnTo>
                <a:lnTo>
                  <a:pt x="552331" y="27527"/>
                </a:lnTo>
                <a:lnTo>
                  <a:pt x="544644" y="22759"/>
                </a:lnTo>
                <a:close/>
              </a:path>
              <a:path w="610234" h="177164">
                <a:moveTo>
                  <a:pt x="516529" y="0"/>
                </a:moveTo>
                <a:lnTo>
                  <a:pt x="523050" y="27821"/>
                </a:lnTo>
                <a:lnTo>
                  <a:pt x="544644" y="22759"/>
                </a:lnTo>
                <a:lnTo>
                  <a:pt x="609062" y="22759"/>
                </a:lnTo>
                <a:lnTo>
                  <a:pt x="609773" y="22167"/>
                </a:lnTo>
                <a:lnTo>
                  <a:pt x="5165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522464" y="1978151"/>
            <a:ext cx="518159" cy="5364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55420" y="2084912"/>
            <a:ext cx="340360" cy="361315"/>
          </a:xfrm>
          <a:custGeom>
            <a:avLst/>
            <a:gdLst/>
            <a:ahLst/>
            <a:cxnLst/>
            <a:rect l="l" t="t" r="r" b="b"/>
            <a:pathLst>
              <a:path w="340359" h="361314">
                <a:moveTo>
                  <a:pt x="69117" y="52684"/>
                </a:moveTo>
                <a:lnTo>
                  <a:pt x="48294" y="72252"/>
                </a:lnTo>
                <a:lnTo>
                  <a:pt x="319191" y="360521"/>
                </a:lnTo>
                <a:lnTo>
                  <a:pt x="328234" y="360801"/>
                </a:lnTo>
                <a:lnTo>
                  <a:pt x="339733" y="349994"/>
                </a:lnTo>
                <a:lnTo>
                  <a:pt x="340014" y="340951"/>
                </a:lnTo>
                <a:lnTo>
                  <a:pt x="69117" y="52684"/>
                </a:lnTo>
                <a:close/>
              </a:path>
              <a:path w="340359" h="361314">
                <a:moveTo>
                  <a:pt x="0" y="0"/>
                </a:moveTo>
                <a:lnTo>
                  <a:pt x="27470" y="91822"/>
                </a:lnTo>
                <a:lnTo>
                  <a:pt x="48294" y="72252"/>
                </a:lnTo>
                <a:lnTo>
                  <a:pt x="33106" y="56092"/>
                </a:lnTo>
                <a:lnTo>
                  <a:pt x="33387" y="47049"/>
                </a:lnTo>
                <a:lnTo>
                  <a:pt x="44886" y="36241"/>
                </a:lnTo>
                <a:lnTo>
                  <a:pt x="86614" y="36241"/>
                </a:lnTo>
                <a:lnTo>
                  <a:pt x="89940" y="33116"/>
                </a:lnTo>
                <a:lnTo>
                  <a:pt x="0" y="0"/>
                </a:lnTo>
                <a:close/>
              </a:path>
              <a:path w="340359" h="361314">
                <a:moveTo>
                  <a:pt x="44886" y="36241"/>
                </a:moveTo>
                <a:lnTo>
                  <a:pt x="33387" y="47049"/>
                </a:lnTo>
                <a:lnTo>
                  <a:pt x="33106" y="56092"/>
                </a:lnTo>
                <a:lnTo>
                  <a:pt x="48294" y="72252"/>
                </a:lnTo>
                <a:lnTo>
                  <a:pt x="69117" y="52684"/>
                </a:lnTo>
                <a:lnTo>
                  <a:pt x="53929" y="36522"/>
                </a:lnTo>
                <a:lnTo>
                  <a:pt x="44886" y="36241"/>
                </a:lnTo>
                <a:close/>
              </a:path>
              <a:path w="340359" h="361314">
                <a:moveTo>
                  <a:pt x="86614" y="36241"/>
                </a:moveTo>
                <a:lnTo>
                  <a:pt x="44886" y="36241"/>
                </a:lnTo>
                <a:lnTo>
                  <a:pt x="53929" y="36522"/>
                </a:lnTo>
                <a:lnTo>
                  <a:pt x="69117" y="52684"/>
                </a:lnTo>
                <a:lnTo>
                  <a:pt x="86614" y="36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019543" y="1889760"/>
            <a:ext cx="350520" cy="5913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63906" y="1998663"/>
            <a:ext cx="182245" cy="414655"/>
          </a:xfrm>
          <a:custGeom>
            <a:avLst/>
            <a:gdLst/>
            <a:ahLst/>
            <a:cxnLst/>
            <a:rect l="l" t="t" r="r" b="b"/>
            <a:pathLst>
              <a:path w="182245" h="414655">
                <a:moveTo>
                  <a:pt x="128789" y="74461"/>
                </a:moveTo>
                <a:lnTo>
                  <a:pt x="0" y="400076"/>
                </a:lnTo>
                <a:lnTo>
                  <a:pt x="3595" y="408378"/>
                </a:lnTo>
                <a:lnTo>
                  <a:pt x="18271" y="414182"/>
                </a:lnTo>
                <a:lnTo>
                  <a:pt x="26572" y="410587"/>
                </a:lnTo>
                <a:lnTo>
                  <a:pt x="155361" y="84971"/>
                </a:lnTo>
                <a:lnTo>
                  <a:pt x="128789" y="74461"/>
                </a:lnTo>
                <a:close/>
              </a:path>
              <a:path w="182245" h="414655">
                <a:moveTo>
                  <a:pt x="177987" y="50242"/>
                </a:moveTo>
                <a:lnTo>
                  <a:pt x="145247" y="50242"/>
                </a:lnTo>
                <a:lnTo>
                  <a:pt x="159923" y="56046"/>
                </a:lnTo>
                <a:lnTo>
                  <a:pt x="163518" y="64348"/>
                </a:lnTo>
                <a:lnTo>
                  <a:pt x="155361" y="84971"/>
                </a:lnTo>
                <a:lnTo>
                  <a:pt x="181933" y="95481"/>
                </a:lnTo>
                <a:lnTo>
                  <a:pt x="177987" y="50242"/>
                </a:lnTo>
                <a:close/>
              </a:path>
              <a:path w="182245" h="414655">
                <a:moveTo>
                  <a:pt x="145247" y="50242"/>
                </a:moveTo>
                <a:lnTo>
                  <a:pt x="136946" y="53837"/>
                </a:lnTo>
                <a:lnTo>
                  <a:pt x="128789" y="74461"/>
                </a:lnTo>
                <a:lnTo>
                  <a:pt x="155361" y="84971"/>
                </a:lnTo>
                <a:lnTo>
                  <a:pt x="163518" y="64348"/>
                </a:lnTo>
                <a:lnTo>
                  <a:pt x="159923" y="56046"/>
                </a:lnTo>
                <a:lnTo>
                  <a:pt x="145247" y="50242"/>
                </a:lnTo>
                <a:close/>
              </a:path>
              <a:path w="182245" h="414655">
                <a:moveTo>
                  <a:pt x="173605" y="0"/>
                </a:moveTo>
                <a:lnTo>
                  <a:pt x="102217" y="63952"/>
                </a:lnTo>
                <a:lnTo>
                  <a:pt x="128789" y="74461"/>
                </a:lnTo>
                <a:lnTo>
                  <a:pt x="136946" y="53837"/>
                </a:lnTo>
                <a:lnTo>
                  <a:pt x="145247" y="50242"/>
                </a:lnTo>
                <a:lnTo>
                  <a:pt x="177987" y="50242"/>
                </a:lnTo>
                <a:lnTo>
                  <a:pt x="1736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623304" y="1978151"/>
            <a:ext cx="518159" cy="53644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755894" y="2084912"/>
            <a:ext cx="340360" cy="361315"/>
          </a:xfrm>
          <a:custGeom>
            <a:avLst/>
            <a:gdLst/>
            <a:ahLst/>
            <a:cxnLst/>
            <a:rect l="l" t="t" r="r" b="b"/>
            <a:pathLst>
              <a:path w="340359" h="361314">
                <a:moveTo>
                  <a:pt x="69117" y="52684"/>
                </a:moveTo>
                <a:lnTo>
                  <a:pt x="48293" y="72253"/>
                </a:lnTo>
                <a:lnTo>
                  <a:pt x="319191" y="360521"/>
                </a:lnTo>
                <a:lnTo>
                  <a:pt x="328234" y="360801"/>
                </a:lnTo>
                <a:lnTo>
                  <a:pt x="339733" y="349994"/>
                </a:lnTo>
                <a:lnTo>
                  <a:pt x="340014" y="340951"/>
                </a:lnTo>
                <a:lnTo>
                  <a:pt x="69117" y="52684"/>
                </a:lnTo>
                <a:close/>
              </a:path>
              <a:path w="340359" h="361314">
                <a:moveTo>
                  <a:pt x="0" y="0"/>
                </a:moveTo>
                <a:lnTo>
                  <a:pt x="27470" y="91822"/>
                </a:lnTo>
                <a:lnTo>
                  <a:pt x="48293" y="72253"/>
                </a:lnTo>
                <a:lnTo>
                  <a:pt x="33105" y="56092"/>
                </a:lnTo>
                <a:lnTo>
                  <a:pt x="33387" y="47049"/>
                </a:lnTo>
                <a:lnTo>
                  <a:pt x="44886" y="36241"/>
                </a:lnTo>
                <a:lnTo>
                  <a:pt x="86614" y="36241"/>
                </a:lnTo>
                <a:lnTo>
                  <a:pt x="89940" y="33116"/>
                </a:lnTo>
                <a:lnTo>
                  <a:pt x="0" y="0"/>
                </a:lnTo>
                <a:close/>
              </a:path>
              <a:path w="340359" h="361314">
                <a:moveTo>
                  <a:pt x="44886" y="36241"/>
                </a:moveTo>
                <a:lnTo>
                  <a:pt x="33387" y="47049"/>
                </a:lnTo>
                <a:lnTo>
                  <a:pt x="33105" y="56092"/>
                </a:lnTo>
                <a:lnTo>
                  <a:pt x="48293" y="72253"/>
                </a:lnTo>
                <a:lnTo>
                  <a:pt x="69117" y="52684"/>
                </a:lnTo>
                <a:lnTo>
                  <a:pt x="53929" y="36522"/>
                </a:lnTo>
                <a:lnTo>
                  <a:pt x="44886" y="36241"/>
                </a:lnTo>
                <a:close/>
              </a:path>
              <a:path w="340359" h="361314">
                <a:moveTo>
                  <a:pt x="86614" y="36241"/>
                </a:moveTo>
                <a:lnTo>
                  <a:pt x="44886" y="36241"/>
                </a:lnTo>
                <a:lnTo>
                  <a:pt x="53929" y="36522"/>
                </a:lnTo>
                <a:lnTo>
                  <a:pt x="69117" y="52684"/>
                </a:lnTo>
                <a:lnTo>
                  <a:pt x="86614" y="36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87640" y="2237232"/>
            <a:ext cx="384048" cy="36880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38871" y="2167127"/>
            <a:ext cx="481583" cy="58216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34384" y="2257404"/>
            <a:ext cx="290830" cy="276860"/>
          </a:xfrm>
          <a:custGeom>
            <a:avLst/>
            <a:gdLst/>
            <a:ahLst/>
            <a:cxnLst/>
            <a:rect l="l" t="t" r="r" b="b"/>
            <a:pathLst>
              <a:path w="290829" h="276860">
                <a:moveTo>
                  <a:pt x="145234" y="0"/>
                </a:moveTo>
                <a:lnTo>
                  <a:pt x="99329" y="7053"/>
                </a:lnTo>
                <a:lnTo>
                  <a:pt x="59461" y="26694"/>
                </a:lnTo>
                <a:lnTo>
                  <a:pt x="28021" y="56644"/>
                </a:lnTo>
                <a:lnTo>
                  <a:pt x="7404" y="94623"/>
                </a:lnTo>
                <a:lnTo>
                  <a:pt x="0" y="138355"/>
                </a:lnTo>
                <a:lnTo>
                  <a:pt x="7404" y="182085"/>
                </a:lnTo>
                <a:lnTo>
                  <a:pt x="28021" y="220065"/>
                </a:lnTo>
                <a:lnTo>
                  <a:pt x="59461" y="250014"/>
                </a:lnTo>
                <a:lnTo>
                  <a:pt x="99329" y="269655"/>
                </a:lnTo>
                <a:lnTo>
                  <a:pt x="145234" y="276708"/>
                </a:lnTo>
                <a:lnTo>
                  <a:pt x="191140" y="269655"/>
                </a:lnTo>
                <a:lnTo>
                  <a:pt x="231009" y="250014"/>
                </a:lnTo>
                <a:lnTo>
                  <a:pt x="262448" y="220065"/>
                </a:lnTo>
                <a:lnTo>
                  <a:pt x="283066" y="182085"/>
                </a:lnTo>
                <a:lnTo>
                  <a:pt x="290470" y="138355"/>
                </a:lnTo>
                <a:lnTo>
                  <a:pt x="283066" y="94623"/>
                </a:lnTo>
                <a:lnTo>
                  <a:pt x="262448" y="56644"/>
                </a:lnTo>
                <a:lnTo>
                  <a:pt x="231009" y="26694"/>
                </a:lnTo>
                <a:lnTo>
                  <a:pt x="191140" y="7053"/>
                </a:lnTo>
                <a:lnTo>
                  <a:pt x="1452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88480" y="2237232"/>
            <a:ext cx="384048" cy="36880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67143" y="2167127"/>
            <a:ext cx="426720" cy="58216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34858" y="2258305"/>
            <a:ext cx="290830" cy="276860"/>
          </a:xfrm>
          <a:custGeom>
            <a:avLst/>
            <a:gdLst/>
            <a:ahLst/>
            <a:cxnLst/>
            <a:rect l="l" t="t" r="r" b="b"/>
            <a:pathLst>
              <a:path w="290829" h="276860">
                <a:moveTo>
                  <a:pt x="145237" y="0"/>
                </a:moveTo>
                <a:lnTo>
                  <a:pt x="99330" y="7053"/>
                </a:lnTo>
                <a:lnTo>
                  <a:pt x="59461" y="26694"/>
                </a:lnTo>
                <a:lnTo>
                  <a:pt x="28022" y="56643"/>
                </a:lnTo>
                <a:lnTo>
                  <a:pt x="7404" y="94623"/>
                </a:lnTo>
                <a:lnTo>
                  <a:pt x="0" y="138353"/>
                </a:lnTo>
                <a:lnTo>
                  <a:pt x="7404" y="182084"/>
                </a:lnTo>
                <a:lnTo>
                  <a:pt x="28022" y="220064"/>
                </a:lnTo>
                <a:lnTo>
                  <a:pt x="59461" y="250014"/>
                </a:lnTo>
                <a:lnTo>
                  <a:pt x="99330" y="269655"/>
                </a:lnTo>
                <a:lnTo>
                  <a:pt x="145237" y="276708"/>
                </a:lnTo>
                <a:lnTo>
                  <a:pt x="191143" y="269655"/>
                </a:lnTo>
                <a:lnTo>
                  <a:pt x="231012" y="250014"/>
                </a:lnTo>
                <a:lnTo>
                  <a:pt x="262451" y="220064"/>
                </a:lnTo>
                <a:lnTo>
                  <a:pt x="283070" y="182084"/>
                </a:lnTo>
                <a:lnTo>
                  <a:pt x="290474" y="138353"/>
                </a:lnTo>
                <a:lnTo>
                  <a:pt x="283070" y="94623"/>
                </a:lnTo>
                <a:lnTo>
                  <a:pt x="262451" y="56643"/>
                </a:lnTo>
                <a:lnTo>
                  <a:pt x="231012" y="26694"/>
                </a:lnTo>
                <a:lnTo>
                  <a:pt x="191143" y="7053"/>
                </a:lnTo>
                <a:lnTo>
                  <a:pt x="14523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039613" y="2233676"/>
            <a:ext cx="81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FFFF"/>
                </a:solidFill>
                <a:latin typeface="Corbel"/>
                <a:cs typeface="Corbel"/>
              </a:rPr>
              <a:t>i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189976" y="3532632"/>
            <a:ext cx="463296" cy="74371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233176" y="3553023"/>
            <a:ext cx="287020" cy="567055"/>
          </a:xfrm>
          <a:custGeom>
            <a:avLst/>
            <a:gdLst/>
            <a:ahLst/>
            <a:cxnLst/>
            <a:rect l="l" t="t" r="r" b="b"/>
            <a:pathLst>
              <a:path w="287020" h="567054">
                <a:moveTo>
                  <a:pt x="235609" y="496330"/>
                </a:moveTo>
                <a:lnTo>
                  <a:pt x="209950" y="508904"/>
                </a:lnTo>
                <a:lnTo>
                  <a:pt x="286161" y="567023"/>
                </a:lnTo>
                <a:lnTo>
                  <a:pt x="286545" y="519175"/>
                </a:lnTo>
                <a:lnTo>
                  <a:pt x="253928" y="519175"/>
                </a:lnTo>
                <a:lnTo>
                  <a:pt x="245369" y="516247"/>
                </a:lnTo>
                <a:lnTo>
                  <a:pt x="235609" y="496330"/>
                </a:lnTo>
                <a:close/>
              </a:path>
              <a:path w="287020" h="567054">
                <a:moveTo>
                  <a:pt x="261270" y="483757"/>
                </a:moveTo>
                <a:lnTo>
                  <a:pt x="235609" y="496330"/>
                </a:lnTo>
                <a:lnTo>
                  <a:pt x="245369" y="516247"/>
                </a:lnTo>
                <a:lnTo>
                  <a:pt x="253928" y="519175"/>
                </a:lnTo>
                <a:lnTo>
                  <a:pt x="268099" y="512231"/>
                </a:lnTo>
                <a:lnTo>
                  <a:pt x="271029" y="503673"/>
                </a:lnTo>
                <a:lnTo>
                  <a:pt x="261270" y="483757"/>
                </a:lnTo>
                <a:close/>
              </a:path>
              <a:path w="287020" h="567054">
                <a:moveTo>
                  <a:pt x="286929" y="471183"/>
                </a:moveTo>
                <a:lnTo>
                  <a:pt x="261270" y="483757"/>
                </a:lnTo>
                <a:lnTo>
                  <a:pt x="271029" y="503673"/>
                </a:lnTo>
                <a:lnTo>
                  <a:pt x="268099" y="512231"/>
                </a:lnTo>
                <a:lnTo>
                  <a:pt x="253928" y="519175"/>
                </a:lnTo>
                <a:lnTo>
                  <a:pt x="286545" y="519175"/>
                </a:lnTo>
                <a:lnTo>
                  <a:pt x="286929" y="471183"/>
                </a:lnTo>
                <a:close/>
              </a:path>
              <a:path w="287020" h="567054">
                <a:moveTo>
                  <a:pt x="17101" y="0"/>
                </a:moveTo>
                <a:lnTo>
                  <a:pt x="2929" y="6944"/>
                </a:lnTo>
                <a:lnTo>
                  <a:pt x="0" y="15504"/>
                </a:lnTo>
                <a:lnTo>
                  <a:pt x="235609" y="496330"/>
                </a:lnTo>
                <a:lnTo>
                  <a:pt x="261270" y="483757"/>
                </a:lnTo>
                <a:lnTo>
                  <a:pt x="25660" y="2929"/>
                </a:lnTo>
                <a:lnTo>
                  <a:pt x="171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189976" y="3322320"/>
            <a:ext cx="786383" cy="33223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233767" y="3407905"/>
            <a:ext cx="610235" cy="177165"/>
          </a:xfrm>
          <a:custGeom>
            <a:avLst/>
            <a:gdLst/>
            <a:ahLst/>
            <a:cxnLst/>
            <a:rect l="l" t="t" r="r" b="b"/>
            <a:pathLst>
              <a:path w="610234" h="177164">
                <a:moveTo>
                  <a:pt x="523050" y="27821"/>
                </a:moveTo>
                <a:lnTo>
                  <a:pt x="4767" y="149311"/>
                </a:lnTo>
                <a:lnTo>
                  <a:pt x="0" y="156999"/>
                </a:lnTo>
                <a:lnTo>
                  <a:pt x="3601" y="172364"/>
                </a:lnTo>
                <a:lnTo>
                  <a:pt x="11289" y="177131"/>
                </a:lnTo>
                <a:lnTo>
                  <a:pt x="529572" y="55641"/>
                </a:lnTo>
                <a:lnTo>
                  <a:pt x="523050" y="27821"/>
                </a:lnTo>
                <a:close/>
              </a:path>
              <a:path w="610234" h="177164">
                <a:moveTo>
                  <a:pt x="609062" y="22759"/>
                </a:moveTo>
                <a:lnTo>
                  <a:pt x="544643" y="22759"/>
                </a:lnTo>
                <a:lnTo>
                  <a:pt x="552331" y="27527"/>
                </a:lnTo>
                <a:lnTo>
                  <a:pt x="555933" y="42892"/>
                </a:lnTo>
                <a:lnTo>
                  <a:pt x="551164" y="50580"/>
                </a:lnTo>
                <a:lnTo>
                  <a:pt x="529572" y="55641"/>
                </a:lnTo>
                <a:lnTo>
                  <a:pt x="536093" y="83463"/>
                </a:lnTo>
                <a:lnTo>
                  <a:pt x="609062" y="22759"/>
                </a:lnTo>
                <a:close/>
              </a:path>
              <a:path w="610234" h="177164">
                <a:moveTo>
                  <a:pt x="544643" y="22759"/>
                </a:moveTo>
                <a:lnTo>
                  <a:pt x="523050" y="27821"/>
                </a:lnTo>
                <a:lnTo>
                  <a:pt x="529572" y="55641"/>
                </a:lnTo>
                <a:lnTo>
                  <a:pt x="551164" y="50580"/>
                </a:lnTo>
                <a:lnTo>
                  <a:pt x="555933" y="42892"/>
                </a:lnTo>
                <a:lnTo>
                  <a:pt x="552331" y="27527"/>
                </a:lnTo>
                <a:lnTo>
                  <a:pt x="544643" y="22759"/>
                </a:lnTo>
                <a:close/>
              </a:path>
              <a:path w="610234" h="177164">
                <a:moveTo>
                  <a:pt x="516529" y="0"/>
                </a:moveTo>
                <a:lnTo>
                  <a:pt x="523050" y="27821"/>
                </a:lnTo>
                <a:lnTo>
                  <a:pt x="544643" y="22759"/>
                </a:lnTo>
                <a:lnTo>
                  <a:pt x="609062" y="22759"/>
                </a:lnTo>
                <a:lnTo>
                  <a:pt x="609773" y="22167"/>
                </a:lnTo>
                <a:lnTo>
                  <a:pt x="5165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193535" y="3877055"/>
            <a:ext cx="676656" cy="69494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324866" y="3898567"/>
            <a:ext cx="501650" cy="515620"/>
          </a:xfrm>
          <a:custGeom>
            <a:avLst/>
            <a:gdLst/>
            <a:ahLst/>
            <a:cxnLst/>
            <a:rect l="l" t="t" r="r" b="b"/>
            <a:pathLst>
              <a:path w="501650" h="515620">
                <a:moveTo>
                  <a:pt x="29023" y="423664"/>
                </a:moveTo>
                <a:lnTo>
                  <a:pt x="0" y="515007"/>
                </a:lnTo>
                <a:lnTo>
                  <a:pt x="90488" y="483420"/>
                </a:lnTo>
                <a:lnTo>
                  <a:pt x="86488" y="479531"/>
                </a:lnTo>
                <a:lnTo>
                  <a:pt x="45495" y="479531"/>
                </a:lnTo>
                <a:lnTo>
                  <a:pt x="34179" y="468530"/>
                </a:lnTo>
                <a:lnTo>
                  <a:pt x="34051" y="459484"/>
                </a:lnTo>
                <a:lnTo>
                  <a:pt x="49511" y="443582"/>
                </a:lnTo>
                <a:lnTo>
                  <a:pt x="29023" y="423664"/>
                </a:lnTo>
                <a:close/>
              </a:path>
              <a:path w="501650" h="515620">
                <a:moveTo>
                  <a:pt x="49511" y="443582"/>
                </a:moveTo>
                <a:lnTo>
                  <a:pt x="34051" y="459484"/>
                </a:lnTo>
                <a:lnTo>
                  <a:pt x="34179" y="468530"/>
                </a:lnTo>
                <a:lnTo>
                  <a:pt x="45495" y="479531"/>
                </a:lnTo>
                <a:lnTo>
                  <a:pt x="54540" y="479403"/>
                </a:lnTo>
                <a:lnTo>
                  <a:pt x="69999" y="463501"/>
                </a:lnTo>
                <a:lnTo>
                  <a:pt x="49511" y="443582"/>
                </a:lnTo>
                <a:close/>
              </a:path>
              <a:path w="501650" h="515620">
                <a:moveTo>
                  <a:pt x="69999" y="463501"/>
                </a:moveTo>
                <a:lnTo>
                  <a:pt x="54540" y="479403"/>
                </a:lnTo>
                <a:lnTo>
                  <a:pt x="45495" y="479531"/>
                </a:lnTo>
                <a:lnTo>
                  <a:pt x="86488" y="479531"/>
                </a:lnTo>
                <a:lnTo>
                  <a:pt x="69999" y="463501"/>
                </a:lnTo>
                <a:close/>
              </a:path>
              <a:path w="501650" h="515620">
                <a:moveTo>
                  <a:pt x="489671" y="0"/>
                </a:moveTo>
                <a:lnTo>
                  <a:pt x="480626" y="128"/>
                </a:lnTo>
                <a:lnTo>
                  <a:pt x="49511" y="443582"/>
                </a:lnTo>
                <a:lnTo>
                  <a:pt x="69999" y="463501"/>
                </a:lnTo>
                <a:lnTo>
                  <a:pt x="501115" y="20046"/>
                </a:lnTo>
                <a:lnTo>
                  <a:pt x="500987" y="11000"/>
                </a:lnTo>
                <a:lnTo>
                  <a:pt x="4896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748271" y="3877055"/>
            <a:ext cx="582168" cy="60655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94417" y="3898493"/>
            <a:ext cx="403225" cy="429259"/>
          </a:xfrm>
          <a:custGeom>
            <a:avLst/>
            <a:gdLst/>
            <a:ahLst/>
            <a:cxnLst/>
            <a:rect l="l" t="t" r="r" b="b"/>
            <a:pathLst>
              <a:path w="403225" h="429260">
                <a:moveTo>
                  <a:pt x="334150" y="376083"/>
                </a:moveTo>
                <a:lnTo>
                  <a:pt x="313308" y="395632"/>
                </a:lnTo>
                <a:lnTo>
                  <a:pt x="403218" y="428834"/>
                </a:lnTo>
                <a:lnTo>
                  <a:pt x="392399" y="392549"/>
                </a:lnTo>
                <a:lnTo>
                  <a:pt x="358364" y="392549"/>
                </a:lnTo>
                <a:lnTo>
                  <a:pt x="349323" y="392259"/>
                </a:lnTo>
                <a:lnTo>
                  <a:pt x="334150" y="376083"/>
                </a:lnTo>
                <a:close/>
              </a:path>
              <a:path w="403225" h="429260">
                <a:moveTo>
                  <a:pt x="354992" y="356535"/>
                </a:moveTo>
                <a:lnTo>
                  <a:pt x="334150" y="376083"/>
                </a:lnTo>
                <a:lnTo>
                  <a:pt x="349323" y="392259"/>
                </a:lnTo>
                <a:lnTo>
                  <a:pt x="358364" y="392549"/>
                </a:lnTo>
                <a:lnTo>
                  <a:pt x="369876" y="381753"/>
                </a:lnTo>
                <a:lnTo>
                  <a:pt x="370165" y="372711"/>
                </a:lnTo>
                <a:lnTo>
                  <a:pt x="354992" y="356535"/>
                </a:lnTo>
                <a:close/>
              </a:path>
              <a:path w="403225" h="429260">
                <a:moveTo>
                  <a:pt x="375833" y="336986"/>
                </a:moveTo>
                <a:lnTo>
                  <a:pt x="354992" y="356535"/>
                </a:lnTo>
                <a:lnTo>
                  <a:pt x="370165" y="372711"/>
                </a:lnTo>
                <a:lnTo>
                  <a:pt x="369876" y="381753"/>
                </a:lnTo>
                <a:lnTo>
                  <a:pt x="358364" y="392549"/>
                </a:lnTo>
                <a:lnTo>
                  <a:pt x="392399" y="392549"/>
                </a:lnTo>
                <a:lnTo>
                  <a:pt x="375833" y="336986"/>
                </a:lnTo>
                <a:close/>
              </a:path>
              <a:path w="403225" h="429260">
                <a:moveTo>
                  <a:pt x="11800" y="0"/>
                </a:moveTo>
                <a:lnTo>
                  <a:pt x="289" y="10796"/>
                </a:lnTo>
                <a:lnTo>
                  <a:pt x="0" y="19837"/>
                </a:lnTo>
                <a:lnTo>
                  <a:pt x="334150" y="376083"/>
                </a:lnTo>
                <a:lnTo>
                  <a:pt x="354992" y="356535"/>
                </a:lnTo>
                <a:lnTo>
                  <a:pt x="20841" y="289"/>
                </a:lnTo>
                <a:lnTo>
                  <a:pt x="11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352032" y="3496055"/>
            <a:ext cx="518160" cy="53644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486037" y="3602565"/>
            <a:ext cx="340360" cy="361315"/>
          </a:xfrm>
          <a:custGeom>
            <a:avLst/>
            <a:gdLst/>
            <a:ahLst/>
            <a:cxnLst/>
            <a:rect l="l" t="t" r="r" b="b"/>
            <a:pathLst>
              <a:path w="340359" h="361314">
                <a:moveTo>
                  <a:pt x="69116" y="52686"/>
                </a:moveTo>
                <a:lnTo>
                  <a:pt x="48293" y="72254"/>
                </a:lnTo>
                <a:lnTo>
                  <a:pt x="319191" y="360521"/>
                </a:lnTo>
                <a:lnTo>
                  <a:pt x="328234" y="360803"/>
                </a:lnTo>
                <a:lnTo>
                  <a:pt x="339733" y="349995"/>
                </a:lnTo>
                <a:lnTo>
                  <a:pt x="340014" y="340953"/>
                </a:lnTo>
                <a:lnTo>
                  <a:pt x="69116" y="52686"/>
                </a:lnTo>
                <a:close/>
              </a:path>
              <a:path w="340359" h="361314">
                <a:moveTo>
                  <a:pt x="0" y="0"/>
                </a:moveTo>
                <a:lnTo>
                  <a:pt x="27470" y="91822"/>
                </a:lnTo>
                <a:lnTo>
                  <a:pt x="48293" y="72254"/>
                </a:lnTo>
                <a:lnTo>
                  <a:pt x="33105" y="56092"/>
                </a:lnTo>
                <a:lnTo>
                  <a:pt x="33385" y="47050"/>
                </a:lnTo>
                <a:lnTo>
                  <a:pt x="44886" y="36243"/>
                </a:lnTo>
                <a:lnTo>
                  <a:pt x="86614" y="36243"/>
                </a:lnTo>
                <a:lnTo>
                  <a:pt x="89940" y="33117"/>
                </a:lnTo>
                <a:lnTo>
                  <a:pt x="0" y="0"/>
                </a:lnTo>
                <a:close/>
              </a:path>
              <a:path w="340359" h="361314">
                <a:moveTo>
                  <a:pt x="44886" y="36243"/>
                </a:moveTo>
                <a:lnTo>
                  <a:pt x="33385" y="47050"/>
                </a:lnTo>
                <a:lnTo>
                  <a:pt x="33105" y="56092"/>
                </a:lnTo>
                <a:lnTo>
                  <a:pt x="48293" y="72254"/>
                </a:lnTo>
                <a:lnTo>
                  <a:pt x="69116" y="52686"/>
                </a:lnTo>
                <a:lnTo>
                  <a:pt x="53928" y="36523"/>
                </a:lnTo>
                <a:lnTo>
                  <a:pt x="44886" y="36243"/>
                </a:lnTo>
                <a:close/>
              </a:path>
              <a:path w="340359" h="361314">
                <a:moveTo>
                  <a:pt x="86614" y="36243"/>
                </a:moveTo>
                <a:lnTo>
                  <a:pt x="44886" y="36243"/>
                </a:lnTo>
                <a:lnTo>
                  <a:pt x="53928" y="36523"/>
                </a:lnTo>
                <a:lnTo>
                  <a:pt x="69116" y="52686"/>
                </a:lnTo>
                <a:lnTo>
                  <a:pt x="86614" y="362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620256" y="3767328"/>
            <a:ext cx="381000" cy="37185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65938" y="3790081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144299" y="0"/>
                </a:moveTo>
                <a:lnTo>
                  <a:pt x="98689" y="7099"/>
                </a:lnTo>
                <a:lnTo>
                  <a:pt x="59078" y="26867"/>
                </a:lnTo>
                <a:lnTo>
                  <a:pt x="27841" y="57011"/>
                </a:lnTo>
                <a:lnTo>
                  <a:pt x="7356" y="95238"/>
                </a:lnTo>
                <a:lnTo>
                  <a:pt x="0" y="139252"/>
                </a:lnTo>
                <a:lnTo>
                  <a:pt x="7356" y="183267"/>
                </a:lnTo>
                <a:lnTo>
                  <a:pt x="27841" y="221492"/>
                </a:lnTo>
                <a:lnTo>
                  <a:pt x="59078" y="251637"/>
                </a:lnTo>
                <a:lnTo>
                  <a:pt x="98689" y="271405"/>
                </a:lnTo>
                <a:lnTo>
                  <a:pt x="144299" y="278504"/>
                </a:lnTo>
                <a:lnTo>
                  <a:pt x="189909" y="271405"/>
                </a:lnTo>
                <a:lnTo>
                  <a:pt x="229520" y="251637"/>
                </a:lnTo>
                <a:lnTo>
                  <a:pt x="260757" y="221492"/>
                </a:lnTo>
                <a:lnTo>
                  <a:pt x="281242" y="183267"/>
                </a:lnTo>
                <a:lnTo>
                  <a:pt x="288598" y="139252"/>
                </a:lnTo>
                <a:lnTo>
                  <a:pt x="281242" y="95238"/>
                </a:lnTo>
                <a:lnTo>
                  <a:pt x="260757" y="57011"/>
                </a:lnTo>
                <a:lnTo>
                  <a:pt x="229520" y="26867"/>
                </a:lnTo>
                <a:lnTo>
                  <a:pt x="189909" y="7099"/>
                </a:lnTo>
                <a:lnTo>
                  <a:pt x="144299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058911" y="3422903"/>
            <a:ext cx="381000" cy="37185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05179" y="3445093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144298" y="0"/>
                </a:moveTo>
                <a:lnTo>
                  <a:pt x="98689" y="7099"/>
                </a:lnTo>
                <a:lnTo>
                  <a:pt x="59077" y="26867"/>
                </a:lnTo>
                <a:lnTo>
                  <a:pt x="27841" y="57011"/>
                </a:lnTo>
                <a:lnTo>
                  <a:pt x="7356" y="95238"/>
                </a:lnTo>
                <a:lnTo>
                  <a:pt x="0" y="139252"/>
                </a:lnTo>
                <a:lnTo>
                  <a:pt x="7356" y="183267"/>
                </a:lnTo>
                <a:lnTo>
                  <a:pt x="27841" y="221492"/>
                </a:lnTo>
                <a:lnTo>
                  <a:pt x="59077" y="251637"/>
                </a:lnTo>
                <a:lnTo>
                  <a:pt x="98689" y="271405"/>
                </a:lnTo>
                <a:lnTo>
                  <a:pt x="144298" y="278504"/>
                </a:lnTo>
                <a:lnTo>
                  <a:pt x="189908" y="271405"/>
                </a:lnTo>
                <a:lnTo>
                  <a:pt x="229520" y="251637"/>
                </a:lnTo>
                <a:lnTo>
                  <a:pt x="260756" y="221492"/>
                </a:lnTo>
                <a:lnTo>
                  <a:pt x="281241" y="183267"/>
                </a:lnTo>
                <a:lnTo>
                  <a:pt x="288597" y="139252"/>
                </a:lnTo>
                <a:lnTo>
                  <a:pt x="281241" y="95238"/>
                </a:lnTo>
                <a:lnTo>
                  <a:pt x="260756" y="57011"/>
                </a:lnTo>
                <a:lnTo>
                  <a:pt x="229520" y="26867"/>
                </a:lnTo>
                <a:lnTo>
                  <a:pt x="189908" y="7099"/>
                </a:lnTo>
                <a:lnTo>
                  <a:pt x="14429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519416" y="3941064"/>
            <a:ext cx="381000" cy="37185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565463" y="3962574"/>
            <a:ext cx="288925" cy="278765"/>
          </a:xfrm>
          <a:custGeom>
            <a:avLst/>
            <a:gdLst/>
            <a:ahLst/>
            <a:cxnLst/>
            <a:rect l="l" t="t" r="r" b="b"/>
            <a:pathLst>
              <a:path w="288925" h="278764">
                <a:moveTo>
                  <a:pt x="144298" y="0"/>
                </a:moveTo>
                <a:lnTo>
                  <a:pt x="98689" y="7099"/>
                </a:lnTo>
                <a:lnTo>
                  <a:pt x="59077" y="26868"/>
                </a:lnTo>
                <a:lnTo>
                  <a:pt x="27841" y="57012"/>
                </a:lnTo>
                <a:lnTo>
                  <a:pt x="7356" y="95239"/>
                </a:lnTo>
                <a:lnTo>
                  <a:pt x="0" y="139254"/>
                </a:lnTo>
                <a:lnTo>
                  <a:pt x="7356" y="183268"/>
                </a:lnTo>
                <a:lnTo>
                  <a:pt x="27841" y="221495"/>
                </a:lnTo>
                <a:lnTo>
                  <a:pt x="59077" y="251639"/>
                </a:lnTo>
                <a:lnTo>
                  <a:pt x="98689" y="271407"/>
                </a:lnTo>
                <a:lnTo>
                  <a:pt x="144298" y="278507"/>
                </a:lnTo>
                <a:lnTo>
                  <a:pt x="189908" y="271407"/>
                </a:lnTo>
                <a:lnTo>
                  <a:pt x="229519" y="251639"/>
                </a:lnTo>
                <a:lnTo>
                  <a:pt x="260756" y="221495"/>
                </a:lnTo>
                <a:lnTo>
                  <a:pt x="281240" y="183268"/>
                </a:lnTo>
                <a:lnTo>
                  <a:pt x="288597" y="139254"/>
                </a:lnTo>
                <a:lnTo>
                  <a:pt x="281240" y="95239"/>
                </a:lnTo>
                <a:lnTo>
                  <a:pt x="260756" y="57012"/>
                </a:lnTo>
                <a:lnTo>
                  <a:pt x="229519" y="26868"/>
                </a:lnTo>
                <a:lnTo>
                  <a:pt x="189908" y="7099"/>
                </a:lnTo>
                <a:lnTo>
                  <a:pt x="144298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171688" y="3151632"/>
            <a:ext cx="408431" cy="46939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303828" y="3170227"/>
            <a:ext cx="231775" cy="294005"/>
          </a:xfrm>
          <a:custGeom>
            <a:avLst/>
            <a:gdLst/>
            <a:ahLst/>
            <a:cxnLst/>
            <a:rect l="l" t="t" r="r" b="b"/>
            <a:pathLst>
              <a:path w="231775" h="294004">
                <a:moveTo>
                  <a:pt x="18670" y="199978"/>
                </a:moveTo>
                <a:lnTo>
                  <a:pt x="0" y="293985"/>
                </a:lnTo>
                <a:lnTo>
                  <a:pt x="84018" y="253663"/>
                </a:lnTo>
                <a:lnTo>
                  <a:pt x="41261" y="253663"/>
                </a:lnTo>
                <a:lnTo>
                  <a:pt x="28790" y="243991"/>
                </a:lnTo>
                <a:lnTo>
                  <a:pt x="27666" y="235003"/>
                </a:lnTo>
                <a:lnTo>
                  <a:pt x="41249" y="217490"/>
                </a:lnTo>
                <a:lnTo>
                  <a:pt x="18670" y="199978"/>
                </a:lnTo>
                <a:close/>
              </a:path>
              <a:path w="231775" h="294004">
                <a:moveTo>
                  <a:pt x="41249" y="217490"/>
                </a:moveTo>
                <a:lnTo>
                  <a:pt x="27656" y="235016"/>
                </a:lnTo>
                <a:lnTo>
                  <a:pt x="28790" y="243991"/>
                </a:lnTo>
                <a:lnTo>
                  <a:pt x="41261" y="253663"/>
                </a:lnTo>
                <a:lnTo>
                  <a:pt x="50245" y="252516"/>
                </a:lnTo>
                <a:lnTo>
                  <a:pt x="63829" y="235003"/>
                </a:lnTo>
                <a:lnTo>
                  <a:pt x="41249" y="217490"/>
                </a:lnTo>
                <a:close/>
              </a:path>
              <a:path w="231775" h="294004">
                <a:moveTo>
                  <a:pt x="63829" y="235003"/>
                </a:moveTo>
                <a:lnTo>
                  <a:pt x="50236" y="252529"/>
                </a:lnTo>
                <a:lnTo>
                  <a:pt x="41261" y="253663"/>
                </a:lnTo>
                <a:lnTo>
                  <a:pt x="84018" y="253663"/>
                </a:lnTo>
                <a:lnTo>
                  <a:pt x="86408" y="252516"/>
                </a:lnTo>
                <a:lnTo>
                  <a:pt x="63829" y="235003"/>
                </a:lnTo>
                <a:close/>
              </a:path>
              <a:path w="231775" h="294004">
                <a:moveTo>
                  <a:pt x="218036" y="0"/>
                </a:moveTo>
                <a:lnTo>
                  <a:pt x="209061" y="1134"/>
                </a:lnTo>
                <a:lnTo>
                  <a:pt x="41249" y="217490"/>
                </a:lnTo>
                <a:lnTo>
                  <a:pt x="63829" y="235003"/>
                </a:lnTo>
                <a:lnTo>
                  <a:pt x="231640" y="18647"/>
                </a:lnTo>
                <a:lnTo>
                  <a:pt x="230506" y="9672"/>
                </a:lnTo>
                <a:lnTo>
                  <a:pt x="2180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866888" y="1941576"/>
            <a:ext cx="301751" cy="47243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989559" y="1960576"/>
            <a:ext cx="133350" cy="297180"/>
          </a:xfrm>
          <a:custGeom>
            <a:avLst/>
            <a:gdLst/>
            <a:ahLst/>
            <a:cxnLst/>
            <a:rect l="l" t="t" r="r" b="b"/>
            <a:pathLst>
              <a:path w="133350" h="297180">
                <a:moveTo>
                  <a:pt x="0" y="201435"/>
                </a:moveTo>
                <a:lnTo>
                  <a:pt x="9287" y="296829"/>
                </a:lnTo>
                <a:lnTo>
                  <a:pt x="64558" y="246305"/>
                </a:lnTo>
                <a:lnTo>
                  <a:pt x="37138" y="246305"/>
                </a:lnTo>
                <a:lnTo>
                  <a:pt x="22405" y="240648"/>
                </a:lnTo>
                <a:lnTo>
                  <a:pt x="18726" y="232383"/>
                </a:lnTo>
                <a:lnTo>
                  <a:pt x="26675" y="211678"/>
                </a:lnTo>
                <a:lnTo>
                  <a:pt x="0" y="201435"/>
                </a:lnTo>
                <a:close/>
              </a:path>
              <a:path w="133350" h="297180">
                <a:moveTo>
                  <a:pt x="26675" y="211678"/>
                </a:moveTo>
                <a:lnTo>
                  <a:pt x="18726" y="232383"/>
                </a:lnTo>
                <a:lnTo>
                  <a:pt x="22405" y="240648"/>
                </a:lnTo>
                <a:lnTo>
                  <a:pt x="37138" y="246305"/>
                </a:lnTo>
                <a:lnTo>
                  <a:pt x="45402" y="242625"/>
                </a:lnTo>
                <a:lnTo>
                  <a:pt x="53352" y="221920"/>
                </a:lnTo>
                <a:lnTo>
                  <a:pt x="26675" y="211678"/>
                </a:lnTo>
                <a:close/>
              </a:path>
              <a:path w="133350" h="297180">
                <a:moveTo>
                  <a:pt x="53352" y="221920"/>
                </a:moveTo>
                <a:lnTo>
                  <a:pt x="45402" y="242625"/>
                </a:lnTo>
                <a:lnTo>
                  <a:pt x="37138" y="246305"/>
                </a:lnTo>
                <a:lnTo>
                  <a:pt x="64558" y="246305"/>
                </a:lnTo>
                <a:lnTo>
                  <a:pt x="80029" y="232163"/>
                </a:lnTo>
                <a:lnTo>
                  <a:pt x="53352" y="221920"/>
                </a:lnTo>
                <a:close/>
              </a:path>
              <a:path w="133350" h="297180">
                <a:moveTo>
                  <a:pt x="114800" y="0"/>
                </a:moveTo>
                <a:lnTo>
                  <a:pt x="106536" y="3679"/>
                </a:lnTo>
                <a:lnTo>
                  <a:pt x="26675" y="211678"/>
                </a:lnTo>
                <a:lnTo>
                  <a:pt x="53352" y="221920"/>
                </a:lnTo>
                <a:lnTo>
                  <a:pt x="133212" y="13921"/>
                </a:lnTo>
                <a:lnTo>
                  <a:pt x="129533" y="5656"/>
                </a:lnTo>
                <a:lnTo>
                  <a:pt x="11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687056" y="3810000"/>
            <a:ext cx="478535" cy="38404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819135" y="3828424"/>
            <a:ext cx="302895" cy="208915"/>
          </a:xfrm>
          <a:custGeom>
            <a:avLst/>
            <a:gdLst/>
            <a:ahLst/>
            <a:cxnLst/>
            <a:rect l="l" t="t" r="r" b="b"/>
            <a:pathLst>
              <a:path w="302895" h="208914">
                <a:moveTo>
                  <a:pt x="47247" y="125079"/>
                </a:moveTo>
                <a:lnTo>
                  <a:pt x="0" y="208467"/>
                </a:lnTo>
                <a:lnTo>
                  <a:pt x="95059" y="196232"/>
                </a:lnTo>
                <a:lnTo>
                  <a:pt x="87433" y="184884"/>
                </a:lnTo>
                <a:lnTo>
                  <a:pt x="60713" y="184884"/>
                </a:lnTo>
                <a:lnTo>
                  <a:pt x="51836" y="183142"/>
                </a:lnTo>
                <a:lnTo>
                  <a:pt x="43033" y="170044"/>
                </a:lnTo>
                <a:lnTo>
                  <a:pt x="44776" y="161166"/>
                </a:lnTo>
                <a:lnTo>
                  <a:pt x="63185" y="148797"/>
                </a:lnTo>
                <a:lnTo>
                  <a:pt x="47247" y="125079"/>
                </a:lnTo>
                <a:close/>
              </a:path>
              <a:path w="302895" h="208914">
                <a:moveTo>
                  <a:pt x="63185" y="148797"/>
                </a:moveTo>
                <a:lnTo>
                  <a:pt x="44776" y="161166"/>
                </a:lnTo>
                <a:lnTo>
                  <a:pt x="43033" y="170044"/>
                </a:lnTo>
                <a:lnTo>
                  <a:pt x="51836" y="183142"/>
                </a:lnTo>
                <a:lnTo>
                  <a:pt x="60713" y="184884"/>
                </a:lnTo>
                <a:lnTo>
                  <a:pt x="79121" y="172514"/>
                </a:lnTo>
                <a:lnTo>
                  <a:pt x="63185" y="148797"/>
                </a:lnTo>
                <a:close/>
              </a:path>
              <a:path w="302895" h="208914">
                <a:moveTo>
                  <a:pt x="79121" y="172514"/>
                </a:moveTo>
                <a:lnTo>
                  <a:pt x="60713" y="184884"/>
                </a:lnTo>
                <a:lnTo>
                  <a:pt x="87433" y="184884"/>
                </a:lnTo>
                <a:lnTo>
                  <a:pt x="79121" y="172514"/>
                </a:lnTo>
                <a:close/>
              </a:path>
              <a:path w="302895" h="208914">
                <a:moveTo>
                  <a:pt x="284626" y="0"/>
                </a:moveTo>
                <a:lnTo>
                  <a:pt x="63185" y="148797"/>
                </a:lnTo>
                <a:lnTo>
                  <a:pt x="79121" y="172514"/>
                </a:lnTo>
                <a:lnTo>
                  <a:pt x="300563" y="23718"/>
                </a:lnTo>
                <a:lnTo>
                  <a:pt x="302305" y="14841"/>
                </a:lnTo>
                <a:lnTo>
                  <a:pt x="293503" y="1742"/>
                </a:lnTo>
                <a:lnTo>
                  <a:pt x="2846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172200" y="3840479"/>
            <a:ext cx="627888" cy="31089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216502" y="3928695"/>
            <a:ext cx="449580" cy="153035"/>
          </a:xfrm>
          <a:custGeom>
            <a:avLst/>
            <a:gdLst/>
            <a:ahLst/>
            <a:cxnLst/>
            <a:rect l="l" t="t" r="r" b="b"/>
            <a:pathLst>
              <a:path w="449579" h="153035">
                <a:moveTo>
                  <a:pt x="362964" y="27572"/>
                </a:moveTo>
                <a:lnTo>
                  <a:pt x="4493" y="125087"/>
                </a:lnTo>
                <a:lnTo>
                  <a:pt x="0" y="132938"/>
                </a:lnTo>
                <a:lnTo>
                  <a:pt x="4142" y="148167"/>
                </a:lnTo>
                <a:lnTo>
                  <a:pt x="11993" y="152660"/>
                </a:lnTo>
                <a:lnTo>
                  <a:pt x="370465" y="55146"/>
                </a:lnTo>
                <a:lnTo>
                  <a:pt x="362964" y="27572"/>
                </a:lnTo>
                <a:close/>
              </a:path>
              <a:path w="449579" h="153035">
                <a:moveTo>
                  <a:pt x="446196" y="21751"/>
                </a:moveTo>
                <a:lnTo>
                  <a:pt x="384365" y="21751"/>
                </a:lnTo>
                <a:lnTo>
                  <a:pt x="392216" y="26244"/>
                </a:lnTo>
                <a:lnTo>
                  <a:pt x="396359" y="41473"/>
                </a:lnTo>
                <a:lnTo>
                  <a:pt x="391866" y="49324"/>
                </a:lnTo>
                <a:lnTo>
                  <a:pt x="370465" y="55146"/>
                </a:lnTo>
                <a:lnTo>
                  <a:pt x="377965" y="82718"/>
                </a:lnTo>
                <a:lnTo>
                  <a:pt x="446196" y="21751"/>
                </a:lnTo>
                <a:close/>
              </a:path>
              <a:path w="449579" h="153035">
                <a:moveTo>
                  <a:pt x="384365" y="21751"/>
                </a:moveTo>
                <a:lnTo>
                  <a:pt x="362964" y="27572"/>
                </a:lnTo>
                <a:lnTo>
                  <a:pt x="370465" y="55146"/>
                </a:lnTo>
                <a:lnTo>
                  <a:pt x="391866" y="49324"/>
                </a:lnTo>
                <a:lnTo>
                  <a:pt x="396359" y="41473"/>
                </a:lnTo>
                <a:lnTo>
                  <a:pt x="392216" y="26244"/>
                </a:lnTo>
                <a:lnTo>
                  <a:pt x="384365" y="21751"/>
                </a:lnTo>
                <a:close/>
              </a:path>
              <a:path w="449579" h="153035">
                <a:moveTo>
                  <a:pt x="355464" y="0"/>
                </a:moveTo>
                <a:lnTo>
                  <a:pt x="362964" y="27572"/>
                </a:lnTo>
                <a:lnTo>
                  <a:pt x="384365" y="21751"/>
                </a:lnTo>
                <a:lnTo>
                  <a:pt x="446196" y="21751"/>
                </a:lnTo>
                <a:lnTo>
                  <a:pt x="449433" y="18858"/>
                </a:lnTo>
                <a:lnTo>
                  <a:pt x="355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504176" y="4130040"/>
            <a:ext cx="292607" cy="45415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549316" y="4236750"/>
            <a:ext cx="125095" cy="279400"/>
          </a:xfrm>
          <a:custGeom>
            <a:avLst/>
            <a:gdLst/>
            <a:ahLst/>
            <a:cxnLst/>
            <a:rect l="l" t="t" r="r" b="b"/>
            <a:pathLst>
              <a:path w="125095" h="279400">
                <a:moveTo>
                  <a:pt x="70931" y="75324"/>
                </a:moveTo>
                <a:lnTo>
                  <a:pt x="0" y="265471"/>
                </a:lnTo>
                <a:lnTo>
                  <a:pt x="3757" y="273701"/>
                </a:lnTo>
                <a:lnTo>
                  <a:pt x="18544" y="279217"/>
                </a:lnTo>
                <a:lnTo>
                  <a:pt x="26772" y="275459"/>
                </a:lnTo>
                <a:lnTo>
                  <a:pt x="97704" y="85312"/>
                </a:lnTo>
                <a:lnTo>
                  <a:pt x="70931" y="75324"/>
                </a:lnTo>
                <a:close/>
              </a:path>
              <a:path w="125095" h="279400">
                <a:moveTo>
                  <a:pt x="119714" y="50787"/>
                </a:moveTo>
                <a:lnTo>
                  <a:pt x="86912" y="50787"/>
                </a:lnTo>
                <a:lnTo>
                  <a:pt x="101699" y="56302"/>
                </a:lnTo>
                <a:lnTo>
                  <a:pt x="105455" y="64532"/>
                </a:lnTo>
                <a:lnTo>
                  <a:pt x="97704" y="85312"/>
                </a:lnTo>
                <a:lnTo>
                  <a:pt x="124477" y="95299"/>
                </a:lnTo>
                <a:lnTo>
                  <a:pt x="119714" y="50787"/>
                </a:lnTo>
                <a:close/>
              </a:path>
              <a:path w="125095" h="279400">
                <a:moveTo>
                  <a:pt x="86912" y="50787"/>
                </a:moveTo>
                <a:lnTo>
                  <a:pt x="78682" y="54545"/>
                </a:lnTo>
                <a:lnTo>
                  <a:pt x="70931" y="75324"/>
                </a:lnTo>
                <a:lnTo>
                  <a:pt x="97704" y="85312"/>
                </a:lnTo>
                <a:lnTo>
                  <a:pt x="105455" y="64532"/>
                </a:lnTo>
                <a:lnTo>
                  <a:pt x="101699" y="56302"/>
                </a:lnTo>
                <a:lnTo>
                  <a:pt x="86912" y="50787"/>
                </a:lnTo>
                <a:close/>
              </a:path>
              <a:path w="125095" h="279400">
                <a:moveTo>
                  <a:pt x="114279" y="0"/>
                </a:moveTo>
                <a:lnTo>
                  <a:pt x="44159" y="65337"/>
                </a:lnTo>
                <a:lnTo>
                  <a:pt x="70931" y="75324"/>
                </a:lnTo>
                <a:lnTo>
                  <a:pt x="78682" y="54545"/>
                </a:lnTo>
                <a:lnTo>
                  <a:pt x="86912" y="50787"/>
                </a:lnTo>
                <a:lnTo>
                  <a:pt x="119714" y="50787"/>
                </a:lnTo>
                <a:lnTo>
                  <a:pt x="1142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605016" y="2350007"/>
            <a:ext cx="481583" cy="40843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649763" y="2457171"/>
            <a:ext cx="304800" cy="231140"/>
          </a:xfrm>
          <a:custGeom>
            <a:avLst/>
            <a:gdLst/>
            <a:ahLst/>
            <a:cxnLst/>
            <a:rect l="l" t="t" r="r" b="b"/>
            <a:pathLst>
              <a:path w="304800" h="231139">
                <a:moveTo>
                  <a:pt x="227476" y="39730"/>
                </a:moveTo>
                <a:lnTo>
                  <a:pt x="1310" y="208098"/>
                </a:lnTo>
                <a:lnTo>
                  <a:pt x="0" y="217049"/>
                </a:lnTo>
                <a:lnTo>
                  <a:pt x="9423" y="229707"/>
                </a:lnTo>
                <a:lnTo>
                  <a:pt x="18374" y="231019"/>
                </a:lnTo>
                <a:lnTo>
                  <a:pt x="244539" y="62651"/>
                </a:lnTo>
                <a:lnTo>
                  <a:pt x="227476" y="39730"/>
                </a:lnTo>
                <a:close/>
              </a:path>
              <a:path w="304800" h="231139">
                <a:moveTo>
                  <a:pt x="291409" y="26487"/>
                </a:moveTo>
                <a:lnTo>
                  <a:pt x="245266" y="26487"/>
                </a:lnTo>
                <a:lnTo>
                  <a:pt x="254217" y="27797"/>
                </a:lnTo>
                <a:lnTo>
                  <a:pt x="263640" y="40457"/>
                </a:lnTo>
                <a:lnTo>
                  <a:pt x="262329" y="49408"/>
                </a:lnTo>
                <a:lnTo>
                  <a:pt x="244539" y="62651"/>
                </a:lnTo>
                <a:lnTo>
                  <a:pt x="261603" y="85572"/>
                </a:lnTo>
                <a:lnTo>
                  <a:pt x="291409" y="26487"/>
                </a:lnTo>
                <a:close/>
              </a:path>
              <a:path w="304800" h="231139">
                <a:moveTo>
                  <a:pt x="245266" y="26487"/>
                </a:moveTo>
                <a:lnTo>
                  <a:pt x="227476" y="39730"/>
                </a:lnTo>
                <a:lnTo>
                  <a:pt x="244539" y="62651"/>
                </a:lnTo>
                <a:lnTo>
                  <a:pt x="262329" y="49408"/>
                </a:lnTo>
                <a:lnTo>
                  <a:pt x="263640" y="40457"/>
                </a:lnTo>
                <a:lnTo>
                  <a:pt x="254217" y="27797"/>
                </a:lnTo>
                <a:lnTo>
                  <a:pt x="245266" y="26487"/>
                </a:lnTo>
                <a:close/>
              </a:path>
              <a:path w="304800" h="231139">
                <a:moveTo>
                  <a:pt x="304770" y="0"/>
                </a:moveTo>
                <a:lnTo>
                  <a:pt x="210413" y="16809"/>
                </a:lnTo>
                <a:lnTo>
                  <a:pt x="227476" y="39730"/>
                </a:lnTo>
                <a:lnTo>
                  <a:pt x="245266" y="26487"/>
                </a:lnTo>
                <a:lnTo>
                  <a:pt x="291409" y="26487"/>
                </a:lnTo>
                <a:lnTo>
                  <a:pt x="3047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7902994" y="3099307"/>
            <a:ext cx="398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0000FF"/>
                </a:solidFill>
                <a:latin typeface="Corbel"/>
                <a:cs typeface="Corbel"/>
              </a:rPr>
              <a:t>r</a:t>
            </a:r>
            <a:r>
              <a:rPr dirty="0" baseline="-13888" sz="1800" b="1" i="1">
                <a:solidFill>
                  <a:srgbClr val="0000FF"/>
                </a:solidFill>
                <a:latin typeface="Corbel"/>
                <a:cs typeface="Corbel"/>
              </a:rPr>
              <a:t>j </a:t>
            </a:r>
            <a:r>
              <a:rPr dirty="0" sz="1800" b="1" i="1">
                <a:solidFill>
                  <a:srgbClr val="0000FF"/>
                </a:solidFill>
                <a:latin typeface="Corbel"/>
                <a:cs typeface="Corbel"/>
              </a:rPr>
              <a:t>/</a:t>
            </a:r>
            <a:r>
              <a:rPr dirty="0" sz="1800" spc="-185" b="1" i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1800" b="1" i="1">
                <a:solidFill>
                  <a:srgbClr val="0000FF"/>
                </a:solidFill>
                <a:latin typeface="Corbel"/>
                <a:cs typeface="Corbel"/>
              </a:rPr>
              <a:t>3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2"/>
              </a:rPr>
              <a:t>http://cs224w.stanford.edu</a:t>
            </a:r>
          </a:p>
        </p:txBody>
      </p:sp>
      <p:sp>
        <p:nvSpPr>
          <p:cNvPr id="72" name="object 7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  <p:sp>
        <p:nvSpPr>
          <p:cNvPr id="66" name="object 66"/>
          <p:cNvSpPr txBox="1"/>
          <p:nvPr/>
        </p:nvSpPr>
        <p:spPr>
          <a:xfrm>
            <a:off x="7641470" y="3556508"/>
            <a:ext cx="398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0000FF"/>
                </a:solidFill>
                <a:latin typeface="Corbel"/>
                <a:cs typeface="Corbel"/>
              </a:rPr>
              <a:t>r</a:t>
            </a:r>
            <a:r>
              <a:rPr dirty="0" baseline="-13888" sz="1800" b="1" i="1">
                <a:solidFill>
                  <a:srgbClr val="0000FF"/>
                </a:solidFill>
                <a:latin typeface="Corbel"/>
                <a:cs typeface="Corbel"/>
              </a:rPr>
              <a:t>j </a:t>
            </a:r>
            <a:r>
              <a:rPr dirty="0" sz="1800" b="1" i="1">
                <a:solidFill>
                  <a:srgbClr val="0000FF"/>
                </a:solidFill>
                <a:latin typeface="Corbel"/>
                <a:cs typeface="Corbel"/>
              </a:rPr>
              <a:t>/</a:t>
            </a:r>
            <a:r>
              <a:rPr dirty="0" sz="1800" spc="-185" b="1" i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1800" b="1" i="1">
                <a:solidFill>
                  <a:srgbClr val="0000FF"/>
                </a:solidFill>
                <a:latin typeface="Corbel"/>
                <a:cs typeface="Corbel"/>
              </a:rPr>
              <a:t>3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967388" y="3571747"/>
            <a:ext cx="398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0000FF"/>
                </a:solidFill>
                <a:latin typeface="Corbel"/>
                <a:cs typeface="Corbel"/>
              </a:rPr>
              <a:t>r</a:t>
            </a:r>
            <a:r>
              <a:rPr dirty="0" baseline="-13888" sz="1800" b="1" i="1">
                <a:solidFill>
                  <a:srgbClr val="0000FF"/>
                </a:solidFill>
                <a:latin typeface="Corbel"/>
                <a:cs typeface="Corbel"/>
              </a:rPr>
              <a:t>j </a:t>
            </a:r>
            <a:r>
              <a:rPr dirty="0" sz="1800" b="1" i="1">
                <a:solidFill>
                  <a:srgbClr val="0000FF"/>
                </a:solidFill>
                <a:latin typeface="Corbel"/>
                <a:cs typeface="Corbel"/>
              </a:rPr>
              <a:t>/</a:t>
            </a:r>
            <a:r>
              <a:rPr dirty="0" sz="1800" spc="-185" b="1" i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1800" b="1" i="1">
                <a:solidFill>
                  <a:srgbClr val="0000FF"/>
                </a:solidFill>
                <a:latin typeface="Corbel"/>
                <a:cs typeface="Corbel"/>
              </a:rPr>
              <a:t>3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188137" y="2447035"/>
            <a:ext cx="45465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3888" sz="1800" spc="-7" b="1" i="1">
                <a:solidFill>
                  <a:srgbClr val="008000"/>
                </a:solidFill>
                <a:latin typeface="Arial"/>
                <a:cs typeface="Arial"/>
              </a:rPr>
              <a:t>i </a:t>
            </a:r>
            <a:r>
              <a:rPr dirty="0" sz="1800" b="1" i="1">
                <a:solidFill>
                  <a:srgbClr val="008000"/>
                </a:solidFill>
                <a:latin typeface="Arial"/>
                <a:cs typeface="Arial"/>
              </a:rPr>
              <a:t>/</a:t>
            </a:r>
            <a:r>
              <a:rPr dirty="0" sz="1800" spc="-200" b="1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0080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803197" y="2166620"/>
            <a:ext cx="495934" cy="70866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0650">
              <a:lnSpc>
                <a:spcPct val="100000"/>
              </a:lnSpc>
              <a:spcBef>
                <a:spcPts val="625"/>
              </a:spcBef>
            </a:pPr>
            <a:r>
              <a:rPr dirty="0" sz="1800" b="1" i="1">
                <a:solidFill>
                  <a:srgbClr val="FFFFFF"/>
                </a:solidFill>
                <a:latin typeface="Corbel"/>
                <a:cs typeface="Corbel"/>
              </a:rPr>
              <a:t>k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800" spc="-5" b="1" i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3888" sz="1800" spc="-7" b="1" i="1">
                <a:solidFill>
                  <a:srgbClr val="008000"/>
                </a:solidFill>
                <a:latin typeface="Arial"/>
                <a:cs typeface="Arial"/>
              </a:rPr>
              <a:t>k </a:t>
            </a:r>
            <a:r>
              <a:rPr dirty="0" sz="1800" b="1" i="1">
                <a:solidFill>
                  <a:srgbClr val="008000"/>
                </a:solidFill>
                <a:latin typeface="Arial"/>
                <a:cs typeface="Arial"/>
              </a:rPr>
              <a:t>/</a:t>
            </a:r>
            <a:r>
              <a:rPr dirty="0" sz="1800" spc="-204" b="1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 i="1">
                <a:solidFill>
                  <a:srgbClr val="0080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140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18455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FF"/>
                </a:solidFill>
              </a:rPr>
              <a:t>A </a:t>
            </a:r>
            <a:r>
              <a:rPr dirty="0" spc="-15">
                <a:solidFill>
                  <a:srgbClr val="0000FF"/>
                </a:solidFill>
              </a:rPr>
              <a:t>page </a:t>
            </a:r>
            <a:r>
              <a:rPr dirty="0">
                <a:solidFill>
                  <a:srgbClr val="0000FF"/>
                </a:solidFill>
              </a:rPr>
              <a:t>is </a:t>
            </a:r>
            <a:r>
              <a:rPr dirty="0" spc="-10">
                <a:solidFill>
                  <a:srgbClr val="0000FF"/>
                </a:solidFill>
              </a:rPr>
              <a:t>important </a:t>
            </a:r>
            <a:r>
              <a:rPr dirty="0">
                <a:solidFill>
                  <a:srgbClr val="0000FF"/>
                </a:solidFill>
              </a:rPr>
              <a:t>if it is  </a:t>
            </a:r>
            <a:r>
              <a:rPr dirty="0" spc="-15">
                <a:solidFill>
                  <a:srgbClr val="0000FF"/>
                </a:solidFill>
              </a:rPr>
              <a:t>pointed to by </a:t>
            </a:r>
            <a:r>
              <a:rPr dirty="0" spc="-5">
                <a:solidFill>
                  <a:srgbClr val="0000FF"/>
                </a:solidFill>
              </a:rPr>
              <a:t>other </a:t>
            </a:r>
            <a:r>
              <a:rPr dirty="0" spc="-10">
                <a:solidFill>
                  <a:srgbClr val="0000FF"/>
                </a:solidFill>
              </a:rPr>
              <a:t>important  pages</a:t>
            </a: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Define </a:t>
            </a:r>
            <a:r>
              <a:rPr dirty="0" spc="-20">
                <a:solidFill>
                  <a:srgbClr val="000000"/>
                </a:solidFill>
              </a:rPr>
              <a:t>“rank” </a:t>
            </a:r>
            <a:r>
              <a:rPr dirty="0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dirty="0" baseline="-18518" sz="3150" i="1">
                <a:solidFill>
                  <a:srgbClr val="000000"/>
                </a:solidFill>
                <a:latin typeface="Times New Roman"/>
                <a:cs typeface="Times New Roman"/>
              </a:rPr>
              <a:t>j </a:t>
            </a:r>
            <a:r>
              <a:rPr dirty="0" sz="3200" spc="-20">
                <a:solidFill>
                  <a:srgbClr val="000000"/>
                </a:solidFill>
              </a:rPr>
              <a:t>for </a:t>
            </a:r>
            <a:r>
              <a:rPr dirty="0" sz="3200" spc="-5">
                <a:solidFill>
                  <a:srgbClr val="000000"/>
                </a:solidFill>
              </a:rPr>
              <a:t>node</a:t>
            </a:r>
            <a:r>
              <a:rPr dirty="0" sz="3200" spc="-45">
                <a:solidFill>
                  <a:srgbClr val="000000"/>
                </a:solidFill>
              </a:rPr>
              <a:t> </a:t>
            </a:r>
            <a:r>
              <a:rPr dirty="0" sz="3200" i="1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40168" y="2569464"/>
            <a:ext cx="551687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409688" y="2523744"/>
            <a:ext cx="612648" cy="7376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486648" y="2590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1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1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564880" y="4093464"/>
            <a:ext cx="548640" cy="548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482583" y="4047744"/>
            <a:ext cx="661416" cy="737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610600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699500" y="4135628"/>
            <a:ext cx="27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25768" y="4093464"/>
            <a:ext cx="551687" cy="548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95288" y="4047744"/>
            <a:ext cx="612647" cy="7376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72250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11950" y="413562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72965" y="2971800"/>
            <a:ext cx="690245" cy="1145540"/>
          </a:xfrm>
          <a:custGeom>
            <a:avLst/>
            <a:gdLst/>
            <a:ahLst/>
            <a:cxnLst/>
            <a:rect l="l" t="t" r="r" b="b"/>
            <a:pathLst>
              <a:path w="690245" h="1145539">
                <a:moveTo>
                  <a:pt x="646594" y="62890"/>
                </a:moveTo>
                <a:lnTo>
                  <a:pt x="0" y="1140550"/>
                </a:lnTo>
                <a:lnTo>
                  <a:pt x="8167" y="1145449"/>
                </a:lnTo>
                <a:lnTo>
                  <a:pt x="654762" y="67790"/>
                </a:lnTo>
                <a:lnTo>
                  <a:pt x="646594" y="62890"/>
                </a:lnTo>
                <a:close/>
              </a:path>
              <a:path w="690245" h="1145539">
                <a:moveTo>
                  <a:pt x="685882" y="52000"/>
                </a:moveTo>
                <a:lnTo>
                  <a:pt x="653129" y="52000"/>
                </a:lnTo>
                <a:lnTo>
                  <a:pt x="661296" y="56899"/>
                </a:lnTo>
                <a:lnTo>
                  <a:pt x="654762" y="67790"/>
                </a:lnTo>
                <a:lnTo>
                  <a:pt x="683348" y="84942"/>
                </a:lnTo>
                <a:lnTo>
                  <a:pt x="685882" y="52000"/>
                </a:lnTo>
                <a:close/>
              </a:path>
              <a:path w="690245" h="1145539">
                <a:moveTo>
                  <a:pt x="653129" y="52000"/>
                </a:moveTo>
                <a:lnTo>
                  <a:pt x="646594" y="62890"/>
                </a:lnTo>
                <a:lnTo>
                  <a:pt x="654762" y="67790"/>
                </a:lnTo>
                <a:lnTo>
                  <a:pt x="661296" y="56899"/>
                </a:lnTo>
                <a:lnTo>
                  <a:pt x="653129" y="52000"/>
                </a:lnTo>
                <a:close/>
              </a:path>
              <a:path w="690245" h="1145539">
                <a:moveTo>
                  <a:pt x="689883" y="0"/>
                </a:moveTo>
                <a:lnTo>
                  <a:pt x="618008" y="45739"/>
                </a:lnTo>
                <a:lnTo>
                  <a:pt x="646594" y="62890"/>
                </a:lnTo>
                <a:lnTo>
                  <a:pt x="653129" y="52000"/>
                </a:lnTo>
                <a:lnTo>
                  <a:pt x="685882" y="52000"/>
                </a:lnTo>
                <a:lnTo>
                  <a:pt x="6898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53250" y="3045550"/>
            <a:ext cx="690245" cy="1145540"/>
          </a:xfrm>
          <a:custGeom>
            <a:avLst/>
            <a:gdLst/>
            <a:ahLst/>
            <a:cxnLst/>
            <a:rect l="l" t="t" r="r" b="b"/>
            <a:pathLst>
              <a:path w="690245" h="1145539">
                <a:moveTo>
                  <a:pt x="6534" y="1060505"/>
                </a:moveTo>
                <a:lnTo>
                  <a:pt x="0" y="1145449"/>
                </a:lnTo>
                <a:lnTo>
                  <a:pt x="71874" y="1099710"/>
                </a:lnTo>
                <a:lnTo>
                  <a:pt x="61437" y="1093448"/>
                </a:lnTo>
                <a:lnTo>
                  <a:pt x="36755" y="1093448"/>
                </a:lnTo>
                <a:lnTo>
                  <a:pt x="28586" y="1088547"/>
                </a:lnTo>
                <a:lnTo>
                  <a:pt x="35120" y="1077657"/>
                </a:lnTo>
                <a:lnTo>
                  <a:pt x="6534" y="1060505"/>
                </a:lnTo>
                <a:close/>
              </a:path>
              <a:path w="690245" h="1145539">
                <a:moveTo>
                  <a:pt x="35120" y="1077657"/>
                </a:moveTo>
                <a:lnTo>
                  <a:pt x="28586" y="1088547"/>
                </a:lnTo>
                <a:lnTo>
                  <a:pt x="36755" y="1093448"/>
                </a:lnTo>
                <a:lnTo>
                  <a:pt x="43288" y="1082559"/>
                </a:lnTo>
                <a:lnTo>
                  <a:pt x="35120" y="1077657"/>
                </a:lnTo>
                <a:close/>
              </a:path>
              <a:path w="690245" h="1145539">
                <a:moveTo>
                  <a:pt x="43288" y="1082559"/>
                </a:moveTo>
                <a:lnTo>
                  <a:pt x="36755" y="1093448"/>
                </a:lnTo>
                <a:lnTo>
                  <a:pt x="61437" y="1093448"/>
                </a:lnTo>
                <a:lnTo>
                  <a:pt x="43288" y="1082559"/>
                </a:lnTo>
                <a:close/>
              </a:path>
              <a:path w="690245" h="1145539">
                <a:moveTo>
                  <a:pt x="681715" y="0"/>
                </a:moveTo>
                <a:lnTo>
                  <a:pt x="35120" y="1077657"/>
                </a:lnTo>
                <a:lnTo>
                  <a:pt x="43288" y="1082559"/>
                </a:lnTo>
                <a:lnTo>
                  <a:pt x="689883" y="4899"/>
                </a:lnTo>
                <a:lnTo>
                  <a:pt x="6817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29450" y="4229101"/>
            <a:ext cx="1600200" cy="76200"/>
          </a:xfrm>
          <a:custGeom>
            <a:avLst/>
            <a:gdLst/>
            <a:ahLst/>
            <a:cxnLst/>
            <a:rect l="l" t="t" r="r" b="b"/>
            <a:pathLst>
              <a:path w="1600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862"/>
                </a:lnTo>
                <a:lnTo>
                  <a:pt x="63500" y="42862"/>
                </a:lnTo>
                <a:lnTo>
                  <a:pt x="63500" y="33337"/>
                </a:lnTo>
                <a:lnTo>
                  <a:pt x="76200" y="33337"/>
                </a:lnTo>
                <a:lnTo>
                  <a:pt x="76200" y="0"/>
                </a:lnTo>
                <a:close/>
              </a:path>
              <a:path w="1600200" h="76200">
                <a:moveTo>
                  <a:pt x="76200" y="33337"/>
                </a:moveTo>
                <a:lnTo>
                  <a:pt x="63500" y="33337"/>
                </a:lnTo>
                <a:lnTo>
                  <a:pt x="63500" y="42862"/>
                </a:lnTo>
                <a:lnTo>
                  <a:pt x="76200" y="42862"/>
                </a:lnTo>
                <a:lnTo>
                  <a:pt x="76200" y="33337"/>
                </a:lnTo>
                <a:close/>
              </a:path>
              <a:path w="1600200" h="76200">
                <a:moveTo>
                  <a:pt x="76200" y="42862"/>
                </a:moveTo>
                <a:lnTo>
                  <a:pt x="63500" y="42862"/>
                </a:lnTo>
                <a:lnTo>
                  <a:pt x="76200" y="42862"/>
                </a:lnTo>
                <a:close/>
              </a:path>
              <a:path w="1600200" h="76200">
                <a:moveTo>
                  <a:pt x="1600200" y="33336"/>
                </a:moveTo>
                <a:lnTo>
                  <a:pt x="76200" y="33337"/>
                </a:lnTo>
                <a:lnTo>
                  <a:pt x="76200" y="42862"/>
                </a:lnTo>
                <a:lnTo>
                  <a:pt x="1600200" y="42861"/>
                </a:lnTo>
                <a:lnTo>
                  <a:pt x="1600200" y="3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10398" y="4381501"/>
            <a:ext cx="1600200" cy="76200"/>
          </a:xfrm>
          <a:custGeom>
            <a:avLst/>
            <a:gdLst/>
            <a:ahLst/>
            <a:cxnLst/>
            <a:rect l="l" t="t" r="r" b="b"/>
            <a:pathLst>
              <a:path w="1600200" h="76200">
                <a:moveTo>
                  <a:pt x="1524000" y="42862"/>
                </a:moveTo>
                <a:lnTo>
                  <a:pt x="1524000" y="76200"/>
                </a:lnTo>
                <a:lnTo>
                  <a:pt x="1590675" y="42862"/>
                </a:lnTo>
                <a:lnTo>
                  <a:pt x="1524000" y="42862"/>
                </a:lnTo>
                <a:close/>
              </a:path>
              <a:path w="1600200" h="76200">
                <a:moveTo>
                  <a:pt x="1524000" y="33337"/>
                </a:moveTo>
                <a:lnTo>
                  <a:pt x="1524000" y="42862"/>
                </a:lnTo>
                <a:lnTo>
                  <a:pt x="1536700" y="42862"/>
                </a:lnTo>
                <a:lnTo>
                  <a:pt x="1536700" y="33337"/>
                </a:lnTo>
                <a:lnTo>
                  <a:pt x="1524000" y="33337"/>
                </a:lnTo>
                <a:close/>
              </a:path>
              <a:path w="1600200" h="76200">
                <a:moveTo>
                  <a:pt x="1524000" y="0"/>
                </a:moveTo>
                <a:lnTo>
                  <a:pt x="1524000" y="33337"/>
                </a:lnTo>
                <a:lnTo>
                  <a:pt x="1536700" y="33337"/>
                </a:lnTo>
                <a:lnTo>
                  <a:pt x="1536700" y="42862"/>
                </a:lnTo>
                <a:lnTo>
                  <a:pt x="1590677" y="42861"/>
                </a:lnTo>
                <a:lnTo>
                  <a:pt x="1600200" y="38100"/>
                </a:lnTo>
                <a:lnTo>
                  <a:pt x="1524000" y="0"/>
                </a:lnTo>
                <a:close/>
              </a:path>
              <a:path w="1600200" h="76200">
                <a:moveTo>
                  <a:pt x="0" y="33336"/>
                </a:moveTo>
                <a:lnTo>
                  <a:pt x="0" y="42861"/>
                </a:lnTo>
                <a:lnTo>
                  <a:pt x="1524000" y="42862"/>
                </a:lnTo>
                <a:lnTo>
                  <a:pt x="1524000" y="33337"/>
                </a:lnTo>
                <a:lnTo>
                  <a:pt x="0" y="3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53326" y="2330279"/>
            <a:ext cx="923925" cy="511175"/>
          </a:xfrm>
          <a:custGeom>
            <a:avLst/>
            <a:gdLst/>
            <a:ahLst/>
            <a:cxnLst/>
            <a:rect l="l" t="t" r="r" b="b"/>
            <a:pathLst>
              <a:path w="923925" h="511175">
                <a:moveTo>
                  <a:pt x="158167" y="477601"/>
                </a:moveTo>
                <a:lnTo>
                  <a:pt x="150622" y="511171"/>
                </a:lnTo>
                <a:lnTo>
                  <a:pt x="233322" y="490707"/>
                </a:lnTo>
                <a:lnTo>
                  <a:pt x="221829" y="481323"/>
                </a:lnTo>
                <a:lnTo>
                  <a:pt x="169931" y="481323"/>
                </a:lnTo>
                <a:lnTo>
                  <a:pt x="158167" y="477601"/>
                </a:lnTo>
                <a:close/>
              </a:path>
              <a:path w="923925" h="511175">
                <a:moveTo>
                  <a:pt x="573660" y="9519"/>
                </a:moveTo>
                <a:lnTo>
                  <a:pt x="461768" y="9519"/>
                </a:lnTo>
                <a:lnTo>
                  <a:pt x="504276" y="10890"/>
                </a:lnTo>
                <a:lnTo>
                  <a:pt x="546466" y="14904"/>
                </a:lnTo>
                <a:lnTo>
                  <a:pt x="587995" y="21388"/>
                </a:lnTo>
                <a:lnTo>
                  <a:pt x="628524" y="30161"/>
                </a:lnTo>
                <a:lnTo>
                  <a:pt x="667718" y="41046"/>
                </a:lnTo>
                <a:lnTo>
                  <a:pt x="705232" y="53864"/>
                </a:lnTo>
                <a:lnTo>
                  <a:pt x="740730" y="68433"/>
                </a:lnTo>
                <a:lnTo>
                  <a:pt x="804313" y="102082"/>
                </a:lnTo>
                <a:lnTo>
                  <a:pt x="855743" y="140465"/>
                </a:lnTo>
                <a:lnTo>
                  <a:pt x="892456" y="182109"/>
                </a:lnTo>
                <a:lnTo>
                  <a:pt x="911807" y="225077"/>
                </a:lnTo>
                <a:lnTo>
                  <a:pt x="914368" y="246664"/>
                </a:lnTo>
                <a:lnTo>
                  <a:pt x="913116" y="268817"/>
                </a:lnTo>
                <a:lnTo>
                  <a:pt x="903378" y="312539"/>
                </a:lnTo>
                <a:lnTo>
                  <a:pt x="885057" y="354288"/>
                </a:lnTo>
                <a:lnTo>
                  <a:pt x="859465" y="392607"/>
                </a:lnTo>
                <a:lnTo>
                  <a:pt x="827946" y="426048"/>
                </a:lnTo>
                <a:lnTo>
                  <a:pt x="791877" y="453177"/>
                </a:lnTo>
                <a:lnTo>
                  <a:pt x="752641" y="472601"/>
                </a:lnTo>
                <a:lnTo>
                  <a:pt x="711617" y="482978"/>
                </a:lnTo>
                <a:lnTo>
                  <a:pt x="690213" y="484367"/>
                </a:lnTo>
                <a:lnTo>
                  <a:pt x="690831" y="493872"/>
                </a:lnTo>
                <a:lnTo>
                  <a:pt x="734054" y="488358"/>
                </a:lnTo>
                <a:lnTo>
                  <a:pt x="776355" y="472677"/>
                </a:lnTo>
                <a:lnTo>
                  <a:pt x="815771" y="448351"/>
                </a:lnTo>
                <a:lnTo>
                  <a:pt x="851008" y="416849"/>
                </a:lnTo>
                <a:lnTo>
                  <a:pt x="880773" y="379594"/>
                </a:lnTo>
                <a:lnTo>
                  <a:pt x="903745" y="337980"/>
                </a:lnTo>
                <a:lnTo>
                  <a:pt x="918576" y="293390"/>
                </a:lnTo>
                <a:lnTo>
                  <a:pt x="923830" y="248010"/>
                </a:lnTo>
                <a:lnTo>
                  <a:pt x="923846" y="246664"/>
                </a:lnTo>
                <a:lnTo>
                  <a:pt x="923214" y="235314"/>
                </a:lnTo>
                <a:lnTo>
                  <a:pt x="907505" y="188499"/>
                </a:lnTo>
                <a:lnTo>
                  <a:pt x="883601" y="155103"/>
                </a:lnTo>
                <a:lnTo>
                  <a:pt x="837758" y="113417"/>
                </a:lnTo>
                <a:lnTo>
                  <a:pt x="778624" y="76314"/>
                </a:lnTo>
                <a:lnTo>
                  <a:pt x="708852" y="45054"/>
                </a:lnTo>
                <a:lnTo>
                  <a:pt x="670799" y="32034"/>
                </a:lnTo>
                <a:lnTo>
                  <a:pt x="631076" y="20984"/>
                </a:lnTo>
                <a:lnTo>
                  <a:pt x="589939" y="12067"/>
                </a:lnTo>
                <a:lnTo>
                  <a:pt x="573660" y="9519"/>
                </a:lnTo>
                <a:close/>
              </a:path>
              <a:path w="923925" h="511175">
                <a:moveTo>
                  <a:pt x="160263" y="468275"/>
                </a:moveTo>
                <a:lnTo>
                  <a:pt x="158167" y="477601"/>
                </a:lnTo>
                <a:lnTo>
                  <a:pt x="169931" y="481323"/>
                </a:lnTo>
                <a:lnTo>
                  <a:pt x="172804" y="472243"/>
                </a:lnTo>
                <a:lnTo>
                  <a:pt x="160263" y="468275"/>
                </a:lnTo>
                <a:close/>
              </a:path>
              <a:path w="923925" h="511175">
                <a:moveTo>
                  <a:pt x="167331" y="436825"/>
                </a:moveTo>
                <a:lnTo>
                  <a:pt x="160263" y="468275"/>
                </a:lnTo>
                <a:lnTo>
                  <a:pt x="172804" y="472243"/>
                </a:lnTo>
                <a:lnTo>
                  <a:pt x="169931" y="481323"/>
                </a:lnTo>
                <a:lnTo>
                  <a:pt x="221829" y="481323"/>
                </a:lnTo>
                <a:lnTo>
                  <a:pt x="167331" y="436825"/>
                </a:lnTo>
                <a:close/>
              </a:path>
              <a:path w="923925" h="511175">
                <a:moveTo>
                  <a:pt x="462077" y="0"/>
                </a:moveTo>
                <a:lnTo>
                  <a:pt x="418960" y="1394"/>
                </a:lnTo>
                <a:lnTo>
                  <a:pt x="376077" y="5494"/>
                </a:lnTo>
                <a:lnTo>
                  <a:pt x="334051" y="12078"/>
                </a:lnTo>
                <a:lnTo>
                  <a:pt x="293032" y="20986"/>
                </a:lnTo>
                <a:lnTo>
                  <a:pt x="253307" y="32057"/>
                </a:lnTo>
                <a:lnTo>
                  <a:pt x="215257" y="45101"/>
                </a:lnTo>
                <a:lnTo>
                  <a:pt x="179214" y="59943"/>
                </a:lnTo>
                <a:lnTo>
                  <a:pt x="114463" y="94331"/>
                </a:lnTo>
                <a:lnTo>
                  <a:pt x="61692" y="133870"/>
                </a:lnTo>
                <a:lnTo>
                  <a:pt x="23551" y="177293"/>
                </a:lnTo>
                <a:lnTo>
                  <a:pt x="6130" y="211921"/>
                </a:lnTo>
                <a:lnTo>
                  <a:pt x="0" y="248010"/>
                </a:lnTo>
                <a:lnTo>
                  <a:pt x="1279" y="270757"/>
                </a:lnTo>
                <a:lnTo>
                  <a:pt x="11435" y="316543"/>
                </a:lnTo>
                <a:lnTo>
                  <a:pt x="30450" y="360028"/>
                </a:lnTo>
                <a:lnTo>
                  <a:pt x="56937" y="399818"/>
                </a:lnTo>
                <a:lnTo>
                  <a:pt x="89545" y="434526"/>
                </a:lnTo>
                <a:lnTo>
                  <a:pt x="126959" y="462751"/>
                </a:lnTo>
                <a:lnTo>
                  <a:pt x="158167" y="477601"/>
                </a:lnTo>
                <a:lnTo>
                  <a:pt x="160263" y="468275"/>
                </a:lnTo>
                <a:lnTo>
                  <a:pt x="152024" y="465668"/>
                </a:lnTo>
                <a:lnTo>
                  <a:pt x="151703" y="465668"/>
                </a:lnTo>
                <a:lnTo>
                  <a:pt x="150820" y="465287"/>
                </a:lnTo>
                <a:lnTo>
                  <a:pt x="151018" y="465287"/>
                </a:lnTo>
                <a:lnTo>
                  <a:pt x="132348" y="454896"/>
                </a:lnTo>
                <a:lnTo>
                  <a:pt x="113791" y="442187"/>
                </a:lnTo>
                <a:lnTo>
                  <a:pt x="79761" y="411661"/>
                </a:lnTo>
                <a:lnTo>
                  <a:pt x="50986" y="375528"/>
                </a:lnTo>
                <a:lnTo>
                  <a:pt x="28813" y="335240"/>
                </a:lnTo>
                <a:lnTo>
                  <a:pt x="14553" y="292258"/>
                </a:lnTo>
                <a:lnTo>
                  <a:pt x="9477" y="248010"/>
                </a:lnTo>
                <a:lnTo>
                  <a:pt x="10079" y="237158"/>
                </a:lnTo>
                <a:lnTo>
                  <a:pt x="24661" y="193728"/>
                </a:lnTo>
                <a:lnTo>
                  <a:pt x="47402" y="161862"/>
                </a:lnTo>
                <a:lnTo>
                  <a:pt x="91801" y="121395"/>
                </a:lnTo>
                <a:lnTo>
                  <a:pt x="149689" y="84968"/>
                </a:lnTo>
                <a:lnTo>
                  <a:pt x="218347" y="54110"/>
                </a:lnTo>
                <a:lnTo>
                  <a:pt x="255866" y="41231"/>
                </a:lnTo>
                <a:lnTo>
                  <a:pt x="295055" y="30294"/>
                </a:lnTo>
                <a:lnTo>
                  <a:pt x="335580" y="21476"/>
                </a:lnTo>
                <a:lnTo>
                  <a:pt x="377097" y="14958"/>
                </a:lnTo>
                <a:lnTo>
                  <a:pt x="419270" y="10914"/>
                </a:lnTo>
                <a:lnTo>
                  <a:pt x="461768" y="9519"/>
                </a:lnTo>
                <a:lnTo>
                  <a:pt x="573660" y="9519"/>
                </a:lnTo>
                <a:lnTo>
                  <a:pt x="547937" y="5494"/>
                </a:lnTo>
                <a:lnTo>
                  <a:pt x="505181" y="1408"/>
                </a:lnTo>
                <a:lnTo>
                  <a:pt x="462077" y="0"/>
                </a:lnTo>
                <a:close/>
              </a:path>
              <a:path w="923925" h="511175">
                <a:moveTo>
                  <a:pt x="150820" y="465287"/>
                </a:moveTo>
                <a:lnTo>
                  <a:pt x="151703" y="465668"/>
                </a:lnTo>
                <a:lnTo>
                  <a:pt x="151279" y="465432"/>
                </a:lnTo>
                <a:lnTo>
                  <a:pt x="150820" y="465287"/>
                </a:lnTo>
                <a:close/>
              </a:path>
              <a:path w="923925" h="511175">
                <a:moveTo>
                  <a:pt x="151279" y="465432"/>
                </a:moveTo>
                <a:lnTo>
                  <a:pt x="151703" y="465668"/>
                </a:lnTo>
                <a:lnTo>
                  <a:pt x="152024" y="465668"/>
                </a:lnTo>
                <a:lnTo>
                  <a:pt x="151279" y="465432"/>
                </a:lnTo>
                <a:close/>
              </a:path>
              <a:path w="923925" h="511175">
                <a:moveTo>
                  <a:pt x="151018" y="465287"/>
                </a:moveTo>
                <a:lnTo>
                  <a:pt x="150820" y="465287"/>
                </a:lnTo>
                <a:lnTo>
                  <a:pt x="151279" y="465432"/>
                </a:lnTo>
                <a:lnTo>
                  <a:pt x="151018" y="465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244715" y="4364228"/>
            <a:ext cx="454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baseline="-17361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17740" y="3526028"/>
            <a:ext cx="464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baseline="-17361" sz="2400">
                <a:latin typeface="Times New Roman"/>
                <a:cs typeface="Times New Roman"/>
              </a:rPr>
              <a:t>y</a:t>
            </a:r>
            <a:r>
              <a:rPr dirty="0" sz="2400" spc="-5"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84340" y="3221227"/>
            <a:ext cx="454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baseline="-17361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74940" y="3907028"/>
            <a:ext cx="285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baseline="-17361" sz="2400">
                <a:latin typeface="Times New Roman"/>
                <a:cs typeface="Times New Roman"/>
              </a:rPr>
              <a:t>m</a:t>
            </a:r>
            <a:endParaRPr baseline="-17361"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70140" y="1925827"/>
            <a:ext cx="464820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baseline="-17361" sz="2400">
                <a:latin typeface="Times New Roman"/>
                <a:cs typeface="Times New Roman"/>
              </a:rPr>
              <a:t>y</a:t>
            </a:r>
            <a:r>
              <a:rPr dirty="0" sz="2400" spc="-5"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  <a:p>
            <a:pPr algn="ctr" marL="25400">
              <a:lnSpc>
                <a:spcPct val="100000"/>
              </a:lnSpc>
              <a:spcBef>
                <a:spcPts val="252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63116" y="1423799"/>
            <a:ext cx="1887220" cy="417830"/>
          </a:xfrm>
          <a:custGeom>
            <a:avLst/>
            <a:gdLst/>
            <a:ahLst/>
            <a:cxnLst/>
            <a:rect l="l" t="t" r="r" b="b"/>
            <a:pathLst>
              <a:path w="1887220" h="417830">
                <a:moveTo>
                  <a:pt x="1862645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393332"/>
                </a:lnTo>
                <a:lnTo>
                  <a:pt x="1886" y="402674"/>
                </a:lnTo>
                <a:lnTo>
                  <a:pt x="7029" y="410302"/>
                </a:lnTo>
                <a:lnTo>
                  <a:pt x="14658" y="415446"/>
                </a:lnTo>
                <a:lnTo>
                  <a:pt x="24000" y="417332"/>
                </a:lnTo>
                <a:lnTo>
                  <a:pt x="1862645" y="417332"/>
                </a:lnTo>
                <a:lnTo>
                  <a:pt x="1871987" y="415446"/>
                </a:lnTo>
                <a:lnTo>
                  <a:pt x="1879616" y="410302"/>
                </a:lnTo>
                <a:lnTo>
                  <a:pt x="1884759" y="402674"/>
                </a:lnTo>
                <a:lnTo>
                  <a:pt x="1886645" y="393332"/>
                </a:lnTo>
                <a:lnTo>
                  <a:pt x="1886645" y="388532"/>
                </a:lnTo>
                <a:lnTo>
                  <a:pt x="28801" y="388532"/>
                </a:lnTo>
                <a:lnTo>
                  <a:pt x="28801" y="28801"/>
                </a:lnTo>
                <a:lnTo>
                  <a:pt x="1886645" y="28801"/>
                </a:lnTo>
                <a:lnTo>
                  <a:pt x="1886645" y="24000"/>
                </a:lnTo>
                <a:lnTo>
                  <a:pt x="1884759" y="14658"/>
                </a:lnTo>
                <a:lnTo>
                  <a:pt x="1879616" y="7029"/>
                </a:lnTo>
                <a:lnTo>
                  <a:pt x="1871987" y="1886"/>
                </a:lnTo>
                <a:lnTo>
                  <a:pt x="1862645" y="0"/>
                </a:lnTo>
                <a:close/>
              </a:path>
              <a:path w="1887220" h="417830">
                <a:moveTo>
                  <a:pt x="1886645" y="28801"/>
                </a:moveTo>
                <a:lnTo>
                  <a:pt x="1857844" y="28801"/>
                </a:lnTo>
                <a:lnTo>
                  <a:pt x="1857844" y="388532"/>
                </a:lnTo>
                <a:lnTo>
                  <a:pt x="1886645" y="388532"/>
                </a:lnTo>
                <a:lnTo>
                  <a:pt x="1886645" y="28801"/>
                </a:lnTo>
                <a:close/>
              </a:path>
              <a:path w="1887220" h="417830">
                <a:moveTo>
                  <a:pt x="1848244" y="38400"/>
                </a:moveTo>
                <a:lnTo>
                  <a:pt x="38400" y="38400"/>
                </a:lnTo>
                <a:lnTo>
                  <a:pt x="38400" y="378932"/>
                </a:lnTo>
                <a:lnTo>
                  <a:pt x="1848244" y="378932"/>
                </a:lnTo>
                <a:lnTo>
                  <a:pt x="1848244" y="369332"/>
                </a:lnTo>
                <a:lnTo>
                  <a:pt x="48000" y="369332"/>
                </a:lnTo>
                <a:lnTo>
                  <a:pt x="48000" y="48000"/>
                </a:lnTo>
                <a:lnTo>
                  <a:pt x="1848244" y="48000"/>
                </a:lnTo>
                <a:lnTo>
                  <a:pt x="1848244" y="38400"/>
                </a:lnTo>
                <a:close/>
              </a:path>
              <a:path w="1887220" h="417830">
                <a:moveTo>
                  <a:pt x="1848244" y="48000"/>
                </a:moveTo>
                <a:lnTo>
                  <a:pt x="1838645" y="48000"/>
                </a:lnTo>
                <a:lnTo>
                  <a:pt x="1838645" y="369332"/>
                </a:lnTo>
                <a:lnTo>
                  <a:pt x="1848244" y="369332"/>
                </a:lnTo>
                <a:lnTo>
                  <a:pt x="1848244" y="4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987116" y="1447800"/>
            <a:ext cx="1838960" cy="36957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09550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The web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dirty="0" sz="1800" spc="-7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1839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79540" y="4970475"/>
            <a:ext cx="2166620" cy="137541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“Flow”</a:t>
            </a:r>
            <a:r>
              <a:rPr dirty="0" sz="1800" spc="-5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equations: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130"/>
              </a:spcBef>
            </a:pP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094" sz="1950" spc="-7" b="1">
                <a:solidFill>
                  <a:srgbClr val="008000"/>
                </a:solidFill>
                <a:latin typeface="Arial"/>
                <a:cs typeface="Arial"/>
              </a:rPr>
              <a:t>y  </a:t>
            </a:r>
            <a:r>
              <a:rPr dirty="0" sz="2000" b="1">
                <a:solidFill>
                  <a:srgbClr val="008000"/>
                </a:solidFill>
                <a:latin typeface="Arial"/>
                <a:cs typeface="Arial"/>
              </a:rPr>
              <a:t>=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094" sz="1950" spc="-7" b="1">
                <a:solidFill>
                  <a:srgbClr val="008000"/>
                </a:solidFill>
                <a:latin typeface="Arial"/>
                <a:cs typeface="Arial"/>
              </a:rPr>
              <a:t>y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/2 </a:t>
            </a:r>
            <a:r>
              <a:rPr dirty="0" sz="2000" b="1">
                <a:solidFill>
                  <a:srgbClr val="008000"/>
                </a:solidFill>
                <a:latin typeface="Arial"/>
                <a:cs typeface="Arial"/>
              </a:rPr>
              <a:t>+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094" sz="1950" spc="-7" b="1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baseline="-17094" sz="1950" spc="-31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8000"/>
                </a:solidFill>
                <a:latin typeface="Arial"/>
                <a:cs typeface="Arial"/>
              </a:rPr>
              <a:t>/2</a:t>
            </a:r>
            <a:endParaRPr sz="2000">
              <a:latin typeface="Arial"/>
              <a:cs typeface="Arial"/>
            </a:endParaRPr>
          </a:p>
          <a:p>
            <a:pPr marL="393700" marR="231775">
              <a:lnSpc>
                <a:spcPct val="121000"/>
              </a:lnSpc>
            </a:pP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094" sz="1950" spc="-7" b="1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2000" b="1">
                <a:solidFill>
                  <a:srgbClr val="008000"/>
                </a:solidFill>
                <a:latin typeface="Arial"/>
                <a:cs typeface="Arial"/>
              </a:rPr>
              <a:t>=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094" sz="1950" spc="-7" b="1">
                <a:solidFill>
                  <a:srgbClr val="008000"/>
                </a:solidFill>
                <a:latin typeface="Arial"/>
                <a:cs typeface="Arial"/>
              </a:rPr>
              <a:t>y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/2 </a:t>
            </a:r>
            <a:r>
              <a:rPr dirty="0" sz="2000" b="1">
                <a:solidFill>
                  <a:srgbClr val="008000"/>
                </a:solidFill>
                <a:latin typeface="Arial"/>
                <a:cs typeface="Arial"/>
              </a:rPr>
              <a:t>+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094" sz="1950" spc="-7" b="1">
                <a:solidFill>
                  <a:srgbClr val="008000"/>
                </a:solidFill>
                <a:latin typeface="Arial"/>
                <a:cs typeface="Arial"/>
              </a:rPr>
              <a:t>m 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094" sz="1950" spc="-7" b="1">
                <a:solidFill>
                  <a:srgbClr val="008000"/>
                </a:solidFill>
                <a:latin typeface="Arial"/>
                <a:cs typeface="Arial"/>
              </a:rPr>
              <a:t>m </a:t>
            </a:r>
            <a:r>
              <a:rPr dirty="0" sz="2000" b="1">
                <a:solidFill>
                  <a:srgbClr val="008000"/>
                </a:solidFill>
                <a:latin typeface="Arial"/>
                <a:cs typeface="Arial"/>
              </a:rPr>
              <a:t>= </a:t>
            </a: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baseline="-17094" sz="1950" spc="-7" b="1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baseline="-17094" sz="1950" spc="-12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08000"/>
                </a:solidFill>
                <a:latin typeface="Arial"/>
                <a:cs typeface="Arial"/>
              </a:rPr>
              <a:t>/2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36139" y="4998211"/>
            <a:ext cx="2818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𝒅</a:t>
            </a:r>
            <a:r>
              <a:rPr dirty="0" baseline="-14957" sz="1950">
                <a:solidFill>
                  <a:srgbClr val="008000"/>
                </a:solidFill>
                <a:latin typeface="Cambria Math"/>
                <a:cs typeface="Cambria Math"/>
              </a:rPr>
              <a:t>𝒊 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…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out-degree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of node</a:t>
            </a:r>
            <a:r>
              <a:rPr dirty="0" sz="1800" spc="-229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𝒊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940" y="6090411"/>
            <a:ext cx="488061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5">
                <a:solidFill>
                  <a:srgbClr val="008000"/>
                </a:solidFill>
                <a:latin typeface="Arial"/>
                <a:cs typeface="Arial"/>
              </a:rPr>
              <a:t>You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might wonder: 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Let’s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just use Gaussian 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elimination 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solve this system of 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linear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equations. Bad</a:t>
            </a:r>
            <a:r>
              <a:rPr dirty="0" sz="1600" spc="8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idea!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16860" y="4093464"/>
            <a:ext cx="1625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41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04021" y="3695434"/>
            <a:ext cx="1372870" cy="1210310"/>
          </a:xfrm>
          <a:prstGeom prst="rect">
            <a:avLst/>
          </a:prstGeom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  <a:tabLst>
                <a:tab pos="405130" algn="l"/>
              </a:tabLst>
            </a:pPr>
            <a:r>
              <a:rPr dirty="0" sz="3200">
                <a:latin typeface="Cambria Math"/>
                <a:cs typeface="Cambria Math"/>
              </a:rPr>
              <a:t>𝑟	=</a:t>
            </a:r>
            <a:r>
              <a:rPr dirty="0" sz="3200" spc="75">
                <a:latin typeface="Cambria Math"/>
                <a:cs typeface="Cambria Math"/>
              </a:rPr>
              <a:t> </a:t>
            </a:r>
            <a:r>
              <a:rPr dirty="0" sz="3200" spc="2255">
                <a:latin typeface="Cambria Math"/>
                <a:cs typeface="Cambria Math"/>
              </a:rPr>
              <a:t>#</a:t>
            </a:r>
            <a:endParaRPr sz="3200">
              <a:latin typeface="Cambria Math"/>
              <a:cs typeface="Cambria Math"/>
            </a:endParaRPr>
          </a:p>
          <a:p>
            <a:pPr marL="833119">
              <a:lnSpc>
                <a:spcPct val="100000"/>
              </a:lnSpc>
              <a:spcBef>
                <a:spcPts val="1135"/>
              </a:spcBef>
            </a:pPr>
            <a:r>
              <a:rPr dirty="0" sz="2300" spc="140">
                <a:latin typeface="Cambria Math"/>
                <a:cs typeface="Cambria Math"/>
              </a:rPr>
              <a:t>"→!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34740" y="4200773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 h="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662045" y="3589020"/>
            <a:ext cx="2768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50">
                <a:latin typeface="Cambria Math"/>
                <a:cs typeface="Cambria Math"/>
              </a:rPr>
              <a:t>𝑟</a:t>
            </a:r>
            <a:r>
              <a:rPr dirty="0" baseline="-15700" sz="3450" spc="-150">
                <a:latin typeface="Cambria Math"/>
                <a:cs typeface="Cambria Math"/>
              </a:rPr>
              <a:t>"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  <p:sp>
        <p:nvSpPr>
          <p:cNvPr id="34" name="object 34"/>
          <p:cNvSpPr txBox="1"/>
          <p:nvPr/>
        </p:nvSpPr>
        <p:spPr>
          <a:xfrm>
            <a:off x="3619119" y="4168140"/>
            <a:ext cx="2609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𝑑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54069" y="4364735"/>
            <a:ext cx="1282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0">
                <a:latin typeface="Cambria Math"/>
                <a:cs typeface="Cambria Math"/>
              </a:rPr>
              <a:t>"</a:t>
            </a:r>
            <a:endParaRPr sz="2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102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60348"/>
            <a:ext cx="5471795" cy="948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Stochastic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adjacency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matrix</a:t>
            </a:r>
            <a:r>
              <a:rPr dirty="0" sz="3200" spc="-4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𝑴</a:t>
            </a:r>
            <a:endParaRPr sz="32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Let page </a:t>
            </a:r>
            <a:r>
              <a:rPr dirty="0" sz="2800">
                <a:latin typeface="Cambria Math"/>
                <a:cs typeface="Cambria Math"/>
              </a:rPr>
              <a:t>𝒋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5">
                <a:latin typeface="Cambria Math"/>
                <a:cs typeface="Cambria Math"/>
              </a:rPr>
              <a:t>𝒅</a:t>
            </a:r>
            <a:r>
              <a:rPr dirty="0" baseline="-17543" sz="2850" spc="-7">
                <a:latin typeface="Cambria Math"/>
                <a:cs typeface="Cambria Math"/>
              </a:rPr>
              <a:t>𝒋</a:t>
            </a:r>
            <a:r>
              <a:rPr dirty="0" baseline="-17543" sz="2850" spc="97">
                <a:latin typeface="Cambria Math"/>
                <a:cs typeface="Cambria Math"/>
              </a:rPr>
              <a:t> </a:t>
            </a:r>
            <a:r>
              <a:rPr dirty="0" sz="2800" spc="-20">
                <a:latin typeface="Calibri"/>
                <a:cs typeface="Calibri"/>
              </a:rPr>
              <a:t>out-links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314956"/>
            <a:ext cx="28721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879475" algn="l"/>
                <a:tab pos="1354455" algn="l"/>
                <a:tab pos="2487930" algn="l"/>
              </a:tabLst>
            </a:pPr>
            <a:r>
              <a:rPr dirty="0" sz="2800" spc="-10">
                <a:latin typeface="Calibri"/>
                <a:cs typeface="Calibri"/>
              </a:rPr>
              <a:t>I</a:t>
            </a:r>
            <a:r>
              <a:rPr dirty="0" sz="2800">
                <a:latin typeface="Calibri"/>
                <a:cs typeface="Calibri"/>
              </a:rPr>
              <a:t>f </a:t>
            </a:r>
            <a:r>
              <a:rPr dirty="0" sz="2800">
                <a:latin typeface="Cambria Math"/>
                <a:cs typeface="Cambria Math"/>
              </a:rPr>
              <a:t>𝒋	→	</a:t>
            </a:r>
            <a:r>
              <a:rPr dirty="0" sz="2800" spc="-5">
                <a:latin typeface="Cambria Math"/>
                <a:cs typeface="Cambria Math"/>
              </a:rPr>
              <a:t>𝒊</a:t>
            </a:r>
            <a:r>
              <a:rPr dirty="0" sz="2800">
                <a:latin typeface="Calibri"/>
                <a:cs typeface="Calibri"/>
              </a:rPr>
              <a:t>,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</a:t>
            </a:r>
            <a:r>
              <a:rPr dirty="0" sz="2800">
                <a:latin typeface="Calibri"/>
                <a:cs typeface="Calibri"/>
              </a:rPr>
              <a:t>h</a:t>
            </a:r>
            <a:r>
              <a:rPr dirty="0" sz="2800" spc="-10">
                <a:latin typeface="Calibri"/>
                <a:cs typeface="Calibri"/>
              </a:rPr>
              <a:t>e</a:t>
            </a:r>
            <a:r>
              <a:rPr dirty="0" sz="2800">
                <a:latin typeface="Calibri"/>
                <a:cs typeface="Calibri"/>
              </a:rPr>
              <a:t>n	</a:t>
            </a:r>
            <a:r>
              <a:rPr dirty="0" sz="3200">
                <a:latin typeface="Cambria Math"/>
                <a:cs typeface="Cambria Math"/>
              </a:rPr>
              <a:t>𝑴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03396" y="2543048"/>
            <a:ext cx="230504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0">
                <a:latin typeface="Cambria Math"/>
                <a:cs typeface="Cambria Math"/>
              </a:rPr>
              <a:t>𝒊𝒋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9564" y="2618739"/>
            <a:ext cx="266700" cy="0"/>
          </a:xfrm>
          <a:custGeom>
            <a:avLst/>
            <a:gdLst/>
            <a:ahLst/>
            <a:cxnLst/>
            <a:rect l="l" t="t" r="r" b="b"/>
            <a:pathLst>
              <a:path w="266700" h="0">
                <a:moveTo>
                  <a:pt x="0" y="0"/>
                </a:moveTo>
                <a:lnTo>
                  <a:pt x="2667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09986" y="2077212"/>
            <a:ext cx="6610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3075" algn="l"/>
              </a:tabLst>
            </a:pPr>
            <a:r>
              <a:rPr dirty="0" baseline="-32118" sz="4800">
                <a:latin typeface="Cambria Math"/>
                <a:cs typeface="Cambria Math"/>
              </a:rPr>
              <a:t>=	</a:t>
            </a:r>
            <a:r>
              <a:rPr dirty="0" sz="2300">
                <a:latin typeface="Cambria Math"/>
                <a:cs typeface="Cambria Math"/>
              </a:rPr>
              <a:t>𝟏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6102" y="2633472"/>
            <a:ext cx="29019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10">
                <a:latin typeface="Cambria Math"/>
                <a:cs typeface="Cambria Math"/>
              </a:rPr>
              <a:t>𝒅</a:t>
            </a:r>
            <a:r>
              <a:rPr dirty="0" baseline="-25925" sz="2250">
                <a:latin typeface="Cambria Math"/>
                <a:cs typeface="Cambria Math"/>
              </a:rPr>
              <a:t>𝒋</a:t>
            </a:r>
            <a:endParaRPr baseline="-25925" sz="22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7713" y="2922523"/>
            <a:ext cx="4225925" cy="69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>
                <a:latin typeface="Cambria Math"/>
                <a:cs typeface="Cambria Math"/>
              </a:rPr>
              <a:t>𝑴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 b="1">
                <a:latin typeface="Calibri"/>
                <a:cs typeface="Calibri"/>
              </a:rPr>
              <a:t>column stochastic </a:t>
            </a:r>
            <a:r>
              <a:rPr dirty="0" sz="2400" spc="-90" b="1"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lvl="1" marL="460375" indent="-182880">
              <a:lnSpc>
                <a:spcPct val="100000"/>
              </a:lnSpc>
              <a:spcBef>
                <a:spcPts val="15"/>
              </a:spcBef>
              <a:buClr>
                <a:srgbClr val="6BB76D"/>
              </a:buClr>
              <a:buFont typeface="Malgun Gothic"/>
              <a:buChar char="▪"/>
              <a:tabLst>
                <a:tab pos="460375" algn="l"/>
              </a:tabLst>
            </a:pPr>
            <a:r>
              <a:rPr dirty="0" sz="2000" spc="-5" b="1">
                <a:latin typeface="Calibri"/>
                <a:cs typeface="Calibri"/>
              </a:rPr>
              <a:t>Columns </a:t>
            </a:r>
            <a:r>
              <a:rPr dirty="0" sz="2000" spc="-5">
                <a:latin typeface="Calibri"/>
                <a:cs typeface="Calibri"/>
              </a:rPr>
              <a:t>sum </a:t>
            </a:r>
            <a:r>
              <a:rPr dirty="0" sz="2000" spc="-10">
                <a:latin typeface="Calibri"/>
                <a:cs typeface="Calibri"/>
              </a:rPr>
              <a:t>to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108" y="3762755"/>
            <a:ext cx="5909310" cy="944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2936240" algn="l"/>
              </a:tabLst>
            </a:pP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Rank</a:t>
            </a:r>
            <a:r>
              <a:rPr dirty="0" sz="3200" spc="0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FF0066"/>
                </a:solidFill>
                <a:latin typeface="Calibri"/>
                <a:cs typeface="Calibri"/>
              </a:rPr>
              <a:t>vector</a:t>
            </a:r>
            <a:r>
              <a:rPr dirty="0" sz="3200" spc="0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FF0066"/>
                </a:solidFill>
                <a:latin typeface="Cambria Math"/>
                <a:cs typeface="Cambria Math"/>
              </a:rPr>
              <a:t>𝒓</a:t>
            </a: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:	</a:t>
            </a:r>
            <a:r>
              <a:rPr dirty="0" sz="3200" spc="-5">
                <a:latin typeface="Calibri"/>
                <a:cs typeface="Calibri"/>
              </a:rPr>
              <a:t>An entry per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page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mbria Math"/>
                <a:cs typeface="Cambria Math"/>
              </a:rPr>
              <a:t>𝒓</a:t>
            </a:r>
            <a:r>
              <a:rPr dirty="0" baseline="-17543" sz="2850" spc="-7">
                <a:latin typeface="Cambria Math"/>
                <a:cs typeface="Cambria Math"/>
              </a:rPr>
              <a:t>𝒊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10">
                <a:latin typeface="Calibri"/>
                <a:cs typeface="Calibri"/>
              </a:rPr>
              <a:t>importance </a:t>
            </a:r>
            <a:r>
              <a:rPr dirty="0" sz="2800" spc="-15">
                <a:latin typeface="Calibri"/>
                <a:cs typeface="Calibri"/>
              </a:rPr>
              <a:t>score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page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563" y="4740147"/>
            <a:ext cx="18268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236980" algn="l"/>
              </a:tabLst>
            </a:pPr>
            <a:r>
              <a:rPr dirty="0" baseline="1984" sz="4200">
                <a:latin typeface="Cambria Math"/>
                <a:cs typeface="Cambria Math"/>
              </a:rPr>
              <a:t>∑</a:t>
            </a:r>
            <a:r>
              <a:rPr dirty="0" baseline="-18055" sz="3000">
                <a:latin typeface="Cambria Math"/>
                <a:cs typeface="Cambria Math"/>
              </a:rPr>
              <a:t>𝒊</a:t>
            </a:r>
            <a:r>
              <a:rPr dirty="0" baseline="-18055" sz="3000" spc="-142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𝒓</a:t>
            </a:r>
            <a:r>
              <a:rPr dirty="0" baseline="-18055" sz="3000" spc="-7">
                <a:latin typeface="Cambria Math"/>
                <a:cs typeface="Cambria Math"/>
              </a:rPr>
              <a:t>𝒊	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108" y="5158740"/>
            <a:ext cx="6104890" cy="1130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The flow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equations can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be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written</a:t>
            </a:r>
            <a:endParaRPr sz="3200">
              <a:latin typeface="Calibri"/>
              <a:cs typeface="Calibri"/>
            </a:endParaRPr>
          </a:p>
          <a:p>
            <a:pPr marL="2636520">
              <a:lnSpc>
                <a:spcPct val="100000"/>
              </a:lnSpc>
              <a:spcBef>
                <a:spcPts val="65"/>
              </a:spcBef>
              <a:tabLst>
                <a:tab pos="3162300" algn="l"/>
                <a:tab pos="3793490" algn="l"/>
                <a:tab pos="4737100" algn="l"/>
              </a:tabLst>
            </a:pPr>
            <a:r>
              <a:rPr dirty="0" sz="4000">
                <a:solidFill>
                  <a:srgbClr val="0000FF"/>
                </a:solidFill>
                <a:latin typeface="Cambria Math"/>
                <a:cs typeface="Cambria Math"/>
              </a:rPr>
              <a:t>𝒓	=	𝑴 ⋅	𝒓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10400" y="1558925"/>
            <a:ext cx="2057400" cy="1981200"/>
          </a:xfrm>
          <a:custGeom>
            <a:avLst/>
            <a:gdLst/>
            <a:ahLst/>
            <a:cxnLst/>
            <a:rect l="l" t="t" r="r" b="b"/>
            <a:pathLst>
              <a:path w="2057400" h="1981200">
                <a:moveTo>
                  <a:pt x="0" y="0"/>
                </a:moveTo>
                <a:lnTo>
                  <a:pt x="2057400" y="0"/>
                </a:lnTo>
                <a:lnTo>
                  <a:pt x="2057400" y="1981201"/>
                </a:lnTo>
                <a:lnTo>
                  <a:pt x="0" y="1981201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10400" y="1558925"/>
            <a:ext cx="2057400" cy="1981200"/>
          </a:xfrm>
          <a:custGeom>
            <a:avLst/>
            <a:gdLst/>
            <a:ahLst/>
            <a:cxnLst/>
            <a:rect l="l" t="t" r="r" b="b"/>
            <a:pathLst>
              <a:path w="2057400" h="1981200">
                <a:moveTo>
                  <a:pt x="0" y="0"/>
                </a:moveTo>
                <a:lnTo>
                  <a:pt x="2057400" y="0"/>
                </a:lnTo>
                <a:lnTo>
                  <a:pt x="2057400" y="1981201"/>
                </a:lnTo>
                <a:lnTo>
                  <a:pt x="0" y="1981201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820851" y="1925827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73401" y="1087627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09516" y="2168526"/>
            <a:ext cx="758825" cy="0"/>
          </a:xfrm>
          <a:custGeom>
            <a:avLst/>
            <a:gdLst/>
            <a:ahLst/>
            <a:cxnLst/>
            <a:rect l="l" t="t" r="r" b="b"/>
            <a:pathLst>
              <a:path w="758825" h="0">
                <a:moveTo>
                  <a:pt x="0" y="0"/>
                </a:moveTo>
                <a:lnTo>
                  <a:pt x="758284" y="0"/>
                </a:lnTo>
              </a:path>
            </a:pathLst>
          </a:custGeom>
          <a:ln w="95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10400" y="2168526"/>
            <a:ext cx="1146810" cy="0"/>
          </a:xfrm>
          <a:custGeom>
            <a:avLst/>
            <a:gdLst/>
            <a:ahLst/>
            <a:cxnLst/>
            <a:rect l="l" t="t" r="r" b="b"/>
            <a:pathLst>
              <a:path w="1146809" h="0">
                <a:moveTo>
                  <a:pt x="0" y="0"/>
                </a:moveTo>
                <a:lnTo>
                  <a:pt x="1146716" y="0"/>
                </a:lnTo>
              </a:path>
            </a:pathLst>
          </a:custGeom>
          <a:ln w="95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29600" y="1558925"/>
            <a:ext cx="0" cy="535305"/>
          </a:xfrm>
          <a:custGeom>
            <a:avLst/>
            <a:gdLst/>
            <a:ahLst/>
            <a:cxnLst/>
            <a:rect l="l" t="t" r="r" b="b"/>
            <a:pathLst>
              <a:path w="0" h="535305">
                <a:moveTo>
                  <a:pt x="0" y="0"/>
                </a:moveTo>
                <a:lnTo>
                  <a:pt x="0" y="535059"/>
                </a:lnTo>
              </a:path>
            </a:pathLst>
          </a:custGeom>
          <a:ln w="95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29600" y="2246384"/>
            <a:ext cx="0" cy="361315"/>
          </a:xfrm>
          <a:custGeom>
            <a:avLst/>
            <a:gdLst/>
            <a:ahLst/>
            <a:cxnLst/>
            <a:rect l="l" t="t" r="r" b="b"/>
            <a:pathLst>
              <a:path w="0" h="361314">
                <a:moveTo>
                  <a:pt x="0" y="0"/>
                </a:moveTo>
                <a:lnTo>
                  <a:pt x="0" y="361223"/>
                </a:lnTo>
              </a:path>
            </a:pathLst>
          </a:custGeom>
          <a:ln w="95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229600" y="2760008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229600" y="3369608"/>
            <a:ext cx="0" cy="170815"/>
          </a:xfrm>
          <a:custGeom>
            <a:avLst/>
            <a:gdLst/>
            <a:ahLst/>
            <a:cxnLst/>
            <a:rect l="l" t="t" r="r" b="b"/>
            <a:pathLst>
              <a:path w="0" h="170814">
                <a:moveTo>
                  <a:pt x="0" y="0"/>
                </a:moveTo>
                <a:lnTo>
                  <a:pt x="0" y="170517"/>
                </a:lnTo>
              </a:path>
            </a:pathLst>
          </a:custGeom>
          <a:ln w="952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879715" y="3757676"/>
            <a:ext cx="3905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solidFill>
                  <a:srgbClr val="008000"/>
                </a:solidFill>
                <a:latin typeface="Corbel"/>
                <a:cs typeface="Corbel"/>
              </a:rPr>
              <a:t>M</a:t>
            </a:r>
            <a:endParaRPr sz="3600">
              <a:latin typeface="Corbel"/>
              <a:cs typeface="Corbe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93557" y="3123692"/>
            <a:ext cx="414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8000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/</a:t>
            </a:r>
            <a:r>
              <a:rPr dirty="0" sz="2400" b="1">
                <a:solidFill>
                  <a:srgbClr val="008000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499917" y="2246384"/>
            <a:ext cx="1642745" cy="877569"/>
          </a:xfrm>
          <a:custGeom>
            <a:avLst/>
            <a:gdLst/>
            <a:ahLst/>
            <a:cxnLst/>
            <a:rect l="l" t="t" r="r" b="b"/>
            <a:pathLst>
              <a:path w="1642745" h="877569">
                <a:moveTo>
                  <a:pt x="1572626" y="31608"/>
                </a:moveTo>
                <a:lnTo>
                  <a:pt x="0" y="868921"/>
                </a:lnTo>
                <a:lnTo>
                  <a:pt x="4475" y="877328"/>
                </a:lnTo>
                <a:lnTo>
                  <a:pt x="1577102" y="40015"/>
                </a:lnTo>
                <a:lnTo>
                  <a:pt x="1572626" y="31608"/>
                </a:lnTo>
                <a:close/>
              </a:path>
              <a:path w="1642745" h="877569">
                <a:moveTo>
                  <a:pt x="1623901" y="25641"/>
                </a:moveTo>
                <a:lnTo>
                  <a:pt x="1583833" y="25641"/>
                </a:lnTo>
                <a:lnTo>
                  <a:pt x="1588308" y="34048"/>
                </a:lnTo>
                <a:lnTo>
                  <a:pt x="1577102" y="40015"/>
                </a:lnTo>
                <a:lnTo>
                  <a:pt x="1592770" y="69442"/>
                </a:lnTo>
                <a:lnTo>
                  <a:pt x="1623901" y="25641"/>
                </a:lnTo>
                <a:close/>
              </a:path>
              <a:path w="1642745" h="877569">
                <a:moveTo>
                  <a:pt x="1583833" y="25641"/>
                </a:moveTo>
                <a:lnTo>
                  <a:pt x="1572626" y="31608"/>
                </a:lnTo>
                <a:lnTo>
                  <a:pt x="1577102" y="40015"/>
                </a:lnTo>
                <a:lnTo>
                  <a:pt x="1588308" y="34048"/>
                </a:lnTo>
                <a:lnTo>
                  <a:pt x="1583833" y="25641"/>
                </a:lnTo>
                <a:close/>
              </a:path>
              <a:path w="1642745" h="877569">
                <a:moveTo>
                  <a:pt x="1642125" y="0"/>
                </a:moveTo>
                <a:lnTo>
                  <a:pt x="1556959" y="2181"/>
                </a:lnTo>
                <a:lnTo>
                  <a:pt x="1572626" y="31608"/>
                </a:lnTo>
                <a:lnTo>
                  <a:pt x="1583833" y="25641"/>
                </a:lnTo>
                <a:lnTo>
                  <a:pt x="1623901" y="25641"/>
                </a:lnTo>
                <a:lnTo>
                  <a:pt x="16421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157116" y="20939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157116" y="20939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157619" y="26076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157619" y="26076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49252" y="32172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CC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149252" y="32172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713396" y="2675956"/>
            <a:ext cx="1436370" cy="570865"/>
          </a:xfrm>
          <a:custGeom>
            <a:avLst/>
            <a:gdLst/>
            <a:ahLst/>
            <a:cxnLst/>
            <a:rect l="l" t="t" r="r" b="b"/>
            <a:pathLst>
              <a:path w="1436370" h="570864">
                <a:moveTo>
                  <a:pt x="1363120" y="31064"/>
                </a:moveTo>
                <a:lnTo>
                  <a:pt x="0" y="561902"/>
                </a:lnTo>
                <a:lnTo>
                  <a:pt x="3456" y="570778"/>
                </a:lnTo>
                <a:lnTo>
                  <a:pt x="1366577" y="39940"/>
                </a:lnTo>
                <a:lnTo>
                  <a:pt x="1363120" y="31064"/>
                </a:lnTo>
                <a:close/>
              </a:path>
              <a:path w="1436370" h="570864">
                <a:moveTo>
                  <a:pt x="1419010" y="26456"/>
                </a:moveTo>
                <a:lnTo>
                  <a:pt x="1374952" y="26456"/>
                </a:lnTo>
                <a:lnTo>
                  <a:pt x="1378409" y="35332"/>
                </a:lnTo>
                <a:lnTo>
                  <a:pt x="1366577" y="39940"/>
                </a:lnTo>
                <a:lnTo>
                  <a:pt x="1378675" y="71005"/>
                </a:lnTo>
                <a:lnTo>
                  <a:pt x="1419010" y="26456"/>
                </a:lnTo>
                <a:close/>
              </a:path>
              <a:path w="1436370" h="570864">
                <a:moveTo>
                  <a:pt x="1374952" y="26456"/>
                </a:moveTo>
                <a:lnTo>
                  <a:pt x="1363120" y="31064"/>
                </a:lnTo>
                <a:lnTo>
                  <a:pt x="1366577" y="39940"/>
                </a:lnTo>
                <a:lnTo>
                  <a:pt x="1378409" y="35332"/>
                </a:lnTo>
                <a:lnTo>
                  <a:pt x="1374952" y="26456"/>
                </a:lnTo>
                <a:close/>
              </a:path>
              <a:path w="1436370" h="570864">
                <a:moveTo>
                  <a:pt x="1351023" y="0"/>
                </a:moveTo>
                <a:lnTo>
                  <a:pt x="1363120" y="31064"/>
                </a:lnTo>
                <a:lnTo>
                  <a:pt x="1374952" y="26456"/>
                </a:lnTo>
                <a:lnTo>
                  <a:pt x="1419010" y="26456"/>
                </a:lnTo>
                <a:lnTo>
                  <a:pt x="1435855" y="7851"/>
                </a:lnTo>
                <a:lnTo>
                  <a:pt x="13510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741853" y="3259504"/>
            <a:ext cx="1400810" cy="114935"/>
          </a:xfrm>
          <a:custGeom>
            <a:avLst/>
            <a:gdLst/>
            <a:ahLst/>
            <a:cxnLst/>
            <a:rect l="l" t="t" r="r" b="b"/>
            <a:pathLst>
              <a:path w="1400809" h="114935">
                <a:moveTo>
                  <a:pt x="1323843" y="33288"/>
                </a:moveTo>
                <a:lnTo>
                  <a:pt x="0" y="105347"/>
                </a:lnTo>
                <a:lnTo>
                  <a:pt x="516" y="114858"/>
                </a:lnTo>
                <a:lnTo>
                  <a:pt x="1324361" y="42799"/>
                </a:lnTo>
                <a:lnTo>
                  <a:pt x="1323843" y="33288"/>
                </a:lnTo>
                <a:close/>
              </a:path>
              <a:path w="1400809" h="114935">
                <a:moveTo>
                  <a:pt x="1397182" y="32598"/>
                </a:moveTo>
                <a:lnTo>
                  <a:pt x="1336525" y="32598"/>
                </a:lnTo>
                <a:lnTo>
                  <a:pt x="1337043" y="42109"/>
                </a:lnTo>
                <a:lnTo>
                  <a:pt x="1324361" y="42799"/>
                </a:lnTo>
                <a:lnTo>
                  <a:pt x="1326173" y="76086"/>
                </a:lnTo>
                <a:lnTo>
                  <a:pt x="1400188" y="33902"/>
                </a:lnTo>
                <a:lnTo>
                  <a:pt x="1397182" y="32598"/>
                </a:lnTo>
                <a:close/>
              </a:path>
              <a:path w="1400809" h="114935">
                <a:moveTo>
                  <a:pt x="1336525" y="32598"/>
                </a:moveTo>
                <a:lnTo>
                  <a:pt x="1323843" y="33288"/>
                </a:lnTo>
                <a:lnTo>
                  <a:pt x="1324361" y="42799"/>
                </a:lnTo>
                <a:lnTo>
                  <a:pt x="1337043" y="42109"/>
                </a:lnTo>
                <a:lnTo>
                  <a:pt x="1336525" y="32598"/>
                </a:lnTo>
                <a:close/>
              </a:path>
              <a:path w="1400809" h="114935">
                <a:moveTo>
                  <a:pt x="1322031" y="0"/>
                </a:moveTo>
                <a:lnTo>
                  <a:pt x="1323843" y="33288"/>
                </a:lnTo>
                <a:lnTo>
                  <a:pt x="1336525" y="32598"/>
                </a:lnTo>
                <a:lnTo>
                  <a:pt x="1397182" y="32598"/>
                </a:lnTo>
                <a:lnTo>
                  <a:pt x="1322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346756" y="5448300"/>
            <a:ext cx="2190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𝑟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15</a:t>
            </a:fld>
          </a:p>
        </p:txBody>
      </p:sp>
      <p:sp>
        <p:nvSpPr>
          <p:cNvPr id="35" name="object 35"/>
          <p:cNvSpPr txBox="1"/>
          <p:nvPr/>
        </p:nvSpPr>
        <p:spPr>
          <a:xfrm>
            <a:off x="6888733" y="5756148"/>
            <a:ext cx="181228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10">
                <a:latin typeface="Cambria Math"/>
                <a:cs typeface="Cambria Math"/>
              </a:rPr>
              <a:t>𝑟</a:t>
            </a:r>
            <a:r>
              <a:rPr dirty="0" baseline="-15700" sz="3450" spc="-165">
                <a:latin typeface="Cambria Math"/>
                <a:cs typeface="Cambria Math"/>
              </a:rPr>
              <a:t>! 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2255">
                <a:latin typeface="Cambria Math"/>
                <a:cs typeface="Cambria Math"/>
              </a:rPr>
              <a:t>#</a:t>
            </a:r>
            <a:r>
              <a:rPr dirty="0" baseline="31250" sz="4800" spc="2145" u="heavy">
                <a:latin typeface="Cambria Math"/>
                <a:cs typeface="Cambria Math"/>
              </a:rPr>
              <a:t> </a:t>
            </a:r>
            <a:r>
              <a:rPr dirty="0" baseline="43478" sz="3450" spc="-150" u="heavy">
                <a:latin typeface="Cambria Math"/>
                <a:cs typeface="Cambria Math"/>
              </a:rPr>
              <a:t>"</a:t>
            </a:r>
            <a:r>
              <a:rPr dirty="0" baseline="43478" sz="3450" spc="135" u="heavy">
                <a:latin typeface="Cambria Math"/>
                <a:cs typeface="Cambria Math"/>
              </a:rPr>
              <a:t> </a:t>
            </a:r>
            <a:endParaRPr baseline="43478" sz="34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09661" y="6027420"/>
            <a:ext cx="956944" cy="734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6425">
              <a:lnSpc>
                <a:spcPts val="3329"/>
              </a:lnSpc>
              <a:spcBef>
                <a:spcPts val="100"/>
              </a:spcBef>
            </a:pPr>
            <a:r>
              <a:rPr dirty="0" sz="3200" spc="-5">
                <a:latin typeface="Cambria Math"/>
                <a:cs typeface="Cambria Math"/>
              </a:rPr>
              <a:t>𝑑</a:t>
            </a:r>
            <a:r>
              <a:rPr dirty="0" baseline="-15700" sz="3450" spc="-150">
                <a:latin typeface="Cambria Math"/>
                <a:cs typeface="Cambria Math"/>
              </a:rPr>
              <a:t>"</a:t>
            </a:r>
            <a:endParaRPr baseline="-15700" sz="3450">
              <a:latin typeface="Cambria Math"/>
              <a:cs typeface="Cambria Math"/>
            </a:endParaRPr>
          </a:p>
          <a:p>
            <a:pPr marL="12700">
              <a:lnSpc>
                <a:spcPts val="2250"/>
              </a:lnSpc>
            </a:pPr>
            <a:r>
              <a:rPr dirty="0" sz="2300" spc="140">
                <a:latin typeface="Cambria Math"/>
                <a:cs typeface="Cambria Math"/>
              </a:rPr>
              <a:t>"→!</a:t>
            </a:r>
            <a:endParaRPr sz="2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5119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3615" y="6694423"/>
            <a:ext cx="2586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C246: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Mining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Massive</a:t>
            </a:r>
            <a:r>
              <a:rPr dirty="0" sz="90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Datasets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26532" y="2559348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4">
                <a:moveTo>
                  <a:pt x="292259" y="48801"/>
                </a:moveTo>
                <a:lnTo>
                  <a:pt x="267488" y="62600"/>
                </a:lnTo>
                <a:lnTo>
                  <a:pt x="0" y="514478"/>
                </a:lnTo>
                <a:lnTo>
                  <a:pt x="2246" y="523242"/>
                </a:lnTo>
                <a:lnTo>
                  <a:pt x="15826" y="531280"/>
                </a:lnTo>
                <a:lnTo>
                  <a:pt x="24589" y="529035"/>
                </a:lnTo>
                <a:lnTo>
                  <a:pt x="292077" y="77156"/>
                </a:lnTo>
                <a:lnTo>
                  <a:pt x="292259" y="48801"/>
                </a:lnTo>
                <a:close/>
              </a:path>
              <a:path w="323214" h="531494">
                <a:moveTo>
                  <a:pt x="320967" y="28353"/>
                </a:moveTo>
                <a:lnTo>
                  <a:pt x="292077" y="77156"/>
                </a:lnTo>
                <a:lnTo>
                  <a:pt x="291730" y="131441"/>
                </a:lnTo>
                <a:lnTo>
                  <a:pt x="298086" y="137878"/>
                </a:lnTo>
                <a:lnTo>
                  <a:pt x="313867" y="137980"/>
                </a:lnTo>
                <a:lnTo>
                  <a:pt x="320305" y="131624"/>
                </a:lnTo>
                <a:lnTo>
                  <a:pt x="320967" y="28353"/>
                </a:lnTo>
                <a:close/>
              </a:path>
              <a:path w="323214" h="531494">
                <a:moveTo>
                  <a:pt x="296376" y="13799"/>
                </a:moveTo>
                <a:lnTo>
                  <a:pt x="206157" y="64054"/>
                </a:lnTo>
                <a:lnTo>
                  <a:pt x="203682" y="72757"/>
                </a:lnTo>
                <a:lnTo>
                  <a:pt x="211362" y="86542"/>
                </a:lnTo>
                <a:lnTo>
                  <a:pt x="220064" y="89018"/>
                </a:lnTo>
                <a:lnTo>
                  <a:pt x="267488" y="62600"/>
                </a:lnTo>
                <a:lnTo>
                  <a:pt x="296376" y="13799"/>
                </a:lnTo>
                <a:close/>
              </a:path>
              <a:path w="323214" h="531494">
                <a:moveTo>
                  <a:pt x="320993" y="24309"/>
                </a:moveTo>
                <a:lnTo>
                  <a:pt x="292416" y="24309"/>
                </a:lnTo>
                <a:lnTo>
                  <a:pt x="313656" y="36882"/>
                </a:lnTo>
                <a:lnTo>
                  <a:pt x="292259" y="48801"/>
                </a:lnTo>
                <a:lnTo>
                  <a:pt x="292077" y="77156"/>
                </a:lnTo>
                <a:lnTo>
                  <a:pt x="320967" y="28353"/>
                </a:lnTo>
                <a:lnTo>
                  <a:pt x="320993" y="24309"/>
                </a:lnTo>
                <a:close/>
              </a:path>
              <a:path w="323214" h="531494">
                <a:moveTo>
                  <a:pt x="307191" y="8086"/>
                </a:moveTo>
                <a:lnTo>
                  <a:pt x="306156" y="8351"/>
                </a:lnTo>
                <a:lnTo>
                  <a:pt x="296376" y="13799"/>
                </a:lnTo>
                <a:lnTo>
                  <a:pt x="267488" y="62600"/>
                </a:lnTo>
                <a:lnTo>
                  <a:pt x="292259" y="48801"/>
                </a:lnTo>
                <a:lnTo>
                  <a:pt x="292416" y="24309"/>
                </a:lnTo>
                <a:lnTo>
                  <a:pt x="320993" y="24309"/>
                </a:lnTo>
                <a:lnTo>
                  <a:pt x="321038" y="17163"/>
                </a:lnTo>
                <a:lnTo>
                  <a:pt x="320772" y="16125"/>
                </a:lnTo>
                <a:lnTo>
                  <a:pt x="307191" y="8086"/>
                </a:lnTo>
                <a:close/>
              </a:path>
              <a:path w="323214" h="531494">
                <a:moveTo>
                  <a:pt x="292416" y="24309"/>
                </a:moveTo>
                <a:lnTo>
                  <a:pt x="292259" y="48801"/>
                </a:lnTo>
                <a:lnTo>
                  <a:pt x="313656" y="36882"/>
                </a:lnTo>
                <a:lnTo>
                  <a:pt x="292416" y="24309"/>
                </a:lnTo>
                <a:close/>
              </a:path>
              <a:path w="323214" h="531494">
                <a:moveTo>
                  <a:pt x="321038" y="17163"/>
                </a:moveTo>
                <a:lnTo>
                  <a:pt x="320967" y="28353"/>
                </a:lnTo>
                <a:lnTo>
                  <a:pt x="323018" y="24888"/>
                </a:lnTo>
                <a:lnTo>
                  <a:pt x="321038" y="17163"/>
                </a:lnTo>
                <a:close/>
              </a:path>
              <a:path w="323214" h="531494">
                <a:moveTo>
                  <a:pt x="321096" y="8086"/>
                </a:moveTo>
                <a:lnTo>
                  <a:pt x="307191" y="8086"/>
                </a:lnTo>
                <a:lnTo>
                  <a:pt x="320772" y="16125"/>
                </a:lnTo>
                <a:lnTo>
                  <a:pt x="321038" y="17163"/>
                </a:lnTo>
                <a:lnTo>
                  <a:pt x="321096" y="8086"/>
                </a:lnTo>
                <a:close/>
              </a:path>
              <a:path w="323214" h="531494">
                <a:moveTo>
                  <a:pt x="306156" y="8351"/>
                </a:moveTo>
                <a:lnTo>
                  <a:pt x="298428" y="10332"/>
                </a:lnTo>
                <a:lnTo>
                  <a:pt x="296376" y="13799"/>
                </a:lnTo>
                <a:lnTo>
                  <a:pt x="306156" y="8351"/>
                </a:lnTo>
                <a:close/>
              </a:path>
              <a:path w="323214" h="531494">
                <a:moveTo>
                  <a:pt x="321148" y="0"/>
                </a:moveTo>
                <a:lnTo>
                  <a:pt x="306156" y="8351"/>
                </a:lnTo>
                <a:lnTo>
                  <a:pt x="307191" y="8086"/>
                </a:lnTo>
                <a:lnTo>
                  <a:pt x="321096" y="8086"/>
                </a:lnTo>
                <a:lnTo>
                  <a:pt x="32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94122" y="2482976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4">
                <a:moveTo>
                  <a:pt x="1980" y="514118"/>
                </a:moveTo>
                <a:lnTo>
                  <a:pt x="1870" y="531281"/>
                </a:lnTo>
                <a:lnTo>
                  <a:pt x="16386" y="523195"/>
                </a:lnTo>
                <a:lnTo>
                  <a:pt x="15826" y="523195"/>
                </a:lnTo>
                <a:lnTo>
                  <a:pt x="2246" y="515156"/>
                </a:lnTo>
                <a:lnTo>
                  <a:pt x="1980" y="514118"/>
                </a:lnTo>
                <a:close/>
              </a:path>
              <a:path w="323214" h="531494">
                <a:moveTo>
                  <a:pt x="30940" y="454124"/>
                </a:moveTo>
                <a:lnTo>
                  <a:pt x="2052" y="502926"/>
                </a:lnTo>
                <a:lnTo>
                  <a:pt x="1980" y="514118"/>
                </a:lnTo>
                <a:lnTo>
                  <a:pt x="2246" y="515156"/>
                </a:lnTo>
                <a:lnTo>
                  <a:pt x="15826" y="523195"/>
                </a:lnTo>
                <a:lnTo>
                  <a:pt x="16863" y="522929"/>
                </a:lnTo>
                <a:lnTo>
                  <a:pt x="26641" y="517482"/>
                </a:lnTo>
                <a:lnTo>
                  <a:pt x="32863" y="506972"/>
                </a:lnTo>
                <a:lnTo>
                  <a:pt x="30601" y="506972"/>
                </a:lnTo>
                <a:lnTo>
                  <a:pt x="9361" y="494399"/>
                </a:lnTo>
                <a:lnTo>
                  <a:pt x="30758" y="482479"/>
                </a:lnTo>
                <a:lnTo>
                  <a:pt x="30940" y="454124"/>
                </a:lnTo>
                <a:close/>
              </a:path>
              <a:path w="323214" h="531494">
                <a:moveTo>
                  <a:pt x="16863" y="522929"/>
                </a:moveTo>
                <a:lnTo>
                  <a:pt x="15826" y="523195"/>
                </a:lnTo>
                <a:lnTo>
                  <a:pt x="16386" y="523195"/>
                </a:lnTo>
                <a:lnTo>
                  <a:pt x="16863" y="522929"/>
                </a:lnTo>
                <a:close/>
              </a:path>
              <a:path w="323214" h="531494">
                <a:moveTo>
                  <a:pt x="26641" y="517482"/>
                </a:moveTo>
                <a:lnTo>
                  <a:pt x="16863" y="522929"/>
                </a:lnTo>
                <a:lnTo>
                  <a:pt x="24589" y="520948"/>
                </a:lnTo>
                <a:lnTo>
                  <a:pt x="26641" y="517482"/>
                </a:lnTo>
                <a:close/>
              </a:path>
              <a:path w="323214" h="531494">
                <a:moveTo>
                  <a:pt x="102955" y="442262"/>
                </a:moveTo>
                <a:lnTo>
                  <a:pt x="55529" y="468681"/>
                </a:lnTo>
                <a:lnTo>
                  <a:pt x="26641" y="517482"/>
                </a:lnTo>
                <a:lnTo>
                  <a:pt x="116860" y="467225"/>
                </a:lnTo>
                <a:lnTo>
                  <a:pt x="119335" y="458524"/>
                </a:lnTo>
                <a:lnTo>
                  <a:pt x="111655" y="444737"/>
                </a:lnTo>
                <a:lnTo>
                  <a:pt x="102955" y="442262"/>
                </a:lnTo>
                <a:close/>
              </a:path>
              <a:path w="323214" h="531494">
                <a:moveTo>
                  <a:pt x="2052" y="502926"/>
                </a:moveTo>
                <a:lnTo>
                  <a:pt x="0" y="506393"/>
                </a:lnTo>
                <a:lnTo>
                  <a:pt x="1980" y="514118"/>
                </a:lnTo>
                <a:lnTo>
                  <a:pt x="2052" y="502926"/>
                </a:lnTo>
                <a:close/>
              </a:path>
              <a:path w="323214" h="531494">
                <a:moveTo>
                  <a:pt x="30758" y="482479"/>
                </a:moveTo>
                <a:lnTo>
                  <a:pt x="9361" y="494399"/>
                </a:lnTo>
                <a:lnTo>
                  <a:pt x="30601" y="506972"/>
                </a:lnTo>
                <a:lnTo>
                  <a:pt x="30758" y="482479"/>
                </a:lnTo>
                <a:close/>
              </a:path>
              <a:path w="323214" h="531494">
                <a:moveTo>
                  <a:pt x="55529" y="468681"/>
                </a:moveTo>
                <a:lnTo>
                  <a:pt x="30758" y="482479"/>
                </a:lnTo>
                <a:lnTo>
                  <a:pt x="30601" y="506972"/>
                </a:lnTo>
                <a:lnTo>
                  <a:pt x="32863" y="506972"/>
                </a:lnTo>
                <a:lnTo>
                  <a:pt x="55529" y="468681"/>
                </a:lnTo>
                <a:close/>
              </a:path>
              <a:path w="323214" h="531494">
                <a:moveTo>
                  <a:pt x="9150" y="393301"/>
                </a:moveTo>
                <a:lnTo>
                  <a:pt x="2712" y="399656"/>
                </a:lnTo>
                <a:lnTo>
                  <a:pt x="2052" y="502926"/>
                </a:lnTo>
                <a:lnTo>
                  <a:pt x="30940" y="454124"/>
                </a:lnTo>
                <a:lnTo>
                  <a:pt x="31287" y="399839"/>
                </a:lnTo>
                <a:lnTo>
                  <a:pt x="24932" y="393401"/>
                </a:lnTo>
                <a:lnTo>
                  <a:pt x="9150" y="393301"/>
                </a:lnTo>
                <a:close/>
              </a:path>
              <a:path w="323214" h="531494">
                <a:moveTo>
                  <a:pt x="307191" y="0"/>
                </a:moveTo>
                <a:lnTo>
                  <a:pt x="298428" y="2246"/>
                </a:lnTo>
                <a:lnTo>
                  <a:pt x="30940" y="454124"/>
                </a:lnTo>
                <a:lnTo>
                  <a:pt x="30758" y="482479"/>
                </a:lnTo>
                <a:lnTo>
                  <a:pt x="55529" y="468681"/>
                </a:lnTo>
                <a:lnTo>
                  <a:pt x="323018" y="16802"/>
                </a:lnTo>
                <a:lnTo>
                  <a:pt x="320772" y="8039"/>
                </a:lnTo>
                <a:lnTo>
                  <a:pt x="307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60775" y="3091630"/>
            <a:ext cx="987425" cy="148590"/>
          </a:xfrm>
          <a:custGeom>
            <a:avLst/>
            <a:gdLst/>
            <a:ahLst/>
            <a:cxnLst/>
            <a:rect l="l" t="t" r="r" b="b"/>
            <a:pathLst>
              <a:path w="987425" h="148589">
                <a:moveTo>
                  <a:pt x="904965" y="98962"/>
                </a:moveTo>
                <a:lnTo>
                  <a:pt x="856079" y="122568"/>
                </a:lnTo>
                <a:lnTo>
                  <a:pt x="853099" y="131110"/>
                </a:lnTo>
                <a:lnTo>
                  <a:pt x="859962" y="145322"/>
                </a:lnTo>
                <a:lnTo>
                  <a:pt x="868504" y="148300"/>
                </a:lnTo>
                <a:lnTo>
                  <a:pt x="961503" y="103394"/>
                </a:lnTo>
                <a:lnTo>
                  <a:pt x="904965" y="98962"/>
                </a:lnTo>
                <a:close/>
              </a:path>
              <a:path w="987425" h="148589">
                <a:moveTo>
                  <a:pt x="971589" y="98523"/>
                </a:moveTo>
                <a:lnTo>
                  <a:pt x="961503" y="103394"/>
                </a:lnTo>
                <a:lnTo>
                  <a:pt x="965521" y="103709"/>
                </a:lnTo>
                <a:lnTo>
                  <a:pt x="971589" y="98523"/>
                </a:lnTo>
                <a:close/>
              </a:path>
              <a:path w="987425" h="148589">
                <a:moveTo>
                  <a:pt x="930499" y="86633"/>
                </a:moveTo>
                <a:lnTo>
                  <a:pt x="904965" y="98962"/>
                </a:lnTo>
                <a:lnTo>
                  <a:pt x="961503" y="103394"/>
                </a:lnTo>
                <a:lnTo>
                  <a:pt x="967310" y="100590"/>
                </a:lnTo>
                <a:lnTo>
                  <a:pt x="950626" y="100590"/>
                </a:lnTo>
                <a:lnTo>
                  <a:pt x="930499" y="86633"/>
                </a:lnTo>
                <a:close/>
              </a:path>
              <a:path w="987425" h="148589">
                <a:moveTo>
                  <a:pt x="952555" y="75982"/>
                </a:moveTo>
                <a:lnTo>
                  <a:pt x="930499" y="86633"/>
                </a:lnTo>
                <a:lnTo>
                  <a:pt x="950626" y="100590"/>
                </a:lnTo>
                <a:lnTo>
                  <a:pt x="952555" y="75982"/>
                </a:lnTo>
                <a:close/>
              </a:path>
              <a:path w="987425" h="148589">
                <a:moveTo>
                  <a:pt x="965285" y="75982"/>
                </a:moveTo>
                <a:lnTo>
                  <a:pt x="952555" y="75982"/>
                </a:lnTo>
                <a:lnTo>
                  <a:pt x="950626" y="100590"/>
                </a:lnTo>
                <a:lnTo>
                  <a:pt x="967310" y="100590"/>
                </a:lnTo>
                <a:lnTo>
                  <a:pt x="971589" y="98523"/>
                </a:lnTo>
                <a:lnTo>
                  <a:pt x="972398" y="97833"/>
                </a:lnTo>
                <a:lnTo>
                  <a:pt x="973631" y="82099"/>
                </a:lnTo>
                <a:lnTo>
                  <a:pt x="972941" y="81291"/>
                </a:lnTo>
                <a:lnTo>
                  <a:pt x="965285" y="75982"/>
                </a:lnTo>
                <a:close/>
              </a:path>
              <a:path w="987425" h="148589">
                <a:moveTo>
                  <a:pt x="8110" y="0"/>
                </a:moveTo>
                <a:lnTo>
                  <a:pt x="1233" y="5876"/>
                </a:lnTo>
                <a:lnTo>
                  <a:pt x="0" y="21610"/>
                </a:lnTo>
                <a:lnTo>
                  <a:pt x="5877" y="28487"/>
                </a:lnTo>
                <a:lnTo>
                  <a:pt x="904965" y="98962"/>
                </a:lnTo>
                <a:lnTo>
                  <a:pt x="930499" y="86633"/>
                </a:lnTo>
                <a:lnTo>
                  <a:pt x="907197" y="70475"/>
                </a:lnTo>
                <a:lnTo>
                  <a:pt x="8110" y="0"/>
                </a:lnTo>
                <a:close/>
              </a:path>
              <a:path w="987425" h="148589">
                <a:moveTo>
                  <a:pt x="972941" y="81291"/>
                </a:moveTo>
                <a:lnTo>
                  <a:pt x="973631" y="82099"/>
                </a:lnTo>
                <a:lnTo>
                  <a:pt x="972398" y="97833"/>
                </a:lnTo>
                <a:lnTo>
                  <a:pt x="971589" y="98523"/>
                </a:lnTo>
                <a:lnTo>
                  <a:pt x="987036" y="91065"/>
                </a:lnTo>
                <a:lnTo>
                  <a:pt x="972941" y="81291"/>
                </a:lnTo>
                <a:close/>
              </a:path>
              <a:path w="987425" h="148589">
                <a:moveTo>
                  <a:pt x="907197" y="70475"/>
                </a:moveTo>
                <a:lnTo>
                  <a:pt x="930499" y="86633"/>
                </a:lnTo>
                <a:lnTo>
                  <a:pt x="952555" y="75982"/>
                </a:lnTo>
                <a:lnTo>
                  <a:pt x="965285" y="75982"/>
                </a:lnTo>
                <a:lnTo>
                  <a:pt x="963734" y="74906"/>
                </a:lnTo>
                <a:lnTo>
                  <a:pt x="907197" y="70475"/>
                </a:lnTo>
                <a:close/>
              </a:path>
              <a:path w="987425" h="148589">
                <a:moveTo>
                  <a:pt x="963734" y="74906"/>
                </a:moveTo>
                <a:lnTo>
                  <a:pt x="972941" y="81291"/>
                </a:lnTo>
                <a:lnTo>
                  <a:pt x="967753" y="75222"/>
                </a:lnTo>
                <a:lnTo>
                  <a:pt x="963734" y="74906"/>
                </a:lnTo>
                <a:close/>
              </a:path>
              <a:path w="987425" h="148589">
                <a:moveTo>
                  <a:pt x="878870" y="16059"/>
                </a:moveTo>
                <a:lnTo>
                  <a:pt x="869969" y="17670"/>
                </a:lnTo>
                <a:lnTo>
                  <a:pt x="860976" y="30640"/>
                </a:lnTo>
                <a:lnTo>
                  <a:pt x="862586" y="39541"/>
                </a:lnTo>
                <a:lnTo>
                  <a:pt x="907197" y="70475"/>
                </a:lnTo>
                <a:lnTo>
                  <a:pt x="963734" y="74906"/>
                </a:lnTo>
                <a:lnTo>
                  <a:pt x="878870" y="16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77174" y="3228601"/>
            <a:ext cx="987425" cy="148590"/>
          </a:xfrm>
          <a:custGeom>
            <a:avLst/>
            <a:gdLst/>
            <a:ahLst/>
            <a:cxnLst/>
            <a:rect l="l" t="t" r="r" b="b"/>
            <a:pathLst>
              <a:path w="987425" h="148589">
                <a:moveTo>
                  <a:pt x="82071" y="49336"/>
                </a:moveTo>
                <a:lnTo>
                  <a:pt x="56536" y="61666"/>
                </a:lnTo>
                <a:lnTo>
                  <a:pt x="79838" y="77825"/>
                </a:lnTo>
                <a:lnTo>
                  <a:pt x="978924" y="148300"/>
                </a:lnTo>
                <a:lnTo>
                  <a:pt x="985801" y="142422"/>
                </a:lnTo>
                <a:lnTo>
                  <a:pt x="987036" y="126690"/>
                </a:lnTo>
                <a:lnTo>
                  <a:pt x="981158" y="119813"/>
                </a:lnTo>
                <a:lnTo>
                  <a:pt x="82071" y="49336"/>
                </a:lnTo>
                <a:close/>
              </a:path>
              <a:path w="987425" h="148589">
                <a:moveTo>
                  <a:pt x="23301" y="73393"/>
                </a:moveTo>
                <a:lnTo>
                  <a:pt x="108165" y="132240"/>
                </a:lnTo>
                <a:lnTo>
                  <a:pt x="117067" y="130629"/>
                </a:lnTo>
                <a:lnTo>
                  <a:pt x="126060" y="117660"/>
                </a:lnTo>
                <a:lnTo>
                  <a:pt x="124448" y="108758"/>
                </a:lnTo>
                <a:lnTo>
                  <a:pt x="79838" y="77825"/>
                </a:lnTo>
                <a:lnTo>
                  <a:pt x="23301" y="73393"/>
                </a:lnTo>
                <a:close/>
              </a:path>
              <a:path w="987425" h="148589">
                <a:moveTo>
                  <a:pt x="25535" y="44904"/>
                </a:moveTo>
                <a:lnTo>
                  <a:pt x="15445" y="49776"/>
                </a:lnTo>
                <a:lnTo>
                  <a:pt x="14638" y="50467"/>
                </a:lnTo>
                <a:lnTo>
                  <a:pt x="13404" y="66201"/>
                </a:lnTo>
                <a:lnTo>
                  <a:pt x="14095" y="67009"/>
                </a:lnTo>
                <a:lnTo>
                  <a:pt x="23301" y="73393"/>
                </a:lnTo>
                <a:lnTo>
                  <a:pt x="79838" y="77825"/>
                </a:lnTo>
                <a:lnTo>
                  <a:pt x="71894" y="72316"/>
                </a:lnTo>
                <a:lnTo>
                  <a:pt x="34480" y="72316"/>
                </a:lnTo>
                <a:lnTo>
                  <a:pt x="36409" y="47710"/>
                </a:lnTo>
                <a:lnTo>
                  <a:pt x="61322" y="47710"/>
                </a:lnTo>
                <a:lnTo>
                  <a:pt x="25535" y="44904"/>
                </a:lnTo>
                <a:close/>
              </a:path>
              <a:path w="987425" h="148589">
                <a:moveTo>
                  <a:pt x="14095" y="67009"/>
                </a:moveTo>
                <a:lnTo>
                  <a:pt x="19282" y="73078"/>
                </a:lnTo>
                <a:lnTo>
                  <a:pt x="23301" y="73393"/>
                </a:lnTo>
                <a:lnTo>
                  <a:pt x="14095" y="67009"/>
                </a:lnTo>
                <a:close/>
              </a:path>
              <a:path w="987425" h="148589">
                <a:moveTo>
                  <a:pt x="36409" y="47710"/>
                </a:moveTo>
                <a:lnTo>
                  <a:pt x="34480" y="72316"/>
                </a:lnTo>
                <a:lnTo>
                  <a:pt x="56536" y="61666"/>
                </a:lnTo>
                <a:lnTo>
                  <a:pt x="36409" y="47710"/>
                </a:lnTo>
                <a:close/>
              </a:path>
              <a:path w="987425" h="148589">
                <a:moveTo>
                  <a:pt x="56536" y="61666"/>
                </a:moveTo>
                <a:lnTo>
                  <a:pt x="34480" y="72316"/>
                </a:lnTo>
                <a:lnTo>
                  <a:pt x="71894" y="72316"/>
                </a:lnTo>
                <a:lnTo>
                  <a:pt x="56536" y="61666"/>
                </a:lnTo>
                <a:close/>
              </a:path>
              <a:path w="987425" h="148589">
                <a:moveTo>
                  <a:pt x="15445" y="49776"/>
                </a:moveTo>
                <a:lnTo>
                  <a:pt x="0" y="57235"/>
                </a:lnTo>
                <a:lnTo>
                  <a:pt x="14095" y="67009"/>
                </a:lnTo>
                <a:lnTo>
                  <a:pt x="13404" y="66201"/>
                </a:lnTo>
                <a:lnTo>
                  <a:pt x="14638" y="50467"/>
                </a:lnTo>
                <a:lnTo>
                  <a:pt x="15445" y="49776"/>
                </a:lnTo>
                <a:close/>
              </a:path>
              <a:path w="987425" h="148589">
                <a:moveTo>
                  <a:pt x="61322" y="47710"/>
                </a:moveTo>
                <a:lnTo>
                  <a:pt x="36409" y="47710"/>
                </a:lnTo>
                <a:lnTo>
                  <a:pt x="56536" y="61666"/>
                </a:lnTo>
                <a:lnTo>
                  <a:pt x="82071" y="49336"/>
                </a:lnTo>
                <a:lnTo>
                  <a:pt x="61322" y="47710"/>
                </a:lnTo>
                <a:close/>
              </a:path>
              <a:path w="987425" h="148589">
                <a:moveTo>
                  <a:pt x="21515" y="44589"/>
                </a:moveTo>
                <a:lnTo>
                  <a:pt x="15445" y="49776"/>
                </a:lnTo>
                <a:lnTo>
                  <a:pt x="25535" y="44904"/>
                </a:lnTo>
                <a:lnTo>
                  <a:pt x="21515" y="44589"/>
                </a:lnTo>
                <a:close/>
              </a:path>
              <a:path w="987425" h="148589">
                <a:moveTo>
                  <a:pt x="118531" y="0"/>
                </a:moveTo>
                <a:lnTo>
                  <a:pt x="25535" y="44904"/>
                </a:lnTo>
                <a:lnTo>
                  <a:pt x="82071" y="49336"/>
                </a:lnTo>
                <a:lnTo>
                  <a:pt x="130957" y="25731"/>
                </a:lnTo>
                <a:lnTo>
                  <a:pt x="133935" y="17189"/>
                </a:lnTo>
                <a:lnTo>
                  <a:pt x="127073" y="2978"/>
                </a:lnTo>
                <a:lnTo>
                  <a:pt x="118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30635" y="1890739"/>
            <a:ext cx="527685" cy="486409"/>
          </a:xfrm>
          <a:custGeom>
            <a:avLst/>
            <a:gdLst/>
            <a:ahLst/>
            <a:cxnLst/>
            <a:rect l="l" t="t" r="r" b="b"/>
            <a:pathLst>
              <a:path w="527685" h="486410">
                <a:moveTo>
                  <a:pt x="388835" y="28521"/>
                </a:moveTo>
                <a:lnTo>
                  <a:pt x="283617" y="28521"/>
                </a:lnTo>
                <a:lnTo>
                  <a:pt x="303363" y="29634"/>
                </a:lnTo>
                <a:lnTo>
                  <a:pt x="323088" y="33098"/>
                </a:lnTo>
                <a:lnTo>
                  <a:pt x="361792" y="46556"/>
                </a:lnTo>
                <a:lnTo>
                  <a:pt x="398297" y="67744"/>
                </a:lnTo>
                <a:lnTo>
                  <a:pt x="431139" y="95370"/>
                </a:lnTo>
                <a:lnTo>
                  <a:pt x="458895" y="128049"/>
                </a:lnTo>
                <a:lnTo>
                  <a:pt x="480222" y="164330"/>
                </a:lnTo>
                <a:lnTo>
                  <a:pt x="493895" y="202752"/>
                </a:lnTo>
                <a:lnTo>
                  <a:pt x="498830" y="241987"/>
                </a:lnTo>
                <a:lnTo>
                  <a:pt x="497719" y="261733"/>
                </a:lnTo>
                <a:lnTo>
                  <a:pt x="488566" y="300992"/>
                </a:lnTo>
                <a:lnTo>
                  <a:pt x="471089" y="338780"/>
                </a:lnTo>
                <a:lnTo>
                  <a:pt x="446515" y="373635"/>
                </a:lnTo>
                <a:lnTo>
                  <a:pt x="416184" y="404107"/>
                </a:lnTo>
                <a:lnTo>
                  <a:pt x="381520" y="428811"/>
                </a:lnTo>
                <a:lnTo>
                  <a:pt x="343988" y="446455"/>
                </a:lnTo>
                <a:lnTo>
                  <a:pt x="305020" y="455888"/>
                </a:lnTo>
                <a:lnTo>
                  <a:pt x="275742" y="457682"/>
                </a:lnTo>
                <a:lnTo>
                  <a:pt x="269748" y="464458"/>
                </a:lnTo>
                <a:lnTo>
                  <a:pt x="270713" y="480211"/>
                </a:lnTo>
                <a:lnTo>
                  <a:pt x="277489" y="486204"/>
                </a:lnTo>
                <a:lnTo>
                  <a:pt x="306768" y="484409"/>
                </a:lnTo>
                <a:lnTo>
                  <a:pt x="352075" y="473862"/>
                </a:lnTo>
                <a:lnTo>
                  <a:pt x="394798" y="454113"/>
                </a:lnTo>
                <a:lnTo>
                  <a:pt x="433693" y="426690"/>
                </a:lnTo>
                <a:lnTo>
                  <a:pt x="467545" y="392981"/>
                </a:lnTo>
                <a:lnTo>
                  <a:pt x="495098" y="354277"/>
                </a:lnTo>
                <a:lnTo>
                  <a:pt x="515014" y="311810"/>
                </a:lnTo>
                <a:lnTo>
                  <a:pt x="525842" y="266795"/>
                </a:lnTo>
                <a:lnTo>
                  <a:pt x="527352" y="243734"/>
                </a:lnTo>
                <a:lnTo>
                  <a:pt x="526041" y="220583"/>
                </a:lnTo>
                <a:lnTo>
                  <a:pt x="515494" y="175276"/>
                </a:lnTo>
                <a:lnTo>
                  <a:pt x="495744" y="132553"/>
                </a:lnTo>
                <a:lnTo>
                  <a:pt x="468321" y="93658"/>
                </a:lnTo>
                <a:lnTo>
                  <a:pt x="434611" y="59806"/>
                </a:lnTo>
                <a:lnTo>
                  <a:pt x="395908" y="32255"/>
                </a:lnTo>
                <a:lnTo>
                  <a:pt x="388835" y="28521"/>
                </a:lnTo>
                <a:close/>
              </a:path>
              <a:path w="527685" h="486410">
                <a:moveTo>
                  <a:pt x="48622" y="227437"/>
                </a:moveTo>
                <a:lnTo>
                  <a:pt x="55886" y="242926"/>
                </a:lnTo>
                <a:lnTo>
                  <a:pt x="64966" y="230144"/>
                </a:lnTo>
                <a:lnTo>
                  <a:pt x="63657" y="230144"/>
                </a:lnTo>
                <a:lnTo>
                  <a:pt x="48622" y="227437"/>
                </a:lnTo>
                <a:close/>
              </a:path>
              <a:path w="527685" h="486410">
                <a:moveTo>
                  <a:pt x="54490" y="172648"/>
                </a:moveTo>
                <a:lnTo>
                  <a:pt x="53969" y="173911"/>
                </a:lnTo>
                <a:lnTo>
                  <a:pt x="47322" y="196178"/>
                </a:lnTo>
                <a:lnTo>
                  <a:pt x="44361" y="212153"/>
                </a:lnTo>
                <a:lnTo>
                  <a:pt x="43554" y="216630"/>
                </a:lnTo>
                <a:lnTo>
                  <a:pt x="48622" y="227437"/>
                </a:lnTo>
                <a:lnTo>
                  <a:pt x="63657" y="230144"/>
                </a:lnTo>
                <a:lnTo>
                  <a:pt x="66243" y="228347"/>
                </a:lnTo>
                <a:lnTo>
                  <a:pt x="71918" y="220358"/>
                </a:lnTo>
                <a:lnTo>
                  <a:pt x="72585" y="216630"/>
                </a:lnTo>
                <a:lnTo>
                  <a:pt x="73974" y="208619"/>
                </a:lnTo>
                <a:lnTo>
                  <a:pt x="71358" y="208619"/>
                </a:lnTo>
                <a:lnTo>
                  <a:pt x="46775" y="206410"/>
                </a:lnTo>
                <a:lnTo>
                  <a:pt x="60959" y="186443"/>
                </a:lnTo>
                <a:lnTo>
                  <a:pt x="54490" y="172648"/>
                </a:lnTo>
                <a:close/>
              </a:path>
              <a:path w="527685" h="486410">
                <a:moveTo>
                  <a:pt x="66243" y="228347"/>
                </a:moveTo>
                <a:lnTo>
                  <a:pt x="63657" y="230144"/>
                </a:lnTo>
                <a:lnTo>
                  <a:pt x="64966" y="230144"/>
                </a:lnTo>
                <a:lnTo>
                  <a:pt x="66243" y="228347"/>
                </a:lnTo>
                <a:close/>
              </a:path>
              <a:path w="527685" h="486410">
                <a:moveTo>
                  <a:pt x="71918" y="220358"/>
                </a:moveTo>
                <a:lnTo>
                  <a:pt x="66243" y="228347"/>
                </a:lnTo>
                <a:lnTo>
                  <a:pt x="71085" y="224981"/>
                </a:lnTo>
                <a:lnTo>
                  <a:pt x="71918" y="220358"/>
                </a:lnTo>
                <a:close/>
              </a:path>
              <a:path w="527685" h="486410">
                <a:moveTo>
                  <a:pt x="43554" y="216630"/>
                </a:moveTo>
                <a:lnTo>
                  <a:pt x="42962" y="219919"/>
                </a:lnTo>
                <a:lnTo>
                  <a:pt x="48125" y="227347"/>
                </a:lnTo>
                <a:lnTo>
                  <a:pt x="48622" y="227437"/>
                </a:lnTo>
                <a:lnTo>
                  <a:pt x="43554" y="216630"/>
                </a:lnTo>
                <a:close/>
              </a:path>
              <a:path w="527685" h="486410">
                <a:moveTo>
                  <a:pt x="118066" y="117792"/>
                </a:moveTo>
                <a:lnTo>
                  <a:pt x="88188" y="165561"/>
                </a:lnTo>
                <a:lnTo>
                  <a:pt x="74729" y="204264"/>
                </a:lnTo>
                <a:lnTo>
                  <a:pt x="72483" y="217216"/>
                </a:lnTo>
                <a:lnTo>
                  <a:pt x="71918" y="220358"/>
                </a:lnTo>
                <a:lnTo>
                  <a:pt x="132114" y="135618"/>
                </a:lnTo>
                <a:lnTo>
                  <a:pt x="130604" y="126699"/>
                </a:lnTo>
                <a:lnTo>
                  <a:pt x="118066" y="117792"/>
                </a:lnTo>
                <a:close/>
              </a:path>
              <a:path w="527685" h="486410">
                <a:moveTo>
                  <a:pt x="17363" y="108544"/>
                </a:moveTo>
                <a:lnTo>
                  <a:pt x="3075" y="115244"/>
                </a:lnTo>
                <a:lnTo>
                  <a:pt x="0" y="123752"/>
                </a:lnTo>
                <a:lnTo>
                  <a:pt x="43554" y="216630"/>
                </a:lnTo>
                <a:lnTo>
                  <a:pt x="44361" y="212153"/>
                </a:lnTo>
                <a:lnTo>
                  <a:pt x="47322" y="196178"/>
                </a:lnTo>
                <a:lnTo>
                  <a:pt x="53969" y="173911"/>
                </a:lnTo>
                <a:lnTo>
                  <a:pt x="54490" y="172648"/>
                </a:lnTo>
                <a:lnTo>
                  <a:pt x="25871" y="111620"/>
                </a:lnTo>
                <a:lnTo>
                  <a:pt x="17363" y="108544"/>
                </a:lnTo>
                <a:close/>
              </a:path>
              <a:path w="527685" h="486410">
                <a:moveTo>
                  <a:pt x="60959" y="186443"/>
                </a:moveTo>
                <a:lnTo>
                  <a:pt x="46775" y="206410"/>
                </a:lnTo>
                <a:lnTo>
                  <a:pt x="71358" y="208619"/>
                </a:lnTo>
                <a:lnTo>
                  <a:pt x="60959" y="186443"/>
                </a:lnTo>
                <a:close/>
              </a:path>
              <a:path w="527685" h="486410">
                <a:moveTo>
                  <a:pt x="117739" y="117560"/>
                </a:moveTo>
                <a:lnTo>
                  <a:pt x="108819" y="119070"/>
                </a:lnTo>
                <a:lnTo>
                  <a:pt x="60959" y="186443"/>
                </a:lnTo>
                <a:lnTo>
                  <a:pt x="71358" y="208619"/>
                </a:lnTo>
                <a:lnTo>
                  <a:pt x="73974" y="208619"/>
                </a:lnTo>
                <a:lnTo>
                  <a:pt x="74729" y="204264"/>
                </a:lnTo>
                <a:lnTo>
                  <a:pt x="80417" y="184729"/>
                </a:lnTo>
                <a:lnTo>
                  <a:pt x="88188" y="165561"/>
                </a:lnTo>
                <a:lnTo>
                  <a:pt x="97894" y="146941"/>
                </a:lnTo>
                <a:lnTo>
                  <a:pt x="109376" y="129054"/>
                </a:lnTo>
                <a:lnTo>
                  <a:pt x="118066" y="117792"/>
                </a:lnTo>
                <a:lnTo>
                  <a:pt x="117739" y="117560"/>
                </a:lnTo>
                <a:close/>
              </a:path>
              <a:path w="527685" h="486410">
                <a:moveTo>
                  <a:pt x="285365" y="0"/>
                </a:moveTo>
                <a:lnTo>
                  <a:pt x="239321" y="5334"/>
                </a:lnTo>
                <a:lnTo>
                  <a:pt x="195144" y="20681"/>
                </a:lnTo>
                <a:lnTo>
                  <a:pt x="154183" y="44450"/>
                </a:lnTo>
                <a:lnTo>
                  <a:pt x="117656" y="75182"/>
                </a:lnTo>
                <a:lnTo>
                  <a:pt x="86745" y="111620"/>
                </a:lnTo>
                <a:lnTo>
                  <a:pt x="62885" y="152283"/>
                </a:lnTo>
                <a:lnTo>
                  <a:pt x="54490" y="172648"/>
                </a:lnTo>
                <a:lnTo>
                  <a:pt x="60959" y="186443"/>
                </a:lnTo>
                <a:lnTo>
                  <a:pt x="108819" y="119070"/>
                </a:lnTo>
                <a:lnTo>
                  <a:pt x="117739" y="117560"/>
                </a:lnTo>
                <a:lnTo>
                  <a:pt x="118245" y="117560"/>
                </a:lnTo>
                <a:lnTo>
                  <a:pt x="122468" y="112086"/>
                </a:lnTo>
                <a:lnTo>
                  <a:pt x="137002" y="96213"/>
                </a:lnTo>
                <a:lnTo>
                  <a:pt x="169680" y="68458"/>
                </a:lnTo>
                <a:lnTo>
                  <a:pt x="205962" y="47129"/>
                </a:lnTo>
                <a:lnTo>
                  <a:pt x="244383" y="33456"/>
                </a:lnTo>
                <a:lnTo>
                  <a:pt x="283617" y="28521"/>
                </a:lnTo>
                <a:lnTo>
                  <a:pt x="388835" y="28521"/>
                </a:lnTo>
                <a:lnTo>
                  <a:pt x="375070" y="21254"/>
                </a:lnTo>
                <a:lnTo>
                  <a:pt x="353441" y="12338"/>
                </a:lnTo>
                <a:lnTo>
                  <a:pt x="331174" y="5692"/>
                </a:lnTo>
                <a:lnTo>
                  <a:pt x="308427" y="1511"/>
                </a:lnTo>
                <a:lnTo>
                  <a:pt x="285365" y="0"/>
                </a:lnTo>
                <a:close/>
              </a:path>
              <a:path w="527685" h="486410">
                <a:moveTo>
                  <a:pt x="118245" y="117560"/>
                </a:moveTo>
                <a:lnTo>
                  <a:pt x="117739" y="117560"/>
                </a:lnTo>
                <a:lnTo>
                  <a:pt x="118066" y="117792"/>
                </a:lnTo>
                <a:lnTo>
                  <a:pt x="118245" y="117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12391" y="2112264"/>
            <a:ext cx="548640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69719" y="2066544"/>
            <a:ext cx="630936" cy="725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57926" y="213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1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1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788895" y="215442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07591" y="2950464"/>
            <a:ext cx="548640" cy="548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64919" y="2904744"/>
            <a:ext cx="630936" cy="7254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53126" y="297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1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1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484095" y="299262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02992" y="3026664"/>
            <a:ext cx="548640" cy="5486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11551" y="2980944"/>
            <a:ext cx="731519" cy="7254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48526" y="304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1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1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728695" y="3068827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446625" y="1651507"/>
            <a:ext cx="15151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  <a:tab pos="1197610" algn="l"/>
              </a:tabLst>
            </a:pPr>
            <a:r>
              <a:rPr dirty="0" sz="2400" spc="-5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>
                <a:solidFill>
                  <a:srgbClr val="008000"/>
                </a:solidFill>
                <a:latin typeface="Times New Roman"/>
                <a:cs typeface="Times New Roman"/>
              </a:rPr>
              <a:t>y	</a:t>
            </a:r>
            <a:r>
              <a:rPr dirty="0" sz="2400" spc="-5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>
                <a:solidFill>
                  <a:srgbClr val="008000"/>
                </a:solidFill>
                <a:latin typeface="Times New Roman"/>
                <a:cs typeface="Times New Roman"/>
              </a:rPr>
              <a:t>a	</a:t>
            </a:r>
            <a:r>
              <a:rPr dirty="0" sz="2400" spc="-5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>
                <a:solidFill>
                  <a:srgbClr val="008000"/>
                </a:solidFill>
                <a:latin typeface="Times New Roman"/>
                <a:cs typeface="Times New Roman"/>
              </a:rPr>
              <a:t>m</a:t>
            </a:r>
            <a:endParaRPr baseline="-17361"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62584" y="2017268"/>
            <a:ext cx="33020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7945">
              <a:lnSpc>
                <a:spcPct val="125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b="1">
                <a:solidFill>
                  <a:srgbClr val="008000"/>
                </a:solidFill>
                <a:latin typeface="Times New Roman"/>
                <a:cs typeface="Times New Roman"/>
              </a:rPr>
              <a:t>y 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spc="-7" b="1">
                <a:solidFill>
                  <a:srgbClr val="008000"/>
                </a:solidFill>
                <a:latin typeface="Times New Roman"/>
                <a:cs typeface="Times New Roman"/>
              </a:rPr>
              <a:t>a 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b="1">
                <a:solidFill>
                  <a:srgbClr val="008000"/>
                </a:solidFill>
                <a:latin typeface="Times New Roman"/>
                <a:cs typeface="Times New Roman"/>
              </a:rPr>
              <a:t>m</a:t>
            </a:r>
            <a:endParaRPr baseline="-17361" sz="2400">
              <a:latin typeface="Times New Roman"/>
              <a:cs typeface="Times New Roman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266444" y="2081033"/>
          <a:ext cx="1847850" cy="1384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</a:tblGrid>
              <a:tr h="43180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145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145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1145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1288704" y="4437379"/>
            <a:ext cx="2061845" cy="134556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60"/>
              </a:spcBef>
            </a:pP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spc="-7" b="1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dirty="0" sz="2400" b="1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spc="-7" b="1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dirty="0" sz="2400" b="1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spc="-7" b="1">
                <a:solidFill>
                  <a:srgbClr val="008000"/>
                </a:solidFill>
                <a:latin typeface="Times New Roman"/>
                <a:cs typeface="Times New Roman"/>
              </a:rPr>
              <a:t>a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/2  r</a:t>
            </a:r>
            <a:r>
              <a:rPr dirty="0" baseline="-17361" sz="2400" spc="-7" b="1">
                <a:solidFill>
                  <a:srgbClr val="008000"/>
                </a:solidFill>
                <a:latin typeface="Times New Roman"/>
                <a:cs typeface="Times New Roman"/>
              </a:rPr>
              <a:t>a </a:t>
            </a:r>
            <a:r>
              <a:rPr dirty="0" sz="2400" b="1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spc="-7" b="1">
                <a:solidFill>
                  <a:srgbClr val="008000"/>
                </a:solidFill>
                <a:latin typeface="Times New Roman"/>
                <a:cs typeface="Times New Roman"/>
              </a:rPr>
              <a:t>y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/2 </a:t>
            </a:r>
            <a:r>
              <a:rPr dirty="0" sz="2400" b="1">
                <a:solidFill>
                  <a:srgbClr val="008000"/>
                </a:solidFill>
                <a:latin typeface="Times New Roman"/>
                <a:cs typeface="Times New Roman"/>
              </a:rPr>
              <a:t>+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spc="-7" b="1">
                <a:solidFill>
                  <a:srgbClr val="008000"/>
                </a:solidFill>
                <a:latin typeface="Times New Roman"/>
                <a:cs typeface="Times New Roman"/>
              </a:rPr>
              <a:t>m 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spc="-7" b="1">
                <a:solidFill>
                  <a:srgbClr val="008000"/>
                </a:solidFill>
                <a:latin typeface="Times New Roman"/>
                <a:cs typeface="Times New Roman"/>
              </a:rPr>
              <a:t>m </a:t>
            </a:r>
            <a:r>
              <a:rPr dirty="0" sz="2400" b="1">
                <a:solidFill>
                  <a:srgbClr val="008000"/>
                </a:solidFill>
                <a:latin typeface="Times New Roman"/>
                <a:cs typeface="Times New Roman"/>
              </a:rPr>
              <a:t>=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r</a:t>
            </a:r>
            <a:r>
              <a:rPr dirty="0" baseline="-17361" sz="2400" spc="-7" b="1">
                <a:solidFill>
                  <a:srgbClr val="008000"/>
                </a:solidFill>
                <a:latin typeface="Times New Roman"/>
                <a:cs typeface="Times New Roman"/>
              </a:rPr>
              <a:t>a</a:t>
            </a:r>
            <a:r>
              <a:rPr dirty="0" baseline="-17361" sz="2400" spc="-142" b="1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8000"/>
                </a:solidFill>
                <a:latin typeface="Times New Roman"/>
                <a:cs typeface="Times New Roman"/>
              </a:rPr>
              <a:t>/2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456944" y="4530725"/>
            <a:ext cx="1447800" cy="1219200"/>
          </a:xfrm>
          <a:custGeom>
            <a:avLst/>
            <a:gdLst/>
            <a:ahLst/>
            <a:cxnLst/>
            <a:rect l="l" t="t" r="r" b="b"/>
            <a:pathLst>
              <a:path w="1447800" h="1219200">
                <a:moveTo>
                  <a:pt x="0" y="0"/>
                </a:moveTo>
                <a:lnTo>
                  <a:pt x="1447800" y="0"/>
                </a:lnTo>
                <a:lnTo>
                  <a:pt x="1447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980943" y="4495800"/>
            <a:ext cx="457200" cy="1295400"/>
          </a:xfrm>
          <a:custGeom>
            <a:avLst/>
            <a:gdLst/>
            <a:ahLst/>
            <a:cxnLst/>
            <a:rect l="l" t="t" r="r" b="b"/>
            <a:pathLst>
              <a:path w="457200" h="1295400">
                <a:moveTo>
                  <a:pt x="0" y="0"/>
                </a:moveTo>
                <a:lnTo>
                  <a:pt x="457200" y="0"/>
                </a:lnTo>
                <a:lnTo>
                  <a:pt x="4572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690181" y="4495800"/>
          <a:ext cx="3188335" cy="1765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304799"/>
                <a:gridCol w="440049"/>
                <a:gridCol w="614337"/>
                <a:gridCol w="393412"/>
                <a:gridCol w="76199"/>
                <a:gridCol w="457200"/>
                <a:gridCol w="440303"/>
              </a:tblGrid>
              <a:tr h="2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93700">
                <a:tc>
                  <a:txBody>
                    <a:bodyPr/>
                    <a:lstStyle/>
                    <a:p>
                      <a:pPr algn="ctr" marL="17145">
                        <a:lnSpc>
                          <a:spcPts val="287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y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92710">
                        <a:lnSpc>
                          <a:spcPts val="287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ts val="287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287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287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y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5600">
                <a:tc>
                  <a:txBody>
                    <a:bodyPr/>
                    <a:lstStyle/>
                    <a:p>
                      <a:pPr algn="ctr" marL="635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a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8509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13664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a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93700">
                <a:tc>
                  <a:txBody>
                    <a:bodyPr/>
                    <a:lstStyle/>
                    <a:p>
                      <a:pPr algn="ctr" marL="7366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m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8425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m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46100">
                <a:tc>
                  <a:txBody>
                    <a:bodyPr/>
                    <a:lstStyle/>
                    <a:p>
                      <a:pPr algn="ctr" marL="27305">
                        <a:lnSpc>
                          <a:spcPts val="4029"/>
                        </a:lnSpc>
                      </a:pPr>
                      <a:r>
                        <a:rPr dirty="0" sz="36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𝒓</a:t>
                      </a:r>
                      <a:endParaRPr sz="36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4090"/>
                        </a:lnSpc>
                      </a:pPr>
                      <a:r>
                        <a:rPr dirty="0" sz="36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𝑴</a:t>
                      </a:r>
                      <a:endParaRPr sz="36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3025">
                        <a:lnSpc>
                          <a:spcPts val="4215"/>
                        </a:lnSpc>
                      </a:pPr>
                      <a:r>
                        <a:rPr dirty="0" sz="36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𝒓</a:t>
                      </a:r>
                      <a:endParaRPr sz="36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00735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52365"/>
            <a:ext cx="6135370" cy="356933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Imagine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random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web</a:t>
            </a:r>
            <a:r>
              <a:rPr dirty="0" sz="3200" spc="-6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surfer: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5">
                <a:latin typeface="Calibri"/>
                <a:cs typeface="Calibri"/>
              </a:rPr>
              <a:t>At </a:t>
            </a:r>
            <a:r>
              <a:rPr dirty="0" sz="2800" spc="-20">
                <a:latin typeface="Calibri"/>
                <a:cs typeface="Calibri"/>
              </a:rPr>
              <a:t>any </a:t>
            </a:r>
            <a:r>
              <a:rPr dirty="0" sz="2800" spc="-5">
                <a:latin typeface="Calibri"/>
                <a:cs typeface="Calibri"/>
              </a:rPr>
              <a:t>time </a:t>
            </a:r>
            <a:r>
              <a:rPr dirty="0" sz="2800">
                <a:latin typeface="Cambria Math"/>
                <a:cs typeface="Cambria Math"/>
              </a:rPr>
              <a:t>𝒕</a:t>
            </a:r>
            <a:r>
              <a:rPr dirty="0" sz="2800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surfer </a:t>
            </a:r>
            <a:r>
              <a:rPr dirty="0" sz="2800" spc="-5">
                <a:latin typeface="Calibri"/>
                <a:cs typeface="Calibri"/>
              </a:rPr>
              <a:t>is on some </a:t>
            </a:r>
            <a:r>
              <a:rPr dirty="0" sz="2800" spc="-10">
                <a:latin typeface="Calibri"/>
                <a:cs typeface="Calibri"/>
              </a:rPr>
              <a:t>page  </a:t>
            </a:r>
            <a:r>
              <a:rPr dirty="0" sz="2800" spc="-265">
                <a:latin typeface="Cambria Math"/>
                <a:cs typeface="Cambria Math"/>
              </a:rPr>
              <a:t>𝑖</a:t>
            </a:r>
            <a:endParaRPr sz="2800">
              <a:latin typeface="Cambria Math"/>
              <a:cs typeface="Cambria Math"/>
            </a:endParaRPr>
          </a:p>
          <a:p>
            <a:pPr lvl="1" marL="625475" marR="353060" indent="-274320">
              <a:lnSpc>
                <a:spcPts val="3290"/>
              </a:lnSpc>
              <a:spcBef>
                <a:spcPts val="9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5">
                <a:latin typeface="Calibri"/>
                <a:cs typeface="Calibri"/>
              </a:rPr>
              <a:t>At </a:t>
            </a:r>
            <a:r>
              <a:rPr dirty="0" sz="2800" spc="-5">
                <a:latin typeface="Calibri"/>
                <a:cs typeface="Calibri"/>
              </a:rPr>
              <a:t>time </a:t>
            </a:r>
            <a:r>
              <a:rPr dirty="0" sz="2800">
                <a:latin typeface="Cambria Math"/>
                <a:cs typeface="Cambria Math"/>
              </a:rPr>
              <a:t>𝒕 + 𝟏</a:t>
            </a:r>
            <a:r>
              <a:rPr dirty="0" sz="2800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surfer </a:t>
            </a:r>
            <a:r>
              <a:rPr dirty="0" sz="2800" spc="-20">
                <a:latin typeface="Calibri"/>
                <a:cs typeface="Calibri"/>
              </a:rPr>
              <a:t>follows </a:t>
            </a:r>
            <a:r>
              <a:rPr dirty="0" sz="2800" spc="-5">
                <a:latin typeface="Calibri"/>
                <a:cs typeface="Calibri"/>
              </a:rPr>
              <a:t>an  </a:t>
            </a:r>
            <a:r>
              <a:rPr dirty="0" sz="2800" spc="-15">
                <a:latin typeface="Calibri"/>
                <a:cs typeface="Calibri"/>
              </a:rPr>
              <a:t>out-link from </a:t>
            </a:r>
            <a:r>
              <a:rPr dirty="0" sz="2800">
                <a:latin typeface="Cambria Math"/>
                <a:cs typeface="Cambria Math"/>
              </a:rPr>
              <a:t>𝒊 </a:t>
            </a:r>
            <a:r>
              <a:rPr dirty="0" sz="2800" spc="-10">
                <a:latin typeface="Calibri"/>
                <a:cs typeface="Calibri"/>
              </a:rPr>
              <a:t>uniformly </a:t>
            </a:r>
            <a:r>
              <a:rPr dirty="0" sz="2800" spc="-15">
                <a:latin typeface="Calibri"/>
                <a:cs typeface="Calibri"/>
              </a:rPr>
              <a:t>at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random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Ends </a:t>
            </a:r>
            <a:r>
              <a:rPr dirty="0" sz="2800">
                <a:latin typeface="Calibri"/>
                <a:cs typeface="Calibri"/>
              </a:rPr>
              <a:t>up </a:t>
            </a:r>
            <a:r>
              <a:rPr dirty="0" sz="2800" spc="-5">
                <a:latin typeface="Calibri"/>
                <a:cs typeface="Calibri"/>
              </a:rPr>
              <a:t>on some </a:t>
            </a:r>
            <a:r>
              <a:rPr dirty="0" sz="2800" spc="-10">
                <a:latin typeface="Calibri"/>
                <a:cs typeface="Calibri"/>
              </a:rPr>
              <a:t>page </a:t>
            </a:r>
            <a:r>
              <a:rPr dirty="0" sz="2800">
                <a:latin typeface="Cambria Math"/>
                <a:cs typeface="Cambria Math"/>
              </a:rPr>
              <a:t>𝒋 </a:t>
            </a:r>
            <a:r>
              <a:rPr dirty="0" sz="2800" spc="-20">
                <a:latin typeface="Calibri"/>
                <a:cs typeface="Calibri"/>
              </a:rPr>
              <a:t>linked </a:t>
            </a:r>
            <a:r>
              <a:rPr dirty="0" sz="2800" spc="-15">
                <a:latin typeface="Calibri"/>
                <a:cs typeface="Calibri"/>
              </a:rPr>
              <a:t>from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𝒊</a:t>
            </a:r>
            <a:endParaRPr sz="2800">
              <a:latin typeface="Cambria Math"/>
              <a:cs typeface="Cambria Math"/>
            </a:endParaRPr>
          </a:p>
          <a:p>
            <a:pPr lvl="1" marL="625475" indent="-274320">
              <a:lnSpc>
                <a:spcPts val="3329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Process </a:t>
            </a:r>
            <a:r>
              <a:rPr dirty="0" sz="2800" spc="-15">
                <a:latin typeface="Calibri"/>
                <a:cs typeface="Calibri"/>
              </a:rPr>
              <a:t>repeats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indefinitely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Let: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0844" y="4804155"/>
            <a:ext cx="7116445" cy="13912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32740" marR="855344" indent="-32004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332740" algn="l"/>
              </a:tabLst>
            </a:pPr>
            <a:r>
              <a:rPr dirty="0" sz="2800" spc="-5">
                <a:latin typeface="Cambria Math"/>
                <a:cs typeface="Cambria Math"/>
              </a:rPr>
              <a:t>𝒑(𝒕) </a:t>
            </a:r>
            <a:r>
              <a:rPr dirty="0" sz="2800">
                <a:latin typeface="Calibri"/>
                <a:cs typeface="Calibri"/>
              </a:rPr>
              <a:t>… </a:t>
            </a:r>
            <a:r>
              <a:rPr dirty="0" sz="2800" spc="-15">
                <a:latin typeface="Calibri"/>
                <a:cs typeface="Calibri"/>
              </a:rPr>
              <a:t>vector </a:t>
            </a:r>
            <a:r>
              <a:rPr dirty="0" sz="2800" spc="-5">
                <a:latin typeface="Calibri"/>
                <a:cs typeface="Calibri"/>
              </a:rPr>
              <a:t>whose </a:t>
            </a:r>
            <a:r>
              <a:rPr dirty="0" sz="2800" spc="15">
                <a:latin typeface="Cambria Math"/>
                <a:cs typeface="Cambria Math"/>
              </a:rPr>
              <a:t>𝑖</a:t>
            </a:r>
            <a:r>
              <a:rPr dirty="0" baseline="23391" sz="2850" spc="22">
                <a:latin typeface="Calibri"/>
                <a:cs typeface="Calibri"/>
              </a:rPr>
              <a:t>th </a:t>
            </a:r>
            <a:r>
              <a:rPr dirty="0" sz="2800" spc="-15">
                <a:latin typeface="Calibri"/>
                <a:cs typeface="Calibri"/>
              </a:rPr>
              <a:t>coordinate </a:t>
            </a:r>
            <a:r>
              <a:rPr dirty="0" sz="2800" spc="-5">
                <a:latin typeface="Calibri"/>
                <a:cs typeface="Calibri"/>
              </a:rPr>
              <a:t>is the  </a:t>
            </a:r>
            <a:r>
              <a:rPr dirty="0" sz="2800" spc="-15">
                <a:latin typeface="Calibri"/>
                <a:cs typeface="Calibri"/>
              </a:rPr>
              <a:t>prob.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surfer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>
                <a:latin typeface="Calibri"/>
                <a:cs typeface="Calibri"/>
              </a:rPr>
              <a:t>at </a:t>
            </a:r>
            <a:r>
              <a:rPr dirty="0" sz="2800" spc="-10">
                <a:latin typeface="Calibri"/>
                <a:cs typeface="Calibri"/>
              </a:rPr>
              <a:t>page </a:t>
            </a:r>
            <a:r>
              <a:rPr dirty="0" sz="2800">
                <a:latin typeface="Cambria Math"/>
                <a:cs typeface="Cambria Math"/>
              </a:rPr>
              <a:t>𝑖 </a:t>
            </a:r>
            <a:r>
              <a:rPr dirty="0" sz="2800" spc="-15">
                <a:latin typeface="Calibri"/>
                <a:cs typeface="Calibri"/>
              </a:rPr>
              <a:t>at </a:t>
            </a:r>
            <a:r>
              <a:rPr dirty="0" sz="2800" spc="-5">
                <a:latin typeface="Calibri"/>
                <a:cs typeface="Calibri"/>
              </a:rPr>
              <a:t>time</a:t>
            </a:r>
            <a:r>
              <a:rPr dirty="0" sz="2800" spc="160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𝑡</a:t>
            </a:r>
            <a:endParaRPr sz="2800">
              <a:latin typeface="Cambria Math"/>
              <a:cs typeface="Cambria Math"/>
            </a:endParaRPr>
          </a:p>
          <a:p>
            <a:pPr marL="33274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332740" algn="l"/>
              </a:tabLst>
            </a:pPr>
            <a:r>
              <a:rPr dirty="0" sz="2800" spc="-20">
                <a:latin typeface="Calibri"/>
                <a:cs typeface="Calibri"/>
              </a:rPr>
              <a:t>So, </a:t>
            </a:r>
            <a:r>
              <a:rPr dirty="0" sz="2800" spc="-5">
                <a:latin typeface="Cambria Math"/>
                <a:cs typeface="Cambria Math"/>
              </a:rPr>
              <a:t>𝒑(𝒕)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probability distribution </a:t>
            </a:r>
            <a:r>
              <a:rPr dirty="0" sz="2800" spc="-15">
                <a:latin typeface="Calibri"/>
                <a:cs typeface="Calibri"/>
              </a:rPr>
              <a:t>over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05">
                <a:latin typeface="Calibri"/>
                <a:cs typeface="Calibri"/>
              </a:rPr>
              <a:t>pages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37383" y="3226882"/>
            <a:ext cx="869950" cy="0"/>
          </a:xfrm>
          <a:custGeom>
            <a:avLst/>
            <a:gdLst/>
            <a:ahLst/>
            <a:cxnLst/>
            <a:rect l="l" t="t" r="r" b="b"/>
            <a:pathLst>
              <a:path w="869950" h="0">
                <a:moveTo>
                  <a:pt x="0" y="0"/>
                </a:moveTo>
                <a:lnTo>
                  <a:pt x="869348" y="0"/>
                </a:lnTo>
              </a:path>
            </a:pathLst>
          </a:custGeom>
          <a:ln w="144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695725" y="3434803"/>
            <a:ext cx="401955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50" i="1">
                <a:latin typeface="Times New Roman"/>
                <a:cs typeface="Times New Roman"/>
              </a:rPr>
              <a:t>i</a:t>
            </a:r>
            <a:r>
              <a:rPr dirty="0" sz="1600" spc="50">
                <a:latin typeface="Symbol"/>
                <a:cs typeface="Symbol"/>
              </a:rPr>
              <a:t></a:t>
            </a:r>
            <a:r>
              <a:rPr dirty="0" sz="1600" spc="-125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j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0996" y="3185247"/>
            <a:ext cx="82550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i="1">
                <a:latin typeface="Times New Roman"/>
                <a:cs typeface="Times New Roman"/>
              </a:rPr>
              <a:t>j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65945" y="2729535"/>
            <a:ext cx="181610" cy="450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750" spc="-295" i="1">
                <a:latin typeface="Times New Roman"/>
                <a:cs typeface="Times New Roman"/>
              </a:rPr>
              <a:t>r</a:t>
            </a:r>
            <a:r>
              <a:rPr dirty="0" baseline="-24305" sz="2400" i="1">
                <a:latin typeface="Times New Roman"/>
                <a:cs typeface="Times New Roman"/>
              </a:rPr>
              <a:t>i</a:t>
            </a:r>
            <a:endParaRPr baseline="-24305"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8017" y="2771467"/>
            <a:ext cx="996315" cy="662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32105" algn="l"/>
              </a:tabLst>
            </a:pPr>
            <a:r>
              <a:rPr dirty="0" sz="2750" spc="0" i="1">
                <a:latin typeface="Times New Roman"/>
                <a:cs typeface="Times New Roman"/>
              </a:rPr>
              <a:t>r	</a:t>
            </a:r>
            <a:r>
              <a:rPr dirty="0" sz="2750" spc="0">
                <a:latin typeface="Symbol"/>
                <a:cs typeface="Symbol"/>
              </a:rPr>
              <a:t></a:t>
            </a:r>
            <a:r>
              <a:rPr dirty="0" sz="2750" spc="-355">
                <a:latin typeface="Times New Roman"/>
                <a:cs typeface="Times New Roman"/>
              </a:rPr>
              <a:t> </a:t>
            </a:r>
            <a:r>
              <a:rPr dirty="0" baseline="-8701" sz="6225">
                <a:latin typeface="Symbol"/>
                <a:cs typeface="Symbol"/>
              </a:rPr>
              <a:t></a:t>
            </a:r>
            <a:endParaRPr baseline="-8701" sz="6225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43351" y="3221415"/>
            <a:ext cx="854710" cy="450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14350" algn="l"/>
              </a:tabLst>
            </a:pPr>
            <a:r>
              <a:rPr dirty="0" sz="2750" spc="0">
                <a:latin typeface="Times New Roman"/>
                <a:cs typeface="Times New Roman"/>
              </a:rPr>
              <a:t>d</a:t>
            </a:r>
            <a:r>
              <a:rPr dirty="0" sz="2750" spc="0">
                <a:latin typeface="Times New Roman"/>
                <a:cs typeface="Times New Roman"/>
              </a:rPr>
              <a:t>	</a:t>
            </a:r>
            <a:r>
              <a:rPr dirty="0" sz="2750" spc="70">
                <a:latin typeface="Times New Roman"/>
                <a:cs typeface="Times New Roman"/>
              </a:rPr>
              <a:t>(</a:t>
            </a:r>
            <a:r>
              <a:rPr dirty="0" sz="2750" spc="-110">
                <a:latin typeface="Times New Roman"/>
                <a:cs typeface="Times New Roman"/>
              </a:rPr>
              <a:t>i</a:t>
            </a:r>
            <a:r>
              <a:rPr dirty="0" sz="2750" spc="0">
                <a:latin typeface="Times New Roman"/>
                <a:cs typeface="Times New Roman"/>
              </a:rPr>
              <a:t>)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6629" y="3457951"/>
            <a:ext cx="297180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25">
                <a:latin typeface="Times New Roman"/>
                <a:cs typeface="Times New Roman"/>
              </a:rPr>
              <a:t>out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19095" y="2438224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4">
                <a:moveTo>
                  <a:pt x="209679" y="0"/>
                </a:moveTo>
                <a:lnTo>
                  <a:pt x="161601" y="5505"/>
                </a:lnTo>
                <a:lnTo>
                  <a:pt x="117467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7" y="395704"/>
                </a:lnTo>
                <a:lnTo>
                  <a:pt x="161601" y="411386"/>
                </a:lnTo>
                <a:lnTo>
                  <a:pt x="209679" y="416891"/>
                </a:lnTo>
                <a:lnTo>
                  <a:pt x="257756" y="411386"/>
                </a:lnTo>
                <a:lnTo>
                  <a:pt x="301890" y="395704"/>
                </a:lnTo>
                <a:lnTo>
                  <a:pt x="340822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2" y="45793"/>
                </a:lnTo>
                <a:lnTo>
                  <a:pt x="301890" y="21186"/>
                </a:lnTo>
                <a:lnTo>
                  <a:pt x="257756" y="5505"/>
                </a:lnTo>
                <a:lnTo>
                  <a:pt x="2096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881149" y="2467355"/>
            <a:ext cx="96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j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19471" y="1487596"/>
            <a:ext cx="442595" cy="961390"/>
          </a:xfrm>
          <a:custGeom>
            <a:avLst/>
            <a:gdLst/>
            <a:ahLst/>
            <a:cxnLst/>
            <a:rect l="l" t="t" r="r" b="b"/>
            <a:pathLst>
              <a:path w="442595" h="961389">
                <a:moveTo>
                  <a:pt x="412820" y="950797"/>
                </a:moveTo>
                <a:lnTo>
                  <a:pt x="426650" y="960941"/>
                </a:lnTo>
                <a:lnTo>
                  <a:pt x="427809" y="951186"/>
                </a:lnTo>
                <a:lnTo>
                  <a:pt x="413809" y="951186"/>
                </a:lnTo>
                <a:lnTo>
                  <a:pt x="412820" y="950797"/>
                </a:lnTo>
                <a:close/>
              </a:path>
              <a:path w="442595" h="961389">
                <a:moveTo>
                  <a:pt x="381189" y="892155"/>
                </a:moveTo>
                <a:lnTo>
                  <a:pt x="403786" y="944169"/>
                </a:lnTo>
                <a:lnTo>
                  <a:pt x="412820" y="950797"/>
                </a:lnTo>
                <a:lnTo>
                  <a:pt x="413809" y="951186"/>
                </a:lnTo>
                <a:lnTo>
                  <a:pt x="428283" y="944897"/>
                </a:lnTo>
                <a:lnTo>
                  <a:pt x="428673" y="943907"/>
                </a:lnTo>
                <a:lnTo>
                  <a:pt x="429940" y="933249"/>
                </a:lnTo>
                <a:lnTo>
                  <a:pt x="401163" y="933249"/>
                </a:lnTo>
                <a:lnTo>
                  <a:pt x="404053" y="908927"/>
                </a:lnTo>
                <a:lnTo>
                  <a:pt x="381189" y="892155"/>
                </a:lnTo>
                <a:close/>
              </a:path>
              <a:path w="442595" h="961389">
                <a:moveTo>
                  <a:pt x="428673" y="943907"/>
                </a:moveTo>
                <a:lnTo>
                  <a:pt x="428283" y="944897"/>
                </a:lnTo>
                <a:lnTo>
                  <a:pt x="413809" y="951186"/>
                </a:lnTo>
                <a:lnTo>
                  <a:pt x="427809" y="951186"/>
                </a:lnTo>
                <a:lnTo>
                  <a:pt x="428673" y="943907"/>
                </a:lnTo>
                <a:close/>
              </a:path>
              <a:path w="442595" h="961389">
                <a:moveTo>
                  <a:pt x="403786" y="944169"/>
                </a:moveTo>
                <a:lnTo>
                  <a:pt x="405392" y="947868"/>
                </a:lnTo>
                <a:lnTo>
                  <a:pt x="412820" y="950797"/>
                </a:lnTo>
                <a:lnTo>
                  <a:pt x="403786" y="944169"/>
                </a:lnTo>
                <a:close/>
              </a:path>
              <a:path w="442595" h="961389">
                <a:moveTo>
                  <a:pt x="337417" y="860046"/>
                </a:moveTo>
                <a:lnTo>
                  <a:pt x="328476" y="861420"/>
                </a:lnTo>
                <a:lnTo>
                  <a:pt x="319142" y="874146"/>
                </a:lnTo>
                <a:lnTo>
                  <a:pt x="320516" y="883086"/>
                </a:lnTo>
                <a:lnTo>
                  <a:pt x="403786" y="944169"/>
                </a:lnTo>
                <a:lnTo>
                  <a:pt x="381189" y="892155"/>
                </a:lnTo>
                <a:lnTo>
                  <a:pt x="337417" y="860046"/>
                </a:lnTo>
                <a:close/>
              </a:path>
              <a:path w="442595" h="961389">
                <a:moveTo>
                  <a:pt x="429995" y="932784"/>
                </a:moveTo>
                <a:lnTo>
                  <a:pt x="428673" y="943907"/>
                </a:lnTo>
                <a:lnTo>
                  <a:pt x="431601" y="936482"/>
                </a:lnTo>
                <a:lnTo>
                  <a:pt x="429995" y="932784"/>
                </a:lnTo>
                <a:close/>
              </a:path>
              <a:path w="442595" h="961389">
                <a:moveTo>
                  <a:pt x="404053" y="908927"/>
                </a:moveTo>
                <a:lnTo>
                  <a:pt x="401163" y="933249"/>
                </a:lnTo>
                <a:lnTo>
                  <a:pt x="423802" y="923414"/>
                </a:lnTo>
                <a:lnTo>
                  <a:pt x="404053" y="908927"/>
                </a:lnTo>
                <a:close/>
              </a:path>
              <a:path w="442595" h="961389">
                <a:moveTo>
                  <a:pt x="407398" y="880769"/>
                </a:moveTo>
                <a:lnTo>
                  <a:pt x="404053" y="908927"/>
                </a:lnTo>
                <a:lnTo>
                  <a:pt x="423802" y="923414"/>
                </a:lnTo>
                <a:lnTo>
                  <a:pt x="401163" y="933249"/>
                </a:lnTo>
                <a:lnTo>
                  <a:pt x="429940" y="933249"/>
                </a:lnTo>
                <a:lnTo>
                  <a:pt x="429995" y="932784"/>
                </a:lnTo>
                <a:lnTo>
                  <a:pt x="407398" y="880769"/>
                </a:lnTo>
                <a:close/>
              </a:path>
              <a:path w="442595" h="961389">
                <a:moveTo>
                  <a:pt x="420909" y="821264"/>
                </a:moveTo>
                <a:lnTo>
                  <a:pt x="413802" y="826862"/>
                </a:lnTo>
                <a:lnTo>
                  <a:pt x="407398" y="880769"/>
                </a:lnTo>
                <a:lnTo>
                  <a:pt x="429995" y="932784"/>
                </a:lnTo>
                <a:lnTo>
                  <a:pt x="442178" y="830233"/>
                </a:lnTo>
                <a:lnTo>
                  <a:pt x="436580" y="823126"/>
                </a:lnTo>
                <a:lnTo>
                  <a:pt x="420909" y="821264"/>
                </a:lnTo>
                <a:close/>
              </a:path>
              <a:path w="442595" h="961389">
                <a:moveTo>
                  <a:pt x="17792" y="0"/>
                </a:moveTo>
                <a:lnTo>
                  <a:pt x="3318" y="6287"/>
                </a:lnTo>
                <a:lnTo>
                  <a:pt x="0" y="14704"/>
                </a:lnTo>
                <a:lnTo>
                  <a:pt x="381189" y="892155"/>
                </a:lnTo>
                <a:lnTo>
                  <a:pt x="404053" y="908927"/>
                </a:lnTo>
                <a:lnTo>
                  <a:pt x="407398" y="880769"/>
                </a:lnTo>
                <a:lnTo>
                  <a:pt x="26208" y="3318"/>
                </a:lnTo>
                <a:lnTo>
                  <a:pt x="177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27358" y="1488410"/>
            <a:ext cx="226695" cy="960755"/>
          </a:xfrm>
          <a:custGeom>
            <a:avLst/>
            <a:gdLst/>
            <a:ahLst/>
            <a:cxnLst/>
            <a:rect l="l" t="t" r="r" b="b"/>
            <a:pathLst>
              <a:path w="226695" h="960755">
                <a:moveTo>
                  <a:pt x="39763" y="944039"/>
                </a:moveTo>
                <a:lnTo>
                  <a:pt x="45725" y="960132"/>
                </a:lnTo>
                <a:lnTo>
                  <a:pt x="56280" y="947635"/>
                </a:lnTo>
                <a:lnTo>
                  <a:pt x="55923" y="947635"/>
                </a:lnTo>
                <a:lnTo>
                  <a:pt x="40378" y="944915"/>
                </a:lnTo>
                <a:lnTo>
                  <a:pt x="39763" y="944039"/>
                </a:lnTo>
                <a:close/>
              </a:path>
              <a:path w="226695" h="960755">
                <a:moveTo>
                  <a:pt x="45653" y="877681"/>
                </a:moveTo>
                <a:lnTo>
                  <a:pt x="35874" y="933543"/>
                </a:lnTo>
                <a:lnTo>
                  <a:pt x="39763" y="944039"/>
                </a:lnTo>
                <a:lnTo>
                  <a:pt x="40378" y="944915"/>
                </a:lnTo>
                <a:lnTo>
                  <a:pt x="55923" y="947635"/>
                </a:lnTo>
                <a:lnTo>
                  <a:pt x="56800" y="947019"/>
                </a:lnTo>
                <a:lnTo>
                  <a:pt x="64021" y="938470"/>
                </a:lnTo>
                <a:lnTo>
                  <a:pt x="65987" y="927238"/>
                </a:lnTo>
                <a:lnTo>
                  <a:pt x="64011" y="927238"/>
                </a:lnTo>
                <a:lnTo>
                  <a:pt x="39698" y="922982"/>
                </a:lnTo>
                <a:lnTo>
                  <a:pt x="55503" y="904270"/>
                </a:lnTo>
                <a:lnTo>
                  <a:pt x="45653" y="877681"/>
                </a:lnTo>
                <a:close/>
              </a:path>
              <a:path w="226695" h="960755">
                <a:moveTo>
                  <a:pt x="56800" y="947019"/>
                </a:moveTo>
                <a:lnTo>
                  <a:pt x="55923" y="947635"/>
                </a:lnTo>
                <a:lnTo>
                  <a:pt x="56280" y="947635"/>
                </a:lnTo>
                <a:lnTo>
                  <a:pt x="56800" y="947019"/>
                </a:lnTo>
                <a:close/>
              </a:path>
              <a:path w="226695" h="960755">
                <a:moveTo>
                  <a:pt x="64021" y="938470"/>
                </a:moveTo>
                <a:lnTo>
                  <a:pt x="56800" y="947019"/>
                </a:lnTo>
                <a:lnTo>
                  <a:pt x="63327" y="942437"/>
                </a:lnTo>
                <a:lnTo>
                  <a:pt x="64021" y="938470"/>
                </a:lnTo>
                <a:close/>
              </a:path>
              <a:path w="226695" h="960755">
                <a:moveTo>
                  <a:pt x="35874" y="933543"/>
                </a:moveTo>
                <a:lnTo>
                  <a:pt x="35180" y="937511"/>
                </a:lnTo>
                <a:lnTo>
                  <a:pt x="39763" y="944039"/>
                </a:lnTo>
                <a:lnTo>
                  <a:pt x="35874" y="933543"/>
                </a:lnTo>
                <a:close/>
              </a:path>
              <a:path w="226695" h="960755">
                <a:moveTo>
                  <a:pt x="117844" y="840376"/>
                </a:moveTo>
                <a:lnTo>
                  <a:pt x="108830" y="841136"/>
                </a:lnTo>
                <a:lnTo>
                  <a:pt x="73800" y="882609"/>
                </a:lnTo>
                <a:lnTo>
                  <a:pt x="64021" y="938470"/>
                </a:lnTo>
                <a:lnTo>
                  <a:pt x="130660" y="859574"/>
                </a:lnTo>
                <a:lnTo>
                  <a:pt x="129900" y="850559"/>
                </a:lnTo>
                <a:lnTo>
                  <a:pt x="117844" y="840376"/>
                </a:lnTo>
                <a:close/>
              </a:path>
              <a:path w="226695" h="960755">
                <a:moveTo>
                  <a:pt x="18575" y="822999"/>
                </a:moveTo>
                <a:lnTo>
                  <a:pt x="3775" y="828481"/>
                </a:lnTo>
                <a:lnTo>
                  <a:pt x="0" y="836701"/>
                </a:lnTo>
                <a:lnTo>
                  <a:pt x="35874" y="933543"/>
                </a:lnTo>
                <a:lnTo>
                  <a:pt x="45653" y="877681"/>
                </a:lnTo>
                <a:lnTo>
                  <a:pt x="26795" y="826775"/>
                </a:lnTo>
                <a:lnTo>
                  <a:pt x="18575" y="822999"/>
                </a:lnTo>
                <a:close/>
              </a:path>
              <a:path w="226695" h="960755">
                <a:moveTo>
                  <a:pt x="55503" y="904270"/>
                </a:moveTo>
                <a:lnTo>
                  <a:pt x="39698" y="922982"/>
                </a:lnTo>
                <a:lnTo>
                  <a:pt x="64011" y="927238"/>
                </a:lnTo>
                <a:lnTo>
                  <a:pt x="55503" y="904270"/>
                </a:lnTo>
                <a:close/>
              </a:path>
              <a:path w="226695" h="960755">
                <a:moveTo>
                  <a:pt x="73800" y="882609"/>
                </a:moveTo>
                <a:lnTo>
                  <a:pt x="55503" y="904270"/>
                </a:lnTo>
                <a:lnTo>
                  <a:pt x="64011" y="927238"/>
                </a:lnTo>
                <a:lnTo>
                  <a:pt x="65987" y="927238"/>
                </a:lnTo>
                <a:lnTo>
                  <a:pt x="73800" y="882609"/>
                </a:lnTo>
                <a:close/>
              </a:path>
              <a:path w="226695" h="960755">
                <a:moveTo>
                  <a:pt x="205785" y="0"/>
                </a:moveTo>
                <a:lnTo>
                  <a:pt x="198381" y="5198"/>
                </a:lnTo>
                <a:lnTo>
                  <a:pt x="45653" y="877681"/>
                </a:lnTo>
                <a:lnTo>
                  <a:pt x="55503" y="904270"/>
                </a:lnTo>
                <a:lnTo>
                  <a:pt x="73800" y="882609"/>
                </a:lnTo>
                <a:lnTo>
                  <a:pt x="226528" y="10125"/>
                </a:lnTo>
                <a:lnTo>
                  <a:pt x="221330" y="2721"/>
                </a:lnTo>
                <a:lnTo>
                  <a:pt x="2057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076999" y="1477468"/>
            <a:ext cx="797560" cy="1022350"/>
          </a:xfrm>
          <a:custGeom>
            <a:avLst/>
            <a:gdLst/>
            <a:ahLst/>
            <a:cxnLst/>
            <a:rect l="l" t="t" r="r" b="b"/>
            <a:pathLst>
              <a:path w="797559" h="1022350">
                <a:moveTo>
                  <a:pt x="2262" y="1004856"/>
                </a:moveTo>
                <a:lnTo>
                  <a:pt x="0" y="1021861"/>
                </a:lnTo>
                <a:lnTo>
                  <a:pt x="15584" y="1015593"/>
                </a:lnTo>
                <a:lnTo>
                  <a:pt x="14858" y="1015593"/>
                </a:lnTo>
                <a:lnTo>
                  <a:pt x="2395" y="1005912"/>
                </a:lnTo>
                <a:lnTo>
                  <a:pt x="2262" y="1004856"/>
                </a:lnTo>
                <a:close/>
              </a:path>
              <a:path w="797559" h="1022350">
                <a:moveTo>
                  <a:pt x="38525" y="948963"/>
                </a:moveTo>
                <a:lnTo>
                  <a:pt x="3739" y="993752"/>
                </a:lnTo>
                <a:lnTo>
                  <a:pt x="2262" y="1004856"/>
                </a:lnTo>
                <a:lnTo>
                  <a:pt x="2395" y="1005912"/>
                </a:lnTo>
                <a:lnTo>
                  <a:pt x="14858" y="1015593"/>
                </a:lnTo>
                <a:lnTo>
                  <a:pt x="15914" y="1015460"/>
                </a:lnTo>
                <a:lnTo>
                  <a:pt x="26306" y="1011281"/>
                </a:lnTo>
                <a:lnTo>
                  <a:pt x="34019" y="1001350"/>
                </a:lnTo>
                <a:lnTo>
                  <a:pt x="31555" y="1001350"/>
                </a:lnTo>
                <a:lnTo>
                  <a:pt x="12062" y="986210"/>
                </a:lnTo>
                <a:lnTo>
                  <a:pt x="34785" y="977072"/>
                </a:lnTo>
                <a:lnTo>
                  <a:pt x="38525" y="948963"/>
                </a:lnTo>
                <a:close/>
              </a:path>
              <a:path w="797559" h="1022350">
                <a:moveTo>
                  <a:pt x="15914" y="1015460"/>
                </a:moveTo>
                <a:lnTo>
                  <a:pt x="14858" y="1015593"/>
                </a:lnTo>
                <a:lnTo>
                  <a:pt x="15584" y="1015593"/>
                </a:lnTo>
                <a:lnTo>
                  <a:pt x="15914" y="1015460"/>
                </a:lnTo>
                <a:close/>
              </a:path>
              <a:path w="797559" h="1022350">
                <a:moveTo>
                  <a:pt x="26306" y="1011281"/>
                </a:moveTo>
                <a:lnTo>
                  <a:pt x="15914" y="1015460"/>
                </a:lnTo>
                <a:lnTo>
                  <a:pt x="23834" y="1014464"/>
                </a:lnTo>
                <a:lnTo>
                  <a:pt x="26306" y="1011281"/>
                </a:lnTo>
                <a:close/>
              </a:path>
              <a:path w="797559" h="1022350">
                <a:moveTo>
                  <a:pt x="111460" y="946236"/>
                </a:moveTo>
                <a:lnTo>
                  <a:pt x="61092" y="966492"/>
                </a:lnTo>
                <a:lnTo>
                  <a:pt x="26306" y="1011281"/>
                </a:lnTo>
                <a:lnTo>
                  <a:pt x="122121" y="972747"/>
                </a:lnTo>
                <a:lnTo>
                  <a:pt x="125670" y="964425"/>
                </a:lnTo>
                <a:lnTo>
                  <a:pt x="119781" y="949783"/>
                </a:lnTo>
                <a:lnTo>
                  <a:pt x="111460" y="946236"/>
                </a:lnTo>
                <a:close/>
              </a:path>
              <a:path w="797559" h="1022350">
                <a:moveTo>
                  <a:pt x="3739" y="993752"/>
                </a:moveTo>
                <a:lnTo>
                  <a:pt x="1266" y="996937"/>
                </a:lnTo>
                <a:lnTo>
                  <a:pt x="2262" y="1004856"/>
                </a:lnTo>
                <a:lnTo>
                  <a:pt x="3739" y="993752"/>
                </a:lnTo>
                <a:close/>
              </a:path>
              <a:path w="797559" h="1022350">
                <a:moveTo>
                  <a:pt x="34785" y="977072"/>
                </a:moveTo>
                <a:lnTo>
                  <a:pt x="12062" y="986210"/>
                </a:lnTo>
                <a:lnTo>
                  <a:pt x="31555" y="1001350"/>
                </a:lnTo>
                <a:lnTo>
                  <a:pt x="34785" y="977072"/>
                </a:lnTo>
                <a:close/>
              </a:path>
              <a:path w="797559" h="1022350">
                <a:moveTo>
                  <a:pt x="61092" y="966492"/>
                </a:moveTo>
                <a:lnTo>
                  <a:pt x="34785" y="977072"/>
                </a:lnTo>
                <a:lnTo>
                  <a:pt x="31555" y="1001350"/>
                </a:lnTo>
                <a:lnTo>
                  <a:pt x="34019" y="1001350"/>
                </a:lnTo>
                <a:lnTo>
                  <a:pt x="61092" y="966492"/>
                </a:lnTo>
                <a:close/>
              </a:path>
              <a:path w="797559" h="1022350">
                <a:moveTo>
                  <a:pt x="24545" y="885885"/>
                </a:moveTo>
                <a:lnTo>
                  <a:pt x="17360" y="891382"/>
                </a:lnTo>
                <a:lnTo>
                  <a:pt x="3739" y="993752"/>
                </a:lnTo>
                <a:lnTo>
                  <a:pt x="38525" y="948963"/>
                </a:lnTo>
                <a:lnTo>
                  <a:pt x="45685" y="895151"/>
                </a:lnTo>
                <a:lnTo>
                  <a:pt x="40187" y="887967"/>
                </a:lnTo>
                <a:lnTo>
                  <a:pt x="24545" y="885885"/>
                </a:lnTo>
                <a:close/>
              </a:path>
              <a:path w="797559" h="1022350">
                <a:moveTo>
                  <a:pt x="783653" y="0"/>
                </a:moveTo>
                <a:lnTo>
                  <a:pt x="774678" y="1127"/>
                </a:lnTo>
                <a:lnTo>
                  <a:pt x="38525" y="948963"/>
                </a:lnTo>
                <a:lnTo>
                  <a:pt x="34785" y="977072"/>
                </a:lnTo>
                <a:lnTo>
                  <a:pt x="61092" y="966492"/>
                </a:lnTo>
                <a:lnTo>
                  <a:pt x="797246" y="18655"/>
                </a:lnTo>
                <a:lnTo>
                  <a:pt x="796117" y="9679"/>
                </a:lnTo>
                <a:lnTo>
                  <a:pt x="7836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26041" y="1295400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4">
                <a:moveTo>
                  <a:pt x="209679" y="0"/>
                </a:moveTo>
                <a:lnTo>
                  <a:pt x="161601" y="5505"/>
                </a:lnTo>
                <a:lnTo>
                  <a:pt x="117467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7" y="395704"/>
                </a:lnTo>
                <a:lnTo>
                  <a:pt x="161601" y="411386"/>
                </a:lnTo>
                <a:lnTo>
                  <a:pt x="209679" y="416891"/>
                </a:lnTo>
                <a:lnTo>
                  <a:pt x="257756" y="411386"/>
                </a:lnTo>
                <a:lnTo>
                  <a:pt x="301890" y="395704"/>
                </a:lnTo>
                <a:lnTo>
                  <a:pt x="340822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2" y="45793"/>
                </a:lnTo>
                <a:lnTo>
                  <a:pt x="301890" y="21186"/>
                </a:lnTo>
                <a:lnTo>
                  <a:pt x="257756" y="5505"/>
                </a:lnTo>
                <a:lnTo>
                  <a:pt x="2096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341264" y="1327403"/>
            <a:ext cx="187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17094" sz="19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baseline="-17094" sz="19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37241" y="1295400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4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6" y="395704"/>
                </a:lnTo>
                <a:lnTo>
                  <a:pt x="161600" y="411386"/>
                </a:lnTo>
                <a:lnTo>
                  <a:pt x="209678" y="416891"/>
                </a:lnTo>
                <a:lnTo>
                  <a:pt x="257755" y="411386"/>
                </a:lnTo>
                <a:lnTo>
                  <a:pt x="301889" y="395704"/>
                </a:lnTo>
                <a:lnTo>
                  <a:pt x="340821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1" y="45793"/>
                </a:lnTo>
                <a:lnTo>
                  <a:pt x="301889" y="21186"/>
                </a:lnTo>
                <a:lnTo>
                  <a:pt x="257755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052464" y="1327403"/>
            <a:ext cx="187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17094" sz="19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baseline="-17094" sz="19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648441" y="1295400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4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6" y="395704"/>
                </a:lnTo>
                <a:lnTo>
                  <a:pt x="161600" y="411386"/>
                </a:lnTo>
                <a:lnTo>
                  <a:pt x="209678" y="416891"/>
                </a:lnTo>
                <a:lnTo>
                  <a:pt x="257755" y="411386"/>
                </a:lnTo>
                <a:lnTo>
                  <a:pt x="301889" y="395704"/>
                </a:lnTo>
                <a:lnTo>
                  <a:pt x="340821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1" y="45793"/>
                </a:lnTo>
                <a:lnTo>
                  <a:pt x="301889" y="21186"/>
                </a:lnTo>
                <a:lnTo>
                  <a:pt x="257755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763664" y="1327403"/>
            <a:ext cx="187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17094" sz="19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baseline="-17094" sz="19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10356" y="1635246"/>
            <a:ext cx="293370" cy="340995"/>
          </a:xfrm>
          <a:custGeom>
            <a:avLst/>
            <a:gdLst/>
            <a:ahLst/>
            <a:cxnLst/>
            <a:rect l="l" t="t" r="r" b="b"/>
            <a:pathLst>
              <a:path w="293370" h="340994">
                <a:moveTo>
                  <a:pt x="3039" y="324069"/>
                </a:moveTo>
                <a:lnTo>
                  <a:pt x="0" y="340964"/>
                </a:lnTo>
                <a:lnTo>
                  <a:pt x="15958" y="335379"/>
                </a:lnTo>
                <a:lnTo>
                  <a:pt x="15132" y="335379"/>
                </a:lnTo>
                <a:lnTo>
                  <a:pt x="3124" y="325139"/>
                </a:lnTo>
                <a:lnTo>
                  <a:pt x="3039" y="324069"/>
                </a:lnTo>
                <a:close/>
              </a:path>
              <a:path w="293370" h="340994">
                <a:moveTo>
                  <a:pt x="41816" y="269903"/>
                </a:moveTo>
                <a:lnTo>
                  <a:pt x="5019" y="313057"/>
                </a:lnTo>
                <a:lnTo>
                  <a:pt x="3039" y="324069"/>
                </a:lnTo>
                <a:lnTo>
                  <a:pt x="3124" y="325139"/>
                </a:lnTo>
                <a:lnTo>
                  <a:pt x="15132" y="335379"/>
                </a:lnTo>
                <a:lnTo>
                  <a:pt x="16201" y="335294"/>
                </a:lnTo>
                <a:lnTo>
                  <a:pt x="26764" y="331596"/>
                </a:lnTo>
                <a:lnTo>
                  <a:pt x="35018" y="321917"/>
                </a:lnTo>
                <a:lnTo>
                  <a:pt x="32459" y="321917"/>
                </a:lnTo>
                <a:lnTo>
                  <a:pt x="13677" y="305902"/>
                </a:lnTo>
                <a:lnTo>
                  <a:pt x="36796" y="297811"/>
                </a:lnTo>
                <a:lnTo>
                  <a:pt x="41816" y="269903"/>
                </a:lnTo>
                <a:close/>
              </a:path>
              <a:path w="293370" h="340994">
                <a:moveTo>
                  <a:pt x="16201" y="335294"/>
                </a:moveTo>
                <a:lnTo>
                  <a:pt x="15132" y="335379"/>
                </a:lnTo>
                <a:lnTo>
                  <a:pt x="15958" y="335379"/>
                </a:lnTo>
                <a:lnTo>
                  <a:pt x="16201" y="335294"/>
                </a:lnTo>
                <a:close/>
              </a:path>
              <a:path w="293370" h="340994">
                <a:moveTo>
                  <a:pt x="26764" y="331596"/>
                </a:moveTo>
                <a:lnTo>
                  <a:pt x="16201" y="335294"/>
                </a:lnTo>
                <a:lnTo>
                  <a:pt x="24150" y="334662"/>
                </a:lnTo>
                <a:lnTo>
                  <a:pt x="26764" y="331596"/>
                </a:lnTo>
                <a:close/>
              </a:path>
              <a:path w="293370" h="340994">
                <a:moveTo>
                  <a:pt x="114799" y="270511"/>
                </a:moveTo>
                <a:lnTo>
                  <a:pt x="63560" y="288444"/>
                </a:lnTo>
                <a:lnTo>
                  <a:pt x="26764" y="331596"/>
                </a:lnTo>
                <a:lnTo>
                  <a:pt x="124239" y="297480"/>
                </a:lnTo>
                <a:lnTo>
                  <a:pt x="128163" y="289331"/>
                </a:lnTo>
                <a:lnTo>
                  <a:pt x="122949" y="274435"/>
                </a:lnTo>
                <a:lnTo>
                  <a:pt x="114799" y="270511"/>
                </a:lnTo>
                <a:close/>
              </a:path>
              <a:path w="293370" h="340994">
                <a:moveTo>
                  <a:pt x="5019" y="313057"/>
                </a:moveTo>
                <a:lnTo>
                  <a:pt x="2406" y="316122"/>
                </a:lnTo>
                <a:lnTo>
                  <a:pt x="3039" y="324069"/>
                </a:lnTo>
                <a:lnTo>
                  <a:pt x="5019" y="313057"/>
                </a:lnTo>
                <a:close/>
              </a:path>
              <a:path w="293370" h="340994">
                <a:moveTo>
                  <a:pt x="36796" y="297811"/>
                </a:moveTo>
                <a:lnTo>
                  <a:pt x="13677" y="305902"/>
                </a:lnTo>
                <a:lnTo>
                  <a:pt x="32459" y="321917"/>
                </a:lnTo>
                <a:lnTo>
                  <a:pt x="36796" y="297811"/>
                </a:lnTo>
                <a:close/>
              </a:path>
              <a:path w="293370" h="340994">
                <a:moveTo>
                  <a:pt x="63560" y="288444"/>
                </a:moveTo>
                <a:lnTo>
                  <a:pt x="36796" y="297811"/>
                </a:lnTo>
                <a:lnTo>
                  <a:pt x="32459" y="321917"/>
                </a:lnTo>
                <a:lnTo>
                  <a:pt x="35018" y="321917"/>
                </a:lnTo>
                <a:lnTo>
                  <a:pt x="63560" y="288444"/>
                </a:lnTo>
                <a:close/>
              </a:path>
              <a:path w="293370" h="340994">
                <a:moveTo>
                  <a:pt x="30731" y="206253"/>
                </a:moveTo>
                <a:lnTo>
                  <a:pt x="23303" y="211415"/>
                </a:lnTo>
                <a:lnTo>
                  <a:pt x="5019" y="313057"/>
                </a:lnTo>
                <a:lnTo>
                  <a:pt x="41816" y="269903"/>
                </a:lnTo>
                <a:lnTo>
                  <a:pt x="51427" y="216474"/>
                </a:lnTo>
                <a:lnTo>
                  <a:pt x="46263" y="209047"/>
                </a:lnTo>
                <a:lnTo>
                  <a:pt x="30731" y="206253"/>
                </a:lnTo>
                <a:close/>
              </a:path>
              <a:path w="293370" h="340994">
                <a:moveTo>
                  <a:pt x="280365" y="0"/>
                </a:moveTo>
                <a:lnTo>
                  <a:pt x="271346" y="717"/>
                </a:lnTo>
                <a:lnTo>
                  <a:pt x="41816" y="269903"/>
                </a:lnTo>
                <a:lnTo>
                  <a:pt x="36796" y="297811"/>
                </a:lnTo>
                <a:lnTo>
                  <a:pt x="63560" y="288444"/>
                </a:lnTo>
                <a:lnTo>
                  <a:pt x="293090" y="19258"/>
                </a:lnTo>
                <a:lnTo>
                  <a:pt x="292374" y="10240"/>
                </a:lnTo>
                <a:lnTo>
                  <a:pt x="2803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75819" y="1615746"/>
            <a:ext cx="131445" cy="431800"/>
          </a:xfrm>
          <a:custGeom>
            <a:avLst/>
            <a:gdLst/>
            <a:ahLst/>
            <a:cxnLst/>
            <a:rect l="l" t="t" r="r" b="b"/>
            <a:pathLst>
              <a:path w="131445" h="431800">
                <a:moveTo>
                  <a:pt x="40665" y="415680"/>
                </a:moveTo>
                <a:lnTo>
                  <a:pt x="46762" y="431723"/>
                </a:lnTo>
                <a:lnTo>
                  <a:pt x="57209" y="419141"/>
                </a:lnTo>
                <a:lnTo>
                  <a:pt x="56855" y="419141"/>
                </a:lnTo>
                <a:lnTo>
                  <a:pt x="41287" y="416551"/>
                </a:lnTo>
                <a:lnTo>
                  <a:pt x="40665" y="415680"/>
                </a:lnTo>
                <a:close/>
              </a:path>
              <a:path w="131445" h="431800">
                <a:moveTo>
                  <a:pt x="45997" y="349276"/>
                </a:moveTo>
                <a:lnTo>
                  <a:pt x="36689" y="405219"/>
                </a:lnTo>
                <a:lnTo>
                  <a:pt x="40665" y="415680"/>
                </a:lnTo>
                <a:lnTo>
                  <a:pt x="41287" y="416551"/>
                </a:lnTo>
                <a:lnTo>
                  <a:pt x="56855" y="419141"/>
                </a:lnTo>
                <a:lnTo>
                  <a:pt x="57726" y="418518"/>
                </a:lnTo>
                <a:lnTo>
                  <a:pt x="64876" y="409908"/>
                </a:lnTo>
                <a:lnTo>
                  <a:pt x="66744" y="398677"/>
                </a:lnTo>
                <a:lnTo>
                  <a:pt x="64772" y="398677"/>
                </a:lnTo>
                <a:lnTo>
                  <a:pt x="40424" y="394625"/>
                </a:lnTo>
                <a:lnTo>
                  <a:pt x="56071" y="375781"/>
                </a:lnTo>
                <a:lnTo>
                  <a:pt x="45997" y="349276"/>
                </a:lnTo>
                <a:close/>
              </a:path>
              <a:path w="131445" h="431800">
                <a:moveTo>
                  <a:pt x="57726" y="418518"/>
                </a:moveTo>
                <a:lnTo>
                  <a:pt x="56855" y="419141"/>
                </a:lnTo>
                <a:lnTo>
                  <a:pt x="57209" y="419141"/>
                </a:lnTo>
                <a:lnTo>
                  <a:pt x="57726" y="418518"/>
                </a:lnTo>
                <a:close/>
              </a:path>
              <a:path w="131445" h="431800">
                <a:moveTo>
                  <a:pt x="64876" y="409908"/>
                </a:moveTo>
                <a:lnTo>
                  <a:pt x="57726" y="418518"/>
                </a:lnTo>
                <a:lnTo>
                  <a:pt x="64215" y="413881"/>
                </a:lnTo>
                <a:lnTo>
                  <a:pt x="64876" y="409908"/>
                </a:lnTo>
                <a:close/>
              </a:path>
              <a:path w="131445" h="431800">
                <a:moveTo>
                  <a:pt x="36689" y="405219"/>
                </a:moveTo>
                <a:lnTo>
                  <a:pt x="36028" y="409191"/>
                </a:lnTo>
                <a:lnTo>
                  <a:pt x="40665" y="415680"/>
                </a:lnTo>
                <a:lnTo>
                  <a:pt x="36689" y="405219"/>
                </a:lnTo>
                <a:close/>
              </a:path>
              <a:path w="131445" h="431800">
                <a:moveTo>
                  <a:pt x="117871" y="311365"/>
                </a:moveTo>
                <a:lnTo>
                  <a:pt x="108864" y="312200"/>
                </a:lnTo>
                <a:lnTo>
                  <a:pt x="74184" y="353966"/>
                </a:lnTo>
                <a:lnTo>
                  <a:pt x="64876" y="409908"/>
                </a:lnTo>
                <a:lnTo>
                  <a:pt x="130848" y="330455"/>
                </a:lnTo>
                <a:lnTo>
                  <a:pt x="130013" y="321447"/>
                </a:lnTo>
                <a:lnTo>
                  <a:pt x="117871" y="311365"/>
                </a:lnTo>
                <a:close/>
              </a:path>
              <a:path w="131445" h="431800">
                <a:moveTo>
                  <a:pt x="18459" y="294824"/>
                </a:moveTo>
                <a:lnTo>
                  <a:pt x="3707" y="300431"/>
                </a:lnTo>
                <a:lnTo>
                  <a:pt x="0" y="308682"/>
                </a:lnTo>
                <a:lnTo>
                  <a:pt x="36689" y="405219"/>
                </a:lnTo>
                <a:lnTo>
                  <a:pt x="45997" y="349276"/>
                </a:lnTo>
                <a:lnTo>
                  <a:pt x="26711" y="298531"/>
                </a:lnTo>
                <a:lnTo>
                  <a:pt x="18459" y="294824"/>
                </a:lnTo>
                <a:close/>
              </a:path>
              <a:path w="131445" h="431800">
                <a:moveTo>
                  <a:pt x="56071" y="375781"/>
                </a:moveTo>
                <a:lnTo>
                  <a:pt x="40424" y="394625"/>
                </a:lnTo>
                <a:lnTo>
                  <a:pt x="64772" y="398677"/>
                </a:lnTo>
                <a:lnTo>
                  <a:pt x="56071" y="375781"/>
                </a:lnTo>
                <a:close/>
              </a:path>
              <a:path w="131445" h="431800">
                <a:moveTo>
                  <a:pt x="74184" y="353966"/>
                </a:moveTo>
                <a:lnTo>
                  <a:pt x="56071" y="375781"/>
                </a:lnTo>
                <a:lnTo>
                  <a:pt x="64772" y="398677"/>
                </a:lnTo>
                <a:lnTo>
                  <a:pt x="66744" y="398677"/>
                </a:lnTo>
                <a:lnTo>
                  <a:pt x="74184" y="353966"/>
                </a:lnTo>
                <a:close/>
              </a:path>
              <a:path w="131445" h="431800">
                <a:moveTo>
                  <a:pt x="110599" y="0"/>
                </a:moveTo>
                <a:lnTo>
                  <a:pt x="103239" y="5260"/>
                </a:lnTo>
                <a:lnTo>
                  <a:pt x="45997" y="349276"/>
                </a:lnTo>
                <a:lnTo>
                  <a:pt x="56071" y="375781"/>
                </a:lnTo>
                <a:lnTo>
                  <a:pt x="74184" y="353966"/>
                </a:lnTo>
                <a:lnTo>
                  <a:pt x="131425" y="9950"/>
                </a:lnTo>
                <a:lnTo>
                  <a:pt x="126166" y="2590"/>
                </a:lnTo>
                <a:lnTo>
                  <a:pt x="1105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816099" y="1660235"/>
            <a:ext cx="196850" cy="433070"/>
          </a:xfrm>
          <a:custGeom>
            <a:avLst/>
            <a:gdLst/>
            <a:ahLst/>
            <a:cxnLst/>
            <a:rect l="l" t="t" r="r" b="b"/>
            <a:pathLst>
              <a:path w="196850" h="433069">
                <a:moveTo>
                  <a:pt x="162146" y="421741"/>
                </a:moveTo>
                <a:lnTo>
                  <a:pt x="175522" y="432495"/>
                </a:lnTo>
                <a:lnTo>
                  <a:pt x="177214" y="422178"/>
                </a:lnTo>
                <a:lnTo>
                  <a:pt x="163125" y="422178"/>
                </a:lnTo>
                <a:lnTo>
                  <a:pt x="162146" y="421741"/>
                </a:lnTo>
                <a:close/>
              </a:path>
              <a:path w="196850" h="433069">
                <a:moveTo>
                  <a:pt x="133150" y="361765"/>
                </a:moveTo>
                <a:lnTo>
                  <a:pt x="153423" y="414728"/>
                </a:lnTo>
                <a:lnTo>
                  <a:pt x="162146" y="421741"/>
                </a:lnTo>
                <a:lnTo>
                  <a:pt x="163125" y="422178"/>
                </a:lnTo>
                <a:lnTo>
                  <a:pt x="177863" y="416537"/>
                </a:lnTo>
                <a:lnTo>
                  <a:pt x="178299" y="415560"/>
                </a:lnTo>
                <a:lnTo>
                  <a:pt x="180110" y="404513"/>
                </a:lnTo>
                <a:lnTo>
                  <a:pt x="179800" y="403702"/>
                </a:lnTo>
                <a:lnTo>
                  <a:pt x="151287" y="403702"/>
                </a:lnTo>
                <a:lnTo>
                  <a:pt x="155250" y="379532"/>
                </a:lnTo>
                <a:lnTo>
                  <a:pt x="133150" y="361765"/>
                </a:lnTo>
                <a:close/>
              </a:path>
              <a:path w="196850" h="433069">
                <a:moveTo>
                  <a:pt x="178299" y="415560"/>
                </a:moveTo>
                <a:lnTo>
                  <a:pt x="177863" y="416537"/>
                </a:lnTo>
                <a:lnTo>
                  <a:pt x="163125" y="422178"/>
                </a:lnTo>
                <a:lnTo>
                  <a:pt x="177214" y="422178"/>
                </a:lnTo>
                <a:lnTo>
                  <a:pt x="178299" y="415560"/>
                </a:lnTo>
                <a:close/>
              </a:path>
              <a:path w="196850" h="433069">
                <a:moveTo>
                  <a:pt x="153423" y="414728"/>
                </a:moveTo>
                <a:lnTo>
                  <a:pt x="154863" y="418491"/>
                </a:lnTo>
                <a:lnTo>
                  <a:pt x="162146" y="421741"/>
                </a:lnTo>
                <a:lnTo>
                  <a:pt x="153423" y="414728"/>
                </a:lnTo>
                <a:close/>
              </a:path>
              <a:path w="196850" h="433069">
                <a:moveTo>
                  <a:pt x="180110" y="404513"/>
                </a:moveTo>
                <a:lnTo>
                  <a:pt x="178299" y="415560"/>
                </a:lnTo>
                <a:lnTo>
                  <a:pt x="181551" y="408277"/>
                </a:lnTo>
                <a:lnTo>
                  <a:pt x="180110" y="404513"/>
                </a:lnTo>
                <a:close/>
              </a:path>
              <a:path w="196850" h="433069">
                <a:moveTo>
                  <a:pt x="90843" y="327751"/>
                </a:moveTo>
                <a:lnTo>
                  <a:pt x="81848" y="328728"/>
                </a:lnTo>
                <a:lnTo>
                  <a:pt x="71960" y="341028"/>
                </a:lnTo>
                <a:lnTo>
                  <a:pt x="72938" y="350020"/>
                </a:lnTo>
                <a:lnTo>
                  <a:pt x="153423" y="414728"/>
                </a:lnTo>
                <a:lnTo>
                  <a:pt x="133150" y="361765"/>
                </a:lnTo>
                <a:lnTo>
                  <a:pt x="90843" y="327751"/>
                </a:lnTo>
                <a:close/>
              </a:path>
              <a:path w="196850" h="433069">
                <a:moveTo>
                  <a:pt x="175968" y="292701"/>
                </a:moveTo>
                <a:lnTo>
                  <a:pt x="168621" y="297980"/>
                </a:lnTo>
                <a:lnTo>
                  <a:pt x="159838" y="351550"/>
                </a:lnTo>
                <a:lnTo>
                  <a:pt x="180110" y="404513"/>
                </a:lnTo>
                <a:lnTo>
                  <a:pt x="196819" y="302602"/>
                </a:lnTo>
                <a:lnTo>
                  <a:pt x="191542" y="295255"/>
                </a:lnTo>
                <a:lnTo>
                  <a:pt x="175968" y="292701"/>
                </a:lnTo>
                <a:close/>
              </a:path>
              <a:path w="196850" h="433069">
                <a:moveTo>
                  <a:pt x="155250" y="379532"/>
                </a:moveTo>
                <a:lnTo>
                  <a:pt x="151287" y="403702"/>
                </a:lnTo>
                <a:lnTo>
                  <a:pt x="174339" y="394879"/>
                </a:lnTo>
                <a:lnTo>
                  <a:pt x="155250" y="379532"/>
                </a:lnTo>
                <a:close/>
              </a:path>
              <a:path w="196850" h="433069">
                <a:moveTo>
                  <a:pt x="159838" y="351550"/>
                </a:moveTo>
                <a:lnTo>
                  <a:pt x="155250" y="379532"/>
                </a:lnTo>
                <a:lnTo>
                  <a:pt x="174339" y="394879"/>
                </a:lnTo>
                <a:lnTo>
                  <a:pt x="151287" y="403702"/>
                </a:lnTo>
                <a:lnTo>
                  <a:pt x="179800" y="403702"/>
                </a:lnTo>
                <a:lnTo>
                  <a:pt x="159838" y="351550"/>
                </a:lnTo>
                <a:close/>
              </a:path>
              <a:path w="196850" h="433069">
                <a:moveTo>
                  <a:pt x="18425" y="0"/>
                </a:moveTo>
                <a:lnTo>
                  <a:pt x="3686" y="5641"/>
                </a:lnTo>
                <a:lnTo>
                  <a:pt x="0" y="13902"/>
                </a:lnTo>
                <a:lnTo>
                  <a:pt x="133150" y="361765"/>
                </a:lnTo>
                <a:lnTo>
                  <a:pt x="155250" y="379532"/>
                </a:lnTo>
                <a:lnTo>
                  <a:pt x="159838" y="351550"/>
                </a:lnTo>
                <a:lnTo>
                  <a:pt x="26686" y="3688"/>
                </a:lnTo>
                <a:lnTo>
                  <a:pt x="184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7086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14595" y="2479572"/>
            <a:ext cx="1162685" cy="376555"/>
          </a:xfrm>
          <a:custGeom>
            <a:avLst/>
            <a:gdLst/>
            <a:ahLst/>
            <a:cxnLst/>
            <a:rect l="l" t="t" r="r" b="b"/>
            <a:pathLst>
              <a:path w="1162685" h="376555">
                <a:moveTo>
                  <a:pt x="1042391" y="0"/>
                </a:moveTo>
                <a:lnTo>
                  <a:pt x="1037033" y="15279"/>
                </a:lnTo>
                <a:lnTo>
                  <a:pt x="1058824" y="24736"/>
                </a:lnTo>
                <a:lnTo>
                  <a:pt x="1077564" y="37826"/>
                </a:lnTo>
                <a:lnTo>
                  <a:pt x="1105891" y="74909"/>
                </a:lnTo>
                <a:lnTo>
                  <a:pt x="1122560" y="124940"/>
                </a:lnTo>
                <a:lnTo>
                  <a:pt x="1128116" y="186331"/>
                </a:lnTo>
                <a:lnTo>
                  <a:pt x="1126721" y="219533"/>
                </a:lnTo>
                <a:lnTo>
                  <a:pt x="1115559" y="276782"/>
                </a:lnTo>
                <a:lnTo>
                  <a:pt x="1093160" y="321493"/>
                </a:lnTo>
                <a:lnTo>
                  <a:pt x="1059079" y="351655"/>
                </a:lnTo>
                <a:lnTo>
                  <a:pt x="1037629" y="361156"/>
                </a:lnTo>
                <a:lnTo>
                  <a:pt x="1042391" y="376435"/>
                </a:lnTo>
                <a:lnTo>
                  <a:pt x="1093737" y="352350"/>
                </a:lnTo>
                <a:lnTo>
                  <a:pt x="1131489" y="310653"/>
                </a:lnTo>
                <a:lnTo>
                  <a:pt x="1154707" y="254818"/>
                </a:lnTo>
                <a:lnTo>
                  <a:pt x="1162446" y="188316"/>
                </a:lnTo>
                <a:lnTo>
                  <a:pt x="1160505" y="153807"/>
                </a:lnTo>
                <a:lnTo>
                  <a:pt x="1144977" y="92638"/>
                </a:lnTo>
                <a:lnTo>
                  <a:pt x="1114182" y="42843"/>
                </a:lnTo>
                <a:lnTo>
                  <a:pt x="1069683" y="9853"/>
                </a:lnTo>
                <a:lnTo>
                  <a:pt x="1042391" y="0"/>
                </a:lnTo>
                <a:close/>
              </a:path>
              <a:path w="1162685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8108" y="1252365"/>
            <a:ext cx="5703570" cy="162496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Where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is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surfer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at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time</a:t>
            </a:r>
            <a:r>
              <a:rPr dirty="0" sz="3200" spc="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 i="1">
                <a:solidFill>
                  <a:srgbClr val="D60093"/>
                </a:solidFill>
                <a:latin typeface="Times New Roman"/>
                <a:cs typeface="Times New Roman"/>
              </a:rPr>
              <a:t>t+1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Follow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link </a:t>
            </a:r>
            <a:r>
              <a:rPr dirty="0" sz="2800" spc="-10">
                <a:latin typeface="Calibri"/>
                <a:cs typeface="Calibri"/>
              </a:rPr>
              <a:t>uniformly </a:t>
            </a:r>
            <a:r>
              <a:rPr dirty="0" sz="2800" spc="-20">
                <a:latin typeface="Calibri"/>
                <a:cs typeface="Calibri"/>
              </a:rPr>
              <a:t>at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random</a:t>
            </a:r>
            <a:endParaRPr sz="2800">
              <a:latin typeface="Calibri"/>
              <a:cs typeface="Calibri"/>
            </a:endParaRPr>
          </a:p>
          <a:p>
            <a:pPr marL="807720">
              <a:lnSpc>
                <a:spcPct val="100000"/>
              </a:lnSpc>
              <a:spcBef>
                <a:spcPts val="125"/>
              </a:spcBef>
              <a:tabLst>
                <a:tab pos="1229360" algn="l"/>
                <a:tab pos="2407285" algn="l"/>
                <a:tab pos="2912110" algn="l"/>
              </a:tabLst>
            </a:pPr>
            <a:r>
              <a:rPr dirty="0" sz="3200">
                <a:latin typeface="Cambria Math"/>
                <a:cs typeface="Cambria Math"/>
              </a:rPr>
              <a:t>𝒑	𝒕 + 𝟏	=	𝑴 ⋅</a:t>
            </a:r>
            <a:r>
              <a:rPr dirty="0" sz="3200" spc="-8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𝒑(𝒕)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7880" y="3546372"/>
            <a:ext cx="1162685" cy="376555"/>
          </a:xfrm>
          <a:custGeom>
            <a:avLst/>
            <a:gdLst/>
            <a:ahLst/>
            <a:cxnLst/>
            <a:rect l="l" t="t" r="r" b="b"/>
            <a:pathLst>
              <a:path w="1162685" h="376554">
                <a:moveTo>
                  <a:pt x="1042391" y="0"/>
                </a:moveTo>
                <a:lnTo>
                  <a:pt x="1037033" y="15279"/>
                </a:lnTo>
                <a:lnTo>
                  <a:pt x="1058824" y="24736"/>
                </a:lnTo>
                <a:lnTo>
                  <a:pt x="1077564" y="37826"/>
                </a:lnTo>
                <a:lnTo>
                  <a:pt x="1105891" y="74909"/>
                </a:lnTo>
                <a:lnTo>
                  <a:pt x="1122560" y="124940"/>
                </a:lnTo>
                <a:lnTo>
                  <a:pt x="1128116" y="186331"/>
                </a:lnTo>
                <a:lnTo>
                  <a:pt x="1126721" y="219533"/>
                </a:lnTo>
                <a:lnTo>
                  <a:pt x="1115559" y="276782"/>
                </a:lnTo>
                <a:lnTo>
                  <a:pt x="1093160" y="321493"/>
                </a:lnTo>
                <a:lnTo>
                  <a:pt x="1059079" y="351655"/>
                </a:lnTo>
                <a:lnTo>
                  <a:pt x="1037629" y="361156"/>
                </a:lnTo>
                <a:lnTo>
                  <a:pt x="1042391" y="376435"/>
                </a:lnTo>
                <a:lnTo>
                  <a:pt x="1093737" y="352349"/>
                </a:lnTo>
                <a:lnTo>
                  <a:pt x="1131489" y="310653"/>
                </a:lnTo>
                <a:lnTo>
                  <a:pt x="1154707" y="254818"/>
                </a:lnTo>
                <a:lnTo>
                  <a:pt x="1162446" y="188316"/>
                </a:lnTo>
                <a:lnTo>
                  <a:pt x="1160505" y="153807"/>
                </a:lnTo>
                <a:lnTo>
                  <a:pt x="1144977" y="92638"/>
                </a:lnTo>
                <a:lnTo>
                  <a:pt x="1114182" y="42843"/>
                </a:lnTo>
                <a:lnTo>
                  <a:pt x="1069683" y="9853"/>
                </a:lnTo>
                <a:lnTo>
                  <a:pt x="1042391" y="0"/>
                </a:lnTo>
                <a:close/>
              </a:path>
              <a:path w="1162685" h="376554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2924556"/>
            <a:ext cx="8051800" cy="294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Suppose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random </a:t>
            </a:r>
            <a:r>
              <a:rPr dirty="0" sz="3200" spc="-10">
                <a:latin typeface="Calibri"/>
                <a:cs typeface="Calibri"/>
              </a:rPr>
              <a:t>walk reaches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state</a:t>
            </a:r>
            <a:endParaRPr sz="3200">
              <a:latin typeface="Calibri"/>
              <a:cs typeface="Calibri"/>
            </a:endParaRPr>
          </a:p>
          <a:p>
            <a:pPr marL="421640">
              <a:lnSpc>
                <a:spcPct val="100000"/>
              </a:lnSpc>
              <a:spcBef>
                <a:spcPts val="145"/>
              </a:spcBef>
              <a:tabLst>
                <a:tab pos="842644" algn="l"/>
                <a:tab pos="2020570" algn="l"/>
                <a:tab pos="2525395" algn="l"/>
                <a:tab pos="4152265" algn="l"/>
                <a:tab pos="4657725" algn="l"/>
              </a:tabLst>
            </a:pPr>
            <a:r>
              <a:rPr dirty="0" sz="3200">
                <a:latin typeface="Cambria Math"/>
                <a:cs typeface="Cambria Math"/>
              </a:rPr>
              <a:t>𝒑	𝒕 + 𝟏	=	𝑴</a:t>
            </a:r>
            <a:r>
              <a:rPr dirty="0" sz="3200" spc="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⋅ </a:t>
            </a:r>
            <a:r>
              <a:rPr dirty="0" sz="3200" spc="-5">
                <a:latin typeface="Cambria Math"/>
                <a:cs typeface="Cambria Math"/>
              </a:rPr>
              <a:t>𝒑(𝒕)	</a:t>
            </a:r>
            <a:r>
              <a:rPr dirty="0" sz="3200">
                <a:latin typeface="Cambria Math"/>
                <a:cs typeface="Cambria Math"/>
              </a:rPr>
              <a:t>=	</a:t>
            </a:r>
            <a:r>
              <a:rPr dirty="0" sz="3200" spc="-5">
                <a:latin typeface="Cambria Math"/>
                <a:cs typeface="Cambria Math"/>
              </a:rPr>
              <a:t>𝒑(𝒕)</a:t>
            </a:r>
            <a:endParaRPr sz="3200">
              <a:latin typeface="Cambria Math"/>
              <a:cs typeface="Cambria Math"/>
            </a:endParaRPr>
          </a:p>
          <a:p>
            <a:pPr marL="350520">
              <a:lnSpc>
                <a:spcPct val="100000"/>
              </a:lnSpc>
              <a:spcBef>
                <a:spcPts val="565"/>
              </a:spcBef>
            </a:pP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 spc="5">
                <a:latin typeface="Cambria Math"/>
                <a:cs typeface="Cambria Math"/>
              </a:rPr>
              <a:t>𝒑(𝑡)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 b="1">
                <a:solidFill>
                  <a:srgbClr val="FF0066"/>
                </a:solidFill>
                <a:latin typeface="Calibri"/>
                <a:cs typeface="Calibri"/>
              </a:rPr>
              <a:t>stationary distribution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random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walk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6229350" algn="l"/>
                <a:tab pos="6649084" algn="l"/>
                <a:tab pos="7153909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Our original </a:t>
            </a:r>
            <a:r>
              <a:rPr dirty="0" sz="3200" spc="-25" b="1">
                <a:solidFill>
                  <a:srgbClr val="0000FF"/>
                </a:solidFill>
                <a:latin typeface="Calibri"/>
                <a:cs typeface="Calibri"/>
              </a:rPr>
              <a:t>rank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vector</a:t>
            </a:r>
            <a:r>
              <a:rPr dirty="0" sz="3200" spc="6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𝒓</a:t>
            </a:r>
            <a:r>
              <a:rPr dirty="0" sz="3200" spc="15">
                <a:latin typeface="Cambria Math"/>
                <a:cs typeface="Cambria Math"/>
              </a:rPr>
              <a:t> </a:t>
            </a:r>
            <a:r>
              <a:rPr dirty="0" sz="3200" spc="-10">
                <a:latin typeface="Calibri"/>
                <a:cs typeface="Calibri"/>
              </a:rPr>
              <a:t>satisfies	</a:t>
            </a:r>
            <a:r>
              <a:rPr dirty="0" sz="3200">
                <a:latin typeface="Cambria Math"/>
                <a:cs typeface="Cambria Math"/>
              </a:rPr>
              <a:t>𝒓	=	𝑴 ⋅</a:t>
            </a:r>
            <a:r>
              <a:rPr dirty="0" sz="3200" spc="-10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𝒓</a:t>
            </a:r>
            <a:endParaRPr sz="3200">
              <a:latin typeface="Cambria Math"/>
              <a:cs typeface="Cambria Math"/>
            </a:endParaRPr>
          </a:p>
          <a:p>
            <a:pPr lvl="1" marL="625475" marR="2244725" indent="-274320">
              <a:lnSpc>
                <a:spcPts val="3310"/>
              </a:lnSpc>
              <a:spcBef>
                <a:spcPts val="8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 b="1">
                <a:solidFill>
                  <a:srgbClr val="008000"/>
                </a:solidFill>
                <a:latin typeface="Calibri"/>
                <a:cs typeface="Calibri"/>
              </a:rPr>
              <a:t>So,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𝒓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is </a:t>
            </a:r>
            <a:r>
              <a:rPr dirty="0" sz="2800" b="1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stationary distribution </a:t>
            </a:r>
            <a:r>
              <a:rPr dirty="0" sz="2800" spc="-225" b="1">
                <a:solidFill>
                  <a:srgbClr val="008000"/>
                </a:solidFill>
                <a:latin typeface="Calibri"/>
                <a:cs typeface="Calibri"/>
              </a:rPr>
              <a:t>for 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random</a:t>
            </a:r>
            <a:r>
              <a:rPr dirty="0" sz="2800" spc="-6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walk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72400" y="2173908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4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1"/>
                </a:lnTo>
                <a:lnTo>
                  <a:pt x="0" y="208446"/>
                </a:lnTo>
                <a:lnTo>
                  <a:pt x="5537" y="256240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6" y="395704"/>
                </a:lnTo>
                <a:lnTo>
                  <a:pt x="161600" y="411386"/>
                </a:lnTo>
                <a:lnTo>
                  <a:pt x="209678" y="416891"/>
                </a:lnTo>
                <a:lnTo>
                  <a:pt x="257756" y="411386"/>
                </a:lnTo>
                <a:lnTo>
                  <a:pt x="301890" y="395704"/>
                </a:lnTo>
                <a:lnTo>
                  <a:pt x="340822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40"/>
                </a:lnTo>
                <a:lnTo>
                  <a:pt x="419357" y="208446"/>
                </a:lnTo>
                <a:lnTo>
                  <a:pt x="413820" y="160651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2" y="45793"/>
                </a:lnTo>
                <a:lnTo>
                  <a:pt x="301890" y="21186"/>
                </a:lnTo>
                <a:lnTo>
                  <a:pt x="257756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886313" y="2181397"/>
            <a:ext cx="2238375" cy="80518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ctr" marR="37465">
              <a:lnSpc>
                <a:spcPct val="100000"/>
              </a:lnSpc>
              <a:spcBef>
                <a:spcPts val="28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j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dirty="0" sz="2750" spc="-55" i="1">
                <a:latin typeface="Times New Roman"/>
                <a:cs typeface="Times New Roman"/>
              </a:rPr>
              <a:t>p</a:t>
            </a:r>
            <a:r>
              <a:rPr dirty="0" sz="2750" spc="-55">
                <a:latin typeface="Times New Roman"/>
                <a:cs typeface="Times New Roman"/>
              </a:rPr>
              <a:t>(</a:t>
            </a:r>
            <a:r>
              <a:rPr dirty="0" sz="2750" spc="-55" i="1">
                <a:latin typeface="Times New Roman"/>
                <a:cs typeface="Times New Roman"/>
              </a:rPr>
              <a:t>t </a:t>
            </a:r>
            <a:r>
              <a:rPr dirty="0" sz="2750" spc="-90">
                <a:latin typeface="Symbol"/>
                <a:cs typeface="Symbol"/>
              </a:rPr>
              <a:t></a:t>
            </a:r>
            <a:r>
              <a:rPr dirty="0" sz="2750" spc="-90">
                <a:latin typeface="Times New Roman"/>
                <a:cs typeface="Times New Roman"/>
              </a:rPr>
              <a:t>1) </a:t>
            </a:r>
            <a:r>
              <a:rPr dirty="0" sz="2750" spc="-110">
                <a:latin typeface="Symbol"/>
                <a:cs typeface="Symbol"/>
              </a:rPr>
              <a:t></a:t>
            </a:r>
            <a:r>
              <a:rPr dirty="0" sz="2750" spc="-110">
                <a:latin typeface="Times New Roman"/>
                <a:cs typeface="Times New Roman"/>
              </a:rPr>
              <a:t> </a:t>
            </a:r>
            <a:r>
              <a:rPr dirty="0" sz="2750" spc="-180">
                <a:latin typeface="Times New Roman"/>
                <a:cs typeface="Times New Roman"/>
              </a:rPr>
              <a:t>M </a:t>
            </a:r>
            <a:r>
              <a:rPr dirty="0" sz="2750" spc="-875">
                <a:latin typeface="Symbol"/>
                <a:cs typeface="Symbol"/>
              </a:rPr>
              <a:t></a:t>
            </a:r>
            <a:r>
              <a:rPr dirty="0" sz="2750" spc="-325">
                <a:latin typeface="Times New Roman"/>
                <a:cs typeface="Times New Roman"/>
              </a:rPr>
              <a:t> </a:t>
            </a:r>
            <a:r>
              <a:rPr dirty="0" sz="2750" spc="-20" i="1">
                <a:latin typeface="Times New Roman"/>
                <a:cs typeface="Times New Roman"/>
              </a:rPr>
              <a:t>p</a:t>
            </a:r>
            <a:r>
              <a:rPr dirty="0" sz="2750" spc="-20">
                <a:latin typeface="Times New Roman"/>
                <a:cs typeface="Times New Roman"/>
              </a:rPr>
              <a:t>(</a:t>
            </a:r>
            <a:r>
              <a:rPr dirty="0" sz="2750" spc="-20" i="1">
                <a:latin typeface="Times New Roman"/>
                <a:cs typeface="Times New Roman"/>
              </a:rPr>
              <a:t>t</a:t>
            </a:r>
            <a:r>
              <a:rPr dirty="0" sz="2750" spc="-20">
                <a:latin typeface="Times New Roman"/>
                <a:cs typeface="Times New Roman"/>
              </a:rPr>
              <a:t>)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72813" y="1375543"/>
            <a:ext cx="379730" cy="859790"/>
          </a:xfrm>
          <a:custGeom>
            <a:avLst/>
            <a:gdLst/>
            <a:ahLst/>
            <a:cxnLst/>
            <a:rect l="l" t="t" r="r" b="b"/>
            <a:pathLst>
              <a:path w="379729" h="859789">
                <a:moveTo>
                  <a:pt x="347410" y="849030"/>
                </a:moveTo>
                <a:lnTo>
                  <a:pt x="361025" y="859478"/>
                </a:lnTo>
                <a:lnTo>
                  <a:pt x="362438" y="849444"/>
                </a:lnTo>
                <a:lnTo>
                  <a:pt x="348397" y="849444"/>
                </a:lnTo>
                <a:lnTo>
                  <a:pt x="347410" y="849030"/>
                </a:lnTo>
                <a:close/>
              </a:path>
              <a:path w="379729" h="859789">
                <a:moveTo>
                  <a:pt x="317066" y="789722"/>
                </a:moveTo>
                <a:lnTo>
                  <a:pt x="338530" y="842215"/>
                </a:lnTo>
                <a:lnTo>
                  <a:pt x="347410" y="849030"/>
                </a:lnTo>
                <a:lnTo>
                  <a:pt x="348397" y="849444"/>
                </a:lnTo>
                <a:lnTo>
                  <a:pt x="363005" y="843471"/>
                </a:lnTo>
                <a:lnTo>
                  <a:pt x="363418" y="842486"/>
                </a:lnTo>
                <a:lnTo>
                  <a:pt x="364980" y="831398"/>
                </a:lnTo>
                <a:lnTo>
                  <a:pt x="364915" y="831240"/>
                </a:lnTo>
                <a:lnTo>
                  <a:pt x="336146" y="831240"/>
                </a:lnTo>
                <a:lnTo>
                  <a:pt x="339562" y="806986"/>
                </a:lnTo>
                <a:lnTo>
                  <a:pt x="317066" y="789722"/>
                </a:lnTo>
                <a:close/>
              </a:path>
              <a:path w="379729" h="859789">
                <a:moveTo>
                  <a:pt x="363418" y="842486"/>
                </a:moveTo>
                <a:lnTo>
                  <a:pt x="363005" y="843471"/>
                </a:lnTo>
                <a:lnTo>
                  <a:pt x="348397" y="849444"/>
                </a:lnTo>
                <a:lnTo>
                  <a:pt x="362438" y="849444"/>
                </a:lnTo>
                <a:lnTo>
                  <a:pt x="363418" y="842486"/>
                </a:lnTo>
                <a:close/>
              </a:path>
              <a:path w="379729" h="859789">
                <a:moveTo>
                  <a:pt x="338530" y="842215"/>
                </a:moveTo>
                <a:lnTo>
                  <a:pt x="340055" y="845944"/>
                </a:lnTo>
                <a:lnTo>
                  <a:pt x="347410" y="849030"/>
                </a:lnTo>
                <a:lnTo>
                  <a:pt x="338530" y="842215"/>
                </a:lnTo>
                <a:close/>
              </a:path>
              <a:path w="379729" h="859789">
                <a:moveTo>
                  <a:pt x="364980" y="831398"/>
                </a:moveTo>
                <a:lnTo>
                  <a:pt x="363418" y="842486"/>
                </a:lnTo>
                <a:lnTo>
                  <a:pt x="366505" y="835129"/>
                </a:lnTo>
                <a:lnTo>
                  <a:pt x="364980" y="831398"/>
                </a:lnTo>
                <a:close/>
              </a:path>
              <a:path w="379729" h="859789">
                <a:moveTo>
                  <a:pt x="274001" y="756673"/>
                </a:moveTo>
                <a:lnTo>
                  <a:pt x="265031" y="757853"/>
                </a:lnTo>
                <a:lnTo>
                  <a:pt x="255423" y="770373"/>
                </a:lnTo>
                <a:lnTo>
                  <a:pt x="256603" y="779341"/>
                </a:lnTo>
                <a:lnTo>
                  <a:pt x="338530" y="842215"/>
                </a:lnTo>
                <a:lnTo>
                  <a:pt x="317066" y="789722"/>
                </a:lnTo>
                <a:lnTo>
                  <a:pt x="274001" y="756673"/>
                </a:lnTo>
                <a:close/>
              </a:path>
              <a:path w="379729" h="859789">
                <a:moveTo>
                  <a:pt x="358313" y="719710"/>
                </a:moveTo>
                <a:lnTo>
                  <a:pt x="351087" y="725152"/>
                </a:lnTo>
                <a:lnTo>
                  <a:pt x="343516" y="778908"/>
                </a:lnTo>
                <a:lnTo>
                  <a:pt x="364980" y="831398"/>
                </a:lnTo>
                <a:lnTo>
                  <a:pt x="379383" y="729137"/>
                </a:lnTo>
                <a:lnTo>
                  <a:pt x="373941" y="721911"/>
                </a:lnTo>
                <a:lnTo>
                  <a:pt x="358313" y="719710"/>
                </a:lnTo>
                <a:close/>
              </a:path>
              <a:path w="379729" h="859789">
                <a:moveTo>
                  <a:pt x="339562" y="806986"/>
                </a:moveTo>
                <a:lnTo>
                  <a:pt x="336146" y="831240"/>
                </a:lnTo>
                <a:lnTo>
                  <a:pt x="358992" y="821898"/>
                </a:lnTo>
                <a:lnTo>
                  <a:pt x="339562" y="806986"/>
                </a:lnTo>
                <a:close/>
              </a:path>
              <a:path w="379729" h="859789">
                <a:moveTo>
                  <a:pt x="343516" y="778908"/>
                </a:moveTo>
                <a:lnTo>
                  <a:pt x="339562" y="806986"/>
                </a:lnTo>
                <a:lnTo>
                  <a:pt x="358992" y="821898"/>
                </a:lnTo>
                <a:lnTo>
                  <a:pt x="336146" y="831240"/>
                </a:lnTo>
                <a:lnTo>
                  <a:pt x="364915" y="831240"/>
                </a:lnTo>
                <a:lnTo>
                  <a:pt x="343516" y="778908"/>
                </a:lnTo>
                <a:close/>
              </a:path>
              <a:path w="379729" h="859789">
                <a:moveTo>
                  <a:pt x="18107" y="0"/>
                </a:moveTo>
                <a:lnTo>
                  <a:pt x="3500" y="5972"/>
                </a:lnTo>
                <a:lnTo>
                  <a:pt x="0" y="14314"/>
                </a:lnTo>
                <a:lnTo>
                  <a:pt x="317066" y="789722"/>
                </a:lnTo>
                <a:lnTo>
                  <a:pt x="339562" y="806986"/>
                </a:lnTo>
                <a:lnTo>
                  <a:pt x="343516" y="778908"/>
                </a:lnTo>
                <a:lnTo>
                  <a:pt x="26450" y="3498"/>
                </a:lnTo>
                <a:lnTo>
                  <a:pt x="181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947440" y="1375910"/>
            <a:ext cx="260350" cy="798195"/>
          </a:xfrm>
          <a:custGeom>
            <a:avLst/>
            <a:gdLst/>
            <a:ahLst/>
            <a:cxnLst/>
            <a:rect l="l" t="t" r="r" b="b"/>
            <a:pathLst>
              <a:path w="260350" h="798194">
                <a:moveTo>
                  <a:pt x="30107" y="781504"/>
                </a:moveTo>
                <a:lnTo>
                  <a:pt x="34621" y="798062"/>
                </a:lnTo>
                <a:lnTo>
                  <a:pt x="46273" y="786517"/>
                </a:lnTo>
                <a:lnTo>
                  <a:pt x="45886" y="786517"/>
                </a:lnTo>
                <a:lnTo>
                  <a:pt x="30642" y="782431"/>
                </a:lnTo>
                <a:lnTo>
                  <a:pt x="30107" y="781504"/>
                </a:lnTo>
                <a:close/>
              </a:path>
              <a:path w="260350" h="798194">
                <a:moveTo>
                  <a:pt x="41847" y="715928"/>
                </a:moveTo>
                <a:lnTo>
                  <a:pt x="27163" y="770705"/>
                </a:lnTo>
                <a:lnTo>
                  <a:pt x="30107" y="781504"/>
                </a:lnTo>
                <a:lnTo>
                  <a:pt x="30642" y="782431"/>
                </a:lnTo>
                <a:lnTo>
                  <a:pt x="45886" y="786517"/>
                </a:lnTo>
                <a:lnTo>
                  <a:pt x="46813" y="785982"/>
                </a:lnTo>
                <a:lnTo>
                  <a:pt x="54764" y="778104"/>
                </a:lnTo>
                <a:lnTo>
                  <a:pt x="57763" y="766916"/>
                </a:lnTo>
                <a:lnTo>
                  <a:pt x="55747" y="766916"/>
                </a:lnTo>
                <a:lnTo>
                  <a:pt x="31907" y="760525"/>
                </a:lnTo>
                <a:lnTo>
                  <a:pt x="49305" y="743286"/>
                </a:lnTo>
                <a:lnTo>
                  <a:pt x="41847" y="715928"/>
                </a:lnTo>
                <a:close/>
              </a:path>
              <a:path w="260350" h="798194">
                <a:moveTo>
                  <a:pt x="46813" y="785982"/>
                </a:moveTo>
                <a:lnTo>
                  <a:pt x="45886" y="786517"/>
                </a:lnTo>
                <a:lnTo>
                  <a:pt x="46273" y="786517"/>
                </a:lnTo>
                <a:lnTo>
                  <a:pt x="46813" y="785982"/>
                </a:lnTo>
                <a:close/>
              </a:path>
              <a:path w="260350" h="798194">
                <a:moveTo>
                  <a:pt x="54764" y="778104"/>
                </a:moveTo>
                <a:lnTo>
                  <a:pt x="46813" y="785982"/>
                </a:lnTo>
                <a:lnTo>
                  <a:pt x="53721" y="781996"/>
                </a:lnTo>
                <a:lnTo>
                  <a:pt x="54764" y="778104"/>
                </a:lnTo>
                <a:close/>
              </a:path>
              <a:path w="260350" h="798194">
                <a:moveTo>
                  <a:pt x="27163" y="770705"/>
                </a:moveTo>
                <a:lnTo>
                  <a:pt x="26120" y="774597"/>
                </a:lnTo>
                <a:lnTo>
                  <a:pt x="30107" y="781504"/>
                </a:lnTo>
                <a:lnTo>
                  <a:pt x="27163" y="770705"/>
                </a:lnTo>
                <a:close/>
              </a:path>
              <a:path w="260350" h="798194">
                <a:moveTo>
                  <a:pt x="108010" y="685118"/>
                </a:moveTo>
                <a:lnTo>
                  <a:pt x="69448" y="723327"/>
                </a:lnTo>
                <a:lnTo>
                  <a:pt x="54764" y="778104"/>
                </a:lnTo>
                <a:lnTo>
                  <a:pt x="128123" y="705416"/>
                </a:lnTo>
                <a:lnTo>
                  <a:pt x="128164" y="696370"/>
                </a:lnTo>
                <a:lnTo>
                  <a:pt x="117057" y="685159"/>
                </a:lnTo>
                <a:lnTo>
                  <a:pt x="108010" y="685118"/>
                </a:lnTo>
                <a:close/>
              </a:path>
              <a:path w="260350" h="798194">
                <a:moveTo>
                  <a:pt x="19715" y="659065"/>
                </a:moveTo>
                <a:lnTo>
                  <a:pt x="4489" y="663215"/>
                </a:lnTo>
                <a:lnTo>
                  <a:pt x="0" y="671069"/>
                </a:lnTo>
                <a:lnTo>
                  <a:pt x="27163" y="770705"/>
                </a:lnTo>
                <a:lnTo>
                  <a:pt x="41847" y="715928"/>
                </a:lnTo>
                <a:lnTo>
                  <a:pt x="27569" y="663553"/>
                </a:lnTo>
                <a:lnTo>
                  <a:pt x="19715" y="659065"/>
                </a:lnTo>
                <a:close/>
              </a:path>
              <a:path w="260350" h="798194">
                <a:moveTo>
                  <a:pt x="49305" y="743286"/>
                </a:moveTo>
                <a:lnTo>
                  <a:pt x="31907" y="760525"/>
                </a:lnTo>
                <a:lnTo>
                  <a:pt x="55747" y="766916"/>
                </a:lnTo>
                <a:lnTo>
                  <a:pt x="49305" y="743286"/>
                </a:lnTo>
                <a:close/>
              </a:path>
              <a:path w="260350" h="798194">
                <a:moveTo>
                  <a:pt x="69448" y="723327"/>
                </a:moveTo>
                <a:lnTo>
                  <a:pt x="49305" y="743286"/>
                </a:lnTo>
                <a:lnTo>
                  <a:pt x="55747" y="766916"/>
                </a:lnTo>
                <a:lnTo>
                  <a:pt x="57763" y="766916"/>
                </a:lnTo>
                <a:lnTo>
                  <a:pt x="69448" y="723327"/>
                </a:lnTo>
                <a:close/>
              </a:path>
              <a:path w="260350" h="798194">
                <a:moveTo>
                  <a:pt x="240395" y="0"/>
                </a:moveTo>
                <a:lnTo>
                  <a:pt x="232561" y="4522"/>
                </a:lnTo>
                <a:lnTo>
                  <a:pt x="41847" y="715928"/>
                </a:lnTo>
                <a:lnTo>
                  <a:pt x="49305" y="743286"/>
                </a:lnTo>
                <a:lnTo>
                  <a:pt x="69448" y="723327"/>
                </a:lnTo>
                <a:lnTo>
                  <a:pt x="260160" y="11921"/>
                </a:lnTo>
                <a:lnTo>
                  <a:pt x="255639" y="4086"/>
                </a:lnTo>
                <a:lnTo>
                  <a:pt x="2403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130301" y="1375782"/>
            <a:ext cx="744220" cy="859790"/>
          </a:xfrm>
          <a:custGeom>
            <a:avLst/>
            <a:gdLst/>
            <a:ahLst/>
            <a:cxnLst/>
            <a:rect l="l" t="t" r="r" b="b"/>
            <a:pathLst>
              <a:path w="744220" h="859789">
                <a:moveTo>
                  <a:pt x="3139" y="842355"/>
                </a:moveTo>
                <a:lnTo>
                  <a:pt x="0" y="859228"/>
                </a:lnTo>
                <a:lnTo>
                  <a:pt x="16005" y="853734"/>
                </a:lnTo>
                <a:lnTo>
                  <a:pt x="15165" y="853734"/>
                </a:lnTo>
                <a:lnTo>
                  <a:pt x="3218" y="843423"/>
                </a:lnTo>
                <a:lnTo>
                  <a:pt x="3139" y="842355"/>
                </a:lnTo>
                <a:close/>
              </a:path>
              <a:path w="744220" h="859789">
                <a:moveTo>
                  <a:pt x="42241" y="788420"/>
                </a:moveTo>
                <a:lnTo>
                  <a:pt x="5187" y="831351"/>
                </a:lnTo>
                <a:lnTo>
                  <a:pt x="3139" y="842355"/>
                </a:lnTo>
                <a:lnTo>
                  <a:pt x="3218" y="843423"/>
                </a:lnTo>
                <a:lnTo>
                  <a:pt x="15165" y="853734"/>
                </a:lnTo>
                <a:lnTo>
                  <a:pt x="16233" y="853656"/>
                </a:lnTo>
                <a:lnTo>
                  <a:pt x="26818" y="850022"/>
                </a:lnTo>
                <a:lnTo>
                  <a:pt x="35144" y="840376"/>
                </a:lnTo>
                <a:lnTo>
                  <a:pt x="32572" y="840376"/>
                </a:lnTo>
                <a:lnTo>
                  <a:pt x="13887" y="824250"/>
                </a:lnTo>
                <a:lnTo>
                  <a:pt x="37053" y="816298"/>
                </a:lnTo>
                <a:lnTo>
                  <a:pt x="42241" y="788420"/>
                </a:lnTo>
                <a:close/>
              </a:path>
              <a:path w="744220" h="859789">
                <a:moveTo>
                  <a:pt x="16233" y="853656"/>
                </a:moveTo>
                <a:lnTo>
                  <a:pt x="15165" y="853734"/>
                </a:lnTo>
                <a:lnTo>
                  <a:pt x="16005" y="853734"/>
                </a:lnTo>
                <a:lnTo>
                  <a:pt x="16233" y="853656"/>
                </a:lnTo>
                <a:close/>
              </a:path>
              <a:path w="744220" h="859789">
                <a:moveTo>
                  <a:pt x="26818" y="850022"/>
                </a:moveTo>
                <a:lnTo>
                  <a:pt x="16233" y="853656"/>
                </a:lnTo>
                <a:lnTo>
                  <a:pt x="24187" y="853071"/>
                </a:lnTo>
                <a:lnTo>
                  <a:pt x="26818" y="850022"/>
                </a:lnTo>
                <a:close/>
              </a:path>
              <a:path w="744220" h="859789">
                <a:moveTo>
                  <a:pt x="115219" y="789466"/>
                </a:moveTo>
                <a:lnTo>
                  <a:pt x="63872" y="807092"/>
                </a:lnTo>
                <a:lnTo>
                  <a:pt x="26818" y="850022"/>
                </a:lnTo>
                <a:lnTo>
                  <a:pt x="124496" y="816493"/>
                </a:lnTo>
                <a:lnTo>
                  <a:pt x="128469" y="808365"/>
                </a:lnTo>
                <a:lnTo>
                  <a:pt x="123346" y="793438"/>
                </a:lnTo>
                <a:lnTo>
                  <a:pt x="115219" y="789466"/>
                </a:lnTo>
                <a:close/>
              </a:path>
              <a:path w="744220" h="859789">
                <a:moveTo>
                  <a:pt x="5187" y="831351"/>
                </a:moveTo>
                <a:lnTo>
                  <a:pt x="2555" y="834401"/>
                </a:lnTo>
                <a:lnTo>
                  <a:pt x="3139" y="842355"/>
                </a:lnTo>
                <a:lnTo>
                  <a:pt x="5187" y="831351"/>
                </a:lnTo>
                <a:close/>
              </a:path>
              <a:path w="744220" h="859789">
                <a:moveTo>
                  <a:pt x="37053" y="816298"/>
                </a:moveTo>
                <a:lnTo>
                  <a:pt x="13887" y="824250"/>
                </a:lnTo>
                <a:lnTo>
                  <a:pt x="32572" y="840376"/>
                </a:lnTo>
                <a:lnTo>
                  <a:pt x="37053" y="816298"/>
                </a:lnTo>
                <a:close/>
              </a:path>
              <a:path w="744220" h="859789">
                <a:moveTo>
                  <a:pt x="63872" y="807092"/>
                </a:moveTo>
                <a:lnTo>
                  <a:pt x="37053" y="816298"/>
                </a:lnTo>
                <a:lnTo>
                  <a:pt x="32572" y="840376"/>
                </a:lnTo>
                <a:lnTo>
                  <a:pt x="35144" y="840376"/>
                </a:lnTo>
                <a:lnTo>
                  <a:pt x="63872" y="807092"/>
                </a:lnTo>
                <a:close/>
              </a:path>
              <a:path w="744220" h="859789">
                <a:moveTo>
                  <a:pt x="31539" y="724703"/>
                </a:moveTo>
                <a:lnTo>
                  <a:pt x="24080" y="729822"/>
                </a:lnTo>
                <a:lnTo>
                  <a:pt x="5187" y="831351"/>
                </a:lnTo>
                <a:lnTo>
                  <a:pt x="42241" y="788420"/>
                </a:lnTo>
                <a:lnTo>
                  <a:pt x="52172" y="735050"/>
                </a:lnTo>
                <a:lnTo>
                  <a:pt x="47054" y="727590"/>
                </a:lnTo>
                <a:lnTo>
                  <a:pt x="31539" y="724703"/>
                </a:lnTo>
                <a:close/>
              </a:path>
              <a:path w="744220" h="859789">
                <a:moveTo>
                  <a:pt x="731182" y="0"/>
                </a:moveTo>
                <a:lnTo>
                  <a:pt x="722160" y="662"/>
                </a:lnTo>
                <a:lnTo>
                  <a:pt x="42241" y="788420"/>
                </a:lnTo>
                <a:lnTo>
                  <a:pt x="37053" y="816298"/>
                </a:lnTo>
                <a:lnTo>
                  <a:pt x="63872" y="807092"/>
                </a:lnTo>
                <a:lnTo>
                  <a:pt x="743792" y="19333"/>
                </a:lnTo>
                <a:lnTo>
                  <a:pt x="743129" y="10311"/>
                </a:lnTo>
                <a:lnTo>
                  <a:pt x="7311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26041" y="1219200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4">
                <a:moveTo>
                  <a:pt x="209679" y="0"/>
                </a:moveTo>
                <a:lnTo>
                  <a:pt x="161601" y="5505"/>
                </a:lnTo>
                <a:lnTo>
                  <a:pt x="117467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7" y="395704"/>
                </a:lnTo>
                <a:lnTo>
                  <a:pt x="161601" y="411386"/>
                </a:lnTo>
                <a:lnTo>
                  <a:pt x="209679" y="416891"/>
                </a:lnTo>
                <a:lnTo>
                  <a:pt x="257756" y="411386"/>
                </a:lnTo>
                <a:lnTo>
                  <a:pt x="301890" y="395704"/>
                </a:lnTo>
                <a:lnTo>
                  <a:pt x="340822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2" y="45793"/>
                </a:lnTo>
                <a:lnTo>
                  <a:pt x="301890" y="21186"/>
                </a:lnTo>
                <a:lnTo>
                  <a:pt x="257756" y="5505"/>
                </a:lnTo>
                <a:lnTo>
                  <a:pt x="2096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341264" y="1251203"/>
            <a:ext cx="187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17094" sz="19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baseline="-17094" sz="19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37241" y="1219200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4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6" y="395704"/>
                </a:lnTo>
                <a:lnTo>
                  <a:pt x="161600" y="411386"/>
                </a:lnTo>
                <a:lnTo>
                  <a:pt x="209678" y="416891"/>
                </a:lnTo>
                <a:lnTo>
                  <a:pt x="257755" y="411386"/>
                </a:lnTo>
                <a:lnTo>
                  <a:pt x="301889" y="395704"/>
                </a:lnTo>
                <a:lnTo>
                  <a:pt x="340821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1" y="45793"/>
                </a:lnTo>
                <a:lnTo>
                  <a:pt x="301889" y="21186"/>
                </a:lnTo>
                <a:lnTo>
                  <a:pt x="257755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052464" y="1251203"/>
            <a:ext cx="187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17094" sz="19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baseline="-17094" sz="19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648441" y="1219200"/>
            <a:ext cx="419734" cy="417195"/>
          </a:xfrm>
          <a:custGeom>
            <a:avLst/>
            <a:gdLst/>
            <a:ahLst/>
            <a:cxnLst/>
            <a:rect l="l" t="t" r="r" b="b"/>
            <a:pathLst>
              <a:path w="419734" h="417194">
                <a:moveTo>
                  <a:pt x="209678" y="0"/>
                </a:moveTo>
                <a:lnTo>
                  <a:pt x="161600" y="5505"/>
                </a:lnTo>
                <a:lnTo>
                  <a:pt x="117466" y="21186"/>
                </a:lnTo>
                <a:lnTo>
                  <a:pt x="78535" y="45793"/>
                </a:lnTo>
                <a:lnTo>
                  <a:pt x="46063" y="78073"/>
                </a:lnTo>
                <a:lnTo>
                  <a:pt x="21311" y="116776"/>
                </a:lnTo>
                <a:lnTo>
                  <a:pt x="5537" y="160650"/>
                </a:lnTo>
                <a:lnTo>
                  <a:pt x="0" y="208445"/>
                </a:lnTo>
                <a:lnTo>
                  <a:pt x="5537" y="256239"/>
                </a:lnTo>
                <a:lnTo>
                  <a:pt x="21311" y="300114"/>
                </a:lnTo>
                <a:lnTo>
                  <a:pt x="46063" y="338817"/>
                </a:lnTo>
                <a:lnTo>
                  <a:pt x="78535" y="371098"/>
                </a:lnTo>
                <a:lnTo>
                  <a:pt x="117466" y="395704"/>
                </a:lnTo>
                <a:lnTo>
                  <a:pt x="161600" y="411386"/>
                </a:lnTo>
                <a:lnTo>
                  <a:pt x="209678" y="416891"/>
                </a:lnTo>
                <a:lnTo>
                  <a:pt x="257755" y="411386"/>
                </a:lnTo>
                <a:lnTo>
                  <a:pt x="301889" y="395704"/>
                </a:lnTo>
                <a:lnTo>
                  <a:pt x="340821" y="371098"/>
                </a:lnTo>
                <a:lnTo>
                  <a:pt x="373293" y="338817"/>
                </a:lnTo>
                <a:lnTo>
                  <a:pt x="398045" y="300114"/>
                </a:lnTo>
                <a:lnTo>
                  <a:pt x="413820" y="256239"/>
                </a:lnTo>
                <a:lnTo>
                  <a:pt x="419357" y="208445"/>
                </a:lnTo>
                <a:lnTo>
                  <a:pt x="413820" y="160650"/>
                </a:lnTo>
                <a:lnTo>
                  <a:pt x="398045" y="116776"/>
                </a:lnTo>
                <a:lnTo>
                  <a:pt x="373293" y="78073"/>
                </a:lnTo>
                <a:lnTo>
                  <a:pt x="340821" y="45793"/>
                </a:lnTo>
                <a:lnTo>
                  <a:pt x="301889" y="21186"/>
                </a:lnTo>
                <a:lnTo>
                  <a:pt x="257755" y="5505"/>
                </a:lnTo>
                <a:lnTo>
                  <a:pt x="2096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763664" y="1251203"/>
            <a:ext cx="187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17094" sz="19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baseline="-17094" sz="19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34263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17793" y="1945187"/>
            <a:ext cx="915035" cy="378460"/>
          </a:xfrm>
          <a:custGeom>
            <a:avLst/>
            <a:gdLst/>
            <a:ahLst/>
            <a:cxnLst/>
            <a:rect l="l" t="t" r="r" b="b"/>
            <a:pathLst>
              <a:path w="915035" h="378460">
                <a:moveTo>
                  <a:pt x="793234" y="0"/>
                </a:moveTo>
                <a:lnTo>
                  <a:pt x="788074" y="0"/>
                </a:lnTo>
                <a:lnTo>
                  <a:pt x="788074" y="15081"/>
                </a:lnTo>
                <a:lnTo>
                  <a:pt x="791051" y="15081"/>
                </a:lnTo>
                <a:lnTo>
                  <a:pt x="804656" y="16017"/>
                </a:lnTo>
                <a:lnTo>
                  <a:pt x="843215" y="38775"/>
                </a:lnTo>
                <a:lnTo>
                  <a:pt x="852368" y="79573"/>
                </a:lnTo>
                <a:lnTo>
                  <a:pt x="852120" y="86927"/>
                </a:lnTo>
                <a:lnTo>
                  <a:pt x="851375" y="95100"/>
                </a:lnTo>
                <a:lnTo>
                  <a:pt x="850135" y="104092"/>
                </a:lnTo>
                <a:lnTo>
                  <a:pt x="848399" y="113902"/>
                </a:lnTo>
                <a:lnTo>
                  <a:pt x="846663" y="123390"/>
                </a:lnTo>
                <a:lnTo>
                  <a:pt x="845422" y="131414"/>
                </a:lnTo>
                <a:lnTo>
                  <a:pt x="844678" y="137975"/>
                </a:lnTo>
                <a:lnTo>
                  <a:pt x="844430" y="143073"/>
                </a:lnTo>
                <a:lnTo>
                  <a:pt x="845050" y="151128"/>
                </a:lnTo>
                <a:lnTo>
                  <a:pt x="871356" y="183796"/>
                </a:lnTo>
                <a:lnTo>
                  <a:pt x="877966" y="186729"/>
                </a:lnTo>
                <a:lnTo>
                  <a:pt x="877966" y="190300"/>
                </a:lnTo>
                <a:lnTo>
                  <a:pt x="846911" y="218603"/>
                </a:lnTo>
                <a:lnTo>
                  <a:pt x="844430" y="233956"/>
                </a:lnTo>
                <a:lnTo>
                  <a:pt x="844678" y="239054"/>
                </a:lnTo>
                <a:lnTo>
                  <a:pt x="845422" y="245615"/>
                </a:lnTo>
                <a:lnTo>
                  <a:pt x="846663" y="253639"/>
                </a:lnTo>
                <a:lnTo>
                  <a:pt x="848399" y="263127"/>
                </a:lnTo>
                <a:lnTo>
                  <a:pt x="850135" y="272937"/>
                </a:lnTo>
                <a:lnTo>
                  <a:pt x="851375" y="281929"/>
                </a:lnTo>
                <a:lnTo>
                  <a:pt x="852120" y="290102"/>
                </a:lnTo>
                <a:lnTo>
                  <a:pt x="852368" y="297456"/>
                </a:lnTo>
                <a:lnTo>
                  <a:pt x="851351" y="314107"/>
                </a:lnTo>
                <a:lnTo>
                  <a:pt x="827179" y="354911"/>
                </a:lnTo>
                <a:lnTo>
                  <a:pt x="791051" y="363338"/>
                </a:lnTo>
                <a:lnTo>
                  <a:pt x="788074" y="363338"/>
                </a:lnTo>
                <a:lnTo>
                  <a:pt x="788074" y="378419"/>
                </a:lnTo>
                <a:lnTo>
                  <a:pt x="793234" y="378419"/>
                </a:lnTo>
                <a:lnTo>
                  <a:pt x="815080" y="376788"/>
                </a:lnTo>
                <a:lnTo>
                  <a:pt x="862984" y="357088"/>
                </a:lnTo>
                <a:lnTo>
                  <a:pt x="884658" y="313834"/>
                </a:lnTo>
                <a:lnTo>
                  <a:pt x="886103" y="293885"/>
                </a:lnTo>
                <a:lnTo>
                  <a:pt x="885811" y="285365"/>
                </a:lnTo>
                <a:lnTo>
                  <a:pt x="884937" y="276274"/>
                </a:lnTo>
                <a:lnTo>
                  <a:pt x="883479" y="266612"/>
                </a:lnTo>
                <a:lnTo>
                  <a:pt x="881439" y="256381"/>
                </a:lnTo>
                <a:lnTo>
                  <a:pt x="879399" y="246731"/>
                </a:lnTo>
                <a:lnTo>
                  <a:pt x="877942" y="238819"/>
                </a:lnTo>
                <a:lnTo>
                  <a:pt x="877067" y="232642"/>
                </a:lnTo>
                <a:lnTo>
                  <a:pt x="876776" y="228202"/>
                </a:lnTo>
                <a:lnTo>
                  <a:pt x="876776" y="219075"/>
                </a:lnTo>
                <a:lnTo>
                  <a:pt x="914678" y="196650"/>
                </a:lnTo>
                <a:lnTo>
                  <a:pt x="914678" y="180379"/>
                </a:lnTo>
                <a:lnTo>
                  <a:pt x="876776" y="157956"/>
                </a:lnTo>
                <a:lnTo>
                  <a:pt x="876776" y="148827"/>
                </a:lnTo>
                <a:lnTo>
                  <a:pt x="877067" y="144387"/>
                </a:lnTo>
                <a:lnTo>
                  <a:pt x="877985" y="137975"/>
                </a:lnTo>
                <a:lnTo>
                  <a:pt x="879399" y="130298"/>
                </a:lnTo>
                <a:lnTo>
                  <a:pt x="881439" y="120650"/>
                </a:lnTo>
                <a:lnTo>
                  <a:pt x="883479" y="110417"/>
                </a:lnTo>
                <a:lnTo>
                  <a:pt x="884937" y="100756"/>
                </a:lnTo>
                <a:lnTo>
                  <a:pt x="885811" y="91664"/>
                </a:lnTo>
                <a:lnTo>
                  <a:pt x="886103" y="83144"/>
                </a:lnTo>
                <a:lnTo>
                  <a:pt x="884658" y="63803"/>
                </a:lnTo>
                <a:lnTo>
                  <a:pt x="862984" y="21332"/>
                </a:lnTo>
                <a:lnTo>
                  <a:pt x="815080" y="1630"/>
                </a:lnTo>
                <a:lnTo>
                  <a:pt x="793234" y="0"/>
                </a:lnTo>
                <a:close/>
              </a:path>
              <a:path w="915035" h="378460">
                <a:moveTo>
                  <a:pt x="126602" y="0"/>
                </a:moveTo>
                <a:lnTo>
                  <a:pt x="121443" y="0"/>
                </a:lnTo>
                <a:lnTo>
                  <a:pt x="99597" y="1630"/>
                </a:lnTo>
                <a:lnTo>
                  <a:pt x="51692" y="21332"/>
                </a:lnTo>
                <a:lnTo>
                  <a:pt x="30019" y="63691"/>
                </a:lnTo>
                <a:lnTo>
                  <a:pt x="28575" y="82946"/>
                </a:lnTo>
                <a:lnTo>
                  <a:pt x="28866" y="91466"/>
                </a:lnTo>
                <a:lnTo>
                  <a:pt x="29740" y="100557"/>
                </a:lnTo>
                <a:lnTo>
                  <a:pt x="31198" y="110219"/>
                </a:lnTo>
                <a:lnTo>
                  <a:pt x="33238" y="120450"/>
                </a:lnTo>
                <a:lnTo>
                  <a:pt x="35278" y="130099"/>
                </a:lnTo>
                <a:lnTo>
                  <a:pt x="36736" y="138012"/>
                </a:lnTo>
                <a:lnTo>
                  <a:pt x="37610" y="144189"/>
                </a:lnTo>
                <a:lnTo>
                  <a:pt x="37901" y="148629"/>
                </a:lnTo>
                <a:lnTo>
                  <a:pt x="37901" y="157756"/>
                </a:lnTo>
                <a:lnTo>
                  <a:pt x="0" y="180181"/>
                </a:lnTo>
                <a:lnTo>
                  <a:pt x="0" y="196452"/>
                </a:lnTo>
                <a:lnTo>
                  <a:pt x="37901" y="218875"/>
                </a:lnTo>
                <a:lnTo>
                  <a:pt x="37901" y="228004"/>
                </a:lnTo>
                <a:lnTo>
                  <a:pt x="37610" y="232444"/>
                </a:lnTo>
                <a:lnTo>
                  <a:pt x="36692" y="238856"/>
                </a:lnTo>
                <a:lnTo>
                  <a:pt x="35278" y="246533"/>
                </a:lnTo>
                <a:lnTo>
                  <a:pt x="33238" y="256181"/>
                </a:lnTo>
                <a:lnTo>
                  <a:pt x="31198" y="266414"/>
                </a:lnTo>
                <a:lnTo>
                  <a:pt x="29740" y="276075"/>
                </a:lnTo>
                <a:lnTo>
                  <a:pt x="28866" y="285166"/>
                </a:lnTo>
                <a:lnTo>
                  <a:pt x="28575" y="293687"/>
                </a:lnTo>
                <a:lnTo>
                  <a:pt x="30019" y="313723"/>
                </a:lnTo>
                <a:lnTo>
                  <a:pt x="51692" y="357088"/>
                </a:lnTo>
                <a:lnTo>
                  <a:pt x="99597" y="376788"/>
                </a:lnTo>
                <a:lnTo>
                  <a:pt x="121443" y="378419"/>
                </a:lnTo>
                <a:lnTo>
                  <a:pt x="126602" y="378419"/>
                </a:lnTo>
                <a:lnTo>
                  <a:pt x="126602" y="363338"/>
                </a:lnTo>
                <a:lnTo>
                  <a:pt x="123626" y="363338"/>
                </a:lnTo>
                <a:lnTo>
                  <a:pt x="110021" y="362401"/>
                </a:lnTo>
                <a:lnTo>
                  <a:pt x="71462" y="339544"/>
                </a:lnTo>
                <a:lnTo>
                  <a:pt x="62308" y="297258"/>
                </a:lnTo>
                <a:lnTo>
                  <a:pt x="62556" y="289903"/>
                </a:lnTo>
                <a:lnTo>
                  <a:pt x="63301" y="281730"/>
                </a:lnTo>
                <a:lnTo>
                  <a:pt x="64541" y="272739"/>
                </a:lnTo>
                <a:lnTo>
                  <a:pt x="66277" y="262929"/>
                </a:lnTo>
                <a:lnTo>
                  <a:pt x="68014" y="253441"/>
                </a:lnTo>
                <a:lnTo>
                  <a:pt x="69254" y="245417"/>
                </a:lnTo>
                <a:lnTo>
                  <a:pt x="69998" y="238856"/>
                </a:lnTo>
                <a:lnTo>
                  <a:pt x="70246" y="233758"/>
                </a:lnTo>
                <a:lnTo>
                  <a:pt x="69626" y="225703"/>
                </a:lnTo>
                <a:lnTo>
                  <a:pt x="43321" y="193035"/>
                </a:lnTo>
                <a:lnTo>
                  <a:pt x="36710" y="190102"/>
                </a:lnTo>
                <a:lnTo>
                  <a:pt x="36710" y="186531"/>
                </a:lnTo>
                <a:lnTo>
                  <a:pt x="67765" y="158228"/>
                </a:lnTo>
                <a:lnTo>
                  <a:pt x="70246" y="142875"/>
                </a:lnTo>
                <a:lnTo>
                  <a:pt x="69998" y="137777"/>
                </a:lnTo>
                <a:lnTo>
                  <a:pt x="69254" y="131216"/>
                </a:lnTo>
                <a:lnTo>
                  <a:pt x="68014" y="123192"/>
                </a:lnTo>
                <a:lnTo>
                  <a:pt x="66277" y="113704"/>
                </a:lnTo>
                <a:lnTo>
                  <a:pt x="64541" y="103894"/>
                </a:lnTo>
                <a:lnTo>
                  <a:pt x="63301" y="94902"/>
                </a:lnTo>
                <a:lnTo>
                  <a:pt x="62556" y="86729"/>
                </a:lnTo>
                <a:lnTo>
                  <a:pt x="62308" y="79375"/>
                </a:lnTo>
                <a:lnTo>
                  <a:pt x="63325" y="63419"/>
                </a:lnTo>
                <a:lnTo>
                  <a:pt x="87498" y="23508"/>
                </a:lnTo>
                <a:lnTo>
                  <a:pt x="123626" y="15081"/>
                </a:lnTo>
                <a:lnTo>
                  <a:pt x="126602" y="15081"/>
                </a:lnTo>
                <a:lnTo>
                  <a:pt x="12660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93734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Recall from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lecture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2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(eigenvector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centrality),</a:t>
            </a:r>
            <a:r>
              <a:rPr dirty="0" spc="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let</a:t>
            </a:r>
          </a:p>
          <a:p>
            <a:pPr marL="332105">
              <a:lnSpc>
                <a:spcPts val="3815"/>
              </a:lnSpc>
              <a:tabLst>
                <a:tab pos="1237615" algn="l"/>
                <a:tab pos="2032635" algn="l"/>
              </a:tabLst>
            </a:pPr>
            <a:r>
              <a:rPr dirty="0" b="0">
                <a:solidFill>
                  <a:srgbClr val="0000FF"/>
                </a:solidFill>
                <a:latin typeface="Cambria Math"/>
                <a:cs typeface="Cambria Math"/>
              </a:rPr>
              <a:t>𝑨</a:t>
            </a:r>
            <a:r>
              <a:rPr dirty="0" spc="175" b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FF"/>
                </a:solidFill>
                <a:latin typeface="Cambria Math"/>
                <a:cs typeface="Cambria Math"/>
              </a:rPr>
              <a:t>∈	</a:t>
            </a:r>
            <a:r>
              <a:rPr dirty="0" spc="-5" b="0">
                <a:solidFill>
                  <a:srgbClr val="0000FF"/>
                </a:solidFill>
                <a:latin typeface="Cambria Math"/>
                <a:cs typeface="Cambria Math"/>
              </a:rPr>
              <a:t>𝟎,</a:t>
            </a:r>
            <a:r>
              <a:rPr dirty="0" spc="-165" b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FF"/>
                </a:solidFill>
                <a:latin typeface="Cambria Math"/>
                <a:cs typeface="Cambria Math"/>
              </a:rPr>
              <a:t>𝟏	</a:t>
            </a:r>
            <a:r>
              <a:rPr dirty="0" baseline="28985" sz="3450" spc="0" b="0">
                <a:solidFill>
                  <a:srgbClr val="0000FF"/>
                </a:solidFill>
                <a:latin typeface="Cambria Math"/>
                <a:cs typeface="Cambria Math"/>
              </a:rPr>
              <a:t>𝒏×𝒏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be an 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adj. matrix of </a:t>
            </a:r>
            <a:r>
              <a:rPr dirty="0" sz="3200" spc="-55" b="0">
                <a:solidFill>
                  <a:srgbClr val="000000"/>
                </a:solidFill>
                <a:latin typeface="Calibri"/>
                <a:cs typeface="Calibri"/>
              </a:rPr>
              <a:t>undir.</a:t>
            </a:r>
            <a:r>
              <a:rPr dirty="0" sz="3200" spc="1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graph: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50701" y="2603704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20643" y="2603704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0703" y="3289504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0054" y="2577235"/>
            <a:ext cx="1738630" cy="376555"/>
          </a:xfrm>
          <a:custGeom>
            <a:avLst/>
            <a:gdLst/>
            <a:ahLst/>
            <a:cxnLst/>
            <a:rect l="l" t="t" r="r" b="b"/>
            <a:pathLst>
              <a:path w="1738629" h="376555">
                <a:moveTo>
                  <a:pt x="1738160" y="376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4127" y="3395471"/>
            <a:ext cx="405384" cy="405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66434" y="341269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19" y="0"/>
                </a:moveTo>
                <a:lnTo>
                  <a:pt x="109441" y="8158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8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66434" y="341269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40137" y="34132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83208" y="2395727"/>
            <a:ext cx="408431" cy="408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26678" y="2414761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19" y="320040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26678" y="2414761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97307" y="24165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08960" y="2782823"/>
            <a:ext cx="408432" cy="408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52980" y="280165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52980" y="280165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93976" y="3115055"/>
            <a:ext cx="405384" cy="405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136373" y="313266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19" y="320039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36373" y="313266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239832" y="279146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7"/>
              </a:rPr>
              <a:t>http://cs224w.stanford.edu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24" name="object 24"/>
          <p:cNvSpPr txBox="1"/>
          <p:nvPr/>
        </p:nvSpPr>
        <p:spPr>
          <a:xfrm>
            <a:off x="2219703" y="31572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06883" y="2570787"/>
            <a:ext cx="1320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140">
                <a:latin typeface="Symbol"/>
                <a:cs typeface="Symbol"/>
              </a:rPr>
              <a:t>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06883" y="3502464"/>
            <a:ext cx="161226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92250" algn="l"/>
              </a:tabLst>
            </a:pPr>
            <a:r>
              <a:rPr dirty="0" sz="1800" spc="140">
                <a:latin typeface="Symbol"/>
                <a:cs typeface="Symbol"/>
              </a:rPr>
              <a:t></a:t>
            </a:r>
            <a:r>
              <a:rPr dirty="0" sz="1800" spc="140">
                <a:latin typeface="Times New Roman"/>
                <a:cs typeface="Times New Roman"/>
              </a:rPr>
              <a:t>	</a:t>
            </a:r>
            <a:r>
              <a:rPr dirty="0" sz="1800" spc="140">
                <a:latin typeface="Symbol"/>
                <a:cs typeface="Symbol"/>
              </a:rPr>
              <a:t>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06883" y="3236088"/>
            <a:ext cx="2971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-275">
                <a:latin typeface="Symbol"/>
                <a:cs typeface="Symbol"/>
              </a:rPr>
              <a:t></a:t>
            </a:r>
            <a:r>
              <a:rPr dirty="0" baseline="-29320" sz="2700" spc="-412">
                <a:latin typeface="Symbol"/>
                <a:cs typeface="Symbol"/>
              </a:rPr>
              <a:t></a:t>
            </a:r>
            <a:r>
              <a:rPr dirty="0" baseline="-29320" sz="2700" spc="-509">
                <a:latin typeface="Times New Roman"/>
                <a:cs typeface="Times New Roman"/>
              </a:rPr>
              <a:t> </a:t>
            </a:r>
            <a:r>
              <a:rPr dirty="0" baseline="-50925" sz="2700" spc="277">
                <a:latin typeface="Times New Roman"/>
                <a:cs typeface="Times New Roman"/>
              </a:rPr>
              <a:t>1</a:t>
            </a:r>
            <a:endParaRPr baseline="-50925" sz="2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23838" y="3014338"/>
            <a:ext cx="29527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20061" sz="2700" spc="555">
                <a:latin typeface="Times New Roman"/>
                <a:cs typeface="Times New Roman"/>
              </a:rPr>
              <a:t>1</a:t>
            </a:r>
            <a:r>
              <a:rPr dirty="0" sz="1800" spc="-15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06883" y="3014338"/>
            <a:ext cx="29908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140">
                <a:latin typeface="Symbol"/>
                <a:cs typeface="Symbol"/>
              </a:rPr>
              <a:t></a:t>
            </a:r>
            <a:r>
              <a:rPr dirty="0" sz="1800" spc="-330">
                <a:latin typeface="Times New Roman"/>
                <a:cs typeface="Times New Roman"/>
              </a:rPr>
              <a:t> </a:t>
            </a:r>
            <a:r>
              <a:rPr dirty="0" baseline="-20061" sz="2700" spc="277">
                <a:latin typeface="Times New Roman"/>
                <a:cs typeface="Times New Roman"/>
              </a:rPr>
              <a:t>0</a:t>
            </a:r>
            <a:endParaRPr baseline="-20061" sz="2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06883" y="2405675"/>
            <a:ext cx="1612265" cy="1344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r" marR="5080">
              <a:lnSpc>
                <a:spcPts val="1730"/>
              </a:lnSpc>
              <a:spcBef>
                <a:spcPts val="120"/>
              </a:spcBef>
              <a:tabLst>
                <a:tab pos="527050" algn="l"/>
                <a:tab pos="923925" algn="l"/>
                <a:tab pos="1316355" algn="l"/>
              </a:tabLst>
            </a:pPr>
            <a:r>
              <a:rPr dirty="0" baseline="-4629" sz="2700" spc="209">
                <a:latin typeface="Symbol"/>
                <a:cs typeface="Symbol"/>
              </a:rPr>
              <a:t></a:t>
            </a:r>
            <a:r>
              <a:rPr dirty="0" baseline="-4629" sz="2700" spc="-352">
                <a:latin typeface="Times New Roman"/>
                <a:cs typeface="Times New Roman"/>
              </a:rPr>
              <a:t> 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370">
                <a:latin typeface="Times New Roman"/>
                <a:cs typeface="Times New Roman"/>
              </a:rPr>
              <a:t>1</a:t>
            </a:r>
            <a:r>
              <a:rPr dirty="0" baseline="-4629" sz="2700" spc="209">
                <a:latin typeface="Symbol"/>
                <a:cs typeface="Symbol"/>
              </a:rPr>
              <a:t></a:t>
            </a:r>
            <a:endParaRPr baseline="-4629" sz="2700">
              <a:latin typeface="Symbol"/>
              <a:cs typeface="Symbol"/>
            </a:endParaRPr>
          </a:p>
          <a:p>
            <a:pPr algn="r" marR="5080">
              <a:lnSpc>
                <a:spcPts val="1365"/>
              </a:lnSpc>
            </a:pPr>
            <a:r>
              <a:rPr dirty="0" sz="1800" spc="-15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  <a:p>
            <a:pPr marL="541655">
              <a:lnSpc>
                <a:spcPts val="1795"/>
              </a:lnSpc>
              <a:tabLst>
                <a:tab pos="936625" algn="l"/>
                <a:tab pos="1329055" algn="l"/>
              </a:tabLst>
            </a:pP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370">
                <a:latin typeface="Times New Roman"/>
                <a:cs typeface="Times New Roman"/>
              </a:rPr>
              <a:t>1</a:t>
            </a:r>
            <a:r>
              <a:rPr dirty="0" baseline="-9259" sz="2700" spc="-225">
                <a:latin typeface="Symbol"/>
                <a:cs typeface="Symbol"/>
              </a:rPr>
              <a:t></a:t>
            </a:r>
            <a:endParaRPr baseline="-9259" sz="2700">
              <a:latin typeface="Symbol"/>
              <a:cs typeface="Symbol"/>
            </a:endParaRPr>
          </a:p>
          <a:p>
            <a:pPr marL="541655">
              <a:lnSpc>
                <a:spcPct val="100000"/>
              </a:lnSpc>
              <a:spcBef>
                <a:spcPts val="570"/>
              </a:spcBef>
              <a:tabLst>
                <a:tab pos="936625" algn="l"/>
                <a:tab pos="1492250" algn="l"/>
              </a:tabLst>
            </a:pP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baseline="-32407" sz="2700" spc="-1485">
                <a:latin typeface="Symbol"/>
                <a:cs typeface="Symbol"/>
              </a:rPr>
              <a:t></a:t>
            </a:r>
            <a:r>
              <a:rPr dirty="0" baseline="-61728" sz="2700" spc="-225">
                <a:latin typeface="Symbol"/>
                <a:cs typeface="Symbol"/>
              </a:rPr>
              <a:t></a:t>
            </a:r>
            <a:endParaRPr baseline="-61728" sz="2700">
              <a:latin typeface="Symbol"/>
              <a:cs typeface="Symbol"/>
            </a:endParaRPr>
          </a:p>
          <a:p>
            <a:pPr marL="539750">
              <a:lnSpc>
                <a:spcPct val="100000"/>
              </a:lnSpc>
              <a:spcBef>
                <a:spcPts val="570"/>
              </a:spcBef>
              <a:tabLst>
                <a:tab pos="934085" algn="l"/>
                <a:tab pos="1331595" algn="l"/>
              </a:tabLst>
            </a:pPr>
            <a:r>
              <a:rPr dirty="0" sz="1800" spc="185">
                <a:latin typeface="Times New Roman"/>
                <a:cs typeface="Times New Roman"/>
              </a:rPr>
              <a:t>1	1	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72963" y="2922733"/>
            <a:ext cx="73088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229" i="1">
                <a:latin typeface="Times New Roman"/>
                <a:cs typeface="Times New Roman"/>
              </a:rPr>
              <a:t>A</a:t>
            </a:r>
            <a:r>
              <a:rPr dirty="0" sz="1800" spc="-50" i="1">
                <a:latin typeface="Times New Roman"/>
                <a:cs typeface="Times New Roman"/>
              </a:rPr>
              <a:t> </a:t>
            </a:r>
            <a:r>
              <a:rPr dirty="0" sz="1800" spc="204">
                <a:latin typeface="Symbol"/>
                <a:cs typeface="Symbol"/>
              </a:rPr>
              <a:t>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baseline="30864" sz="2700" spc="209">
                <a:latin typeface="Symbol"/>
                <a:cs typeface="Symbol"/>
              </a:rPr>
              <a:t></a:t>
            </a:r>
            <a:r>
              <a:rPr dirty="0" baseline="30864" sz="2700" spc="-405">
                <a:latin typeface="Times New Roman"/>
                <a:cs typeface="Times New Roman"/>
              </a:rPr>
              <a:t> </a:t>
            </a:r>
            <a:r>
              <a:rPr dirty="0" baseline="41666" sz="2700" spc="277">
                <a:latin typeface="Times New Roman"/>
                <a:cs typeface="Times New Roman"/>
              </a:rPr>
              <a:t>1</a:t>
            </a:r>
            <a:endParaRPr baseline="41666" sz="2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8108" y="3787140"/>
            <a:ext cx="7085330" cy="282765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32740" marR="1380490" indent="-320040">
              <a:lnSpc>
                <a:spcPct val="101299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3332479" algn="l"/>
              </a:tabLst>
            </a:pPr>
            <a:r>
              <a:rPr dirty="0" sz="3200" spc="-15">
                <a:latin typeface="Calibri"/>
                <a:cs typeface="Calibri"/>
              </a:rPr>
              <a:t>Eigenvector </a:t>
            </a:r>
            <a:r>
              <a:rPr dirty="0" sz="3200" spc="-5">
                <a:latin typeface="Calibri"/>
                <a:cs typeface="Calibri"/>
              </a:rPr>
              <a:t>of adjacency matrix: </a:t>
            </a:r>
            <a:r>
              <a:rPr dirty="0" baseline="1736" sz="4800" spc="-7">
                <a:latin typeface="Calibri"/>
                <a:cs typeface="Calibri"/>
              </a:rPr>
              <a:t> </a:t>
            </a:r>
            <a:r>
              <a:rPr dirty="0" baseline="1736" sz="4800" spc="-30">
                <a:latin typeface="Calibri"/>
                <a:cs typeface="Calibri"/>
              </a:rPr>
              <a:t>vectors</a:t>
            </a:r>
            <a:r>
              <a:rPr dirty="0" baseline="1736" sz="4800" spc="15">
                <a:latin typeface="Calibri"/>
                <a:cs typeface="Calibri"/>
              </a:rPr>
              <a:t> </a:t>
            </a:r>
            <a:r>
              <a:rPr dirty="0" baseline="1736" sz="4800" spc="-15">
                <a:latin typeface="Calibri"/>
                <a:cs typeface="Calibri"/>
              </a:rPr>
              <a:t>satisfying	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𝜆𝒄 =</a:t>
            </a:r>
            <a:r>
              <a:rPr dirty="0" sz="2800" spc="204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800" spc="-5">
                <a:solidFill>
                  <a:srgbClr val="0000FF"/>
                </a:solidFill>
                <a:latin typeface="Cambria Math"/>
                <a:cs typeface="Cambria Math"/>
              </a:rPr>
              <a:t>𝑨𝒄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0000FF"/>
                </a:solidFill>
                <a:latin typeface="Cambria Math"/>
                <a:cs typeface="Cambria Math"/>
              </a:rPr>
              <a:t>𝒄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-15">
                <a:latin typeface="Calibri"/>
                <a:cs typeface="Calibri"/>
              </a:rPr>
              <a:t>eigenvector; </a:t>
            </a:r>
            <a:r>
              <a:rPr dirty="0" sz="3200" spc="25">
                <a:solidFill>
                  <a:srgbClr val="0000FF"/>
                </a:solidFill>
                <a:latin typeface="Cambria Math"/>
                <a:cs typeface="Cambria Math"/>
              </a:rPr>
              <a:t>𝜆</a:t>
            </a:r>
            <a:r>
              <a:rPr dirty="0" sz="3200" spc="25">
                <a:latin typeface="Calibri"/>
                <a:cs typeface="Calibri"/>
              </a:rPr>
              <a:t>: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eigenvalue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95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000" spc="-10">
                <a:solidFill>
                  <a:srgbClr val="008000"/>
                </a:solidFill>
                <a:latin typeface="Calibri"/>
                <a:cs typeface="Calibri"/>
              </a:rPr>
              <a:t>Note:</a:t>
            </a:r>
            <a:endParaRPr sz="2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90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1800" spc="-5">
                <a:solidFill>
                  <a:srgbClr val="008000"/>
                </a:solidFill>
                <a:latin typeface="Calibri"/>
                <a:cs typeface="Calibri"/>
              </a:rPr>
              <a:t>This is the definition </a:t>
            </a:r>
            <a:r>
              <a:rPr dirty="0" sz="180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dirty="0" sz="1800" spc="-10">
                <a:solidFill>
                  <a:srgbClr val="008000"/>
                </a:solidFill>
                <a:latin typeface="Calibri"/>
                <a:cs typeface="Calibri"/>
              </a:rPr>
              <a:t>eigenvector centrality (for undirected</a:t>
            </a:r>
            <a:r>
              <a:rPr dirty="0" sz="1800" spc="15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alibri"/>
                <a:cs typeface="Calibri"/>
              </a:rPr>
              <a:t>graphs).</a:t>
            </a:r>
            <a:endParaRPr sz="1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55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</a:tabLst>
            </a:pPr>
            <a:r>
              <a:rPr dirty="0" sz="1800" spc="-10">
                <a:solidFill>
                  <a:srgbClr val="008000"/>
                </a:solidFill>
                <a:latin typeface="Calibri"/>
                <a:cs typeface="Calibri"/>
              </a:rPr>
              <a:t>PageRank </a:t>
            </a:r>
            <a:r>
              <a:rPr dirty="0" sz="1800">
                <a:solidFill>
                  <a:srgbClr val="008000"/>
                </a:solidFill>
                <a:latin typeface="Calibri"/>
                <a:cs typeface="Calibri"/>
              </a:rPr>
              <a:t>is </a:t>
            </a:r>
            <a:r>
              <a:rPr dirty="0" sz="1800" spc="-5">
                <a:solidFill>
                  <a:srgbClr val="008000"/>
                </a:solidFill>
                <a:latin typeface="Calibri"/>
                <a:cs typeface="Calibri"/>
              </a:rPr>
              <a:t>defined </a:t>
            </a:r>
            <a:r>
              <a:rPr dirty="0" sz="1800" spc="-15">
                <a:solidFill>
                  <a:srgbClr val="008000"/>
                </a:solidFill>
                <a:latin typeface="Calibri"/>
                <a:cs typeface="Calibri"/>
              </a:rPr>
              <a:t>for </a:t>
            </a:r>
            <a:r>
              <a:rPr dirty="0" sz="1800" spc="-10">
                <a:solidFill>
                  <a:srgbClr val="008000"/>
                </a:solidFill>
                <a:latin typeface="Calibri"/>
                <a:cs typeface="Calibri"/>
              </a:rPr>
              <a:t>directed</a:t>
            </a:r>
            <a:r>
              <a:rPr dirty="0" sz="1800" spc="4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alibri"/>
                <a:cs typeface="Calibri"/>
              </a:rPr>
              <a:t>graphs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47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67460"/>
            <a:ext cx="33299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flow</a:t>
            </a:r>
            <a:r>
              <a:rPr dirty="0" sz="3000" spc="-10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equation: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13763" y="1674367"/>
            <a:ext cx="261493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3615" algn="l"/>
                <a:tab pos="1504315" algn="l"/>
                <a:tab pos="2072639" algn="l"/>
                <a:tab pos="2376805" algn="l"/>
              </a:tabLst>
            </a:pPr>
            <a:r>
              <a:rPr dirty="0" sz="3300" b="0">
                <a:solidFill>
                  <a:srgbClr val="0000FF"/>
                </a:solidFill>
                <a:latin typeface="Cambria Math"/>
                <a:cs typeface="Cambria Math"/>
              </a:rPr>
              <a:t>1 </a:t>
            </a:r>
            <a:r>
              <a:rPr dirty="0" sz="3300" spc="-370" b="0">
                <a:solidFill>
                  <a:srgbClr val="0000FF"/>
                </a:solidFill>
                <a:latin typeface="Cambria Math"/>
                <a:cs typeface="Cambria Math"/>
              </a:rPr>
              <a:t>"</a:t>
            </a:r>
            <a:r>
              <a:rPr dirty="0" sz="3300" spc="5" b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300" b="0">
                <a:solidFill>
                  <a:srgbClr val="0000FF"/>
                </a:solidFill>
                <a:latin typeface="Cambria Math"/>
                <a:cs typeface="Cambria Math"/>
              </a:rPr>
              <a:t>𝒓	=	𝑴	</a:t>
            </a:r>
            <a:r>
              <a:rPr dirty="0" sz="3300" spc="-370" b="0">
                <a:solidFill>
                  <a:srgbClr val="0000FF"/>
                </a:solidFill>
                <a:latin typeface="Cambria Math"/>
                <a:cs typeface="Cambria Math"/>
              </a:rPr>
              <a:t>"</a:t>
            </a:r>
            <a:r>
              <a:rPr dirty="0" sz="3300" b="0">
                <a:solidFill>
                  <a:srgbClr val="0000FF"/>
                </a:solidFill>
                <a:latin typeface="Cambria Math"/>
                <a:cs typeface="Cambria Math"/>
              </a:rPr>
              <a:t>	𝒓</a:t>
            </a:r>
            <a:endParaRPr sz="3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831083"/>
            <a:ext cx="8143240" cy="393827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332740" marR="932815" indent="-320040">
              <a:lnSpc>
                <a:spcPts val="3190"/>
              </a:lnSpc>
              <a:spcBef>
                <a:spcPts val="54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So the </a:t>
            </a:r>
            <a:r>
              <a:rPr dirty="0" sz="3000" spc="-20" b="1">
                <a:latin typeface="Calibri"/>
                <a:cs typeface="Calibri"/>
              </a:rPr>
              <a:t>rank </a:t>
            </a:r>
            <a:r>
              <a:rPr dirty="0" sz="3000" spc="-15" b="1">
                <a:latin typeface="Calibri"/>
                <a:cs typeface="Calibri"/>
              </a:rPr>
              <a:t>vector 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𝒓 </a:t>
            </a:r>
            <a:r>
              <a:rPr dirty="0" sz="3000" spc="-5">
                <a:latin typeface="Calibri"/>
                <a:cs typeface="Calibri"/>
              </a:rPr>
              <a:t>is </a:t>
            </a:r>
            <a:r>
              <a:rPr dirty="0" sz="3000">
                <a:latin typeface="Calibri"/>
                <a:cs typeface="Calibri"/>
              </a:rPr>
              <a:t>an </a:t>
            </a:r>
            <a:r>
              <a:rPr dirty="0" sz="3000" spc="-15" b="1">
                <a:latin typeface="Calibri"/>
                <a:cs typeface="Calibri"/>
              </a:rPr>
              <a:t>eigenvector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5">
                <a:latin typeface="Calibri"/>
                <a:cs typeface="Calibri"/>
              </a:rPr>
              <a:t>the  </a:t>
            </a:r>
            <a:r>
              <a:rPr dirty="0" sz="3000" spc="-15">
                <a:latin typeface="Calibri"/>
                <a:cs typeface="Calibri"/>
              </a:rPr>
              <a:t>stochastic </a:t>
            </a:r>
            <a:r>
              <a:rPr dirty="0" sz="3000" spc="-5">
                <a:latin typeface="Calibri"/>
                <a:cs typeface="Calibri"/>
              </a:rPr>
              <a:t>ajd. </a:t>
            </a:r>
            <a:r>
              <a:rPr dirty="0" sz="3000" spc="-10">
                <a:latin typeface="Calibri"/>
                <a:cs typeface="Calibri"/>
              </a:rPr>
              <a:t>matrix 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𝑴 </a:t>
            </a:r>
            <a:r>
              <a:rPr dirty="0" sz="3000" spc="-5">
                <a:latin typeface="Calibri"/>
                <a:cs typeface="Calibri"/>
              </a:rPr>
              <a:t>(with </a:t>
            </a:r>
            <a:r>
              <a:rPr dirty="0" sz="3000" spc="-20">
                <a:latin typeface="Calibri"/>
                <a:cs typeface="Calibri"/>
              </a:rPr>
              <a:t>eigenvalue</a:t>
            </a:r>
            <a:r>
              <a:rPr dirty="0" sz="3000">
                <a:latin typeface="Calibri"/>
                <a:cs typeface="Calibri"/>
              </a:rPr>
              <a:t> 1)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ts val="2965"/>
              </a:lnSpc>
              <a:spcBef>
                <a:spcPts val="3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Starting </a:t>
            </a:r>
            <a:r>
              <a:rPr dirty="0" sz="2600" spc="-15">
                <a:latin typeface="Calibri"/>
                <a:cs typeface="Calibri"/>
              </a:rPr>
              <a:t>from </a:t>
            </a:r>
            <a:r>
              <a:rPr dirty="0" sz="2600" spc="-20">
                <a:latin typeface="Calibri"/>
                <a:cs typeface="Calibri"/>
              </a:rPr>
              <a:t>any </a:t>
            </a:r>
            <a:r>
              <a:rPr dirty="0" sz="2600" spc="-10">
                <a:latin typeface="Calibri"/>
                <a:cs typeface="Calibri"/>
              </a:rPr>
              <a:t>vector </a:t>
            </a:r>
            <a:r>
              <a:rPr dirty="0" sz="2600" spc="-5">
                <a:latin typeface="Cambria Math"/>
                <a:cs typeface="Cambria Math"/>
              </a:rPr>
              <a:t>𝒖</a:t>
            </a:r>
            <a:r>
              <a:rPr dirty="0" sz="2600" spc="-5">
                <a:latin typeface="Calibri"/>
                <a:cs typeface="Calibri"/>
              </a:rPr>
              <a:t>, the limit </a:t>
            </a:r>
            <a:r>
              <a:rPr dirty="0" sz="2600" spc="-5">
                <a:latin typeface="Cambria Math"/>
                <a:cs typeface="Cambria Math"/>
              </a:rPr>
              <a:t>𝑴(𝑴(… 𝑴(𝑴</a:t>
            </a:r>
            <a:r>
              <a:rPr dirty="0" sz="2600" spc="-80">
                <a:latin typeface="Cambria Math"/>
                <a:cs typeface="Cambria Math"/>
              </a:rPr>
              <a:t> </a:t>
            </a:r>
            <a:r>
              <a:rPr dirty="0" sz="2600" spc="-100">
                <a:latin typeface="Cambria Math"/>
                <a:cs typeface="Cambria Math"/>
              </a:rPr>
              <a:t>𝒖)))</a:t>
            </a:r>
            <a:endParaRPr sz="2600">
              <a:latin typeface="Cambria Math"/>
              <a:cs typeface="Cambria Math"/>
            </a:endParaRPr>
          </a:p>
          <a:p>
            <a:pPr marL="625475">
              <a:lnSpc>
                <a:spcPts val="2965"/>
              </a:lnSpc>
            </a:pP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5" b="1">
                <a:latin typeface="Calibri"/>
                <a:cs typeface="Calibri"/>
              </a:rPr>
              <a:t>long-term distribution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surfers.</a:t>
            </a:r>
            <a:endParaRPr sz="26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28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10" b="1">
                <a:solidFill>
                  <a:srgbClr val="C00000"/>
                </a:solidFill>
                <a:latin typeface="Calibri"/>
                <a:cs typeface="Calibri"/>
              </a:rPr>
              <a:t>PageRank </a:t>
            </a:r>
            <a:r>
              <a:rPr dirty="0" sz="2200" b="1">
                <a:latin typeface="Calibri"/>
                <a:cs typeface="Calibri"/>
              </a:rPr>
              <a:t>= </a:t>
            </a:r>
            <a:r>
              <a:rPr dirty="0" sz="2200" spc="-5">
                <a:latin typeface="Calibri"/>
                <a:cs typeface="Calibri"/>
              </a:rPr>
              <a:t>Limiting </a:t>
            </a:r>
            <a:r>
              <a:rPr dirty="0" sz="2200" spc="-10">
                <a:latin typeface="Calibri"/>
                <a:cs typeface="Calibri"/>
              </a:rPr>
              <a:t>distribution </a:t>
            </a:r>
            <a:r>
              <a:rPr dirty="0" sz="2200">
                <a:latin typeface="Calibri"/>
                <a:cs typeface="Calibri"/>
              </a:rPr>
              <a:t>= </a:t>
            </a:r>
            <a:r>
              <a:rPr dirty="0" sz="2200" spc="-5" b="1">
                <a:solidFill>
                  <a:srgbClr val="008000"/>
                </a:solidFill>
                <a:latin typeface="Calibri"/>
                <a:cs typeface="Calibri"/>
              </a:rPr>
              <a:t>principal </a:t>
            </a:r>
            <a:r>
              <a:rPr dirty="0" sz="2200" spc="-15" b="1">
                <a:solidFill>
                  <a:srgbClr val="008000"/>
                </a:solidFill>
                <a:latin typeface="Calibri"/>
                <a:cs typeface="Calibri"/>
              </a:rPr>
              <a:t>eigenvector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mbria Math"/>
                <a:cs typeface="Cambria Math"/>
              </a:rPr>
              <a:t>𝑀</a:t>
            </a:r>
            <a:endParaRPr sz="2200">
              <a:latin typeface="Cambria Math"/>
              <a:cs typeface="Cambria Math"/>
            </a:endParaRPr>
          </a:p>
          <a:p>
            <a:pPr lvl="2" marL="890905" marR="83820" indent="-228600">
              <a:lnSpc>
                <a:spcPts val="228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5">
                <a:solidFill>
                  <a:srgbClr val="0070C0"/>
                </a:solidFill>
                <a:latin typeface="Calibri"/>
                <a:cs typeface="Calibri"/>
              </a:rPr>
              <a:t>Note</a:t>
            </a:r>
            <a:r>
              <a:rPr dirty="0" sz="2200" spc="-5">
                <a:latin typeface="Calibri"/>
                <a:cs typeface="Calibri"/>
              </a:rPr>
              <a:t>: If </a:t>
            </a:r>
            <a:r>
              <a:rPr dirty="0" sz="2200">
                <a:latin typeface="Cambria Math"/>
                <a:cs typeface="Cambria Math"/>
              </a:rPr>
              <a:t>𝒓 </a:t>
            </a:r>
            <a:r>
              <a:rPr dirty="0" sz="2200" spc="-5">
                <a:latin typeface="Calibri"/>
                <a:cs typeface="Calibri"/>
              </a:rPr>
              <a:t>is the limit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 spc="-5">
                <a:latin typeface="Calibri"/>
                <a:cs typeface="Calibri"/>
              </a:rPr>
              <a:t>the </a:t>
            </a:r>
            <a:r>
              <a:rPr dirty="0" sz="2200" spc="-15">
                <a:latin typeface="Calibri"/>
                <a:cs typeface="Calibri"/>
              </a:rPr>
              <a:t>product </a:t>
            </a:r>
            <a:r>
              <a:rPr dirty="0" sz="2200">
                <a:latin typeface="Cambria Math"/>
                <a:cs typeface="Cambria Math"/>
              </a:rPr>
              <a:t>𝑴𝑴 … 𝑴𝒖</a:t>
            </a:r>
            <a:r>
              <a:rPr dirty="0" sz="2200">
                <a:latin typeface="Calibri"/>
                <a:cs typeface="Calibri"/>
              </a:rPr>
              <a:t>, </a:t>
            </a:r>
            <a:r>
              <a:rPr dirty="0" sz="2200" spc="-5">
                <a:latin typeface="Calibri"/>
                <a:cs typeface="Calibri"/>
              </a:rPr>
              <a:t>then </a:t>
            </a:r>
            <a:r>
              <a:rPr dirty="0" sz="2200">
                <a:latin typeface="Cambria Math"/>
                <a:cs typeface="Cambria Math"/>
              </a:rPr>
              <a:t>𝒓 </a:t>
            </a:r>
            <a:r>
              <a:rPr dirty="0" sz="2200" spc="-60">
                <a:latin typeface="Calibri"/>
                <a:cs typeface="Calibri"/>
              </a:rPr>
              <a:t>satisfies  </a:t>
            </a:r>
            <a:r>
              <a:rPr dirty="0" sz="2200" spc="-5">
                <a:latin typeface="Calibri"/>
                <a:cs typeface="Calibri"/>
              </a:rPr>
              <a:t>the </a:t>
            </a:r>
            <a:r>
              <a:rPr dirty="0" sz="2200" spc="-5" b="1">
                <a:solidFill>
                  <a:srgbClr val="D60093"/>
                </a:solidFill>
                <a:latin typeface="Calibri"/>
                <a:cs typeface="Calibri"/>
              </a:rPr>
              <a:t>flow </a:t>
            </a:r>
            <a:r>
              <a:rPr dirty="0" sz="2200" spc="-10" b="1">
                <a:solidFill>
                  <a:srgbClr val="D60093"/>
                </a:solidFill>
                <a:latin typeface="Calibri"/>
                <a:cs typeface="Calibri"/>
              </a:rPr>
              <a:t>equation </a:t>
            </a:r>
            <a:r>
              <a:rPr dirty="0" sz="2200">
                <a:latin typeface="Cambria Math"/>
                <a:cs typeface="Cambria Math"/>
              </a:rPr>
              <a:t>1 </a:t>
            </a:r>
            <a:r>
              <a:rPr dirty="0" sz="2200" spc="90">
                <a:latin typeface="Cambria Math"/>
                <a:cs typeface="Cambria Math"/>
              </a:rPr>
              <a:t>' </a:t>
            </a:r>
            <a:r>
              <a:rPr dirty="0" sz="2200">
                <a:latin typeface="Cambria Math"/>
                <a:cs typeface="Cambria Math"/>
              </a:rPr>
              <a:t>𝒓 =</a:t>
            </a:r>
            <a:r>
              <a:rPr dirty="0" sz="2200" spc="114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𝑴𝒓</a:t>
            </a:r>
            <a:endParaRPr sz="2200">
              <a:latin typeface="Cambria Math"/>
              <a:cs typeface="Cambria Math"/>
            </a:endParaRPr>
          </a:p>
          <a:p>
            <a:pPr lvl="2" marL="890905" indent="-228600">
              <a:lnSpc>
                <a:spcPts val="2420"/>
              </a:lnSpc>
              <a:spcBef>
                <a:spcPts val="3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>
                <a:latin typeface="Calibri"/>
                <a:cs typeface="Calibri"/>
              </a:rPr>
              <a:t>So </a:t>
            </a:r>
            <a:r>
              <a:rPr dirty="0" sz="2200">
                <a:latin typeface="Cambria Math"/>
                <a:cs typeface="Cambria Math"/>
              </a:rPr>
              <a:t>𝒓 </a:t>
            </a:r>
            <a:r>
              <a:rPr dirty="0" sz="2200" spc="-5">
                <a:latin typeface="Calibri"/>
                <a:cs typeface="Calibri"/>
              </a:rPr>
              <a:t>is the </a:t>
            </a:r>
            <a:r>
              <a:rPr dirty="0" sz="2200" spc="-5" b="1">
                <a:solidFill>
                  <a:srgbClr val="008000"/>
                </a:solidFill>
                <a:latin typeface="Calibri"/>
                <a:cs typeface="Calibri"/>
              </a:rPr>
              <a:t>principal </a:t>
            </a:r>
            <a:r>
              <a:rPr dirty="0" sz="2200" spc="-15" b="1">
                <a:solidFill>
                  <a:srgbClr val="008000"/>
                </a:solidFill>
                <a:latin typeface="Calibri"/>
                <a:cs typeface="Calibri"/>
              </a:rPr>
              <a:t>eigenvector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>
                <a:latin typeface="Cambria Math"/>
                <a:cs typeface="Cambria Math"/>
              </a:rPr>
              <a:t>𝑴 </a:t>
            </a:r>
            <a:r>
              <a:rPr dirty="0" sz="2200" spc="-5">
                <a:latin typeface="Calibri"/>
                <a:cs typeface="Calibri"/>
              </a:rPr>
              <a:t>with </a:t>
            </a:r>
            <a:r>
              <a:rPr dirty="0" sz="2200" spc="-15">
                <a:latin typeface="Calibri"/>
                <a:cs typeface="Calibri"/>
              </a:rPr>
              <a:t>eigenvalue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  <a:p>
            <a:pPr marL="332740" indent="-320040">
              <a:lnSpc>
                <a:spcPts val="3379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 b="1">
                <a:solidFill>
                  <a:srgbClr val="0000FF"/>
                </a:solidFill>
                <a:latin typeface="Calibri"/>
                <a:cs typeface="Calibri"/>
              </a:rPr>
              <a:t>We </a:t>
            </a: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can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now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efficiently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solve </a:t>
            </a: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dirty="0" sz="3000" spc="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5" b="1" i="1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!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method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10">
                <a:latin typeface="Calibri"/>
                <a:cs typeface="Calibri"/>
              </a:rPr>
              <a:t>called </a:t>
            </a:r>
            <a:r>
              <a:rPr dirty="0" sz="2600" spc="-15" b="1">
                <a:latin typeface="Calibri"/>
                <a:cs typeface="Calibri"/>
              </a:rPr>
              <a:t>Power</a:t>
            </a:r>
            <a:r>
              <a:rPr dirty="0" sz="2600" spc="-35" b="1">
                <a:latin typeface="Calibri"/>
                <a:cs typeface="Calibri"/>
              </a:rPr>
              <a:t> </a:t>
            </a:r>
            <a:r>
              <a:rPr dirty="0" sz="2600" spc="-15" b="1">
                <a:latin typeface="Calibri"/>
                <a:cs typeface="Calibri"/>
              </a:rPr>
              <a:t>iteration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3615" y="6694423"/>
            <a:ext cx="2586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C246: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Mining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Massive</a:t>
            </a:r>
            <a:r>
              <a:rPr dirty="0" sz="90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Datasets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586187" y="1204569"/>
          <a:ext cx="2745105" cy="1228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296862"/>
                <a:gridCol w="481171"/>
                <a:gridCol w="533400"/>
                <a:gridCol w="433228"/>
                <a:gridCol w="76199"/>
                <a:gridCol w="457200"/>
              </a:tblGrid>
              <a:tr h="381000">
                <a:tc>
                  <a:txBody>
                    <a:bodyPr/>
                    <a:lstStyle/>
                    <a:p>
                      <a:pPr marL="116205">
                        <a:lnSpc>
                          <a:spcPts val="275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y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275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9065">
                        <a:lnSpc>
                          <a:spcPts val="275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275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57785">
                        <a:lnSpc>
                          <a:spcPts val="275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y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116205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a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=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13081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3081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160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6096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a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116205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m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8115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½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7635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257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baseline="-17361" sz="2400">
                          <a:latin typeface="Times New Roman"/>
                          <a:cs typeface="Times New Roman"/>
                        </a:rPr>
                        <a:t>m</a:t>
                      </a:r>
                      <a:endParaRPr baseline="-17361"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715727" y="2282444"/>
            <a:ext cx="2711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04276" y="2282444"/>
            <a:ext cx="2711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14716" y="2306827"/>
            <a:ext cx="4432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FF"/>
                </a:solidFill>
                <a:latin typeface="Cambria Math"/>
                <a:cs typeface="Cambria Math"/>
              </a:rPr>
              <a:t>𝑴</a:t>
            </a:r>
            <a:endParaRPr sz="3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1511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0999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70">
                <a:solidFill>
                  <a:srgbClr val="FF0066"/>
                </a:solidFill>
              </a:rPr>
              <a:t>P</a:t>
            </a:r>
            <a:r>
              <a:rPr dirty="0" spc="-5">
                <a:solidFill>
                  <a:srgbClr val="FF0066"/>
                </a:solidFill>
              </a:rPr>
              <a:t>a</a:t>
            </a:r>
            <a:r>
              <a:rPr dirty="0" spc="-40">
                <a:solidFill>
                  <a:srgbClr val="FF0066"/>
                </a:solidFill>
              </a:rPr>
              <a:t>g</a:t>
            </a:r>
            <a:r>
              <a:rPr dirty="0">
                <a:solidFill>
                  <a:srgbClr val="FF0066"/>
                </a:solidFill>
              </a:rPr>
              <a:t>e</a:t>
            </a:r>
            <a:r>
              <a:rPr dirty="0" spc="-5">
                <a:solidFill>
                  <a:srgbClr val="FF0066"/>
                </a:solidFill>
              </a:rPr>
              <a:t>Ran</a:t>
            </a:r>
            <a:r>
              <a:rPr dirty="0">
                <a:solidFill>
                  <a:srgbClr val="FF0066"/>
                </a:solidFill>
              </a:rPr>
              <a:t>k: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404734" cy="36131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26289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Measures importance </a:t>
            </a:r>
            <a:r>
              <a:rPr dirty="0" sz="2800" spc="-5">
                <a:latin typeface="Calibri"/>
                <a:cs typeface="Calibri"/>
              </a:rPr>
              <a:t>of nodes 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100">
                <a:latin typeface="Calibri"/>
                <a:cs typeface="Calibri"/>
              </a:rPr>
              <a:t>using  </a:t>
            </a:r>
            <a:r>
              <a:rPr dirty="0" sz="2800" spc="-5">
                <a:latin typeface="Calibri"/>
                <a:cs typeface="Calibri"/>
              </a:rPr>
              <a:t>the link </a:t>
            </a:r>
            <a:r>
              <a:rPr dirty="0" sz="2800" spc="-10">
                <a:latin typeface="Calibri"/>
                <a:cs typeface="Calibri"/>
              </a:rPr>
              <a:t>structure </a:t>
            </a:r>
            <a:r>
              <a:rPr dirty="0" sz="2800" spc="-5">
                <a:latin typeface="Calibri"/>
                <a:cs typeface="Calibri"/>
              </a:rPr>
              <a:t>of the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web</a:t>
            </a:r>
            <a:endParaRPr sz="2800">
              <a:latin typeface="Calibri"/>
              <a:cs typeface="Calibri"/>
            </a:endParaRPr>
          </a:p>
          <a:p>
            <a:pPr algn="just" marL="287020" marR="2286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Models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random web surfer </a:t>
            </a:r>
            <a:r>
              <a:rPr dirty="0" sz="2800" spc="-5">
                <a:latin typeface="Calibri"/>
                <a:cs typeface="Calibri"/>
              </a:rPr>
              <a:t>using the </a:t>
            </a:r>
            <a:r>
              <a:rPr dirty="0" sz="2800" spc="-75">
                <a:solidFill>
                  <a:srgbClr val="0070C0"/>
                </a:solidFill>
                <a:latin typeface="Calibri"/>
                <a:cs typeface="Calibri"/>
              </a:rPr>
              <a:t>stochastic 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adjacency </a:t>
            </a:r>
            <a:r>
              <a:rPr dirty="0" sz="2800" spc="-10">
                <a:solidFill>
                  <a:srgbClr val="0070C0"/>
                </a:solidFill>
                <a:latin typeface="Calibri"/>
                <a:cs typeface="Calibri"/>
              </a:rPr>
              <a:t>matrix</a:t>
            </a:r>
            <a:r>
              <a:rPr dirty="0" sz="2800" spc="-8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𝑴</a:t>
            </a:r>
            <a:endParaRPr sz="2800">
              <a:latin typeface="Cambria Math"/>
              <a:cs typeface="Cambria Math"/>
            </a:endParaRPr>
          </a:p>
          <a:p>
            <a:pPr algn="just" marL="287020" marR="5080" indent="-274320">
              <a:lnSpc>
                <a:spcPct val="100200"/>
              </a:lnSpc>
              <a:spcBef>
                <a:spcPts val="6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PageRank </a:t>
            </a:r>
            <a:r>
              <a:rPr dirty="0" sz="2800" spc="-10">
                <a:latin typeface="Calibri"/>
                <a:cs typeface="Calibri"/>
              </a:rPr>
              <a:t>solves 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𝒓 = 𝑴𝒓 </a:t>
            </a: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𝒓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0">
                <a:latin typeface="Calibri"/>
                <a:cs typeface="Calibri"/>
              </a:rPr>
              <a:t>viewed  </a:t>
            </a:r>
            <a:r>
              <a:rPr dirty="0" sz="2800" spc="-5">
                <a:latin typeface="Calibri"/>
                <a:cs typeface="Calibri"/>
              </a:rPr>
              <a:t>as both the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principle </a:t>
            </a:r>
            <a:r>
              <a:rPr dirty="0" sz="2800" spc="-15">
                <a:solidFill>
                  <a:srgbClr val="008000"/>
                </a:solidFill>
                <a:latin typeface="Calibri"/>
                <a:cs typeface="Calibri"/>
              </a:rPr>
              <a:t>eigenvector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0070C0"/>
                </a:solidFill>
                <a:latin typeface="Cambria Math"/>
                <a:cs typeface="Cambria Math"/>
              </a:rPr>
              <a:t>𝑴 </a:t>
            </a:r>
            <a:r>
              <a:rPr dirty="0" sz="2800" spc="-5">
                <a:latin typeface="Calibri"/>
                <a:cs typeface="Calibri"/>
              </a:rPr>
              <a:t>and as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the  </a:t>
            </a:r>
            <a:r>
              <a:rPr dirty="0" sz="2800" spc="-15">
                <a:solidFill>
                  <a:srgbClr val="D60093"/>
                </a:solidFill>
                <a:latin typeface="Calibri"/>
                <a:cs typeface="Calibri"/>
              </a:rPr>
              <a:t>stationary </a:t>
            </a:r>
            <a:r>
              <a:rPr dirty="0" sz="2800" spc="-10">
                <a:solidFill>
                  <a:srgbClr val="D60093"/>
                </a:solidFill>
                <a:latin typeface="Calibri"/>
                <a:cs typeface="Calibri"/>
              </a:rPr>
              <a:t>distribution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z="2800" spc="-15">
                <a:solidFill>
                  <a:srgbClr val="D60093"/>
                </a:solidFill>
                <a:latin typeface="Calibri"/>
                <a:cs typeface="Calibri"/>
              </a:rPr>
              <a:t>random walk </a:t>
            </a:r>
            <a:r>
              <a:rPr dirty="0" sz="2800" spc="-15">
                <a:latin typeface="Calibri"/>
                <a:cs typeface="Calibri"/>
              </a:rPr>
              <a:t>over </a:t>
            </a:r>
            <a:r>
              <a:rPr dirty="0" sz="2800">
                <a:latin typeface="Calibri"/>
                <a:cs typeface="Calibri"/>
              </a:rPr>
              <a:t>the 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2743200"/>
            <a:ext cx="6614159" cy="13350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187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503670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10"/>
              <a:t>Given </a:t>
            </a:r>
            <a:r>
              <a:rPr dirty="0"/>
              <a:t>a </a:t>
            </a:r>
            <a:r>
              <a:rPr dirty="0" spc="-20"/>
              <a:t>graph </a:t>
            </a:r>
            <a:r>
              <a:rPr dirty="0"/>
              <a:t>with </a:t>
            </a:r>
            <a:r>
              <a:rPr dirty="0" i="1">
                <a:latin typeface="Calibri"/>
                <a:cs typeface="Calibri"/>
              </a:rPr>
              <a:t>n </a:t>
            </a:r>
            <a:r>
              <a:rPr dirty="0" spc="-5"/>
              <a:t>nodes, </a:t>
            </a:r>
            <a:r>
              <a:rPr dirty="0" spc="-15"/>
              <a:t>we </a:t>
            </a:r>
            <a:r>
              <a:rPr dirty="0" spc="-5"/>
              <a:t>use an  </a:t>
            </a:r>
            <a:r>
              <a:rPr dirty="0" spc="-25"/>
              <a:t>iterative</a:t>
            </a:r>
            <a:r>
              <a:rPr dirty="0" spc="-60"/>
              <a:t> </a:t>
            </a:r>
            <a:r>
              <a:rPr dirty="0" spc="-10"/>
              <a:t>procedure: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Assign each node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 initial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page</a:t>
            </a:r>
            <a:r>
              <a:rPr dirty="0" spc="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rank</a:t>
            </a:r>
          </a:p>
        </p:txBody>
      </p:sp>
      <p:sp>
        <p:nvSpPr>
          <p:cNvPr id="4" name="object 4"/>
          <p:cNvSpPr/>
          <p:nvPr/>
        </p:nvSpPr>
        <p:spPr>
          <a:xfrm>
            <a:off x="7547831" y="2904949"/>
            <a:ext cx="0" cy="491490"/>
          </a:xfrm>
          <a:custGeom>
            <a:avLst/>
            <a:gdLst/>
            <a:ahLst/>
            <a:cxnLst/>
            <a:rect l="l" t="t" r="r" b="b"/>
            <a:pathLst>
              <a:path w="0" h="491489">
                <a:moveTo>
                  <a:pt x="0" y="0"/>
                </a:moveTo>
                <a:lnTo>
                  <a:pt x="0" y="490935"/>
                </a:lnTo>
              </a:path>
            </a:pathLst>
          </a:custGeom>
          <a:ln w="3056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10979" y="2904949"/>
            <a:ext cx="0" cy="491490"/>
          </a:xfrm>
          <a:custGeom>
            <a:avLst/>
            <a:gdLst/>
            <a:ahLst/>
            <a:cxnLst/>
            <a:rect l="l" t="t" r="r" b="b"/>
            <a:pathLst>
              <a:path w="0" h="491489">
                <a:moveTo>
                  <a:pt x="0" y="0"/>
                </a:moveTo>
                <a:lnTo>
                  <a:pt x="0" y="490935"/>
                </a:lnTo>
              </a:path>
            </a:pathLst>
          </a:custGeom>
          <a:ln w="3056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12329" y="2848356"/>
            <a:ext cx="7683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&lt;</a:t>
            </a:r>
            <a:r>
              <a:rPr dirty="0" sz="3200" spc="8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 spc="40">
                <a:solidFill>
                  <a:srgbClr val="0000FF"/>
                </a:solidFill>
                <a:latin typeface="Cambria Math"/>
                <a:cs typeface="Cambria Math"/>
              </a:rPr>
              <a:t>𝜖</a:t>
            </a:r>
            <a:r>
              <a:rPr dirty="0" sz="3200" spc="4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2848356"/>
            <a:ext cx="6852284" cy="1049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76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Repeat </a:t>
            </a:r>
            <a:r>
              <a:rPr dirty="0" sz="3200" spc="-5">
                <a:latin typeface="Calibri"/>
                <a:cs typeface="Calibri"/>
              </a:rPr>
              <a:t>until </a:t>
            </a:r>
            <a:r>
              <a:rPr dirty="0" sz="3200" spc="-20">
                <a:latin typeface="Calibri"/>
                <a:cs typeface="Calibri"/>
              </a:rPr>
              <a:t>convergence </a:t>
            </a:r>
            <a:r>
              <a:rPr dirty="0" sz="3200" spc="-35">
                <a:latin typeface="Calibri"/>
                <a:cs typeface="Calibri"/>
              </a:rPr>
              <a:t>(</a:t>
            </a:r>
            <a:r>
              <a:rPr dirty="0" baseline="2604" sz="4800" spc="-52">
                <a:solidFill>
                  <a:srgbClr val="0000FF"/>
                </a:solidFill>
                <a:latin typeface="Cambria Math"/>
                <a:cs typeface="Cambria Math"/>
              </a:rPr>
              <a:t>∑</a:t>
            </a:r>
            <a:r>
              <a:rPr dirty="0" baseline="-18115" sz="3450" spc="-52">
                <a:solidFill>
                  <a:srgbClr val="0000FF"/>
                </a:solidFill>
                <a:latin typeface="Cambria Math"/>
                <a:cs typeface="Cambria Math"/>
              </a:rPr>
              <a:t>"  </a:t>
            </a:r>
            <a:r>
              <a:rPr dirty="0" sz="3200" spc="335">
                <a:solidFill>
                  <a:srgbClr val="0000FF"/>
                </a:solidFill>
                <a:latin typeface="Cambria Math"/>
                <a:cs typeface="Cambria Math"/>
              </a:rPr>
              <a:t>𝑟</a:t>
            </a:r>
            <a:r>
              <a:rPr dirty="0" baseline="31400" sz="3450" spc="502">
                <a:solidFill>
                  <a:srgbClr val="0000FF"/>
                </a:solidFill>
                <a:latin typeface="Cambria Math"/>
                <a:cs typeface="Cambria Math"/>
              </a:rPr>
              <a:t>()*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−</a:t>
            </a:r>
            <a:r>
              <a:rPr dirty="0" sz="3200" spc="-35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 spc="100">
                <a:solidFill>
                  <a:srgbClr val="0000FF"/>
                </a:solidFill>
                <a:latin typeface="Cambria Math"/>
                <a:cs typeface="Cambria Math"/>
              </a:rPr>
              <a:t>𝑟</a:t>
            </a:r>
            <a:r>
              <a:rPr dirty="0" baseline="31400" sz="3450" spc="150">
                <a:solidFill>
                  <a:srgbClr val="0000FF"/>
                </a:solidFill>
                <a:latin typeface="Cambria Math"/>
                <a:cs typeface="Cambria Math"/>
              </a:rPr>
              <a:t>(</a:t>
            </a:r>
            <a:endParaRPr baseline="31400" sz="3450">
              <a:latin typeface="Cambria Math"/>
              <a:cs typeface="Cambria Math"/>
            </a:endParaRPr>
          </a:p>
          <a:p>
            <a:pPr algn="r" marR="95250">
              <a:lnSpc>
                <a:spcPts val="1685"/>
              </a:lnSpc>
              <a:tabLst>
                <a:tab pos="1239520" algn="l"/>
              </a:tabLst>
            </a:pPr>
            <a:r>
              <a:rPr dirty="0" sz="2300" spc="-100">
                <a:solidFill>
                  <a:srgbClr val="0000FF"/>
                </a:solidFill>
                <a:latin typeface="Cambria Math"/>
                <a:cs typeface="Cambria Math"/>
              </a:rPr>
              <a:t>"</a:t>
            </a:r>
            <a:r>
              <a:rPr dirty="0" sz="2300" spc="-100">
                <a:solidFill>
                  <a:srgbClr val="0000FF"/>
                </a:solidFill>
                <a:latin typeface="Cambria Math"/>
                <a:cs typeface="Cambria Math"/>
              </a:rPr>
              <a:t>	</a:t>
            </a:r>
            <a:r>
              <a:rPr dirty="0" sz="2300" spc="-100">
                <a:solidFill>
                  <a:srgbClr val="0000FF"/>
                </a:solidFill>
                <a:latin typeface="Cambria Math"/>
                <a:cs typeface="Cambria Math"/>
              </a:rPr>
              <a:t>"</a:t>
            </a:r>
            <a:endParaRPr sz="23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2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Calculate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page </a:t>
            </a:r>
            <a:r>
              <a:rPr dirty="0" sz="2800" spc="-20">
                <a:latin typeface="Calibri"/>
                <a:cs typeface="Calibri"/>
              </a:rPr>
              <a:t>rank </a:t>
            </a:r>
            <a:r>
              <a:rPr dirty="0" sz="2800" spc="-5">
                <a:latin typeface="Calibri"/>
                <a:cs typeface="Calibri"/>
              </a:rPr>
              <a:t>of each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3615" y="6205220"/>
            <a:ext cx="4343400" cy="652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545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𝒅</a:t>
            </a:r>
            <a:r>
              <a:rPr dirty="0" baseline="-13888" sz="1800">
                <a:solidFill>
                  <a:srgbClr val="008000"/>
                </a:solidFill>
                <a:latin typeface="Cambria Math"/>
                <a:cs typeface="Cambria Math"/>
              </a:rPr>
              <a:t>𝒊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….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out-degree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of node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𝒊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57838" y="4607052"/>
            <a:ext cx="25272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815">
                <a:latin typeface="Cambria Math"/>
                <a:cs typeface="Cambria Math"/>
              </a:rPr>
              <a:t>𝑟</a:t>
            </a:r>
            <a:r>
              <a:rPr dirty="0" baseline="-25362" sz="3450" spc="622">
                <a:latin typeface="Cambria Math"/>
                <a:cs typeface="Cambria Math"/>
              </a:rPr>
              <a:t>!</a:t>
            </a:r>
            <a:endParaRPr baseline="-25362" sz="34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71389" y="4501896"/>
            <a:ext cx="79629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240">
                <a:latin typeface="Cambria Math"/>
                <a:cs typeface="Cambria Math"/>
              </a:rPr>
              <a:t>(()*)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02730" y="5239511"/>
            <a:ext cx="5270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>
                <a:latin typeface="Cambria Math"/>
                <a:cs typeface="Cambria Math"/>
              </a:rPr>
              <a:t>"</a:t>
            </a:r>
            <a:r>
              <a:rPr dirty="0" sz="2300" spc="30">
                <a:latin typeface="Cambria Math"/>
                <a:cs typeface="Cambria Math"/>
              </a:rPr>
              <a:t>→</a:t>
            </a:r>
            <a:r>
              <a:rPr dirty="0" sz="2300" spc="41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4295" y="4421123"/>
            <a:ext cx="16706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7350" algn="l"/>
              </a:tabLst>
            </a:pPr>
            <a:r>
              <a:rPr dirty="0" baseline="-25173" sz="4800">
                <a:latin typeface="Cambria Math"/>
                <a:cs typeface="Cambria Math"/>
              </a:rPr>
              <a:t>= </a:t>
            </a:r>
            <a:r>
              <a:rPr dirty="0" baseline="-25173" sz="4800" spc="3382">
                <a:latin typeface="Cambria Math"/>
                <a:cs typeface="Cambria Math"/>
              </a:rPr>
              <a:t>#</a:t>
            </a:r>
            <a:r>
              <a:rPr dirty="0" sz="3200" spc="900" u="heavy">
                <a:latin typeface="Cambria Math"/>
                <a:cs typeface="Cambria Math"/>
              </a:rPr>
              <a:t> </a:t>
            </a:r>
            <a:r>
              <a:rPr dirty="0" sz="2300" spc="-100" u="heavy">
                <a:latin typeface="Cambria Math"/>
                <a:cs typeface="Cambria Math"/>
              </a:rPr>
              <a:t>"	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96899" y="4073652"/>
            <a:ext cx="6223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513" sz="4800" spc="225">
                <a:latin typeface="Cambria Math"/>
                <a:cs typeface="Cambria Math"/>
              </a:rPr>
              <a:t>𝑟</a:t>
            </a:r>
            <a:r>
              <a:rPr dirty="0" sz="2300" spc="15">
                <a:latin typeface="Cambria Math"/>
                <a:cs typeface="Cambria Math"/>
              </a:rPr>
              <a:t>(</a:t>
            </a:r>
            <a:r>
              <a:rPr dirty="0" sz="2300" spc="120">
                <a:latin typeface="Cambria Math"/>
                <a:cs typeface="Cambria Math"/>
              </a:rPr>
              <a:t>(</a:t>
            </a:r>
            <a:r>
              <a:rPr dirty="0" sz="2300"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21613" y="4878323"/>
            <a:ext cx="3632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ambria Math"/>
                <a:cs typeface="Cambria Math"/>
              </a:rPr>
              <a:t>𝑑</a:t>
            </a:r>
            <a:r>
              <a:rPr dirty="0" baseline="-15700" sz="3450" spc="-150">
                <a:latin typeface="Cambria Math"/>
                <a:cs typeface="Cambria Math"/>
              </a:rPr>
              <a:t>"</a:t>
            </a:r>
            <a:endParaRPr baseline="-15700" sz="34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81253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24775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Given </a:t>
            </a:r>
            <a:r>
              <a:rPr dirty="0">
                <a:solidFill>
                  <a:srgbClr val="0000FF"/>
                </a:solidFill>
              </a:rPr>
              <a:t>a </a:t>
            </a:r>
            <a:r>
              <a:rPr dirty="0" spc="-10">
                <a:solidFill>
                  <a:srgbClr val="0000FF"/>
                </a:solidFill>
              </a:rPr>
              <a:t>web </a:t>
            </a:r>
            <a:r>
              <a:rPr dirty="0" spc="-20">
                <a:solidFill>
                  <a:srgbClr val="0000FF"/>
                </a:solidFill>
              </a:rPr>
              <a:t>graph </a:t>
            </a:r>
            <a:r>
              <a:rPr dirty="0">
                <a:solidFill>
                  <a:srgbClr val="0000FF"/>
                </a:solidFill>
              </a:rPr>
              <a:t>with </a:t>
            </a:r>
            <a:r>
              <a:rPr dirty="0" i="1">
                <a:solidFill>
                  <a:srgbClr val="0000FF"/>
                </a:solidFill>
                <a:latin typeface="Calibri"/>
                <a:cs typeface="Calibri"/>
              </a:rPr>
              <a:t>N </a:t>
            </a:r>
            <a:r>
              <a:rPr dirty="0" spc="-5">
                <a:solidFill>
                  <a:srgbClr val="0000FF"/>
                </a:solidFill>
              </a:rPr>
              <a:t>nodes, </a:t>
            </a:r>
            <a:r>
              <a:rPr dirty="0" spc="-10">
                <a:solidFill>
                  <a:srgbClr val="0000FF"/>
                </a:solidFill>
              </a:rPr>
              <a:t>where </a:t>
            </a:r>
            <a:r>
              <a:rPr dirty="0" spc="-5">
                <a:solidFill>
                  <a:srgbClr val="0000FF"/>
                </a:solidFill>
              </a:rPr>
              <a:t>the  nodes </a:t>
            </a:r>
            <a:r>
              <a:rPr dirty="0" spc="-15">
                <a:solidFill>
                  <a:srgbClr val="0000FF"/>
                </a:solidFill>
              </a:rPr>
              <a:t>are </a:t>
            </a:r>
            <a:r>
              <a:rPr dirty="0" spc="-10">
                <a:solidFill>
                  <a:srgbClr val="0000FF"/>
                </a:solidFill>
              </a:rPr>
              <a:t>pages </a:t>
            </a:r>
            <a:r>
              <a:rPr dirty="0" spc="-5">
                <a:solidFill>
                  <a:srgbClr val="0000FF"/>
                </a:solidFill>
              </a:rPr>
              <a:t>and </a:t>
            </a:r>
            <a:r>
              <a:rPr dirty="0" spc="-10">
                <a:solidFill>
                  <a:srgbClr val="0000FF"/>
                </a:solidFill>
              </a:rPr>
              <a:t>edges </a:t>
            </a:r>
            <a:r>
              <a:rPr dirty="0" spc="-15">
                <a:solidFill>
                  <a:srgbClr val="0000FF"/>
                </a:solidFill>
              </a:rPr>
              <a:t>are</a:t>
            </a:r>
            <a:r>
              <a:rPr dirty="0" spc="10">
                <a:solidFill>
                  <a:srgbClr val="0000FF"/>
                </a:solidFill>
              </a:rPr>
              <a:t> </a:t>
            </a:r>
            <a:r>
              <a:rPr dirty="0" spc="-15">
                <a:solidFill>
                  <a:srgbClr val="0000FF"/>
                </a:solidFill>
              </a:rPr>
              <a:t>hyperlinks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8000"/>
                </a:solidFill>
              </a:rPr>
              <a:t>Power iteration: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simple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iterative</a:t>
            </a:r>
            <a:r>
              <a:rPr dirty="0" spc="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scheme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899155"/>
            <a:ext cx="47605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Initialize: </a:t>
            </a:r>
            <a:r>
              <a:rPr dirty="0" sz="2800" spc="175">
                <a:latin typeface="Cambria Math"/>
                <a:cs typeface="Cambria Math"/>
              </a:rPr>
              <a:t>𝒓</a:t>
            </a:r>
            <a:r>
              <a:rPr dirty="0" baseline="29166" sz="3000" spc="262">
                <a:latin typeface="Cambria Math"/>
                <a:cs typeface="Cambria Math"/>
              </a:rPr>
              <a:t>" </a:t>
            </a:r>
            <a:r>
              <a:rPr dirty="0" sz="2800">
                <a:latin typeface="Calibri"/>
                <a:cs typeface="Calibri"/>
              </a:rPr>
              <a:t>= </a:t>
            </a:r>
            <a:r>
              <a:rPr dirty="0" sz="2800" spc="0">
                <a:latin typeface="Cambria Math"/>
                <a:cs typeface="Cambria Math"/>
              </a:rPr>
              <a:t>[1/𝑁, </a:t>
            </a:r>
            <a:r>
              <a:rPr dirty="0" sz="2800">
                <a:latin typeface="Cambria Math"/>
                <a:cs typeface="Cambria Math"/>
              </a:rPr>
              <a:t>… . ,  </a:t>
            </a:r>
            <a:r>
              <a:rPr dirty="0" sz="2800" spc="-30">
                <a:latin typeface="Cambria Math"/>
                <a:cs typeface="Cambria Math"/>
              </a:rPr>
              <a:t>1/𝑁]</a:t>
            </a:r>
            <a:r>
              <a:rPr dirty="0" baseline="23391" sz="2850" spc="-44">
                <a:latin typeface="Cambria Math"/>
                <a:cs typeface="Cambria Math"/>
              </a:rPr>
              <a:t>𝑇</a:t>
            </a:r>
            <a:endParaRPr baseline="23391" sz="28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3432555"/>
            <a:ext cx="16217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>
                <a:latin typeface="Calibri"/>
                <a:cs typeface="Calibri"/>
              </a:rPr>
              <a:t>Iterate:  </a:t>
            </a:r>
            <a:r>
              <a:rPr dirty="0" sz="2800" spc="-285"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5972" y="3432555"/>
            <a:ext cx="13970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025" algn="l"/>
                <a:tab pos="935990" algn="l"/>
                <a:tab pos="1193165" algn="l"/>
              </a:tabLst>
            </a:pPr>
            <a:r>
              <a:rPr dirty="0" sz="2800">
                <a:latin typeface="Cambria Math"/>
                <a:cs typeface="Cambria Math"/>
              </a:rPr>
              <a:t>=	𝑴	</a:t>
            </a:r>
            <a:r>
              <a:rPr dirty="0" sz="2800" spc="-765">
                <a:latin typeface="Cambria Math"/>
                <a:cs typeface="Cambria Math"/>
              </a:rPr>
              <a:t>5</a:t>
            </a:r>
            <a:r>
              <a:rPr dirty="0" sz="2800" spc="-765">
                <a:latin typeface="Cambria Math"/>
                <a:cs typeface="Cambria Math"/>
              </a:rPr>
              <a:t>	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2509" y="3403091"/>
            <a:ext cx="22923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67255" algn="l"/>
              </a:tabLst>
            </a:pP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15">
                <a:latin typeface="Cambria Math"/>
                <a:cs typeface="Cambria Math"/>
              </a:rPr>
              <a:t>𝒕</a:t>
            </a:r>
            <a:r>
              <a:rPr dirty="0" sz="2000" spc="-300">
                <a:latin typeface="Cambria Math"/>
                <a:cs typeface="Cambria Math"/>
              </a:rPr>
              <a:t>%</a:t>
            </a:r>
            <a:r>
              <a:rPr dirty="0" sz="2000" spc="25">
                <a:latin typeface="Cambria Math"/>
                <a:cs typeface="Cambria Math"/>
              </a:rPr>
              <a:t>𝟏</a:t>
            </a:r>
            <a:r>
              <a:rPr dirty="0" sz="2000">
                <a:latin typeface="Cambria Math"/>
                <a:cs typeface="Cambria Math"/>
              </a:rPr>
              <a:t>)	</a:t>
            </a:r>
            <a:r>
              <a:rPr dirty="0" sz="2000" spc="50">
                <a:latin typeface="Cambria Math"/>
                <a:cs typeface="Cambria Math"/>
              </a:rPr>
              <a:t>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89640" y="4025439"/>
            <a:ext cx="622935" cy="235585"/>
          </a:xfrm>
          <a:custGeom>
            <a:avLst/>
            <a:gdLst/>
            <a:ahLst/>
            <a:cxnLst/>
            <a:rect l="l" t="t" r="r" b="b"/>
            <a:pathLst>
              <a:path w="622935" h="235585">
                <a:moveTo>
                  <a:pt x="547521" y="0"/>
                </a:moveTo>
                <a:lnTo>
                  <a:pt x="544173" y="9549"/>
                </a:lnTo>
                <a:lnTo>
                  <a:pt x="557792" y="15459"/>
                </a:lnTo>
                <a:lnTo>
                  <a:pt x="569504" y="23641"/>
                </a:lnTo>
                <a:lnTo>
                  <a:pt x="593286" y="61565"/>
                </a:lnTo>
                <a:lnTo>
                  <a:pt x="601099" y="116457"/>
                </a:lnTo>
                <a:lnTo>
                  <a:pt x="600227" y="137208"/>
                </a:lnTo>
                <a:lnTo>
                  <a:pt x="587147" y="188019"/>
                </a:lnTo>
                <a:lnTo>
                  <a:pt x="557951" y="219784"/>
                </a:lnTo>
                <a:lnTo>
                  <a:pt x="544545" y="225722"/>
                </a:lnTo>
                <a:lnTo>
                  <a:pt x="547521" y="235272"/>
                </a:lnTo>
                <a:lnTo>
                  <a:pt x="592472" y="208563"/>
                </a:lnTo>
                <a:lnTo>
                  <a:pt x="617718" y="159260"/>
                </a:lnTo>
                <a:lnTo>
                  <a:pt x="622555" y="117697"/>
                </a:lnTo>
                <a:lnTo>
                  <a:pt x="621342" y="96129"/>
                </a:lnTo>
                <a:lnTo>
                  <a:pt x="611637" y="57898"/>
                </a:lnTo>
                <a:lnTo>
                  <a:pt x="579534" y="15083"/>
                </a:lnTo>
                <a:lnTo>
                  <a:pt x="564578" y="6158"/>
                </a:lnTo>
                <a:lnTo>
                  <a:pt x="547521" y="0"/>
                </a:lnTo>
                <a:close/>
              </a:path>
              <a:path w="622935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3" y="220218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592954" y="4168647"/>
            <a:ext cx="15938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Cambria Math"/>
                <a:cs typeface="Cambria Math"/>
              </a:rPr>
              <a:t>1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6563" y="3978147"/>
            <a:ext cx="45700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3209290" algn="l"/>
                <a:tab pos="3957320" algn="l"/>
                <a:tab pos="4400550" algn="l"/>
              </a:tabLst>
            </a:pPr>
            <a:r>
              <a:rPr dirty="0" sz="2800">
                <a:latin typeface="Calibri"/>
                <a:cs typeface="Calibri"/>
              </a:rPr>
              <a:t>S</a:t>
            </a:r>
            <a:r>
              <a:rPr dirty="0" sz="2800" spc="-30">
                <a:latin typeface="Calibri"/>
                <a:cs typeface="Calibri"/>
              </a:rPr>
              <a:t>t</a:t>
            </a:r>
            <a:r>
              <a:rPr dirty="0" sz="2800" spc="-5">
                <a:latin typeface="Calibri"/>
                <a:cs typeface="Calibri"/>
              </a:rPr>
              <a:t>o</a:t>
            </a:r>
            <a:r>
              <a:rPr dirty="0" sz="2800">
                <a:latin typeface="Calibri"/>
                <a:cs typeface="Calibri"/>
              </a:rPr>
              <a:t>p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w</a:t>
            </a:r>
            <a:r>
              <a:rPr dirty="0" sz="2800">
                <a:latin typeface="Calibri"/>
                <a:cs typeface="Calibri"/>
              </a:rPr>
              <a:t>h</a:t>
            </a:r>
            <a:r>
              <a:rPr dirty="0" sz="2800" spc="-5">
                <a:latin typeface="Calibri"/>
                <a:cs typeface="Calibri"/>
              </a:rPr>
              <a:t>e</a:t>
            </a:r>
            <a:r>
              <a:rPr dirty="0" sz="2800">
                <a:latin typeface="Calibri"/>
                <a:cs typeface="Calibri"/>
              </a:rPr>
              <a:t>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|𝒓</a:t>
            </a:r>
            <a:r>
              <a:rPr dirty="0" sz="2800" spc="225">
                <a:latin typeface="Cambria Math"/>
                <a:cs typeface="Cambria Math"/>
              </a:rPr>
              <a:t> </a:t>
            </a:r>
            <a:r>
              <a:rPr dirty="0" baseline="29166" sz="3000" spc="22">
                <a:latin typeface="Cambria Math"/>
                <a:cs typeface="Cambria Math"/>
              </a:rPr>
              <a:t>𝒕</a:t>
            </a:r>
            <a:r>
              <a:rPr dirty="0" baseline="29166" sz="3000" spc="-450">
                <a:latin typeface="Cambria Math"/>
                <a:cs typeface="Cambria Math"/>
              </a:rPr>
              <a:t>%</a:t>
            </a:r>
            <a:r>
              <a:rPr dirty="0" baseline="29166" sz="3000">
                <a:latin typeface="Cambria Math"/>
                <a:cs typeface="Cambria Math"/>
              </a:rPr>
              <a:t>𝟏 </a:t>
            </a:r>
            <a:r>
              <a:rPr dirty="0" baseline="29166" sz="3000" spc="-262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–	</a:t>
            </a:r>
            <a:r>
              <a:rPr dirty="0" sz="2800" spc="-5">
                <a:latin typeface="Cambria Math"/>
                <a:cs typeface="Cambria Math"/>
              </a:rPr>
              <a:t>𝒓</a:t>
            </a:r>
            <a:r>
              <a:rPr dirty="0" baseline="29166" sz="3000" spc="270">
                <a:latin typeface="Cambria Math"/>
                <a:cs typeface="Cambria Math"/>
              </a:rPr>
              <a:t>(</a:t>
            </a:r>
            <a:r>
              <a:rPr dirty="0" sz="2800">
                <a:latin typeface="Cambria Math"/>
                <a:cs typeface="Cambria Math"/>
              </a:rPr>
              <a:t>|	&lt;	</a:t>
            </a:r>
            <a:r>
              <a:rPr dirty="0" sz="2800"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3615" y="6694423"/>
            <a:ext cx="2586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C246: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Mining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Massive</a:t>
            </a:r>
            <a:r>
              <a:rPr dirty="0" sz="90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Datasets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88309" y="4224020"/>
            <a:ext cx="2697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𝑑</a:t>
            </a:r>
            <a:r>
              <a:rPr dirty="0" baseline="-13888" sz="1800" spc="-7">
                <a:solidFill>
                  <a:srgbClr val="008000"/>
                </a:solidFill>
                <a:latin typeface="Cambria Math"/>
                <a:cs typeface="Cambria Math"/>
              </a:rPr>
              <a:t>𝑖 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….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out-degree of node</a:t>
            </a:r>
            <a:r>
              <a:rPr dirty="0" sz="1800" spc="-2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2435" y="5040701"/>
            <a:ext cx="0" cy="231140"/>
          </a:xfrm>
          <a:custGeom>
            <a:avLst/>
            <a:gdLst/>
            <a:ahLst/>
            <a:cxnLst/>
            <a:rect l="l" t="t" r="r" b="b"/>
            <a:pathLst>
              <a:path w="0" h="231139">
                <a:moveTo>
                  <a:pt x="0" y="0"/>
                </a:moveTo>
                <a:lnTo>
                  <a:pt x="0" y="230807"/>
                </a:lnTo>
              </a:path>
            </a:pathLst>
          </a:custGeom>
          <a:ln w="1909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79423" y="5040701"/>
            <a:ext cx="0" cy="231140"/>
          </a:xfrm>
          <a:custGeom>
            <a:avLst/>
            <a:gdLst/>
            <a:ahLst/>
            <a:cxnLst/>
            <a:rect l="l" t="t" r="r" b="b"/>
            <a:pathLst>
              <a:path w="0" h="231139">
                <a:moveTo>
                  <a:pt x="0" y="0"/>
                </a:moveTo>
                <a:lnTo>
                  <a:pt x="0" y="230807"/>
                </a:lnTo>
              </a:path>
            </a:pathLst>
          </a:custGeom>
          <a:ln w="1909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454084" y="4926584"/>
            <a:ext cx="1695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00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24037" y="5082032"/>
            <a:ext cx="11601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2620" algn="l"/>
                <a:tab pos="1036319" algn="l"/>
              </a:tabLst>
            </a:pPr>
            <a:r>
              <a:rPr dirty="0" baseline="1851" sz="2250" spc="412">
                <a:solidFill>
                  <a:srgbClr val="008000"/>
                </a:solidFill>
                <a:latin typeface="Cambria Math"/>
                <a:cs typeface="Cambria Math"/>
              </a:rPr>
              <a:t>"</a:t>
            </a:r>
            <a:r>
              <a:rPr dirty="0" baseline="1851" sz="2250" spc="412">
                <a:solidFill>
                  <a:srgbClr val="008000"/>
                </a:solidFill>
                <a:latin typeface="Cambria Math"/>
                <a:cs typeface="Cambria Math"/>
              </a:rPr>
              <a:t>	</a:t>
            </a:r>
            <a:r>
              <a:rPr dirty="0" sz="1500" spc="275">
                <a:solidFill>
                  <a:srgbClr val="008000"/>
                </a:solidFill>
                <a:latin typeface="Cambria Math"/>
                <a:cs typeface="Cambria Math"/>
              </a:rPr>
              <a:t>"</a:t>
            </a:r>
            <a:r>
              <a:rPr dirty="0" sz="1500" spc="275">
                <a:solidFill>
                  <a:srgbClr val="008000"/>
                </a:solidFill>
                <a:latin typeface="Cambria Math"/>
                <a:cs typeface="Cambria Math"/>
              </a:rPr>
              <a:t>	</a:t>
            </a:r>
            <a:r>
              <a:rPr dirty="0" baseline="1851" sz="2250" spc="412">
                <a:solidFill>
                  <a:srgbClr val="008000"/>
                </a:solidFill>
                <a:latin typeface="Cambria Math"/>
                <a:cs typeface="Cambria Math"/>
              </a:rPr>
              <a:t>"</a:t>
            </a:r>
            <a:endParaRPr baseline="1851" sz="22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6930" y="4960620"/>
            <a:ext cx="30956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8465" algn="l"/>
                <a:tab pos="1045844" algn="l"/>
              </a:tabLst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𝑥	=</a:t>
            </a:r>
            <a:r>
              <a:rPr dirty="0" sz="2000" spc="11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baseline="1388" sz="3000">
                <a:solidFill>
                  <a:srgbClr val="008000"/>
                </a:solidFill>
                <a:latin typeface="Cambria Math"/>
                <a:cs typeface="Cambria Math"/>
              </a:rPr>
              <a:t>∑	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|𝑥  |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is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the </a:t>
            </a:r>
            <a:r>
              <a:rPr dirty="0" sz="2000" b="1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dirty="0" sz="1300" b="1">
                <a:solidFill>
                  <a:srgbClr val="008000"/>
                </a:solidFill>
                <a:latin typeface="Arial"/>
                <a:cs typeface="Arial"/>
              </a:rPr>
              <a:t>1</a:t>
            </a:r>
            <a:r>
              <a:rPr dirty="0" sz="1300" spc="-10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norm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1193" y="5265420"/>
            <a:ext cx="7073900" cy="1205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754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Can use any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other vector norm, e.g.,</a:t>
            </a:r>
            <a:r>
              <a:rPr dirty="0" sz="2000" spc="-9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Euclidean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About 50 </a:t>
            </a:r>
            <a:r>
              <a:rPr dirty="0" sz="2000" spc="-5">
                <a:solidFill>
                  <a:srgbClr val="FF0000"/>
                </a:solidFill>
                <a:latin typeface="Arial"/>
                <a:cs typeface="Arial"/>
              </a:rPr>
              <a:t>iterations </a:t>
            </a:r>
            <a:r>
              <a:rPr dirty="0" sz="200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dirty="0" sz="2000" spc="-10">
                <a:solidFill>
                  <a:srgbClr val="FF0000"/>
                </a:solidFill>
                <a:latin typeface="Arial"/>
                <a:cs typeface="Arial"/>
              </a:rPr>
              <a:t>sufficient </a:t>
            </a:r>
            <a:r>
              <a:rPr dirty="0" sz="2000" spc="-5">
                <a:solidFill>
                  <a:srgbClr val="FF0000"/>
                </a:solidFill>
                <a:latin typeface="Arial"/>
                <a:cs typeface="Arial"/>
              </a:rPr>
              <a:t>to estimate the limiting</a:t>
            </a:r>
            <a:r>
              <a:rPr dirty="0" sz="2000" spc="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0000"/>
                </a:solidFill>
                <a:latin typeface="Arial"/>
                <a:cs typeface="Arial"/>
              </a:rPr>
              <a:t>solution.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82197" y="3535171"/>
            <a:ext cx="200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20">
                <a:latin typeface="Cambria Math"/>
                <a:cs typeface="Cambria Math"/>
              </a:rPr>
              <a:t>𝑟</a:t>
            </a:r>
            <a:r>
              <a:rPr dirty="0" baseline="-24691" sz="2700" spc="-1139">
                <a:latin typeface="Cambria Math"/>
                <a:cs typeface="Cambria Math"/>
              </a:rPr>
              <a:t>%</a:t>
            </a:r>
            <a:endParaRPr baseline="-24691" sz="27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41518" y="3449828"/>
            <a:ext cx="607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385">
                <a:latin typeface="Cambria Math"/>
                <a:cs typeface="Cambria Math"/>
              </a:rPr>
              <a:t>'</a:t>
            </a:r>
            <a:r>
              <a:rPr dirty="0" sz="1800" spc="525">
                <a:latin typeface="Cambria Math"/>
                <a:cs typeface="Cambria Math"/>
              </a:rPr>
              <a:t>(</a:t>
            </a:r>
            <a:r>
              <a:rPr dirty="0" sz="1800" spc="254">
                <a:latin typeface="Cambria Math"/>
                <a:cs typeface="Cambria Math"/>
              </a:rPr>
              <a:t>)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9739" y="4001515"/>
            <a:ext cx="403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75">
                <a:latin typeface="Cambria Math"/>
                <a:cs typeface="Cambria Math"/>
              </a:rPr>
              <a:t>+</a:t>
            </a:r>
            <a:r>
              <a:rPr dirty="0" sz="1800" spc="-50">
                <a:latin typeface="Cambria Math"/>
                <a:cs typeface="Cambria Math"/>
              </a:rPr>
              <a:t>→</a:t>
            </a:r>
            <a:r>
              <a:rPr dirty="0" sz="1800" spc="-760"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17857" y="3398011"/>
            <a:ext cx="1249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5710" algn="l"/>
              </a:tabLst>
            </a:pPr>
            <a:r>
              <a:rPr dirty="0" baseline="-25462" sz="3600">
                <a:latin typeface="Cambria Math"/>
                <a:cs typeface="Cambria Math"/>
              </a:rPr>
              <a:t>= </a:t>
            </a:r>
            <a:r>
              <a:rPr dirty="0" baseline="-25462" sz="3600" spc="2940">
                <a:latin typeface="Cambria Math"/>
                <a:cs typeface="Cambria Math"/>
              </a:rPr>
              <a:t>$</a:t>
            </a:r>
            <a:r>
              <a:rPr dirty="0" sz="2400" spc="635" u="heavy">
                <a:latin typeface="Cambria Math"/>
                <a:cs typeface="Cambria Math"/>
              </a:rPr>
              <a:t> </a:t>
            </a:r>
            <a:r>
              <a:rPr dirty="0" sz="1800" spc="-715" u="heavy">
                <a:latin typeface="Cambria Math"/>
                <a:cs typeface="Cambria Math"/>
              </a:rPr>
              <a:t>+	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84366" y="3135884"/>
            <a:ext cx="476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092" sz="3600" spc="157">
                <a:latin typeface="Cambria Math"/>
                <a:cs typeface="Cambria Math"/>
              </a:rPr>
              <a:t>𝑟</a:t>
            </a: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385">
                <a:latin typeface="Cambria Math"/>
                <a:cs typeface="Cambria Math"/>
              </a:rPr>
              <a:t>'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77456" y="3739388"/>
            <a:ext cx="281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𝑑</a:t>
            </a:r>
            <a:r>
              <a:rPr dirty="0" baseline="-15432" sz="2700" spc="-1072">
                <a:latin typeface="Cambria Math"/>
                <a:cs typeface="Cambria Math"/>
              </a:rPr>
              <a:t>+</a:t>
            </a:r>
            <a:endParaRPr baseline="-15432" sz="27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726" y="5213684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1" y="1143000"/>
                </a:moveTo>
                <a:lnTo>
                  <a:pt x="46540" y="1137011"/>
                </a:lnTo>
                <a:lnTo>
                  <a:pt x="22318" y="1120681"/>
                </a:lnTo>
                <a:lnTo>
                  <a:pt x="5988" y="1096460"/>
                </a:lnTo>
                <a:lnTo>
                  <a:pt x="0" y="1066799"/>
                </a:lnTo>
                <a:lnTo>
                  <a:pt x="0" y="76201"/>
                </a:lnTo>
                <a:lnTo>
                  <a:pt x="5988" y="46540"/>
                </a:lnTo>
                <a:lnTo>
                  <a:pt x="22318" y="22318"/>
                </a:lnTo>
                <a:lnTo>
                  <a:pt x="46540" y="5988"/>
                </a:lnTo>
                <a:lnTo>
                  <a:pt x="76201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611725" y="5213684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0" y="0"/>
                </a:moveTo>
                <a:lnTo>
                  <a:pt x="29660" y="5988"/>
                </a:lnTo>
                <a:lnTo>
                  <a:pt x="53882" y="22318"/>
                </a:lnTo>
                <a:lnTo>
                  <a:pt x="70212" y="46540"/>
                </a:lnTo>
                <a:lnTo>
                  <a:pt x="76201" y="76201"/>
                </a:lnTo>
                <a:lnTo>
                  <a:pt x="76201" y="1066799"/>
                </a:lnTo>
                <a:lnTo>
                  <a:pt x="70212" y="1096460"/>
                </a:lnTo>
                <a:lnTo>
                  <a:pt x="53882" y="1120681"/>
                </a:lnTo>
                <a:lnTo>
                  <a:pt x="29660" y="1137011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14800" y="5213684"/>
            <a:ext cx="117475" cy="1143000"/>
          </a:xfrm>
          <a:custGeom>
            <a:avLst/>
            <a:gdLst/>
            <a:ahLst/>
            <a:cxnLst/>
            <a:rect l="l" t="t" r="r" b="b"/>
            <a:pathLst>
              <a:path w="117475" h="1143000">
                <a:moveTo>
                  <a:pt x="117261" y="1143000"/>
                </a:moveTo>
                <a:lnTo>
                  <a:pt x="71617" y="1133785"/>
                </a:lnTo>
                <a:lnTo>
                  <a:pt x="34345" y="1108654"/>
                </a:lnTo>
                <a:lnTo>
                  <a:pt x="9214" y="1071382"/>
                </a:lnTo>
                <a:lnTo>
                  <a:pt x="0" y="1025739"/>
                </a:lnTo>
                <a:lnTo>
                  <a:pt x="0" y="117261"/>
                </a:lnTo>
                <a:lnTo>
                  <a:pt x="9214" y="71617"/>
                </a:lnTo>
                <a:lnTo>
                  <a:pt x="34345" y="34345"/>
                </a:lnTo>
                <a:lnTo>
                  <a:pt x="71617" y="9214"/>
                </a:lnTo>
                <a:lnTo>
                  <a:pt x="117261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01088" y="5213684"/>
            <a:ext cx="117475" cy="1143000"/>
          </a:xfrm>
          <a:custGeom>
            <a:avLst/>
            <a:gdLst/>
            <a:ahLst/>
            <a:cxnLst/>
            <a:rect l="l" t="t" r="r" b="b"/>
            <a:pathLst>
              <a:path w="117475" h="1143000">
                <a:moveTo>
                  <a:pt x="0" y="0"/>
                </a:moveTo>
                <a:lnTo>
                  <a:pt x="45643" y="9214"/>
                </a:lnTo>
                <a:lnTo>
                  <a:pt x="82916" y="34345"/>
                </a:lnTo>
                <a:lnTo>
                  <a:pt x="108046" y="71617"/>
                </a:lnTo>
                <a:lnTo>
                  <a:pt x="117261" y="117261"/>
                </a:lnTo>
                <a:lnTo>
                  <a:pt x="117261" y="1025739"/>
                </a:lnTo>
                <a:lnTo>
                  <a:pt x="108046" y="1071382"/>
                </a:lnTo>
                <a:lnTo>
                  <a:pt x="82916" y="1108654"/>
                </a:lnTo>
                <a:lnTo>
                  <a:pt x="45643" y="1133785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66305" y="5205299"/>
            <a:ext cx="130810" cy="1143000"/>
          </a:xfrm>
          <a:custGeom>
            <a:avLst/>
            <a:gdLst/>
            <a:ahLst/>
            <a:cxnLst/>
            <a:rect l="l" t="t" r="r" b="b"/>
            <a:pathLst>
              <a:path w="130810" h="1143000">
                <a:moveTo>
                  <a:pt x="130570" y="1143000"/>
                </a:moveTo>
                <a:lnTo>
                  <a:pt x="79746" y="1132739"/>
                </a:lnTo>
                <a:lnTo>
                  <a:pt x="38243" y="1104757"/>
                </a:lnTo>
                <a:lnTo>
                  <a:pt x="10260" y="1063253"/>
                </a:lnTo>
                <a:lnTo>
                  <a:pt x="0" y="1012430"/>
                </a:lnTo>
                <a:lnTo>
                  <a:pt x="0" y="130570"/>
                </a:lnTo>
                <a:lnTo>
                  <a:pt x="10260" y="79746"/>
                </a:lnTo>
                <a:lnTo>
                  <a:pt x="38243" y="38243"/>
                </a:lnTo>
                <a:lnTo>
                  <a:pt x="79746" y="10260"/>
                </a:lnTo>
                <a:lnTo>
                  <a:pt x="130570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19141" y="5205299"/>
            <a:ext cx="130810" cy="1143000"/>
          </a:xfrm>
          <a:custGeom>
            <a:avLst/>
            <a:gdLst/>
            <a:ahLst/>
            <a:cxnLst/>
            <a:rect l="l" t="t" r="r" b="b"/>
            <a:pathLst>
              <a:path w="130810" h="1143000">
                <a:moveTo>
                  <a:pt x="0" y="0"/>
                </a:moveTo>
                <a:lnTo>
                  <a:pt x="50823" y="10260"/>
                </a:lnTo>
                <a:lnTo>
                  <a:pt x="92327" y="38243"/>
                </a:lnTo>
                <a:lnTo>
                  <a:pt x="120309" y="79746"/>
                </a:lnTo>
                <a:lnTo>
                  <a:pt x="130570" y="130570"/>
                </a:lnTo>
                <a:lnTo>
                  <a:pt x="130570" y="1012430"/>
                </a:lnTo>
                <a:lnTo>
                  <a:pt x="120309" y="1063253"/>
                </a:lnTo>
                <a:lnTo>
                  <a:pt x="92327" y="1104757"/>
                </a:lnTo>
                <a:lnTo>
                  <a:pt x="50823" y="1132739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5216" y="347472"/>
            <a:ext cx="6187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8108" y="1238431"/>
            <a:ext cx="3085465" cy="11468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Power</a:t>
            </a:r>
            <a:r>
              <a:rPr dirty="0" sz="3200" spc="-4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Iteration: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145">
                <a:latin typeface="Cambria Math"/>
                <a:cs typeface="Cambria Math"/>
              </a:rPr>
              <a:t>𝑟</a:t>
            </a:r>
            <a:r>
              <a:rPr dirty="0" baseline="-16666" sz="3000" spc="-217">
                <a:latin typeface="Cambria Math"/>
                <a:cs typeface="Cambria Math"/>
              </a:rPr>
              <a:t>-  </a:t>
            </a:r>
            <a:r>
              <a:rPr dirty="0" sz="2800">
                <a:latin typeface="Cambria Math"/>
                <a:cs typeface="Cambria Math"/>
              </a:rPr>
              <a:t>←</a:t>
            </a:r>
            <a:r>
              <a:rPr dirty="0" sz="2800" spc="200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1</a:t>
            </a:r>
            <a:r>
              <a:rPr dirty="0" sz="2800" spc="-5" i="1">
                <a:latin typeface="Times New Roman"/>
                <a:cs typeface="Times New Roman"/>
              </a:rPr>
              <a:t>/N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1560" y="2753867"/>
            <a:ext cx="1447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65">
                <a:latin typeface="Cambria Math"/>
                <a:cs typeface="Cambria Math"/>
              </a:rPr>
              <a:t>-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563" y="2579115"/>
            <a:ext cx="17843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122045" algn="l"/>
              </a:tabLst>
            </a:pPr>
            <a:r>
              <a:rPr dirty="0" sz="2800" b="1">
                <a:latin typeface="Calibri"/>
                <a:cs typeface="Calibri"/>
              </a:rPr>
              <a:t>1:</a:t>
            </a:r>
            <a:r>
              <a:rPr dirty="0" sz="2800" spc="0" b="1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𝑟′	←</a:t>
            </a:r>
            <a:r>
              <a:rPr dirty="0" sz="2800" spc="55">
                <a:latin typeface="Cambria Math"/>
                <a:cs typeface="Cambria Math"/>
              </a:rPr>
              <a:t> </a:t>
            </a:r>
            <a:r>
              <a:rPr dirty="0" baseline="1984" sz="4200">
                <a:latin typeface="Cambria Math"/>
                <a:cs typeface="Cambria Math"/>
              </a:rPr>
              <a:t>∑</a:t>
            </a:r>
            <a:endParaRPr baseline="1984" sz="4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29864" y="2847339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 h="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15386" y="2473451"/>
            <a:ext cx="780415" cy="626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9050">
              <a:lnSpc>
                <a:spcPts val="2365"/>
              </a:lnSpc>
              <a:spcBef>
                <a:spcPts val="100"/>
              </a:spcBef>
            </a:pPr>
            <a:r>
              <a:rPr dirty="0" sz="2000" spc="-25">
                <a:latin typeface="Cambria Math"/>
                <a:cs typeface="Cambria Math"/>
              </a:rPr>
              <a:t>0</a:t>
            </a:r>
            <a:r>
              <a:rPr dirty="0" baseline="-14705" sz="2550" spc="225">
                <a:latin typeface="Cambria Math"/>
                <a:cs typeface="Cambria Math"/>
              </a:rPr>
              <a:t>!</a:t>
            </a:r>
            <a:endParaRPr baseline="-14705" sz="2550">
              <a:latin typeface="Cambria Math"/>
              <a:cs typeface="Cambria Math"/>
            </a:endParaRPr>
          </a:p>
          <a:p>
            <a:pPr algn="r" marR="5080">
              <a:lnSpc>
                <a:spcPts val="2365"/>
              </a:lnSpc>
            </a:pPr>
            <a:r>
              <a:rPr dirty="0" sz="2000" spc="215">
                <a:latin typeface="Cambria Math"/>
                <a:cs typeface="Cambria Math"/>
              </a:rPr>
              <a:t>.→-</a:t>
            </a:r>
            <a:r>
              <a:rPr dirty="0" sz="2000" spc="40">
                <a:latin typeface="Cambria Math"/>
                <a:cs typeface="Cambria Math"/>
              </a:rPr>
              <a:t> </a:t>
            </a:r>
            <a:r>
              <a:rPr dirty="0" baseline="-19444" sz="3000" spc="247">
                <a:latin typeface="Cambria Math"/>
                <a:cs typeface="Cambria Math"/>
              </a:rPr>
              <a:t>1</a:t>
            </a:r>
            <a:r>
              <a:rPr dirty="0" baseline="-37581" sz="2550" spc="247">
                <a:latin typeface="Cambria Math"/>
                <a:cs typeface="Cambria Math"/>
              </a:rPr>
              <a:t>!</a:t>
            </a:r>
            <a:endParaRPr baseline="-37581" sz="25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108" y="3133513"/>
            <a:ext cx="3132455" cy="1980564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2: </a:t>
            </a:r>
            <a:r>
              <a:rPr dirty="0" sz="2800" spc="-5">
                <a:latin typeface="Calibri"/>
                <a:cs typeface="Calibri"/>
              </a:rPr>
              <a:t>If |</a:t>
            </a:r>
            <a:r>
              <a:rPr dirty="0" sz="2800" spc="-5">
                <a:latin typeface="Cambria Math"/>
                <a:cs typeface="Cambria Math"/>
              </a:rPr>
              <a:t>𝑟 </a:t>
            </a:r>
            <a:r>
              <a:rPr dirty="0" sz="2800">
                <a:latin typeface="Cambria Math"/>
                <a:cs typeface="Cambria Math"/>
              </a:rPr>
              <a:t>− 𝑟’| &gt;</a:t>
            </a:r>
            <a:r>
              <a:rPr dirty="0" sz="2800" spc="300">
                <a:latin typeface="Cambria Math"/>
                <a:cs typeface="Cambria Math"/>
              </a:rPr>
              <a:t> </a:t>
            </a:r>
            <a:r>
              <a:rPr dirty="0" sz="2800" spc="-150">
                <a:latin typeface="Cambria Math"/>
                <a:cs typeface="Cambria Math"/>
              </a:rPr>
              <a:t>𝜀</a:t>
            </a:r>
            <a:r>
              <a:rPr dirty="0" sz="2800" spc="-15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890905" marR="77216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>
                <a:latin typeface="Cambria Math"/>
                <a:cs typeface="Cambria Math"/>
              </a:rPr>
              <a:t>𝑟 ←</a:t>
            </a:r>
            <a:r>
              <a:rPr dirty="0" sz="2400" spc="21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𝑟′</a:t>
            </a:r>
            <a:endParaRPr sz="2400">
              <a:latin typeface="Cambria Math"/>
              <a:cs typeface="Cambria Math"/>
            </a:endParaRPr>
          </a:p>
          <a:p>
            <a:pPr marL="625475" indent="-274320">
              <a:lnSpc>
                <a:spcPts val="334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3: </a:t>
            </a:r>
            <a:r>
              <a:rPr dirty="0" sz="2800" spc="-15">
                <a:latin typeface="Calibri"/>
                <a:cs typeface="Calibri"/>
              </a:rPr>
              <a:t>go 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8149" y="5156708"/>
            <a:ext cx="679450" cy="119316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2400">
                <a:latin typeface="Arial"/>
                <a:cs typeface="Arial"/>
              </a:rPr>
              <a:t>r</a:t>
            </a:r>
            <a:r>
              <a:rPr dirty="0" baseline="-17361" sz="2400">
                <a:latin typeface="Arial"/>
                <a:cs typeface="Arial"/>
              </a:rPr>
              <a:t>y</a:t>
            </a:r>
            <a:endParaRPr baseline="-17361" sz="2400">
              <a:latin typeface="Arial"/>
              <a:cs typeface="Arial"/>
            </a:endParaRPr>
          </a:p>
          <a:p>
            <a:pPr marL="12700" marR="5080">
              <a:lnSpc>
                <a:spcPts val="2810"/>
              </a:lnSpc>
              <a:spcBef>
                <a:spcPts val="459"/>
              </a:spcBef>
              <a:tabLst>
                <a:tab pos="487680" algn="l"/>
              </a:tabLst>
            </a:pPr>
            <a:r>
              <a:rPr dirty="0" sz="2400">
                <a:latin typeface="Arial"/>
                <a:cs typeface="Arial"/>
              </a:rPr>
              <a:t>r</a:t>
            </a:r>
            <a:r>
              <a:rPr dirty="0" baseline="-17361" sz="2400">
                <a:latin typeface="Arial"/>
                <a:cs typeface="Arial"/>
              </a:rPr>
              <a:t>a	</a:t>
            </a:r>
            <a:r>
              <a:rPr dirty="0" sz="2400">
                <a:latin typeface="Arial"/>
                <a:cs typeface="Arial"/>
              </a:rPr>
              <a:t>=  r</a:t>
            </a:r>
            <a:r>
              <a:rPr dirty="0" baseline="-17361" sz="2400">
                <a:latin typeface="Arial"/>
                <a:cs typeface="Arial"/>
              </a:rPr>
              <a:t>m</a:t>
            </a:r>
            <a:endParaRPr baseline="-17361"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28164" y="5156708"/>
            <a:ext cx="448945" cy="119316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45"/>
              </a:lnSpc>
              <a:spcBef>
                <a:spcPts val="309"/>
              </a:spcBef>
            </a:pP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45"/>
              </a:lnSpc>
            </a:pP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55264" y="5237904"/>
            <a:ext cx="423545" cy="1102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55"/>
              </a:lnSpc>
            </a:pP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45"/>
              </a:lnSpc>
              <a:spcBef>
                <a:spcPts val="310"/>
              </a:spcBef>
            </a:pPr>
            <a:r>
              <a:rPr dirty="0" sz="2400">
                <a:latin typeface="Arial"/>
                <a:cs typeface="Arial"/>
              </a:rPr>
              <a:t>3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45"/>
              </a:lnSpc>
            </a:pP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9664" y="5237904"/>
            <a:ext cx="593725" cy="1102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55"/>
              </a:lnSpc>
            </a:pPr>
            <a:r>
              <a:rPr dirty="0" sz="2400">
                <a:latin typeface="Arial"/>
                <a:cs typeface="Arial"/>
              </a:rPr>
              <a:t>5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12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45"/>
              </a:lnSpc>
              <a:spcBef>
                <a:spcPts val="310"/>
              </a:spcBef>
            </a:pPr>
            <a:r>
              <a:rPr dirty="0" sz="2400" spc="-5">
                <a:latin typeface="Arial"/>
                <a:cs typeface="Arial"/>
              </a:rPr>
              <a:t>1/3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45"/>
              </a:lnSpc>
            </a:pPr>
            <a:r>
              <a:rPr dirty="0" sz="2400">
                <a:latin typeface="Arial"/>
                <a:cs typeface="Arial"/>
              </a:rPr>
              <a:t>3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12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84064" y="5237904"/>
            <a:ext cx="741045" cy="1102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55"/>
              </a:lnSpc>
            </a:pPr>
            <a:r>
              <a:rPr dirty="0" sz="2400" spc="-5">
                <a:latin typeface="Arial"/>
                <a:cs typeface="Arial"/>
              </a:rPr>
              <a:t>9/24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45"/>
              </a:lnSpc>
              <a:spcBef>
                <a:spcPts val="310"/>
              </a:spcBef>
            </a:pPr>
            <a:r>
              <a:rPr dirty="0" sz="2400" spc="-180">
                <a:latin typeface="Arial"/>
                <a:cs typeface="Arial"/>
              </a:rPr>
              <a:t>1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24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2845"/>
              </a:lnSpc>
            </a:pPr>
            <a:r>
              <a:rPr dirty="0" sz="2400" spc="-5">
                <a:latin typeface="Arial"/>
                <a:cs typeface="Arial"/>
              </a:rPr>
              <a:t>1/6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8464" y="5237904"/>
            <a:ext cx="1508125" cy="1102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14400">
              <a:lnSpc>
                <a:spcPts val="2655"/>
              </a:lnSpc>
            </a:pPr>
            <a:r>
              <a:rPr dirty="0" sz="2400">
                <a:latin typeface="Arial"/>
                <a:cs typeface="Arial"/>
              </a:rPr>
              <a:t>6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15</a:t>
            </a:r>
            <a:endParaRPr sz="2400">
              <a:latin typeface="Arial"/>
              <a:cs typeface="Arial"/>
            </a:endParaRPr>
          </a:p>
          <a:p>
            <a:pPr marL="914400" indent="-914400">
              <a:lnSpc>
                <a:spcPts val="2810"/>
              </a:lnSpc>
              <a:spcBef>
                <a:spcPts val="459"/>
              </a:spcBef>
              <a:tabLst>
                <a:tab pos="913765" algn="l"/>
              </a:tabLst>
            </a:pPr>
            <a:r>
              <a:rPr dirty="0" sz="2400">
                <a:latin typeface="Arial"/>
                <a:cs typeface="Arial"/>
              </a:rPr>
              <a:t>…	6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15  3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15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58084" y="1860581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4">
                <a:moveTo>
                  <a:pt x="292260" y="48801"/>
                </a:moveTo>
                <a:lnTo>
                  <a:pt x="267488" y="62601"/>
                </a:lnTo>
                <a:lnTo>
                  <a:pt x="0" y="514479"/>
                </a:lnTo>
                <a:lnTo>
                  <a:pt x="2246" y="523242"/>
                </a:lnTo>
                <a:lnTo>
                  <a:pt x="15826" y="531281"/>
                </a:lnTo>
                <a:lnTo>
                  <a:pt x="24589" y="529035"/>
                </a:lnTo>
                <a:lnTo>
                  <a:pt x="292079" y="77155"/>
                </a:lnTo>
                <a:lnTo>
                  <a:pt x="292260" y="48801"/>
                </a:lnTo>
                <a:close/>
              </a:path>
              <a:path w="323214" h="531494">
                <a:moveTo>
                  <a:pt x="320967" y="28354"/>
                </a:moveTo>
                <a:lnTo>
                  <a:pt x="292079" y="77155"/>
                </a:lnTo>
                <a:lnTo>
                  <a:pt x="291731" y="131442"/>
                </a:lnTo>
                <a:lnTo>
                  <a:pt x="298086" y="137880"/>
                </a:lnTo>
                <a:lnTo>
                  <a:pt x="313867" y="137980"/>
                </a:lnTo>
                <a:lnTo>
                  <a:pt x="320305" y="131625"/>
                </a:lnTo>
                <a:lnTo>
                  <a:pt x="320967" y="28354"/>
                </a:lnTo>
                <a:close/>
              </a:path>
              <a:path w="323214" h="531494">
                <a:moveTo>
                  <a:pt x="296376" y="13799"/>
                </a:moveTo>
                <a:lnTo>
                  <a:pt x="206157" y="64056"/>
                </a:lnTo>
                <a:lnTo>
                  <a:pt x="203682" y="72757"/>
                </a:lnTo>
                <a:lnTo>
                  <a:pt x="211363" y="86544"/>
                </a:lnTo>
                <a:lnTo>
                  <a:pt x="220064" y="89019"/>
                </a:lnTo>
                <a:lnTo>
                  <a:pt x="267488" y="62601"/>
                </a:lnTo>
                <a:lnTo>
                  <a:pt x="296376" y="13799"/>
                </a:lnTo>
                <a:close/>
              </a:path>
              <a:path w="323214" h="531494">
                <a:moveTo>
                  <a:pt x="320993" y="24309"/>
                </a:moveTo>
                <a:lnTo>
                  <a:pt x="292417" y="24309"/>
                </a:lnTo>
                <a:lnTo>
                  <a:pt x="313656" y="36882"/>
                </a:lnTo>
                <a:lnTo>
                  <a:pt x="292260" y="48801"/>
                </a:lnTo>
                <a:lnTo>
                  <a:pt x="292079" y="77155"/>
                </a:lnTo>
                <a:lnTo>
                  <a:pt x="320967" y="28354"/>
                </a:lnTo>
                <a:lnTo>
                  <a:pt x="320993" y="24309"/>
                </a:lnTo>
                <a:close/>
              </a:path>
              <a:path w="323214" h="531494">
                <a:moveTo>
                  <a:pt x="307192" y="8087"/>
                </a:moveTo>
                <a:lnTo>
                  <a:pt x="306152" y="8353"/>
                </a:lnTo>
                <a:lnTo>
                  <a:pt x="296376" y="13799"/>
                </a:lnTo>
                <a:lnTo>
                  <a:pt x="267488" y="62601"/>
                </a:lnTo>
                <a:lnTo>
                  <a:pt x="292260" y="48801"/>
                </a:lnTo>
                <a:lnTo>
                  <a:pt x="292417" y="24309"/>
                </a:lnTo>
                <a:lnTo>
                  <a:pt x="320993" y="24309"/>
                </a:lnTo>
                <a:lnTo>
                  <a:pt x="321038" y="17163"/>
                </a:lnTo>
                <a:lnTo>
                  <a:pt x="320772" y="16125"/>
                </a:lnTo>
                <a:lnTo>
                  <a:pt x="307192" y="8087"/>
                </a:lnTo>
                <a:close/>
              </a:path>
              <a:path w="323214" h="531494">
                <a:moveTo>
                  <a:pt x="292417" y="24309"/>
                </a:moveTo>
                <a:lnTo>
                  <a:pt x="292260" y="48801"/>
                </a:lnTo>
                <a:lnTo>
                  <a:pt x="313656" y="36882"/>
                </a:lnTo>
                <a:lnTo>
                  <a:pt x="292417" y="24309"/>
                </a:lnTo>
                <a:close/>
              </a:path>
              <a:path w="323214" h="531494">
                <a:moveTo>
                  <a:pt x="321038" y="17163"/>
                </a:moveTo>
                <a:lnTo>
                  <a:pt x="320967" y="28354"/>
                </a:lnTo>
                <a:lnTo>
                  <a:pt x="323018" y="24889"/>
                </a:lnTo>
                <a:lnTo>
                  <a:pt x="321038" y="17163"/>
                </a:lnTo>
                <a:close/>
              </a:path>
              <a:path w="323214" h="531494">
                <a:moveTo>
                  <a:pt x="321096" y="8087"/>
                </a:moveTo>
                <a:lnTo>
                  <a:pt x="307192" y="8087"/>
                </a:lnTo>
                <a:lnTo>
                  <a:pt x="320772" y="16125"/>
                </a:lnTo>
                <a:lnTo>
                  <a:pt x="321038" y="17163"/>
                </a:lnTo>
                <a:lnTo>
                  <a:pt x="321096" y="8087"/>
                </a:lnTo>
                <a:close/>
              </a:path>
              <a:path w="323214" h="531494">
                <a:moveTo>
                  <a:pt x="306152" y="8353"/>
                </a:moveTo>
                <a:lnTo>
                  <a:pt x="298428" y="10332"/>
                </a:lnTo>
                <a:lnTo>
                  <a:pt x="296376" y="13799"/>
                </a:lnTo>
                <a:lnTo>
                  <a:pt x="306152" y="8353"/>
                </a:lnTo>
                <a:close/>
              </a:path>
              <a:path w="323214" h="531494">
                <a:moveTo>
                  <a:pt x="321148" y="0"/>
                </a:moveTo>
                <a:lnTo>
                  <a:pt x="306152" y="8353"/>
                </a:lnTo>
                <a:lnTo>
                  <a:pt x="307192" y="8087"/>
                </a:lnTo>
                <a:lnTo>
                  <a:pt x="321096" y="8087"/>
                </a:lnTo>
                <a:lnTo>
                  <a:pt x="32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25676" y="1784211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4">
                <a:moveTo>
                  <a:pt x="1979" y="514117"/>
                </a:moveTo>
                <a:lnTo>
                  <a:pt x="1869" y="531281"/>
                </a:lnTo>
                <a:lnTo>
                  <a:pt x="16387" y="523194"/>
                </a:lnTo>
                <a:lnTo>
                  <a:pt x="15825" y="523194"/>
                </a:lnTo>
                <a:lnTo>
                  <a:pt x="2245" y="515155"/>
                </a:lnTo>
                <a:lnTo>
                  <a:pt x="1979" y="514117"/>
                </a:lnTo>
                <a:close/>
              </a:path>
              <a:path w="323214" h="531494">
                <a:moveTo>
                  <a:pt x="30938" y="454125"/>
                </a:moveTo>
                <a:lnTo>
                  <a:pt x="2051" y="502927"/>
                </a:lnTo>
                <a:lnTo>
                  <a:pt x="1979" y="514117"/>
                </a:lnTo>
                <a:lnTo>
                  <a:pt x="2245" y="515155"/>
                </a:lnTo>
                <a:lnTo>
                  <a:pt x="15825" y="523194"/>
                </a:lnTo>
                <a:lnTo>
                  <a:pt x="16865" y="522927"/>
                </a:lnTo>
                <a:lnTo>
                  <a:pt x="26642" y="517481"/>
                </a:lnTo>
                <a:lnTo>
                  <a:pt x="32863" y="506972"/>
                </a:lnTo>
                <a:lnTo>
                  <a:pt x="30600" y="506972"/>
                </a:lnTo>
                <a:lnTo>
                  <a:pt x="9361" y="494399"/>
                </a:lnTo>
                <a:lnTo>
                  <a:pt x="30757" y="482480"/>
                </a:lnTo>
                <a:lnTo>
                  <a:pt x="30938" y="454125"/>
                </a:lnTo>
                <a:close/>
              </a:path>
              <a:path w="323214" h="531494">
                <a:moveTo>
                  <a:pt x="16865" y="522927"/>
                </a:moveTo>
                <a:lnTo>
                  <a:pt x="15825" y="523194"/>
                </a:lnTo>
                <a:lnTo>
                  <a:pt x="16387" y="523194"/>
                </a:lnTo>
                <a:lnTo>
                  <a:pt x="16865" y="522927"/>
                </a:lnTo>
                <a:close/>
              </a:path>
              <a:path w="323214" h="531494">
                <a:moveTo>
                  <a:pt x="26642" y="517481"/>
                </a:moveTo>
                <a:lnTo>
                  <a:pt x="16865" y="522927"/>
                </a:lnTo>
                <a:lnTo>
                  <a:pt x="24589" y="520948"/>
                </a:lnTo>
                <a:lnTo>
                  <a:pt x="26642" y="517481"/>
                </a:lnTo>
                <a:close/>
              </a:path>
              <a:path w="323214" h="531494">
                <a:moveTo>
                  <a:pt x="102953" y="442262"/>
                </a:moveTo>
                <a:lnTo>
                  <a:pt x="55529" y="468680"/>
                </a:lnTo>
                <a:lnTo>
                  <a:pt x="26642" y="517481"/>
                </a:lnTo>
                <a:lnTo>
                  <a:pt x="116859" y="467225"/>
                </a:lnTo>
                <a:lnTo>
                  <a:pt x="119335" y="458524"/>
                </a:lnTo>
                <a:lnTo>
                  <a:pt x="111654" y="444737"/>
                </a:lnTo>
                <a:lnTo>
                  <a:pt x="102953" y="442262"/>
                </a:lnTo>
                <a:close/>
              </a:path>
              <a:path w="323214" h="531494">
                <a:moveTo>
                  <a:pt x="2051" y="502927"/>
                </a:moveTo>
                <a:lnTo>
                  <a:pt x="0" y="506392"/>
                </a:lnTo>
                <a:lnTo>
                  <a:pt x="1979" y="514117"/>
                </a:lnTo>
                <a:lnTo>
                  <a:pt x="2051" y="502927"/>
                </a:lnTo>
                <a:close/>
              </a:path>
              <a:path w="323214" h="531494">
                <a:moveTo>
                  <a:pt x="30757" y="482480"/>
                </a:moveTo>
                <a:lnTo>
                  <a:pt x="9361" y="494399"/>
                </a:lnTo>
                <a:lnTo>
                  <a:pt x="30600" y="506972"/>
                </a:lnTo>
                <a:lnTo>
                  <a:pt x="30757" y="482480"/>
                </a:lnTo>
                <a:close/>
              </a:path>
              <a:path w="323214" h="531494">
                <a:moveTo>
                  <a:pt x="55529" y="468680"/>
                </a:moveTo>
                <a:lnTo>
                  <a:pt x="30757" y="482480"/>
                </a:lnTo>
                <a:lnTo>
                  <a:pt x="30600" y="506972"/>
                </a:lnTo>
                <a:lnTo>
                  <a:pt x="32863" y="506972"/>
                </a:lnTo>
                <a:lnTo>
                  <a:pt x="55529" y="468680"/>
                </a:lnTo>
                <a:close/>
              </a:path>
              <a:path w="323214" h="531494">
                <a:moveTo>
                  <a:pt x="9150" y="393301"/>
                </a:moveTo>
                <a:lnTo>
                  <a:pt x="2712" y="399656"/>
                </a:lnTo>
                <a:lnTo>
                  <a:pt x="2051" y="502927"/>
                </a:lnTo>
                <a:lnTo>
                  <a:pt x="30938" y="454125"/>
                </a:lnTo>
                <a:lnTo>
                  <a:pt x="31286" y="399839"/>
                </a:lnTo>
                <a:lnTo>
                  <a:pt x="24931" y="393401"/>
                </a:lnTo>
                <a:lnTo>
                  <a:pt x="9150" y="393301"/>
                </a:lnTo>
                <a:close/>
              </a:path>
              <a:path w="323214" h="531494">
                <a:moveTo>
                  <a:pt x="307191" y="0"/>
                </a:moveTo>
                <a:lnTo>
                  <a:pt x="298428" y="2246"/>
                </a:lnTo>
                <a:lnTo>
                  <a:pt x="30938" y="454125"/>
                </a:lnTo>
                <a:lnTo>
                  <a:pt x="30757" y="482480"/>
                </a:lnTo>
                <a:lnTo>
                  <a:pt x="55529" y="468680"/>
                </a:lnTo>
                <a:lnTo>
                  <a:pt x="323018" y="16802"/>
                </a:lnTo>
                <a:lnTo>
                  <a:pt x="320771" y="8039"/>
                </a:lnTo>
                <a:lnTo>
                  <a:pt x="307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92328" y="2392864"/>
            <a:ext cx="987425" cy="148590"/>
          </a:xfrm>
          <a:custGeom>
            <a:avLst/>
            <a:gdLst/>
            <a:ahLst/>
            <a:cxnLst/>
            <a:rect l="l" t="t" r="r" b="b"/>
            <a:pathLst>
              <a:path w="987425" h="148589">
                <a:moveTo>
                  <a:pt x="904963" y="98963"/>
                </a:moveTo>
                <a:lnTo>
                  <a:pt x="856077" y="122568"/>
                </a:lnTo>
                <a:lnTo>
                  <a:pt x="853099" y="131110"/>
                </a:lnTo>
                <a:lnTo>
                  <a:pt x="859961" y="145322"/>
                </a:lnTo>
                <a:lnTo>
                  <a:pt x="868503" y="148301"/>
                </a:lnTo>
                <a:lnTo>
                  <a:pt x="961502" y="103395"/>
                </a:lnTo>
                <a:lnTo>
                  <a:pt x="904963" y="98963"/>
                </a:lnTo>
                <a:close/>
              </a:path>
              <a:path w="987425" h="148589">
                <a:moveTo>
                  <a:pt x="971584" y="98527"/>
                </a:moveTo>
                <a:lnTo>
                  <a:pt x="961502" y="103395"/>
                </a:lnTo>
                <a:lnTo>
                  <a:pt x="965520" y="103710"/>
                </a:lnTo>
                <a:lnTo>
                  <a:pt x="971584" y="98527"/>
                </a:lnTo>
                <a:close/>
              </a:path>
              <a:path w="987425" h="148589">
                <a:moveTo>
                  <a:pt x="930497" y="86634"/>
                </a:moveTo>
                <a:lnTo>
                  <a:pt x="904963" y="98963"/>
                </a:lnTo>
                <a:lnTo>
                  <a:pt x="961502" y="103395"/>
                </a:lnTo>
                <a:lnTo>
                  <a:pt x="967310" y="100591"/>
                </a:lnTo>
                <a:lnTo>
                  <a:pt x="950625" y="100591"/>
                </a:lnTo>
                <a:lnTo>
                  <a:pt x="930497" y="86634"/>
                </a:lnTo>
                <a:close/>
              </a:path>
              <a:path w="987425" h="148589">
                <a:moveTo>
                  <a:pt x="952554" y="75984"/>
                </a:moveTo>
                <a:lnTo>
                  <a:pt x="930497" y="86634"/>
                </a:lnTo>
                <a:lnTo>
                  <a:pt x="950625" y="100591"/>
                </a:lnTo>
                <a:lnTo>
                  <a:pt x="952554" y="75984"/>
                </a:lnTo>
                <a:close/>
              </a:path>
              <a:path w="987425" h="148589">
                <a:moveTo>
                  <a:pt x="965285" y="75984"/>
                </a:moveTo>
                <a:lnTo>
                  <a:pt x="952554" y="75984"/>
                </a:lnTo>
                <a:lnTo>
                  <a:pt x="950625" y="100591"/>
                </a:lnTo>
                <a:lnTo>
                  <a:pt x="967310" y="100591"/>
                </a:lnTo>
                <a:lnTo>
                  <a:pt x="971584" y="98527"/>
                </a:lnTo>
                <a:lnTo>
                  <a:pt x="972397" y="97833"/>
                </a:lnTo>
                <a:lnTo>
                  <a:pt x="973630" y="82100"/>
                </a:lnTo>
                <a:lnTo>
                  <a:pt x="972937" y="81290"/>
                </a:lnTo>
                <a:lnTo>
                  <a:pt x="965285" y="75984"/>
                </a:lnTo>
                <a:close/>
              </a:path>
              <a:path w="987425" h="148589">
                <a:moveTo>
                  <a:pt x="8110" y="0"/>
                </a:moveTo>
                <a:lnTo>
                  <a:pt x="1233" y="5877"/>
                </a:lnTo>
                <a:lnTo>
                  <a:pt x="0" y="21610"/>
                </a:lnTo>
                <a:lnTo>
                  <a:pt x="5876" y="28487"/>
                </a:lnTo>
                <a:lnTo>
                  <a:pt x="904963" y="98963"/>
                </a:lnTo>
                <a:lnTo>
                  <a:pt x="930497" y="86634"/>
                </a:lnTo>
                <a:lnTo>
                  <a:pt x="907196" y="70476"/>
                </a:lnTo>
                <a:lnTo>
                  <a:pt x="8110" y="0"/>
                </a:lnTo>
                <a:close/>
              </a:path>
              <a:path w="987425" h="148589">
                <a:moveTo>
                  <a:pt x="972937" y="81290"/>
                </a:moveTo>
                <a:lnTo>
                  <a:pt x="973630" y="82100"/>
                </a:lnTo>
                <a:lnTo>
                  <a:pt x="972397" y="97833"/>
                </a:lnTo>
                <a:lnTo>
                  <a:pt x="971584" y="98527"/>
                </a:lnTo>
                <a:lnTo>
                  <a:pt x="987036" y="91066"/>
                </a:lnTo>
                <a:lnTo>
                  <a:pt x="972937" y="81290"/>
                </a:lnTo>
                <a:close/>
              </a:path>
              <a:path w="987425" h="148589">
                <a:moveTo>
                  <a:pt x="907196" y="70476"/>
                </a:moveTo>
                <a:lnTo>
                  <a:pt x="930497" y="86634"/>
                </a:lnTo>
                <a:lnTo>
                  <a:pt x="952554" y="75984"/>
                </a:lnTo>
                <a:lnTo>
                  <a:pt x="965285" y="75984"/>
                </a:lnTo>
                <a:lnTo>
                  <a:pt x="963734" y="74908"/>
                </a:lnTo>
                <a:lnTo>
                  <a:pt x="907196" y="70476"/>
                </a:lnTo>
                <a:close/>
              </a:path>
              <a:path w="987425" h="148589">
                <a:moveTo>
                  <a:pt x="963734" y="74908"/>
                </a:moveTo>
                <a:lnTo>
                  <a:pt x="972937" y="81290"/>
                </a:lnTo>
                <a:lnTo>
                  <a:pt x="967752" y="75223"/>
                </a:lnTo>
                <a:lnTo>
                  <a:pt x="963734" y="74908"/>
                </a:lnTo>
                <a:close/>
              </a:path>
              <a:path w="987425" h="148589">
                <a:moveTo>
                  <a:pt x="878869" y="16060"/>
                </a:moveTo>
                <a:lnTo>
                  <a:pt x="869967" y="17672"/>
                </a:lnTo>
                <a:lnTo>
                  <a:pt x="860974" y="30640"/>
                </a:lnTo>
                <a:lnTo>
                  <a:pt x="862586" y="39542"/>
                </a:lnTo>
                <a:lnTo>
                  <a:pt x="907196" y="70476"/>
                </a:lnTo>
                <a:lnTo>
                  <a:pt x="963734" y="74908"/>
                </a:lnTo>
                <a:lnTo>
                  <a:pt x="878869" y="16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308727" y="2529834"/>
            <a:ext cx="987425" cy="148590"/>
          </a:xfrm>
          <a:custGeom>
            <a:avLst/>
            <a:gdLst/>
            <a:ahLst/>
            <a:cxnLst/>
            <a:rect l="l" t="t" r="r" b="b"/>
            <a:pathLst>
              <a:path w="987425" h="148589">
                <a:moveTo>
                  <a:pt x="82072" y="49337"/>
                </a:moveTo>
                <a:lnTo>
                  <a:pt x="56537" y="61667"/>
                </a:lnTo>
                <a:lnTo>
                  <a:pt x="79837" y="77824"/>
                </a:lnTo>
                <a:lnTo>
                  <a:pt x="978926" y="148301"/>
                </a:lnTo>
                <a:lnTo>
                  <a:pt x="985803" y="142424"/>
                </a:lnTo>
                <a:lnTo>
                  <a:pt x="987036" y="126691"/>
                </a:lnTo>
                <a:lnTo>
                  <a:pt x="981158" y="119814"/>
                </a:lnTo>
                <a:lnTo>
                  <a:pt x="82072" y="49337"/>
                </a:lnTo>
                <a:close/>
              </a:path>
              <a:path w="987425" h="148589">
                <a:moveTo>
                  <a:pt x="23300" y="73393"/>
                </a:moveTo>
                <a:lnTo>
                  <a:pt x="108167" y="132241"/>
                </a:lnTo>
                <a:lnTo>
                  <a:pt x="117068" y="130629"/>
                </a:lnTo>
                <a:lnTo>
                  <a:pt x="126061" y="117661"/>
                </a:lnTo>
                <a:lnTo>
                  <a:pt x="124449" y="108760"/>
                </a:lnTo>
                <a:lnTo>
                  <a:pt x="79837" y="77824"/>
                </a:lnTo>
                <a:lnTo>
                  <a:pt x="23300" y="73393"/>
                </a:lnTo>
                <a:close/>
              </a:path>
              <a:path w="987425" h="148589">
                <a:moveTo>
                  <a:pt x="25535" y="44906"/>
                </a:moveTo>
                <a:lnTo>
                  <a:pt x="15449" y="49776"/>
                </a:lnTo>
                <a:lnTo>
                  <a:pt x="14639" y="50468"/>
                </a:lnTo>
                <a:lnTo>
                  <a:pt x="13406" y="66201"/>
                </a:lnTo>
                <a:lnTo>
                  <a:pt x="14100" y="67014"/>
                </a:lnTo>
                <a:lnTo>
                  <a:pt x="23300" y="73393"/>
                </a:lnTo>
                <a:lnTo>
                  <a:pt x="79837" y="77824"/>
                </a:lnTo>
                <a:lnTo>
                  <a:pt x="71895" y="72317"/>
                </a:lnTo>
                <a:lnTo>
                  <a:pt x="34481" y="72317"/>
                </a:lnTo>
                <a:lnTo>
                  <a:pt x="36410" y="47711"/>
                </a:lnTo>
                <a:lnTo>
                  <a:pt x="61323" y="47711"/>
                </a:lnTo>
                <a:lnTo>
                  <a:pt x="25535" y="44906"/>
                </a:lnTo>
                <a:close/>
              </a:path>
              <a:path w="987425" h="148589">
                <a:moveTo>
                  <a:pt x="14100" y="67014"/>
                </a:moveTo>
                <a:lnTo>
                  <a:pt x="19283" y="73078"/>
                </a:lnTo>
                <a:lnTo>
                  <a:pt x="23300" y="73393"/>
                </a:lnTo>
                <a:lnTo>
                  <a:pt x="14100" y="67014"/>
                </a:lnTo>
                <a:close/>
              </a:path>
              <a:path w="987425" h="148589">
                <a:moveTo>
                  <a:pt x="36410" y="47711"/>
                </a:moveTo>
                <a:lnTo>
                  <a:pt x="34481" y="72317"/>
                </a:lnTo>
                <a:lnTo>
                  <a:pt x="56537" y="61667"/>
                </a:lnTo>
                <a:lnTo>
                  <a:pt x="36410" y="47711"/>
                </a:lnTo>
                <a:close/>
              </a:path>
              <a:path w="987425" h="148589">
                <a:moveTo>
                  <a:pt x="56537" y="61667"/>
                </a:moveTo>
                <a:lnTo>
                  <a:pt x="34481" y="72317"/>
                </a:lnTo>
                <a:lnTo>
                  <a:pt x="71895" y="72317"/>
                </a:lnTo>
                <a:lnTo>
                  <a:pt x="56537" y="61667"/>
                </a:lnTo>
                <a:close/>
              </a:path>
              <a:path w="987425" h="148589">
                <a:moveTo>
                  <a:pt x="15449" y="49776"/>
                </a:moveTo>
                <a:lnTo>
                  <a:pt x="0" y="57236"/>
                </a:lnTo>
                <a:lnTo>
                  <a:pt x="14100" y="67014"/>
                </a:lnTo>
                <a:lnTo>
                  <a:pt x="13406" y="66201"/>
                </a:lnTo>
                <a:lnTo>
                  <a:pt x="14639" y="50468"/>
                </a:lnTo>
                <a:lnTo>
                  <a:pt x="15449" y="49776"/>
                </a:lnTo>
                <a:close/>
              </a:path>
              <a:path w="987425" h="148589">
                <a:moveTo>
                  <a:pt x="61323" y="47711"/>
                </a:moveTo>
                <a:lnTo>
                  <a:pt x="36410" y="47711"/>
                </a:lnTo>
                <a:lnTo>
                  <a:pt x="56537" y="61667"/>
                </a:lnTo>
                <a:lnTo>
                  <a:pt x="82072" y="49337"/>
                </a:lnTo>
                <a:lnTo>
                  <a:pt x="61323" y="47711"/>
                </a:lnTo>
                <a:close/>
              </a:path>
              <a:path w="987425" h="148589">
                <a:moveTo>
                  <a:pt x="21516" y="44590"/>
                </a:moveTo>
                <a:lnTo>
                  <a:pt x="15449" y="49776"/>
                </a:lnTo>
                <a:lnTo>
                  <a:pt x="25535" y="44906"/>
                </a:lnTo>
                <a:lnTo>
                  <a:pt x="21516" y="44590"/>
                </a:lnTo>
                <a:close/>
              </a:path>
              <a:path w="987425" h="148589">
                <a:moveTo>
                  <a:pt x="118532" y="0"/>
                </a:moveTo>
                <a:lnTo>
                  <a:pt x="25535" y="44906"/>
                </a:lnTo>
                <a:lnTo>
                  <a:pt x="82072" y="49337"/>
                </a:lnTo>
                <a:lnTo>
                  <a:pt x="130957" y="25732"/>
                </a:lnTo>
                <a:lnTo>
                  <a:pt x="133936" y="17190"/>
                </a:lnTo>
                <a:lnTo>
                  <a:pt x="127074" y="2979"/>
                </a:lnTo>
                <a:lnTo>
                  <a:pt x="1185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362187" y="1191973"/>
            <a:ext cx="527685" cy="486409"/>
          </a:xfrm>
          <a:custGeom>
            <a:avLst/>
            <a:gdLst/>
            <a:ahLst/>
            <a:cxnLst/>
            <a:rect l="l" t="t" r="r" b="b"/>
            <a:pathLst>
              <a:path w="527685" h="486410">
                <a:moveTo>
                  <a:pt x="388835" y="28520"/>
                </a:moveTo>
                <a:lnTo>
                  <a:pt x="283618" y="28520"/>
                </a:lnTo>
                <a:lnTo>
                  <a:pt x="303363" y="29632"/>
                </a:lnTo>
                <a:lnTo>
                  <a:pt x="323088" y="33098"/>
                </a:lnTo>
                <a:lnTo>
                  <a:pt x="361792" y="46556"/>
                </a:lnTo>
                <a:lnTo>
                  <a:pt x="398297" y="67744"/>
                </a:lnTo>
                <a:lnTo>
                  <a:pt x="431139" y="95370"/>
                </a:lnTo>
                <a:lnTo>
                  <a:pt x="458895" y="128049"/>
                </a:lnTo>
                <a:lnTo>
                  <a:pt x="480222" y="164330"/>
                </a:lnTo>
                <a:lnTo>
                  <a:pt x="493896" y="202752"/>
                </a:lnTo>
                <a:lnTo>
                  <a:pt x="498831" y="241985"/>
                </a:lnTo>
                <a:lnTo>
                  <a:pt x="497719" y="261731"/>
                </a:lnTo>
                <a:lnTo>
                  <a:pt x="488566" y="300991"/>
                </a:lnTo>
                <a:lnTo>
                  <a:pt x="471089" y="338780"/>
                </a:lnTo>
                <a:lnTo>
                  <a:pt x="446515" y="373635"/>
                </a:lnTo>
                <a:lnTo>
                  <a:pt x="416185" y="404107"/>
                </a:lnTo>
                <a:lnTo>
                  <a:pt x="381521" y="428810"/>
                </a:lnTo>
                <a:lnTo>
                  <a:pt x="343989" y="446454"/>
                </a:lnTo>
                <a:lnTo>
                  <a:pt x="305022" y="455888"/>
                </a:lnTo>
                <a:lnTo>
                  <a:pt x="275742" y="457682"/>
                </a:lnTo>
                <a:lnTo>
                  <a:pt x="269749" y="464458"/>
                </a:lnTo>
                <a:lnTo>
                  <a:pt x="270714" y="480209"/>
                </a:lnTo>
                <a:lnTo>
                  <a:pt x="277489" y="486202"/>
                </a:lnTo>
                <a:lnTo>
                  <a:pt x="306769" y="484409"/>
                </a:lnTo>
                <a:lnTo>
                  <a:pt x="352075" y="473862"/>
                </a:lnTo>
                <a:lnTo>
                  <a:pt x="394799" y="454113"/>
                </a:lnTo>
                <a:lnTo>
                  <a:pt x="433693" y="426689"/>
                </a:lnTo>
                <a:lnTo>
                  <a:pt x="467545" y="392979"/>
                </a:lnTo>
                <a:lnTo>
                  <a:pt x="495098" y="354276"/>
                </a:lnTo>
                <a:lnTo>
                  <a:pt x="515014" y="311809"/>
                </a:lnTo>
                <a:lnTo>
                  <a:pt x="525842" y="266795"/>
                </a:lnTo>
                <a:lnTo>
                  <a:pt x="527353" y="243734"/>
                </a:lnTo>
                <a:lnTo>
                  <a:pt x="526041" y="220582"/>
                </a:lnTo>
                <a:lnTo>
                  <a:pt x="515494" y="175276"/>
                </a:lnTo>
                <a:lnTo>
                  <a:pt x="495745" y="132553"/>
                </a:lnTo>
                <a:lnTo>
                  <a:pt x="468321" y="93658"/>
                </a:lnTo>
                <a:lnTo>
                  <a:pt x="434611" y="59806"/>
                </a:lnTo>
                <a:lnTo>
                  <a:pt x="395908" y="32254"/>
                </a:lnTo>
                <a:lnTo>
                  <a:pt x="388835" y="28520"/>
                </a:lnTo>
                <a:close/>
              </a:path>
              <a:path w="527685" h="486410">
                <a:moveTo>
                  <a:pt x="48623" y="227437"/>
                </a:moveTo>
                <a:lnTo>
                  <a:pt x="55886" y="242925"/>
                </a:lnTo>
                <a:lnTo>
                  <a:pt x="64965" y="230144"/>
                </a:lnTo>
                <a:lnTo>
                  <a:pt x="63657" y="230144"/>
                </a:lnTo>
                <a:lnTo>
                  <a:pt x="48623" y="227437"/>
                </a:lnTo>
                <a:close/>
              </a:path>
              <a:path w="527685" h="486410">
                <a:moveTo>
                  <a:pt x="54490" y="172647"/>
                </a:moveTo>
                <a:lnTo>
                  <a:pt x="53969" y="173911"/>
                </a:lnTo>
                <a:lnTo>
                  <a:pt x="47324" y="196178"/>
                </a:lnTo>
                <a:lnTo>
                  <a:pt x="44361" y="212153"/>
                </a:lnTo>
                <a:lnTo>
                  <a:pt x="43555" y="216630"/>
                </a:lnTo>
                <a:lnTo>
                  <a:pt x="48623" y="227437"/>
                </a:lnTo>
                <a:lnTo>
                  <a:pt x="63657" y="230144"/>
                </a:lnTo>
                <a:lnTo>
                  <a:pt x="66241" y="228348"/>
                </a:lnTo>
                <a:lnTo>
                  <a:pt x="71918" y="220356"/>
                </a:lnTo>
                <a:lnTo>
                  <a:pt x="72585" y="216630"/>
                </a:lnTo>
                <a:lnTo>
                  <a:pt x="73975" y="208617"/>
                </a:lnTo>
                <a:lnTo>
                  <a:pt x="71358" y="208617"/>
                </a:lnTo>
                <a:lnTo>
                  <a:pt x="46775" y="206410"/>
                </a:lnTo>
                <a:lnTo>
                  <a:pt x="60960" y="186442"/>
                </a:lnTo>
                <a:lnTo>
                  <a:pt x="54490" y="172647"/>
                </a:lnTo>
                <a:close/>
              </a:path>
              <a:path w="527685" h="486410">
                <a:moveTo>
                  <a:pt x="66241" y="228348"/>
                </a:moveTo>
                <a:lnTo>
                  <a:pt x="63657" y="230144"/>
                </a:lnTo>
                <a:lnTo>
                  <a:pt x="64965" y="230144"/>
                </a:lnTo>
                <a:lnTo>
                  <a:pt x="66241" y="228348"/>
                </a:lnTo>
                <a:close/>
              </a:path>
              <a:path w="527685" h="486410">
                <a:moveTo>
                  <a:pt x="71918" y="220356"/>
                </a:moveTo>
                <a:lnTo>
                  <a:pt x="66241" y="228348"/>
                </a:lnTo>
                <a:lnTo>
                  <a:pt x="71086" y="224981"/>
                </a:lnTo>
                <a:lnTo>
                  <a:pt x="71918" y="220356"/>
                </a:lnTo>
                <a:close/>
              </a:path>
              <a:path w="527685" h="486410">
                <a:moveTo>
                  <a:pt x="43555" y="216630"/>
                </a:moveTo>
                <a:lnTo>
                  <a:pt x="42964" y="219918"/>
                </a:lnTo>
                <a:lnTo>
                  <a:pt x="48125" y="227347"/>
                </a:lnTo>
                <a:lnTo>
                  <a:pt x="48623" y="227437"/>
                </a:lnTo>
                <a:lnTo>
                  <a:pt x="43555" y="216630"/>
                </a:lnTo>
                <a:close/>
              </a:path>
              <a:path w="527685" h="486410">
                <a:moveTo>
                  <a:pt x="118066" y="117791"/>
                </a:moveTo>
                <a:lnTo>
                  <a:pt x="88188" y="165559"/>
                </a:lnTo>
                <a:lnTo>
                  <a:pt x="74730" y="204264"/>
                </a:lnTo>
                <a:lnTo>
                  <a:pt x="72483" y="217215"/>
                </a:lnTo>
                <a:lnTo>
                  <a:pt x="71918" y="220356"/>
                </a:lnTo>
                <a:lnTo>
                  <a:pt x="132115" y="135618"/>
                </a:lnTo>
                <a:lnTo>
                  <a:pt x="130605" y="126699"/>
                </a:lnTo>
                <a:lnTo>
                  <a:pt x="118066" y="117791"/>
                </a:lnTo>
                <a:close/>
              </a:path>
              <a:path w="527685" h="486410">
                <a:moveTo>
                  <a:pt x="17364" y="108543"/>
                </a:moveTo>
                <a:lnTo>
                  <a:pt x="3075" y="115243"/>
                </a:lnTo>
                <a:lnTo>
                  <a:pt x="0" y="123751"/>
                </a:lnTo>
                <a:lnTo>
                  <a:pt x="43555" y="216630"/>
                </a:lnTo>
                <a:lnTo>
                  <a:pt x="44361" y="212153"/>
                </a:lnTo>
                <a:lnTo>
                  <a:pt x="47324" y="196178"/>
                </a:lnTo>
                <a:lnTo>
                  <a:pt x="53969" y="173911"/>
                </a:lnTo>
                <a:lnTo>
                  <a:pt x="54490" y="172647"/>
                </a:lnTo>
                <a:lnTo>
                  <a:pt x="25872" y="111619"/>
                </a:lnTo>
                <a:lnTo>
                  <a:pt x="17364" y="108543"/>
                </a:lnTo>
                <a:close/>
              </a:path>
              <a:path w="527685" h="486410">
                <a:moveTo>
                  <a:pt x="60960" y="186442"/>
                </a:moveTo>
                <a:lnTo>
                  <a:pt x="46775" y="206410"/>
                </a:lnTo>
                <a:lnTo>
                  <a:pt x="71358" y="208617"/>
                </a:lnTo>
                <a:lnTo>
                  <a:pt x="60960" y="186442"/>
                </a:lnTo>
                <a:close/>
              </a:path>
              <a:path w="527685" h="486410">
                <a:moveTo>
                  <a:pt x="117739" y="117558"/>
                </a:moveTo>
                <a:lnTo>
                  <a:pt x="108819" y="119070"/>
                </a:lnTo>
                <a:lnTo>
                  <a:pt x="60960" y="186442"/>
                </a:lnTo>
                <a:lnTo>
                  <a:pt x="71358" y="208617"/>
                </a:lnTo>
                <a:lnTo>
                  <a:pt x="73975" y="208617"/>
                </a:lnTo>
                <a:lnTo>
                  <a:pt x="74730" y="204264"/>
                </a:lnTo>
                <a:lnTo>
                  <a:pt x="80417" y="184729"/>
                </a:lnTo>
                <a:lnTo>
                  <a:pt x="88188" y="165559"/>
                </a:lnTo>
                <a:lnTo>
                  <a:pt x="97894" y="146940"/>
                </a:lnTo>
                <a:lnTo>
                  <a:pt x="109376" y="129054"/>
                </a:lnTo>
                <a:lnTo>
                  <a:pt x="118066" y="117791"/>
                </a:lnTo>
                <a:lnTo>
                  <a:pt x="117739" y="117558"/>
                </a:lnTo>
                <a:close/>
              </a:path>
              <a:path w="527685" h="486410">
                <a:moveTo>
                  <a:pt x="285366" y="0"/>
                </a:moveTo>
                <a:lnTo>
                  <a:pt x="239321" y="5332"/>
                </a:lnTo>
                <a:lnTo>
                  <a:pt x="195144" y="20681"/>
                </a:lnTo>
                <a:lnTo>
                  <a:pt x="154184" y="44448"/>
                </a:lnTo>
                <a:lnTo>
                  <a:pt x="117656" y="75182"/>
                </a:lnTo>
                <a:lnTo>
                  <a:pt x="86746" y="111619"/>
                </a:lnTo>
                <a:lnTo>
                  <a:pt x="62886" y="152281"/>
                </a:lnTo>
                <a:lnTo>
                  <a:pt x="54490" y="172647"/>
                </a:lnTo>
                <a:lnTo>
                  <a:pt x="60960" y="186442"/>
                </a:lnTo>
                <a:lnTo>
                  <a:pt x="108819" y="119070"/>
                </a:lnTo>
                <a:lnTo>
                  <a:pt x="117739" y="117558"/>
                </a:lnTo>
                <a:lnTo>
                  <a:pt x="118246" y="117558"/>
                </a:lnTo>
                <a:lnTo>
                  <a:pt x="122469" y="112085"/>
                </a:lnTo>
                <a:lnTo>
                  <a:pt x="137002" y="96212"/>
                </a:lnTo>
                <a:lnTo>
                  <a:pt x="169680" y="68456"/>
                </a:lnTo>
                <a:lnTo>
                  <a:pt x="205962" y="47129"/>
                </a:lnTo>
                <a:lnTo>
                  <a:pt x="244384" y="33455"/>
                </a:lnTo>
                <a:lnTo>
                  <a:pt x="283618" y="28520"/>
                </a:lnTo>
                <a:lnTo>
                  <a:pt x="388835" y="28520"/>
                </a:lnTo>
                <a:lnTo>
                  <a:pt x="375070" y="21253"/>
                </a:lnTo>
                <a:lnTo>
                  <a:pt x="353441" y="12338"/>
                </a:lnTo>
                <a:lnTo>
                  <a:pt x="331175" y="5690"/>
                </a:lnTo>
                <a:lnTo>
                  <a:pt x="308427" y="1510"/>
                </a:lnTo>
                <a:lnTo>
                  <a:pt x="285366" y="0"/>
                </a:lnTo>
                <a:close/>
              </a:path>
              <a:path w="527685" h="486410">
                <a:moveTo>
                  <a:pt x="118246" y="117558"/>
                </a:moveTo>
                <a:lnTo>
                  <a:pt x="117739" y="117558"/>
                </a:lnTo>
                <a:lnTo>
                  <a:pt x="118066" y="117791"/>
                </a:lnTo>
                <a:lnTo>
                  <a:pt x="118246" y="117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41976" y="1414272"/>
            <a:ext cx="551688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02352" y="1365503"/>
            <a:ext cx="630936" cy="725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89480" y="14348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8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8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8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8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320447" y="145643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837176" y="2252472"/>
            <a:ext cx="551688" cy="548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797552" y="2203704"/>
            <a:ext cx="630936" cy="725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884680" y="227303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8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1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8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1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015647" y="229463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132576" y="2328672"/>
            <a:ext cx="551687" cy="5486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041135" y="2279904"/>
            <a:ext cx="734567" cy="7254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80080" y="234923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8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1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8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1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260247" y="2370835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77511" y="1325372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93461" y="1325372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64961" y="1325372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959351" y="1596644"/>
            <a:ext cx="203835" cy="11353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63500">
              <a:lnSpc>
                <a:spcPct val="135000"/>
              </a:lnSpc>
              <a:spcBef>
                <a:spcPts val="85"/>
              </a:spcBef>
            </a:pPr>
            <a:r>
              <a:rPr dirty="0" sz="1800">
                <a:latin typeface="Times New Roman"/>
                <a:cs typeface="Times New Roman"/>
              </a:rPr>
              <a:t>y  a  m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7236211" y="1663715"/>
          <a:ext cx="1847850" cy="1125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</a:tblGrid>
              <a:tr h="342900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3" name="object 43"/>
          <p:cNvSpPr/>
          <p:nvPr/>
        </p:nvSpPr>
        <p:spPr>
          <a:xfrm>
            <a:off x="829732" y="5257800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1" y="1143000"/>
                </a:moveTo>
                <a:lnTo>
                  <a:pt x="46540" y="1137011"/>
                </a:lnTo>
                <a:lnTo>
                  <a:pt x="22318" y="1120681"/>
                </a:lnTo>
                <a:lnTo>
                  <a:pt x="5988" y="1096460"/>
                </a:lnTo>
                <a:lnTo>
                  <a:pt x="0" y="1066799"/>
                </a:lnTo>
                <a:lnTo>
                  <a:pt x="0" y="76201"/>
                </a:lnTo>
                <a:lnTo>
                  <a:pt x="5988" y="46540"/>
                </a:lnTo>
                <a:lnTo>
                  <a:pt x="22318" y="22318"/>
                </a:lnTo>
                <a:lnTo>
                  <a:pt x="46540" y="5988"/>
                </a:lnTo>
                <a:lnTo>
                  <a:pt x="7620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10731" y="5257800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0" y="0"/>
                </a:moveTo>
                <a:lnTo>
                  <a:pt x="29660" y="5988"/>
                </a:lnTo>
                <a:lnTo>
                  <a:pt x="53882" y="22318"/>
                </a:lnTo>
                <a:lnTo>
                  <a:pt x="70212" y="46540"/>
                </a:lnTo>
                <a:lnTo>
                  <a:pt x="76201" y="76201"/>
                </a:lnTo>
                <a:lnTo>
                  <a:pt x="76201" y="1066799"/>
                </a:lnTo>
                <a:lnTo>
                  <a:pt x="70212" y="1096460"/>
                </a:lnTo>
                <a:lnTo>
                  <a:pt x="53882" y="1120681"/>
                </a:lnTo>
                <a:lnTo>
                  <a:pt x="29660" y="1137011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200400" y="5157059"/>
            <a:ext cx="533400" cy="1222375"/>
          </a:xfrm>
          <a:custGeom>
            <a:avLst/>
            <a:gdLst/>
            <a:ahLst/>
            <a:cxnLst/>
            <a:rect l="l" t="t" r="r" b="b"/>
            <a:pathLst>
              <a:path w="533400" h="1222375">
                <a:moveTo>
                  <a:pt x="0" y="0"/>
                </a:moveTo>
                <a:lnTo>
                  <a:pt x="533400" y="0"/>
                </a:lnTo>
                <a:lnTo>
                  <a:pt x="533400" y="1222084"/>
                </a:lnTo>
                <a:lnTo>
                  <a:pt x="0" y="122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38600" y="5157059"/>
            <a:ext cx="846455" cy="1243965"/>
          </a:xfrm>
          <a:custGeom>
            <a:avLst/>
            <a:gdLst/>
            <a:ahLst/>
            <a:cxnLst/>
            <a:rect l="l" t="t" r="r" b="b"/>
            <a:pathLst>
              <a:path w="846454" h="1243964">
                <a:moveTo>
                  <a:pt x="0" y="0"/>
                </a:moveTo>
                <a:lnTo>
                  <a:pt x="846080" y="0"/>
                </a:lnTo>
                <a:lnTo>
                  <a:pt x="846080" y="1243740"/>
                </a:lnTo>
                <a:lnTo>
                  <a:pt x="0" y="12437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974399" y="5157058"/>
            <a:ext cx="979169" cy="1396365"/>
          </a:xfrm>
          <a:custGeom>
            <a:avLst/>
            <a:gdLst/>
            <a:ahLst/>
            <a:cxnLst/>
            <a:rect l="l" t="t" r="r" b="b"/>
            <a:pathLst>
              <a:path w="979170" h="1396365">
                <a:moveTo>
                  <a:pt x="0" y="0"/>
                </a:moveTo>
                <a:lnTo>
                  <a:pt x="979070" y="0"/>
                </a:lnTo>
                <a:lnTo>
                  <a:pt x="979070" y="1396141"/>
                </a:lnTo>
                <a:lnTo>
                  <a:pt x="0" y="13961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019800" y="5157059"/>
            <a:ext cx="1608455" cy="1167765"/>
          </a:xfrm>
          <a:custGeom>
            <a:avLst/>
            <a:gdLst/>
            <a:ahLst/>
            <a:cxnLst/>
            <a:rect l="l" t="t" r="r" b="b"/>
            <a:pathLst>
              <a:path w="1608454" h="1167764">
                <a:moveTo>
                  <a:pt x="0" y="0"/>
                </a:moveTo>
                <a:lnTo>
                  <a:pt x="1608080" y="0"/>
                </a:lnTo>
                <a:lnTo>
                  <a:pt x="1608080" y="1167540"/>
                </a:lnTo>
                <a:lnTo>
                  <a:pt x="0" y="11675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555740" y="3073907"/>
            <a:ext cx="325120" cy="961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𝒚</a:t>
            </a:r>
            <a:endParaRPr baseline="-17094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𝒂</a:t>
            </a:r>
            <a:endParaRPr baseline="-17094" sz="1950">
              <a:latin typeface="Cambria Math"/>
              <a:cs typeface="Cambria Math"/>
            </a:endParaRPr>
          </a:p>
          <a:p>
            <a:pPr marL="22225">
              <a:lnSpc>
                <a:spcPct val="100000"/>
              </a:lnSpc>
              <a:spcBef>
                <a:spcPts val="165"/>
              </a:spcBef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𝒎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975538" y="3073907"/>
            <a:ext cx="1880235" cy="961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=  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𝒚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/𝟐 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+  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𝒂</a:t>
            </a:r>
            <a:r>
              <a:rPr dirty="0" baseline="-17094" sz="1950" spc="-7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/𝟐</a:t>
            </a:r>
            <a:endParaRPr sz="2000">
              <a:latin typeface="Cambria Math"/>
              <a:cs typeface="Cambria Math"/>
            </a:endParaRPr>
          </a:p>
          <a:p>
            <a:pPr marL="15875">
              <a:lnSpc>
                <a:spcPct val="100000"/>
              </a:lnSpc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=  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𝒚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/𝟐 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+</a:t>
            </a:r>
            <a:r>
              <a:rPr dirty="0" sz="2000" spc="38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𝒓𝒎</a:t>
            </a:r>
            <a:endParaRPr sz="2000">
              <a:latin typeface="Cambria Math"/>
              <a:cs typeface="Cambria Math"/>
            </a:endParaRPr>
          </a:p>
          <a:p>
            <a:pPr marL="22225">
              <a:lnSpc>
                <a:spcPct val="100000"/>
              </a:lnSpc>
              <a:spcBef>
                <a:spcPts val="165"/>
              </a:spcBef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=  𝒓</a:t>
            </a:r>
            <a:r>
              <a:rPr dirty="0" baseline="-14814" sz="2250">
                <a:solidFill>
                  <a:srgbClr val="008000"/>
                </a:solidFill>
                <a:latin typeface="Cambria Math"/>
                <a:cs typeface="Cambria Math"/>
              </a:rPr>
              <a:t>𝒂</a:t>
            </a:r>
            <a:r>
              <a:rPr dirty="0" baseline="-14814" sz="2250" spc="7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323796" y="5213684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1" y="1143000"/>
                </a:moveTo>
                <a:lnTo>
                  <a:pt x="46540" y="1137011"/>
                </a:lnTo>
                <a:lnTo>
                  <a:pt x="22318" y="1120681"/>
                </a:lnTo>
                <a:lnTo>
                  <a:pt x="5988" y="1096460"/>
                </a:lnTo>
                <a:lnTo>
                  <a:pt x="0" y="1066799"/>
                </a:lnTo>
                <a:lnTo>
                  <a:pt x="0" y="76201"/>
                </a:lnTo>
                <a:lnTo>
                  <a:pt x="5988" y="46540"/>
                </a:lnTo>
                <a:lnTo>
                  <a:pt x="22318" y="22318"/>
                </a:lnTo>
                <a:lnTo>
                  <a:pt x="46540" y="5988"/>
                </a:lnTo>
                <a:lnTo>
                  <a:pt x="76201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704795" y="5213684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0" y="0"/>
                </a:moveTo>
                <a:lnTo>
                  <a:pt x="29660" y="5988"/>
                </a:lnTo>
                <a:lnTo>
                  <a:pt x="53882" y="22318"/>
                </a:lnTo>
                <a:lnTo>
                  <a:pt x="70212" y="46540"/>
                </a:lnTo>
                <a:lnTo>
                  <a:pt x="76201" y="76201"/>
                </a:lnTo>
                <a:lnTo>
                  <a:pt x="76201" y="1066799"/>
                </a:lnTo>
                <a:lnTo>
                  <a:pt x="70212" y="1096460"/>
                </a:lnTo>
                <a:lnTo>
                  <a:pt x="53882" y="1120681"/>
                </a:lnTo>
                <a:lnTo>
                  <a:pt x="29660" y="1137011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2364739" y="6339650"/>
            <a:ext cx="4652645" cy="525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Iteration 0, 1, 2,</a:t>
            </a:r>
            <a:r>
              <a:rPr dirty="0" sz="1800" spc="-8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 marL="321310">
              <a:lnSpc>
                <a:spcPct val="100000"/>
              </a:lnSpc>
              <a:spcBef>
                <a:spcPts val="80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9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187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38431"/>
            <a:ext cx="3085465" cy="11468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Power</a:t>
            </a:r>
            <a:r>
              <a:rPr dirty="0" sz="3200" spc="-4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Iteration: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145">
                <a:latin typeface="Cambria Math"/>
                <a:cs typeface="Cambria Math"/>
              </a:rPr>
              <a:t>𝑟</a:t>
            </a:r>
            <a:r>
              <a:rPr dirty="0" baseline="-16666" sz="3000" spc="-217">
                <a:latin typeface="Cambria Math"/>
                <a:cs typeface="Cambria Math"/>
              </a:rPr>
              <a:t>-  </a:t>
            </a:r>
            <a:r>
              <a:rPr dirty="0" sz="2800">
                <a:latin typeface="Cambria Math"/>
                <a:cs typeface="Cambria Math"/>
              </a:rPr>
              <a:t>←</a:t>
            </a:r>
            <a:r>
              <a:rPr dirty="0" sz="2800" spc="200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1</a:t>
            </a:r>
            <a:r>
              <a:rPr dirty="0" sz="2800" spc="-5" i="1">
                <a:latin typeface="Times New Roman"/>
                <a:cs typeface="Times New Roman"/>
              </a:rPr>
              <a:t>/N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1560" y="2753867"/>
            <a:ext cx="1447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65">
                <a:latin typeface="Cambria Math"/>
                <a:cs typeface="Cambria Math"/>
              </a:rPr>
              <a:t>-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2579115"/>
            <a:ext cx="17843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122045" algn="l"/>
              </a:tabLst>
            </a:pPr>
            <a:r>
              <a:rPr dirty="0" sz="2800" b="1">
                <a:latin typeface="Calibri"/>
                <a:cs typeface="Calibri"/>
              </a:rPr>
              <a:t>1:</a:t>
            </a:r>
            <a:r>
              <a:rPr dirty="0" sz="2800" spc="0" b="1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𝑟′	←</a:t>
            </a:r>
            <a:r>
              <a:rPr dirty="0" sz="2800" spc="55">
                <a:latin typeface="Cambria Math"/>
                <a:cs typeface="Cambria Math"/>
              </a:rPr>
              <a:t> </a:t>
            </a:r>
            <a:r>
              <a:rPr dirty="0" baseline="1984" sz="4200">
                <a:latin typeface="Cambria Math"/>
                <a:cs typeface="Cambria Math"/>
              </a:rPr>
              <a:t>∑</a:t>
            </a:r>
            <a:endParaRPr baseline="1984" sz="42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29864" y="2847339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 h="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15386" y="2473451"/>
            <a:ext cx="780415" cy="626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9050">
              <a:lnSpc>
                <a:spcPts val="2365"/>
              </a:lnSpc>
              <a:spcBef>
                <a:spcPts val="100"/>
              </a:spcBef>
            </a:pPr>
            <a:r>
              <a:rPr dirty="0" sz="2000" spc="-25">
                <a:latin typeface="Cambria Math"/>
                <a:cs typeface="Cambria Math"/>
              </a:rPr>
              <a:t>0</a:t>
            </a:r>
            <a:r>
              <a:rPr dirty="0" baseline="-14705" sz="2550" spc="225">
                <a:latin typeface="Cambria Math"/>
                <a:cs typeface="Cambria Math"/>
              </a:rPr>
              <a:t>!</a:t>
            </a:r>
            <a:endParaRPr baseline="-14705" sz="2550">
              <a:latin typeface="Cambria Math"/>
              <a:cs typeface="Cambria Math"/>
            </a:endParaRPr>
          </a:p>
          <a:p>
            <a:pPr algn="r" marR="5080">
              <a:lnSpc>
                <a:spcPts val="2365"/>
              </a:lnSpc>
            </a:pPr>
            <a:r>
              <a:rPr dirty="0" sz="2000" spc="215">
                <a:latin typeface="Cambria Math"/>
                <a:cs typeface="Cambria Math"/>
              </a:rPr>
              <a:t>.→-</a:t>
            </a:r>
            <a:r>
              <a:rPr dirty="0" sz="2000" spc="40">
                <a:latin typeface="Cambria Math"/>
                <a:cs typeface="Cambria Math"/>
              </a:rPr>
              <a:t> </a:t>
            </a:r>
            <a:r>
              <a:rPr dirty="0" baseline="-19444" sz="3000" spc="247">
                <a:latin typeface="Cambria Math"/>
                <a:cs typeface="Cambria Math"/>
              </a:rPr>
              <a:t>1</a:t>
            </a:r>
            <a:r>
              <a:rPr dirty="0" baseline="-37581" sz="2550" spc="247">
                <a:latin typeface="Cambria Math"/>
                <a:cs typeface="Cambria Math"/>
              </a:rPr>
              <a:t>!</a:t>
            </a:r>
            <a:endParaRPr baseline="-37581" sz="25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08" y="3133513"/>
            <a:ext cx="3132455" cy="1980564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2: </a:t>
            </a:r>
            <a:r>
              <a:rPr dirty="0" sz="2800" spc="-5">
                <a:latin typeface="Calibri"/>
                <a:cs typeface="Calibri"/>
              </a:rPr>
              <a:t>If |</a:t>
            </a:r>
            <a:r>
              <a:rPr dirty="0" sz="2800" spc="-5">
                <a:latin typeface="Cambria Math"/>
                <a:cs typeface="Cambria Math"/>
              </a:rPr>
              <a:t>𝑟 </a:t>
            </a:r>
            <a:r>
              <a:rPr dirty="0" sz="2800">
                <a:latin typeface="Cambria Math"/>
                <a:cs typeface="Cambria Math"/>
              </a:rPr>
              <a:t>− 𝑟’| &gt;</a:t>
            </a:r>
            <a:r>
              <a:rPr dirty="0" sz="2800" spc="300">
                <a:latin typeface="Cambria Math"/>
                <a:cs typeface="Cambria Math"/>
              </a:rPr>
              <a:t> </a:t>
            </a:r>
            <a:r>
              <a:rPr dirty="0" sz="2800" spc="-150">
                <a:latin typeface="Cambria Math"/>
                <a:cs typeface="Cambria Math"/>
              </a:rPr>
              <a:t>𝜀</a:t>
            </a:r>
            <a:r>
              <a:rPr dirty="0" sz="2800" spc="-15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890905" marR="77216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>
                <a:latin typeface="Cambria Math"/>
                <a:cs typeface="Cambria Math"/>
              </a:rPr>
              <a:t>𝑟 ←</a:t>
            </a:r>
            <a:r>
              <a:rPr dirty="0" sz="2400" spc="21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𝑟′</a:t>
            </a:r>
            <a:endParaRPr sz="2400">
              <a:latin typeface="Cambria Math"/>
              <a:cs typeface="Cambria Math"/>
            </a:endParaRPr>
          </a:p>
          <a:p>
            <a:pPr marL="625475" indent="-274320">
              <a:lnSpc>
                <a:spcPts val="334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3: </a:t>
            </a:r>
            <a:r>
              <a:rPr dirty="0" sz="2800" spc="-15">
                <a:latin typeface="Calibri"/>
                <a:cs typeface="Calibri"/>
              </a:rPr>
              <a:t>go 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9099" y="5237904"/>
          <a:ext cx="6619240" cy="114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991"/>
                <a:gridCol w="648573"/>
                <a:gridCol w="1037150"/>
                <a:gridCol w="914400"/>
                <a:gridCol w="999507"/>
                <a:gridCol w="987806"/>
                <a:gridCol w="696536"/>
                <a:gridCol w="930263"/>
              </a:tblGrid>
              <a:tr h="393700">
                <a:tc>
                  <a:txBody>
                    <a:bodyPr/>
                    <a:lstStyle/>
                    <a:p>
                      <a:pPr marL="31750">
                        <a:lnSpc>
                          <a:spcPts val="2655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7361" sz="2400">
                          <a:latin typeface="Arial"/>
                          <a:cs typeface="Arial"/>
                        </a:rPr>
                        <a:t>y</a:t>
                      </a:r>
                      <a:endParaRPr baseline="-17361"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2655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5"/>
                        </a:lnSpc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1/3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ts val="2655"/>
                        </a:lnSpc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5/12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2655"/>
                        </a:lnSpc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9/24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5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15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ts val="274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7361" sz="2400">
                          <a:latin typeface="Arial"/>
                          <a:cs typeface="Arial"/>
                        </a:rPr>
                        <a:t>a</a:t>
                      </a:r>
                      <a:endParaRPr baseline="-17361"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274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274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0"/>
                        </a:lnSpc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3/6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ts val="2740"/>
                        </a:lnSpc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1/3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2740"/>
                        </a:lnSpc>
                      </a:pPr>
                      <a:r>
                        <a:rPr dirty="0" sz="2400" spc="-40">
                          <a:latin typeface="Arial"/>
                          <a:cs typeface="Arial"/>
                        </a:rPr>
                        <a:t>11/24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274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…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74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15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ts val="255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7361" sz="2400">
                          <a:latin typeface="Arial"/>
                          <a:cs typeface="Arial"/>
                        </a:rPr>
                        <a:t>m</a:t>
                      </a:r>
                      <a:endParaRPr baseline="-17361"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7490">
                        <a:lnSpc>
                          <a:spcPts val="255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1/6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ts val="2550"/>
                        </a:lnSpc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3/12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2550"/>
                        </a:lnSpc>
                      </a:pPr>
                      <a:r>
                        <a:rPr dirty="0" sz="2400" spc="-5">
                          <a:latin typeface="Arial"/>
                          <a:cs typeface="Arial"/>
                        </a:rPr>
                        <a:t>1/6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55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15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958084" y="1860581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4">
                <a:moveTo>
                  <a:pt x="292260" y="48801"/>
                </a:moveTo>
                <a:lnTo>
                  <a:pt x="267488" y="62601"/>
                </a:lnTo>
                <a:lnTo>
                  <a:pt x="0" y="514479"/>
                </a:lnTo>
                <a:lnTo>
                  <a:pt x="2246" y="523242"/>
                </a:lnTo>
                <a:lnTo>
                  <a:pt x="15826" y="531281"/>
                </a:lnTo>
                <a:lnTo>
                  <a:pt x="24589" y="529035"/>
                </a:lnTo>
                <a:lnTo>
                  <a:pt x="292079" y="77155"/>
                </a:lnTo>
                <a:lnTo>
                  <a:pt x="292260" y="48801"/>
                </a:lnTo>
                <a:close/>
              </a:path>
              <a:path w="323214" h="531494">
                <a:moveTo>
                  <a:pt x="320967" y="28354"/>
                </a:moveTo>
                <a:lnTo>
                  <a:pt x="292079" y="77155"/>
                </a:lnTo>
                <a:lnTo>
                  <a:pt x="291731" y="131442"/>
                </a:lnTo>
                <a:lnTo>
                  <a:pt x="298086" y="137880"/>
                </a:lnTo>
                <a:lnTo>
                  <a:pt x="313867" y="137980"/>
                </a:lnTo>
                <a:lnTo>
                  <a:pt x="320305" y="131625"/>
                </a:lnTo>
                <a:lnTo>
                  <a:pt x="320967" y="28354"/>
                </a:lnTo>
                <a:close/>
              </a:path>
              <a:path w="323214" h="531494">
                <a:moveTo>
                  <a:pt x="296376" y="13799"/>
                </a:moveTo>
                <a:lnTo>
                  <a:pt x="206157" y="64056"/>
                </a:lnTo>
                <a:lnTo>
                  <a:pt x="203682" y="72757"/>
                </a:lnTo>
                <a:lnTo>
                  <a:pt x="211363" y="86544"/>
                </a:lnTo>
                <a:lnTo>
                  <a:pt x="220064" y="89019"/>
                </a:lnTo>
                <a:lnTo>
                  <a:pt x="267488" y="62601"/>
                </a:lnTo>
                <a:lnTo>
                  <a:pt x="296376" y="13799"/>
                </a:lnTo>
                <a:close/>
              </a:path>
              <a:path w="323214" h="531494">
                <a:moveTo>
                  <a:pt x="320993" y="24309"/>
                </a:moveTo>
                <a:lnTo>
                  <a:pt x="292417" y="24309"/>
                </a:lnTo>
                <a:lnTo>
                  <a:pt x="313656" y="36882"/>
                </a:lnTo>
                <a:lnTo>
                  <a:pt x="292260" y="48801"/>
                </a:lnTo>
                <a:lnTo>
                  <a:pt x="292079" y="77155"/>
                </a:lnTo>
                <a:lnTo>
                  <a:pt x="320967" y="28354"/>
                </a:lnTo>
                <a:lnTo>
                  <a:pt x="320993" y="24309"/>
                </a:lnTo>
                <a:close/>
              </a:path>
              <a:path w="323214" h="531494">
                <a:moveTo>
                  <a:pt x="307192" y="8087"/>
                </a:moveTo>
                <a:lnTo>
                  <a:pt x="306152" y="8353"/>
                </a:lnTo>
                <a:lnTo>
                  <a:pt x="296376" y="13799"/>
                </a:lnTo>
                <a:lnTo>
                  <a:pt x="267488" y="62601"/>
                </a:lnTo>
                <a:lnTo>
                  <a:pt x="292260" y="48801"/>
                </a:lnTo>
                <a:lnTo>
                  <a:pt x="292417" y="24309"/>
                </a:lnTo>
                <a:lnTo>
                  <a:pt x="320993" y="24309"/>
                </a:lnTo>
                <a:lnTo>
                  <a:pt x="321038" y="17163"/>
                </a:lnTo>
                <a:lnTo>
                  <a:pt x="320772" y="16125"/>
                </a:lnTo>
                <a:lnTo>
                  <a:pt x="307192" y="8087"/>
                </a:lnTo>
                <a:close/>
              </a:path>
              <a:path w="323214" h="531494">
                <a:moveTo>
                  <a:pt x="292417" y="24309"/>
                </a:moveTo>
                <a:lnTo>
                  <a:pt x="292260" y="48801"/>
                </a:lnTo>
                <a:lnTo>
                  <a:pt x="313656" y="36882"/>
                </a:lnTo>
                <a:lnTo>
                  <a:pt x="292417" y="24309"/>
                </a:lnTo>
                <a:close/>
              </a:path>
              <a:path w="323214" h="531494">
                <a:moveTo>
                  <a:pt x="321038" y="17163"/>
                </a:moveTo>
                <a:lnTo>
                  <a:pt x="320967" y="28354"/>
                </a:lnTo>
                <a:lnTo>
                  <a:pt x="323018" y="24889"/>
                </a:lnTo>
                <a:lnTo>
                  <a:pt x="321038" y="17163"/>
                </a:lnTo>
                <a:close/>
              </a:path>
              <a:path w="323214" h="531494">
                <a:moveTo>
                  <a:pt x="321096" y="8087"/>
                </a:moveTo>
                <a:lnTo>
                  <a:pt x="307192" y="8087"/>
                </a:lnTo>
                <a:lnTo>
                  <a:pt x="320772" y="16125"/>
                </a:lnTo>
                <a:lnTo>
                  <a:pt x="321038" y="17163"/>
                </a:lnTo>
                <a:lnTo>
                  <a:pt x="321096" y="8087"/>
                </a:lnTo>
                <a:close/>
              </a:path>
              <a:path w="323214" h="531494">
                <a:moveTo>
                  <a:pt x="306152" y="8353"/>
                </a:moveTo>
                <a:lnTo>
                  <a:pt x="298428" y="10332"/>
                </a:lnTo>
                <a:lnTo>
                  <a:pt x="296376" y="13799"/>
                </a:lnTo>
                <a:lnTo>
                  <a:pt x="306152" y="8353"/>
                </a:lnTo>
                <a:close/>
              </a:path>
              <a:path w="323214" h="531494">
                <a:moveTo>
                  <a:pt x="321148" y="0"/>
                </a:moveTo>
                <a:lnTo>
                  <a:pt x="306152" y="8353"/>
                </a:lnTo>
                <a:lnTo>
                  <a:pt x="307192" y="8087"/>
                </a:lnTo>
                <a:lnTo>
                  <a:pt x="321096" y="8087"/>
                </a:lnTo>
                <a:lnTo>
                  <a:pt x="3211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25676" y="1784211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4">
                <a:moveTo>
                  <a:pt x="1979" y="514117"/>
                </a:moveTo>
                <a:lnTo>
                  <a:pt x="1869" y="531281"/>
                </a:lnTo>
                <a:lnTo>
                  <a:pt x="16387" y="523194"/>
                </a:lnTo>
                <a:lnTo>
                  <a:pt x="15825" y="523194"/>
                </a:lnTo>
                <a:lnTo>
                  <a:pt x="2245" y="515155"/>
                </a:lnTo>
                <a:lnTo>
                  <a:pt x="1979" y="514117"/>
                </a:lnTo>
                <a:close/>
              </a:path>
              <a:path w="323214" h="531494">
                <a:moveTo>
                  <a:pt x="30938" y="454125"/>
                </a:moveTo>
                <a:lnTo>
                  <a:pt x="2051" y="502927"/>
                </a:lnTo>
                <a:lnTo>
                  <a:pt x="1979" y="514117"/>
                </a:lnTo>
                <a:lnTo>
                  <a:pt x="2245" y="515155"/>
                </a:lnTo>
                <a:lnTo>
                  <a:pt x="15825" y="523194"/>
                </a:lnTo>
                <a:lnTo>
                  <a:pt x="16865" y="522927"/>
                </a:lnTo>
                <a:lnTo>
                  <a:pt x="26642" y="517481"/>
                </a:lnTo>
                <a:lnTo>
                  <a:pt x="32863" y="506972"/>
                </a:lnTo>
                <a:lnTo>
                  <a:pt x="30600" y="506972"/>
                </a:lnTo>
                <a:lnTo>
                  <a:pt x="9361" y="494399"/>
                </a:lnTo>
                <a:lnTo>
                  <a:pt x="30757" y="482480"/>
                </a:lnTo>
                <a:lnTo>
                  <a:pt x="30938" y="454125"/>
                </a:lnTo>
                <a:close/>
              </a:path>
              <a:path w="323214" h="531494">
                <a:moveTo>
                  <a:pt x="16865" y="522927"/>
                </a:moveTo>
                <a:lnTo>
                  <a:pt x="15825" y="523194"/>
                </a:lnTo>
                <a:lnTo>
                  <a:pt x="16387" y="523194"/>
                </a:lnTo>
                <a:lnTo>
                  <a:pt x="16865" y="522927"/>
                </a:lnTo>
                <a:close/>
              </a:path>
              <a:path w="323214" h="531494">
                <a:moveTo>
                  <a:pt x="26642" y="517481"/>
                </a:moveTo>
                <a:lnTo>
                  <a:pt x="16865" y="522927"/>
                </a:lnTo>
                <a:lnTo>
                  <a:pt x="24589" y="520948"/>
                </a:lnTo>
                <a:lnTo>
                  <a:pt x="26642" y="517481"/>
                </a:lnTo>
                <a:close/>
              </a:path>
              <a:path w="323214" h="531494">
                <a:moveTo>
                  <a:pt x="102953" y="442262"/>
                </a:moveTo>
                <a:lnTo>
                  <a:pt x="55529" y="468680"/>
                </a:lnTo>
                <a:lnTo>
                  <a:pt x="26642" y="517481"/>
                </a:lnTo>
                <a:lnTo>
                  <a:pt x="116859" y="467225"/>
                </a:lnTo>
                <a:lnTo>
                  <a:pt x="119335" y="458524"/>
                </a:lnTo>
                <a:lnTo>
                  <a:pt x="111654" y="444737"/>
                </a:lnTo>
                <a:lnTo>
                  <a:pt x="102953" y="442262"/>
                </a:lnTo>
                <a:close/>
              </a:path>
              <a:path w="323214" h="531494">
                <a:moveTo>
                  <a:pt x="2051" y="502927"/>
                </a:moveTo>
                <a:lnTo>
                  <a:pt x="0" y="506392"/>
                </a:lnTo>
                <a:lnTo>
                  <a:pt x="1979" y="514117"/>
                </a:lnTo>
                <a:lnTo>
                  <a:pt x="2051" y="502927"/>
                </a:lnTo>
                <a:close/>
              </a:path>
              <a:path w="323214" h="531494">
                <a:moveTo>
                  <a:pt x="30757" y="482480"/>
                </a:moveTo>
                <a:lnTo>
                  <a:pt x="9361" y="494399"/>
                </a:lnTo>
                <a:lnTo>
                  <a:pt x="30600" y="506972"/>
                </a:lnTo>
                <a:lnTo>
                  <a:pt x="30757" y="482480"/>
                </a:lnTo>
                <a:close/>
              </a:path>
              <a:path w="323214" h="531494">
                <a:moveTo>
                  <a:pt x="55529" y="468680"/>
                </a:moveTo>
                <a:lnTo>
                  <a:pt x="30757" y="482480"/>
                </a:lnTo>
                <a:lnTo>
                  <a:pt x="30600" y="506972"/>
                </a:lnTo>
                <a:lnTo>
                  <a:pt x="32863" y="506972"/>
                </a:lnTo>
                <a:lnTo>
                  <a:pt x="55529" y="468680"/>
                </a:lnTo>
                <a:close/>
              </a:path>
              <a:path w="323214" h="531494">
                <a:moveTo>
                  <a:pt x="9150" y="393301"/>
                </a:moveTo>
                <a:lnTo>
                  <a:pt x="2712" y="399656"/>
                </a:lnTo>
                <a:lnTo>
                  <a:pt x="2051" y="502927"/>
                </a:lnTo>
                <a:lnTo>
                  <a:pt x="30938" y="454125"/>
                </a:lnTo>
                <a:lnTo>
                  <a:pt x="31286" y="399839"/>
                </a:lnTo>
                <a:lnTo>
                  <a:pt x="24931" y="393401"/>
                </a:lnTo>
                <a:lnTo>
                  <a:pt x="9150" y="393301"/>
                </a:lnTo>
                <a:close/>
              </a:path>
              <a:path w="323214" h="531494">
                <a:moveTo>
                  <a:pt x="307191" y="0"/>
                </a:moveTo>
                <a:lnTo>
                  <a:pt x="298428" y="2246"/>
                </a:lnTo>
                <a:lnTo>
                  <a:pt x="30938" y="454125"/>
                </a:lnTo>
                <a:lnTo>
                  <a:pt x="30757" y="482480"/>
                </a:lnTo>
                <a:lnTo>
                  <a:pt x="55529" y="468680"/>
                </a:lnTo>
                <a:lnTo>
                  <a:pt x="323018" y="16802"/>
                </a:lnTo>
                <a:lnTo>
                  <a:pt x="320771" y="8039"/>
                </a:lnTo>
                <a:lnTo>
                  <a:pt x="307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92328" y="2392864"/>
            <a:ext cx="987425" cy="148590"/>
          </a:xfrm>
          <a:custGeom>
            <a:avLst/>
            <a:gdLst/>
            <a:ahLst/>
            <a:cxnLst/>
            <a:rect l="l" t="t" r="r" b="b"/>
            <a:pathLst>
              <a:path w="987425" h="148589">
                <a:moveTo>
                  <a:pt x="904963" y="98963"/>
                </a:moveTo>
                <a:lnTo>
                  <a:pt x="856077" y="122568"/>
                </a:lnTo>
                <a:lnTo>
                  <a:pt x="853099" y="131110"/>
                </a:lnTo>
                <a:lnTo>
                  <a:pt x="859961" y="145322"/>
                </a:lnTo>
                <a:lnTo>
                  <a:pt x="868503" y="148301"/>
                </a:lnTo>
                <a:lnTo>
                  <a:pt x="961502" y="103395"/>
                </a:lnTo>
                <a:lnTo>
                  <a:pt x="904963" y="98963"/>
                </a:lnTo>
                <a:close/>
              </a:path>
              <a:path w="987425" h="148589">
                <a:moveTo>
                  <a:pt x="971584" y="98527"/>
                </a:moveTo>
                <a:lnTo>
                  <a:pt x="961502" y="103395"/>
                </a:lnTo>
                <a:lnTo>
                  <a:pt x="965520" y="103710"/>
                </a:lnTo>
                <a:lnTo>
                  <a:pt x="971584" y="98527"/>
                </a:lnTo>
                <a:close/>
              </a:path>
              <a:path w="987425" h="148589">
                <a:moveTo>
                  <a:pt x="930497" y="86634"/>
                </a:moveTo>
                <a:lnTo>
                  <a:pt x="904963" y="98963"/>
                </a:lnTo>
                <a:lnTo>
                  <a:pt x="961502" y="103395"/>
                </a:lnTo>
                <a:lnTo>
                  <a:pt x="967310" y="100591"/>
                </a:lnTo>
                <a:lnTo>
                  <a:pt x="950625" y="100591"/>
                </a:lnTo>
                <a:lnTo>
                  <a:pt x="930497" y="86634"/>
                </a:lnTo>
                <a:close/>
              </a:path>
              <a:path w="987425" h="148589">
                <a:moveTo>
                  <a:pt x="952554" y="75984"/>
                </a:moveTo>
                <a:lnTo>
                  <a:pt x="930497" y="86634"/>
                </a:lnTo>
                <a:lnTo>
                  <a:pt x="950625" y="100591"/>
                </a:lnTo>
                <a:lnTo>
                  <a:pt x="952554" y="75984"/>
                </a:lnTo>
                <a:close/>
              </a:path>
              <a:path w="987425" h="148589">
                <a:moveTo>
                  <a:pt x="965285" y="75984"/>
                </a:moveTo>
                <a:lnTo>
                  <a:pt x="952554" y="75984"/>
                </a:lnTo>
                <a:lnTo>
                  <a:pt x="950625" y="100591"/>
                </a:lnTo>
                <a:lnTo>
                  <a:pt x="967310" y="100591"/>
                </a:lnTo>
                <a:lnTo>
                  <a:pt x="971584" y="98527"/>
                </a:lnTo>
                <a:lnTo>
                  <a:pt x="972397" y="97833"/>
                </a:lnTo>
                <a:lnTo>
                  <a:pt x="973630" y="82100"/>
                </a:lnTo>
                <a:lnTo>
                  <a:pt x="972937" y="81290"/>
                </a:lnTo>
                <a:lnTo>
                  <a:pt x="965285" y="75984"/>
                </a:lnTo>
                <a:close/>
              </a:path>
              <a:path w="987425" h="148589">
                <a:moveTo>
                  <a:pt x="8110" y="0"/>
                </a:moveTo>
                <a:lnTo>
                  <a:pt x="1233" y="5877"/>
                </a:lnTo>
                <a:lnTo>
                  <a:pt x="0" y="21610"/>
                </a:lnTo>
                <a:lnTo>
                  <a:pt x="5876" y="28487"/>
                </a:lnTo>
                <a:lnTo>
                  <a:pt x="904963" y="98963"/>
                </a:lnTo>
                <a:lnTo>
                  <a:pt x="930497" y="86634"/>
                </a:lnTo>
                <a:lnTo>
                  <a:pt x="907196" y="70476"/>
                </a:lnTo>
                <a:lnTo>
                  <a:pt x="8110" y="0"/>
                </a:lnTo>
                <a:close/>
              </a:path>
              <a:path w="987425" h="148589">
                <a:moveTo>
                  <a:pt x="972937" y="81290"/>
                </a:moveTo>
                <a:lnTo>
                  <a:pt x="973630" y="82100"/>
                </a:lnTo>
                <a:lnTo>
                  <a:pt x="972397" y="97833"/>
                </a:lnTo>
                <a:lnTo>
                  <a:pt x="971584" y="98527"/>
                </a:lnTo>
                <a:lnTo>
                  <a:pt x="987036" y="91066"/>
                </a:lnTo>
                <a:lnTo>
                  <a:pt x="972937" y="81290"/>
                </a:lnTo>
                <a:close/>
              </a:path>
              <a:path w="987425" h="148589">
                <a:moveTo>
                  <a:pt x="907196" y="70476"/>
                </a:moveTo>
                <a:lnTo>
                  <a:pt x="930497" y="86634"/>
                </a:lnTo>
                <a:lnTo>
                  <a:pt x="952554" y="75984"/>
                </a:lnTo>
                <a:lnTo>
                  <a:pt x="965285" y="75984"/>
                </a:lnTo>
                <a:lnTo>
                  <a:pt x="963734" y="74908"/>
                </a:lnTo>
                <a:lnTo>
                  <a:pt x="907196" y="70476"/>
                </a:lnTo>
                <a:close/>
              </a:path>
              <a:path w="987425" h="148589">
                <a:moveTo>
                  <a:pt x="963734" y="74908"/>
                </a:moveTo>
                <a:lnTo>
                  <a:pt x="972937" y="81290"/>
                </a:lnTo>
                <a:lnTo>
                  <a:pt x="967752" y="75223"/>
                </a:lnTo>
                <a:lnTo>
                  <a:pt x="963734" y="74908"/>
                </a:lnTo>
                <a:close/>
              </a:path>
              <a:path w="987425" h="148589">
                <a:moveTo>
                  <a:pt x="878869" y="16060"/>
                </a:moveTo>
                <a:lnTo>
                  <a:pt x="869967" y="17672"/>
                </a:lnTo>
                <a:lnTo>
                  <a:pt x="860974" y="30640"/>
                </a:lnTo>
                <a:lnTo>
                  <a:pt x="862586" y="39542"/>
                </a:lnTo>
                <a:lnTo>
                  <a:pt x="907196" y="70476"/>
                </a:lnTo>
                <a:lnTo>
                  <a:pt x="963734" y="74908"/>
                </a:lnTo>
                <a:lnTo>
                  <a:pt x="878869" y="16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08727" y="2529834"/>
            <a:ext cx="987425" cy="148590"/>
          </a:xfrm>
          <a:custGeom>
            <a:avLst/>
            <a:gdLst/>
            <a:ahLst/>
            <a:cxnLst/>
            <a:rect l="l" t="t" r="r" b="b"/>
            <a:pathLst>
              <a:path w="987425" h="148589">
                <a:moveTo>
                  <a:pt x="82072" y="49337"/>
                </a:moveTo>
                <a:lnTo>
                  <a:pt x="56537" y="61667"/>
                </a:lnTo>
                <a:lnTo>
                  <a:pt x="79837" y="77824"/>
                </a:lnTo>
                <a:lnTo>
                  <a:pt x="978926" y="148301"/>
                </a:lnTo>
                <a:lnTo>
                  <a:pt x="985803" y="142424"/>
                </a:lnTo>
                <a:lnTo>
                  <a:pt x="987036" y="126691"/>
                </a:lnTo>
                <a:lnTo>
                  <a:pt x="981158" y="119814"/>
                </a:lnTo>
                <a:lnTo>
                  <a:pt x="82072" y="49337"/>
                </a:lnTo>
                <a:close/>
              </a:path>
              <a:path w="987425" h="148589">
                <a:moveTo>
                  <a:pt x="23300" y="73393"/>
                </a:moveTo>
                <a:lnTo>
                  <a:pt x="108167" y="132241"/>
                </a:lnTo>
                <a:lnTo>
                  <a:pt x="117068" y="130629"/>
                </a:lnTo>
                <a:lnTo>
                  <a:pt x="126061" y="117661"/>
                </a:lnTo>
                <a:lnTo>
                  <a:pt x="124449" y="108760"/>
                </a:lnTo>
                <a:lnTo>
                  <a:pt x="79837" y="77824"/>
                </a:lnTo>
                <a:lnTo>
                  <a:pt x="23300" y="73393"/>
                </a:lnTo>
                <a:close/>
              </a:path>
              <a:path w="987425" h="148589">
                <a:moveTo>
                  <a:pt x="25535" y="44906"/>
                </a:moveTo>
                <a:lnTo>
                  <a:pt x="15449" y="49776"/>
                </a:lnTo>
                <a:lnTo>
                  <a:pt x="14639" y="50468"/>
                </a:lnTo>
                <a:lnTo>
                  <a:pt x="13406" y="66201"/>
                </a:lnTo>
                <a:lnTo>
                  <a:pt x="14100" y="67014"/>
                </a:lnTo>
                <a:lnTo>
                  <a:pt x="23300" y="73393"/>
                </a:lnTo>
                <a:lnTo>
                  <a:pt x="79837" y="77824"/>
                </a:lnTo>
                <a:lnTo>
                  <a:pt x="71895" y="72317"/>
                </a:lnTo>
                <a:lnTo>
                  <a:pt x="34481" y="72317"/>
                </a:lnTo>
                <a:lnTo>
                  <a:pt x="36410" y="47711"/>
                </a:lnTo>
                <a:lnTo>
                  <a:pt x="61323" y="47711"/>
                </a:lnTo>
                <a:lnTo>
                  <a:pt x="25535" y="44906"/>
                </a:lnTo>
                <a:close/>
              </a:path>
              <a:path w="987425" h="148589">
                <a:moveTo>
                  <a:pt x="14100" y="67014"/>
                </a:moveTo>
                <a:lnTo>
                  <a:pt x="19283" y="73078"/>
                </a:lnTo>
                <a:lnTo>
                  <a:pt x="23300" y="73393"/>
                </a:lnTo>
                <a:lnTo>
                  <a:pt x="14100" y="67014"/>
                </a:lnTo>
                <a:close/>
              </a:path>
              <a:path w="987425" h="148589">
                <a:moveTo>
                  <a:pt x="36410" y="47711"/>
                </a:moveTo>
                <a:lnTo>
                  <a:pt x="34481" y="72317"/>
                </a:lnTo>
                <a:lnTo>
                  <a:pt x="56537" y="61667"/>
                </a:lnTo>
                <a:lnTo>
                  <a:pt x="36410" y="47711"/>
                </a:lnTo>
                <a:close/>
              </a:path>
              <a:path w="987425" h="148589">
                <a:moveTo>
                  <a:pt x="56537" y="61667"/>
                </a:moveTo>
                <a:lnTo>
                  <a:pt x="34481" y="72317"/>
                </a:lnTo>
                <a:lnTo>
                  <a:pt x="71895" y="72317"/>
                </a:lnTo>
                <a:lnTo>
                  <a:pt x="56537" y="61667"/>
                </a:lnTo>
                <a:close/>
              </a:path>
              <a:path w="987425" h="148589">
                <a:moveTo>
                  <a:pt x="15449" y="49776"/>
                </a:moveTo>
                <a:lnTo>
                  <a:pt x="0" y="57236"/>
                </a:lnTo>
                <a:lnTo>
                  <a:pt x="14100" y="67014"/>
                </a:lnTo>
                <a:lnTo>
                  <a:pt x="13406" y="66201"/>
                </a:lnTo>
                <a:lnTo>
                  <a:pt x="14639" y="50468"/>
                </a:lnTo>
                <a:lnTo>
                  <a:pt x="15449" y="49776"/>
                </a:lnTo>
                <a:close/>
              </a:path>
              <a:path w="987425" h="148589">
                <a:moveTo>
                  <a:pt x="61323" y="47711"/>
                </a:moveTo>
                <a:lnTo>
                  <a:pt x="36410" y="47711"/>
                </a:lnTo>
                <a:lnTo>
                  <a:pt x="56537" y="61667"/>
                </a:lnTo>
                <a:lnTo>
                  <a:pt x="82072" y="49337"/>
                </a:lnTo>
                <a:lnTo>
                  <a:pt x="61323" y="47711"/>
                </a:lnTo>
                <a:close/>
              </a:path>
              <a:path w="987425" h="148589">
                <a:moveTo>
                  <a:pt x="21516" y="44590"/>
                </a:moveTo>
                <a:lnTo>
                  <a:pt x="15449" y="49776"/>
                </a:lnTo>
                <a:lnTo>
                  <a:pt x="25535" y="44906"/>
                </a:lnTo>
                <a:lnTo>
                  <a:pt x="21516" y="44590"/>
                </a:lnTo>
                <a:close/>
              </a:path>
              <a:path w="987425" h="148589">
                <a:moveTo>
                  <a:pt x="118532" y="0"/>
                </a:moveTo>
                <a:lnTo>
                  <a:pt x="25535" y="44906"/>
                </a:lnTo>
                <a:lnTo>
                  <a:pt x="82072" y="49337"/>
                </a:lnTo>
                <a:lnTo>
                  <a:pt x="130957" y="25732"/>
                </a:lnTo>
                <a:lnTo>
                  <a:pt x="133936" y="17190"/>
                </a:lnTo>
                <a:lnTo>
                  <a:pt x="127074" y="2979"/>
                </a:lnTo>
                <a:lnTo>
                  <a:pt x="1185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62187" y="1191973"/>
            <a:ext cx="527685" cy="486409"/>
          </a:xfrm>
          <a:custGeom>
            <a:avLst/>
            <a:gdLst/>
            <a:ahLst/>
            <a:cxnLst/>
            <a:rect l="l" t="t" r="r" b="b"/>
            <a:pathLst>
              <a:path w="527685" h="486410">
                <a:moveTo>
                  <a:pt x="388835" y="28520"/>
                </a:moveTo>
                <a:lnTo>
                  <a:pt x="283618" y="28520"/>
                </a:lnTo>
                <a:lnTo>
                  <a:pt x="303363" y="29632"/>
                </a:lnTo>
                <a:lnTo>
                  <a:pt x="323088" y="33098"/>
                </a:lnTo>
                <a:lnTo>
                  <a:pt x="361792" y="46556"/>
                </a:lnTo>
                <a:lnTo>
                  <a:pt x="398297" y="67744"/>
                </a:lnTo>
                <a:lnTo>
                  <a:pt x="431139" y="95370"/>
                </a:lnTo>
                <a:lnTo>
                  <a:pt x="458895" y="128049"/>
                </a:lnTo>
                <a:lnTo>
                  <a:pt x="480222" y="164330"/>
                </a:lnTo>
                <a:lnTo>
                  <a:pt x="493896" y="202752"/>
                </a:lnTo>
                <a:lnTo>
                  <a:pt x="498831" y="241985"/>
                </a:lnTo>
                <a:lnTo>
                  <a:pt x="497719" y="261731"/>
                </a:lnTo>
                <a:lnTo>
                  <a:pt x="488566" y="300991"/>
                </a:lnTo>
                <a:lnTo>
                  <a:pt x="471089" y="338780"/>
                </a:lnTo>
                <a:lnTo>
                  <a:pt x="446515" y="373635"/>
                </a:lnTo>
                <a:lnTo>
                  <a:pt x="416185" y="404107"/>
                </a:lnTo>
                <a:lnTo>
                  <a:pt x="381521" y="428810"/>
                </a:lnTo>
                <a:lnTo>
                  <a:pt x="343989" y="446454"/>
                </a:lnTo>
                <a:lnTo>
                  <a:pt x="305022" y="455888"/>
                </a:lnTo>
                <a:lnTo>
                  <a:pt x="275742" y="457682"/>
                </a:lnTo>
                <a:lnTo>
                  <a:pt x="269749" y="464458"/>
                </a:lnTo>
                <a:lnTo>
                  <a:pt x="270714" y="480209"/>
                </a:lnTo>
                <a:lnTo>
                  <a:pt x="277489" y="486202"/>
                </a:lnTo>
                <a:lnTo>
                  <a:pt x="306769" y="484409"/>
                </a:lnTo>
                <a:lnTo>
                  <a:pt x="352075" y="473862"/>
                </a:lnTo>
                <a:lnTo>
                  <a:pt x="394799" y="454113"/>
                </a:lnTo>
                <a:lnTo>
                  <a:pt x="433693" y="426689"/>
                </a:lnTo>
                <a:lnTo>
                  <a:pt x="467545" y="392979"/>
                </a:lnTo>
                <a:lnTo>
                  <a:pt x="495098" y="354276"/>
                </a:lnTo>
                <a:lnTo>
                  <a:pt x="515014" y="311809"/>
                </a:lnTo>
                <a:lnTo>
                  <a:pt x="525842" y="266795"/>
                </a:lnTo>
                <a:lnTo>
                  <a:pt x="527353" y="243734"/>
                </a:lnTo>
                <a:lnTo>
                  <a:pt x="526041" y="220582"/>
                </a:lnTo>
                <a:lnTo>
                  <a:pt x="515494" y="175276"/>
                </a:lnTo>
                <a:lnTo>
                  <a:pt x="495745" y="132553"/>
                </a:lnTo>
                <a:lnTo>
                  <a:pt x="468321" y="93658"/>
                </a:lnTo>
                <a:lnTo>
                  <a:pt x="434611" y="59806"/>
                </a:lnTo>
                <a:lnTo>
                  <a:pt x="395908" y="32254"/>
                </a:lnTo>
                <a:lnTo>
                  <a:pt x="388835" y="28520"/>
                </a:lnTo>
                <a:close/>
              </a:path>
              <a:path w="527685" h="486410">
                <a:moveTo>
                  <a:pt x="48623" y="227437"/>
                </a:moveTo>
                <a:lnTo>
                  <a:pt x="55886" y="242925"/>
                </a:lnTo>
                <a:lnTo>
                  <a:pt x="64965" y="230144"/>
                </a:lnTo>
                <a:lnTo>
                  <a:pt x="63657" y="230144"/>
                </a:lnTo>
                <a:lnTo>
                  <a:pt x="48623" y="227437"/>
                </a:lnTo>
                <a:close/>
              </a:path>
              <a:path w="527685" h="486410">
                <a:moveTo>
                  <a:pt x="54490" y="172647"/>
                </a:moveTo>
                <a:lnTo>
                  <a:pt x="53969" y="173911"/>
                </a:lnTo>
                <a:lnTo>
                  <a:pt x="47324" y="196178"/>
                </a:lnTo>
                <a:lnTo>
                  <a:pt x="44361" y="212153"/>
                </a:lnTo>
                <a:lnTo>
                  <a:pt x="43555" y="216630"/>
                </a:lnTo>
                <a:lnTo>
                  <a:pt x="48623" y="227437"/>
                </a:lnTo>
                <a:lnTo>
                  <a:pt x="63657" y="230144"/>
                </a:lnTo>
                <a:lnTo>
                  <a:pt x="66241" y="228348"/>
                </a:lnTo>
                <a:lnTo>
                  <a:pt x="71918" y="220356"/>
                </a:lnTo>
                <a:lnTo>
                  <a:pt x="72585" y="216630"/>
                </a:lnTo>
                <a:lnTo>
                  <a:pt x="73975" y="208617"/>
                </a:lnTo>
                <a:lnTo>
                  <a:pt x="71358" y="208617"/>
                </a:lnTo>
                <a:lnTo>
                  <a:pt x="46775" y="206410"/>
                </a:lnTo>
                <a:lnTo>
                  <a:pt x="60960" y="186442"/>
                </a:lnTo>
                <a:lnTo>
                  <a:pt x="54490" y="172647"/>
                </a:lnTo>
                <a:close/>
              </a:path>
              <a:path w="527685" h="486410">
                <a:moveTo>
                  <a:pt x="66241" y="228348"/>
                </a:moveTo>
                <a:lnTo>
                  <a:pt x="63657" y="230144"/>
                </a:lnTo>
                <a:lnTo>
                  <a:pt x="64965" y="230144"/>
                </a:lnTo>
                <a:lnTo>
                  <a:pt x="66241" y="228348"/>
                </a:lnTo>
                <a:close/>
              </a:path>
              <a:path w="527685" h="486410">
                <a:moveTo>
                  <a:pt x="71918" y="220356"/>
                </a:moveTo>
                <a:lnTo>
                  <a:pt x="66241" y="228348"/>
                </a:lnTo>
                <a:lnTo>
                  <a:pt x="71086" y="224981"/>
                </a:lnTo>
                <a:lnTo>
                  <a:pt x="71918" y="220356"/>
                </a:lnTo>
                <a:close/>
              </a:path>
              <a:path w="527685" h="486410">
                <a:moveTo>
                  <a:pt x="43555" y="216630"/>
                </a:moveTo>
                <a:lnTo>
                  <a:pt x="42964" y="219918"/>
                </a:lnTo>
                <a:lnTo>
                  <a:pt x="48125" y="227347"/>
                </a:lnTo>
                <a:lnTo>
                  <a:pt x="48623" y="227437"/>
                </a:lnTo>
                <a:lnTo>
                  <a:pt x="43555" y="216630"/>
                </a:lnTo>
                <a:close/>
              </a:path>
              <a:path w="527685" h="486410">
                <a:moveTo>
                  <a:pt x="118066" y="117791"/>
                </a:moveTo>
                <a:lnTo>
                  <a:pt x="88188" y="165559"/>
                </a:lnTo>
                <a:lnTo>
                  <a:pt x="74730" y="204264"/>
                </a:lnTo>
                <a:lnTo>
                  <a:pt x="72483" y="217215"/>
                </a:lnTo>
                <a:lnTo>
                  <a:pt x="71918" y="220356"/>
                </a:lnTo>
                <a:lnTo>
                  <a:pt x="132115" y="135618"/>
                </a:lnTo>
                <a:lnTo>
                  <a:pt x="130605" y="126699"/>
                </a:lnTo>
                <a:lnTo>
                  <a:pt x="118066" y="117791"/>
                </a:lnTo>
                <a:close/>
              </a:path>
              <a:path w="527685" h="486410">
                <a:moveTo>
                  <a:pt x="17364" y="108543"/>
                </a:moveTo>
                <a:lnTo>
                  <a:pt x="3075" y="115243"/>
                </a:lnTo>
                <a:lnTo>
                  <a:pt x="0" y="123751"/>
                </a:lnTo>
                <a:lnTo>
                  <a:pt x="43555" y="216630"/>
                </a:lnTo>
                <a:lnTo>
                  <a:pt x="44361" y="212153"/>
                </a:lnTo>
                <a:lnTo>
                  <a:pt x="47324" y="196178"/>
                </a:lnTo>
                <a:lnTo>
                  <a:pt x="53969" y="173911"/>
                </a:lnTo>
                <a:lnTo>
                  <a:pt x="54490" y="172647"/>
                </a:lnTo>
                <a:lnTo>
                  <a:pt x="25872" y="111619"/>
                </a:lnTo>
                <a:lnTo>
                  <a:pt x="17364" y="108543"/>
                </a:lnTo>
                <a:close/>
              </a:path>
              <a:path w="527685" h="486410">
                <a:moveTo>
                  <a:pt x="60960" y="186442"/>
                </a:moveTo>
                <a:lnTo>
                  <a:pt x="46775" y="206410"/>
                </a:lnTo>
                <a:lnTo>
                  <a:pt x="71358" y="208617"/>
                </a:lnTo>
                <a:lnTo>
                  <a:pt x="60960" y="186442"/>
                </a:lnTo>
                <a:close/>
              </a:path>
              <a:path w="527685" h="486410">
                <a:moveTo>
                  <a:pt x="117739" y="117558"/>
                </a:moveTo>
                <a:lnTo>
                  <a:pt x="108819" y="119070"/>
                </a:lnTo>
                <a:lnTo>
                  <a:pt x="60960" y="186442"/>
                </a:lnTo>
                <a:lnTo>
                  <a:pt x="71358" y="208617"/>
                </a:lnTo>
                <a:lnTo>
                  <a:pt x="73975" y="208617"/>
                </a:lnTo>
                <a:lnTo>
                  <a:pt x="74730" y="204264"/>
                </a:lnTo>
                <a:lnTo>
                  <a:pt x="80417" y="184729"/>
                </a:lnTo>
                <a:lnTo>
                  <a:pt x="88188" y="165559"/>
                </a:lnTo>
                <a:lnTo>
                  <a:pt x="97894" y="146940"/>
                </a:lnTo>
                <a:lnTo>
                  <a:pt x="109376" y="129054"/>
                </a:lnTo>
                <a:lnTo>
                  <a:pt x="118066" y="117791"/>
                </a:lnTo>
                <a:lnTo>
                  <a:pt x="117739" y="117558"/>
                </a:lnTo>
                <a:close/>
              </a:path>
              <a:path w="527685" h="486410">
                <a:moveTo>
                  <a:pt x="285366" y="0"/>
                </a:moveTo>
                <a:lnTo>
                  <a:pt x="239321" y="5332"/>
                </a:lnTo>
                <a:lnTo>
                  <a:pt x="195144" y="20681"/>
                </a:lnTo>
                <a:lnTo>
                  <a:pt x="154184" y="44448"/>
                </a:lnTo>
                <a:lnTo>
                  <a:pt x="117656" y="75182"/>
                </a:lnTo>
                <a:lnTo>
                  <a:pt x="86746" y="111619"/>
                </a:lnTo>
                <a:lnTo>
                  <a:pt x="62886" y="152281"/>
                </a:lnTo>
                <a:lnTo>
                  <a:pt x="54490" y="172647"/>
                </a:lnTo>
                <a:lnTo>
                  <a:pt x="60960" y="186442"/>
                </a:lnTo>
                <a:lnTo>
                  <a:pt x="108819" y="119070"/>
                </a:lnTo>
                <a:lnTo>
                  <a:pt x="117739" y="117558"/>
                </a:lnTo>
                <a:lnTo>
                  <a:pt x="118246" y="117558"/>
                </a:lnTo>
                <a:lnTo>
                  <a:pt x="122469" y="112085"/>
                </a:lnTo>
                <a:lnTo>
                  <a:pt x="137002" y="96212"/>
                </a:lnTo>
                <a:lnTo>
                  <a:pt x="169680" y="68456"/>
                </a:lnTo>
                <a:lnTo>
                  <a:pt x="205962" y="47129"/>
                </a:lnTo>
                <a:lnTo>
                  <a:pt x="244384" y="33455"/>
                </a:lnTo>
                <a:lnTo>
                  <a:pt x="283618" y="28520"/>
                </a:lnTo>
                <a:lnTo>
                  <a:pt x="388835" y="28520"/>
                </a:lnTo>
                <a:lnTo>
                  <a:pt x="375070" y="21253"/>
                </a:lnTo>
                <a:lnTo>
                  <a:pt x="353441" y="12338"/>
                </a:lnTo>
                <a:lnTo>
                  <a:pt x="331175" y="5690"/>
                </a:lnTo>
                <a:lnTo>
                  <a:pt x="308427" y="1510"/>
                </a:lnTo>
                <a:lnTo>
                  <a:pt x="285366" y="0"/>
                </a:lnTo>
                <a:close/>
              </a:path>
              <a:path w="527685" h="486410">
                <a:moveTo>
                  <a:pt x="118246" y="117558"/>
                </a:moveTo>
                <a:lnTo>
                  <a:pt x="117739" y="117558"/>
                </a:lnTo>
                <a:lnTo>
                  <a:pt x="118066" y="117791"/>
                </a:lnTo>
                <a:lnTo>
                  <a:pt x="118246" y="117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41976" y="1414272"/>
            <a:ext cx="551688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02352" y="1365503"/>
            <a:ext cx="630936" cy="725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89480" y="14348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8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8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8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8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320447" y="145643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37176" y="2252472"/>
            <a:ext cx="551688" cy="548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97552" y="2203704"/>
            <a:ext cx="630936" cy="725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84680" y="227303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8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1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8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1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015647" y="229463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32576" y="2328672"/>
            <a:ext cx="551687" cy="5486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041135" y="2279904"/>
            <a:ext cx="734567" cy="7254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80080" y="234923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8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1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8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1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260247" y="2370835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77511" y="1325372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93461" y="1325372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64961" y="1325372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59351" y="1596644"/>
            <a:ext cx="203835" cy="11353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63500">
              <a:lnSpc>
                <a:spcPct val="135000"/>
              </a:lnSpc>
              <a:spcBef>
                <a:spcPts val="85"/>
              </a:spcBef>
            </a:pPr>
            <a:r>
              <a:rPr dirty="0" sz="1800">
                <a:latin typeface="Times New Roman"/>
                <a:cs typeface="Times New Roman"/>
              </a:rPr>
              <a:t>y  a  m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7236211" y="1663715"/>
          <a:ext cx="1847850" cy="1125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</a:tblGrid>
              <a:tr h="342900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829732" y="5257800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1" y="1143000"/>
                </a:moveTo>
                <a:lnTo>
                  <a:pt x="46540" y="1137011"/>
                </a:lnTo>
                <a:lnTo>
                  <a:pt x="22318" y="1120681"/>
                </a:lnTo>
                <a:lnTo>
                  <a:pt x="5988" y="1096460"/>
                </a:lnTo>
                <a:lnTo>
                  <a:pt x="0" y="1066799"/>
                </a:lnTo>
                <a:lnTo>
                  <a:pt x="0" y="76201"/>
                </a:lnTo>
                <a:lnTo>
                  <a:pt x="5988" y="46540"/>
                </a:lnTo>
                <a:lnTo>
                  <a:pt x="22318" y="22318"/>
                </a:lnTo>
                <a:lnTo>
                  <a:pt x="46540" y="5988"/>
                </a:lnTo>
                <a:lnTo>
                  <a:pt x="76201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10731" y="5257800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0" y="0"/>
                </a:moveTo>
                <a:lnTo>
                  <a:pt x="29660" y="5988"/>
                </a:lnTo>
                <a:lnTo>
                  <a:pt x="53882" y="22318"/>
                </a:lnTo>
                <a:lnTo>
                  <a:pt x="70212" y="46540"/>
                </a:lnTo>
                <a:lnTo>
                  <a:pt x="76201" y="76201"/>
                </a:lnTo>
                <a:lnTo>
                  <a:pt x="76201" y="1066799"/>
                </a:lnTo>
                <a:lnTo>
                  <a:pt x="70212" y="1096460"/>
                </a:lnTo>
                <a:lnTo>
                  <a:pt x="53882" y="1120681"/>
                </a:lnTo>
                <a:lnTo>
                  <a:pt x="29660" y="1137011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555740" y="3073907"/>
            <a:ext cx="2299970" cy="961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𝒚  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=  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𝒚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/𝟐 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+  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𝒂</a:t>
            </a:r>
            <a:r>
              <a:rPr dirty="0" baseline="-17094" sz="1950" spc="37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/𝟐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𝒂  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=  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𝒚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/𝟐 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+ </a:t>
            </a:r>
            <a:r>
              <a:rPr dirty="0" sz="2000" spc="1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𝒓𝒎</a:t>
            </a:r>
            <a:endParaRPr sz="2000">
              <a:latin typeface="Cambria Math"/>
              <a:cs typeface="Cambria Math"/>
            </a:endParaRPr>
          </a:p>
          <a:p>
            <a:pPr marL="22225">
              <a:lnSpc>
                <a:spcPct val="100000"/>
              </a:lnSpc>
              <a:spcBef>
                <a:spcPts val="165"/>
              </a:spcBef>
            </a:pP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r>
              <a:rPr dirty="0" baseline="-17094" sz="1950">
                <a:solidFill>
                  <a:srgbClr val="008000"/>
                </a:solidFill>
                <a:latin typeface="Cambria Math"/>
                <a:cs typeface="Cambria Math"/>
              </a:rPr>
              <a:t>𝒎 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=  𝒓</a:t>
            </a:r>
            <a:r>
              <a:rPr dirty="0" baseline="-14814" sz="2250">
                <a:solidFill>
                  <a:srgbClr val="008000"/>
                </a:solidFill>
                <a:latin typeface="Cambria Math"/>
                <a:cs typeface="Cambria Math"/>
              </a:rPr>
              <a:t>𝒂</a:t>
            </a:r>
            <a:r>
              <a:rPr dirty="0" baseline="-14814" sz="2250" spc="209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/𝟐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323796" y="5213684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1" y="1143000"/>
                </a:moveTo>
                <a:lnTo>
                  <a:pt x="46540" y="1137011"/>
                </a:lnTo>
                <a:lnTo>
                  <a:pt x="22318" y="1120681"/>
                </a:lnTo>
                <a:lnTo>
                  <a:pt x="5988" y="1096460"/>
                </a:lnTo>
                <a:lnTo>
                  <a:pt x="0" y="1066799"/>
                </a:lnTo>
                <a:lnTo>
                  <a:pt x="0" y="76201"/>
                </a:lnTo>
                <a:lnTo>
                  <a:pt x="5988" y="46540"/>
                </a:lnTo>
                <a:lnTo>
                  <a:pt x="22318" y="22318"/>
                </a:lnTo>
                <a:lnTo>
                  <a:pt x="46540" y="5988"/>
                </a:lnTo>
                <a:lnTo>
                  <a:pt x="76201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704795" y="5213684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0" y="0"/>
                </a:moveTo>
                <a:lnTo>
                  <a:pt x="29660" y="5988"/>
                </a:lnTo>
                <a:lnTo>
                  <a:pt x="53882" y="22318"/>
                </a:lnTo>
                <a:lnTo>
                  <a:pt x="70212" y="46540"/>
                </a:lnTo>
                <a:lnTo>
                  <a:pt x="76201" y="76201"/>
                </a:lnTo>
                <a:lnTo>
                  <a:pt x="76201" y="1066799"/>
                </a:lnTo>
                <a:lnTo>
                  <a:pt x="70212" y="1096460"/>
                </a:lnTo>
                <a:lnTo>
                  <a:pt x="53882" y="1120681"/>
                </a:lnTo>
                <a:lnTo>
                  <a:pt x="29660" y="1137011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230726" y="5213684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76201" y="1143000"/>
                </a:moveTo>
                <a:lnTo>
                  <a:pt x="46540" y="1137011"/>
                </a:lnTo>
                <a:lnTo>
                  <a:pt x="22318" y="1120681"/>
                </a:lnTo>
                <a:lnTo>
                  <a:pt x="5988" y="1096460"/>
                </a:lnTo>
                <a:lnTo>
                  <a:pt x="0" y="1066799"/>
                </a:lnTo>
                <a:lnTo>
                  <a:pt x="0" y="76201"/>
                </a:lnTo>
                <a:lnTo>
                  <a:pt x="5988" y="46540"/>
                </a:lnTo>
                <a:lnTo>
                  <a:pt x="22318" y="22318"/>
                </a:lnTo>
                <a:lnTo>
                  <a:pt x="46540" y="5988"/>
                </a:lnTo>
                <a:lnTo>
                  <a:pt x="76201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11725" y="5213684"/>
            <a:ext cx="76200" cy="1143000"/>
          </a:xfrm>
          <a:custGeom>
            <a:avLst/>
            <a:gdLst/>
            <a:ahLst/>
            <a:cxnLst/>
            <a:rect l="l" t="t" r="r" b="b"/>
            <a:pathLst>
              <a:path w="76200" h="1143000">
                <a:moveTo>
                  <a:pt x="0" y="0"/>
                </a:moveTo>
                <a:lnTo>
                  <a:pt x="29660" y="5988"/>
                </a:lnTo>
                <a:lnTo>
                  <a:pt x="53882" y="22318"/>
                </a:lnTo>
                <a:lnTo>
                  <a:pt x="70212" y="46540"/>
                </a:lnTo>
                <a:lnTo>
                  <a:pt x="76201" y="76201"/>
                </a:lnTo>
                <a:lnTo>
                  <a:pt x="76201" y="1066799"/>
                </a:lnTo>
                <a:lnTo>
                  <a:pt x="70212" y="1096460"/>
                </a:lnTo>
                <a:lnTo>
                  <a:pt x="53882" y="1120681"/>
                </a:lnTo>
                <a:lnTo>
                  <a:pt x="29660" y="1137011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114800" y="5213684"/>
            <a:ext cx="117475" cy="1143000"/>
          </a:xfrm>
          <a:custGeom>
            <a:avLst/>
            <a:gdLst/>
            <a:ahLst/>
            <a:cxnLst/>
            <a:rect l="l" t="t" r="r" b="b"/>
            <a:pathLst>
              <a:path w="117475" h="1143000">
                <a:moveTo>
                  <a:pt x="117261" y="1143000"/>
                </a:moveTo>
                <a:lnTo>
                  <a:pt x="71617" y="1133785"/>
                </a:lnTo>
                <a:lnTo>
                  <a:pt x="34345" y="1108654"/>
                </a:lnTo>
                <a:lnTo>
                  <a:pt x="9214" y="1071382"/>
                </a:lnTo>
                <a:lnTo>
                  <a:pt x="0" y="1025739"/>
                </a:lnTo>
                <a:lnTo>
                  <a:pt x="0" y="117261"/>
                </a:lnTo>
                <a:lnTo>
                  <a:pt x="9214" y="71617"/>
                </a:lnTo>
                <a:lnTo>
                  <a:pt x="34345" y="34345"/>
                </a:lnTo>
                <a:lnTo>
                  <a:pt x="71617" y="9214"/>
                </a:lnTo>
                <a:lnTo>
                  <a:pt x="117261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701088" y="5213684"/>
            <a:ext cx="117475" cy="1143000"/>
          </a:xfrm>
          <a:custGeom>
            <a:avLst/>
            <a:gdLst/>
            <a:ahLst/>
            <a:cxnLst/>
            <a:rect l="l" t="t" r="r" b="b"/>
            <a:pathLst>
              <a:path w="117475" h="1143000">
                <a:moveTo>
                  <a:pt x="0" y="0"/>
                </a:moveTo>
                <a:lnTo>
                  <a:pt x="45643" y="9214"/>
                </a:lnTo>
                <a:lnTo>
                  <a:pt x="82916" y="34345"/>
                </a:lnTo>
                <a:lnTo>
                  <a:pt x="108046" y="71617"/>
                </a:lnTo>
                <a:lnTo>
                  <a:pt x="117261" y="117261"/>
                </a:lnTo>
                <a:lnTo>
                  <a:pt x="117261" y="1025739"/>
                </a:lnTo>
                <a:lnTo>
                  <a:pt x="108046" y="1071382"/>
                </a:lnTo>
                <a:lnTo>
                  <a:pt x="82916" y="1108654"/>
                </a:lnTo>
                <a:lnTo>
                  <a:pt x="45643" y="1133785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066305" y="5205299"/>
            <a:ext cx="130810" cy="1143000"/>
          </a:xfrm>
          <a:custGeom>
            <a:avLst/>
            <a:gdLst/>
            <a:ahLst/>
            <a:cxnLst/>
            <a:rect l="l" t="t" r="r" b="b"/>
            <a:pathLst>
              <a:path w="130810" h="1143000">
                <a:moveTo>
                  <a:pt x="130570" y="1143000"/>
                </a:moveTo>
                <a:lnTo>
                  <a:pt x="79746" y="1132739"/>
                </a:lnTo>
                <a:lnTo>
                  <a:pt x="38243" y="1104757"/>
                </a:lnTo>
                <a:lnTo>
                  <a:pt x="10260" y="1063253"/>
                </a:lnTo>
                <a:lnTo>
                  <a:pt x="0" y="1012430"/>
                </a:lnTo>
                <a:lnTo>
                  <a:pt x="0" y="130570"/>
                </a:lnTo>
                <a:lnTo>
                  <a:pt x="10260" y="79746"/>
                </a:lnTo>
                <a:lnTo>
                  <a:pt x="38243" y="38243"/>
                </a:lnTo>
                <a:lnTo>
                  <a:pt x="79746" y="10260"/>
                </a:lnTo>
                <a:lnTo>
                  <a:pt x="130570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719141" y="5205299"/>
            <a:ext cx="130810" cy="1143000"/>
          </a:xfrm>
          <a:custGeom>
            <a:avLst/>
            <a:gdLst/>
            <a:ahLst/>
            <a:cxnLst/>
            <a:rect l="l" t="t" r="r" b="b"/>
            <a:pathLst>
              <a:path w="130810" h="1143000">
                <a:moveTo>
                  <a:pt x="0" y="0"/>
                </a:moveTo>
                <a:lnTo>
                  <a:pt x="50823" y="10260"/>
                </a:lnTo>
                <a:lnTo>
                  <a:pt x="92327" y="38243"/>
                </a:lnTo>
                <a:lnTo>
                  <a:pt x="120309" y="79746"/>
                </a:lnTo>
                <a:lnTo>
                  <a:pt x="130570" y="130570"/>
                </a:lnTo>
                <a:lnTo>
                  <a:pt x="130570" y="1012430"/>
                </a:lnTo>
                <a:lnTo>
                  <a:pt x="120309" y="1063253"/>
                </a:lnTo>
                <a:lnTo>
                  <a:pt x="92327" y="1104757"/>
                </a:lnTo>
                <a:lnTo>
                  <a:pt x="50823" y="1132739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836387" y="5213684"/>
            <a:ext cx="130810" cy="1143000"/>
          </a:xfrm>
          <a:custGeom>
            <a:avLst/>
            <a:gdLst/>
            <a:ahLst/>
            <a:cxnLst/>
            <a:rect l="l" t="t" r="r" b="b"/>
            <a:pathLst>
              <a:path w="130809" h="1143000">
                <a:moveTo>
                  <a:pt x="130570" y="1143000"/>
                </a:moveTo>
                <a:lnTo>
                  <a:pt x="79746" y="1132739"/>
                </a:lnTo>
                <a:lnTo>
                  <a:pt x="38243" y="1104757"/>
                </a:lnTo>
                <a:lnTo>
                  <a:pt x="10260" y="1063253"/>
                </a:lnTo>
                <a:lnTo>
                  <a:pt x="0" y="1012430"/>
                </a:lnTo>
                <a:lnTo>
                  <a:pt x="0" y="130570"/>
                </a:lnTo>
                <a:lnTo>
                  <a:pt x="10260" y="79746"/>
                </a:lnTo>
                <a:lnTo>
                  <a:pt x="38243" y="38243"/>
                </a:lnTo>
                <a:lnTo>
                  <a:pt x="79746" y="10260"/>
                </a:lnTo>
                <a:lnTo>
                  <a:pt x="130570" y="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489222" y="5213684"/>
            <a:ext cx="130810" cy="1143000"/>
          </a:xfrm>
          <a:custGeom>
            <a:avLst/>
            <a:gdLst/>
            <a:ahLst/>
            <a:cxnLst/>
            <a:rect l="l" t="t" r="r" b="b"/>
            <a:pathLst>
              <a:path w="130809" h="1143000">
                <a:moveTo>
                  <a:pt x="0" y="0"/>
                </a:moveTo>
                <a:lnTo>
                  <a:pt x="50823" y="10260"/>
                </a:lnTo>
                <a:lnTo>
                  <a:pt x="92327" y="38243"/>
                </a:lnTo>
                <a:lnTo>
                  <a:pt x="120309" y="79746"/>
                </a:lnTo>
                <a:lnTo>
                  <a:pt x="130570" y="130570"/>
                </a:lnTo>
                <a:lnTo>
                  <a:pt x="130570" y="1012430"/>
                </a:lnTo>
                <a:lnTo>
                  <a:pt x="120309" y="1063253"/>
                </a:lnTo>
                <a:lnTo>
                  <a:pt x="92327" y="1104757"/>
                </a:lnTo>
                <a:lnTo>
                  <a:pt x="50823" y="1132739"/>
                </a:lnTo>
                <a:lnTo>
                  <a:pt x="0" y="1143000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364739" y="6339650"/>
            <a:ext cx="4652645" cy="525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Iteration 0, 1, 2,</a:t>
            </a:r>
            <a:r>
              <a:rPr dirty="0" sz="1800" spc="-8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 marL="321310">
              <a:lnSpc>
                <a:spcPct val="100000"/>
              </a:lnSpc>
              <a:spcBef>
                <a:spcPts val="80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9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25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482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3305555"/>
            <a:ext cx="6266180" cy="2138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Does this</a:t>
            </a:r>
            <a:r>
              <a:rPr dirty="0" sz="3200" spc="-3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converge?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Does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it 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converge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to what we</a:t>
            </a:r>
            <a:r>
              <a:rPr dirty="0" sz="3200" spc="3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want?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Are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results reasonable?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4435584" y="2090420"/>
            <a:ext cx="13468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514350">
              <a:lnSpc>
                <a:spcPts val="2090"/>
              </a:lnSpc>
              <a:spcBef>
                <a:spcPts val="225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or 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qu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ivale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nt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ly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665" y="2065020"/>
            <a:ext cx="2190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𝑟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3708" y="2313432"/>
            <a:ext cx="1625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41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7216" y="1962911"/>
            <a:ext cx="79629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240">
                <a:latin typeface="Cambria Math"/>
                <a:cs typeface="Cambria Math"/>
              </a:rPr>
              <a:t>(()*)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8557" y="2697479"/>
            <a:ext cx="5270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>
                <a:latin typeface="Cambria Math"/>
                <a:cs typeface="Cambria Math"/>
              </a:rPr>
              <a:t>"</a:t>
            </a:r>
            <a:r>
              <a:rPr dirty="0" sz="2300" spc="30">
                <a:latin typeface="Cambria Math"/>
                <a:cs typeface="Cambria Math"/>
              </a:rPr>
              <a:t>→</a:t>
            </a:r>
            <a:r>
              <a:rPr dirty="0" sz="2300" spc="41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0122" y="1882140"/>
            <a:ext cx="16706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7350" algn="l"/>
              </a:tabLst>
            </a:pPr>
            <a:r>
              <a:rPr dirty="0" baseline="-25173" sz="4800">
                <a:latin typeface="Cambria Math"/>
                <a:cs typeface="Cambria Math"/>
              </a:rPr>
              <a:t>= </a:t>
            </a:r>
            <a:r>
              <a:rPr dirty="0" baseline="-25173" sz="4800" spc="3382">
                <a:latin typeface="Cambria Math"/>
                <a:cs typeface="Cambria Math"/>
              </a:rPr>
              <a:t>#</a:t>
            </a:r>
            <a:r>
              <a:rPr dirty="0" sz="3200" spc="900" u="heavy">
                <a:latin typeface="Cambria Math"/>
                <a:cs typeface="Cambria Math"/>
              </a:rPr>
              <a:t> </a:t>
            </a:r>
            <a:r>
              <a:rPr dirty="0" sz="2300" spc="-100" u="heavy">
                <a:latin typeface="Cambria Math"/>
                <a:cs typeface="Cambria Math"/>
              </a:rPr>
              <a:t>"	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52726" y="1531620"/>
            <a:ext cx="6223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381" sz="4800" spc="225" b="0">
                <a:solidFill>
                  <a:srgbClr val="000000"/>
                </a:solidFill>
                <a:latin typeface="Cambria Math"/>
                <a:cs typeface="Cambria Math"/>
              </a:rPr>
              <a:t>𝑟</a:t>
            </a:r>
            <a:r>
              <a:rPr dirty="0" sz="2300" spc="15" b="0">
                <a:solidFill>
                  <a:srgbClr val="000000"/>
                </a:solidFill>
                <a:latin typeface="Cambria Math"/>
                <a:cs typeface="Cambria Math"/>
              </a:rPr>
              <a:t>(</a:t>
            </a:r>
            <a:r>
              <a:rPr dirty="0" sz="2300" spc="120" b="0">
                <a:solidFill>
                  <a:srgbClr val="000000"/>
                </a:solidFill>
                <a:latin typeface="Cambria Math"/>
                <a:cs typeface="Cambria Math"/>
              </a:rPr>
              <a:t>(</a:t>
            </a:r>
            <a:r>
              <a:rPr dirty="0" sz="2300" b="0">
                <a:solidFill>
                  <a:srgbClr val="000000"/>
                </a:solidFill>
                <a:latin typeface="Cambria Math"/>
                <a:cs typeface="Cambria Math"/>
              </a:rPr>
              <a:t>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7440" y="2336292"/>
            <a:ext cx="3632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ambria Math"/>
                <a:cs typeface="Cambria Math"/>
              </a:rPr>
              <a:t>𝑑</a:t>
            </a:r>
            <a:r>
              <a:rPr dirty="0" baseline="-15700" sz="3450" spc="-150">
                <a:latin typeface="Cambria Math"/>
                <a:cs typeface="Cambria Math"/>
              </a:rPr>
              <a:t>"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4241" y="2045715"/>
            <a:ext cx="16129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Cambria Math"/>
                <a:cs typeface="Cambria Math"/>
              </a:rPr>
              <a:t>𝑟 =</a:t>
            </a:r>
            <a:r>
              <a:rPr dirty="0" sz="4000" spc="430">
                <a:latin typeface="Cambria Math"/>
                <a:cs typeface="Cambria Math"/>
              </a:rPr>
              <a:t> </a:t>
            </a:r>
            <a:r>
              <a:rPr dirty="0" sz="4000" spc="-5">
                <a:latin typeface="Cambria Math"/>
                <a:cs typeface="Cambria Math"/>
              </a:rPr>
              <a:t>𝑀𝑟</a:t>
            </a:r>
            <a:endParaRPr sz="4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09016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50266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40" u="heavy"/>
              <a:t>Two</a:t>
            </a:r>
            <a:r>
              <a:rPr dirty="0" spc="-65" u="heavy"/>
              <a:t> </a:t>
            </a:r>
            <a:r>
              <a:rPr dirty="0" spc="-10" u="heavy"/>
              <a:t>problems: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00"/>
                </a:solidFill>
              </a:rPr>
              <a:t>(1)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Some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pages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230773"/>
            <a:ext cx="7143115" cy="3519804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855"/>
              </a:spcBef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dead ends </a:t>
            </a:r>
            <a:r>
              <a:rPr dirty="0" sz="3200" spc="-20">
                <a:latin typeface="Calibri"/>
                <a:cs typeface="Calibri"/>
              </a:rPr>
              <a:t>(have </a:t>
            </a:r>
            <a:r>
              <a:rPr dirty="0" sz="3200">
                <a:latin typeface="Calibri"/>
                <a:cs typeface="Calibri"/>
              </a:rPr>
              <a:t>no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out-links)</a:t>
            </a:r>
            <a:endParaRPr sz="3200">
              <a:latin typeface="Calibri"/>
              <a:cs typeface="Calibri"/>
            </a:endParaRPr>
          </a:p>
          <a:p>
            <a:pPr marL="625475" marR="2908935" indent="-274320">
              <a:lnSpc>
                <a:spcPct val="100699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Such </a:t>
            </a:r>
            <a:r>
              <a:rPr dirty="0" sz="2800" spc="-10">
                <a:latin typeface="Calibri"/>
                <a:cs typeface="Calibri"/>
              </a:rPr>
              <a:t>pages </a:t>
            </a:r>
            <a:r>
              <a:rPr dirty="0" sz="2800" spc="-5">
                <a:latin typeface="Calibri"/>
                <a:cs typeface="Calibri"/>
              </a:rPr>
              <a:t>cause  </a:t>
            </a:r>
            <a:r>
              <a:rPr dirty="0" sz="2800" spc="-10">
                <a:latin typeface="Calibri"/>
                <a:cs typeface="Calibri"/>
              </a:rPr>
              <a:t>importance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“leak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15">
                <a:latin typeface="Calibri"/>
                <a:cs typeface="Calibri"/>
              </a:rPr>
              <a:t>out”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latin typeface="Calibri"/>
                <a:cs typeface="Calibri"/>
              </a:rPr>
              <a:t>(2)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Spider</a:t>
            </a:r>
            <a:r>
              <a:rPr dirty="0" sz="3200" spc="-9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traps</a:t>
            </a:r>
            <a:endParaRPr sz="3200">
              <a:latin typeface="Calibri"/>
              <a:cs typeface="Calibri"/>
            </a:endParaRPr>
          </a:p>
          <a:p>
            <a:pPr marL="332105">
              <a:lnSpc>
                <a:spcPct val="100000"/>
              </a:lnSpc>
              <a:spcBef>
                <a:spcPts val="45"/>
              </a:spcBef>
            </a:pPr>
            <a:r>
              <a:rPr dirty="0" sz="3200">
                <a:latin typeface="Calibri"/>
                <a:cs typeface="Calibri"/>
              </a:rPr>
              <a:t>(all </a:t>
            </a:r>
            <a:r>
              <a:rPr dirty="0" sz="3200" spc="-20">
                <a:latin typeface="Calibri"/>
                <a:cs typeface="Calibri"/>
              </a:rPr>
              <a:t>out-links are </a:t>
            </a:r>
            <a:r>
              <a:rPr dirty="0" sz="3200" spc="-5">
                <a:latin typeface="Calibri"/>
                <a:cs typeface="Calibri"/>
              </a:rPr>
              <a:t>within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group)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Eventually </a:t>
            </a:r>
            <a:r>
              <a:rPr dirty="0" sz="2800" spc="-5">
                <a:latin typeface="Calibri"/>
                <a:cs typeface="Calibri"/>
              </a:rPr>
              <a:t>spider </a:t>
            </a:r>
            <a:r>
              <a:rPr dirty="0" sz="2800" spc="-15">
                <a:latin typeface="Calibri"/>
                <a:cs typeface="Calibri"/>
              </a:rPr>
              <a:t>traps </a:t>
            </a:r>
            <a:r>
              <a:rPr dirty="0" sz="2800" spc="-5">
                <a:latin typeface="Calibri"/>
                <a:cs typeface="Calibri"/>
              </a:rPr>
              <a:t>absorb all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55">
                <a:latin typeface="Calibri"/>
                <a:cs typeface="Calibri"/>
              </a:rPr>
              <a:t>importance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87375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9085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FF0066"/>
                </a:solidFill>
              </a:rPr>
              <a:t>The “Spider </a:t>
            </a:r>
            <a:r>
              <a:rPr dirty="0" spc="-20">
                <a:solidFill>
                  <a:srgbClr val="FF0066"/>
                </a:solidFill>
              </a:rPr>
              <a:t>trap”</a:t>
            </a:r>
            <a:r>
              <a:rPr dirty="0" spc="-40">
                <a:solidFill>
                  <a:srgbClr val="FF0066"/>
                </a:solidFill>
              </a:rPr>
              <a:t> </a:t>
            </a:r>
            <a:r>
              <a:rPr dirty="0" spc="-10">
                <a:solidFill>
                  <a:srgbClr val="FF0066"/>
                </a:solidFill>
              </a:rPr>
              <a:t>problem: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3763" y="4765548"/>
            <a:ext cx="309245" cy="10071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50"/>
              </a:spcBef>
            </a:pPr>
            <a:r>
              <a:rPr dirty="0" sz="3200" spc="-5">
                <a:latin typeface="Arial"/>
                <a:cs typeface="Arial"/>
              </a:rPr>
              <a:t>r</a:t>
            </a:r>
            <a:r>
              <a:rPr dirty="0" baseline="-18518" sz="3150">
                <a:latin typeface="Arial"/>
                <a:cs typeface="Arial"/>
              </a:rPr>
              <a:t>a  </a:t>
            </a:r>
            <a:r>
              <a:rPr dirty="0" sz="3200" spc="-5">
                <a:latin typeface="Arial"/>
                <a:cs typeface="Arial"/>
              </a:rPr>
              <a:t>r</a:t>
            </a:r>
            <a:r>
              <a:rPr dirty="0" baseline="-18518" sz="3150">
                <a:latin typeface="Arial"/>
                <a:cs typeface="Arial"/>
              </a:rPr>
              <a:t>b</a:t>
            </a:r>
            <a:endParaRPr baseline="-18518" sz="3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2339" y="5060188"/>
            <a:ext cx="23367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18099" y="3057878"/>
            <a:ext cx="1585595" cy="132715"/>
          </a:xfrm>
          <a:custGeom>
            <a:avLst/>
            <a:gdLst/>
            <a:ahLst/>
            <a:cxnLst/>
            <a:rect l="l" t="t" r="r" b="b"/>
            <a:pathLst>
              <a:path w="1585595" h="132714">
                <a:moveTo>
                  <a:pt x="1504077" y="80610"/>
                </a:moveTo>
                <a:lnTo>
                  <a:pt x="1457186" y="107963"/>
                </a:lnTo>
                <a:lnTo>
                  <a:pt x="1454885" y="116711"/>
                </a:lnTo>
                <a:lnTo>
                  <a:pt x="1462836" y="130343"/>
                </a:lnTo>
                <a:lnTo>
                  <a:pt x="1471584" y="132646"/>
                </a:lnTo>
                <a:lnTo>
                  <a:pt x="1560789" y="80610"/>
                </a:lnTo>
                <a:lnTo>
                  <a:pt x="1504077" y="80610"/>
                </a:lnTo>
                <a:close/>
              </a:path>
              <a:path w="1585595" h="132714">
                <a:moveTo>
                  <a:pt x="1570454" y="74972"/>
                </a:moveTo>
                <a:lnTo>
                  <a:pt x="1560789" y="80610"/>
                </a:lnTo>
                <a:lnTo>
                  <a:pt x="1564817" y="80609"/>
                </a:lnTo>
                <a:lnTo>
                  <a:pt x="1570454" y="74972"/>
                </a:lnTo>
                <a:close/>
              </a:path>
              <a:path w="1585595" h="132714">
                <a:moveTo>
                  <a:pt x="1528571" y="66322"/>
                </a:moveTo>
                <a:lnTo>
                  <a:pt x="1504077" y="80610"/>
                </a:lnTo>
                <a:lnTo>
                  <a:pt x="1560791" y="80609"/>
                </a:lnTo>
                <a:lnTo>
                  <a:pt x="1564127" y="78663"/>
                </a:lnTo>
                <a:lnTo>
                  <a:pt x="1549727" y="78663"/>
                </a:lnTo>
                <a:lnTo>
                  <a:pt x="1528571" y="66322"/>
                </a:lnTo>
                <a:close/>
              </a:path>
              <a:path w="1585595" h="132714">
                <a:moveTo>
                  <a:pt x="14287" y="52034"/>
                </a:moveTo>
                <a:lnTo>
                  <a:pt x="6395" y="52035"/>
                </a:lnTo>
                <a:lnTo>
                  <a:pt x="0" y="58431"/>
                </a:lnTo>
                <a:lnTo>
                  <a:pt x="1" y="74213"/>
                </a:lnTo>
                <a:lnTo>
                  <a:pt x="6396" y="80609"/>
                </a:lnTo>
                <a:lnTo>
                  <a:pt x="1504079" y="80609"/>
                </a:lnTo>
                <a:lnTo>
                  <a:pt x="1528571" y="66322"/>
                </a:lnTo>
                <a:lnTo>
                  <a:pt x="1504078" y="52035"/>
                </a:lnTo>
                <a:lnTo>
                  <a:pt x="14287" y="52034"/>
                </a:lnTo>
                <a:close/>
              </a:path>
              <a:path w="1585595" h="132714">
                <a:moveTo>
                  <a:pt x="1549727" y="53981"/>
                </a:moveTo>
                <a:lnTo>
                  <a:pt x="1528571" y="66322"/>
                </a:lnTo>
                <a:lnTo>
                  <a:pt x="1549727" y="78663"/>
                </a:lnTo>
                <a:lnTo>
                  <a:pt x="1549727" y="53981"/>
                </a:lnTo>
                <a:close/>
              </a:path>
              <a:path w="1585595" h="132714">
                <a:moveTo>
                  <a:pt x="1564125" y="53981"/>
                </a:moveTo>
                <a:lnTo>
                  <a:pt x="1549727" y="53981"/>
                </a:lnTo>
                <a:lnTo>
                  <a:pt x="1549727" y="78663"/>
                </a:lnTo>
                <a:lnTo>
                  <a:pt x="1564127" y="78663"/>
                </a:lnTo>
                <a:lnTo>
                  <a:pt x="1570454" y="74972"/>
                </a:lnTo>
                <a:lnTo>
                  <a:pt x="1571213" y="74213"/>
                </a:lnTo>
                <a:lnTo>
                  <a:pt x="1571212" y="58431"/>
                </a:lnTo>
                <a:lnTo>
                  <a:pt x="1570453" y="57673"/>
                </a:lnTo>
                <a:lnTo>
                  <a:pt x="1564125" y="53981"/>
                </a:lnTo>
                <a:close/>
              </a:path>
              <a:path w="1585595" h="132714">
                <a:moveTo>
                  <a:pt x="1570453" y="57673"/>
                </a:moveTo>
                <a:lnTo>
                  <a:pt x="1571212" y="58431"/>
                </a:lnTo>
                <a:lnTo>
                  <a:pt x="1571213" y="74213"/>
                </a:lnTo>
                <a:lnTo>
                  <a:pt x="1570454" y="74972"/>
                </a:lnTo>
                <a:lnTo>
                  <a:pt x="1585282" y="66323"/>
                </a:lnTo>
                <a:lnTo>
                  <a:pt x="1570453" y="57673"/>
                </a:lnTo>
                <a:close/>
              </a:path>
              <a:path w="1585595" h="132714">
                <a:moveTo>
                  <a:pt x="1471584" y="0"/>
                </a:moveTo>
                <a:lnTo>
                  <a:pt x="1462836" y="2301"/>
                </a:lnTo>
                <a:lnTo>
                  <a:pt x="1454885" y="15933"/>
                </a:lnTo>
                <a:lnTo>
                  <a:pt x="1457186" y="24682"/>
                </a:lnTo>
                <a:lnTo>
                  <a:pt x="1504078" y="52035"/>
                </a:lnTo>
                <a:lnTo>
                  <a:pt x="1556926" y="52035"/>
                </a:lnTo>
                <a:lnTo>
                  <a:pt x="1504078" y="52035"/>
                </a:lnTo>
                <a:lnTo>
                  <a:pt x="1528571" y="66322"/>
                </a:lnTo>
                <a:lnTo>
                  <a:pt x="1549727" y="53981"/>
                </a:lnTo>
                <a:lnTo>
                  <a:pt x="1564125" y="53981"/>
                </a:lnTo>
                <a:lnTo>
                  <a:pt x="1560789" y="52035"/>
                </a:lnTo>
                <a:lnTo>
                  <a:pt x="1556926" y="52035"/>
                </a:lnTo>
                <a:lnTo>
                  <a:pt x="1560789" y="52035"/>
                </a:lnTo>
                <a:lnTo>
                  <a:pt x="1471584" y="0"/>
                </a:lnTo>
                <a:close/>
              </a:path>
              <a:path w="1585595" h="132714">
                <a:moveTo>
                  <a:pt x="1564816" y="52035"/>
                </a:moveTo>
                <a:lnTo>
                  <a:pt x="1560789" y="52035"/>
                </a:lnTo>
                <a:lnTo>
                  <a:pt x="1570453" y="57673"/>
                </a:lnTo>
                <a:lnTo>
                  <a:pt x="1564816" y="52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82234" y="2851404"/>
            <a:ext cx="2736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9813" y="2851404"/>
            <a:ext cx="2514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108" y="3787140"/>
            <a:ext cx="2931160" cy="862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53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  <a:p>
            <a:pPr marL="1106170">
              <a:lnSpc>
                <a:spcPts val="3055"/>
              </a:lnSpc>
              <a:tabLst>
                <a:tab pos="2644775" algn="l"/>
              </a:tabLst>
            </a:pPr>
            <a:r>
              <a:rPr dirty="0" sz="2800" b="1">
                <a:latin typeface="Calibri"/>
                <a:cs typeface="Calibri"/>
              </a:rPr>
              <a:t>I</a:t>
            </a:r>
            <a:r>
              <a:rPr dirty="0" sz="2800" spc="-30" b="1">
                <a:latin typeface="Calibri"/>
                <a:cs typeface="Calibri"/>
              </a:rPr>
              <a:t>t</a:t>
            </a:r>
            <a:r>
              <a:rPr dirty="0" sz="2800" b="1">
                <a:latin typeface="Calibri"/>
                <a:cs typeface="Calibri"/>
              </a:rPr>
              <a:t>e</a:t>
            </a:r>
            <a:r>
              <a:rPr dirty="0" sz="2800" spc="-60" b="1">
                <a:latin typeface="Calibri"/>
                <a:cs typeface="Calibri"/>
              </a:rPr>
              <a:t>r</a:t>
            </a:r>
            <a:r>
              <a:rPr dirty="0" sz="2800" spc="-25" b="1">
                <a:latin typeface="Calibri"/>
                <a:cs typeface="Calibri"/>
              </a:rPr>
              <a:t>a</a:t>
            </a:r>
            <a:r>
              <a:rPr dirty="0" sz="2800" b="1">
                <a:latin typeface="Calibri"/>
                <a:cs typeface="Calibri"/>
              </a:rPr>
              <a:t>ti</a:t>
            </a:r>
            <a:r>
              <a:rPr dirty="0" sz="2800" spc="-5" b="1">
                <a:latin typeface="Calibri"/>
                <a:cs typeface="Calibri"/>
              </a:rPr>
              <a:t>on</a:t>
            </a:r>
            <a:r>
              <a:rPr dirty="0" sz="2800" b="1">
                <a:latin typeface="Calibri"/>
                <a:cs typeface="Calibri"/>
              </a:rPr>
              <a:t>:	</a:t>
            </a:r>
            <a:r>
              <a:rPr dirty="0" sz="2800" spc="0" b="1">
                <a:latin typeface="Calibri"/>
                <a:cs typeface="Calibri"/>
              </a:rPr>
              <a:t>0</a:t>
            </a:r>
            <a:r>
              <a:rPr dirty="0" sz="2800" b="1">
                <a:latin typeface="Calibri"/>
                <a:cs typeface="Calibri"/>
              </a:rPr>
              <a:t>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72032" y="4197603"/>
            <a:ext cx="23025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3450" algn="l"/>
                <a:tab pos="1855470" algn="l"/>
              </a:tabLst>
            </a:pPr>
            <a:r>
              <a:rPr dirty="0" sz="2800" spc="0" b="1">
                <a:latin typeface="Calibri"/>
                <a:cs typeface="Calibri"/>
              </a:rPr>
              <a:t>1</a:t>
            </a:r>
            <a:r>
              <a:rPr dirty="0" sz="2800" b="1">
                <a:latin typeface="Calibri"/>
                <a:cs typeface="Calibri"/>
              </a:rPr>
              <a:t>,	</a:t>
            </a:r>
            <a:r>
              <a:rPr dirty="0" sz="2800" spc="0" b="1">
                <a:latin typeface="Calibri"/>
                <a:cs typeface="Calibri"/>
              </a:rPr>
              <a:t>2</a:t>
            </a:r>
            <a:r>
              <a:rPr dirty="0" sz="2800" b="1">
                <a:latin typeface="Calibri"/>
                <a:cs typeface="Calibri"/>
              </a:rPr>
              <a:t>,	</a:t>
            </a:r>
            <a:r>
              <a:rPr dirty="0" sz="2800" spc="0" b="1">
                <a:latin typeface="Calibri"/>
                <a:cs typeface="Calibri"/>
              </a:rPr>
              <a:t>3</a:t>
            </a:r>
            <a:r>
              <a:rPr dirty="0" sz="2800" b="1"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223514" y="4816745"/>
          <a:ext cx="3032760" cy="948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486"/>
                <a:gridCol w="952500"/>
                <a:gridCol w="952500"/>
                <a:gridCol w="541233"/>
              </a:tblGrid>
              <a:tr h="469900">
                <a:tc>
                  <a:txBody>
                    <a:bodyPr/>
                    <a:lstStyle/>
                    <a:p>
                      <a:pPr marL="31750">
                        <a:lnSpc>
                          <a:spcPts val="35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35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31750">
                        <a:lnSpc>
                          <a:spcPts val="3629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29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3629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629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4953000" y="2779776"/>
            <a:ext cx="731520" cy="731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07279" y="2734055"/>
            <a:ext cx="822960" cy="938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98720" y="2800587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79" h="640079">
                <a:moveTo>
                  <a:pt x="320039" y="0"/>
                </a:moveTo>
                <a:lnTo>
                  <a:pt x="272746" y="3470"/>
                </a:lnTo>
                <a:lnTo>
                  <a:pt x="227608" y="13550"/>
                </a:lnTo>
                <a:lnTo>
                  <a:pt x="185119" y="29745"/>
                </a:lnTo>
                <a:lnTo>
                  <a:pt x="145774" y="51560"/>
                </a:lnTo>
                <a:lnTo>
                  <a:pt x="110070" y="78500"/>
                </a:lnTo>
                <a:lnTo>
                  <a:pt x="78500" y="110070"/>
                </a:lnTo>
                <a:lnTo>
                  <a:pt x="51560" y="145775"/>
                </a:lnTo>
                <a:lnTo>
                  <a:pt x="29745" y="185119"/>
                </a:lnTo>
                <a:lnTo>
                  <a:pt x="13550" y="227608"/>
                </a:lnTo>
                <a:lnTo>
                  <a:pt x="3470" y="272747"/>
                </a:lnTo>
                <a:lnTo>
                  <a:pt x="0" y="320039"/>
                </a:lnTo>
                <a:lnTo>
                  <a:pt x="3470" y="367333"/>
                </a:lnTo>
                <a:lnTo>
                  <a:pt x="13550" y="412471"/>
                </a:lnTo>
                <a:lnTo>
                  <a:pt x="29745" y="454960"/>
                </a:lnTo>
                <a:lnTo>
                  <a:pt x="51560" y="494305"/>
                </a:lnTo>
                <a:lnTo>
                  <a:pt x="78500" y="530009"/>
                </a:lnTo>
                <a:lnTo>
                  <a:pt x="110070" y="561579"/>
                </a:lnTo>
                <a:lnTo>
                  <a:pt x="145774" y="588519"/>
                </a:lnTo>
                <a:lnTo>
                  <a:pt x="185119" y="610334"/>
                </a:lnTo>
                <a:lnTo>
                  <a:pt x="227608" y="626529"/>
                </a:lnTo>
                <a:lnTo>
                  <a:pt x="272746" y="636609"/>
                </a:lnTo>
                <a:lnTo>
                  <a:pt x="320039" y="640079"/>
                </a:lnTo>
                <a:lnTo>
                  <a:pt x="367333" y="636609"/>
                </a:lnTo>
                <a:lnTo>
                  <a:pt x="412471" y="626529"/>
                </a:lnTo>
                <a:lnTo>
                  <a:pt x="454960" y="610334"/>
                </a:lnTo>
                <a:lnTo>
                  <a:pt x="494305" y="588519"/>
                </a:lnTo>
                <a:lnTo>
                  <a:pt x="530009" y="561579"/>
                </a:lnTo>
                <a:lnTo>
                  <a:pt x="561579" y="530009"/>
                </a:lnTo>
                <a:lnTo>
                  <a:pt x="588519" y="494305"/>
                </a:lnTo>
                <a:lnTo>
                  <a:pt x="610334" y="454960"/>
                </a:lnTo>
                <a:lnTo>
                  <a:pt x="626529" y="412471"/>
                </a:lnTo>
                <a:lnTo>
                  <a:pt x="636609" y="367333"/>
                </a:lnTo>
                <a:lnTo>
                  <a:pt x="640079" y="320039"/>
                </a:lnTo>
                <a:lnTo>
                  <a:pt x="636609" y="272747"/>
                </a:lnTo>
                <a:lnTo>
                  <a:pt x="626529" y="227608"/>
                </a:lnTo>
                <a:lnTo>
                  <a:pt x="610334" y="185119"/>
                </a:lnTo>
                <a:lnTo>
                  <a:pt x="588519" y="145775"/>
                </a:lnTo>
                <a:lnTo>
                  <a:pt x="561579" y="110070"/>
                </a:lnTo>
                <a:lnTo>
                  <a:pt x="530009" y="78500"/>
                </a:lnTo>
                <a:lnTo>
                  <a:pt x="494305" y="51560"/>
                </a:lnTo>
                <a:lnTo>
                  <a:pt x="454960" y="29745"/>
                </a:lnTo>
                <a:lnTo>
                  <a:pt x="412471" y="13550"/>
                </a:lnTo>
                <a:lnTo>
                  <a:pt x="367333" y="3470"/>
                </a:lnTo>
                <a:lnTo>
                  <a:pt x="32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29127" y="2779776"/>
            <a:ext cx="731520" cy="7315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95600" y="2734055"/>
            <a:ext cx="801624" cy="9387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75187" y="2800587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79" h="640079">
                <a:moveTo>
                  <a:pt x="320040" y="0"/>
                </a:moveTo>
                <a:lnTo>
                  <a:pt x="272746" y="3470"/>
                </a:lnTo>
                <a:lnTo>
                  <a:pt x="227608" y="13550"/>
                </a:lnTo>
                <a:lnTo>
                  <a:pt x="185119" y="29745"/>
                </a:lnTo>
                <a:lnTo>
                  <a:pt x="145774" y="51560"/>
                </a:lnTo>
                <a:lnTo>
                  <a:pt x="110070" y="78500"/>
                </a:lnTo>
                <a:lnTo>
                  <a:pt x="78500" y="110070"/>
                </a:lnTo>
                <a:lnTo>
                  <a:pt x="51560" y="145775"/>
                </a:lnTo>
                <a:lnTo>
                  <a:pt x="29745" y="185119"/>
                </a:lnTo>
                <a:lnTo>
                  <a:pt x="13550" y="227608"/>
                </a:lnTo>
                <a:lnTo>
                  <a:pt x="3470" y="272747"/>
                </a:lnTo>
                <a:lnTo>
                  <a:pt x="0" y="320039"/>
                </a:lnTo>
                <a:lnTo>
                  <a:pt x="3470" y="367333"/>
                </a:lnTo>
                <a:lnTo>
                  <a:pt x="13550" y="412471"/>
                </a:lnTo>
                <a:lnTo>
                  <a:pt x="29745" y="454960"/>
                </a:lnTo>
                <a:lnTo>
                  <a:pt x="51560" y="494305"/>
                </a:lnTo>
                <a:lnTo>
                  <a:pt x="78500" y="530009"/>
                </a:lnTo>
                <a:lnTo>
                  <a:pt x="110070" y="561579"/>
                </a:lnTo>
                <a:lnTo>
                  <a:pt x="145774" y="588519"/>
                </a:lnTo>
                <a:lnTo>
                  <a:pt x="185119" y="610334"/>
                </a:lnTo>
                <a:lnTo>
                  <a:pt x="227608" y="626529"/>
                </a:lnTo>
                <a:lnTo>
                  <a:pt x="272746" y="636609"/>
                </a:lnTo>
                <a:lnTo>
                  <a:pt x="320040" y="640079"/>
                </a:lnTo>
                <a:lnTo>
                  <a:pt x="367333" y="636609"/>
                </a:lnTo>
                <a:lnTo>
                  <a:pt x="412471" y="626529"/>
                </a:lnTo>
                <a:lnTo>
                  <a:pt x="454960" y="610334"/>
                </a:lnTo>
                <a:lnTo>
                  <a:pt x="494305" y="588519"/>
                </a:lnTo>
                <a:lnTo>
                  <a:pt x="530009" y="561579"/>
                </a:lnTo>
                <a:lnTo>
                  <a:pt x="561579" y="530009"/>
                </a:lnTo>
                <a:lnTo>
                  <a:pt x="588519" y="494305"/>
                </a:lnTo>
                <a:lnTo>
                  <a:pt x="610334" y="454960"/>
                </a:lnTo>
                <a:lnTo>
                  <a:pt x="626529" y="412471"/>
                </a:lnTo>
                <a:lnTo>
                  <a:pt x="636609" y="367333"/>
                </a:lnTo>
                <a:lnTo>
                  <a:pt x="640080" y="320039"/>
                </a:lnTo>
                <a:lnTo>
                  <a:pt x="636609" y="272747"/>
                </a:lnTo>
                <a:lnTo>
                  <a:pt x="626529" y="227608"/>
                </a:lnTo>
                <a:lnTo>
                  <a:pt x="610334" y="185119"/>
                </a:lnTo>
                <a:lnTo>
                  <a:pt x="588519" y="145775"/>
                </a:lnTo>
                <a:lnTo>
                  <a:pt x="561579" y="110070"/>
                </a:lnTo>
                <a:lnTo>
                  <a:pt x="530009" y="78500"/>
                </a:lnTo>
                <a:lnTo>
                  <a:pt x="494305" y="51560"/>
                </a:lnTo>
                <a:lnTo>
                  <a:pt x="454960" y="29745"/>
                </a:lnTo>
                <a:lnTo>
                  <a:pt x="412471" y="13550"/>
                </a:lnTo>
                <a:lnTo>
                  <a:pt x="367333" y="3470"/>
                </a:lnTo>
                <a:lnTo>
                  <a:pt x="3200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580936" y="2715714"/>
            <a:ext cx="522605" cy="404495"/>
          </a:xfrm>
          <a:custGeom>
            <a:avLst/>
            <a:gdLst/>
            <a:ahLst/>
            <a:cxnLst/>
            <a:rect l="l" t="t" r="r" b="b"/>
            <a:pathLst>
              <a:path w="522604" h="404494">
                <a:moveTo>
                  <a:pt x="429895" y="398569"/>
                </a:moveTo>
                <a:lnTo>
                  <a:pt x="173675" y="398569"/>
                </a:lnTo>
                <a:lnTo>
                  <a:pt x="191480" y="398774"/>
                </a:lnTo>
                <a:lnTo>
                  <a:pt x="212112" y="399508"/>
                </a:lnTo>
                <a:lnTo>
                  <a:pt x="285183" y="402990"/>
                </a:lnTo>
                <a:lnTo>
                  <a:pt x="337983" y="404375"/>
                </a:lnTo>
                <a:lnTo>
                  <a:pt x="364384" y="404181"/>
                </a:lnTo>
                <a:lnTo>
                  <a:pt x="389919" y="403114"/>
                </a:lnTo>
                <a:lnTo>
                  <a:pt x="414270" y="400959"/>
                </a:lnTo>
                <a:lnTo>
                  <a:pt x="429895" y="398569"/>
                </a:lnTo>
                <a:close/>
              </a:path>
              <a:path w="522604" h="404494">
                <a:moveTo>
                  <a:pt x="47089" y="369477"/>
                </a:moveTo>
                <a:lnTo>
                  <a:pt x="39756" y="374775"/>
                </a:lnTo>
                <a:lnTo>
                  <a:pt x="37249" y="390357"/>
                </a:lnTo>
                <a:lnTo>
                  <a:pt x="42547" y="397689"/>
                </a:lnTo>
                <a:lnTo>
                  <a:pt x="82894" y="402068"/>
                </a:lnTo>
                <a:lnTo>
                  <a:pt x="96230" y="402126"/>
                </a:lnTo>
                <a:lnTo>
                  <a:pt x="112834" y="401706"/>
                </a:lnTo>
                <a:lnTo>
                  <a:pt x="133466" y="400721"/>
                </a:lnTo>
                <a:lnTo>
                  <a:pt x="158682" y="399091"/>
                </a:lnTo>
                <a:lnTo>
                  <a:pt x="173675" y="398569"/>
                </a:lnTo>
                <a:lnTo>
                  <a:pt x="429895" y="398569"/>
                </a:lnTo>
                <a:lnTo>
                  <a:pt x="437018" y="397479"/>
                </a:lnTo>
                <a:lnTo>
                  <a:pt x="457779" y="392402"/>
                </a:lnTo>
                <a:lnTo>
                  <a:pt x="477042" y="385044"/>
                </a:lnTo>
                <a:lnTo>
                  <a:pt x="477840" y="384646"/>
                </a:lnTo>
                <a:lnTo>
                  <a:pt x="492026" y="375809"/>
                </a:lnTo>
                <a:lnTo>
                  <a:pt x="338731" y="375809"/>
                </a:lnTo>
                <a:lnTo>
                  <a:pt x="286490" y="374444"/>
                </a:lnTo>
                <a:lnTo>
                  <a:pt x="266970" y="373551"/>
                </a:lnTo>
                <a:lnTo>
                  <a:pt x="96333" y="373551"/>
                </a:lnTo>
                <a:lnTo>
                  <a:pt x="84070" y="373517"/>
                </a:lnTo>
                <a:lnTo>
                  <a:pt x="74601" y="373141"/>
                </a:lnTo>
                <a:lnTo>
                  <a:pt x="67190" y="372517"/>
                </a:lnTo>
                <a:lnTo>
                  <a:pt x="60904" y="371701"/>
                </a:lnTo>
                <a:lnTo>
                  <a:pt x="47089" y="369477"/>
                </a:lnTo>
                <a:close/>
              </a:path>
              <a:path w="522604" h="404494">
                <a:moveTo>
                  <a:pt x="464574" y="359243"/>
                </a:moveTo>
                <a:lnTo>
                  <a:pt x="411732" y="372497"/>
                </a:lnTo>
                <a:lnTo>
                  <a:pt x="364166" y="375607"/>
                </a:lnTo>
                <a:lnTo>
                  <a:pt x="338731" y="375809"/>
                </a:lnTo>
                <a:lnTo>
                  <a:pt x="492026" y="375809"/>
                </a:lnTo>
                <a:lnTo>
                  <a:pt x="506716" y="359920"/>
                </a:lnTo>
                <a:lnTo>
                  <a:pt x="463487" y="359920"/>
                </a:lnTo>
                <a:lnTo>
                  <a:pt x="464574" y="359243"/>
                </a:lnTo>
                <a:close/>
              </a:path>
              <a:path w="522604" h="404494">
                <a:moveTo>
                  <a:pt x="172665" y="370011"/>
                </a:moveTo>
                <a:lnTo>
                  <a:pt x="156739" y="370583"/>
                </a:lnTo>
                <a:lnTo>
                  <a:pt x="131970" y="372186"/>
                </a:lnTo>
                <a:lnTo>
                  <a:pt x="112052" y="373142"/>
                </a:lnTo>
                <a:lnTo>
                  <a:pt x="96333" y="373551"/>
                </a:lnTo>
                <a:lnTo>
                  <a:pt x="266970" y="373551"/>
                </a:lnTo>
                <a:lnTo>
                  <a:pt x="213122" y="370951"/>
                </a:lnTo>
                <a:lnTo>
                  <a:pt x="191786" y="370201"/>
                </a:lnTo>
                <a:lnTo>
                  <a:pt x="172665" y="370011"/>
                </a:lnTo>
                <a:close/>
              </a:path>
              <a:path w="522604" h="404494">
                <a:moveTo>
                  <a:pt x="465867" y="358730"/>
                </a:moveTo>
                <a:lnTo>
                  <a:pt x="464574" y="359243"/>
                </a:lnTo>
                <a:lnTo>
                  <a:pt x="463487" y="359920"/>
                </a:lnTo>
                <a:lnTo>
                  <a:pt x="465867" y="358730"/>
                </a:lnTo>
                <a:close/>
              </a:path>
              <a:path w="522604" h="404494">
                <a:moveTo>
                  <a:pt x="507284" y="358730"/>
                </a:moveTo>
                <a:lnTo>
                  <a:pt x="465867" y="358730"/>
                </a:lnTo>
                <a:lnTo>
                  <a:pt x="463487" y="359920"/>
                </a:lnTo>
                <a:lnTo>
                  <a:pt x="506716" y="359920"/>
                </a:lnTo>
                <a:lnTo>
                  <a:pt x="507284" y="358730"/>
                </a:lnTo>
                <a:close/>
              </a:path>
              <a:path w="522604" h="404494">
                <a:moveTo>
                  <a:pt x="475247" y="352595"/>
                </a:moveTo>
                <a:lnTo>
                  <a:pt x="464574" y="359243"/>
                </a:lnTo>
                <a:lnTo>
                  <a:pt x="465867" y="358730"/>
                </a:lnTo>
                <a:lnTo>
                  <a:pt x="507284" y="358730"/>
                </a:lnTo>
                <a:lnTo>
                  <a:pt x="509538" y="354011"/>
                </a:lnTo>
                <a:lnTo>
                  <a:pt x="473939" y="354011"/>
                </a:lnTo>
                <a:lnTo>
                  <a:pt x="475247" y="352595"/>
                </a:lnTo>
                <a:close/>
              </a:path>
              <a:path w="522604" h="404494">
                <a:moveTo>
                  <a:pt x="476879" y="351579"/>
                </a:moveTo>
                <a:lnTo>
                  <a:pt x="475247" y="352595"/>
                </a:lnTo>
                <a:lnTo>
                  <a:pt x="473939" y="354011"/>
                </a:lnTo>
                <a:lnTo>
                  <a:pt x="476879" y="351579"/>
                </a:lnTo>
                <a:close/>
              </a:path>
              <a:path w="522604" h="404494">
                <a:moveTo>
                  <a:pt x="510700" y="351579"/>
                </a:moveTo>
                <a:lnTo>
                  <a:pt x="476879" y="351579"/>
                </a:lnTo>
                <a:lnTo>
                  <a:pt x="473939" y="354011"/>
                </a:lnTo>
                <a:lnTo>
                  <a:pt x="509538" y="354011"/>
                </a:lnTo>
                <a:lnTo>
                  <a:pt x="510700" y="351579"/>
                </a:lnTo>
                <a:close/>
              </a:path>
              <a:path w="522604" h="404494">
                <a:moveTo>
                  <a:pt x="482080" y="345200"/>
                </a:moveTo>
                <a:lnTo>
                  <a:pt x="475247" y="352595"/>
                </a:lnTo>
                <a:lnTo>
                  <a:pt x="476879" y="351579"/>
                </a:lnTo>
                <a:lnTo>
                  <a:pt x="510700" y="351579"/>
                </a:lnTo>
                <a:lnTo>
                  <a:pt x="512815" y="347149"/>
                </a:lnTo>
                <a:lnTo>
                  <a:pt x="481149" y="347149"/>
                </a:lnTo>
                <a:lnTo>
                  <a:pt x="482080" y="345200"/>
                </a:lnTo>
                <a:close/>
              </a:path>
              <a:path w="522604" h="404494">
                <a:moveTo>
                  <a:pt x="483548" y="343611"/>
                </a:moveTo>
                <a:lnTo>
                  <a:pt x="482080" y="345200"/>
                </a:lnTo>
                <a:lnTo>
                  <a:pt x="481149" y="347149"/>
                </a:lnTo>
                <a:lnTo>
                  <a:pt x="483548" y="343611"/>
                </a:lnTo>
                <a:close/>
              </a:path>
              <a:path w="522604" h="404494">
                <a:moveTo>
                  <a:pt x="514280" y="343611"/>
                </a:moveTo>
                <a:lnTo>
                  <a:pt x="483548" y="343611"/>
                </a:lnTo>
                <a:lnTo>
                  <a:pt x="481149" y="347149"/>
                </a:lnTo>
                <a:lnTo>
                  <a:pt x="512815" y="347149"/>
                </a:lnTo>
                <a:lnTo>
                  <a:pt x="513821" y="345043"/>
                </a:lnTo>
                <a:lnTo>
                  <a:pt x="514141" y="344157"/>
                </a:lnTo>
                <a:lnTo>
                  <a:pt x="514280" y="343611"/>
                </a:lnTo>
                <a:close/>
              </a:path>
              <a:path w="522604" h="404494">
                <a:moveTo>
                  <a:pt x="487022" y="334853"/>
                </a:moveTo>
                <a:lnTo>
                  <a:pt x="482080" y="345200"/>
                </a:lnTo>
                <a:lnTo>
                  <a:pt x="483548" y="343611"/>
                </a:lnTo>
                <a:lnTo>
                  <a:pt x="514280" y="343611"/>
                </a:lnTo>
                <a:lnTo>
                  <a:pt x="516156" y="336219"/>
                </a:lnTo>
                <a:lnTo>
                  <a:pt x="486675" y="336219"/>
                </a:lnTo>
                <a:lnTo>
                  <a:pt x="487022" y="334853"/>
                </a:lnTo>
                <a:close/>
              </a:path>
              <a:path w="522604" h="404494">
                <a:moveTo>
                  <a:pt x="487631" y="333576"/>
                </a:moveTo>
                <a:lnTo>
                  <a:pt x="487022" y="334853"/>
                </a:lnTo>
                <a:lnTo>
                  <a:pt x="486675" y="336219"/>
                </a:lnTo>
                <a:lnTo>
                  <a:pt x="487631" y="333576"/>
                </a:lnTo>
                <a:close/>
              </a:path>
              <a:path w="522604" h="404494">
                <a:moveTo>
                  <a:pt x="516826" y="333576"/>
                </a:moveTo>
                <a:lnTo>
                  <a:pt x="487631" y="333576"/>
                </a:lnTo>
                <a:lnTo>
                  <a:pt x="486675" y="336219"/>
                </a:lnTo>
                <a:lnTo>
                  <a:pt x="516156" y="336219"/>
                </a:lnTo>
                <a:lnTo>
                  <a:pt x="516826" y="333576"/>
                </a:lnTo>
                <a:close/>
              </a:path>
              <a:path w="522604" h="404494">
                <a:moveTo>
                  <a:pt x="418606" y="47035"/>
                </a:moveTo>
                <a:lnTo>
                  <a:pt x="441895" y="79208"/>
                </a:lnTo>
                <a:lnTo>
                  <a:pt x="462669" y="124181"/>
                </a:lnTo>
                <a:lnTo>
                  <a:pt x="478788" y="175790"/>
                </a:lnTo>
                <a:lnTo>
                  <a:pt x="489330" y="228954"/>
                </a:lnTo>
                <a:lnTo>
                  <a:pt x="493553" y="278516"/>
                </a:lnTo>
                <a:lnTo>
                  <a:pt x="493139" y="300236"/>
                </a:lnTo>
                <a:lnTo>
                  <a:pt x="491073" y="318886"/>
                </a:lnTo>
                <a:lnTo>
                  <a:pt x="487022" y="334853"/>
                </a:lnTo>
                <a:lnTo>
                  <a:pt x="487631" y="333576"/>
                </a:lnTo>
                <a:lnTo>
                  <a:pt x="516826" y="333576"/>
                </a:lnTo>
                <a:lnTo>
                  <a:pt x="518770" y="325916"/>
                </a:lnTo>
                <a:lnTo>
                  <a:pt x="521519" y="303569"/>
                </a:lnTo>
                <a:lnTo>
                  <a:pt x="522121" y="279146"/>
                </a:lnTo>
                <a:lnTo>
                  <a:pt x="520807" y="253038"/>
                </a:lnTo>
                <a:lnTo>
                  <a:pt x="512977" y="197703"/>
                </a:lnTo>
                <a:lnTo>
                  <a:pt x="498882" y="141745"/>
                </a:lnTo>
                <a:lnTo>
                  <a:pt x="479176" y="89560"/>
                </a:lnTo>
                <a:lnTo>
                  <a:pt x="455712" y="47800"/>
                </a:lnTo>
                <a:lnTo>
                  <a:pt x="419497" y="47800"/>
                </a:lnTo>
                <a:lnTo>
                  <a:pt x="418606" y="47035"/>
                </a:lnTo>
                <a:close/>
              </a:path>
              <a:path w="522604" h="404494">
                <a:moveTo>
                  <a:pt x="28297" y="184760"/>
                </a:moveTo>
                <a:lnTo>
                  <a:pt x="17253" y="184922"/>
                </a:lnTo>
                <a:lnTo>
                  <a:pt x="24787" y="186843"/>
                </a:lnTo>
                <a:lnTo>
                  <a:pt x="28297" y="184760"/>
                </a:lnTo>
                <a:close/>
              </a:path>
              <a:path w="522604" h="404494">
                <a:moveTo>
                  <a:pt x="8179" y="170202"/>
                </a:moveTo>
                <a:lnTo>
                  <a:pt x="0" y="185174"/>
                </a:lnTo>
                <a:lnTo>
                  <a:pt x="17253" y="184922"/>
                </a:lnTo>
                <a:lnTo>
                  <a:pt x="16022" y="184608"/>
                </a:lnTo>
                <a:lnTo>
                  <a:pt x="7966" y="171037"/>
                </a:lnTo>
                <a:lnTo>
                  <a:pt x="8179" y="170202"/>
                </a:lnTo>
                <a:close/>
              </a:path>
              <a:path w="522604" h="404494">
                <a:moveTo>
                  <a:pt x="61354" y="132472"/>
                </a:moveTo>
                <a:lnTo>
                  <a:pt x="43788" y="142521"/>
                </a:lnTo>
                <a:lnTo>
                  <a:pt x="13620" y="160243"/>
                </a:lnTo>
                <a:lnTo>
                  <a:pt x="8179" y="170202"/>
                </a:lnTo>
                <a:lnTo>
                  <a:pt x="7966" y="171037"/>
                </a:lnTo>
                <a:lnTo>
                  <a:pt x="16022" y="184608"/>
                </a:lnTo>
                <a:lnTo>
                  <a:pt x="17253" y="184922"/>
                </a:lnTo>
                <a:lnTo>
                  <a:pt x="28297" y="184760"/>
                </a:lnTo>
                <a:lnTo>
                  <a:pt x="40765" y="177380"/>
                </a:lnTo>
                <a:lnTo>
                  <a:pt x="36819" y="177380"/>
                </a:lnTo>
                <a:lnTo>
                  <a:pt x="24071" y="156244"/>
                </a:lnTo>
                <a:lnTo>
                  <a:pt x="48563" y="155885"/>
                </a:lnTo>
                <a:lnTo>
                  <a:pt x="61354" y="132472"/>
                </a:lnTo>
                <a:close/>
              </a:path>
              <a:path w="522604" h="404494">
                <a:moveTo>
                  <a:pt x="131196" y="154677"/>
                </a:moveTo>
                <a:lnTo>
                  <a:pt x="78740" y="155444"/>
                </a:lnTo>
                <a:lnTo>
                  <a:pt x="57979" y="167323"/>
                </a:lnTo>
                <a:lnTo>
                  <a:pt x="28297" y="184760"/>
                </a:lnTo>
                <a:lnTo>
                  <a:pt x="131613" y="183249"/>
                </a:lnTo>
                <a:lnTo>
                  <a:pt x="137915" y="176759"/>
                </a:lnTo>
                <a:lnTo>
                  <a:pt x="137684" y="160980"/>
                </a:lnTo>
                <a:lnTo>
                  <a:pt x="131196" y="154677"/>
                </a:lnTo>
                <a:close/>
              </a:path>
              <a:path w="522604" h="404494">
                <a:moveTo>
                  <a:pt x="48563" y="155885"/>
                </a:moveTo>
                <a:lnTo>
                  <a:pt x="24071" y="156244"/>
                </a:lnTo>
                <a:lnTo>
                  <a:pt x="36819" y="177380"/>
                </a:lnTo>
                <a:lnTo>
                  <a:pt x="48563" y="155885"/>
                </a:lnTo>
                <a:close/>
              </a:path>
              <a:path w="522604" h="404494">
                <a:moveTo>
                  <a:pt x="78740" y="155444"/>
                </a:moveTo>
                <a:lnTo>
                  <a:pt x="48563" y="155885"/>
                </a:lnTo>
                <a:lnTo>
                  <a:pt x="36819" y="177380"/>
                </a:lnTo>
                <a:lnTo>
                  <a:pt x="40765" y="177380"/>
                </a:lnTo>
                <a:lnTo>
                  <a:pt x="57979" y="167323"/>
                </a:lnTo>
                <a:lnTo>
                  <a:pt x="78740" y="155444"/>
                </a:lnTo>
                <a:close/>
              </a:path>
              <a:path w="522604" h="404494">
                <a:moveTo>
                  <a:pt x="13620" y="160243"/>
                </a:moveTo>
                <a:lnTo>
                  <a:pt x="10203" y="162271"/>
                </a:lnTo>
                <a:lnTo>
                  <a:pt x="8179" y="170202"/>
                </a:lnTo>
                <a:lnTo>
                  <a:pt x="13620" y="160243"/>
                </a:lnTo>
                <a:close/>
              </a:path>
              <a:path w="522604" h="404494">
                <a:moveTo>
                  <a:pt x="71788" y="67114"/>
                </a:moveTo>
                <a:lnTo>
                  <a:pt x="63107" y="69662"/>
                </a:lnTo>
                <a:lnTo>
                  <a:pt x="13620" y="160243"/>
                </a:lnTo>
                <a:lnTo>
                  <a:pt x="43788" y="142521"/>
                </a:lnTo>
                <a:lnTo>
                  <a:pt x="61354" y="132472"/>
                </a:lnTo>
                <a:lnTo>
                  <a:pt x="88184" y="83361"/>
                </a:lnTo>
                <a:lnTo>
                  <a:pt x="85637" y="74681"/>
                </a:lnTo>
                <a:lnTo>
                  <a:pt x="71788" y="67114"/>
                </a:lnTo>
                <a:close/>
              </a:path>
              <a:path w="522604" h="404494">
                <a:moveTo>
                  <a:pt x="382497" y="0"/>
                </a:moveTo>
                <a:lnTo>
                  <a:pt x="328912" y="8140"/>
                </a:lnTo>
                <a:lnTo>
                  <a:pt x="265266" y="30200"/>
                </a:lnTo>
                <a:lnTo>
                  <a:pt x="196689" y="60827"/>
                </a:lnTo>
                <a:lnTo>
                  <a:pt x="162535" y="77745"/>
                </a:lnTo>
                <a:lnTo>
                  <a:pt x="97927" y="111972"/>
                </a:lnTo>
                <a:lnTo>
                  <a:pt x="61354" y="132472"/>
                </a:lnTo>
                <a:lnTo>
                  <a:pt x="48563" y="155885"/>
                </a:lnTo>
                <a:lnTo>
                  <a:pt x="78740" y="155444"/>
                </a:lnTo>
                <a:lnTo>
                  <a:pt x="83063" y="152971"/>
                </a:lnTo>
                <a:lnTo>
                  <a:pt x="111509" y="137111"/>
                </a:lnTo>
                <a:lnTo>
                  <a:pt x="175221" y="103350"/>
                </a:lnTo>
                <a:lnTo>
                  <a:pt x="242519" y="71001"/>
                </a:lnTo>
                <a:lnTo>
                  <a:pt x="306595" y="45057"/>
                </a:lnTo>
                <a:lnTo>
                  <a:pt x="360431" y="30330"/>
                </a:lnTo>
                <a:lnTo>
                  <a:pt x="380295" y="28489"/>
                </a:lnTo>
                <a:lnTo>
                  <a:pt x="440329" y="28489"/>
                </a:lnTo>
                <a:lnTo>
                  <a:pt x="439298" y="27230"/>
                </a:lnTo>
                <a:lnTo>
                  <a:pt x="404307" y="3514"/>
                </a:lnTo>
                <a:lnTo>
                  <a:pt x="392898" y="803"/>
                </a:lnTo>
                <a:lnTo>
                  <a:pt x="382497" y="0"/>
                </a:lnTo>
                <a:close/>
              </a:path>
              <a:path w="522604" h="404494">
                <a:moveTo>
                  <a:pt x="417793" y="46062"/>
                </a:moveTo>
                <a:lnTo>
                  <a:pt x="418606" y="47035"/>
                </a:lnTo>
                <a:lnTo>
                  <a:pt x="419497" y="47800"/>
                </a:lnTo>
                <a:lnTo>
                  <a:pt x="417793" y="46062"/>
                </a:lnTo>
                <a:close/>
              </a:path>
              <a:path w="522604" h="404494">
                <a:moveTo>
                  <a:pt x="454615" y="46062"/>
                </a:moveTo>
                <a:lnTo>
                  <a:pt x="417793" y="46062"/>
                </a:lnTo>
                <a:lnTo>
                  <a:pt x="419497" y="47800"/>
                </a:lnTo>
                <a:lnTo>
                  <a:pt x="455712" y="47800"/>
                </a:lnTo>
                <a:lnTo>
                  <a:pt x="454615" y="46062"/>
                </a:lnTo>
                <a:close/>
              </a:path>
              <a:path w="522604" h="404494">
                <a:moveTo>
                  <a:pt x="406131" y="36324"/>
                </a:moveTo>
                <a:lnTo>
                  <a:pt x="418606" y="47035"/>
                </a:lnTo>
                <a:lnTo>
                  <a:pt x="417793" y="46062"/>
                </a:lnTo>
                <a:lnTo>
                  <a:pt x="454615" y="46062"/>
                </a:lnTo>
                <a:lnTo>
                  <a:pt x="454265" y="45507"/>
                </a:lnTo>
                <a:lnTo>
                  <a:pt x="447256" y="36949"/>
                </a:lnTo>
                <a:lnTo>
                  <a:pt x="407172" y="36949"/>
                </a:lnTo>
                <a:lnTo>
                  <a:pt x="406131" y="36324"/>
                </a:lnTo>
                <a:close/>
              </a:path>
              <a:path w="522604" h="404494">
                <a:moveTo>
                  <a:pt x="405215" y="35538"/>
                </a:moveTo>
                <a:lnTo>
                  <a:pt x="406131" y="36324"/>
                </a:lnTo>
                <a:lnTo>
                  <a:pt x="407172" y="36949"/>
                </a:lnTo>
                <a:lnTo>
                  <a:pt x="405215" y="35538"/>
                </a:lnTo>
                <a:close/>
              </a:path>
              <a:path w="522604" h="404494">
                <a:moveTo>
                  <a:pt x="446101" y="35538"/>
                </a:moveTo>
                <a:lnTo>
                  <a:pt x="405215" y="35538"/>
                </a:lnTo>
                <a:lnTo>
                  <a:pt x="407172" y="36949"/>
                </a:lnTo>
                <a:lnTo>
                  <a:pt x="447256" y="36949"/>
                </a:lnTo>
                <a:lnTo>
                  <a:pt x="446101" y="35538"/>
                </a:lnTo>
                <a:close/>
              </a:path>
              <a:path w="522604" h="404494">
                <a:moveTo>
                  <a:pt x="395138" y="30637"/>
                </a:moveTo>
                <a:lnTo>
                  <a:pt x="399728" y="32484"/>
                </a:lnTo>
                <a:lnTo>
                  <a:pt x="406131" y="36324"/>
                </a:lnTo>
                <a:lnTo>
                  <a:pt x="405215" y="35538"/>
                </a:lnTo>
                <a:lnTo>
                  <a:pt x="446101" y="35538"/>
                </a:lnTo>
                <a:lnTo>
                  <a:pt x="442286" y="30880"/>
                </a:lnTo>
                <a:lnTo>
                  <a:pt x="396162" y="30880"/>
                </a:lnTo>
                <a:lnTo>
                  <a:pt x="395138" y="30637"/>
                </a:lnTo>
                <a:close/>
              </a:path>
              <a:path w="522604" h="404494">
                <a:moveTo>
                  <a:pt x="393839" y="30115"/>
                </a:moveTo>
                <a:lnTo>
                  <a:pt x="395138" y="30637"/>
                </a:lnTo>
                <a:lnTo>
                  <a:pt x="396162" y="30880"/>
                </a:lnTo>
                <a:lnTo>
                  <a:pt x="393839" y="30115"/>
                </a:lnTo>
                <a:close/>
              </a:path>
              <a:path w="522604" h="404494">
                <a:moveTo>
                  <a:pt x="441660" y="30115"/>
                </a:moveTo>
                <a:lnTo>
                  <a:pt x="393839" y="30115"/>
                </a:lnTo>
                <a:lnTo>
                  <a:pt x="396162" y="30880"/>
                </a:lnTo>
                <a:lnTo>
                  <a:pt x="442286" y="30880"/>
                </a:lnTo>
                <a:lnTo>
                  <a:pt x="441660" y="30115"/>
                </a:lnTo>
                <a:close/>
              </a:path>
              <a:path w="522604" h="404494">
                <a:moveTo>
                  <a:pt x="388849" y="29150"/>
                </a:moveTo>
                <a:lnTo>
                  <a:pt x="395138" y="30637"/>
                </a:lnTo>
                <a:lnTo>
                  <a:pt x="393839" y="30115"/>
                </a:lnTo>
                <a:lnTo>
                  <a:pt x="441660" y="30115"/>
                </a:lnTo>
                <a:lnTo>
                  <a:pt x="440941" y="29236"/>
                </a:lnTo>
                <a:lnTo>
                  <a:pt x="389959" y="29236"/>
                </a:lnTo>
                <a:lnTo>
                  <a:pt x="388849" y="29150"/>
                </a:lnTo>
                <a:close/>
              </a:path>
              <a:path w="522604" h="404494">
                <a:moveTo>
                  <a:pt x="387772" y="28896"/>
                </a:moveTo>
                <a:lnTo>
                  <a:pt x="388849" y="29150"/>
                </a:lnTo>
                <a:lnTo>
                  <a:pt x="389959" y="29236"/>
                </a:lnTo>
                <a:lnTo>
                  <a:pt x="387772" y="28896"/>
                </a:lnTo>
                <a:close/>
              </a:path>
              <a:path w="522604" h="404494">
                <a:moveTo>
                  <a:pt x="440662" y="28896"/>
                </a:moveTo>
                <a:lnTo>
                  <a:pt x="387772" y="28896"/>
                </a:lnTo>
                <a:lnTo>
                  <a:pt x="389959" y="29236"/>
                </a:lnTo>
                <a:lnTo>
                  <a:pt x="440941" y="29236"/>
                </a:lnTo>
                <a:lnTo>
                  <a:pt x="440662" y="28896"/>
                </a:lnTo>
                <a:close/>
              </a:path>
              <a:path w="522604" h="404494">
                <a:moveTo>
                  <a:pt x="440329" y="28489"/>
                </a:moveTo>
                <a:lnTo>
                  <a:pt x="380295" y="28489"/>
                </a:lnTo>
                <a:lnTo>
                  <a:pt x="388849" y="29150"/>
                </a:lnTo>
                <a:lnTo>
                  <a:pt x="387772" y="28896"/>
                </a:lnTo>
                <a:lnTo>
                  <a:pt x="440662" y="28896"/>
                </a:lnTo>
                <a:lnTo>
                  <a:pt x="440329" y="28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555400" y="2841243"/>
            <a:ext cx="22415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710">
                <a:latin typeface="Cambria Math"/>
                <a:cs typeface="Cambria Math"/>
              </a:rPr>
              <a:t>𝑟</a:t>
            </a:r>
            <a:r>
              <a:rPr dirty="0" baseline="-25000" sz="3000" spc="397">
                <a:latin typeface="Cambria Math"/>
                <a:cs typeface="Cambria Math"/>
              </a:rPr>
              <a:t>-</a:t>
            </a:r>
            <a:endParaRPr baseline="-25000" sz="3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7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27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6742597" y="2753867"/>
            <a:ext cx="7004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114">
                <a:latin typeface="Cambria Math"/>
                <a:cs typeface="Cambria Math"/>
              </a:rPr>
              <a:t>(</a:t>
            </a:r>
            <a:r>
              <a:rPr dirty="0" sz="2000" spc="-300">
                <a:latin typeface="Cambria Math"/>
                <a:cs typeface="Cambria Math"/>
              </a:rPr>
              <a:t>%</a:t>
            </a:r>
            <a:r>
              <a:rPr dirty="0" sz="2000" spc="70">
                <a:latin typeface="Cambria Math"/>
                <a:cs typeface="Cambria Math"/>
              </a:rPr>
              <a:t>7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08712" y="3396996"/>
            <a:ext cx="4616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65">
                <a:latin typeface="Cambria Math"/>
                <a:cs typeface="Cambria Math"/>
              </a:rPr>
              <a:t>.</a:t>
            </a:r>
            <a:r>
              <a:rPr dirty="0" sz="2000" spc="30">
                <a:latin typeface="Cambria Math"/>
                <a:cs typeface="Cambria Math"/>
              </a:rPr>
              <a:t>→</a:t>
            </a:r>
            <a:r>
              <a:rPr dirty="0" sz="2000" spc="265">
                <a:latin typeface="Cambria Math"/>
                <a:cs typeface="Cambria Math"/>
              </a:rPr>
              <a:t>-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33047" y="2682747"/>
            <a:ext cx="1459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5895" algn="l"/>
              </a:tabLst>
            </a:pPr>
            <a:r>
              <a:rPr dirty="0" baseline="-24801" sz="4200">
                <a:latin typeface="Cambria Math"/>
                <a:cs typeface="Cambria Math"/>
              </a:rPr>
              <a:t>= </a:t>
            </a:r>
            <a:r>
              <a:rPr dirty="0" baseline="-24801" sz="4200" spc="2940">
                <a:latin typeface="Cambria Math"/>
                <a:cs typeface="Cambria Math"/>
              </a:rPr>
              <a:t>A</a:t>
            </a:r>
            <a:r>
              <a:rPr dirty="0" sz="2800" spc="775" u="heavy">
                <a:latin typeface="Cambria Math"/>
                <a:cs typeface="Cambria Math"/>
              </a:rPr>
              <a:t> </a:t>
            </a:r>
            <a:r>
              <a:rPr dirty="0" sz="2000" spc="285" u="heavy">
                <a:latin typeface="Cambria Math"/>
                <a:cs typeface="Cambria Math"/>
              </a:rPr>
              <a:t>.	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27635" y="2374900"/>
            <a:ext cx="5473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761" sz="4200" spc="202">
                <a:latin typeface="Cambria Math"/>
                <a:cs typeface="Cambria Math"/>
              </a:rPr>
              <a:t>𝑟</a:t>
            </a: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114">
                <a:latin typeface="Cambria Math"/>
                <a:cs typeface="Cambria Math"/>
              </a:rPr>
              <a:t>(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36982" y="3078987"/>
            <a:ext cx="3213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𝑑</a:t>
            </a:r>
            <a:r>
              <a:rPr dirty="0" baseline="-16666" sz="3000" spc="427">
                <a:latin typeface="Cambria Math"/>
                <a:cs typeface="Cambria Math"/>
              </a:rPr>
              <a:t>.</a:t>
            </a:r>
            <a:endParaRPr baseline="-16666"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7847" y="323088"/>
            <a:ext cx="85526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6545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FF0066"/>
                </a:solidFill>
              </a:rPr>
              <a:t>The “Dead end”</a:t>
            </a:r>
            <a:r>
              <a:rPr dirty="0" spc="-70">
                <a:solidFill>
                  <a:srgbClr val="FF0066"/>
                </a:solidFill>
              </a:rPr>
              <a:t> </a:t>
            </a:r>
            <a:r>
              <a:rPr dirty="0" spc="-10">
                <a:solidFill>
                  <a:srgbClr val="FF0066"/>
                </a:solidFill>
              </a:rPr>
              <a:t>problem: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3763" y="4765548"/>
            <a:ext cx="309245" cy="10071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50"/>
              </a:spcBef>
            </a:pPr>
            <a:r>
              <a:rPr dirty="0" sz="3200" spc="-5">
                <a:latin typeface="Arial"/>
                <a:cs typeface="Arial"/>
              </a:rPr>
              <a:t>r</a:t>
            </a:r>
            <a:r>
              <a:rPr dirty="0" baseline="-18518" sz="3150">
                <a:latin typeface="Arial"/>
                <a:cs typeface="Arial"/>
              </a:rPr>
              <a:t>a  </a:t>
            </a:r>
            <a:r>
              <a:rPr dirty="0" sz="3200" spc="-5">
                <a:latin typeface="Arial"/>
                <a:cs typeface="Arial"/>
              </a:rPr>
              <a:t>r</a:t>
            </a:r>
            <a:r>
              <a:rPr dirty="0" baseline="-18518" sz="3150">
                <a:latin typeface="Arial"/>
                <a:cs typeface="Arial"/>
              </a:rPr>
              <a:t>b</a:t>
            </a:r>
            <a:endParaRPr baseline="-18518" sz="3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2339" y="5060188"/>
            <a:ext cx="23367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18099" y="3057878"/>
            <a:ext cx="1585595" cy="132715"/>
          </a:xfrm>
          <a:custGeom>
            <a:avLst/>
            <a:gdLst/>
            <a:ahLst/>
            <a:cxnLst/>
            <a:rect l="l" t="t" r="r" b="b"/>
            <a:pathLst>
              <a:path w="1585595" h="132714">
                <a:moveTo>
                  <a:pt x="1504077" y="80610"/>
                </a:moveTo>
                <a:lnTo>
                  <a:pt x="1457186" y="107963"/>
                </a:lnTo>
                <a:lnTo>
                  <a:pt x="1454885" y="116711"/>
                </a:lnTo>
                <a:lnTo>
                  <a:pt x="1462836" y="130343"/>
                </a:lnTo>
                <a:lnTo>
                  <a:pt x="1471584" y="132646"/>
                </a:lnTo>
                <a:lnTo>
                  <a:pt x="1560789" y="80610"/>
                </a:lnTo>
                <a:lnTo>
                  <a:pt x="1504077" y="80610"/>
                </a:lnTo>
                <a:close/>
              </a:path>
              <a:path w="1585595" h="132714">
                <a:moveTo>
                  <a:pt x="1570454" y="74972"/>
                </a:moveTo>
                <a:lnTo>
                  <a:pt x="1560789" y="80610"/>
                </a:lnTo>
                <a:lnTo>
                  <a:pt x="1564817" y="80609"/>
                </a:lnTo>
                <a:lnTo>
                  <a:pt x="1570454" y="74972"/>
                </a:lnTo>
                <a:close/>
              </a:path>
              <a:path w="1585595" h="132714">
                <a:moveTo>
                  <a:pt x="1528571" y="66322"/>
                </a:moveTo>
                <a:lnTo>
                  <a:pt x="1504077" y="80610"/>
                </a:lnTo>
                <a:lnTo>
                  <a:pt x="1560791" y="80609"/>
                </a:lnTo>
                <a:lnTo>
                  <a:pt x="1564127" y="78663"/>
                </a:lnTo>
                <a:lnTo>
                  <a:pt x="1549727" y="78663"/>
                </a:lnTo>
                <a:lnTo>
                  <a:pt x="1528571" y="66322"/>
                </a:lnTo>
                <a:close/>
              </a:path>
              <a:path w="1585595" h="132714">
                <a:moveTo>
                  <a:pt x="14287" y="52034"/>
                </a:moveTo>
                <a:lnTo>
                  <a:pt x="6395" y="52035"/>
                </a:lnTo>
                <a:lnTo>
                  <a:pt x="0" y="58431"/>
                </a:lnTo>
                <a:lnTo>
                  <a:pt x="1" y="74213"/>
                </a:lnTo>
                <a:lnTo>
                  <a:pt x="6396" y="80609"/>
                </a:lnTo>
                <a:lnTo>
                  <a:pt x="1504079" y="80609"/>
                </a:lnTo>
                <a:lnTo>
                  <a:pt x="1528571" y="66322"/>
                </a:lnTo>
                <a:lnTo>
                  <a:pt x="1504078" y="52035"/>
                </a:lnTo>
                <a:lnTo>
                  <a:pt x="14287" y="52034"/>
                </a:lnTo>
                <a:close/>
              </a:path>
              <a:path w="1585595" h="132714">
                <a:moveTo>
                  <a:pt x="1549727" y="53981"/>
                </a:moveTo>
                <a:lnTo>
                  <a:pt x="1528571" y="66322"/>
                </a:lnTo>
                <a:lnTo>
                  <a:pt x="1549727" y="78663"/>
                </a:lnTo>
                <a:lnTo>
                  <a:pt x="1549727" y="53981"/>
                </a:lnTo>
                <a:close/>
              </a:path>
              <a:path w="1585595" h="132714">
                <a:moveTo>
                  <a:pt x="1564125" y="53981"/>
                </a:moveTo>
                <a:lnTo>
                  <a:pt x="1549727" y="53981"/>
                </a:lnTo>
                <a:lnTo>
                  <a:pt x="1549727" y="78663"/>
                </a:lnTo>
                <a:lnTo>
                  <a:pt x="1564127" y="78663"/>
                </a:lnTo>
                <a:lnTo>
                  <a:pt x="1570454" y="74972"/>
                </a:lnTo>
                <a:lnTo>
                  <a:pt x="1571213" y="74213"/>
                </a:lnTo>
                <a:lnTo>
                  <a:pt x="1571212" y="58431"/>
                </a:lnTo>
                <a:lnTo>
                  <a:pt x="1570453" y="57673"/>
                </a:lnTo>
                <a:lnTo>
                  <a:pt x="1564125" y="53981"/>
                </a:lnTo>
                <a:close/>
              </a:path>
              <a:path w="1585595" h="132714">
                <a:moveTo>
                  <a:pt x="1570453" y="57673"/>
                </a:moveTo>
                <a:lnTo>
                  <a:pt x="1571212" y="58431"/>
                </a:lnTo>
                <a:lnTo>
                  <a:pt x="1571213" y="74213"/>
                </a:lnTo>
                <a:lnTo>
                  <a:pt x="1570454" y="74972"/>
                </a:lnTo>
                <a:lnTo>
                  <a:pt x="1585282" y="66323"/>
                </a:lnTo>
                <a:lnTo>
                  <a:pt x="1570453" y="57673"/>
                </a:lnTo>
                <a:close/>
              </a:path>
              <a:path w="1585595" h="132714">
                <a:moveTo>
                  <a:pt x="1471584" y="0"/>
                </a:moveTo>
                <a:lnTo>
                  <a:pt x="1462836" y="2301"/>
                </a:lnTo>
                <a:lnTo>
                  <a:pt x="1454885" y="15933"/>
                </a:lnTo>
                <a:lnTo>
                  <a:pt x="1457186" y="24682"/>
                </a:lnTo>
                <a:lnTo>
                  <a:pt x="1504078" y="52035"/>
                </a:lnTo>
                <a:lnTo>
                  <a:pt x="1556926" y="52035"/>
                </a:lnTo>
                <a:lnTo>
                  <a:pt x="1504078" y="52035"/>
                </a:lnTo>
                <a:lnTo>
                  <a:pt x="1528571" y="66322"/>
                </a:lnTo>
                <a:lnTo>
                  <a:pt x="1549727" y="53981"/>
                </a:lnTo>
                <a:lnTo>
                  <a:pt x="1564125" y="53981"/>
                </a:lnTo>
                <a:lnTo>
                  <a:pt x="1560789" y="52035"/>
                </a:lnTo>
                <a:lnTo>
                  <a:pt x="1556926" y="52035"/>
                </a:lnTo>
                <a:lnTo>
                  <a:pt x="1560789" y="52035"/>
                </a:lnTo>
                <a:lnTo>
                  <a:pt x="1471584" y="0"/>
                </a:lnTo>
                <a:close/>
              </a:path>
              <a:path w="1585595" h="132714">
                <a:moveTo>
                  <a:pt x="1564816" y="52035"/>
                </a:moveTo>
                <a:lnTo>
                  <a:pt x="1560789" y="52035"/>
                </a:lnTo>
                <a:lnTo>
                  <a:pt x="1570453" y="57673"/>
                </a:lnTo>
                <a:lnTo>
                  <a:pt x="1564816" y="52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82234" y="2851404"/>
            <a:ext cx="2736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9813" y="2851404"/>
            <a:ext cx="2514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108" y="3787140"/>
            <a:ext cx="2931160" cy="862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53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  <a:p>
            <a:pPr marL="1106170">
              <a:lnSpc>
                <a:spcPts val="3055"/>
              </a:lnSpc>
              <a:tabLst>
                <a:tab pos="2644775" algn="l"/>
              </a:tabLst>
            </a:pPr>
            <a:r>
              <a:rPr dirty="0" sz="2800" b="1">
                <a:latin typeface="Calibri"/>
                <a:cs typeface="Calibri"/>
              </a:rPr>
              <a:t>I</a:t>
            </a:r>
            <a:r>
              <a:rPr dirty="0" sz="2800" spc="-30" b="1">
                <a:latin typeface="Calibri"/>
                <a:cs typeface="Calibri"/>
              </a:rPr>
              <a:t>t</a:t>
            </a:r>
            <a:r>
              <a:rPr dirty="0" sz="2800" b="1">
                <a:latin typeface="Calibri"/>
                <a:cs typeface="Calibri"/>
              </a:rPr>
              <a:t>e</a:t>
            </a:r>
            <a:r>
              <a:rPr dirty="0" sz="2800" spc="-60" b="1">
                <a:latin typeface="Calibri"/>
                <a:cs typeface="Calibri"/>
              </a:rPr>
              <a:t>r</a:t>
            </a:r>
            <a:r>
              <a:rPr dirty="0" sz="2800" spc="-25" b="1">
                <a:latin typeface="Calibri"/>
                <a:cs typeface="Calibri"/>
              </a:rPr>
              <a:t>a</a:t>
            </a:r>
            <a:r>
              <a:rPr dirty="0" sz="2800" b="1">
                <a:latin typeface="Calibri"/>
                <a:cs typeface="Calibri"/>
              </a:rPr>
              <a:t>ti</a:t>
            </a:r>
            <a:r>
              <a:rPr dirty="0" sz="2800" spc="-5" b="1">
                <a:latin typeface="Calibri"/>
                <a:cs typeface="Calibri"/>
              </a:rPr>
              <a:t>on</a:t>
            </a:r>
            <a:r>
              <a:rPr dirty="0" sz="2800" b="1">
                <a:latin typeface="Calibri"/>
                <a:cs typeface="Calibri"/>
              </a:rPr>
              <a:t>:	</a:t>
            </a:r>
            <a:r>
              <a:rPr dirty="0" sz="2800" spc="0" b="1">
                <a:latin typeface="Calibri"/>
                <a:cs typeface="Calibri"/>
              </a:rPr>
              <a:t>0</a:t>
            </a:r>
            <a:r>
              <a:rPr dirty="0" sz="2800" b="1">
                <a:latin typeface="Calibri"/>
                <a:cs typeface="Calibri"/>
              </a:rPr>
              <a:t>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72032" y="4197603"/>
            <a:ext cx="23025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3450" algn="l"/>
                <a:tab pos="1855470" algn="l"/>
              </a:tabLst>
            </a:pPr>
            <a:r>
              <a:rPr dirty="0" sz="2800" spc="0" b="1">
                <a:latin typeface="Calibri"/>
                <a:cs typeface="Calibri"/>
              </a:rPr>
              <a:t>1</a:t>
            </a:r>
            <a:r>
              <a:rPr dirty="0" sz="2800" b="1">
                <a:latin typeface="Calibri"/>
                <a:cs typeface="Calibri"/>
              </a:rPr>
              <a:t>,	</a:t>
            </a:r>
            <a:r>
              <a:rPr dirty="0" sz="2800" spc="0" b="1">
                <a:latin typeface="Calibri"/>
                <a:cs typeface="Calibri"/>
              </a:rPr>
              <a:t>2</a:t>
            </a:r>
            <a:r>
              <a:rPr dirty="0" sz="2800" b="1">
                <a:latin typeface="Calibri"/>
                <a:cs typeface="Calibri"/>
              </a:rPr>
              <a:t>,	</a:t>
            </a:r>
            <a:r>
              <a:rPr dirty="0" sz="2800" spc="0" b="1">
                <a:latin typeface="Calibri"/>
                <a:cs typeface="Calibri"/>
              </a:rPr>
              <a:t>3</a:t>
            </a:r>
            <a:r>
              <a:rPr dirty="0" sz="2800" b="1"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223514" y="4816745"/>
          <a:ext cx="3032760" cy="948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486"/>
                <a:gridCol w="952500"/>
                <a:gridCol w="952500"/>
                <a:gridCol w="541233"/>
              </a:tblGrid>
              <a:tr h="469900">
                <a:tc>
                  <a:txBody>
                    <a:bodyPr/>
                    <a:lstStyle/>
                    <a:p>
                      <a:pPr marL="31750">
                        <a:lnSpc>
                          <a:spcPts val="35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35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35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31750">
                        <a:lnSpc>
                          <a:spcPts val="3629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29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3629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629"/>
                        </a:lnSpc>
                      </a:pPr>
                      <a:r>
                        <a:rPr dirty="0" sz="320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4953000" y="2779776"/>
            <a:ext cx="731520" cy="731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07279" y="2734055"/>
            <a:ext cx="822960" cy="938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98720" y="2800587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79" h="640079">
                <a:moveTo>
                  <a:pt x="320039" y="0"/>
                </a:moveTo>
                <a:lnTo>
                  <a:pt x="272746" y="3470"/>
                </a:lnTo>
                <a:lnTo>
                  <a:pt x="227608" y="13550"/>
                </a:lnTo>
                <a:lnTo>
                  <a:pt x="185119" y="29745"/>
                </a:lnTo>
                <a:lnTo>
                  <a:pt x="145774" y="51560"/>
                </a:lnTo>
                <a:lnTo>
                  <a:pt x="110070" y="78500"/>
                </a:lnTo>
                <a:lnTo>
                  <a:pt x="78500" y="110070"/>
                </a:lnTo>
                <a:lnTo>
                  <a:pt x="51560" y="145775"/>
                </a:lnTo>
                <a:lnTo>
                  <a:pt x="29745" y="185119"/>
                </a:lnTo>
                <a:lnTo>
                  <a:pt x="13550" y="227608"/>
                </a:lnTo>
                <a:lnTo>
                  <a:pt x="3470" y="272747"/>
                </a:lnTo>
                <a:lnTo>
                  <a:pt x="0" y="320039"/>
                </a:lnTo>
                <a:lnTo>
                  <a:pt x="3470" y="367333"/>
                </a:lnTo>
                <a:lnTo>
                  <a:pt x="13550" y="412471"/>
                </a:lnTo>
                <a:lnTo>
                  <a:pt x="29745" y="454960"/>
                </a:lnTo>
                <a:lnTo>
                  <a:pt x="51560" y="494305"/>
                </a:lnTo>
                <a:lnTo>
                  <a:pt x="78500" y="530009"/>
                </a:lnTo>
                <a:lnTo>
                  <a:pt x="110070" y="561579"/>
                </a:lnTo>
                <a:lnTo>
                  <a:pt x="145774" y="588519"/>
                </a:lnTo>
                <a:lnTo>
                  <a:pt x="185119" y="610334"/>
                </a:lnTo>
                <a:lnTo>
                  <a:pt x="227608" y="626529"/>
                </a:lnTo>
                <a:lnTo>
                  <a:pt x="272746" y="636609"/>
                </a:lnTo>
                <a:lnTo>
                  <a:pt x="320039" y="640079"/>
                </a:lnTo>
                <a:lnTo>
                  <a:pt x="367333" y="636609"/>
                </a:lnTo>
                <a:lnTo>
                  <a:pt x="412471" y="626529"/>
                </a:lnTo>
                <a:lnTo>
                  <a:pt x="454960" y="610334"/>
                </a:lnTo>
                <a:lnTo>
                  <a:pt x="494305" y="588519"/>
                </a:lnTo>
                <a:lnTo>
                  <a:pt x="530009" y="561579"/>
                </a:lnTo>
                <a:lnTo>
                  <a:pt x="561579" y="530009"/>
                </a:lnTo>
                <a:lnTo>
                  <a:pt x="588519" y="494305"/>
                </a:lnTo>
                <a:lnTo>
                  <a:pt x="610334" y="454960"/>
                </a:lnTo>
                <a:lnTo>
                  <a:pt x="626529" y="412471"/>
                </a:lnTo>
                <a:lnTo>
                  <a:pt x="636609" y="367333"/>
                </a:lnTo>
                <a:lnTo>
                  <a:pt x="640079" y="320039"/>
                </a:lnTo>
                <a:lnTo>
                  <a:pt x="636609" y="272747"/>
                </a:lnTo>
                <a:lnTo>
                  <a:pt x="626529" y="227608"/>
                </a:lnTo>
                <a:lnTo>
                  <a:pt x="610334" y="185119"/>
                </a:lnTo>
                <a:lnTo>
                  <a:pt x="588519" y="145775"/>
                </a:lnTo>
                <a:lnTo>
                  <a:pt x="561579" y="110070"/>
                </a:lnTo>
                <a:lnTo>
                  <a:pt x="530009" y="78500"/>
                </a:lnTo>
                <a:lnTo>
                  <a:pt x="494305" y="51560"/>
                </a:lnTo>
                <a:lnTo>
                  <a:pt x="454960" y="29745"/>
                </a:lnTo>
                <a:lnTo>
                  <a:pt x="412471" y="13550"/>
                </a:lnTo>
                <a:lnTo>
                  <a:pt x="367333" y="3470"/>
                </a:lnTo>
                <a:lnTo>
                  <a:pt x="3200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29127" y="2779776"/>
            <a:ext cx="731520" cy="7315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95600" y="2734055"/>
            <a:ext cx="801624" cy="9387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75187" y="2800587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79" h="640079">
                <a:moveTo>
                  <a:pt x="320040" y="0"/>
                </a:moveTo>
                <a:lnTo>
                  <a:pt x="272746" y="3470"/>
                </a:lnTo>
                <a:lnTo>
                  <a:pt x="227608" y="13550"/>
                </a:lnTo>
                <a:lnTo>
                  <a:pt x="185119" y="29745"/>
                </a:lnTo>
                <a:lnTo>
                  <a:pt x="145774" y="51560"/>
                </a:lnTo>
                <a:lnTo>
                  <a:pt x="110070" y="78500"/>
                </a:lnTo>
                <a:lnTo>
                  <a:pt x="78500" y="110070"/>
                </a:lnTo>
                <a:lnTo>
                  <a:pt x="51560" y="145775"/>
                </a:lnTo>
                <a:lnTo>
                  <a:pt x="29745" y="185119"/>
                </a:lnTo>
                <a:lnTo>
                  <a:pt x="13550" y="227608"/>
                </a:lnTo>
                <a:lnTo>
                  <a:pt x="3470" y="272747"/>
                </a:lnTo>
                <a:lnTo>
                  <a:pt x="0" y="320039"/>
                </a:lnTo>
                <a:lnTo>
                  <a:pt x="3470" y="367333"/>
                </a:lnTo>
                <a:lnTo>
                  <a:pt x="13550" y="412471"/>
                </a:lnTo>
                <a:lnTo>
                  <a:pt x="29745" y="454960"/>
                </a:lnTo>
                <a:lnTo>
                  <a:pt x="51560" y="494305"/>
                </a:lnTo>
                <a:lnTo>
                  <a:pt x="78500" y="530009"/>
                </a:lnTo>
                <a:lnTo>
                  <a:pt x="110070" y="561579"/>
                </a:lnTo>
                <a:lnTo>
                  <a:pt x="145774" y="588519"/>
                </a:lnTo>
                <a:lnTo>
                  <a:pt x="185119" y="610334"/>
                </a:lnTo>
                <a:lnTo>
                  <a:pt x="227608" y="626529"/>
                </a:lnTo>
                <a:lnTo>
                  <a:pt x="272746" y="636609"/>
                </a:lnTo>
                <a:lnTo>
                  <a:pt x="320040" y="640079"/>
                </a:lnTo>
                <a:lnTo>
                  <a:pt x="367333" y="636609"/>
                </a:lnTo>
                <a:lnTo>
                  <a:pt x="412471" y="626529"/>
                </a:lnTo>
                <a:lnTo>
                  <a:pt x="454960" y="610334"/>
                </a:lnTo>
                <a:lnTo>
                  <a:pt x="494305" y="588519"/>
                </a:lnTo>
                <a:lnTo>
                  <a:pt x="530009" y="561579"/>
                </a:lnTo>
                <a:lnTo>
                  <a:pt x="561579" y="530009"/>
                </a:lnTo>
                <a:lnTo>
                  <a:pt x="588519" y="494305"/>
                </a:lnTo>
                <a:lnTo>
                  <a:pt x="610334" y="454960"/>
                </a:lnTo>
                <a:lnTo>
                  <a:pt x="626529" y="412471"/>
                </a:lnTo>
                <a:lnTo>
                  <a:pt x="636609" y="367333"/>
                </a:lnTo>
                <a:lnTo>
                  <a:pt x="640080" y="320039"/>
                </a:lnTo>
                <a:lnTo>
                  <a:pt x="636609" y="272747"/>
                </a:lnTo>
                <a:lnTo>
                  <a:pt x="626529" y="227608"/>
                </a:lnTo>
                <a:lnTo>
                  <a:pt x="610334" y="185119"/>
                </a:lnTo>
                <a:lnTo>
                  <a:pt x="588519" y="145775"/>
                </a:lnTo>
                <a:lnTo>
                  <a:pt x="561579" y="110070"/>
                </a:lnTo>
                <a:lnTo>
                  <a:pt x="530009" y="78500"/>
                </a:lnTo>
                <a:lnTo>
                  <a:pt x="494305" y="51560"/>
                </a:lnTo>
                <a:lnTo>
                  <a:pt x="454960" y="29745"/>
                </a:lnTo>
                <a:lnTo>
                  <a:pt x="412471" y="13550"/>
                </a:lnTo>
                <a:lnTo>
                  <a:pt x="367333" y="3470"/>
                </a:lnTo>
                <a:lnTo>
                  <a:pt x="3200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558153" y="2841243"/>
            <a:ext cx="22415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710">
                <a:latin typeface="Cambria Math"/>
                <a:cs typeface="Cambria Math"/>
              </a:rPr>
              <a:t>𝑟</a:t>
            </a:r>
            <a:r>
              <a:rPr dirty="0" baseline="-25000" sz="3000" spc="397">
                <a:latin typeface="Cambria Math"/>
                <a:cs typeface="Cambria Math"/>
              </a:rPr>
              <a:t>-</a:t>
            </a:r>
            <a:endParaRPr baseline="-25000" sz="3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7"/>
              </a:rPr>
              <a:t>http://cs224w.stanford.edu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5352" y="2753867"/>
            <a:ext cx="7004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114">
                <a:latin typeface="Cambria Math"/>
                <a:cs typeface="Cambria Math"/>
              </a:rPr>
              <a:t>(</a:t>
            </a:r>
            <a:r>
              <a:rPr dirty="0" sz="2000" spc="-300">
                <a:latin typeface="Cambria Math"/>
                <a:cs typeface="Cambria Math"/>
              </a:rPr>
              <a:t>%</a:t>
            </a:r>
            <a:r>
              <a:rPr dirty="0" sz="2000" spc="70">
                <a:latin typeface="Cambria Math"/>
                <a:cs typeface="Cambria Math"/>
              </a:rPr>
              <a:t>7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11465" y="3396996"/>
            <a:ext cx="4616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65">
                <a:latin typeface="Cambria Math"/>
                <a:cs typeface="Cambria Math"/>
              </a:rPr>
              <a:t>.</a:t>
            </a:r>
            <a:r>
              <a:rPr dirty="0" sz="2000" spc="30">
                <a:latin typeface="Cambria Math"/>
                <a:cs typeface="Cambria Math"/>
              </a:rPr>
              <a:t>→</a:t>
            </a:r>
            <a:r>
              <a:rPr dirty="0" sz="2000" spc="265">
                <a:latin typeface="Cambria Math"/>
                <a:cs typeface="Cambria Math"/>
              </a:rPr>
              <a:t>-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35800" y="2682747"/>
            <a:ext cx="1459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5895" algn="l"/>
              </a:tabLst>
            </a:pPr>
            <a:r>
              <a:rPr dirty="0" baseline="-24801" sz="4200">
                <a:latin typeface="Cambria Math"/>
                <a:cs typeface="Cambria Math"/>
              </a:rPr>
              <a:t>= </a:t>
            </a:r>
            <a:r>
              <a:rPr dirty="0" baseline="-24801" sz="4200" spc="2940">
                <a:latin typeface="Cambria Math"/>
                <a:cs typeface="Cambria Math"/>
              </a:rPr>
              <a:t>A</a:t>
            </a:r>
            <a:r>
              <a:rPr dirty="0" sz="2800" spc="775" u="heavy">
                <a:latin typeface="Cambria Math"/>
                <a:cs typeface="Cambria Math"/>
              </a:rPr>
              <a:t> </a:t>
            </a:r>
            <a:r>
              <a:rPr dirty="0" sz="2000" spc="285" u="heavy">
                <a:latin typeface="Cambria Math"/>
                <a:cs typeface="Cambria Math"/>
              </a:rPr>
              <a:t>.	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30388" y="2374900"/>
            <a:ext cx="5473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9761" sz="4200" spc="202">
                <a:latin typeface="Cambria Math"/>
                <a:cs typeface="Cambria Math"/>
              </a:rPr>
              <a:t>𝑟</a:t>
            </a:r>
            <a:r>
              <a:rPr dirty="0" sz="2000" spc="10">
                <a:latin typeface="Cambria Math"/>
                <a:cs typeface="Cambria Math"/>
              </a:rPr>
              <a:t>(</a:t>
            </a:r>
            <a:r>
              <a:rPr dirty="0" sz="2000" spc="114">
                <a:latin typeface="Cambria Math"/>
                <a:cs typeface="Cambria Math"/>
              </a:rPr>
              <a:t>(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39735" y="3078987"/>
            <a:ext cx="3213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𝑑</a:t>
            </a:r>
            <a:r>
              <a:rPr dirty="0" baseline="-16666" sz="3000" spc="427">
                <a:latin typeface="Cambria Math"/>
                <a:cs typeface="Cambria Math"/>
              </a:rPr>
              <a:t>.</a:t>
            </a:r>
            <a:endParaRPr baseline="-16666"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582777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31532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Solution </a:t>
            </a:r>
            <a:r>
              <a:rPr dirty="0" spc="-20">
                <a:solidFill>
                  <a:srgbClr val="000000"/>
                </a:solidFill>
              </a:rPr>
              <a:t>for </a:t>
            </a:r>
            <a:r>
              <a:rPr dirty="0" spc="-5">
                <a:solidFill>
                  <a:srgbClr val="000000"/>
                </a:solidFill>
              </a:rPr>
              <a:t>spider </a:t>
            </a:r>
            <a:r>
              <a:rPr dirty="0" spc="-20">
                <a:solidFill>
                  <a:srgbClr val="000000"/>
                </a:solidFill>
              </a:rPr>
              <a:t>traps: </a:t>
            </a:r>
            <a:r>
              <a:rPr dirty="0" spc="-55"/>
              <a:t>At </a:t>
            </a:r>
            <a:r>
              <a:rPr dirty="0" spc="-5"/>
              <a:t>each time </a:t>
            </a:r>
            <a:r>
              <a:rPr dirty="0" spc="-20"/>
              <a:t>step, </a:t>
            </a:r>
            <a:r>
              <a:rPr dirty="0" spc="-5"/>
              <a:t>the  </a:t>
            </a:r>
            <a:r>
              <a:rPr dirty="0" spc="-20"/>
              <a:t>random </a:t>
            </a:r>
            <a:r>
              <a:rPr dirty="0" spc="-15"/>
              <a:t>surfer </a:t>
            </a:r>
            <a:r>
              <a:rPr dirty="0" spc="-5"/>
              <a:t>has </a:t>
            </a:r>
            <a:r>
              <a:rPr dirty="0" spc="-10"/>
              <a:t>two</a:t>
            </a:r>
            <a:r>
              <a:rPr dirty="0" spc="5"/>
              <a:t> </a:t>
            </a:r>
            <a:r>
              <a:rPr dirty="0" spc="-5"/>
              <a:t>options</a:t>
            </a:r>
          </a:p>
        </p:txBody>
      </p:sp>
      <p:sp>
        <p:nvSpPr>
          <p:cNvPr id="4" name="object 4"/>
          <p:cNvSpPr/>
          <p:nvPr/>
        </p:nvSpPr>
        <p:spPr>
          <a:xfrm>
            <a:off x="3802588" y="5607348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5">
                <a:moveTo>
                  <a:pt x="292259" y="48801"/>
                </a:moveTo>
                <a:lnTo>
                  <a:pt x="267488" y="62600"/>
                </a:lnTo>
                <a:lnTo>
                  <a:pt x="0" y="514479"/>
                </a:lnTo>
                <a:lnTo>
                  <a:pt x="2245" y="523242"/>
                </a:lnTo>
                <a:lnTo>
                  <a:pt x="15826" y="531281"/>
                </a:lnTo>
                <a:lnTo>
                  <a:pt x="24589" y="529035"/>
                </a:lnTo>
                <a:lnTo>
                  <a:pt x="292077" y="77157"/>
                </a:lnTo>
                <a:lnTo>
                  <a:pt x="292259" y="48801"/>
                </a:lnTo>
                <a:close/>
              </a:path>
              <a:path w="323214" h="531495">
                <a:moveTo>
                  <a:pt x="320965" y="28355"/>
                </a:moveTo>
                <a:lnTo>
                  <a:pt x="292077" y="77157"/>
                </a:lnTo>
                <a:lnTo>
                  <a:pt x="291730" y="131442"/>
                </a:lnTo>
                <a:lnTo>
                  <a:pt x="298085" y="137879"/>
                </a:lnTo>
                <a:lnTo>
                  <a:pt x="313866" y="137980"/>
                </a:lnTo>
                <a:lnTo>
                  <a:pt x="320304" y="131625"/>
                </a:lnTo>
                <a:lnTo>
                  <a:pt x="320965" y="28355"/>
                </a:lnTo>
                <a:close/>
              </a:path>
              <a:path w="323214" h="531495">
                <a:moveTo>
                  <a:pt x="296376" y="13798"/>
                </a:moveTo>
                <a:lnTo>
                  <a:pt x="206157" y="64055"/>
                </a:lnTo>
                <a:lnTo>
                  <a:pt x="203682" y="72756"/>
                </a:lnTo>
                <a:lnTo>
                  <a:pt x="211362" y="86543"/>
                </a:lnTo>
                <a:lnTo>
                  <a:pt x="220063" y="89018"/>
                </a:lnTo>
                <a:lnTo>
                  <a:pt x="267488" y="62600"/>
                </a:lnTo>
                <a:lnTo>
                  <a:pt x="296376" y="13798"/>
                </a:lnTo>
                <a:close/>
              </a:path>
              <a:path w="323214" h="531495">
                <a:moveTo>
                  <a:pt x="320991" y="24309"/>
                </a:moveTo>
                <a:lnTo>
                  <a:pt x="292416" y="24309"/>
                </a:lnTo>
                <a:lnTo>
                  <a:pt x="313656" y="36882"/>
                </a:lnTo>
                <a:lnTo>
                  <a:pt x="292259" y="48801"/>
                </a:lnTo>
                <a:lnTo>
                  <a:pt x="292077" y="77157"/>
                </a:lnTo>
                <a:lnTo>
                  <a:pt x="320965" y="28355"/>
                </a:lnTo>
                <a:lnTo>
                  <a:pt x="320991" y="24309"/>
                </a:lnTo>
                <a:close/>
              </a:path>
              <a:path w="323214" h="531495">
                <a:moveTo>
                  <a:pt x="307191" y="8086"/>
                </a:moveTo>
                <a:lnTo>
                  <a:pt x="306152" y="8352"/>
                </a:lnTo>
                <a:lnTo>
                  <a:pt x="296376" y="13798"/>
                </a:lnTo>
                <a:lnTo>
                  <a:pt x="267488" y="62600"/>
                </a:lnTo>
                <a:lnTo>
                  <a:pt x="292259" y="48801"/>
                </a:lnTo>
                <a:lnTo>
                  <a:pt x="292416" y="24309"/>
                </a:lnTo>
                <a:lnTo>
                  <a:pt x="320991" y="24309"/>
                </a:lnTo>
                <a:lnTo>
                  <a:pt x="321037" y="17163"/>
                </a:lnTo>
                <a:lnTo>
                  <a:pt x="320771" y="16125"/>
                </a:lnTo>
                <a:lnTo>
                  <a:pt x="307191" y="8086"/>
                </a:lnTo>
                <a:close/>
              </a:path>
              <a:path w="323214" h="531495">
                <a:moveTo>
                  <a:pt x="292416" y="24309"/>
                </a:moveTo>
                <a:lnTo>
                  <a:pt x="292259" y="48801"/>
                </a:lnTo>
                <a:lnTo>
                  <a:pt x="313656" y="36882"/>
                </a:lnTo>
                <a:lnTo>
                  <a:pt x="292416" y="24309"/>
                </a:lnTo>
                <a:close/>
              </a:path>
              <a:path w="323214" h="531495">
                <a:moveTo>
                  <a:pt x="321037" y="17163"/>
                </a:moveTo>
                <a:lnTo>
                  <a:pt x="320965" y="28355"/>
                </a:lnTo>
                <a:lnTo>
                  <a:pt x="323018" y="24888"/>
                </a:lnTo>
                <a:lnTo>
                  <a:pt x="321037" y="17163"/>
                </a:lnTo>
                <a:close/>
              </a:path>
              <a:path w="323214" h="531495">
                <a:moveTo>
                  <a:pt x="321095" y="8086"/>
                </a:moveTo>
                <a:lnTo>
                  <a:pt x="307191" y="8086"/>
                </a:lnTo>
                <a:lnTo>
                  <a:pt x="320771" y="16125"/>
                </a:lnTo>
                <a:lnTo>
                  <a:pt x="321037" y="17163"/>
                </a:lnTo>
                <a:lnTo>
                  <a:pt x="321095" y="8086"/>
                </a:lnTo>
                <a:close/>
              </a:path>
              <a:path w="323214" h="531495">
                <a:moveTo>
                  <a:pt x="306152" y="8352"/>
                </a:moveTo>
                <a:lnTo>
                  <a:pt x="298428" y="10332"/>
                </a:lnTo>
                <a:lnTo>
                  <a:pt x="296376" y="13798"/>
                </a:lnTo>
                <a:lnTo>
                  <a:pt x="306152" y="8352"/>
                </a:lnTo>
                <a:close/>
              </a:path>
              <a:path w="323214" h="531495">
                <a:moveTo>
                  <a:pt x="321147" y="0"/>
                </a:moveTo>
                <a:lnTo>
                  <a:pt x="306152" y="8352"/>
                </a:lnTo>
                <a:lnTo>
                  <a:pt x="307191" y="8086"/>
                </a:lnTo>
                <a:lnTo>
                  <a:pt x="321095" y="8086"/>
                </a:lnTo>
                <a:lnTo>
                  <a:pt x="3211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70177" y="5530977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5">
                <a:moveTo>
                  <a:pt x="1980" y="514118"/>
                </a:moveTo>
                <a:lnTo>
                  <a:pt x="1870" y="531281"/>
                </a:lnTo>
                <a:lnTo>
                  <a:pt x="16387" y="523195"/>
                </a:lnTo>
                <a:lnTo>
                  <a:pt x="15826" y="523195"/>
                </a:lnTo>
                <a:lnTo>
                  <a:pt x="2246" y="515156"/>
                </a:lnTo>
                <a:lnTo>
                  <a:pt x="1980" y="514118"/>
                </a:lnTo>
                <a:close/>
              </a:path>
              <a:path w="323214" h="531495">
                <a:moveTo>
                  <a:pt x="30940" y="454124"/>
                </a:moveTo>
                <a:lnTo>
                  <a:pt x="2052" y="502926"/>
                </a:lnTo>
                <a:lnTo>
                  <a:pt x="1980" y="514118"/>
                </a:lnTo>
                <a:lnTo>
                  <a:pt x="2246" y="515156"/>
                </a:lnTo>
                <a:lnTo>
                  <a:pt x="15826" y="523195"/>
                </a:lnTo>
                <a:lnTo>
                  <a:pt x="16865" y="522928"/>
                </a:lnTo>
                <a:lnTo>
                  <a:pt x="26641" y="517483"/>
                </a:lnTo>
                <a:lnTo>
                  <a:pt x="32863" y="506972"/>
                </a:lnTo>
                <a:lnTo>
                  <a:pt x="30601" y="506972"/>
                </a:lnTo>
                <a:lnTo>
                  <a:pt x="9362" y="494399"/>
                </a:lnTo>
                <a:lnTo>
                  <a:pt x="30758" y="482480"/>
                </a:lnTo>
                <a:lnTo>
                  <a:pt x="30940" y="454124"/>
                </a:lnTo>
                <a:close/>
              </a:path>
              <a:path w="323214" h="531495">
                <a:moveTo>
                  <a:pt x="16865" y="522928"/>
                </a:moveTo>
                <a:lnTo>
                  <a:pt x="15826" y="523195"/>
                </a:lnTo>
                <a:lnTo>
                  <a:pt x="16387" y="523195"/>
                </a:lnTo>
                <a:lnTo>
                  <a:pt x="16865" y="522928"/>
                </a:lnTo>
                <a:close/>
              </a:path>
              <a:path w="323214" h="531495">
                <a:moveTo>
                  <a:pt x="26641" y="517483"/>
                </a:moveTo>
                <a:lnTo>
                  <a:pt x="16865" y="522928"/>
                </a:lnTo>
                <a:lnTo>
                  <a:pt x="24589" y="520948"/>
                </a:lnTo>
                <a:lnTo>
                  <a:pt x="26641" y="517483"/>
                </a:lnTo>
                <a:close/>
              </a:path>
              <a:path w="323214" h="531495">
                <a:moveTo>
                  <a:pt x="102955" y="442262"/>
                </a:moveTo>
                <a:lnTo>
                  <a:pt x="55529" y="468681"/>
                </a:lnTo>
                <a:lnTo>
                  <a:pt x="26641" y="517483"/>
                </a:lnTo>
                <a:lnTo>
                  <a:pt x="116860" y="467225"/>
                </a:lnTo>
                <a:lnTo>
                  <a:pt x="119335" y="458524"/>
                </a:lnTo>
                <a:lnTo>
                  <a:pt x="111655" y="444737"/>
                </a:lnTo>
                <a:lnTo>
                  <a:pt x="102955" y="442262"/>
                </a:lnTo>
                <a:close/>
              </a:path>
              <a:path w="323214" h="531495">
                <a:moveTo>
                  <a:pt x="2052" y="502926"/>
                </a:moveTo>
                <a:lnTo>
                  <a:pt x="0" y="506393"/>
                </a:lnTo>
                <a:lnTo>
                  <a:pt x="1980" y="514118"/>
                </a:lnTo>
                <a:lnTo>
                  <a:pt x="2052" y="502926"/>
                </a:lnTo>
                <a:close/>
              </a:path>
              <a:path w="323214" h="531495">
                <a:moveTo>
                  <a:pt x="30758" y="482480"/>
                </a:moveTo>
                <a:lnTo>
                  <a:pt x="9362" y="494399"/>
                </a:lnTo>
                <a:lnTo>
                  <a:pt x="30601" y="506972"/>
                </a:lnTo>
                <a:lnTo>
                  <a:pt x="30758" y="482480"/>
                </a:lnTo>
                <a:close/>
              </a:path>
              <a:path w="323214" h="531495">
                <a:moveTo>
                  <a:pt x="55529" y="468681"/>
                </a:moveTo>
                <a:lnTo>
                  <a:pt x="30758" y="482480"/>
                </a:lnTo>
                <a:lnTo>
                  <a:pt x="30601" y="506972"/>
                </a:lnTo>
                <a:lnTo>
                  <a:pt x="32863" y="506972"/>
                </a:lnTo>
                <a:lnTo>
                  <a:pt x="55529" y="468681"/>
                </a:lnTo>
                <a:close/>
              </a:path>
              <a:path w="323214" h="531495">
                <a:moveTo>
                  <a:pt x="9151" y="393300"/>
                </a:moveTo>
                <a:lnTo>
                  <a:pt x="2713" y="399656"/>
                </a:lnTo>
                <a:lnTo>
                  <a:pt x="2052" y="502926"/>
                </a:lnTo>
                <a:lnTo>
                  <a:pt x="30940" y="454124"/>
                </a:lnTo>
                <a:lnTo>
                  <a:pt x="31287" y="399839"/>
                </a:lnTo>
                <a:lnTo>
                  <a:pt x="24932" y="393402"/>
                </a:lnTo>
                <a:lnTo>
                  <a:pt x="9151" y="393300"/>
                </a:lnTo>
                <a:close/>
              </a:path>
              <a:path w="323214" h="531495">
                <a:moveTo>
                  <a:pt x="307192" y="0"/>
                </a:moveTo>
                <a:lnTo>
                  <a:pt x="298429" y="2246"/>
                </a:lnTo>
                <a:lnTo>
                  <a:pt x="30940" y="454124"/>
                </a:lnTo>
                <a:lnTo>
                  <a:pt x="30758" y="482480"/>
                </a:lnTo>
                <a:lnTo>
                  <a:pt x="55529" y="468681"/>
                </a:lnTo>
                <a:lnTo>
                  <a:pt x="323019" y="16802"/>
                </a:lnTo>
                <a:lnTo>
                  <a:pt x="320772" y="8039"/>
                </a:lnTo>
                <a:lnTo>
                  <a:pt x="307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36830" y="6232767"/>
            <a:ext cx="987425" cy="148590"/>
          </a:xfrm>
          <a:custGeom>
            <a:avLst/>
            <a:gdLst/>
            <a:ahLst/>
            <a:cxnLst/>
            <a:rect l="l" t="t" r="r" b="b"/>
            <a:pathLst>
              <a:path w="987425" h="148589">
                <a:moveTo>
                  <a:pt x="904963" y="98963"/>
                </a:moveTo>
                <a:lnTo>
                  <a:pt x="856077" y="122568"/>
                </a:lnTo>
                <a:lnTo>
                  <a:pt x="853099" y="131110"/>
                </a:lnTo>
                <a:lnTo>
                  <a:pt x="859961" y="145322"/>
                </a:lnTo>
                <a:lnTo>
                  <a:pt x="868503" y="148301"/>
                </a:lnTo>
                <a:lnTo>
                  <a:pt x="961501" y="103395"/>
                </a:lnTo>
                <a:lnTo>
                  <a:pt x="904963" y="98963"/>
                </a:lnTo>
                <a:close/>
              </a:path>
              <a:path w="987425" h="148589">
                <a:moveTo>
                  <a:pt x="971586" y="98525"/>
                </a:moveTo>
                <a:lnTo>
                  <a:pt x="961501" y="103395"/>
                </a:lnTo>
                <a:lnTo>
                  <a:pt x="965520" y="103710"/>
                </a:lnTo>
                <a:lnTo>
                  <a:pt x="971586" y="98525"/>
                </a:lnTo>
                <a:close/>
              </a:path>
              <a:path w="987425" h="148589">
                <a:moveTo>
                  <a:pt x="930498" y="86633"/>
                </a:moveTo>
                <a:lnTo>
                  <a:pt x="904963" y="98963"/>
                </a:lnTo>
                <a:lnTo>
                  <a:pt x="961501" y="103395"/>
                </a:lnTo>
                <a:lnTo>
                  <a:pt x="967310" y="100590"/>
                </a:lnTo>
                <a:lnTo>
                  <a:pt x="950625" y="100590"/>
                </a:lnTo>
                <a:lnTo>
                  <a:pt x="930498" y="86633"/>
                </a:lnTo>
                <a:close/>
              </a:path>
              <a:path w="987425" h="148589">
                <a:moveTo>
                  <a:pt x="952554" y="75983"/>
                </a:moveTo>
                <a:lnTo>
                  <a:pt x="930498" y="86633"/>
                </a:lnTo>
                <a:lnTo>
                  <a:pt x="950625" y="100590"/>
                </a:lnTo>
                <a:lnTo>
                  <a:pt x="952554" y="75983"/>
                </a:lnTo>
                <a:close/>
              </a:path>
              <a:path w="987425" h="148589">
                <a:moveTo>
                  <a:pt x="965286" y="75983"/>
                </a:moveTo>
                <a:lnTo>
                  <a:pt x="952554" y="75983"/>
                </a:lnTo>
                <a:lnTo>
                  <a:pt x="950625" y="100590"/>
                </a:lnTo>
                <a:lnTo>
                  <a:pt x="967310" y="100590"/>
                </a:lnTo>
                <a:lnTo>
                  <a:pt x="971586" y="98525"/>
                </a:lnTo>
                <a:lnTo>
                  <a:pt x="972397" y="97833"/>
                </a:lnTo>
                <a:lnTo>
                  <a:pt x="973630" y="82099"/>
                </a:lnTo>
                <a:lnTo>
                  <a:pt x="972936" y="81288"/>
                </a:lnTo>
                <a:lnTo>
                  <a:pt x="965286" y="75983"/>
                </a:lnTo>
                <a:close/>
              </a:path>
              <a:path w="987425" h="148589">
                <a:moveTo>
                  <a:pt x="8110" y="0"/>
                </a:moveTo>
                <a:lnTo>
                  <a:pt x="1233" y="5877"/>
                </a:lnTo>
                <a:lnTo>
                  <a:pt x="0" y="21610"/>
                </a:lnTo>
                <a:lnTo>
                  <a:pt x="5876" y="28487"/>
                </a:lnTo>
                <a:lnTo>
                  <a:pt x="904963" y="98963"/>
                </a:lnTo>
                <a:lnTo>
                  <a:pt x="930498" y="86633"/>
                </a:lnTo>
                <a:lnTo>
                  <a:pt x="907197" y="70476"/>
                </a:lnTo>
                <a:lnTo>
                  <a:pt x="8110" y="0"/>
                </a:lnTo>
                <a:close/>
              </a:path>
              <a:path w="987425" h="148589">
                <a:moveTo>
                  <a:pt x="972936" y="81288"/>
                </a:moveTo>
                <a:lnTo>
                  <a:pt x="973630" y="82099"/>
                </a:lnTo>
                <a:lnTo>
                  <a:pt x="972397" y="97833"/>
                </a:lnTo>
                <a:lnTo>
                  <a:pt x="971586" y="98525"/>
                </a:lnTo>
                <a:lnTo>
                  <a:pt x="987036" y="91065"/>
                </a:lnTo>
                <a:lnTo>
                  <a:pt x="972936" y="81288"/>
                </a:lnTo>
                <a:close/>
              </a:path>
              <a:path w="987425" h="148589">
                <a:moveTo>
                  <a:pt x="907197" y="70476"/>
                </a:moveTo>
                <a:lnTo>
                  <a:pt x="930498" y="86633"/>
                </a:lnTo>
                <a:lnTo>
                  <a:pt x="952554" y="75983"/>
                </a:lnTo>
                <a:lnTo>
                  <a:pt x="965286" y="75983"/>
                </a:lnTo>
                <a:lnTo>
                  <a:pt x="963735" y="74907"/>
                </a:lnTo>
                <a:lnTo>
                  <a:pt x="907197" y="70476"/>
                </a:lnTo>
                <a:close/>
              </a:path>
              <a:path w="987425" h="148589">
                <a:moveTo>
                  <a:pt x="963735" y="74907"/>
                </a:moveTo>
                <a:lnTo>
                  <a:pt x="972936" y="81288"/>
                </a:lnTo>
                <a:lnTo>
                  <a:pt x="967752" y="75222"/>
                </a:lnTo>
                <a:lnTo>
                  <a:pt x="963735" y="74907"/>
                </a:lnTo>
                <a:close/>
              </a:path>
              <a:path w="987425" h="148589">
                <a:moveTo>
                  <a:pt x="878869" y="16060"/>
                </a:moveTo>
                <a:lnTo>
                  <a:pt x="869967" y="17671"/>
                </a:lnTo>
                <a:lnTo>
                  <a:pt x="860974" y="30640"/>
                </a:lnTo>
                <a:lnTo>
                  <a:pt x="862586" y="39541"/>
                </a:lnTo>
                <a:lnTo>
                  <a:pt x="907197" y="70476"/>
                </a:lnTo>
                <a:lnTo>
                  <a:pt x="963735" y="74907"/>
                </a:lnTo>
                <a:lnTo>
                  <a:pt x="878869" y="16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06689" y="4938739"/>
            <a:ext cx="527685" cy="486409"/>
          </a:xfrm>
          <a:custGeom>
            <a:avLst/>
            <a:gdLst/>
            <a:ahLst/>
            <a:cxnLst/>
            <a:rect l="l" t="t" r="r" b="b"/>
            <a:pathLst>
              <a:path w="527685" h="486410">
                <a:moveTo>
                  <a:pt x="388835" y="28521"/>
                </a:moveTo>
                <a:lnTo>
                  <a:pt x="283618" y="28521"/>
                </a:lnTo>
                <a:lnTo>
                  <a:pt x="303363" y="29634"/>
                </a:lnTo>
                <a:lnTo>
                  <a:pt x="323088" y="33098"/>
                </a:lnTo>
                <a:lnTo>
                  <a:pt x="361792" y="46556"/>
                </a:lnTo>
                <a:lnTo>
                  <a:pt x="398297" y="67744"/>
                </a:lnTo>
                <a:lnTo>
                  <a:pt x="431139" y="95370"/>
                </a:lnTo>
                <a:lnTo>
                  <a:pt x="458895" y="128049"/>
                </a:lnTo>
                <a:lnTo>
                  <a:pt x="480222" y="164330"/>
                </a:lnTo>
                <a:lnTo>
                  <a:pt x="493896" y="202752"/>
                </a:lnTo>
                <a:lnTo>
                  <a:pt x="498831" y="241987"/>
                </a:lnTo>
                <a:lnTo>
                  <a:pt x="497719" y="261733"/>
                </a:lnTo>
                <a:lnTo>
                  <a:pt x="488566" y="300992"/>
                </a:lnTo>
                <a:lnTo>
                  <a:pt x="471089" y="338780"/>
                </a:lnTo>
                <a:lnTo>
                  <a:pt x="446515" y="373635"/>
                </a:lnTo>
                <a:lnTo>
                  <a:pt x="416185" y="404107"/>
                </a:lnTo>
                <a:lnTo>
                  <a:pt x="381521" y="428811"/>
                </a:lnTo>
                <a:lnTo>
                  <a:pt x="343989" y="446455"/>
                </a:lnTo>
                <a:lnTo>
                  <a:pt x="305022" y="455888"/>
                </a:lnTo>
                <a:lnTo>
                  <a:pt x="275742" y="457682"/>
                </a:lnTo>
                <a:lnTo>
                  <a:pt x="269749" y="464458"/>
                </a:lnTo>
                <a:lnTo>
                  <a:pt x="270714" y="480211"/>
                </a:lnTo>
                <a:lnTo>
                  <a:pt x="277489" y="486204"/>
                </a:lnTo>
                <a:lnTo>
                  <a:pt x="306769" y="484409"/>
                </a:lnTo>
                <a:lnTo>
                  <a:pt x="352075" y="473862"/>
                </a:lnTo>
                <a:lnTo>
                  <a:pt x="394798" y="454113"/>
                </a:lnTo>
                <a:lnTo>
                  <a:pt x="433693" y="426689"/>
                </a:lnTo>
                <a:lnTo>
                  <a:pt x="467545" y="392981"/>
                </a:lnTo>
                <a:lnTo>
                  <a:pt x="495098" y="354276"/>
                </a:lnTo>
                <a:lnTo>
                  <a:pt x="515014" y="311810"/>
                </a:lnTo>
                <a:lnTo>
                  <a:pt x="525842" y="266795"/>
                </a:lnTo>
                <a:lnTo>
                  <a:pt x="527353" y="243734"/>
                </a:lnTo>
                <a:lnTo>
                  <a:pt x="526041" y="220583"/>
                </a:lnTo>
                <a:lnTo>
                  <a:pt x="515494" y="175276"/>
                </a:lnTo>
                <a:lnTo>
                  <a:pt x="495745" y="132553"/>
                </a:lnTo>
                <a:lnTo>
                  <a:pt x="468321" y="93658"/>
                </a:lnTo>
                <a:lnTo>
                  <a:pt x="434611" y="59806"/>
                </a:lnTo>
                <a:lnTo>
                  <a:pt x="395908" y="32255"/>
                </a:lnTo>
                <a:lnTo>
                  <a:pt x="388835" y="28521"/>
                </a:lnTo>
                <a:close/>
              </a:path>
              <a:path w="527685" h="486410">
                <a:moveTo>
                  <a:pt x="48622" y="227437"/>
                </a:moveTo>
                <a:lnTo>
                  <a:pt x="55886" y="242926"/>
                </a:lnTo>
                <a:lnTo>
                  <a:pt x="64966" y="230144"/>
                </a:lnTo>
                <a:lnTo>
                  <a:pt x="63657" y="230144"/>
                </a:lnTo>
                <a:lnTo>
                  <a:pt x="48622" y="227437"/>
                </a:lnTo>
                <a:close/>
              </a:path>
              <a:path w="527685" h="486410">
                <a:moveTo>
                  <a:pt x="54490" y="172648"/>
                </a:moveTo>
                <a:lnTo>
                  <a:pt x="53969" y="173911"/>
                </a:lnTo>
                <a:lnTo>
                  <a:pt x="47322" y="196178"/>
                </a:lnTo>
                <a:lnTo>
                  <a:pt x="44361" y="212153"/>
                </a:lnTo>
                <a:lnTo>
                  <a:pt x="43554" y="216630"/>
                </a:lnTo>
                <a:lnTo>
                  <a:pt x="48622" y="227437"/>
                </a:lnTo>
                <a:lnTo>
                  <a:pt x="63657" y="230144"/>
                </a:lnTo>
                <a:lnTo>
                  <a:pt x="66243" y="228347"/>
                </a:lnTo>
                <a:lnTo>
                  <a:pt x="71918" y="220358"/>
                </a:lnTo>
                <a:lnTo>
                  <a:pt x="72585" y="216630"/>
                </a:lnTo>
                <a:lnTo>
                  <a:pt x="73975" y="208619"/>
                </a:lnTo>
                <a:lnTo>
                  <a:pt x="71358" y="208619"/>
                </a:lnTo>
                <a:lnTo>
                  <a:pt x="46775" y="206410"/>
                </a:lnTo>
                <a:lnTo>
                  <a:pt x="60959" y="186443"/>
                </a:lnTo>
                <a:lnTo>
                  <a:pt x="54490" y="172648"/>
                </a:lnTo>
                <a:close/>
              </a:path>
              <a:path w="527685" h="486410">
                <a:moveTo>
                  <a:pt x="66243" y="228347"/>
                </a:moveTo>
                <a:lnTo>
                  <a:pt x="63657" y="230144"/>
                </a:lnTo>
                <a:lnTo>
                  <a:pt x="64966" y="230144"/>
                </a:lnTo>
                <a:lnTo>
                  <a:pt x="66243" y="228347"/>
                </a:lnTo>
                <a:close/>
              </a:path>
              <a:path w="527685" h="486410">
                <a:moveTo>
                  <a:pt x="71918" y="220358"/>
                </a:moveTo>
                <a:lnTo>
                  <a:pt x="66243" y="228347"/>
                </a:lnTo>
                <a:lnTo>
                  <a:pt x="71085" y="224981"/>
                </a:lnTo>
                <a:lnTo>
                  <a:pt x="71918" y="220358"/>
                </a:lnTo>
                <a:close/>
              </a:path>
              <a:path w="527685" h="486410">
                <a:moveTo>
                  <a:pt x="43554" y="216630"/>
                </a:moveTo>
                <a:lnTo>
                  <a:pt x="42962" y="219919"/>
                </a:lnTo>
                <a:lnTo>
                  <a:pt x="48125" y="227347"/>
                </a:lnTo>
                <a:lnTo>
                  <a:pt x="48622" y="227437"/>
                </a:lnTo>
                <a:lnTo>
                  <a:pt x="43554" y="216630"/>
                </a:lnTo>
                <a:close/>
              </a:path>
              <a:path w="527685" h="486410">
                <a:moveTo>
                  <a:pt x="118066" y="117792"/>
                </a:moveTo>
                <a:lnTo>
                  <a:pt x="88188" y="165561"/>
                </a:lnTo>
                <a:lnTo>
                  <a:pt x="74730" y="204264"/>
                </a:lnTo>
                <a:lnTo>
                  <a:pt x="72483" y="217215"/>
                </a:lnTo>
                <a:lnTo>
                  <a:pt x="71918" y="220358"/>
                </a:lnTo>
                <a:lnTo>
                  <a:pt x="132115" y="135618"/>
                </a:lnTo>
                <a:lnTo>
                  <a:pt x="130604" y="126699"/>
                </a:lnTo>
                <a:lnTo>
                  <a:pt x="118066" y="117792"/>
                </a:lnTo>
                <a:close/>
              </a:path>
              <a:path w="527685" h="486410">
                <a:moveTo>
                  <a:pt x="17364" y="108544"/>
                </a:moveTo>
                <a:lnTo>
                  <a:pt x="3075" y="115244"/>
                </a:lnTo>
                <a:lnTo>
                  <a:pt x="0" y="123751"/>
                </a:lnTo>
                <a:lnTo>
                  <a:pt x="43554" y="216630"/>
                </a:lnTo>
                <a:lnTo>
                  <a:pt x="44361" y="212153"/>
                </a:lnTo>
                <a:lnTo>
                  <a:pt x="47322" y="196178"/>
                </a:lnTo>
                <a:lnTo>
                  <a:pt x="53969" y="173911"/>
                </a:lnTo>
                <a:lnTo>
                  <a:pt x="54490" y="172648"/>
                </a:lnTo>
                <a:lnTo>
                  <a:pt x="25871" y="111619"/>
                </a:lnTo>
                <a:lnTo>
                  <a:pt x="17364" y="108544"/>
                </a:lnTo>
                <a:close/>
              </a:path>
              <a:path w="527685" h="486410">
                <a:moveTo>
                  <a:pt x="60959" y="186443"/>
                </a:moveTo>
                <a:lnTo>
                  <a:pt x="46775" y="206410"/>
                </a:lnTo>
                <a:lnTo>
                  <a:pt x="71358" y="208619"/>
                </a:lnTo>
                <a:lnTo>
                  <a:pt x="60959" y="186443"/>
                </a:lnTo>
                <a:close/>
              </a:path>
              <a:path w="527685" h="486410">
                <a:moveTo>
                  <a:pt x="117739" y="117560"/>
                </a:moveTo>
                <a:lnTo>
                  <a:pt x="108819" y="119070"/>
                </a:lnTo>
                <a:lnTo>
                  <a:pt x="60959" y="186443"/>
                </a:lnTo>
                <a:lnTo>
                  <a:pt x="71358" y="208619"/>
                </a:lnTo>
                <a:lnTo>
                  <a:pt x="73975" y="208619"/>
                </a:lnTo>
                <a:lnTo>
                  <a:pt x="74730" y="204264"/>
                </a:lnTo>
                <a:lnTo>
                  <a:pt x="80417" y="184729"/>
                </a:lnTo>
                <a:lnTo>
                  <a:pt x="88188" y="165561"/>
                </a:lnTo>
                <a:lnTo>
                  <a:pt x="97894" y="146941"/>
                </a:lnTo>
                <a:lnTo>
                  <a:pt x="109376" y="129054"/>
                </a:lnTo>
                <a:lnTo>
                  <a:pt x="118066" y="117792"/>
                </a:lnTo>
                <a:lnTo>
                  <a:pt x="117739" y="117560"/>
                </a:lnTo>
                <a:close/>
              </a:path>
              <a:path w="527685" h="486410">
                <a:moveTo>
                  <a:pt x="285366" y="0"/>
                </a:moveTo>
                <a:lnTo>
                  <a:pt x="239321" y="5333"/>
                </a:lnTo>
                <a:lnTo>
                  <a:pt x="195144" y="20681"/>
                </a:lnTo>
                <a:lnTo>
                  <a:pt x="154184" y="44449"/>
                </a:lnTo>
                <a:lnTo>
                  <a:pt x="117656" y="75182"/>
                </a:lnTo>
                <a:lnTo>
                  <a:pt x="86747" y="111619"/>
                </a:lnTo>
                <a:lnTo>
                  <a:pt x="62886" y="152283"/>
                </a:lnTo>
                <a:lnTo>
                  <a:pt x="54490" y="172648"/>
                </a:lnTo>
                <a:lnTo>
                  <a:pt x="60959" y="186443"/>
                </a:lnTo>
                <a:lnTo>
                  <a:pt x="108819" y="119070"/>
                </a:lnTo>
                <a:lnTo>
                  <a:pt x="117739" y="117560"/>
                </a:lnTo>
                <a:lnTo>
                  <a:pt x="118245" y="117560"/>
                </a:lnTo>
                <a:lnTo>
                  <a:pt x="122468" y="112086"/>
                </a:lnTo>
                <a:lnTo>
                  <a:pt x="137002" y="96213"/>
                </a:lnTo>
                <a:lnTo>
                  <a:pt x="169680" y="68456"/>
                </a:lnTo>
                <a:lnTo>
                  <a:pt x="205962" y="47129"/>
                </a:lnTo>
                <a:lnTo>
                  <a:pt x="244384" y="33456"/>
                </a:lnTo>
                <a:lnTo>
                  <a:pt x="283618" y="28521"/>
                </a:lnTo>
                <a:lnTo>
                  <a:pt x="388835" y="28521"/>
                </a:lnTo>
                <a:lnTo>
                  <a:pt x="375070" y="21254"/>
                </a:lnTo>
                <a:lnTo>
                  <a:pt x="353440" y="12338"/>
                </a:lnTo>
                <a:lnTo>
                  <a:pt x="331175" y="5692"/>
                </a:lnTo>
                <a:lnTo>
                  <a:pt x="308427" y="1511"/>
                </a:lnTo>
                <a:lnTo>
                  <a:pt x="285366" y="0"/>
                </a:lnTo>
                <a:close/>
              </a:path>
              <a:path w="527685" h="486410">
                <a:moveTo>
                  <a:pt x="118245" y="117560"/>
                </a:moveTo>
                <a:lnTo>
                  <a:pt x="117739" y="117560"/>
                </a:lnTo>
                <a:lnTo>
                  <a:pt x="118066" y="117792"/>
                </a:lnTo>
                <a:lnTo>
                  <a:pt x="118245" y="117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86784" y="5160263"/>
            <a:ext cx="551688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47159" y="5114544"/>
            <a:ext cx="630936" cy="725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33982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8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8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81984" y="5998463"/>
            <a:ext cx="551688" cy="548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42359" y="5952744"/>
            <a:ext cx="630936" cy="725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29182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8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8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77384" y="6074663"/>
            <a:ext cx="551688" cy="5486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85944" y="6028944"/>
            <a:ext cx="734568" cy="7254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24582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8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8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97289" y="5853139"/>
            <a:ext cx="527685" cy="486409"/>
          </a:xfrm>
          <a:custGeom>
            <a:avLst/>
            <a:gdLst/>
            <a:ahLst/>
            <a:cxnLst/>
            <a:rect l="l" t="t" r="r" b="b"/>
            <a:pathLst>
              <a:path w="527685" h="486410">
                <a:moveTo>
                  <a:pt x="388836" y="28521"/>
                </a:moveTo>
                <a:lnTo>
                  <a:pt x="283617" y="28521"/>
                </a:lnTo>
                <a:lnTo>
                  <a:pt x="303363" y="29633"/>
                </a:lnTo>
                <a:lnTo>
                  <a:pt x="323088" y="33098"/>
                </a:lnTo>
                <a:lnTo>
                  <a:pt x="361792" y="46557"/>
                </a:lnTo>
                <a:lnTo>
                  <a:pt x="398297" y="67744"/>
                </a:lnTo>
                <a:lnTo>
                  <a:pt x="431139" y="95370"/>
                </a:lnTo>
                <a:lnTo>
                  <a:pt x="458895" y="128049"/>
                </a:lnTo>
                <a:lnTo>
                  <a:pt x="480222" y="164330"/>
                </a:lnTo>
                <a:lnTo>
                  <a:pt x="493896" y="202752"/>
                </a:lnTo>
                <a:lnTo>
                  <a:pt x="498831" y="241986"/>
                </a:lnTo>
                <a:lnTo>
                  <a:pt x="497719" y="261732"/>
                </a:lnTo>
                <a:lnTo>
                  <a:pt x="488566" y="300992"/>
                </a:lnTo>
                <a:lnTo>
                  <a:pt x="471089" y="338780"/>
                </a:lnTo>
                <a:lnTo>
                  <a:pt x="446515" y="373635"/>
                </a:lnTo>
                <a:lnTo>
                  <a:pt x="416185" y="404107"/>
                </a:lnTo>
                <a:lnTo>
                  <a:pt x="381521" y="428811"/>
                </a:lnTo>
                <a:lnTo>
                  <a:pt x="343989" y="446455"/>
                </a:lnTo>
                <a:lnTo>
                  <a:pt x="305022" y="455888"/>
                </a:lnTo>
                <a:lnTo>
                  <a:pt x="275742" y="457682"/>
                </a:lnTo>
                <a:lnTo>
                  <a:pt x="269749" y="464458"/>
                </a:lnTo>
                <a:lnTo>
                  <a:pt x="270714" y="480210"/>
                </a:lnTo>
                <a:lnTo>
                  <a:pt x="277489" y="486204"/>
                </a:lnTo>
                <a:lnTo>
                  <a:pt x="306769" y="484409"/>
                </a:lnTo>
                <a:lnTo>
                  <a:pt x="352075" y="473862"/>
                </a:lnTo>
                <a:lnTo>
                  <a:pt x="394798" y="454113"/>
                </a:lnTo>
                <a:lnTo>
                  <a:pt x="433693" y="426690"/>
                </a:lnTo>
                <a:lnTo>
                  <a:pt x="467545" y="392980"/>
                </a:lnTo>
                <a:lnTo>
                  <a:pt x="495098" y="354277"/>
                </a:lnTo>
                <a:lnTo>
                  <a:pt x="515014" y="311810"/>
                </a:lnTo>
                <a:lnTo>
                  <a:pt x="525842" y="266795"/>
                </a:lnTo>
                <a:lnTo>
                  <a:pt x="527353" y="243734"/>
                </a:lnTo>
                <a:lnTo>
                  <a:pt x="526041" y="220583"/>
                </a:lnTo>
                <a:lnTo>
                  <a:pt x="515494" y="175277"/>
                </a:lnTo>
                <a:lnTo>
                  <a:pt x="495745" y="132553"/>
                </a:lnTo>
                <a:lnTo>
                  <a:pt x="468321" y="93658"/>
                </a:lnTo>
                <a:lnTo>
                  <a:pt x="434611" y="59807"/>
                </a:lnTo>
                <a:lnTo>
                  <a:pt x="395908" y="32254"/>
                </a:lnTo>
                <a:lnTo>
                  <a:pt x="388836" y="28521"/>
                </a:lnTo>
                <a:close/>
              </a:path>
              <a:path w="527685" h="486410">
                <a:moveTo>
                  <a:pt x="48622" y="227437"/>
                </a:moveTo>
                <a:lnTo>
                  <a:pt x="55886" y="242926"/>
                </a:lnTo>
                <a:lnTo>
                  <a:pt x="64966" y="230144"/>
                </a:lnTo>
                <a:lnTo>
                  <a:pt x="63657" y="230144"/>
                </a:lnTo>
                <a:lnTo>
                  <a:pt x="48622" y="227437"/>
                </a:lnTo>
                <a:close/>
              </a:path>
              <a:path w="527685" h="486410">
                <a:moveTo>
                  <a:pt x="54490" y="172648"/>
                </a:moveTo>
                <a:lnTo>
                  <a:pt x="53969" y="173911"/>
                </a:lnTo>
                <a:lnTo>
                  <a:pt x="47322" y="196178"/>
                </a:lnTo>
                <a:lnTo>
                  <a:pt x="44361" y="212153"/>
                </a:lnTo>
                <a:lnTo>
                  <a:pt x="43554" y="216630"/>
                </a:lnTo>
                <a:lnTo>
                  <a:pt x="48622" y="227437"/>
                </a:lnTo>
                <a:lnTo>
                  <a:pt x="63657" y="230144"/>
                </a:lnTo>
                <a:lnTo>
                  <a:pt x="66242" y="228347"/>
                </a:lnTo>
                <a:lnTo>
                  <a:pt x="71918" y="220358"/>
                </a:lnTo>
                <a:lnTo>
                  <a:pt x="72585" y="216630"/>
                </a:lnTo>
                <a:lnTo>
                  <a:pt x="73975" y="208618"/>
                </a:lnTo>
                <a:lnTo>
                  <a:pt x="71358" y="208618"/>
                </a:lnTo>
                <a:lnTo>
                  <a:pt x="46775" y="206410"/>
                </a:lnTo>
                <a:lnTo>
                  <a:pt x="60959" y="186443"/>
                </a:lnTo>
                <a:lnTo>
                  <a:pt x="54490" y="172648"/>
                </a:lnTo>
                <a:close/>
              </a:path>
              <a:path w="527685" h="486410">
                <a:moveTo>
                  <a:pt x="66242" y="228347"/>
                </a:moveTo>
                <a:lnTo>
                  <a:pt x="63657" y="230144"/>
                </a:lnTo>
                <a:lnTo>
                  <a:pt x="64966" y="230144"/>
                </a:lnTo>
                <a:lnTo>
                  <a:pt x="66242" y="228347"/>
                </a:lnTo>
                <a:close/>
              </a:path>
              <a:path w="527685" h="486410">
                <a:moveTo>
                  <a:pt x="71918" y="220358"/>
                </a:moveTo>
                <a:lnTo>
                  <a:pt x="66242" y="228347"/>
                </a:lnTo>
                <a:lnTo>
                  <a:pt x="71085" y="224982"/>
                </a:lnTo>
                <a:lnTo>
                  <a:pt x="71918" y="220358"/>
                </a:lnTo>
                <a:close/>
              </a:path>
              <a:path w="527685" h="486410">
                <a:moveTo>
                  <a:pt x="43554" y="216630"/>
                </a:moveTo>
                <a:lnTo>
                  <a:pt x="42962" y="219919"/>
                </a:lnTo>
                <a:lnTo>
                  <a:pt x="48125" y="227348"/>
                </a:lnTo>
                <a:lnTo>
                  <a:pt x="48622" y="227437"/>
                </a:lnTo>
                <a:lnTo>
                  <a:pt x="43554" y="216630"/>
                </a:lnTo>
                <a:close/>
              </a:path>
              <a:path w="527685" h="486410">
                <a:moveTo>
                  <a:pt x="118066" y="117792"/>
                </a:moveTo>
                <a:lnTo>
                  <a:pt x="88188" y="165560"/>
                </a:lnTo>
                <a:lnTo>
                  <a:pt x="74730" y="204264"/>
                </a:lnTo>
                <a:lnTo>
                  <a:pt x="72483" y="217216"/>
                </a:lnTo>
                <a:lnTo>
                  <a:pt x="71918" y="220358"/>
                </a:lnTo>
                <a:lnTo>
                  <a:pt x="132115" y="135618"/>
                </a:lnTo>
                <a:lnTo>
                  <a:pt x="130604" y="126699"/>
                </a:lnTo>
                <a:lnTo>
                  <a:pt x="118066" y="117792"/>
                </a:lnTo>
                <a:close/>
              </a:path>
              <a:path w="527685" h="486410">
                <a:moveTo>
                  <a:pt x="17364" y="108543"/>
                </a:moveTo>
                <a:lnTo>
                  <a:pt x="3075" y="115244"/>
                </a:lnTo>
                <a:lnTo>
                  <a:pt x="0" y="123751"/>
                </a:lnTo>
                <a:lnTo>
                  <a:pt x="43554" y="216630"/>
                </a:lnTo>
                <a:lnTo>
                  <a:pt x="44361" y="212153"/>
                </a:lnTo>
                <a:lnTo>
                  <a:pt x="47322" y="196178"/>
                </a:lnTo>
                <a:lnTo>
                  <a:pt x="53969" y="173911"/>
                </a:lnTo>
                <a:lnTo>
                  <a:pt x="54490" y="172648"/>
                </a:lnTo>
                <a:lnTo>
                  <a:pt x="25871" y="111619"/>
                </a:lnTo>
                <a:lnTo>
                  <a:pt x="17364" y="108543"/>
                </a:lnTo>
                <a:close/>
              </a:path>
              <a:path w="527685" h="486410">
                <a:moveTo>
                  <a:pt x="60959" y="186443"/>
                </a:moveTo>
                <a:lnTo>
                  <a:pt x="46775" y="206410"/>
                </a:lnTo>
                <a:lnTo>
                  <a:pt x="71358" y="208618"/>
                </a:lnTo>
                <a:lnTo>
                  <a:pt x="60959" y="186443"/>
                </a:lnTo>
                <a:close/>
              </a:path>
              <a:path w="527685" h="486410">
                <a:moveTo>
                  <a:pt x="117739" y="117559"/>
                </a:moveTo>
                <a:lnTo>
                  <a:pt x="108819" y="119070"/>
                </a:lnTo>
                <a:lnTo>
                  <a:pt x="60959" y="186443"/>
                </a:lnTo>
                <a:lnTo>
                  <a:pt x="71358" y="208618"/>
                </a:lnTo>
                <a:lnTo>
                  <a:pt x="73975" y="208618"/>
                </a:lnTo>
                <a:lnTo>
                  <a:pt x="74730" y="204264"/>
                </a:lnTo>
                <a:lnTo>
                  <a:pt x="80417" y="184729"/>
                </a:lnTo>
                <a:lnTo>
                  <a:pt x="88188" y="165560"/>
                </a:lnTo>
                <a:lnTo>
                  <a:pt x="97894" y="146941"/>
                </a:lnTo>
                <a:lnTo>
                  <a:pt x="109376" y="129055"/>
                </a:lnTo>
                <a:lnTo>
                  <a:pt x="118066" y="117792"/>
                </a:lnTo>
                <a:lnTo>
                  <a:pt x="117739" y="117559"/>
                </a:lnTo>
                <a:close/>
              </a:path>
              <a:path w="527685" h="486410">
                <a:moveTo>
                  <a:pt x="285366" y="0"/>
                </a:moveTo>
                <a:lnTo>
                  <a:pt x="239321" y="5333"/>
                </a:lnTo>
                <a:lnTo>
                  <a:pt x="195144" y="20681"/>
                </a:lnTo>
                <a:lnTo>
                  <a:pt x="154184" y="44449"/>
                </a:lnTo>
                <a:lnTo>
                  <a:pt x="117656" y="75182"/>
                </a:lnTo>
                <a:lnTo>
                  <a:pt x="86746" y="111619"/>
                </a:lnTo>
                <a:lnTo>
                  <a:pt x="62886" y="152282"/>
                </a:lnTo>
                <a:lnTo>
                  <a:pt x="54490" y="172648"/>
                </a:lnTo>
                <a:lnTo>
                  <a:pt x="60959" y="186443"/>
                </a:lnTo>
                <a:lnTo>
                  <a:pt x="108819" y="119070"/>
                </a:lnTo>
                <a:lnTo>
                  <a:pt x="117739" y="117559"/>
                </a:lnTo>
                <a:lnTo>
                  <a:pt x="118245" y="117559"/>
                </a:lnTo>
                <a:lnTo>
                  <a:pt x="122468" y="112086"/>
                </a:lnTo>
                <a:lnTo>
                  <a:pt x="137002" y="96213"/>
                </a:lnTo>
                <a:lnTo>
                  <a:pt x="169680" y="68457"/>
                </a:lnTo>
                <a:lnTo>
                  <a:pt x="205962" y="47130"/>
                </a:lnTo>
                <a:lnTo>
                  <a:pt x="244384" y="33456"/>
                </a:lnTo>
                <a:lnTo>
                  <a:pt x="283617" y="28521"/>
                </a:lnTo>
                <a:lnTo>
                  <a:pt x="388836" y="28521"/>
                </a:lnTo>
                <a:lnTo>
                  <a:pt x="375070" y="21254"/>
                </a:lnTo>
                <a:lnTo>
                  <a:pt x="353440" y="12338"/>
                </a:lnTo>
                <a:lnTo>
                  <a:pt x="331175" y="5691"/>
                </a:lnTo>
                <a:lnTo>
                  <a:pt x="308427" y="1510"/>
                </a:lnTo>
                <a:lnTo>
                  <a:pt x="285366" y="0"/>
                </a:lnTo>
                <a:close/>
              </a:path>
              <a:path w="527685" h="486410">
                <a:moveTo>
                  <a:pt x="118245" y="117559"/>
                </a:moveTo>
                <a:lnTo>
                  <a:pt x="117739" y="117559"/>
                </a:lnTo>
                <a:lnTo>
                  <a:pt x="118066" y="117792"/>
                </a:lnTo>
                <a:lnTo>
                  <a:pt x="118245" y="1175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60006" y="5529398"/>
            <a:ext cx="1922054" cy="8516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27680" y="5638800"/>
            <a:ext cx="762000" cy="608965"/>
          </a:xfrm>
          <a:custGeom>
            <a:avLst/>
            <a:gdLst/>
            <a:ahLst/>
            <a:cxnLst/>
            <a:rect l="l" t="t" r="r" b="b"/>
            <a:pathLst>
              <a:path w="762000" h="608964">
                <a:moveTo>
                  <a:pt x="0" y="152206"/>
                </a:moveTo>
                <a:lnTo>
                  <a:pt x="457586" y="152206"/>
                </a:lnTo>
                <a:lnTo>
                  <a:pt x="457586" y="0"/>
                </a:lnTo>
                <a:lnTo>
                  <a:pt x="762000" y="304414"/>
                </a:lnTo>
                <a:lnTo>
                  <a:pt x="457586" y="608828"/>
                </a:lnTo>
                <a:lnTo>
                  <a:pt x="457586" y="456621"/>
                </a:lnTo>
                <a:lnTo>
                  <a:pt x="0" y="456621"/>
                </a:lnTo>
                <a:lnTo>
                  <a:pt x="0" y="15220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64107" y="4938739"/>
            <a:ext cx="527685" cy="486409"/>
          </a:xfrm>
          <a:custGeom>
            <a:avLst/>
            <a:gdLst/>
            <a:ahLst/>
            <a:cxnLst/>
            <a:rect l="l" t="t" r="r" b="b"/>
            <a:pathLst>
              <a:path w="527684" h="486410">
                <a:moveTo>
                  <a:pt x="388835" y="28521"/>
                </a:moveTo>
                <a:lnTo>
                  <a:pt x="283618" y="28521"/>
                </a:lnTo>
                <a:lnTo>
                  <a:pt x="303364" y="29634"/>
                </a:lnTo>
                <a:lnTo>
                  <a:pt x="323087" y="33098"/>
                </a:lnTo>
                <a:lnTo>
                  <a:pt x="361792" y="46556"/>
                </a:lnTo>
                <a:lnTo>
                  <a:pt x="398297" y="67744"/>
                </a:lnTo>
                <a:lnTo>
                  <a:pt x="431139" y="95370"/>
                </a:lnTo>
                <a:lnTo>
                  <a:pt x="458895" y="128049"/>
                </a:lnTo>
                <a:lnTo>
                  <a:pt x="480222" y="164330"/>
                </a:lnTo>
                <a:lnTo>
                  <a:pt x="493896" y="202752"/>
                </a:lnTo>
                <a:lnTo>
                  <a:pt x="498831" y="241987"/>
                </a:lnTo>
                <a:lnTo>
                  <a:pt x="497719" y="261733"/>
                </a:lnTo>
                <a:lnTo>
                  <a:pt x="488566" y="300992"/>
                </a:lnTo>
                <a:lnTo>
                  <a:pt x="471089" y="338780"/>
                </a:lnTo>
                <a:lnTo>
                  <a:pt x="446515" y="373635"/>
                </a:lnTo>
                <a:lnTo>
                  <a:pt x="416185" y="404107"/>
                </a:lnTo>
                <a:lnTo>
                  <a:pt x="381521" y="428811"/>
                </a:lnTo>
                <a:lnTo>
                  <a:pt x="343989" y="446455"/>
                </a:lnTo>
                <a:lnTo>
                  <a:pt x="305022" y="455888"/>
                </a:lnTo>
                <a:lnTo>
                  <a:pt x="275742" y="457682"/>
                </a:lnTo>
                <a:lnTo>
                  <a:pt x="269749" y="464458"/>
                </a:lnTo>
                <a:lnTo>
                  <a:pt x="270714" y="480211"/>
                </a:lnTo>
                <a:lnTo>
                  <a:pt x="277489" y="486204"/>
                </a:lnTo>
                <a:lnTo>
                  <a:pt x="306769" y="484409"/>
                </a:lnTo>
                <a:lnTo>
                  <a:pt x="352075" y="473862"/>
                </a:lnTo>
                <a:lnTo>
                  <a:pt x="394799" y="454113"/>
                </a:lnTo>
                <a:lnTo>
                  <a:pt x="433694" y="426689"/>
                </a:lnTo>
                <a:lnTo>
                  <a:pt x="467546" y="392981"/>
                </a:lnTo>
                <a:lnTo>
                  <a:pt x="495098" y="354276"/>
                </a:lnTo>
                <a:lnTo>
                  <a:pt x="515015" y="311810"/>
                </a:lnTo>
                <a:lnTo>
                  <a:pt x="525842" y="266795"/>
                </a:lnTo>
                <a:lnTo>
                  <a:pt x="527353" y="243734"/>
                </a:lnTo>
                <a:lnTo>
                  <a:pt x="526041" y="220583"/>
                </a:lnTo>
                <a:lnTo>
                  <a:pt x="515494" y="175276"/>
                </a:lnTo>
                <a:lnTo>
                  <a:pt x="495745" y="132553"/>
                </a:lnTo>
                <a:lnTo>
                  <a:pt x="468321" y="93658"/>
                </a:lnTo>
                <a:lnTo>
                  <a:pt x="434613" y="59806"/>
                </a:lnTo>
                <a:lnTo>
                  <a:pt x="395908" y="32255"/>
                </a:lnTo>
                <a:lnTo>
                  <a:pt x="388835" y="28521"/>
                </a:lnTo>
                <a:close/>
              </a:path>
              <a:path w="527684" h="486410">
                <a:moveTo>
                  <a:pt x="48622" y="227437"/>
                </a:moveTo>
                <a:lnTo>
                  <a:pt x="55886" y="242926"/>
                </a:lnTo>
                <a:lnTo>
                  <a:pt x="64966" y="230144"/>
                </a:lnTo>
                <a:lnTo>
                  <a:pt x="63657" y="230144"/>
                </a:lnTo>
                <a:lnTo>
                  <a:pt x="48622" y="227437"/>
                </a:lnTo>
                <a:close/>
              </a:path>
              <a:path w="527684" h="486410">
                <a:moveTo>
                  <a:pt x="54490" y="172647"/>
                </a:moveTo>
                <a:lnTo>
                  <a:pt x="53969" y="173911"/>
                </a:lnTo>
                <a:lnTo>
                  <a:pt x="47324" y="196178"/>
                </a:lnTo>
                <a:lnTo>
                  <a:pt x="44362" y="212153"/>
                </a:lnTo>
                <a:lnTo>
                  <a:pt x="43555" y="216632"/>
                </a:lnTo>
                <a:lnTo>
                  <a:pt x="48622" y="227437"/>
                </a:lnTo>
                <a:lnTo>
                  <a:pt x="63657" y="230144"/>
                </a:lnTo>
                <a:lnTo>
                  <a:pt x="66243" y="228347"/>
                </a:lnTo>
                <a:lnTo>
                  <a:pt x="71919" y="220356"/>
                </a:lnTo>
                <a:lnTo>
                  <a:pt x="72586" y="216632"/>
                </a:lnTo>
                <a:lnTo>
                  <a:pt x="73975" y="208619"/>
                </a:lnTo>
                <a:lnTo>
                  <a:pt x="71358" y="208619"/>
                </a:lnTo>
                <a:lnTo>
                  <a:pt x="46775" y="206410"/>
                </a:lnTo>
                <a:lnTo>
                  <a:pt x="60959" y="186443"/>
                </a:lnTo>
                <a:lnTo>
                  <a:pt x="54490" y="172647"/>
                </a:lnTo>
                <a:close/>
              </a:path>
              <a:path w="527684" h="486410">
                <a:moveTo>
                  <a:pt x="66243" y="228347"/>
                </a:moveTo>
                <a:lnTo>
                  <a:pt x="63657" y="230144"/>
                </a:lnTo>
                <a:lnTo>
                  <a:pt x="64966" y="230144"/>
                </a:lnTo>
                <a:lnTo>
                  <a:pt x="66243" y="228347"/>
                </a:lnTo>
                <a:close/>
              </a:path>
              <a:path w="527684" h="486410">
                <a:moveTo>
                  <a:pt x="71919" y="220356"/>
                </a:moveTo>
                <a:lnTo>
                  <a:pt x="66243" y="228347"/>
                </a:lnTo>
                <a:lnTo>
                  <a:pt x="71086" y="224981"/>
                </a:lnTo>
                <a:lnTo>
                  <a:pt x="71919" y="220356"/>
                </a:lnTo>
                <a:close/>
              </a:path>
              <a:path w="527684" h="486410">
                <a:moveTo>
                  <a:pt x="43555" y="216632"/>
                </a:moveTo>
                <a:lnTo>
                  <a:pt x="42964" y="219919"/>
                </a:lnTo>
                <a:lnTo>
                  <a:pt x="48125" y="227347"/>
                </a:lnTo>
                <a:lnTo>
                  <a:pt x="48622" y="227437"/>
                </a:lnTo>
                <a:lnTo>
                  <a:pt x="43555" y="216632"/>
                </a:lnTo>
                <a:close/>
              </a:path>
              <a:path w="527684" h="486410">
                <a:moveTo>
                  <a:pt x="118066" y="117792"/>
                </a:moveTo>
                <a:lnTo>
                  <a:pt x="88188" y="165561"/>
                </a:lnTo>
                <a:lnTo>
                  <a:pt x="74730" y="204264"/>
                </a:lnTo>
                <a:lnTo>
                  <a:pt x="72485" y="217215"/>
                </a:lnTo>
                <a:lnTo>
                  <a:pt x="71919" y="220356"/>
                </a:lnTo>
                <a:lnTo>
                  <a:pt x="132115" y="135618"/>
                </a:lnTo>
                <a:lnTo>
                  <a:pt x="130605" y="126699"/>
                </a:lnTo>
                <a:lnTo>
                  <a:pt x="118066" y="117792"/>
                </a:lnTo>
                <a:close/>
              </a:path>
              <a:path w="527684" h="486410">
                <a:moveTo>
                  <a:pt x="17364" y="108544"/>
                </a:moveTo>
                <a:lnTo>
                  <a:pt x="3075" y="115244"/>
                </a:lnTo>
                <a:lnTo>
                  <a:pt x="0" y="123751"/>
                </a:lnTo>
                <a:lnTo>
                  <a:pt x="43555" y="216632"/>
                </a:lnTo>
                <a:lnTo>
                  <a:pt x="44362" y="212153"/>
                </a:lnTo>
                <a:lnTo>
                  <a:pt x="47324" y="196178"/>
                </a:lnTo>
                <a:lnTo>
                  <a:pt x="53969" y="173911"/>
                </a:lnTo>
                <a:lnTo>
                  <a:pt x="54490" y="172647"/>
                </a:lnTo>
                <a:lnTo>
                  <a:pt x="25872" y="111619"/>
                </a:lnTo>
                <a:lnTo>
                  <a:pt x="17364" y="108544"/>
                </a:lnTo>
                <a:close/>
              </a:path>
              <a:path w="527684" h="486410">
                <a:moveTo>
                  <a:pt x="60959" y="186443"/>
                </a:moveTo>
                <a:lnTo>
                  <a:pt x="46775" y="206410"/>
                </a:lnTo>
                <a:lnTo>
                  <a:pt x="71358" y="208619"/>
                </a:lnTo>
                <a:lnTo>
                  <a:pt x="60959" y="186443"/>
                </a:lnTo>
                <a:close/>
              </a:path>
              <a:path w="527684" h="486410">
                <a:moveTo>
                  <a:pt x="117739" y="117560"/>
                </a:moveTo>
                <a:lnTo>
                  <a:pt x="108819" y="119070"/>
                </a:lnTo>
                <a:lnTo>
                  <a:pt x="60959" y="186443"/>
                </a:lnTo>
                <a:lnTo>
                  <a:pt x="71358" y="208619"/>
                </a:lnTo>
                <a:lnTo>
                  <a:pt x="73975" y="208619"/>
                </a:lnTo>
                <a:lnTo>
                  <a:pt x="74730" y="204264"/>
                </a:lnTo>
                <a:lnTo>
                  <a:pt x="80417" y="184729"/>
                </a:lnTo>
                <a:lnTo>
                  <a:pt x="88188" y="165561"/>
                </a:lnTo>
                <a:lnTo>
                  <a:pt x="97894" y="146941"/>
                </a:lnTo>
                <a:lnTo>
                  <a:pt x="109376" y="129054"/>
                </a:lnTo>
                <a:lnTo>
                  <a:pt x="118066" y="117792"/>
                </a:lnTo>
                <a:lnTo>
                  <a:pt x="117739" y="117560"/>
                </a:lnTo>
                <a:close/>
              </a:path>
              <a:path w="527684" h="486410">
                <a:moveTo>
                  <a:pt x="285366" y="0"/>
                </a:moveTo>
                <a:lnTo>
                  <a:pt x="239321" y="5333"/>
                </a:lnTo>
                <a:lnTo>
                  <a:pt x="195144" y="20681"/>
                </a:lnTo>
                <a:lnTo>
                  <a:pt x="154184" y="44449"/>
                </a:lnTo>
                <a:lnTo>
                  <a:pt x="117657" y="75182"/>
                </a:lnTo>
                <a:lnTo>
                  <a:pt x="86747" y="111619"/>
                </a:lnTo>
                <a:lnTo>
                  <a:pt x="62886" y="152283"/>
                </a:lnTo>
                <a:lnTo>
                  <a:pt x="54490" y="172647"/>
                </a:lnTo>
                <a:lnTo>
                  <a:pt x="60959" y="186443"/>
                </a:lnTo>
                <a:lnTo>
                  <a:pt x="108819" y="119070"/>
                </a:lnTo>
                <a:lnTo>
                  <a:pt x="117739" y="117560"/>
                </a:lnTo>
                <a:lnTo>
                  <a:pt x="118246" y="117560"/>
                </a:lnTo>
                <a:lnTo>
                  <a:pt x="122469" y="112086"/>
                </a:lnTo>
                <a:lnTo>
                  <a:pt x="137002" y="96213"/>
                </a:lnTo>
                <a:lnTo>
                  <a:pt x="169680" y="68456"/>
                </a:lnTo>
                <a:lnTo>
                  <a:pt x="205962" y="47129"/>
                </a:lnTo>
                <a:lnTo>
                  <a:pt x="244384" y="33456"/>
                </a:lnTo>
                <a:lnTo>
                  <a:pt x="283618" y="28521"/>
                </a:lnTo>
                <a:lnTo>
                  <a:pt x="388835" y="28521"/>
                </a:lnTo>
                <a:lnTo>
                  <a:pt x="375070" y="21254"/>
                </a:lnTo>
                <a:lnTo>
                  <a:pt x="353442" y="12338"/>
                </a:lnTo>
                <a:lnTo>
                  <a:pt x="331175" y="5692"/>
                </a:lnTo>
                <a:lnTo>
                  <a:pt x="308427" y="1511"/>
                </a:lnTo>
                <a:lnTo>
                  <a:pt x="285366" y="0"/>
                </a:lnTo>
                <a:close/>
              </a:path>
              <a:path w="527684" h="486410">
                <a:moveTo>
                  <a:pt x="118246" y="117560"/>
                </a:moveTo>
                <a:lnTo>
                  <a:pt x="117739" y="117560"/>
                </a:lnTo>
                <a:lnTo>
                  <a:pt x="118066" y="117792"/>
                </a:lnTo>
                <a:lnTo>
                  <a:pt x="118246" y="117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45680" y="5160263"/>
            <a:ext cx="548640" cy="5486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03007" y="5114544"/>
            <a:ext cx="633983" cy="7254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91400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18108" y="2334749"/>
            <a:ext cx="8022590" cy="3259454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5">
                <a:latin typeface="Calibri"/>
                <a:cs typeface="Calibri"/>
              </a:rPr>
              <a:t>prob. </a:t>
            </a:r>
            <a:r>
              <a:rPr dirty="0" sz="2900" spc="-40" b="1" i="1">
                <a:latin typeface="Symbol"/>
                <a:cs typeface="Symbol"/>
              </a:rPr>
              <a:t></a:t>
            </a:r>
            <a:r>
              <a:rPr dirty="0" sz="2800" spc="-40">
                <a:latin typeface="Calibri"/>
                <a:cs typeface="Calibri"/>
              </a:rPr>
              <a:t>, </a:t>
            </a:r>
            <a:r>
              <a:rPr dirty="0" sz="2800" spc="-20">
                <a:latin typeface="Calibri"/>
                <a:cs typeface="Calibri"/>
              </a:rPr>
              <a:t>follow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link </a:t>
            </a:r>
            <a:r>
              <a:rPr dirty="0" sz="2800" spc="-15">
                <a:latin typeface="Calibri"/>
                <a:cs typeface="Calibri"/>
              </a:rPr>
              <a:t>at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random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5">
                <a:latin typeface="Calibri"/>
                <a:cs typeface="Calibri"/>
              </a:rPr>
              <a:t>prob. </a:t>
            </a:r>
            <a:r>
              <a:rPr dirty="0" sz="2800" spc="-20" b="1">
                <a:latin typeface="Calibri"/>
                <a:cs typeface="Calibri"/>
              </a:rPr>
              <a:t>1-</a:t>
            </a:r>
            <a:r>
              <a:rPr dirty="0" sz="2900" spc="-20" b="1" i="1">
                <a:latin typeface="Symbol"/>
                <a:cs typeface="Symbol"/>
              </a:rPr>
              <a:t></a:t>
            </a:r>
            <a:r>
              <a:rPr dirty="0" sz="2800" spc="-20" b="1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jump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random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page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44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3865245" algn="l"/>
              </a:tabLst>
            </a:pPr>
            <a:r>
              <a:rPr dirty="0" sz="2800" spc="-5">
                <a:latin typeface="Calibri"/>
                <a:cs typeface="Calibri"/>
              </a:rPr>
              <a:t>Common </a:t>
            </a:r>
            <a:r>
              <a:rPr dirty="0" sz="2800" spc="-15">
                <a:latin typeface="Calibri"/>
                <a:cs typeface="Calibri"/>
              </a:rPr>
              <a:t>values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900" spc="-60" b="1" i="1">
                <a:latin typeface="Symbol"/>
                <a:cs typeface="Symbol"/>
              </a:rPr>
              <a:t></a:t>
            </a:r>
            <a:r>
              <a:rPr dirty="0" sz="2900" spc="-6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in the </a:t>
            </a:r>
            <a:r>
              <a:rPr dirty="0" sz="2800" spc="-20">
                <a:latin typeface="Calibri"/>
                <a:cs typeface="Calibri"/>
              </a:rPr>
              <a:t>range </a:t>
            </a:r>
            <a:r>
              <a:rPr dirty="0" sz="2800">
                <a:latin typeface="Calibri"/>
                <a:cs typeface="Calibri"/>
              </a:rPr>
              <a:t>0.8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0.9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1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Surfer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will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teleport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out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spider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trap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within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 </a:t>
            </a:r>
            <a:r>
              <a:rPr dirty="0" sz="3200" spc="-30" b="1">
                <a:solidFill>
                  <a:srgbClr val="0000FF"/>
                </a:solidFill>
                <a:latin typeface="Calibri"/>
                <a:cs typeface="Calibri"/>
              </a:rPr>
              <a:t>few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time</a:t>
            </a:r>
            <a:r>
              <a:rPr dirty="0" sz="3200" spc="-4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steps</a:t>
            </a:r>
            <a:endParaRPr sz="3200">
              <a:latin typeface="Calibri"/>
              <a:cs typeface="Calibri"/>
            </a:endParaRPr>
          </a:p>
          <a:p>
            <a:pPr marL="3559175">
              <a:lnSpc>
                <a:spcPct val="100000"/>
              </a:lnSpc>
              <a:spcBef>
                <a:spcPts val="2790"/>
              </a:spcBef>
              <a:tabLst>
                <a:tab pos="6916420" algn="l"/>
              </a:tabLst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y	y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40880" y="5998463"/>
            <a:ext cx="548640" cy="5486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98207" y="5952744"/>
            <a:ext cx="633983" cy="7254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866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860151" y="6040628"/>
            <a:ext cx="35528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9945" algn="l"/>
              </a:tabLst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	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36280" y="6074663"/>
            <a:ext cx="548640" cy="54864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244840" y="6028944"/>
            <a:ext cx="731520" cy="72542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382000" y="609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599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199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599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104751" y="6116828"/>
            <a:ext cx="3654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9945" algn="l"/>
              </a:tabLst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m	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6"/>
              </a:rPr>
              <a:t>http://cs224w.stanford.edu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544372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72070" cy="151828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/>
              <a:t>Teleports: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Follow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random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teleport links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with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total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probability </a:t>
            </a:r>
            <a:r>
              <a:rPr dirty="0" spc="-5">
                <a:solidFill>
                  <a:srgbClr val="000000"/>
                </a:solidFill>
              </a:rPr>
              <a:t>1.0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dirty="0" spc="9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dead-ends</a:t>
            </a: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Adjust </a:t>
            </a:r>
            <a:r>
              <a:rPr dirty="0" sz="2800" spc="-10">
                <a:latin typeface="Calibri"/>
                <a:cs typeface="Calibri"/>
              </a:rPr>
              <a:t>matrix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accordingly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9805" y="3746834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5">
                <a:moveTo>
                  <a:pt x="292259" y="48801"/>
                </a:moveTo>
                <a:lnTo>
                  <a:pt x="267488" y="62600"/>
                </a:lnTo>
                <a:lnTo>
                  <a:pt x="0" y="514479"/>
                </a:lnTo>
                <a:lnTo>
                  <a:pt x="2245" y="523242"/>
                </a:lnTo>
                <a:lnTo>
                  <a:pt x="15826" y="531281"/>
                </a:lnTo>
                <a:lnTo>
                  <a:pt x="24589" y="529035"/>
                </a:lnTo>
                <a:lnTo>
                  <a:pt x="292077" y="77156"/>
                </a:lnTo>
                <a:lnTo>
                  <a:pt x="292259" y="48801"/>
                </a:lnTo>
                <a:close/>
              </a:path>
              <a:path w="323214" h="531495">
                <a:moveTo>
                  <a:pt x="320965" y="28355"/>
                </a:moveTo>
                <a:lnTo>
                  <a:pt x="292077" y="77156"/>
                </a:lnTo>
                <a:lnTo>
                  <a:pt x="291730" y="131442"/>
                </a:lnTo>
                <a:lnTo>
                  <a:pt x="298085" y="137880"/>
                </a:lnTo>
                <a:lnTo>
                  <a:pt x="313867" y="137980"/>
                </a:lnTo>
                <a:lnTo>
                  <a:pt x="320304" y="131625"/>
                </a:lnTo>
                <a:lnTo>
                  <a:pt x="320965" y="28355"/>
                </a:lnTo>
                <a:close/>
              </a:path>
              <a:path w="323214" h="531495">
                <a:moveTo>
                  <a:pt x="296376" y="13798"/>
                </a:moveTo>
                <a:lnTo>
                  <a:pt x="206157" y="64056"/>
                </a:lnTo>
                <a:lnTo>
                  <a:pt x="203682" y="72757"/>
                </a:lnTo>
                <a:lnTo>
                  <a:pt x="211362" y="86544"/>
                </a:lnTo>
                <a:lnTo>
                  <a:pt x="220063" y="89019"/>
                </a:lnTo>
                <a:lnTo>
                  <a:pt x="267488" y="62600"/>
                </a:lnTo>
                <a:lnTo>
                  <a:pt x="296376" y="13798"/>
                </a:lnTo>
                <a:close/>
              </a:path>
              <a:path w="323214" h="531495">
                <a:moveTo>
                  <a:pt x="320991" y="24309"/>
                </a:moveTo>
                <a:lnTo>
                  <a:pt x="292416" y="24309"/>
                </a:lnTo>
                <a:lnTo>
                  <a:pt x="313656" y="36882"/>
                </a:lnTo>
                <a:lnTo>
                  <a:pt x="292259" y="48801"/>
                </a:lnTo>
                <a:lnTo>
                  <a:pt x="292077" y="77156"/>
                </a:lnTo>
                <a:lnTo>
                  <a:pt x="320965" y="28355"/>
                </a:lnTo>
                <a:lnTo>
                  <a:pt x="320991" y="24309"/>
                </a:lnTo>
                <a:close/>
              </a:path>
              <a:path w="323214" h="531495">
                <a:moveTo>
                  <a:pt x="307191" y="8086"/>
                </a:moveTo>
                <a:lnTo>
                  <a:pt x="306154" y="8351"/>
                </a:lnTo>
                <a:lnTo>
                  <a:pt x="296376" y="13798"/>
                </a:lnTo>
                <a:lnTo>
                  <a:pt x="267488" y="62600"/>
                </a:lnTo>
                <a:lnTo>
                  <a:pt x="292259" y="48801"/>
                </a:lnTo>
                <a:lnTo>
                  <a:pt x="292416" y="24309"/>
                </a:lnTo>
                <a:lnTo>
                  <a:pt x="320991" y="24309"/>
                </a:lnTo>
                <a:lnTo>
                  <a:pt x="321037" y="17162"/>
                </a:lnTo>
                <a:lnTo>
                  <a:pt x="320771" y="16125"/>
                </a:lnTo>
                <a:lnTo>
                  <a:pt x="307191" y="8086"/>
                </a:lnTo>
                <a:close/>
              </a:path>
              <a:path w="323214" h="531495">
                <a:moveTo>
                  <a:pt x="292416" y="24309"/>
                </a:moveTo>
                <a:lnTo>
                  <a:pt x="292259" y="48801"/>
                </a:lnTo>
                <a:lnTo>
                  <a:pt x="313656" y="36882"/>
                </a:lnTo>
                <a:lnTo>
                  <a:pt x="292416" y="24309"/>
                </a:lnTo>
                <a:close/>
              </a:path>
              <a:path w="323214" h="531495">
                <a:moveTo>
                  <a:pt x="321037" y="17162"/>
                </a:moveTo>
                <a:lnTo>
                  <a:pt x="320965" y="28355"/>
                </a:lnTo>
                <a:lnTo>
                  <a:pt x="323018" y="24888"/>
                </a:lnTo>
                <a:lnTo>
                  <a:pt x="321037" y="17162"/>
                </a:lnTo>
                <a:close/>
              </a:path>
              <a:path w="323214" h="531495">
                <a:moveTo>
                  <a:pt x="321095" y="8086"/>
                </a:moveTo>
                <a:lnTo>
                  <a:pt x="307191" y="8086"/>
                </a:lnTo>
                <a:lnTo>
                  <a:pt x="320771" y="16125"/>
                </a:lnTo>
                <a:lnTo>
                  <a:pt x="321037" y="17162"/>
                </a:lnTo>
                <a:lnTo>
                  <a:pt x="321095" y="8086"/>
                </a:lnTo>
                <a:close/>
              </a:path>
              <a:path w="323214" h="531495">
                <a:moveTo>
                  <a:pt x="306154" y="8351"/>
                </a:moveTo>
                <a:lnTo>
                  <a:pt x="298428" y="10332"/>
                </a:lnTo>
                <a:lnTo>
                  <a:pt x="296376" y="13798"/>
                </a:lnTo>
                <a:lnTo>
                  <a:pt x="306154" y="8351"/>
                </a:lnTo>
                <a:close/>
              </a:path>
              <a:path w="323214" h="531495">
                <a:moveTo>
                  <a:pt x="321147" y="0"/>
                </a:moveTo>
                <a:lnTo>
                  <a:pt x="306154" y="8351"/>
                </a:lnTo>
                <a:lnTo>
                  <a:pt x="307191" y="8086"/>
                </a:lnTo>
                <a:lnTo>
                  <a:pt x="321095" y="8086"/>
                </a:lnTo>
                <a:lnTo>
                  <a:pt x="3211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17396" y="3670463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5">
                <a:moveTo>
                  <a:pt x="1979" y="514117"/>
                </a:moveTo>
                <a:lnTo>
                  <a:pt x="1869" y="531281"/>
                </a:lnTo>
                <a:lnTo>
                  <a:pt x="16387" y="523194"/>
                </a:lnTo>
                <a:lnTo>
                  <a:pt x="15826" y="523194"/>
                </a:lnTo>
                <a:lnTo>
                  <a:pt x="2245" y="515155"/>
                </a:lnTo>
                <a:lnTo>
                  <a:pt x="1979" y="514117"/>
                </a:lnTo>
                <a:close/>
              </a:path>
              <a:path w="323214" h="531495">
                <a:moveTo>
                  <a:pt x="30939" y="454124"/>
                </a:moveTo>
                <a:lnTo>
                  <a:pt x="2051" y="502927"/>
                </a:lnTo>
                <a:lnTo>
                  <a:pt x="1979" y="514117"/>
                </a:lnTo>
                <a:lnTo>
                  <a:pt x="2245" y="515155"/>
                </a:lnTo>
                <a:lnTo>
                  <a:pt x="15826" y="523194"/>
                </a:lnTo>
                <a:lnTo>
                  <a:pt x="16865" y="522928"/>
                </a:lnTo>
                <a:lnTo>
                  <a:pt x="26641" y="517481"/>
                </a:lnTo>
                <a:lnTo>
                  <a:pt x="32863" y="506971"/>
                </a:lnTo>
                <a:lnTo>
                  <a:pt x="30600" y="506971"/>
                </a:lnTo>
                <a:lnTo>
                  <a:pt x="9361" y="494398"/>
                </a:lnTo>
                <a:lnTo>
                  <a:pt x="30757" y="482479"/>
                </a:lnTo>
                <a:lnTo>
                  <a:pt x="30939" y="454124"/>
                </a:lnTo>
                <a:close/>
              </a:path>
              <a:path w="323214" h="531495">
                <a:moveTo>
                  <a:pt x="16865" y="522928"/>
                </a:moveTo>
                <a:lnTo>
                  <a:pt x="15826" y="523194"/>
                </a:lnTo>
                <a:lnTo>
                  <a:pt x="16387" y="523194"/>
                </a:lnTo>
                <a:lnTo>
                  <a:pt x="16865" y="522928"/>
                </a:lnTo>
                <a:close/>
              </a:path>
              <a:path w="323214" h="531495">
                <a:moveTo>
                  <a:pt x="26641" y="517481"/>
                </a:moveTo>
                <a:lnTo>
                  <a:pt x="16865" y="522928"/>
                </a:lnTo>
                <a:lnTo>
                  <a:pt x="24589" y="520948"/>
                </a:lnTo>
                <a:lnTo>
                  <a:pt x="26641" y="517481"/>
                </a:lnTo>
                <a:close/>
              </a:path>
              <a:path w="323214" h="531495">
                <a:moveTo>
                  <a:pt x="102953" y="442262"/>
                </a:moveTo>
                <a:lnTo>
                  <a:pt x="55530" y="468679"/>
                </a:lnTo>
                <a:lnTo>
                  <a:pt x="26641" y="517481"/>
                </a:lnTo>
                <a:lnTo>
                  <a:pt x="116860" y="467225"/>
                </a:lnTo>
                <a:lnTo>
                  <a:pt x="119335" y="458524"/>
                </a:lnTo>
                <a:lnTo>
                  <a:pt x="111655" y="444737"/>
                </a:lnTo>
                <a:lnTo>
                  <a:pt x="102953" y="442262"/>
                </a:lnTo>
                <a:close/>
              </a:path>
              <a:path w="323214" h="531495">
                <a:moveTo>
                  <a:pt x="2051" y="502927"/>
                </a:moveTo>
                <a:lnTo>
                  <a:pt x="0" y="506392"/>
                </a:lnTo>
                <a:lnTo>
                  <a:pt x="1979" y="514117"/>
                </a:lnTo>
                <a:lnTo>
                  <a:pt x="2051" y="502927"/>
                </a:lnTo>
                <a:close/>
              </a:path>
              <a:path w="323214" h="531495">
                <a:moveTo>
                  <a:pt x="30757" y="482479"/>
                </a:moveTo>
                <a:lnTo>
                  <a:pt x="9361" y="494398"/>
                </a:lnTo>
                <a:lnTo>
                  <a:pt x="30600" y="506971"/>
                </a:lnTo>
                <a:lnTo>
                  <a:pt x="30757" y="482479"/>
                </a:lnTo>
                <a:close/>
              </a:path>
              <a:path w="323214" h="531495">
                <a:moveTo>
                  <a:pt x="55530" y="468679"/>
                </a:moveTo>
                <a:lnTo>
                  <a:pt x="30757" y="482479"/>
                </a:lnTo>
                <a:lnTo>
                  <a:pt x="30600" y="506971"/>
                </a:lnTo>
                <a:lnTo>
                  <a:pt x="32863" y="506971"/>
                </a:lnTo>
                <a:lnTo>
                  <a:pt x="55530" y="468679"/>
                </a:lnTo>
                <a:close/>
              </a:path>
              <a:path w="323214" h="531495">
                <a:moveTo>
                  <a:pt x="9150" y="393299"/>
                </a:moveTo>
                <a:lnTo>
                  <a:pt x="2712" y="399656"/>
                </a:lnTo>
                <a:lnTo>
                  <a:pt x="2051" y="502927"/>
                </a:lnTo>
                <a:lnTo>
                  <a:pt x="30939" y="454124"/>
                </a:lnTo>
                <a:lnTo>
                  <a:pt x="31287" y="399839"/>
                </a:lnTo>
                <a:lnTo>
                  <a:pt x="24931" y="393401"/>
                </a:lnTo>
                <a:lnTo>
                  <a:pt x="9150" y="393299"/>
                </a:lnTo>
                <a:close/>
              </a:path>
              <a:path w="323214" h="531495">
                <a:moveTo>
                  <a:pt x="307191" y="0"/>
                </a:moveTo>
                <a:lnTo>
                  <a:pt x="298428" y="2246"/>
                </a:lnTo>
                <a:lnTo>
                  <a:pt x="30939" y="454124"/>
                </a:lnTo>
                <a:lnTo>
                  <a:pt x="30757" y="482479"/>
                </a:lnTo>
                <a:lnTo>
                  <a:pt x="55530" y="468679"/>
                </a:lnTo>
                <a:lnTo>
                  <a:pt x="323018" y="16802"/>
                </a:lnTo>
                <a:lnTo>
                  <a:pt x="320771" y="8039"/>
                </a:lnTo>
                <a:lnTo>
                  <a:pt x="307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84048" y="4372253"/>
            <a:ext cx="987425" cy="148590"/>
          </a:xfrm>
          <a:custGeom>
            <a:avLst/>
            <a:gdLst/>
            <a:ahLst/>
            <a:cxnLst/>
            <a:rect l="l" t="t" r="r" b="b"/>
            <a:pathLst>
              <a:path w="987425" h="148589">
                <a:moveTo>
                  <a:pt x="904964" y="98964"/>
                </a:moveTo>
                <a:lnTo>
                  <a:pt x="856079" y="122568"/>
                </a:lnTo>
                <a:lnTo>
                  <a:pt x="853099" y="131110"/>
                </a:lnTo>
                <a:lnTo>
                  <a:pt x="859961" y="145322"/>
                </a:lnTo>
                <a:lnTo>
                  <a:pt x="868503" y="148301"/>
                </a:lnTo>
                <a:lnTo>
                  <a:pt x="961502" y="103395"/>
                </a:lnTo>
                <a:lnTo>
                  <a:pt x="904964" y="98964"/>
                </a:lnTo>
                <a:close/>
              </a:path>
              <a:path w="987425" h="148589">
                <a:moveTo>
                  <a:pt x="971584" y="98527"/>
                </a:moveTo>
                <a:lnTo>
                  <a:pt x="961502" y="103395"/>
                </a:lnTo>
                <a:lnTo>
                  <a:pt x="965520" y="103710"/>
                </a:lnTo>
                <a:lnTo>
                  <a:pt x="971584" y="98527"/>
                </a:lnTo>
                <a:close/>
              </a:path>
              <a:path w="987425" h="148589">
                <a:moveTo>
                  <a:pt x="930498" y="86634"/>
                </a:moveTo>
                <a:lnTo>
                  <a:pt x="904964" y="98964"/>
                </a:lnTo>
                <a:lnTo>
                  <a:pt x="961502" y="103395"/>
                </a:lnTo>
                <a:lnTo>
                  <a:pt x="967310" y="100591"/>
                </a:lnTo>
                <a:lnTo>
                  <a:pt x="950626" y="100591"/>
                </a:lnTo>
                <a:lnTo>
                  <a:pt x="930498" y="86634"/>
                </a:lnTo>
                <a:close/>
              </a:path>
              <a:path w="987425" h="148589">
                <a:moveTo>
                  <a:pt x="952554" y="75984"/>
                </a:moveTo>
                <a:lnTo>
                  <a:pt x="930498" y="86634"/>
                </a:lnTo>
                <a:lnTo>
                  <a:pt x="950626" y="100591"/>
                </a:lnTo>
                <a:lnTo>
                  <a:pt x="952554" y="75984"/>
                </a:lnTo>
                <a:close/>
              </a:path>
              <a:path w="987425" h="148589">
                <a:moveTo>
                  <a:pt x="965285" y="75984"/>
                </a:moveTo>
                <a:lnTo>
                  <a:pt x="952554" y="75984"/>
                </a:lnTo>
                <a:lnTo>
                  <a:pt x="950626" y="100591"/>
                </a:lnTo>
                <a:lnTo>
                  <a:pt x="967310" y="100591"/>
                </a:lnTo>
                <a:lnTo>
                  <a:pt x="971584" y="98527"/>
                </a:lnTo>
                <a:lnTo>
                  <a:pt x="972397" y="97833"/>
                </a:lnTo>
                <a:lnTo>
                  <a:pt x="973630" y="82100"/>
                </a:lnTo>
                <a:lnTo>
                  <a:pt x="972938" y="81290"/>
                </a:lnTo>
                <a:lnTo>
                  <a:pt x="965285" y="75984"/>
                </a:lnTo>
                <a:close/>
              </a:path>
              <a:path w="987425" h="148589">
                <a:moveTo>
                  <a:pt x="8110" y="0"/>
                </a:moveTo>
                <a:lnTo>
                  <a:pt x="1233" y="5877"/>
                </a:lnTo>
                <a:lnTo>
                  <a:pt x="0" y="21611"/>
                </a:lnTo>
                <a:lnTo>
                  <a:pt x="5877" y="28488"/>
                </a:lnTo>
                <a:lnTo>
                  <a:pt x="904964" y="98964"/>
                </a:lnTo>
                <a:lnTo>
                  <a:pt x="930498" y="86634"/>
                </a:lnTo>
                <a:lnTo>
                  <a:pt x="907197" y="70476"/>
                </a:lnTo>
                <a:lnTo>
                  <a:pt x="8110" y="0"/>
                </a:lnTo>
                <a:close/>
              </a:path>
              <a:path w="987425" h="148589">
                <a:moveTo>
                  <a:pt x="972938" y="81290"/>
                </a:moveTo>
                <a:lnTo>
                  <a:pt x="973630" y="82100"/>
                </a:lnTo>
                <a:lnTo>
                  <a:pt x="972397" y="97833"/>
                </a:lnTo>
                <a:lnTo>
                  <a:pt x="971584" y="98527"/>
                </a:lnTo>
                <a:lnTo>
                  <a:pt x="987036" y="91066"/>
                </a:lnTo>
                <a:lnTo>
                  <a:pt x="972938" y="81290"/>
                </a:lnTo>
                <a:close/>
              </a:path>
              <a:path w="987425" h="148589">
                <a:moveTo>
                  <a:pt x="907197" y="70476"/>
                </a:moveTo>
                <a:lnTo>
                  <a:pt x="930498" y="86634"/>
                </a:lnTo>
                <a:lnTo>
                  <a:pt x="952554" y="75984"/>
                </a:lnTo>
                <a:lnTo>
                  <a:pt x="965285" y="75984"/>
                </a:lnTo>
                <a:lnTo>
                  <a:pt x="963734" y="74908"/>
                </a:lnTo>
                <a:lnTo>
                  <a:pt x="907197" y="70476"/>
                </a:lnTo>
                <a:close/>
              </a:path>
              <a:path w="987425" h="148589">
                <a:moveTo>
                  <a:pt x="963734" y="74908"/>
                </a:moveTo>
                <a:lnTo>
                  <a:pt x="972938" y="81290"/>
                </a:lnTo>
                <a:lnTo>
                  <a:pt x="967753" y="75223"/>
                </a:lnTo>
                <a:lnTo>
                  <a:pt x="963734" y="74908"/>
                </a:lnTo>
                <a:close/>
              </a:path>
              <a:path w="987425" h="148589">
                <a:moveTo>
                  <a:pt x="878869" y="16060"/>
                </a:moveTo>
                <a:lnTo>
                  <a:pt x="869967" y="17672"/>
                </a:lnTo>
                <a:lnTo>
                  <a:pt x="860974" y="30640"/>
                </a:lnTo>
                <a:lnTo>
                  <a:pt x="862586" y="39542"/>
                </a:lnTo>
                <a:lnTo>
                  <a:pt x="907197" y="70476"/>
                </a:lnTo>
                <a:lnTo>
                  <a:pt x="963734" y="74908"/>
                </a:lnTo>
                <a:lnTo>
                  <a:pt x="878869" y="16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53907" y="3078224"/>
            <a:ext cx="527685" cy="486409"/>
          </a:xfrm>
          <a:custGeom>
            <a:avLst/>
            <a:gdLst/>
            <a:ahLst/>
            <a:cxnLst/>
            <a:rect l="l" t="t" r="r" b="b"/>
            <a:pathLst>
              <a:path w="527685" h="486410">
                <a:moveTo>
                  <a:pt x="388836" y="28521"/>
                </a:moveTo>
                <a:lnTo>
                  <a:pt x="283618" y="28521"/>
                </a:lnTo>
                <a:lnTo>
                  <a:pt x="303364" y="29634"/>
                </a:lnTo>
                <a:lnTo>
                  <a:pt x="323088" y="33098"/>
                </a:lnTo>
                <a:lnTo>
                  <a:pt x="361792" y="46558"/>
                </a:lnTo>
                <a:lnTo>
                  <a:pt x="398297" y="67744"/>
                </a:lnTo>
                <a:lnTo>
                  <a:pt x="431139" y="95370"/>
                </a:lnTo>
                <a:lnTo>
                  <a:pt x="458895" y="128049"/>
                </a:lnTo>
                <a:lnTo>
                  <a:pt x="480223" y="164330"/>
                </a:lnTo>
                <a:lnTo>
                  <a:pt x="493896" y="202752"/>
                </a:lnTo>
                <a:lnTo>
                  <a:pt x="498831" y="241987"/>
                </a:lnTo>
                <a:lnTo>
                  <a:pt x="497719" y="261733"/>
                </a:lnTo>
                <a:lnTo>
                  <a:pt x="488566" y="300992"/>
                </a:lnTo>
                <a:lnTo>
                  <a:pt x="471089" y="338780"/>
                </a:lnTo>
                <a:lnTo>
                  <a:pt x="446515" y="373635"/>
                </a:lnTo>
                <a:lnTo>
                  <a:pt x="416185" y="404107"/>
                </a:lnTo>
                <a:lnTo>
                  <a:pt x="381521" y="428811"/>
                </a:lnTo>
                <a:lnTo>
                  <a:pt x="343989" y="446455"/>
                </a:lnTo>
                <a:lnTo>
                  <a:pt x="305022" y="455889"/>
                </a:lnTo>
                <a:lnTo>
                  <a:pt x="275742" y="457682"/>
                </a:lnTo>
                <a:lnTo>
                  <a:pt x="269749" y="464459"/>
                </a:lnTo>
                <a:lnTo>
                  <a:pt x="270714" y="480211"/>
                </a:lnTo>
                <a:lnTo>
                  <a:pt x="277489" y="486204"/>
                </a:lnTo>
                <a:lnTo>
                  <a:pt x="306769" y="484409"/>
                </a:lnTo>
                <a:lnTo>
                  <a:pt x="352075" y="473862"/>
                </a:lnTo>
                <a:lnTo>
                  <a:pt x="394799" y="454113"/>
                </a:lnTo>
                <a:lnTo>
                  <a:pt x="433694" y="426690"/>
                </a:lnTo>
                <a:lnTo>
                  <a:pt x="467546" y="392981"/>
                </a:lnTo>
                <a:lnTo>
                  <a:pt x="495098" y="354277"/>
                </a:lnTo>
                <a:lnTo>
                  <a:pt x="515015" y="311810"/>
                </a:lnTo>
                <a:lnTo>
                  <a:pt x="525842" y="266795"/>
                </a:lnTo>
                <a:lnTo>
                  <a:pt x="527353" y="243734"/>
                </a:lnTo>
                <a:lnTo>
                  <a:pt x="526041" y="220583"/>
                </a:lnTo>
                <a:lnTo>
                  <a:pt x="515494" y="175277"/>
                </a:lnTo>
                <a:lnTo>
                  <a:pt x="495745" y="132553"/>
                </a:lnTo>
                <a:lnTo>
                  <a:pt x="468322" y="93658"/>
                </a:lnTo>
                <a:lnTo>
                  <a:pt x="434613" y="59806"/>
                </a:lnTo>
                <a:lnTo>
                  <a:pt x="395909" y="32255"/>
                </a:lnTo>
                <a:lnTo>
                  <a:pt x="388836" y="28521"/>
                </a:lnTo>
                <a:close/>
              </a:path>
              <a:path w="527685" h="486410">
                <a:moveTo>
                  <a:pt x="48623" y="227438"/>
                </a:moveTo>
                <a:lnTo>
                  <a:pt x="55886" y="242926"/>
                </a:lnTo>
                <a:lnTo>
                  <a:pt x="64966" y="230144"/>
                </a:lnTo>
                <a:lnTo>
                  <a:pt x="63657" y="230144"/>
                </a:lnTo>
                <a:lnTo>
                  <a:pt x="48623" y="227438"/>
                </a:lnTo>
                <a:close/>
              </a:path>
              <a:path w="527685" h="486410">
                <a:moveTo>
                  <a:pt x="54490" y="172648"/>
                </a:moveTo>
                <a:lnTo>
                  <a:pt x="53969" y="173911"/>
                </a:lnTo>
                <a:lnTo>
                  <a:pt x="47324" y="196178"/>
                </a:lnTo>
                <a:lnTo>
                  <a:pt x="44362" y="212153"/>
                </a:lnTo>
                <a:lnTo>
                  <a:pt x="43555" y="216632"/>
                </a:lnTo>
                <a:lnTo>
                  <a:pt x="48623" y="227438"/>
                </a:lnTo>
                <a:lnTo>
                  <a:pt x="63657" y="230144"/>
                </a:lnTo>
                <a:lnTo>
                  <a:pt x="66242" y="228348"/>
                </a:lnTo>
                <a:lnTo>
                  <a:pt x="71919" y="220356"/>
                </a:lnTo>
                <a:lnTo>
                  <a:pt x="72586" y="216632"/>
                </a:lnTo>
                <a:lnTo>
                  <a:pt x="73975" y="208619"/>
                </a:lnTo>
                <a:lnTo>
                  <a:pt x="71358" y="208619"/>
                </a:lnTo>
                <a:lnTo>
                  <a:pt x="46775" y="206410"/>
                </a:lnTo>
                <a:lnTo>
                  <a:pt x="60959" y="186443"/>
                </a:lnTo>
                <a:lnTo>
                  <a:pt x="54490" y="172648"/>
                </a:lnTo>
                <a:close/>
              </a:path>
              <a:path w="527685" h="486410">
                <a:moveTo>
                  <a:pt x="66242" y="228348"/>
                </a:moveTo>
                <a:lnTo>
                  <a:pt x="63657" y="230144"/>
                </a:lnTo>
                <a:lnTo>
                  <a:pt x="64966" y="230144"/>
                </a:lnTo>
                <a:lnTo>
                  <a:pt x="66242" y="228348"/>
                </a:lnTo>
                <a:close/>
              </a:path>
              <a:path w="527685" h="486410">
                <a:moveTo>
                  <a:pt x="71919" y="220356"/>
                </a:moveTo>
                <a:lnTo>
                  <a:pt x="66242" y="228348"/>
                </a:lnTo>
                <a:lnTo>
                  <a:pt x="71086" y="224983"/>
                </a:lnTo>
                <a:lnTo>
                  <a:pt x="71919" y="220356"/>
                </a:lnTo>
                <a:close/>
              </a:path>
              <a:path w="527685" h="486410">
                <a:moveTo>
                  <a:pt x="43555" y="216632"/>
                </a:moveTo>
                <a:lnTo>
                  <a:pt x="42964" y="219919"/>
                </a:lnTo>
                <a:lnTo>
                  <a:pt x="48126" y="227349"/>
                </a:lnTo>
                <a:lnTo>
                  <a:pt x="48623" y="227438"/>
                </a:lnTo>
                <a:lnTo>
                  <a:pt x="43555" y="216632"/>
                </a:lnTo>
                <a:close/>
              </a:path>
              <a:path w="527685" h="486410">
                <a:moveTo>
                  <a:pt x="118066" y="117792"/>
                </a:moveTo>
                <a:lnTo>
                  <a:pt x="88188" y="165561"/>
                </a:lnTo>
                <a:lnTo>
                  <a:pt x="74730" y="204265"/>
                </a:lnTo>
                <a:lnTo>
                  <a:pt x="72485" y="217216"/>
                </a:lnTo>
                <a:lnTo>
                  <a:pt x="71919" y="220356"/>
                </a:lnTo>
                <a:lnTo>
                  <a:pt x="132115" y="135619"/>
                </a:lnTo>
                <a:lnTo>
                  <a:pt x="130605" y="126699"/>
                </a:lnTo>
                <a:lnTo>
                  <a:pt x="118066" y="117792"/>
                </a:lnTo>
                <a:close/>
              </a:path>
              <a:path w="527685" h="486410">
                <a:moveTo>
                  <a:pt x="17364" y="108544"/>
                </a:moveTo>
                <a:lnTo>
                  <a:pt x="3075" y="115244"/>
                </a:lnTo>
                <a:lnTo>
                  <a:pt x="0" y="123752"/>
                </a:lnTo>
                <a:lnTo>
                  <a:pt x="43555" y="216632"/>
                </a:lnTo>
                <a:lnTo>
                  <a:pt x="44362" y="212153"/>
                </a:lnTo>
                <a:lnTo>
                  <a:pt x="47324" y="196178"/>
                </a:lnTo>
                <a:lnTo>
                  <a:pt x="53969" y="173911"/>
                </a:lnTo>
                <a:lnTo>
                  <a:pt x="54490" y="172648"/>
                </a:lnTo>
                <a:lnTo>
                  <a:pt x="25872" y="111620"/>
                </a:lnTo>
                <a:lnTo>
                  <a:pt x="17364" y="108544"/>
                </a:lnTo>
                <a:close/>
              </a:path>
              <a:path w="527685" h="486410">
                <a:moveTo>
                  <a:pt x="60959" y="186443"/>
                </a:moveTo>
                <a:lnTo>
                  <a:pt x="46775" y="206410"/>
                </a:lnTo>
                <a:lnTo>
                  <a:pt x="71358" y="208619"/>
                </a:lnTo>
                <a:lnTo>
                  <a:pt x="60959" y="186443"/>
                </a:lnTo>
                <a:close/>
              </a:path>
              <a:path w="527685" h="486410">
                <a:moveTo>
                  <a:pt x="117739" y="117560"/>
                </a:moveTo>
                <a:lnTo>
                  <a:pt x="108819" y="119070"/>
                </a:lnTo>
                <a:lnTo>
                  <a:pt x="60959" y="186443"/>
                </a:lnTo>
                <a:lnTo>
                  <a:pt x="71358" y="208619"/>
                </a:lnTo>
                <a:lnTo>
                  <a:pt x="73975" y="208619"/>
                </a:lnTo>
                <a:lnTo>
                  <a:pt x="74730" y="204265"/>
                </a:lnTo>
                <a:lnTo>
                  <a:pt x="80418" y="184729"/>
                </a:lnTo>
                <a:lnTo>
                  <a:pt x="88188" y="165561"/>
                </a:lnTo>
                <a:lnTo>
                  <a:pt x="97894" y="146941"/>
                </a:lnTo>
                <a:lnTo>
                  <a:pt x="109376" y="129056"/>
                </a:lnTo>
                <a:lnTo>
                  <a:pt x="118066" y="117792"/>
                </a:lnTo>
                <a:lnTo>
                  <a:pt x="117739" y="117560"/>
                </a:lnTo>
                <a:close/>
              </a:path>
              <a:path w="527685" h="486410">
                <a:moveTo>
                  <a:pt x="285366" y="0"/>
                </a:moveTo>
                <a:lnTo>
                  <a:pt x="239321" y="5333"/>
                </a:lnTo>
                <a:lnTo>
                  <a:pt x="195144" y="20681"/>
                </a:lnTo>
                <a:lnTo>
                  <a:pt x="154184" y="44450"/>
                </a:lnTo>
                <a:lnTo>
                  <a:pt x="117657" y="75182"/>
                </a:lnTo>
                <a:lnTo>
                  <a:pt x="86746" y="111620"/>
                </a:lnTo>
                <a:lnTo>
                  <a:pt x="62886" y="152283"/>
                </a:lnTo>
                <a:lnTo>
                  <a:pt x="54490" y="172648"/>
                </a:lnTo>
                <a:lnTo>
                  <a:pt x="60959" y="186443"/>
                </a:lnTo>
                <a:lnTo>
                  <a:pt x="108819" y="119070"/>
                </a:lnTo>
                <a:lnTo>
                  <a:pt x="117739" y="117560"/>
                </a:lnTo>
                <a:lnTo>
                  <a:pt x="118246" y="117560"/>
                </a:lnTo>
                <a:lnTo>
                  <a:pt x="122469" y="112086"/>
                </a:lnTo>
                <a:lnTo>
                  <a:pt x="137002" y="96213"/>
                </a:lnTo>
                <a:lnTo>
                  <a:pt x="169680" y="68458"/>
                </a:lnTo>
                <a:lnTo>
                  <a:pt x="205962" y="47130"/>
                </a:lnTo>
                <a:lnTo>
                  <a:pt x="244384" y="33456"/>
                </a:lnTo>
                <a:lnTo>
                  <a:pt x="283618" y="28521"/>
                </a:lnTo>
                <a:lnTo>
                  <a:pt x="388836" y="28521"/>
                </a:lnTo>
                <a:lnTo>
                  <a:pt x="375070" y="21254"/>
                </a:lnTo>
                <a:lnTo>
                  <a:pt x="353442" y="12338"/>
                </a:lnTo>
                <a:lnTo>
                  <a:pt x="331175" y="5692"/>
                </a:lnTo>
                <a:lnTo>
                  <a:pt x="308427" y="1511"/>
                </a:lnTo>
                <a:lnTo>
                  <a:pt x="285366" y="0"/>
                </a:lnTo>
                <a:close/>
              </a:path>
              <a:path w="527685" h="486410">
                <a:moveTo>
                  <a:pt x="118246" y="117560"/>
                </a:moveTo>
                <a:lnTo>
                  <a:pt x="117739" y="117560"/>
                </a:lnTo>
                <a:lnTo>
                  <a:pt x="118066" y="117792"/>
                </a:lnTo>
                <a:lnTo>
                  <a:pt x="118246" y="117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35479" y="3300984"/>
            <a:ext cx="548640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92807" y="3252215"/>
            <a:ext cx="633983" cy="725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81200" y="33210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12168" y="3340100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30679" y="4139184"/>
            <a:ext cx="548640" cy="548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88008" y="4090415"/>
            <a:ext cx="633984" cy="7254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76400" y="41592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807368" y="4178300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26079" y="4215384"/>
            <a:ext cx="548640" cy="5486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34639" y="4166615"/>
            <a:ext cx="731520" cy="7254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71800" y="42354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051968" y="4254500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556250" y="5174015"/>
          <a:ext cx="1847850" cy="1125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</a:tblGrid>
              <a:tr h="342900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⅓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⅓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⅓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221739" y="4871211"/>
          <a:ext cx="6169660" cy="1434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260"/>
                <a:gridCol w="609600"/>
                <a:gridCol w="609600"/>
                <a:gridCol w="609600"/>
                <a:gridCol w="4038600"/>
              </a:tblGrid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ts val="1964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6379">
                        <a:lnSpc>
                          <a:spcPts val="1964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1964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6815">
                        <a:lnSpc>
                          <a:spcPts val="1964"/>
                        </a:lnSpc>
                        <a:tabLst>
                          <a:tab pos="3072765" algn="l"/>
                          <a:tab pos="3644265" algn="l"/>
                        </a:tabLst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y	a	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42900">
                <a:tc>
                  <a:txBody>
                    <a:bodyPr/>
                    <a:lstStyle/>
                    <a:p>
                      <a:pPr algn="r" marR="762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01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r" marR="755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30504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38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r" marR="749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019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3810000" y="3464790"/>
            <a:ext cx="1374140" cy="869950"/>
          </a:xfrm>
          <a:custGeom>
            <a:avLst/>
            <a:gdLst/>
            <a:ahLst/>
            <a:cxnLst/>
            <a:rect l="l" t="t" r="r" b="b"/>
            <a:pathLst>
              <a:path w="1374139" h="869950">
                <a:moveTo>
                  <a:pt x="0" y="217478"/>
                </a:moveTo>
                <a:lnTo>
                  <a:pt x="938950" y="217478"/>
                </a:lnTo>
                <a:lnTo>
                  <a:pt x="938950" y="0"/>
                </a:lnTo>
                <a:lnTo>
                  <a:pt x="1373906" y="434957"/>
                </a:lnTo>
                <a:lnTo>
                  <a:pt x="938950" y="869914"/>
                </a:lnTo>
                <a:lnTo>
                  <a:pt x="938950" y="652435"/>
                </a:lnTo>
                <a:lnTo>
                  <a:pt x="0" y="652435"/>
                </a:lnTo>
                <a:lnTo>
                  <a:pt x="0" y="21747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06883" y="3832714"/>
            <a:ext cx="189865" cy="488315"/>
          </a:xfrm>
          <a:custGeom>
            <a:avLst/>
            <a:gdLst/>
            <a:ahLst/>
            <a:cxnLst/>
            <a:rect l="l" t="t" r="r" b="b"/>
            <a:pathLst>
              <a:path w="189865" h="488314">
                <a:moveTo>
                  <a:pt x="107938" y="403980"/>
                </a:moveTo>
                <a:lnTo>
                  <a:pt x="100948" y="406095"/>
                </a:lnTo>
                <a:lnTo>
                  <a:pt x="95103" y="410898"/>
                </a:lnTo>
                <a:lnTo>
                  <a:pt x="91581" y="417592"/>
                </a:lnTo>
                <a:lnTo>
                  <a:pt x="90921" y="424866"/>
                </a:lnTo>
                <a:lnTo>
                  <a:pt x="93036" y="431855"/>
                </a:lnTo>
                <a:lnTo>
                  <a:pt x="132171" y="464351"/>
                </a:lnTo>
                <a:lnTo>
                  <a:pt x="165985" y="487596"/>
                </a:lnTo>
                <a:lnTo>
                  <a:pt x="173281" y="487928"/>
                </a:lnTo>
                <a:lnTo>
                  <a:pt x="180169" y="485500"/>
                </a:lnTo>
                <a:lnTo>
                  <a:pt x="185791" y="480439"/>
                </a:lnTo>
                <a:lnTo>
                  <a:pt x="189010" y="473594"/>
                </a:lnTo>
                <a:lnTo>
                  <a:pt x="189343" y="466298"/>
                </a:lnTo>
                <a:lnTo>
                  <a:pt x="186915" y="459411"/>
                </a:lnTo>
                <a:lnTo>
                  <a:pt x="181854" y="453788"/>
                </a:lnTo>
                <a:lnTo>
                  <a:pt x="154885" y="433762"/>
                </a:lnTo>
                <a:lnTo>
                  <a:pt x="128902" y="413875"/>
                </a:lnTo>
                <a:lnTo>
                  <a:pt x="121905" y="408164"/>
                </a:lnTo>
                <a:lnTo>
                  <a:pt x="115211" y="404640"/>
                </a:lnTo>
                <a:lnTo>
                  <a:pt x="107938" y="403980"/>
                </a:lnTo>
                <a:close/>
              </a:path>
              <a:path w="189865" h="488314">
                <a:moveTo>
                  <a:pt x="18995" y="286030"/>
                </a:moveTo>
                <a:lnTo>
                  <a:pt x="11583" y="287542"/>
                </a:lnTo>
                <a:lnTo>
                  <a:pt x="5536" y="291637"/>
                </a:lnTo>
                <a:lnTo>
                  <a:pt x="1466" y="297700"/>
                </a:lnTo>
                <a:lnTo>
                  <a:pt x="0" y="305041"/>
                </a:lnTo>
                <a:lnTo>
                  <a:pt x="111" y="309181"/>
                </a:lnTo>
                <a:lnTo>
                  <a:pt x="19119" y="357844"/>
                </a:lnTo>
                <a:lnTo>
                  <a:pt x="46227" y="388918"/>
                </a:lnTo>
                <a:lnTo>
                  <a:pt x="53359" y="390488"/>
                </a:lnTo>
                <a:lnTo>
                  <a:pt x="60560" y="389269"/>
                </a:lnTo>
                <a:lnTo>
                  <a:pt x="66963" y="385240"/>
                </a:lnTo>
                <a:lnTo>
                  <a:pt x="71301" y="379042"/>
                </a:lnTo>
                <a:lnTo>
                  <a:pt x="72871" y="371910"/>
                </a:lnTo>
                <a:lnTo>
                  <a:pt x="71652" y="364710"/>
                </a:lnTo>
                <a:lnTo>
                  <a:pt x="67623" y="358307"/>
                </a:lnTo>
                <a:lnTo>
                  <a:pt x="64755" y="355296"/>
                </a:lnTo>
                <a:lnTo>
                  <a:pt x="52598" y="339101"/>
                </a:lnTo>
                <a:lnTo>
                  <a:pt x="52305" y="339101"/>
                </a:lnTo>
                <a:lnTo>
                  <a:pt x="50648" y="336504"/>
                </a:lnTo>
                <a:lnTo>
                  <a:pt x="50930" y="336504"/>
                </a:lnTo>
                <a:lnTo>
                  <a:pt x="42912" y="321367"/>
                </a:lnTo>
                <a:lnTo>
                  <a:pt x="42629" y="321367"/>
                </a:lnTo>
                <a:lnTo>
                  <a:pt x="41410" y="318531"/>
                </a:lnTo>
                <a:lnTo>
                  <a:pt x="41674" y="318531"/>
                </a:lnTo>
                <a:lnTo>
                  <a:pt x="39142" y="311015"/>
                </a:lnTo>
                <a:lnTo>
                  <a:pt x="38372" y="306658"/>
                </a:lnTo>
                <a:lnTo>
                  <a:pt x="38088" y="306658"/>
                </a:lnTo>
                <a:lnTo>
                  <a:pt x="37781" y="303557"/>
                </a:lnTo>
                <a:lnTo>
                  <a:pt x="36572" y="297629"/>
                </a:lnTo>
                <a:lnTo>
                  <a:pt x="32477" y="291582"/>
                </a:lnTo>
                <a:lnTo>
                  <a:pt x="26413" y="287512"/>
                </a:lnTo>
                <a:lnTo>
                  <a:pt x="18995" y="286030"/>
                </a:lnTo>
                <a:close/>
              </a:path>
              <a:path w="189865" h="488314">
                <a:moveTo>
                  <a:pt x="50648" y="336504"/>
                </a:moveTo>
                <a:lnTo>
                  <a:pt x="52305" y="339101"/>
                </a:lnTo>
                <a:lnTo>
                  <a:pt x="51605" y="337778"/>
                </a:lnTo>
                <a:lnTo>
                  <a:pt x="50648" y="336504"/>
                </a:lnTo>
                <a:close/>
              </a:path>
              <a:path w="189865" h="488314">
                <a:moveTo>
                  <a:pt x="51605" y="337778"/>
                </a:moveTo>
                <a:lnTo>
                  <a:pt x="52305" y="339101"/>
                </a:lnTo>
                <a:lnTo>
                  <a:pt x="52598" y="339101"/>
                </a:lnTo>
                <a:lnTo>
                  <a:pt x="51605" y="337778"/>
                </a:lnTo>
                <a:close/>
              </a:path>
              <a:path w="189865" h="488314">
                <a:moveTo>
                  <a:pt x="50930" y="336504"/>
                </a:moveTo>
                <a:lnTo>
                  <a:pt x="50648" y="336504"/>
                </a:lnTo>
                <a:lnTo>
                  <a:pt x="51605" y="337778"/>
                </a:lnTo>
                <a:lnTo>
                  <a:pt x="50930" y="336504"/>
                </a:lnTo>
                <a:close/>
              </a:path>
              <a:path w="189865" h="488314">
                <a:moveTo>
                  <a:pt x="41410" y="318531"/>
                </a:moveTo>
                <a:lnTo>
                  <a:pt x="42629" y="321367"/>
                </a:lnTo>
                <a:lnTo>
                  <a:pt x="42135" y="319899"/>
                </a:lnTo>
                <a:lnTo>
                  <a:pt x="41410" y="318531"/>
                </a:lnTo>
                <a:close/>
              </a:path>
              <a:path w="189865" h="488314">
                <a:moveTo>
                  <a:pt x="42135" y="319899"/>
                </a:moveTo>
                <a:lnTo>
                  <a:pt x="42629" y="321367"/>
                </a:lnTo>
                <a:lnTo>
                  <a:pt x="42912" y="321367"/>
                </a:lnTo>
                <a:lnTo>
                  <a:pt x="42135" y="319899"/>
                </a:lnTo>
                <a:close/>
              </a:path>
              <a:path w="189865" h="488314">
                <a:moveTo>
                  <a:pt x="41674" y="318531"/>
                </a:moveTo>
                <a:lnTo>
                  <a:pt x="41410" y="318531"/>
                </a:lnTo>
                <a:lnTo>
                  <a:pt x="42135" y="319899"/>
                </a:lnTo>
                <a:lnTo>
                  <a:pt x="41674" y="318531"/>
                </a:lnTo>
                <a:close/>
              </a:path>
              <a:path w="189865" h="488314">
                <a:moveTo>
                  <a:pt x="37781" y="303557"/>
                </a:moveTo>
                <a:lnTo>
                  <a:pt x="38088" y="306658"/>
                </a:lnTo>
                <a:lnTo>
                  <a:pt x="38084" y="305041"/>
                </a:lnTo>
                <a:lnTo>
                  <a:pt x="37781" y="303557"/>
                </a:lnTo>
                <a:close/>
              </a:path>
              <a:path w="189865" h="488314">
                <a:moveTo>
                  <a:pt x="37727" y="303009"/>
                </a:moveTo>
                <a:lnTo>
                  <a:pt x="37781" y="303557"/>
                </a:lnTo>
                <a:lnTo>
                  <a:pt x="38084" y="305041"/>
                </a:lnTo>
                <a:lnTo>
                  <a:pt x="38088" y="306658"/>
                </a:lnTo>
                <a:lnTo>
                  <a:pt x="38372" y="306658"/>
                </a:lnTo>
                <a:lnTo>
                  <a:pt x="37727" y="303009"/>
                </a:lnTo>
                <a:close/>
              </a:path>
              <a:path w="189865" h="488314">
                <a:moveTo>
                  <a:pt x="100547" y="162235"/>
                </a:moveTo>
                <a:lnTo>
                  <a:pt x="93497" y="164137"/>
                </a:lnTo>
                <a:lnTo>
                  <a:pt x="87509" y="168760"/>
                </a:lnTo>
                <a:lnTo>
                  <a:pt x="73866" y="184518"/>
                </a:lnTo>
                <a:lnTo>
                  <a:pt x="53267" y="206818"/>
                </a:lnTo>
                <a:lnTo>
                  <a:pt x="36850" y="225487"/>
                </a:lnTo>
                <a:lnTo>
                  <a:pt x="33077" y="232044"/>
                </a:lnTo>
                <a:lnTo>
                  <a:pt x="32144" y="239287"/>
                </a:lnTo>
                <a:lnTo>
                  <a:pt x="33996" y="246351"/>
                </a:lnTo>
                <a:lnTo>
                  <a:pt x="38576" y="252373"/>
                </a:lnTo>
                <a:lnTo>
                  <a:pt x="45132" y="256145"/>
                </a:lnTo>
                <a:lnTo>
                  <a:pt x="52375" y="257078"/>
                </a:lnTo>
                <a:lnTo>
                  <a:pt x="59440" y="255226"/>
                </a:lnTo>
                <a:lnTo>
                  <a:pt x="65460" y="250647"/>
                </a:lnTo>
                <a:lnTo>
                  <a:pt x="81877" y="231978"/>
                </a:lnTo>
                <a:lnTo>
                  <a:pt x="101848" y="210374"/>
                </a:lnTo>
                <a:lnTo>
                  <a:pt x="116301" y="193713"/>
                </a:lnTo>
                <a:lnTo>
                  <a:pt x="120026" y="187128"/>
                </a:lnTo>
                <a:lnTo>
                  <a:pt x="120907" y="179878"/>
                </a:lnTo>
                <a:lnTo>
                  <a:pt x="119004" y="172827"/>
                </a:lnTo>
                <a:lnTo>
                  <a:pt x="114381" y="166839"/>
                </a:lnTo>
                <a:lnTo>
                  <a:pt x="107797" y="163115"/>
                </a:lnTo>
                <a:lnTo>
                  <a:pt x="100547" y="162235"/>
                </a:lnTo>
                <a:close/>
              </a:path>
              <a:path w="189865" h="488314">
                <a:moveTo>
                  <a:pt x="144252" y="95349"/>
                </a:moveTo>
                <a:lnTo>
                  <a:pt x="109617" y="112445"/>
                </a:lnTo>
                <a:lnTo>
                  <a:pt x="111498" y="118668"/>
                </a:lnTo>
                <a:lnTo>
                  <a:pt x="115076" y="125333"/>
                </a:lnTo>
                <a:lnTo>
                  <a:pt x="120736" y="129949"/>
                </a:lnTo>
                <a:lnTo>
                  <a:pt x="127714" y="132105"/>
                </a:lnTo>
                <a:lnTo>
                  <a:pt x="135245" y="131392"/>
                </a:lnTo>
                <a:lnTo>
                  <a:pt x="141930" y="127789"/>
                </a:lnTo>
                <a:lnTo>
                  <a:pt x="146525" y="122154"/>
                </a:lnTo>
                <a:lnTo>
                  <a:pt x="148681" y="115176"/>
                </a:lnTo>
                <a:lnTo>
                  <a:pt x="147968" y="107645"/>
                </a:lnTo>
                <a:lnTo>
                  <a:pt x="144252" y="95349"/>
                </a:lnTo>
                <a:close/>
              </a:path>
              <a:path w="189865" h="488314">
                <a:moveTo>
                  <a:pt x="79186" y="0"/>
                </a:moveTo>
                <a:lnTo>
                  <a:pt x="78531" y="127789"/>
                </a:lnTo>
                <a:lnTo>
                  <a:pt x="109617" y="112445"/>
                </a:lnTo>
                <a:lnTo>
                  <a:pt x="103112" y="90923"/>
                </a:lnTo>
                <a:lnTo>
                  <a:pt x="102399" y="83392"/>
                </a:lnTo>
                <a:lnTo>
                  <a:pt x="104555" y="76414"/>
                </a:lnTo>
                <a:lnTo>
                  <a:pt x="109170" y="70755"/>
                </a:lnTo>
                <a:lnTo>
                  <a:pt x="115835" y="67176"/>
                </a:lnTo>
                <a:lnTo>
                  <a:pt x="123366" y="66464"/>
                </a:lnTo>
                <a:lnTo>
                  <a:pt x="166865" y="66464"/>
                </a:lnTo>
                <a:lnTo>
                  <a:pt x="79186" y="0"/>
                </a:lnTo>
                <a:close/>
              </a:path>
              <a:path w="189865" h="488314">
                <a:moveTo>
                  <a:pt x="123366" y="66464"/>
                </a:moveTo>
                <a:lnTo>
                  <a:pt x="115835" y="67176"/>
                </a:lnTo>
                <a:lnTo>
                  <a:pt x="109170" y="70755"/>
                </a:lnTo>
                <a:lnTo>
                  <a:pt x="104555" y="76414"/>
                </a:lnTo>
                <a:lnTo>
                  <a:pt x="102399" y="83392"/>
                </a:lnTo>
                <a:lnTo>
                  <a:pt x="103112" y="90923"/>
                </a:lnTo>
                <a:lnTo>
                  <a:pt x="109617" y="112445"/>
                </a:lnTo>
                <a:lnTo>
                  <a:pt x="144252" y="95349"/>
                </a:lnTo>
                <a:lnTo>
                  <a:pt x="139581" y="79899"/>
                </a:lnTo>
                <a:lnTo>
                  <a:pt x="136003" y="73234"/>
                </a:lnTo>
                <a:lnTo>
                  <a:pt x="130343" y="68619"/>
                </a:lnTo>
                <a:lnTo>
                  <a:pt x="123366" y="66464"/>
                </a:lnTo>
                <a:close/>
              </a:path>
              <a:path w="189865" h="488314">
                <a:moveTo>
                  <a:pt x="166865" y="66464"/>
                </a:moveTo>
                <a:lnTo>
                  <a:pt x="123366" y="66464"/>
                </a:lnTo>
                <a:lnTo>
                  <a:pt x="130343" y="68619"/>
                </a:lnTo>
                <a:lnTo>
                  <a:pt x="136003" y="73234"/>
                </a:lnTo>
                <a:lnTo>
                  <a:pt x="139581" y="79899"/>
                </a:lnTo>
                <a:lnTo>
                  <a:pt x="144252" y="95349"/>
                </a:lnTo>
                <a:lnTo>
                  <a:pt x="181025" y="77198"/>
                </a:lnTo>
                <a:lnTo>
                  <a:pt x="166865" y="66464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59805" y="3702348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5">
                <a:moveTo>
                  <a:pt x="292259" y="48801"/>
                </a:moveTo>
                <a:lnTo>
                  <a:pt x="267489" y="62599"/>
                </a:lnTo>
                <a:lnTo>
                  <a:pt x="0" y="514478"/>
                </a:lnTo>
                <a:lnTo>
                  <a:pt x="2245" y="523241"/>
                </a:lnTo>
                <a:lnTo>
                  <a:pt x="15826" y="531280"/>
                </a:lnTo>
                <a:lnTo>
                  <a:pt x="24589" y="529035"/>
                </a:lnTo>
                <a:lnTo>
                  <a:pt x="292077" y="77156"/>
                </a:lnTo>
                <a:lnTo>
                  <a:pt x="292259" y="48801"/>
                </a:lnTo>
                <a:close/>
              </a:path>
              <a:path w="323214" h="531495">
                <a:moveTo>
                  <a:pt x="320965" y="28355"/>
                </a:moveTo>
                <a:lnTo>
                  <a:pt x="292077" y="77156"/>
                </a:lnTo>
                <a:lnTo>
                  <a:pt x="291730" y="131441"/>
                </a:lnTo>
                <a:lnTo>
                  <a:pt x="298085" y="137878"/>
                </a:lnTo>
                <a:lnTo>
                  <a:pt x="313866" y="137980"/>
                </a:lnTo>
                <a:lnTo>
                  <a:pt x="320304" y="131624"/>
                </a:lnTo>
                <a:lnTo>
                  <a:pt x="320965" y="28355"/>
                </a:lnTo>
                <a:close/>
              </a:path>
              <a:path w="323214" h="531495">
                <a:moveTo>
                  <a:pt x="296376" y="13798"/>
                </a:moveTo>
                <a:lnTo>
                  <a:pt x="206157" y="64054"/>
                </a:lnTo>
                <a:lnTo>
                  <a:pt x="203682" y="72757"/>
                </a:lnTo>
                <a:lnTo>
                  <a:pt x="211362" y="86542"/>
                </a:lnTo>
                <a:lnTo>
                  <a:pt x="220063" y="89018"/>
                </a:lnTo>
                <a:lnTo>
                  <a:pt x="267489" y="62599"/>
                </a:lnTo>
                <a:lnTo>
                  <a:pt x="296376" y="13798"/>
                </a:lnTo>
                <a:close/>
              </a:path>
              <a:path w="323214" h="531495">
                <a:moveTo>
                  <a:pt x="320991" y="24309"/>
                </a:moveTo>
                <a:lnTo>
                  <a:pt x="292416" y="24309"/>
                </a:lnTo>
                <a:lnTo>
                  <a:pt x="313656" y="36882"/>
                </a:lnTo>
                <a:lnTo>
                  <a:pt x="292259" y="48801"/>
                </a:lnTo>
                <a:lnTo>
                  <a:pt x="292077" y="77156"/>
                </a:lnTo>
                <a:lnTo>
                  <a:pt x="320965" y="28355"/>
                </a:lnTo>
                <a:lnTo>
                  <a:pt x="320991" y="24309"/>
                </a:lnTo>
                <a:close/>
              </a:path>
              <a:path w="323214" h="531495">
                <a:moveTo>
                  <a:pt x="307191" y="8086"/>
                </a:moveTo>
                <a:lnTo>
                  <a:pt x="306154" y="8352"/>
                </a:lnTo>
                <a:lnTo>
                  <a:pt x="296376" y="13798"/>
                </a:lnTo>
                <a:lnTo>
                  <a:pt x="267489" y="62599"/>
                </a:lnTo>
                <a:lnTo>
                  <a:pt x="292259" y="48801"/>
                </a:lnTo>
                <a:lnTo>
                  <a:pt x="292416" y="24309"/>
                </a:lnTo>
                <a:lnTo>
                  <a:pt x="320991" y="24309"/>
                </a:lnTo>
                <a:lnTo>
                  <a:pt x="321037" y="17162"/>
                </a:lnTo>
                <a:lnTo>
                  <a:pt x="320771" y="16125"/>
                </a:lnTo>
                <a:lnTo>
                  <a:pt x="307191" y="8086"/>
                </a:lnTo>
                <a:close/>
              </a:path>
              <a:path w="323214" h="531495">
                <a:moveTo>
                  <a:pt x="292416" y="24309"/>
                </a:moveTo>
                <a:lnTo>
                  <a:pt x="292259" y="48801"/>
                </a:lnTo>
                <a:lnTo>
                  <a:pt x="313656" y="36882"/>
                </a:lnTo>
                <a:lnTo>
                  <a:pt x="292416" y="24309"/>
                </a:lnTo>
                <a:close/>
              </a:path>
              <a:path w="323214" h="531495">
                <a:moveTo>
                  <a:pt x="321037" y="17162"/>
                </a:moveTo>
                <a:lnTo>
                  <a:pt x="320965" y="28355"/>
                </a:lnTo>
                <a:lnTo>
                  <a:pt x="323018" y="24888"/>
                </a:lnTo>
                <a:lnTo>
                  <a:pt x="321037" y="17162"/>
                </a:lnTo>
                <a:close/>
              </a:path>
              <a:path w="323214" h="531495">
                <a:moveTo>
                  <a:pt x="321095" y="8086"/>
                </a:moveTo>
                <a:lnTo>
                  <a:pt x="307191" y="8086"/>
                </a:lnTo>
                <a:lnTo>
                  <a:pt x="320771" y="16125"/>
                </a:lnTo>
                <a:lnTo>
                  <a:pt x="321037" y="17162"/>
                </a:lnTo>
                <a:lnTo>
                  <a:pt x="321095" y="8086"/>
                </a:lnTo>
                <a:close/>
              </a:path>
              <a:path w="323214" h="531495">
                <a:moveTo>
                  <a:pt x="306154" y="8352"/>
                </a:moveTo>
                <a:lnTo>
                  <a:pt x="298428" y="10332"/>
                </a:lnTo>
                <a:lnTo>
                  <a:pt x="296376" y="13798"/>
                </a:lnTo>
                <a:lnTo>
                  <a:pt x="306154" y="8352"/>
                </a:lnTo>
                <a:close/>
              </a:path>
              <a:path w="323214" h="531495">
                <a:moveTo>
                  <a:pt x="321147" y="0"/>
                </a:moveTo>
                <a:lnTo>
                  <a:pt x="306154" y="8352"/>
                </a:lnTo>
                <a:lnTo>
                  <a:pt x="307191" y="8086"/>
                </a:lnTo>
                <a:lnTo>
                  <a:pt x="321095" y="8086"/>
                </a:lnTo>
                <a:lnTo>
                  <a:pt x="3211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27396" y="3625977"/>
            <a:ext cx="323215" cy="531495"/>
          </a:xfrm>
          <a:custGeom>
            <a:avLst/>
            <a:gdLst/>
            <a:ahLst/>
            <a:cxnLst/>
            <a:rect l="l" t="t" r="r" b="b"/>
            <a:pathLst>
              <a:path w="323214" h="531495">
                <a:moveTo>
                  <a:pt x="1979" y="514118"/>
                </a:moveTo>
                <a:lnTo>
                  <a:pt x="1869" y="531281"/>
                </a:lnTo>
                <a:lnTo>
                  <a:pt x="16385" y="523195"/>
                </a:lnTo>
                <a:lnTo>
                  <a:pt x="15826" y="523195"/>
                </a:lnTo>
                <a:lnTo>
                  <a:pt x="2245" y="515156"/>
                </a:lnTo>
                <a:lnTo>
                  <a:pt x="1979" y="514118"/>
                </a:lnTo>
                <a:close/>
              </a:path>
              <a:path w="323214" h="531495">
                <a:moveTo>
                  <a:pt x="30939" y="454126"/>
                </a:moveTo>
                <a:lnTo>
                  <a:pt x="2051" y="502928"/>
                </a:lnTo>
                <a:lnTo>
                  <a:pt x="1979" y="514118"/>
                </a:lnTo>
                <a:lnTo>
                  <a:pt x="2245" y="515156"/>
                </a:lnTo>
                <a:lnTo>
                  <a:pt x="15826" y="523195"/>
                </a:lnTo>
                <a:lnTo>
                  <a:pt x="16861" y="522930"/>
                </a:lnTo>
                <a:lnTo>
                  <a:pt x="26641" y="517481"/>
                </a:lnTo>
                <a:lnTo>
                  <a:pt x="32863" y="506972"/>
                </a:lnTo>
                <a:lnTo>
                  <a:pt x="30600" y="506972"/>
                </a:lnTo>
                <a:lnTo>
                  <a:pt x="9361" y="494399"/>
                </a:lnTo>
                <a:lnTo>
                  <a:pt x="30757" y="482480"/>
                </a:lnTo>
                <a:lnTo>
                  <a:pt x="30939" y="454126"/>
                </a:lnTo>
                <a:close/>
              </a:path>
              <a:path w="323214" h="531495">
                <a:moveTo>
                  <a:pt x="16861" y="522930"/>
                </a:moveTo>
                <a:lnTo>
                  <a:pt x="15826" y="523195"/>
                </a:lnTo>
                <a:lnTo>
                  <a:pt x="16385" y="523195"/>
                </a:lnTo>
                <a:lnTo>
                  <a:pt x="16861" y="522930"/>
                </a:lnTo>
                <a:close/>
              </a:path>
              <a:path w="323214" h="531495">
                <a:moveTo>
                  <a:pt x="26641" y="517481"/>
                </a:moveTo>
                <a:lnTo>
                  <a:pt x="16861" y="522930"/>
                </a:lnTo>
                <a:lnTo>
                  <a:pt x="24589" y="520948"/>
                </a:lnTo>
                <a:lnTo>
                  <a:pt x="26641" y="517481"/>
                </a:lnTo>
                <a:close/>
              </a:path>
              <a:path w="323214" h="531495">
                <a:moveTo>
                  <a:pt x="102953" y="442262"/>
                </a:moveTo>
                <a:lnTo>
                  <a:pt x="55529" y="468680"/>
                </a:lnTo>
                <a:lnTo>
                  <a:pt x="26641" y="517481"/>
                </a:lnTo>
                <a:lnTo>
                  <a:pt x="116860" y="467225"/>
                </a:lnTo>
                <a:lnTo>
                  <a:pt x="119335" y="458524"/>
                </a:lnTo>
                <a:lnTo>
                  <a:pt x="111654" y="444737"/>
                </a:lnTo>
                <a:lnTo>
                  <a:pt x="102953" y="442262"/>
                </a:lnTo>
                <a:close/>
              </a:path>
              <a:path w="323214" h="531495">
                <a:moveTo>
                  <a:pt x="2051" y="502928"/>
                </a:moveTo>
                <a:lnTo>
                  <a:pt x="0" y="506393"/>
                </a:lnTo>
                <a:lnTo>
                  <a:pt x="1979" y="514118"/>
                </a:lnTo>
                <a:lnTo>
                  <a:pt x="2051" y="502928"/>
                </a:lnTo>
                <a:close/>
              </a:path>
              <a:path w="323214" h="531495">
                <a:moveTo>
                  <a:pt x="30757" y="482480"/>
                </a:moveTo>
                <a:lnTo>
                  <a:pt x="9361" y="494399"/>
                </a:lnTo>
                <a:lnTo>
                  <a:pt x="30600" y="506972"/>
                </a:lnTo>
                <a:lnTo>
                  <a:pt x="30757" y="482480"/>
                </a:lnTo>
                <a:close/>
              </a:path>
              <a:path w="323214" h="531495">
                <a:moveTo>
                  <a:pt x="55529" y="468680"/>
                </a:moveTo>
                <a:lnTo>
                  <a:pt x="30757" y="482480"/>
                </a:lnTo>
                <a:lnTo>
                  <a:pt x="30600" y="506972"/>
                </a:lnTo>
                <a:lnTo>
                  <a:pt x="32863" y="506972"/>
                </a:lnTo>
                <a:lnTo>
                  <a:pt x="55529" y="468680"/>
                </a:lnTo>
                <a:close/>
              </a:path>
              <a:path w="323214" h="531495">
                <a:moveTo>
                  <a:pt x="9150" y="393301"/>
                </a:moveTo>
                <a:lnTo>
                  <a:pt x="2712" y="399656"/>
                </a:lnTo>
                <a:lnTo>
                  <a:pt x="2051" y="502928"/>
                </a:lnTo>
                <a:lnTo>
                  <a:pt x="30939" y="454126"/>
                </a:lnTo>
                <a:lnTo>
                  <a:pt x="31287" y="399839"/>
                </a:lnTo>
                <a:lnTo>
                  <a:pt x="24931" y="393401"/>
                </a:lnTo>
                <a:lnTo>
                  <a:pt x="9150" y="393301"/>
                </a:lnTo>
                <a:close/>
              </a:path>
              <a:path w="323214" h="531495">
                <a:moveTo>
                  <a:pt x="307191" y="0"/>
                </a:moveTo>
                <a:lnTo>
                  <a:pt x="298428" y="2246"/>
                </a:lnTo>
                <a:lnTo>
                  <a:pt x="30939" y="454126"/>
                </a:lnTo>
                <a:lnTo>
                  <a:pt x="30757" y="482480"/>
                </a:lnTo>
                <a:lnTo>
                  <a:pt x="55529" y="468680"/>
                </a:lnTo>
                <a:lnTo>
                  <a:pt x="323018" y="16802"/>
                </a:lnTo>
                <a:lnTo>
                  <a:pt x="320771" y="8039"/>
                </a:lnTo>
                <a:lnTo>
                  <a:pt x="3071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794048" y="4327767"/>
            <a:ext cx="987425" cy="148590"/>
          </a:xfrm>
          <a:custGeom>
            <a:avLst/>
            <a:gdLst/>
            <a:ahLst/>
            <a:cxnLst/>
            <a:rect l="l" t="t" r="r" b="b"/>
            <a:pathLst>
              <a:path w="987425" h="148589">
                <a:moveTo>
                  <a:pt x="904964" y="98963"/>
                </a:moveTo>
                <a:lnTo>
                  <a:pt x="856079" y="122568"/>
                </a:lnTo>
                <a:lnTo>
                  <a:pt x="853099" y="131110"/>
                </a:lnTo>
                <a:lnTo>
                  <a:pt x="859961" y="145322"/>
                </a:lnTo>
                <a:lnTo>
                  <a:pt x="868503" y="148300"/>
                </a:lnTo>
                <a:lnTo>
                  <a:pt x="961500" y="103395"/>
                </a:lnTo>
                <a:lnTo>
                  <a:pt x="904964" y="98963"/>
                </a:lnTo>
                <a:close/>
              </a:path>
              <a:path w="987425" h="148589">
                <a:moveTo>
                  <a:pt x="971587" y="98524"/>
                </a:moveTo>
                <a:lnTo>
                  <a:pt x="961500" y="103395"/>
                </a:lnTo>
                <a:lnTo>
                  <a:pt x="965520" y="103710"/>
                </a:lnTo>
                <a:lnTo>
                  <a:pt x="971587" y="98524"/>
                </a:lnTo>
                <a:close/>
              </a:path>
              <a:path w="987425" h="148589">
                <a:moveTo>
                  <a:pt x="930498" y="86634"/>
                </a:moveTo>
                <a:lnTo>
                  <a:pt x="904964" y="98963"/>
                </a:lnTo>
                <a:lnTo>
                  <a:pt x="961500" y="103395"/>
                </a:lnTo>
                <a:lnTo>
                  <a:pt x="967310" y="100590"/>
                </a:lnTo>
                <a:lnTo>
                  <a:pt x="950625" y="100590"/>
                </a:lnTo>
                <a:lnTo>
                  <a:pt x="930498" y="86634"/>
                </a:lnTo>
                <a:close/>
              </a:path>
              <a:path w="987425" h="148589">
                <a:moveTo>
                  <a:pt x="952554" y="75984"/>
                </a:moveTo>
                <a:lnTo>
                  <a:pt x="930498" y="86634"/>
                </a:lnTo>
                <a:lnTo>
                  <a:pt x="950625" y="100590"/>
                </a:lnTo>
                <a:lnTo>
                  <a:pt x="952554" y="75984"/>
                </a:lnTo>
                <a:close/>
              </a:path>
              <a:path w="987425" h="148589">
                <a:moveTo>
                  <a:pt x="965287" y="75984"/>
                </a:moveTo>
                <a:lnTo>
                  <a:pt x="952554" y="75984"/>
                </a:lnTo>
                <a:lnTo>
                  <a:pt x="950625" y="100590"/>
                </a:lnTo>
                <a:lnTo>
                  <a:pt x="967310" y="100590"/>
                </a:lnTo>
                <a:lnTo>
                  <a:pt x="971587" y="98524"/>
                </a:lnTo>
                <a:lnTo>
                  <a:pt x="972397" y="97833"/>
                </a:lnTo>
                <a:lnTo>
                  <a:pt x="973630" y="82099"/>
                </a:lnTo>
                <a:lnTo>
                  <a:pt x="972938" y="81289"/>
                </a:lnTo>
                <a:lnTo>
                  <a:pt x="965287" y="75984"/>
                </a:lnTo>
                <a:close/>
              </a:path>
              <a:path w="987425" h="148589">
                <a:moveTo>
                  <a:pt x="8110" y="0"/>
                </a:moveTo>
                <a:lnTo>
                  <a:pt x="1233" y="5877"/>
                </a:lnTo>
                <a:lnTo>
                  <a:pt x="0" y="21610"/>
                </a:lnTo>
                <a:lnTo>
                  <a:pt x="5877" y="28487"/>
                </a:lnTo>
                <a:lnTo>
                  <a:pt x="904964" y="98963"/>
                </a:lnTo>
                <a:lnTo>
                  <a:pt x="930498" y="86634"/>
                </a:lnTo>
                <a:lnTo>
                  <a:pt x="907196" y="70475"/>
                </a:lnTo>
                <a:lnTo>
                  <a:pt x="8110" y="0"/>
                </a:lnTo>
                <a:close/>
              </a:path>
              <a:path w="987425" h="148589">
                <a:moveTo>
                  <a:pt x="972938" y="81289"/>
                </a:moveTo>
                <a:lnTo>
                  <a:pt x="973630" y="82099"/>
                </a:lnTo>
                <a:lnTo>
                  <a:pt x="972397" y="97833"/>
                </a:lnTo>
                <a:lnTo>
                  <a:pt x="971587" y="98524"/>
                </a:lnTo>
                <a:lnTo>
                  <a:pt x="987036" y="91065"/>
                </a:lnTo>
                <a:lnTo>
                  <a:pt x="972938" y="81289"/>
                </a:lnTo>
                <a:close/>
              </a:path>
              <a:path w="987425" h="148589">
                <a:moveTo>
                  <a:pt x="907196" y="70475"/>
                </a:moveTo>
                <a:lnTo>
                  <a:pt x="930498" y="86634"/>
                </a:lnTo>
                <a:lnTo>
                  <a:pt x="952554" y="75984"/>
                </a:lnTo>
                <a:lnTo>
                  <a:pt x="965287" y="75984"/>
                </a:lnTo>
                <a:lnTo>
                  <a:pt x="963734" y="74907"/>
                </a:lnTo>
                <a:lnTo>
                  <a:pt x="907196" y="70475"/>
                </a:lnTo>
                <a:close/>
              </a:path>
              <a:path w="987425" h="148589">
                <a:moveTo>
                  <a:pt x="963734" y="74907"/>
                </a:moveTo>
                <a:lnTo>
                  <a:pt x="972938" y="81289"/>
                </a:lnTo>
                <a:lnTo>
                  <a:pt x="967752" y="75222"/>
                </a:lnTo>
                <a:lnTo>
                  <a:pt x="963734" y="74907"/>
                </a:lnTo>
                <a:close/>
              </a:path>
              <a:path w="987425" h="148589">
                <a:moveTo>
                  <a:pt x="878869" y="16060"/>
                </a:moveTo>
                <a:lnTo>
                  <a:pt x="869967" y="17670"/>
                </a:lnTo>
                <a:lnTo>
                  <a:pt x="860974" y="30640"/>
                </a:lnTo>
                <a:lnTo>
                  <a:pt x="862586" y="39541"/>
                </a:lnTo>
                <a:lnTo>
                  <a:pt x="907196" y="70475"/>
                </a:lnTo>
                <a:lnTo>
                  <a:pt x="963734" y="74907"/>
                </a:lnTo>
                <a:lnTo>
                  <a:pt x="878869" y="16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963907" y="3033739"/>
            <a:ext cx="527685" cy="486409"/>
          </a:xfrm>
          <a:custGeom>
            <a:avLst/>
            <a:gdLst/>
            <a:ahLst/>
            <a:cxnLst/>
            <a:rect l="l" t="t" r="r" b="b"/>
            <a:pathLst>
              <a:path w="527685" h="486410">
                <a:moveTo>
                  <a:pt x="388835" y="28521"/>
                </a:moveTo>
                <a:lnTo>
                  <a:pt x="283618" y="28521"/>
                </a:lnTo>
                <a:lnTo>
                  <a:pt x="303364" y="29634"/>
                </a:lnTo>
                <a:lnTo>
                  <a:pt x="323088" y="33098"/>
                </a:lnTo>
                <a:lnTo>
                  <a:pt x="361792" y="46556"/>
                </a:lnTo>
                <a:lnTo>
                  <a:pt x="398297" y="67744"/>
                </a:lnTo>
                <a:lnTo>
                  <a:pt x="431139" y="95370"/>
                </a:lnTo>
                <a:lnTo>
                  <a:pt x="458895" y="128049"/>
                </a:lnTo>
                <a:lnTo>
                  <a:pt x="480223" y="164330"/>
                </a:lnTo>
                <a:lnTo>
                  <a:pt x="493896" y="202752"/>
                </a:lnTo>
                <a:lnTo>
                  <a:pt x="498831" y="241987"/>
                </a:lnTo>
                <a:lnTo>
                  <a:pt x="497719" y="261733"/>
                </a:lnTo>
                <a:lnTo>
                  <a:pt x="488566" y="300992"/>
                </a:lnTo>
                <a:lnTo>
                  <a:pt x="471089" y="338780"/>
                </a:lnTo>
                <a:lnTo>
                  <a:pt x="446515" y="373635"/>
                </a:lnTo>
                <a:lnTo>
                  <a:pt x="416185" y="404107"/>
                </a:lnTo>
                <a:lnTo>
                  <a:pt x="381521" y="428811"/>
                </a:lnTo>
                <a:lnTo>
                  <a:pt x="343989" y="446455"/>
                </a:lnTo>
                <a:lnTo>
                  <a:pt x="305022" y="455888"/>
                </a:lnTo>
                <a:lnTo>
                  <a:pt x="275742" y="457682"/>
                </a:lnTo>
                <a:lnTo>
                  <a:pt x="269749" y="464458"/>
                </a:lnTo>
                <a:lnTo>
                  <a:pt x="270714" y="480211"/>
                </a:lnTo>
                <a:lnTo>
                  <a:pt x="277489" y="486204"/>
                </a:lnTo>
                <a:lnTo>
                  <a:pt x="306769" y="484409"/>
                </a:lnTo>
                <a:lnTo>
                  <a:pt x="352075" y="473862"/>
                </a:lnTo>
                <a:lnTo>
                  <a:pt x="394799" y="454113"/>
                </a:lnTo>
                <a:lnTo>
                  <a:pt x="433694" y="426690"/>
                </a:lnTo>
                <a:lnTo>
                  <a:pt x="467546" y="392981"/>
                </a:lnTo>
                <a:lnTo>
                  <a:pt x="495098" y="354277"/>
                </a:lnTo>
                <a:lnTo>
                  <a:pt x="515015" y="311810"/>
                </a:lnTo>
                <a:lnTo>
                  <a:pt x="525842" y="266795"/>
                </a:lnTo>
                <a:lnTo>
                  <a:pt x="527353" y="243734"/>
                </a:lnTo>
                <a:lnTo>
                  <a:pt x="526041" y="220583"/>
                </a:lnTo>
                <a:lnTo>
                  <a:pt x="515494" y="175276"/>
                </a:lnTo>
                <a:lnTo>
                  <a:pt x="495745" y="132553"/>
                </a:lnTo>
                <a:lnTo>
                  <a:pt x="468321" y="93658"/>
                </a:lnTo>
                <a:lnTo>
                  <a:pt x="434613" y="59806"/>
                </a:lnTo>
                <a:lnTo>
                  <a:pt x="395908" y="32255"/>
                </a:lnTo>
                <a:lnTo>
                  <a:pt x="388835" y="28521"/>
                </a:lnTo>
                <a:close/>
              </a:path>
              <a:path w="527685" h="486410">
                <a:moveTo>
                  <a:pt x="48622" y="227437"/>
                </a:moveTo>
                <a:lnTo>
                  <a:pt x="55886" y="242926"/>
                </a:lnTo>
                <a:lnTo>
                  <a:pt x="64966" y="230144"/>
                </a:lnTo>
                <a:lnTo>
                  <a:pt x="63657" y="230144"/>
                </a:lnTo>
                <a:lnTo>
                  <a:pt x="48622" y="227437"/>
                </a:lnTo>
                <a:close/>
              </a:path>
              <a:path w="527685" h="486410">
                <a:moveTo>
                  <a:pt x="54490" y="172648"/>
                </a:moveTo>
                <a:lnTo>
                  <a:pt x="53969" y="173911"/>
                </a:lnTo>
                <a:lnTo>
                  <a:pt x="47324" y="196178"/>
                </a:lnTo>
                <a:lnTo>
                  <a:pt x="44362" y="212153"/>
                </a:lnTo>
                <a:lnTo>
                  <a:pt x="43555" y="216632"/>
                </a:lnTo>
                <a:lnTo>
                  <a:pt x="48622" y="227437"/>
                </a:lnTo>
                <a:lnTo>
                  <a:pt x="63657" y="230144"/>
                </a:lnTo>
                <a:lnTo>
                  <a:pt x="66243" y="228347"/>
                </a:lnTo>
                <a:lnTo>
                  <a:pt x="71919" y="220356"/>
                </a:lnTo>
                <a:lnTo>
                  <a:pt x="72586" y="216632"/>
                </a:lnTo>
                <a:lnTo>
                  <a:pt x="73975" y="208619"/>
                </a:lnTo>
                <a:lnTo>
                  <a:pt x="71358" y="208619"/>
                </a:lnTo>
                <a:lnTo>
                  <a:pt x="46775" y="206410"/>
                </a:lnTo>
                <a:lnTo>
                  <a:pt x="60959" y="186443"/>
                </a:lnTo>
                <a:lnTo>
                  <a:pt x="54490" y="172648"/>
                </a:lnTo>
                <a:close/>
              </a:path>
              <a:path w="527685" h="486410">
                <a:moveTo>
                  <a:pt x="66243" y="228347"/>
                </a:moveTo>
                <a:lnTo>
                  <a:pt x="63657" y="230144"/>
                </a:lnTo>
                <a:lnTo>
                  <a:pt x="64966" y="230144"/>
                </a:lnTo>
                <a:lnTo>
                  <a:pt x="66243" y="228347"/>
                </a:lnTo>
                <a:close/>
              </a:path>
              <a:path w="527685" h="486410">
                <a:moveTo>
                  <a:pt x="71919" y="220356"/>
                </a:moveTo>
                <a:lnTo>
                  <a:pt x="66243" y="228347"/>
                </a:lnTo>
                <a:lnTo>
                  <a:pt x="71086" y="224981"/>
                </a:lnTo>
                <a:lnTo>
                  <a:pt x="71919" y="220356"/>
                </a:lnTo>
                <a:close/>
              </a:path>
              <a:path w="527685" h="486410">
                <a:moveTo>
                  <a:pt x="43555" y="216632"/>
                </a:moveTo>
                <a:lnTo>
                  <a:pt x="42964" y="219919"/>
                </a:lnTo>
                <a:lnTo>
                  <a:pt x="48125" y="227347"/>
                </a:lnTo>
                <a:lnTo>
                  <a:pt x="48622" y="227437"/>
                </a:lnTo>
                <a:lnTo>
                  <a:pt x="43555" y="216632"/>
                </a:lnTo>
                <a:close/>
              </a:path>
              <a:path w="527685" h="486410">
                <a:moveTo>
                  <a:pt x="118066" y="117792"/>
                </a:moveTo>
                <a:lnTo>
                  <a:pt x="88188" y="165561"/>
                </a:lnTo>
                <a:lnTo>
                  <a:pt x="74730" y="204264"/>
                </a:lnTo>
                <a:lnTo>
                  <a:pt x="72485" y="217216"/>
                </a:lnTo>
                <a:lnTo>
                  <a:pt x="71919" y="220356"/>
                </a:lnTo>
                <a:lnTo>
                  <a:pt x="132115" y="135618"/>
                </a:lnTo>
                <a:lnTo>
                  <a:pt x="130605" y="126699"/>
                </a:lnTo>
                <a:lnTo>
                  <a:pt x="118066" y="117792"/>
                </a:lnTo>
                <a:close/>
              </a:path>
              <a:path w="527685" h="486410">
                <a:moveTo>
                  <a:pt x="17364" y="108544"/>
                </a:moveTo>
                <a:lnTo>
                  <a:pt x="3075" y="115244"/>
                </a:lnTo>
                <a:lnTo>
                  <a:pt x="0" y="123752"/>
                </a:lnTo>
                <a:lnTo>
                  <a:pt x="43555" y="216632"/>
                </a:lnTo>
                <a:lnTo>
                  <a:pt x="44362" y="212153"/>
                </a:lnTo>
                <a:lnTo>
                  <a:pt x="47324" y="196178"/>
                </a:lnTo>
                <a:lnTo>
                  <a:pt x="53969" y="173911"/>
                </a:lnTo>
                <a:lnTo>
                  <a:pt x="54490" y="172648"/>
                </a:lnTo>
                <a:lnTo>
                  <a:pt x="25872" y="111620"/>
                </a:lnTo>
                <a:lnTo>
                  <a:pt x="17364" y="108544"/>
                </a:lnTo>
                <a:close/>
              </a:path>
              <a:path w="527685" h="486410">
                <a:moveTo>
                  <a:pt x="60959" y="186443"/>
                </a:moveTo>
                <a:lnTo>
                  <a:pt x="46775" y="206410"/>
                </a:lnTo>
                <a:lnTo>
                  <a:pt x="71358" y="208619"/>
                </a:lnTo>
                <a:lnTo>
                  <a:pt x="60959" y="186443"/>
                </a:lnTo>
                <a:close/>
              </a:path>
              <a:path w="527685" h="486410">
                <a:moveTo>
                  <a:pt x="117739" y="117560"/>
                </a:moveTo>
                <a:lnTo>
                  <a:pt x="108819" y="119070"/>
                </a:lnTo>
                <a:lnTo>
                  <a:pt x="60959" y="186443"/>
                </a:lnTo>
                <a:lnTo>
                  <a:pt x="71358" y="208619"/>
                </a:lnTo>
                <a:lnTo>
                  <a:pt x="73975" y="208619"/>
                </a:lnTo>
                <a:lnTo>
                  <a:pt x="74730" y="204264"/>
                </a:lnTo>
                <a:lnTo>
                  <a:pt x="80417" y="184729"/>
                </a:lnTo>
                <a:lnTo>
                  <a:pt x="88188" y="165561"/>
                </a:lnTo>
                <a:lnTo>
                  <a:pt x="97894" y="146941"/>
                </a:lnTo>
                <a:lnTo>
                  <a:pt x="109376" y="129054"/>
                </a:lnTo>
                <a:lnTo>
                  <a:pt x="118066" y="117792"/>
                </a:lnTo>
                <a:lnTo>
                  <a:pt x="117739" y="117560"/>
                </a:lnTo>
                <a:close/>
              </a:path>
              <a:path w="527685" h="486410">
                <a:moveTo>
                  <a:pt x="285366" y="0"/>
                </a:moveTo>
                <a:lnTo>
                  <a:pt x="239321" y="5334"/>
                </a:lnTo>
                <a:lnTo>
                  <a:pt x="195144" y="20681"/>
                </a:lnTo>
                <a:lnTo>
                  <a:pt x="154184" y="44450"/>
                </a:lnTo>
                <a:lnTo>
                  <a:pt x="117657" y="75182"/>
                </a:lnTo>
                <a:lnTo>
                  <a:pt x="86746" y="111620"/>
                </a:lnTo>
                <a:lnTo>
                  <a:pt x="62886" y="152283"/>
                </a:lnTo>
                <a:lnTo>
                  <a:pt x="54490" y="172648"/>
                </a:lnTo>
                <a:lnTo>
                  <a:pt x="60959" y="186443"/>
                </a:lnTo>
                <a:lnTo>
                  <a:pt x="108819" y="119070"/>
                </a:lnTo>
                <a:lnTo>
                  <a:pt x="117739" y="117560"/>
                </a:lnTo>
                <a:lnTo>
                  <a:pt x="118246" y="117560"/>
                </a:lnTo>
                <a:lnTo>
                  <a:pt x="122469" y="112086"/>
                </a:lnTo>
                <a:lnTo>
                  <a:pt x="137002" y="96213"/>
                </a:lnTo>
                <a:lnTo>
                  <a:pt x="169680" y="68458"/>
                </a:lnTo>
                <a:lnTo>
                  <a:pt x="205962" y="47129"/>
                </a:lnTo>
                <a:lnTo>
                  <a:pt x="244384" y="33456"/>
                </a:lnTo>
                <a:lnTo>
                  <a:pt x="283618" y="28521"/>
                </a:lnTo>
                <a:lnTo>
                  <a:pt x="388835" y="28521"/>
                </a:lnTo>
                <a:lnTo>
                  <a:pt x="375070" y="21254"/>
                </a:lnTo>
                <a:lnTo>
                  <a:pt x="353442" y="12338"/>
                </a:lnTo>
                <a:lnTo>
                  <a:pt x="331175" y="5692"/>
                </a:lnTo>
                <a:lnTo>
                  <a:pt x="308427" y="1511"/>
                </a:lnTo>
                <a:lnTo>
                  <a:pt x="285366" y="0"/>
                </a:lnTo>
                <a:close/>
              </a:path>
              <a:path w="527685" h="486410">
                <a:moveTo>
                  <a:pt x="118246" y="117560"/>
                </a:moveTo>
                <a:lnTo>
                  <a:pt x="117739" y="117560"/>
                </a:lnTo>
                <a:lnTo>
                  <a:pt x="118066" y="117792"/>
                </a:lnTo>
                <a:lnTo>
                  <a:pt x="118246" y="117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745479" y="3255264"/>
            <a:ext cx="548639" cy="5486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702808" y="3209544"/>
            <a:ext cx="633984" cy="7254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9120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922168" y="329742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440679" y="4093464"/>
            <a:ext cx="548639" cy="5486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398008" y="4047744"/>
            <a:ext cx="633984" cy="72542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486400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617368" y="413562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736080" y="4169664"/>
            <a:ext cx="548640" cy="54864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644640" y="4123944"/>
            <a:ext cx="731520" cy="72542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781800" y="419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8" y="17964"/>
                </a:lnTo>
                <a:lnTo>
                  <a:pt x="100787" y="39041"/>
                </a:lnTo>
                <a:lnTo>
                  <a:pt x="66955" y="66955"/>
                </a:lnTo>
                <a:lnTo>
                  <a:pt x="39041" y="100787"/>
                </a:lnTo>
                <a:lnTo>
                  <a:pt x="17964" y="139618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1"/>
                </a:lnTo>
                <a:lnTo>
                  <a:pt x="39041" y="356412"/>
                </a:lnTo>
                <a:lnTo>
                  <a:pt x="66955" y="390244"/>
                </a:lnTo>
                <a:lnTo>
                  <a:pt x="100787" y="418158"/>
                </a:lnTo>
                <a:lnTo>
                  <a:pt x="139618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1" y="439235"/>
                </a:lnTo>
                <a:lnTo>
                  <a:pt x="356412" y="418158"/>
                </a:lnTo>
                <a:lnTo>
                  <a:pt x="390244" y="390244"/>
                </a:lnTo>
                <a:lnTo>
                  <a:pt x="418158" y="356412"/>
                </a:lnTo>
                <a:lnTo>
                  <a:pt x="439235" y="317581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8"/>
                </a:lnTo>
                <a:lnTo>
                  <a:pt x="418158" y="100787"/>
                </a:lnTo>
                <a:lnTo>
                  <a:pt x="390244" y="66955"/>
                </a:lnTo>
                <a:lnTo>
                  <a:pt x="356412" y="39041"/>
                </a:lnTo>
                <a:lnTo>
                  <a:pt x="317581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861968" y="4211828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5"/>
              </a:rPr>
              <a:t>http://cs224w.stanford.edu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0791" y="347472"/>
            <a:ext cx="84033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66075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7785">
              <a:lnSpc>
                <a:spcPts val="3790"/>
              </a:lnSpc>
              <a:spcBef>
                <a:spcPts val="265"/>
              </a:spcBef>
            </a:pPr>
            <a:r>
              <a:rPr dirty="0" spc="-25">
                <a:solidFill>
                  <a:srgbClr val="0000FF"/>
                </a:solidFill>
              </a:rPr>
              <a:t>Why </a:t>
            </a:r>
            <a:r>
              <a:rPr dirty="0" spc="-15">
                <a:solidFill>
                  <a:srgbClr val="0000FF"/>
                </a:solidFill>
              </a:rPr>
              <a:t>are </a:t>
            </a:r>
            <a:r>
              <a:rPr dirty="0" spc="-5">
                <a:solidFill>
                  <a:srgbClr val="0000FF"/>
                </a:solidFill>
              </a:rPr>
              <a:t>dead-ends </a:t>
            </a:r>
            <a:r>
              <a:rPr dirty="0" spc="-10">
                <a:solidFill>
                  <a:srgbClr val="0000FF"/>
                </a:solidFill>
              </a:rPr>
              <a:t>and </a:t>
            </a:r>
            <a:r>
              <a:rPr dirty="0" spc="-5">
                <a:solidFill>
                  <a:srgbClr val="0000FF"/>
                </a:solidFill>
              </a:rPr>
              <a:t>spider </a:t>
            </a:r>
            <a:r>
              <a:rPr dirty="0" spc="-25">
                <a:solidFill>
                  <a:srgbClr val="0000FF"/>
                </a:solidFill>
              </a:rPr>
              <a:t>traps </a:t>
            </a:r>
            <a:r>
              <a:rPr dirty="0">
                <a:solidFill>
                  <a:srgbClr val="0000FF"/>
                </a:solidFill>
              </a:rPr>
              <a:t>a </a:t>
            </a:r>
            <a:r>
              <a:rPr dirty="0" spc="-10">
                <a:solidFill>
                  <a:srgbClr val="0000FF"/>
                </a:solidFill>
              </a:rPr>
              <a:t>problem  </a:t>
            </a:r>
            <a:r>
              <a:rPr dirty="0" spc="-5">
                <a:solidFill>
                  <a:srgbClr val="000000"/>
                </a:solidFill>
              </a:rPr>
              <a:t>and </a:t>
            </a:r>
            <a:r>
              <a:rPr dirty="0" spc="-25">
                <a:solidFill>
                  <a:srgbClr val="FF0066"/>
                </a:solidFill>
              </a:rPr>
              <a:t>why </a:t>
            </a:r>
            <a:r>
              <a:rPr dirty="0" spc="-5">
                <a:solidFill>
                  <a:srgbClr val="FF0066"/>
                </a:solidFill>
              </a:rPr>
              <a:t>do </a:t>
            </a:r>
            <a:r>
              <a:rPr dirty="0" spc="-10">
                <a:solidFill>
                  <a:srgbClr val="FF0066"/>
                </a:solidFill>
              </a:rPr>
              <a:t>teleports solve </a:t>
            </a:r>
            <a:r>
              <a:rPr dirty="0" spc="-5">
                <a:solidFill>
                  <a:srgbClr val="FF0066"/>
                </a:solidFill>
              </a:rPr>
              <a:t>the</a:t>
            </a:r>
            <a:r>
              <a:rPr dirty="0" spc="30">
                <a:solidFill>
                  <a:srgbClr val="FF0066"/>
                </a:solidFill>
              </a:rPr>
              <a:t> </a:t>
            </a:r>
            <a:r>
              <a:rPr dirty="0" spc="-10">
                <a:solidFill>
                  <a:srgbClr val="FF0066"/>
                </a:solidFill>
              </a:rPr>
              <a:t>problem?</a:t>
            </a: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00FF"/>
                </a:solidFill>
              </a:rPr>
              <a:t>Spider-traps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are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not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problem,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but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with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traps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PageRank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scores are </a:t>
            </a:r>
            <a:r>
              <a:rPr dirty="0" spc="-5">
                <a:solidFill>
                  <a:srgbClr val="000000"/>
                </a:solidFill>
              </a:rPr>
              <a:t>not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what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dirty="0" spc="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want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3392932"/>
            <a:ext cx="7995920" cy="32353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625475" marR="65913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FF0066"/>
                </a:solidFill>
                <a:latin typeface="Calibri"/>
                <a:cs typeface="Calibri"/>
              </a:rPr>
              <a:t>Solution: </a:t>
            </a:r>
            <a:r>
              <a:rPr dirty="0" sz="2800" spc="-15">
                <a:latin typeface="Calibri"/>
                <a:cs typeface="Calibri"/>
              </a:rPr>
              <a:t>Never </a:t>
            </a:r>
            <a:r>
              <a:rPr dirty="0" sz="2800" spc="-20">
                <a:latin typeface="Calibri"/>
                <a:cs typeface="Calibri"/>
              </a:rPr>
              <a:t>get </a:t>
            </a:r>
            <a:r>
              <a:rPr dirty="0" sz="2800" spc="-10">
                <a:latin typeface="Calibri"/>
                <a:cs typeface="Calibri"/>
              </a:rPr>
              <a:t>stuck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spider </a:t>
            </a:r>
            <a:r>
              <a:rPr dirty="0" sz="2800" spc="-20">
                <a:latin typeface="Calibri"/>
                <a:cs typeface="Calibri"/>
              </a:rPr>
              <a:t>trap </a:t>
            </a:r>
            <a:r>
              <a:rPr dirty="0" sz="2800" spc="-5">
                <a:latin typeface="Calibri"/>
                <a:cs typeface="Calibri"/>
              </a:rPr>
              <a:t>by  </a:t>
            </a:r>
            <a:r>
              <a:rPr dirty="0" sz="2800" spc="-10">
                <a:latin typeface="Calibri"/>
                <a:cs typeface="Calibri"/>
              </a:rPr>
              <a:t>teleporting </a:t>
            </a:r>
            <a:r>
              <a:rPr dirty="0" sz="2800" spc="-5">
                <a:latin typeface="Calibri"/>
                <a:cs typeface="Calibri"/>
              </a:rPr>
              <a:t>out of it 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finite </a:t>
            </a:r>
            <a:r>
              <a:rPr dirty="0" sz="2800" spc="-5">
                <a:latin typeface="Calibri"/>
                <a:cs typeface="Calibri"/>
              </a:rPr>
              <a:t>number of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steps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Dead-ends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problem</a:t>
            </a:r>
            <a:endParaRPr sz="3200">
              <a:latin typeface="Calibri"/>
              <a:cs typeface="Calibri"/>
            </a:endParaRPr>
          </a:p>
          <a:p>
            <a:pPr lvl="1" marL="625475" marR="400050" indent="-274320">
              <a:lnSpc>
                <a:spcPts val="3290"/>
              </a:lnSpc>
              <a:spcBef>
                <a:spcPts val="9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matrix </a:t>
            </a:r>
            <a:r>
              <a:rPr dirty="0" sz="2800" spc="-5">
                <a:latin typeface="Calibri"/>
                <a:cs typeface="Calibri"/>
              </a:rPr>
              <a:t>is not </a:t>
            </a:r>
            <a:r>
              <a:rPr dirty="0" sz="2800" spc="-10">
                <a:latin typeface="Calibri"/>
                <a:cs typeface="Calibri"/>
              </a:rPr>
              <a:t>column </a:t>
            </a:r>
            <a:r>
              <a:rPr dirty="0" sz="2800" spc="-15">
                <a:latin typeface="Calibri"/>
                <a:cs typeface="Calibri"/>
              </a:rPr>
              <a:t>stochastic </a:t>
            </a:r>
            <a:r>
              <a:rPr dirty="0" sz="2800">
                <a:latin typeface="Calibri"/>
                <a:cs typeface="Calibri"/>
              </a:rPr>
              <a:t>so </a:t>
            </a:r>
            <a:r>
              <a:rPr dirty="0" sz="2800" spc="-5">
                <a:latin typeface="Calibri"/>
                <a:cs typeface="Calibri"/>
              </a:rPr>
              <a:t>our </a:t>
            </a:r>
            <a:r>
              <a:rPr dirty="0" sz="2800" spc="-90">
                <a:latin typeface="Calibri"/>
                <a:cs typeface="Calibri"/>
              </a:rPr>
              <a:t>initial  </a:t>
            </a:r>
            <a:r>
              <a:rPr dirty="0" sz="2800" spc="-5">
                <a:latin typeface="Calibri"/>
                <a:cs typeface="Calibri"/>
              </a:rPr>
              <a:t>assumptions 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not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met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ts val="3310"/>
              </a:lnSpc>
              <a:spcBef>
                <a:spcPts val="7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FF0066"/>
                </a:solidFill>
                <a:latin typeface="Calibri"/>
                <a:cs typeface="Calibri"/>
              </a:rPr>
              <a:t>Solution: </a:t>
            </a:r>
            <a:r>
              <a:rPr dirty="0" sz="2800" spc="-25">
                <a:latin typeface="Calibri"/>
                <a:cs typeface="Calibri"/>
              </a:rPr>
              <a:t>Make </a:t>
            </a:r>
            <a:r>
              <a:rPr dirty="0" sz="2800" spc="-10">
                <a:latin typeface="Calibri"/>
                <a:cs typeface="Calibri"/>
              </a:rPr>
              <a:t>matrix column </a:t>
            </a:r>
            <a:r>
              <a:rPr dirty="0" sz="2800" spc="-15">
                <a:latin typeface="Calibri"/>
                <a:cs typeface="Calibri"/>
              </a:rPr>
              <a:t>stochastic </a:t>
            </a:r>
            <a:r>
              <a:rPr dirty="0" sz="2800" spc="-5">
                <a:latin typeface="Calibri"/>
                <a:cs typeface="Calibri"/>
              </a:rPr>
              <a:t>by </a:t>
            </a:r>
            <a:r>
              <a:rPr dirty="0" sz="2800" spc="-120">
                <a:latin typeface="Calibri"/>
                <a:cs typeface="Calibri"/>
              </a:rPr>
              <a:t>always  </a:t>
            </a:r>
            <a:r>
              <a:rPr dirty="0" sz="2800" spc="-10">
                <a:latin typeface="Calibri"/>
                <a:cs typeface="Calibri"/>
              </a:rPr>
              <a:t>teleporting </a:t>
            </a:r>
            <a:r>
              <a:rPr dirty="0" sz="2800" spc="-5">
                <a:latin typeface="Calibri"/>
                <a:cs typeface="Calibri"/>
              </a:rPr>
              <a:t>when </a:t>
            </a:r>
            <a:r>
              <a:rPr dirty="0" sz="2800" spc="-10">
                <a:latin typeface="Calibri"/>
                <a:cs typeface="Calibri"/>
              </a:rPr>
              <a:t>there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nowhere </a:t>
            </a:r>
            <a:r>
              <a:rPr dirty="0" sz="2800" spc="-5">
                <a:latin typeface="Calibri"/>
                <a:cs typeface="Calibri"/>
              </a:rPr>
              <a:t>else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8214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8712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 u="heavy"/>
              <a:t>Google’s </a:t>
            </a:r>
            <a:r>
              <a:rPr dirty="0" spc="-5" u="heavy"/>
              <a:t>solution </a:t>
            </a:r>
            <a:r>
              <a:rPr dirty="0" spc="-15" u="heavy"/>
              <a:t>that </a:t>
            </a:r>
            <a:r>
              <a:rPr dirty="0" spc="-5" u="heavy"/>
              <a:t>does </a:t>
            </a:r>
            <a:r>
              <a:rPr dirty="0" u="heavy"/>
              <a:t>it</a:t>
            </a:r>
            <a:r>
              <a:rPr dirty="0" spc="15" u="heavy"/>
              <a:t> </a:t>
            </a:r>
            <a:r>
              <a:rPr dirty="0" spc="-5" u="heavy"/>
              <a:t>all: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737710"/>
            <a:ext cx="7764780" cy="244729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830"/>
              </a:spcBef>
            </a:pPr>
            <a:r>
              <a:rPr dirty="0" sz="3200" spc="-45">
                <a:solidFill>
                  <a:srgbClr val="0000FF"/>
                </a:solidFill>
                <a:latin typeface="Calibri"/>
                <a:cs typeface="Calibri"/>
              </a:rPr>
              <a:t>At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each </a:t>
            </a:r>
            <a:r>
              <a:rPr dirty="0" sz="3200" spc="-20">
                <a:solidFill>
                  <a:srgbClr val="0000FF"/>
                </a:solidFill>
                <a:latin typeface="Calibri"/>
                <a:cs typeface="Calibri"/>
              </a:rPr>
              <a:t>step,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random </a:t>
            </a:r>
            <a:r>
              <a:rPr dirty="0" sz="3200" spc="-20">
                <a:solidFill>
                  <a:srgbClr val="0000FF"/>
                </a:solidFill>
                <a:latin typeface="Calibri"/>
                <a:cs typeface="Calibri"/>
              </a:rPr>
              <a:t>surfer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has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two</a:t>
            </a:r>
            <a:r>
              <a:rPr dirty="0" sz="32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options:</a:t>
            </a:r>
            <a:endParaRPr sz="32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3496310" algn="l"/>
              </a:tabLst>
            </a:pPr>
            <a:r>
              <a:rPr dirty="0" sz="2800" spc="-5">
                <a:latin typeface="Calibri"/>
                <a:cs typeface="Calibri"/>
              </a:rPr>
              <a:t>With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probability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900" spc="-40" b="1" i="1">
                <a:latin typeface="Symbol"/>
                <a:cs typeface="Symbol"/>
              </a:rPr>
              <a:t></a:t>
            </a:r>
            <a:r>
              <a:rPr dirty="0" sz="2800" spc="-40">
                <a:latin typeface="Calibri"/>
                <a:cs typeface="Calibri"/>
              </a:rPr>
              <a:t>,	</a:t>
            </a:r>
            <a:r>
              <a:rPr dirty="0" sz="2800" spc="-20">
                <a:latin typeface="Calibri"/>
                <a:cs typeface="Calibri"/>
              </a:rPr>
              <a:t>follow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link </a:t>
            </a:r>
            <a:r>
              <a:rPr dirty="0" sz="2800" spc="-15">
                <a:latin typeface="Calibri"/>
                <a:cs typeface="Calibri"/>
              </a:rPr>
              <a:t>at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random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0">
                <a:latin typeface="Calibri"/>
                <a:cs typeface="Calibri"/>
              </a:rPr>
              <a:t>probability </a:t>
            </a:r>
            <a:r>
              <a:rPr dirty="0" sz="2800" spc="-20" b="1" i="1">
                <a:latin typeface="Times New Roman"/>
                <a:cs typeface="Times New Roman"/>
              </a:rPr>
              <a:t>1-</a:t>
            </a:r>
            <a:r>
              <a:rPr dirty="0" sz="2900" spc="-20" b="1" i="1">
                <a:latin typeface="Symbol"/>
                <a:cs typeface="Symbol"/>
              </a:rPr>
              <a:t></a:t>
            </a:r>
            <a:r>
              <a:rPr dirty="0" sz="2800" spc="-20">
                <a:latin typeface="Calibri"/>
                <a:cs typeface="Calibri"/>
              </a:rPr>
              <a:t>, </a:t>
            </a:r>
            <a:r>
              <a:rPr dirty="0" sz="2800">
                <a:latin typeface="Calibri"/>
                <a:cs typeface="Calibri"/>
              </a:rPr>
              <a:t>jump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some </a:t>
            </a:r>
            <a:r>
              <a:rPr dirty="0" sz="2800" spc="-15">
                <a:latin typeface="Calibri"/>
                <a:cs typeface="Calibri"/>
              </a:rPr>
              <a:t>random</a:t>
            </a:r>
            <a:r>
              <a:rPr dirty="0" sz="2800" spc="80">
                <a:latin typeface="Calibri"/>
                <a:cs typeface="Calibri"/>
              </a:rPr>
              <a:t> </a:t>
            </a:r>
            <a:r>
              <a:rPr dirty="0" sz="2800" spc="-40">
                <a:latin typeface="Calibri"/>
                <a:cs typeface="Calibri"/>
              </a:rPr>
              <a:t>page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PageRank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equation </a:t>
            </a:r>
            <a:r>
              <a:rPr dirty="0" sz="3200" spc="-15">
                <a:solidFill>
                  <a:srgbClr val="7F7F7F"/>
                </a:solidFill>
                <a:latin typeface="Calibri"/>
                <a:cs typeface="Calibri"/>
              </a:rPr>
              <a:t>[Brin-Page,</a:t>
            </a:r>
            <a:r>
              <a:rPr dirty="0" sz="3200" spc="3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7F7F7F"/>
                </a:solidFill>
                <a:latin typeface="Calibri"/>
                <a:cs typeface="Calibri"/>
              </a:rPr>
              <a:t>98]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5835" y="4754879"/>
            <a:ext cx="19875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525">
                <a:latin typeface="Cambria Math"/>
                <a:cs typeface="Cambria Math"/>
              </a:rPr>
              <a:t>!</a:t>
            </a:r>
            <a:endParaRPr sz="29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1851" y="5297423"/>
            <a:ext cx="65278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25">
                <a:latin typeface="Cambria Math"/>
                <a:cs typeface="Cambria Math"/>
              </a:rPr>
              <a:t>"</a:t>
            </a:r>
            <a:r>
              <a:rPr dirty="0" sz="2900" spc="15">
                <a:latin typeface="Cambria Math"/>
                <a:cs typeface="Cambria Math"/>
              </a:rPr>
              <a:t>→</a:t>
            </a:r>
            <a:r>
              <a:rPr dirty="0" sz="2900" spc="525">
                <a:latin typeface="Cambria Math"/>
                <a:cs typeface="Cambria Math"/>
              </a:rPr>
              <a:t>!</a:t>
            </a:r>
            <a:endParaRPr sz="29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3025" y="4849876"/>
            <a:ext cx="448309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>
                <a:latin typeface="Cambria Math"/>
                <a:cs typeface="Cambria Math"/>
              </a:rPr>
              <a:t>𝑑</a:t>
            </a:r>
            <a:r>
              <a:rPr dirty="0" baseline="-15325" sz="4350" spc="-187">
                <a:latin typeface="Cambria Math"/>
                <a:cs typeface="Cambria Math"/>
              </a:rPr>
              <a:t>"</a:t>
            </a:r>
            <a:endParaRPr baseline="-15325" sz="43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5627" y="4511547"/>
            <a:ext cx="500761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2284" algn="l"/>
                <a:tab pos="2294255" algn="l"/>
                <a:tab pos="2539365" algn="l"/>
                <a:tab pos="2870200" algn="l"/>
              </a:tabLst>
            </a:pPr>
            <a:r>
              <a:rPr dirty="0" sz="4000">
                <a:latin typeface="Cambria Math"/>
                <a:cs typeface="Cambria Math"/>
              </a:rPr>
              <a:t>𝑟	=</a:t>
            </a:r>
            <a:r>
              <a:rPr dirty="0" sz="4000" spc="225">
                <a:latin typeface="Cambria Math"/>
                <a:cs typeface="Cambria Math"/>
              </a:rPr>
              <a:t> </a:t>
            </a:r>
            <a:r>
              <a:rPr dirty="0" sz="4000" spc="4350">
                <a:latin typeface="Cambria Math"/>
                <a:cs typeface="Cambria Math"/>
              </a:rPr>
              <a:t>'</a:t>
            </a:r>
            <a:r>
              <a:rPr dirty="0" sz="4000" spc="-215">
                <a:latin typeface="Cambria Math"/>
                <a:cs typeface="Cambria Math"/>
              </a:rPr>
              <a:t> </a:t>
            </a:r>
            <a:r>
              <a:rPr dirty="0" sz="4000">
                <a:latin typeface="Cambria Math"/>
                <a:cs typeface="Cambria Math"/>
              </a:rPr>
              <a:t>𝛽	</a:t>
            </a:r>
            <a:r>
              <a:rPr dirty="0" baseline="30555" sz="6000" u="heavy">
                <a:latin typeface="Cambria Math"/>
                <a:cs typeface="Cambria Math"/>
              </a:rPr>
              <a:t> 	</a:t>
            </a:r>
            <a:r>
              <a:rPr dirty="0" baseline="42145" sz="4350" spc="-187" u="heavy">
                <a:latin typeface="Cambria Math"/>
                <a:cs typeface="Cambria Math"/>
              </a:rPr>
              <a:t>"</a:t>
            </a:r>
            <a:r>
              <a:rPr dirty="0" baseline="42145" sz="4350" spc="-187">
                <a:latin typeface="Cambria Math"/>
                <a:cs typeface="Cambria Math"/>
              </a:rPr>
              <a:t>	</a:t>
            </a:r>
            <a:r>
              <a:rPr dirty="0" sz="4000">
                <a:latin typeface="Cambria Math"/>
                <a:cs typeface="Cambria Math"/>
              </a:rPr>
              <a:t>+ (1 −</a:t>
            </a:r>
            <a:r>
              <a:rPr dirty="0" sz="4000" spc="-80">
                <a:latin typeface="Cambria Math"/>
                <a:cs typeface="Cambria Math"/>
              </a:rPr>
              <a:t> </a:t>
            </a:r>
            <a:r>
              <a:rPr dirty="0" sz="4000" spc="50">
                <a:latin typeface="Cambria Math"/>
                <a:cs typeface="Cambria Math"/>
              </a:rPr>
              <a:t>𝛽)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71564" y="488569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 h="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37127" y="4127500"/>
            <a:ext cx="308356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8920" algn="l"/>
              </a:tabLst>
            </a:pPr>
            <a:r>
              <a:rPr dirty="0" sz="4000">
                <a:latin typeface="Cambria Math"/>
                <a:cs typeface="Cambria Math"/>
              </a:rPr>
              <a:t>𝑟	1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6662355" y="4849876"/>
            <a:ext cx="39751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Cambria Math"/>
                <a:cs typeface="Cambria Math"/>
              </a:rPr>
              <a:t>𝑁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285" y="4224020"/>
            <a:ext cx="1646555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dirty="0" baseline="-13888" sz="1800" spc="-7">
                <a:solidFill>
                  <a:srgbClr val="008000"/>
                </a:solidFill>
                <a:latin typeface="Arial"/>
                <a:cs typeface="Arial"/>
              </a:rPr>
              <a:t>i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…</a:t>
            </a:r>
            <a:r>
              <a:rPr dirty="0" sz="1800" spc="-9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out-degree</a:t>
            </a:r>
            <a:endParaRPr sz="1800">
              <a:latin typeface="Arial"/>
              <a:cs typeface="Arial"/>
            </a:endParaRPr>
          </a:p>
          <a:p>
            <a:pPr marL="756920">
              <a:lnSpc>
                <a:spcPts val="2125"/>
              </a:lnSpc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of node</a:t>
            </a:r>
            <a:r>
              <a:rPr dirty="0" sz="1800" spc="-9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4456" y="5907532"/>
            <a:ext cx="6490970" cy="754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 marR="5080" indent="-635">
              <a:lnSpc>
                <a:spcPct val="99400"/>
              </a:lnSpc>
              <a:spcBef>
                <a:spcPts val="110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This formulation assumes that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𝑴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has no dead ends. </a:t>
            </a:r>
            <a:r>
              <a:rPr dirty="0" sz="1600" spc="-15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can either  preprocess matrix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𝑴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remove all dead ends or explicitly follow random  teleport links with probability 1.0 from</a:t>
            </a:r>
            <a:r>
              <a:rPr dirty="0" sz="1600" spc="2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dead-ends.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54761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242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00FF"/>
                </a:solidFill>
              </a:rPr>
              <a:t>PageRank </a:t>
            </a:r>
            <a:r>
              <a:rPr dirty="0" spc="-10">
                <a:solidFill>
                  <a:srgbClr val="0000FF"/>
                </a:solidFill>
              </a:rPr>
              <a:t>equation </a:t>
            </a:r>
            <a:r>
              <a:rPr dirty="0" spc="-15" b="0">
                <a:solidFill>
                  <a:srgbClr val="7F7F7F"/>
                </a:solidFill>
                <a:latin typeface="Calibri"/>
                <a:cs typeface="Calibri"/>
              </a:rPr>
              <a:t>[Brin-Page,</a:t>
            </a:r>
            <a:r>
              <a:rPr dirty="0" spc="30" b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7F7F7F"/>
                </a:solidFill>
                <a:latin typeface="Calibri"/>
                <a:cs typeface="Calibri"/>
              </a:rPr>
              <a:t>‘98]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12047" y="2319527"/>
            <a:ext cx="16256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41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0135" y="2755392"/>
            <a:ext cx="5270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>
                <a:latin typeface="Cambria Math"/>
                <a:cs typeface="Cambria Math"/>
              </a:rPr>
              <a:t>"</a:t>
            </a:r>
            <a:r>
              <a:rPr dirty="0" sz="2300" spc="30">
                <a:latin typeface="Cambria Math"/>
                <a:cs typeface="Cambria Math"/>
              </a:rPr>
              <a:t>→</a:t>
            </a:r>
            <a:r>
              <a:rPr dirty="0" sz="2300" spc="41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9207" y="2122932"/>
            <a:ext cx="16871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130" algn="l"/>
              </a:tabLst>
            </a:pPr>
            <a:r>
              <a:rPr dirty="0" sz="3200">
                <a:latin typeface="Cambria Math"/>
                <a:cs typeface="Cambria Math"/>
              </a:rPr>
              <a:t>𝑟	= </a:t>
            </a:r>
            <a:r>
              <a:rPr dirty="0" sz="3200" spc="2255">
                <a:latin typeface="Cambria Math"/>
                <a:cs typeface="Cambria Math"/>
              </a:rPr>
              <a:t>#</a:t>
            </a:r>
            <a:r>
              <a:rPr dirty="0" sz="3200" spc="-9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𝛽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55364" y="2428239"/>
            <a:ext cx="368300" cy="0"/>
          </a:xfrm>
          <a:custGeom>
            <a:avLst/>
            <a:gdLst/>
            <a:ahLst/>
            <a:cxnLst/>
            <a:rect l="l" t="t" r="r" b="b"/>
            <a:pathLst>
              <a:path w="368300" h="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232402" y="2011679"/>
            <a:ext cx="1282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0">
                <a:latin typeface="Cambria Math"/>
                <a:cs typeface="Cambria Math"/>
              </a:rPr>
              <a:t>"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0441" y="2394204"/>
            <a:ext cx="3632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ambria Math"/>
                <a:cs typeface="Cambria Math"/>
              </a:rPr>
              <a:t>𝑑</a:t>
            </a:r>
            <a:r>
              <a:rPr dirty="0" baseline="-15700" sz="3450" spc="-150">
                <a:latin typeface="Cambria Math"/>
                <a:cs typeface="Cambria Math"/>
              </a:rPr>
              <a:t>"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7514" y="2122932"/>
            <a:ext cx="17240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+ </a:t>
            </a:r>
            <a:r>
              <a:rPr dirty="0" sz="3200" spc="-5">
                <a:latin typeface="Cambria Math"/>
                <a:cs typeface="Cambria Math"/>
              </a:rPr>
              <a:t>(1 </a:t>
            </a:r>
            <a:r>
              <a:rPr dirty="0" sz="3200">
                <a:latin typeface="Cambria Math"/>
                <a:cs typeface="Cambria Math"/>
              </a:rPr>
              <a:t>−</a:t>
            </a:r>
            <a:r>
              <a:rPr dirty="0" sz="3200" spc="-85">
                <a:latin typeface="Cambria Math"/>
                <a:cs typeface="Cambria Math"/>
              </a:rPr>
              <a:t> </a:t>
            </a:r>
            <a:r>
              <a:rPr dirty="0" sz="3200" spc="40">
                <a:latin typeface="Cambria Math"/>
                <a:cs typeface="Cambria Math"/>
              </a:rPr>
              <a:t>𝛽)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77864" y="2428239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7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083367" y="1815084"/>
            <a:ext cx="24720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3295" algn="l"/>
              </a:tabLst>
            </a:pPr>
            <a:r>
              <a:rPr dirty="0" sz="3200">
                <a:latin typeface="Cambria Math"/>
                <a:cs typeface="Cambria Math"/>
              </a:rPr>
              <a:t>𝑟	1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62941" y="2394204"/>
            <a:ext cx="3232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𝑁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99172" y="3940072"/>
            <a:ext cx="1233805" cy="376555"/>
          </a:xfrm>
          <a:custGeom>
            <a:avLst/>
            <a:gdLst/>
            <a:ahLst/>
            <a:cxnLst/>
            <a:rect l="l" t="t" r="r" b="b"/>
            <a:pathLst>
              <a:path w="1233804" h="376554">
                <a:moveTo>
                  <a:pt x="1113448" y="0"/>
                </a:moveTo>
                <a:lnTo>
                  <a:pt x="1108090" y="15279"/>
                </a:lnTo>
                <a:lnTo>
                  <a:pt x="1129881" y="24736"/>
                </a:lnTo>
                <a:lnTo>
                  <a:pt x="1148621" y="37826"/>
                </a:lnTo>
                <a:lnTo>
                  <a:pt x="1176948" y="74909"/>
                </a:lnTo>
                <a:lnTo>
                  <a:pt x="1193617" y="124940"/>
                </a:lnTo>
                <a:lnTo>
                  <a:pt x="1199173" y="186331"/>
                </a:lnTo>
                <a:lnTo>
                  <a:pt x="1197777" y="219533"/>
                </a:lnTo>
                <a:lnTo>
                  <a:pt x="1186615" y="276782"/>
                </a:lnTo>
                <a:lnTo>
                  <a:pt x="1164217" y="321493"/>
                </a:lnTo>
                <a:lnTo>
                  <a:pt x="1130135" y="351655"/>
                </a:lnTo>
                <a:lnTo>
                  <a:pt x="1108685" y="361156"/>
                </a:lnTo>
                <a:lnTo>
                  <a:pt x="1113448" y="376435"/>
                </a:lnTo>
                <a:lnTo>
                  <a:pt x="1164793" y="352349"/>
                </a:lnTo>
                <a:lnTo>
                  <a:pt x="1202546" y="310653"/>
                </a:lnTo>
                <a:lnTo>
                  <a:pt x="1225763" y="254818"/>
                </a:lnTo>
                <a:lnTo>
                  <a:pt x="1233502" y="188316"/>
                </a:lnTo>
                <a:lnTo>
                  <a:pt x="1231561" y="153807"/>
                </a:lnTo>
                <a:lnTo>
                  <a:pt x="1216034" y="92638"/>
                </a:lnTo>
                <a:lnTo>
                  <a:pt x="1185239" y="42843"/>
                </a:lnTo>
                <a:lnTo>
                  <a:pt x="1140739" y="9853"/>
                </a:lnTo>
                <a:lnTo>
                  <a:pt x="1113448" y="0"/>
                </a:lnTo>
                <a:close/>
              </a:path>
              <a:path w="1233804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8108" y="2817876"/>
            <a:ext cx="4782820" cy="1518920"/>
          </a:xfrm>
          <a:prstGeom prst="rect">
            <a:avLst/>
          </a:prstGeom>
        </p:spPr>
        <p:txBody>
          <a:bodyPr wrap="square" lIns="0" tIns="27178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21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The Google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Matrix</a:t>
            </a:r>
            <a:r>
              <a:rPr dirty="0" sz="3200" spc="-3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 b="1" i="1">
                <a:solidFill>
                  <a:srgbClr val="008000"/>
                </a:solidFill>
                <a:latin typeface="Calibri"/>
                <a:cs typeface="Calibri"/>
              </a:rPr>
              <a:t>G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1655445">
              <a:lnSpc>
                <a:spcPct val="100000"/>
              </a:lnSpc>
              <a:spcBef>
                <a:spcPts val="2039"/>
              </a:spcBef>
              <a:tabLst>
                <a:tab pos="3813810" algn="l"/>
              </a:tabLst>
            </a:pPr>
            <a:r>
              <a:rPr dirty="0" sz="3200">
                <a:latin typeface="Cambria Math"/>
                <a:cs typeface="Cambria Math"/>
              </a:rPr>
              <a:t>𝐺  = 𝛽</a:t>
            </a:r>
            <a:r>
              <a:rPr dirty="0" sz="3200" spc="-114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𝑀</a:t>
            </a:r>
            <a:r>
              <a:rPr dirty="0" sz="3200" spc="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+	1 −</a:t>
            </a:r>
            <a:r>
              <a:rPr dirty="0" sz="3200" spc="-10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𝛽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07405" y="4523740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87773" y="3742690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772160"/>
                </a:lnTo>
              </a:path>
            </a:pathLst>
          </a:custGeom>
          <a:ln w="38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07405" y="3733165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81376" y="4523740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77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00823" y="3742690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772160"/>
                </a:lnTo>
              </a:path>
            </a:pathLst>
          </a:custGeom>
          <a:ln w="388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81376" y="3733165"/>
            <a:ext cx="100330" cy="0"/>
          </a:xfrm>
          <a:custGeom>
            <a:avLst/>
            <a:gdLst/>
            <a:ahLst/>
            <a:cxnLst/>
            <a:rect l="l" t="t" r="r" b="b"/>
            <a:pathLst>
              <a:path w="100329" h="0">
                <a:moveTo>
                  <a:pt x="0" y="0"/>
                </a:moveTo>
                <a:lnTo>
                  <a:pt x="99814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95264" y="4130040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818885" y="3518916"/>
            <a:ext cx="2508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1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24" name="object 24"/>
          <p:cNvSpPr txBox="1"/>
          <p:nvPr/>
        </p:nvSpPr>
        <p:spPr>
          <a:xfrm>
            <a:off x="618108" y="4177284"/>
            <a:ext cx="7935595" cy="2390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71440">
              <a:lnSpc>
                <a:spcPts val="3429"/>
              </a:lnSpc>
              <a:spcBef>
                <a:spcPts val="100"/>
              </a:spcBef>
              <a:tabLst>
                <a:tab pos="5633720" algn="l"/>
              </a:tabLst>
            </a:pPr>
            <a:r>
              <a:rPr dirty="0" baseline="10416" sz="4800">
                <a:latin typeface="Cambria Math"/>
                <a:cs typeface="Cambria Math"/>
              </a:rPr>
              <a:t>𝑁	</a:t>
            </a:r>
            <a:r>
              <a:rPr dirty="0" sz="2300" spc="675">
                <a:latin typeface="Cambria Math"/>
                <a:cs typeface="Cambria Math"/>
              </a:rPr>
              <a:t>-×-</a:t>
            </a:r>
            <a:endParaRPr sz="2300">
              <a:latin typeface="Cambria Math"/>
              <a:cs typeface="Cambria Math"/>
            </a:endParaRPr>
          </a:p>
          <a:p>
            <a:pPr marL="332740" indent="-320040">
              <a:lnSpc>
                <a:spcPts val="34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have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recursive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problem: 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𝒓 = 𝑮 ⋅</a:t>
            </a:r>
            <a:r>
              <a:rPr dirty="0" sz="3200" spc="40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𝒓</a:t>
            </a:r>
            <a:endParaRPr sz="3200">
              <a:latin typeface="Cambria Math"/>
              <a:cs typeface="Cambria Math"/>
            </a:endParaRPr>
          </a:p>
          <a:p>
            <a:pPr marL="332740">
              <a:lnSpc>
                <a:spcPts val="3800"/>
              </a:lnSpc>
            </a:pPr>
            <a:r>
              <a:rPr dirty="0" sz="3200" spc="-5" b="1">
                <a:latin typeface="Calibri"/>
                <a:cs typeface="Calibri"/>
              </a:rPr>
              <a:t>And the </a:t>
            </a:r>
            <a:r>
              <a:rPr dirty="0" sz="3200" spc="-20" b="1">
                <a:latin typeface="Calibri"/>
                <a:cs typeface="Calibri"/>
              </a:rPr>
              <a:t>Power </a:t>
            </a:r>
            <a:r>
              <a:rPr dirty="0" sz="3200" spc="-10" b="1">
                <a:latin typeface="Calibri"/>
                <a:cs typeface="Calibri"/>
              </a:rPr>
              <a:t>method still</a:t>
            </a:r>
            <a:r>
              <a:rPr dirty="0" sz="3200" spc="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works!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94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What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dirty="0" sz="3300" spc="-60" b="1" i="1">
                <a:solidFill>
                  <a:srgbClr val="0000FF"/>
                </a:solidFill>
                <a:latin typeface="Symbol"/>
                <a:cs typeface="Symbol"/>
              </a:rPr>
              <a:t></a:t>
            </a:r>
            <a:r>
              <a:rPr dirty="0" sz="3300" spc="-95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0">
                <a:latin typeface="Calibri"/>
                <a:cs typeface="Calibri"/>
              </a:rPr>
              <a:t>practice </a:t>
            </a:r>
            <a:r>
              <a:rPr dirty="0" sz="2950" spc="-85" i="1">
                <a:latin typeface="Symbol"/>
                <a:cs typeface="Symbol"/>
              </a:rPr>
              <a:t></a:t>
            </a:r>
            <a:r>
              <a:rPr dirty="0" sz="2950" spc="-85" i="1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=0.8,0.9 </a:t>
            </a:r>
            <a:r>
              <a:rPr dirty="0" sz="2800" spc="-20">
                <a:latin typeface="Calibri"/>
                <a:cs typeface="Calibri"/>
              </a:rPr>
              <a:t>(make </a:t>
            </a:r>
            <a:r>
              <a:rPr dirty="0" sz="2800" i="1">
                <a:latin typeface="Times New Roman"/>
                <a:cs typeface="Times New Roman"/>
              </a:rPr>
              <a:t>5 </a:t>
            </a:r>
            <a:r>
              <a:rPr dirty="0" sz="2800" spc="-20">
                <a:latin typeface="Calibri"/>
                <a:cs typeface="Calibri"/>
              </a:rPr>
              <a:t>steps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 spc="-25">
                <a:latin typeface="Calibri"/>
                <a:cs typeface="Calibri"/>
              </a:rPr>
              <a:t>avg.,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45">
                <a:latin typeface="Calibri"/>
                <a:cs typeface="Calibri"/>
              </a:rPr>
              <a:t>jump)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14707" y="3158236"/>
            <a:ext cx="222821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[1/N]</a:t>
            </a:r>
            <a:r>
              <a:rPr dirty="0" baseline="-15151" sz="1650" spc="-15">
                <a:solidFill>
                  <a:srgbClr val="008000"/>
                </a:solidFill>
                <a:latin typeface="Arial"/>
                <a:cs typeface="Arial"/>
              </a:rPr>
              <a:t>NxN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…N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by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N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matrix  where all entries are</a:t>
            </a:r>
            <a:r>
              <a:rPr dirty="0" sz="1600" spc="-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1/N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56615"/>
            <a:ext cx="6519672" cy="554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69339" y="5110988"/>
            <a:ext cx="637540" cy="112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900"/>
              </a:lnSpc>
              <a:spcBef>
                <a:spcPts val="80"/>
              </a:spcBef>
              <a:tabLst>
                <a:tab pos="452120" algn="l"/>
              </a:tabLst>
            </a:pPr>
            <a:r>
              <a:rPr dirty="0" sz="2400">
                <a:latin typeface="Times New Roman"/>
                <a:cs typeface="Times New Roman"/>
              </a:rPr>
              <a:t>a	=  m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37764" y="5190404"/>
          <a:ext cx="5177155" cy="1075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7186"/>
                <a:gridCol w="872363"/>
                <a:gridCol w="876300"/>
                <a:gridCol w="944562"/>
                <a:gridCol w="876299"/>
                <a:gridCol w="1000061"/>
              </a:tblGrid>
              <a:tr h="330200">
                <a:tc>
                  <a:txBody>
                    <a:bodyPr/>
                    <a:lstStyle/>
                    <a:p>
                      <a:pPr marL="31750">
                        <a:lnSpc>
                          <a:spcPts val="2595"/>
                        </a:lnSpc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5415">
                        <a:lnSpc>
                          <a:spcPts val="259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0.33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59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0.24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225">
                        <a:lnSpc>
                          <a:spcPts val="259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0.26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59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33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ts val="2825"/>
                        </a:lnSpc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5415">
                        <a:lnSpc>
                          <a:spcPts val="282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0.20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82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0.20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225">
                        <a:lnSpc>
                          <a:spcPts val="282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0.18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ts val="266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. .</a:t>
                      </a:r>
                      <a:r>
                        <a:rPr dirty="0" sz="24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82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33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42900">
                <a:tc>
                  <a:txBody>
                    <a:bodyPr/>
                    <a:lstStyle/>
                    <a:p>
                      <a:pPr marL="31750">
                        <a:lnSpc>
                          <a:spcPts val="2680"/>
                        </a:lnSpc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1/3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5415">
                        <a:lnSpc>
                          <a:spcPts val="268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0.46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268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0.52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225">
                        <a:lnSpc>
                          <a:spcPts val="268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0.56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8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21</a:t>
                      </a:r>
                      <a:r>
                        <a:rPr dirty="0" sz="2400" spc="-5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33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017930" y="4001037"/>
            <a:ext cx="2476500" cy="257810"/>
          </a:xfrm>
          <a:custGeom>
            <a:avLst/>
            <a:gdLst/>
            <a:ahLst/>
            <a:cxnLst/>
            <a:rect l="l" t="t" r="r" b="b"/>
            <a:pathLst>
              <a:path w="2476500" h="257810">
                <a:moveTo>
                  <a:pt x="82046" y="49448"/>
                </a:moveTo>
                <a:lnTo>
                  <a:pt x="56550" y="61856"/>
                </a:lnTo>
                <a:lnTo>
                  <a:pt x="79903" y="77943"/>
                </a:lnTo>
                <a:lnTo>
                  <a:pt x="2468061" y="257775"/>
                </a:lnTo>
                <a:lnTo>
                  <a:pt x="2474920" y="251877"/>
                </a:lnTo>
                <a:lnTo>
                  <a:pt x="2476105" y="236141"/>
                </a:lnTo>
                <a:lnTo>
                  <a:pt x="2470207" y="229281"/>
                </a:lnTo>
                <a:lnTo>
                  <a:pt x="82046" y="49448"/>
                </a:lnTo>
                <a:close/>
              </a:path>
              <a:path w="2476500" h="257810">
                <a:moveTo>
                  <a:pt x="23351" y="73685"/>
                </a:moveTo>
                <a:lnTo>
                  <a:pt x="108396" y="132271"/>
                </a:lnTo>
                <a:lnTo>
                  <a:pt x="117292" y="130633"/>
                </a:lnTo>
                <a:lnTo>
                  <a:pt x="126245" y="117637"/>
                </a:lnTo>
                <a:lnTo>
                  <a:pt x="124606" y="108739"/>
                </a:lnTo>
                <a:lnTo>
                  <a:pt x="79903" y="77943"/>
                </a:lnTo>
                <a:lnTo>
                  <a:pt x="23351" y="73685"/>
                </a:lnTo>
                <a:close/>
              </a:path>
              <a:path w="2476500" h="257810">
                <a:moveTo>
                  <a:pt x="25496" y="45190"/>
                </a:moveTo>
                <a:lnTo>
                  <a:pt x="15401" y="50103"/>
                </a:lnTo>
                <a:lnTo>
                  <a:pt x="14607" y="50786"/>
                </a:lnTo>
                <a:lnTo>
                  <a:pt x="13422" y="66522"/>
                </a:lnTo>
                <a:lnTo>
                  <a:pt x="14102" y="67313"/>
                </a:lnTo>
                <a:lnTo>
                  <a:pt x="23351" y="73685"/>
                </a:lnTo>
                <a:lnTo>
                  <a:pt x="79903" y="77943"/>
                </a:lnTo>
                <a:lnTo>
                  <a:pt x="72108" y="72574"/>
                </a:lnTo>
                <a:lnTo>
                  <a:pt x="34527" y="72574"/>
                </a:lnTo>
                <a:lnTo>
                  <a:pt x="36380" y="47961"/>
                </a:lnTo>
                <a:lnTo>
                  <a:pt x="62297" y="47961"/>
                </a:lnTo>
                <a:lnTo>
                  <a:pt x="25496" y="45190"/>
                </a:lnTo>
                <a:close/>
              </a:path>
              <a:path w="2476500" h="257810">
                <a:moveTo>
                  <a:pt x="14102" y="67313"/>
                </a:moveTo>
                <a:lnTo>
                  <a:pt x="19321" y="73381"/>
                </a:lnTo>
                <a:lnTo>
                  <a:pt x="23351" y="73685"/>
                </a:lnTo>
                <a:lnTo>
                  <a:pt x="14102" y="67313"/>
                </a:lnTo>
                <a:close/>
              </a:path>
              <a:path w="2476500" h="257810">
                <a:moveTo>
                  <a:pt x="36380" y="47961"/>
                </a:moveTo>
                <a:lnTo>
                  <a:pt x="34527" y="72574"/>
                </a:lnTo>
                <a:lnTo>
                  <a:pt x="56550" y="61856"/>
                </a:lnTo>
                <a:lnTo>
                  <a:pt x="36380" y="47961"/>
                </a:lnTo>
                <a:close/>
              </a:path>
              <a:path w="2476500" h="257810">
                <a:moveTo>
                  <a:pt x="56550" y="61856"/>
                </a:moveTo>
                <a:lnTo>
                  <a:pt x="34527" y="72574"/>
                </a:lnTo>
                <a:lnTo>
                  <a:pt x="72108" y="72574"/>
                </a:lnTo>
                <a:lnTo>
                  <a:pt x="56550" y="61856"/>
                </a:lnTo>
                <a:close/>
              </a:path>
              <a:path w="2476500" h="257810">
                <a:moveTo>
                  <a:pt x="15401" y="50103"/>
                </a:moveTo>
                <a:lnTo>
                  <a:pt x="0" y="57598"/>
                </a:lnTo>
                <a:lnTo>
                  <a:pt x="14102" y="67313"/>
                </a:lnTo>
                <a:lnTo>
                  <a:pt x="13422" y="66522"/>
                </a:lnTo>
                <a:lnTo>
                  <a:pt x="14607" y="50786"/>
                </a:lnTo>
                <a:lnTo>
                  <a:pt x="15401" y="50103"/>
                </a:lnTo>
                <a:close/>
              </a:path>
              <a:path w="2476500" h="257810">
                <a:moveTo>
                  <a:pt x="62297" y="47961"/>
                </a:moveTo>
                <a:lnTo>
                  <a:pt x="36380" y="47961"/>
                </a:lnTo>
                <a:lnTo>
                  <a:pt x="56550" y="61856"/>
                </a:lnTo>
                <a:lnTo>
                  <a:pt x="82046" y="49448"/>
                </a:lnTo>
                <a:lnTo>
                  <a:pt x="62297" y="47961"/>
                </a:lnTo>
                <a:close/>
              </a:path>
              <a:path w="2476500" h="257810">
                <a:moveTo>
                  <a:pt x="21466" y="44886"/>
                </a:moveTo>
                <a:lnTo>
                  <a:pt x="15401" y="50103"/>
                </a:lnTo>
                <a:lnTo>
                  <a:pt x="25496" y="45190"/>
                </a:lnTo>
                <a:lnTo>
                  <a:pt x="21466" y="44886"/>
                </a:lnTo>
                <a:close/>
              </a:path>
              <a:path w="2476500" h="257810">
                <a:moveTo>
                  <a:pt x="118356" y="0"/>
                </a:moveTo>
                <a:lnTo>
                  <a:pt x="25496" y="45190"/>
                </a:lnTo>
                <a:lnTo>
                  <a:pt x="82046" y="49448"/>
                </a:lnTo>
                <a:lnTo>
                  <a:pt x="130860" y="25693"/>
                </a:lnTo>
                <a:lnTo>
                  <a:pt x="133813" y="17142"/>
                </a:lnTo>
                <a:lnTo>
                  <a:pt x="126907" y="2952"/>
                </a:lnTo>
                <a:lnTo>
                  <a:pt x="11835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16648" y="2083575"/>
            <a:ext cx="996950" cy="1589405"/>
          </a:xfrm>
          <a:custGeom>
            <a:avLst/>
            <a:gdLst/>
            <a:ahLst/>
            <a:cxnLst/>
            <a:rect l="l" t="t" r="r" b="b"/>
            <a:pathLst>
              <a:path w="996950" h="1589404">
                <a:moveTo>
                  <a:pt x="1806" y="1572158"/>
                </a:moveTo>
                <a:lnTo>
                  <a:pt x="1313" y="1589316"/>
                </a:lnTo>
                <a:lnTo>
                  <a:pt x="16032" y="1581542"/>
                </a:lnTo>
                <a:lnTo>
                  <a:pt x="15447" y="1581542"/>
                </a:lnTo>
                <a:lnTo>
                  <a:pt x="2049" y="1573202"/>
                </a:lnTo>
                <a:lnTo>
                  <a:pt x="1806" y="1572158"/>
                </a:lnTo>
                <a:close/>
              </a:path>
              <a:path w="996950" h="1589404">
                <a:moveTo>
                  <a:pt x="32099" y="1512827"/>
                </a:moveTo>
                <a:lnTo>
                  <a:pt x="2128" y="1560971"/>
                </a:lnTo>
                <a:lnTo>
                  <a:pt x="1806" y="1572158"/>
                </a:lnTo>
                <a:lnTo>
                  <a:pt x="2049" y="1573202"/>
                </a:lnTo>
                <a:lnTo>
                  <a:pt x="15447" y="1581542"/>
                </a:lnTo>
                <a:lnTo>
                  <a:pt x="16492" y="1581299"/>
                </a:lnTo>
                <a:lnTo>
                  <a:pt x="26386" y="1576073"/>
                </a:lnTo>
                <a:lnTo>
                  <a:pt x="32872" y="1565654"/>
                </a:lnTo>
                <a:lnTo>
                  <a:pt x="30580" y="1565654"/>
                </a:lnTo>
                <a:lnTo>
                  <a:pt x="9626" y="1552610"/>
                </a:lnTo>
                <a:lnTo>
                  <a:pt x="31284" y="1541172"/>
                </a:lnTo>
                <a:lnTo>
                  <a:pt x="32099" y="1512827"/>
                </a:lnTo>
                <a:close/>
              </a:path>
              <a:path w="996950" h="1589404">
                <a:moveTo>
                  <a:pt x="16492" y="1581299"/>
                </a:moveTo>
                <a:lnTo>
                  <a:pt x="15447" y="1581542"/>
                </a:lnTo>
                <a:lnTo>
                  <a:pt x="16032" y="1581542"/>
                </a:lnTo>
                <a:lnTo>
                  <a:pt x="16492" y="1581299"/>
                </a:lnTo>
                <a:close/>
              </a:path>
              <a:path w="996950" h="1589404">
                <a:moveTo>
                  <a:pt x="26386" y="1576073"/>
                </a:moveTo>
                <a:lnTo>
                  <a:pt x="16492" y="1581299"/>
                </a:lnTo>
                <a:lnTo>
                  <a:pt x="24258" y="1579492"/>
                </a:lnTo>
                <a:lnTo>
                  <a:pt x="26386" y="1576073"/>
                </a:lnTo>
                <a:close/>
              </a:path>
              <a:path w="996950" h="1589404">
                <a:moveTo>
                  <a:pt x="104360" y="1502577"/>
                </a:moveTo>
                <a:lnTo>
                  <a:pt x="56357" y="1527930"/>
                </a:lnTo>
                <a:lnTo>
                  <a:pt x="26386" y="1576073"/>
                </a:lnTo>
                <a:lnTo>
                  <a:pt x="117705" y="1527844"/>
                </a:lnTo>
                <a:lnTo>
                  <a:pt x="120374" y="1519200"/>
                </a:lnTo>
                <a:lnTo>
                  <a:pt x="113004" y="1505245"/>
                </a:lnTo>
                <a:lnTo>
                  <a:pt x="104360" y="1502577"/>
                </a:lnTo>
                <a:close/>
              </a:path>
              <a:path w="996950" h="1589404">
                <a:moveTo>
                  <a:pt x="2128" y="1560971"/>
                </a:moveTo>
                <a:lnTo>
                  <a:pt x="0" y="1564391"/>
                </a:lnTo>
                <a:lnTo>
                  <a:pt x="1806" y="1572158"/>
                </a:lnTo>
                <a:lnTo>
                  <a:pt x="2128" y="1560971"/>
                </a:lnTo>
                <a:close/>
              </a:path>
              <a:path w="996950" h="1589404">
                <a:moveTo>
                  <a:pt x="31284" y="1541172"/>
                </a:moveTo>
                <a:lnTo>
                  <a:pt x="9626" y="1552610"/>
                </a:lnTo>
                <a:lnTo>
                  <a:pt x="30580" y="1565654"/>
                </a:lnTo>
                <a:lnTo>
                  <a:pt x="31284" y="1541172"/>
                </a:lnTo>
                <a:close/>
              </a:path>
              <a:path w="996950" h="1589404">
                <a:moveTo>
                  <a:pt x="56357" y="1527930"/>
                </a:moveTo>
                <a:lnTo>
                  <a:pt x="31284" y="1541172"/>
                </a:lnTo>
                <a:lnTo>
                  <a:pt x="30580" y="1565654"/>
                </a:lnTo>
                <a:lnTo>
                  <a:pt x="32872" y="1565654"/>
                </a:lnTo>
                <a:lnTo>
                  <a:pt x="56357" y="1527930"/>
                </a:lnTo>
                <a:close/>
              </a:path>
              <a:path w="996950" h="1589404">
                <a:moveTo>
                  <a:pt x="11674" y="1451532"/>
                </a:moveTo>
                <a:lnTo>
                  <a:pt x="5096" y="1457742"/>
                </a:lnTo>
                <a:lnTo>
                  <a:pt x="2128" y="1560971"/>
                </a:lnTo>
                <a:lnTo>
                  <a:pt x="32099" y="1512827"/>
                </a:lnTo>
                <a:lnTo>
                  <a:pt x="33659" y="1458564"/>
                </a:lnTo>
                <a:lnTo>
                  <a:pt x="27449" y="1451985"/>
                </a:lnTo>
                <a:lnTo>
                  <a:pt x="11674" y="1451532"/>
                </a:lnTo>
                <a:close/>
              </a:path>
              <a:path w="996950" h="1589404">
                <a:moveTo>
                  <a:pt x="981405" y="0"/>
                </a:moveTo>
                <a:lnTo>
                  <a:pt x="972594" y="2049"/>
                </a:lnTo>
                <a:lnTo>
                  <a:pt x="32099" y="1512827"/>
                </a:lnTo>
                <a:lnTo>
                  <a:pt x="31284" y="1541172"/>
                </a:lnTo>
                <a:lnTo>
                  <a:pt x="56357" y="1527930"/>
                </a:lnTo>
                <a:lnTo>
                  <a:pt x="996852" y="17151"/>
                </a:lnTo>
                <a:lnTo>
                  <a:pt x="994802" y="8341"/>
                </a:lnTo>
                <a:lnTo>
                  <a:pt x="981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91133" y="2019922"/>
            <a:ext cx="1498600" cy="1774825"/>
          </a:xfrm>
          <a:custGeom>
            <a:avLst/>
            <a:gdLst/>
            <a:ahLst/>
            <a:cxnLst/>
            <a:rect l="l" t="t" r="r" b="b"/>
            <a:pathLst>
              <a:path w="1498600" h="1774825">
                <a:moveTo>
                  <a:pt x="36549" y="43362"/>
                </a:moveTo>
                <a:lnTo>
                  <a:pt x="41410" y="71300"/>
                </a:lnTo>
                <a:lnTo>
                  <a:pt x="1476197" y="1773585"/>
                </a:lnTo>
                <a:lnTo>
                  <a:pt x="1485210" y="1774355"/>
                </a:lnTo>
                <a:lnTo>
                  <a:pt x="1497277" y="1764183"/>
                </a:lnTo>
                <a:lnTo>
                  <a:pt x="1498046" y="1755170"/>
                </a:lnTo>
                <a:lnTo>
                  <a:pt x="63257" y="52882"/>
                </a:lnTo>
                <a:lnTo>
                  <a:pt x="36549" y="43362"/>
                </a:lnTo>
                <a:close/>
              </a:path>
              <a:path w="1498600" h="1774825">
                <a:moveTo>
                  <a:pt x="4860" y="27937"/>
                </a:moveTo>
                <a:lnTo>
                  <a:pt x="22562" y="129679"/>
                </a:lnTo>
                <a:lnTo>
                  <a:pt x="29960" y="134885"/>
                </a:lnTo>
                <a:lnTo>
                  <a:pt x="45509" y="132180"/>
                </a:lnTo>
                <a:lnTo>
                  <a:pt x="50714" y="124781"/>
                </a:lnTo>
                <a:lnTo>
                  <a:pt x="41410" y="71300"/>
                </a:lnTo>
                <a:lnTo>
                  <a:pt x="4860" y="27937"/>
                </a:lnTo>
                <a:close/>
              </a:path>
              <a:path w="1498600" h="1774825">
                <a:moveTo>
                  <a:pt x="15091" y="5661"/>
                </a:moveTo>
                <a:lnTo>
                  <a:pt x="3023" y="15831"/>
                </a:lnTo>
                <a:lnTo>
                  <a:pt x="2935" y="16870"/>
                </a:lnTo>
                <a:lnTo>
                  <a:pt x="4860" y="27937"/>
                </a:lnTo>
                <a:lnTo>
                  <a:pt x="41410" y="71300"/>
                </a:lnTo>
                <a:lnTo>
                  <a:pt x="36549" y="43362"/>
                </a:lnTo>
                <a:lnTo>
                  <a:pt x="13477" y="35139"/>
                </a:lnTo>
                <a:lnTo>
                  <a:pt x="32350" y="19231"/>
                </a:lnTo>
                <a:lnTo>
                  <a:pt x="34894" y="19231"/>
                </a:lnTo>
                <a:lnTo>
                  <a:pt x="26708" y="9519"/>
                </a:lnTo>
                <a:lnTo>
                  <a:pt x="16133" y="5750"/>
                </a:lnTo>
                <a:lnTo>
                  <a:pt x="15091" y="5661"/>
                </a:lnTo>
                <a:close/>
              </a:path>
              <a:path w="1498600" h="1774825">
                <a:moveTo>
                  <a:pt x="26708" y="9519"/>
                </a:moveTo>
                <a:lnTo>
                  <a:pt x="63257" y="52882"/>
                </a:lnTo>
                <a:lnTo>
                  <a:pt x="114393" y="71108"/>
                </a:lnTo>
                <a:lnTo>
                  <a:pt x="122566" y="67229"/>
                </a:lnTo>
                <a:lnTo>
                  <a:pt x="127864" y="52364"/>
                </a:lnTo>
                <a:lnTo>
                  <a:pt x="123987" y="44192"/>
                </a:lnTo>
                <a:lnTo>
                  <a:pt x="26708" y="9519"/>
                </a:lnTo>
                <a:close/>
              </a:path>
              <a:path w="1498600" h="1774825">
                <a:moveTo>
                  <a:pt x="34894" y="19231"/>
                </a:moveTo>
                <a:lnTo>
                  <a:pt x="32350" y="19231"/>
                </a:lnTo>
                <a:lnTo>
                  <a:pt x="36549" y="43362"/>
                </a:lnTo>
                <a:lnTo>
                  <a:pt x="63257" y="52882"/>
                </a:lnTo>
                <a:lnTo>
                  <a:pt x="34894" y="19231"/>
                </a:lnTo>
                <a:close/>
              </a:path>
              <a:path w="1498600" h="1774825">
                <a:moveTo>
                  <a:pt x="32350" y="19231"/>
                </a:moveTo>
                <a:lnTo>
                  <a:pt x="13477" y="35139"/>
                </a:lnTo>
                <a:lnTo>
                  <a:pt x="36549" y="43362"/>
                </a:lnTo>
                <a:lnTo>
                  <a:pt x="32350" y="19231"/>
                </a:lnTo>
                <a:close/>
              </a:path>
              <a:path w="1498600" h="1774825">
                <a:moveTo>
                  <a:pt x="2935" y="16870"/>
                </a:moveTo>
                <a:lnTo>
                  <a:pt x="2255" y="24846"/>
                </a:lnTo>
                <a:lnTo>
                  <a:pt x="4860" y="27937"/>
                </a:lnTo>
                <a:lnTo>
                  <a:pt x="2935" y="16870"/>
                </a:lnTo>
                <a:close/>
              </a:path>
              <a:path w="1498600" h="1774825">
                <a:moveTo>
                  <a:pt x="0" y="0"/>
                </a:moveTo>
                <a:lnTo>
                  <a:pt x="2935" y="16870"/>
                </a:lnTo>
                <a:lnTo>
                  <a:pt x="3023" y="15831"/>
                </a:lnTo>
                <a:lnTo>
                  <a:pt x="15091" y="5661"/>
                </a:lnTo>
                <a:lnTo>
                  <a:pt x="15884" y="5661"/>
                </a:lnTo>
                <a:lnTo>
                  <a:pt x="0" y="0"/>
                </a:lnTo>
                <a:close/>
              </a:path>
              <a:path w="1498600" h="1774825">
                <a:moveTo>
                  <a:pt x="16133" y="5750"/>
                </a:moveTo>
                <a:lnTo>
                  <a:pt x="26708" y="9519"/>
                </a:lnTo>
                <a:lnTo>
                  <a:pt x="24104" y="6430"/>
                </a:lnTo>
                <a:lnTo>
                  <a:pt x="16133" y="5750"/>
                </a:lnTo>
                <a:close/>
              </a:path>
              <a:path w="1498600" h="1774825">
                <a:moveTo>
                  <a:pt x="15884" y="5661"/>
                </a:moveTo>
                <a:lnTo>
                  <a:pt x="15091" y="5661"/>
                </a:lnTo>
                <a:lnTo>
                  <a:pt x="16133" y="5750"/>
                </a:lnTo>
                <a:lnTo>
                  <a:pt x="15884" y="5661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83467" y="3850863"/>
            <a:ext cx="2315845" cy="257810"/>
          </a:xfrm>
          <a:custGeom>
            <a:avLst/>
            <a:gdLst/>
            <a:ahLst/>
            <a:cxnLst/>
            <a:rect l="l" t="t" r="r" b="b"/>
            <a:pathLst>
              <a:path w="2315845" h="257810">
                <a:moveTo>
                  <a:pt x="2233361" y="207933"/>
                </a:moveTo>
                <a:lnTo>
                  <a:pt x="2184423" y="231434"/>
                </a:lnTo>
                <a:lnTo>
                  <a:pt x="2181426" y="239969"/>
                </a:lnTo>
                <a:lnTo>
                  <a:pt x="2188257" y="254195"/>
                </a:lnTo>
                <a:lnTo>
                  <a:pt x="2196793" y="257192"/>
                </a:lnTo>
                <a:lnTo>
                  <a:pt x="2289889" y="212487"/>
                </a:lnTo>
                <a:lnTo>
                  <a:pt x="2233361" y="207933"/>
                </a:lnTo>
                <a:close/>
              </a:path>
              <a:path w="2315845" h="257810">
                <a:moveTo>
                  <a:pt x="2299937" y="207662"/>
                </a:moveTo>
                <a:lnTo>
                  <a:pt x="2289889" y="212487"/>
                </a:lnTo>
                <a:lnTo>
                  <a:pt x="2293888" y="212810"/>
                </a:lnTo>
                <a:lnTo>
                  <a:pt x="2299937" y="207662"/>
                </a:lnTo>
                <a:close/>
              </a:path>
              <a:path w="2315845" h="257810">
                <a:moveTo>
                  <a:pt x="2258920" y="195659"/>
                </a:moveTo>
                <a:lnTo>
                  <a:pt x="2233361" y="207933"/>
                </a:lnTo>
                <a:lnTo>
                  <a:pt x="2289889" y="212487"/>
                </a:lnTo>
                <a:lnTo>
                  <a:pt x="2295777" y="209660"/>
                </a:lnTo>
                <a:lnTo>
                  <a:pt x="2279018" y="209660"/>
                </a:lnTo>
                <a:lnTo>
                  <a:pt x="2258920" y="195659"/>
                </a:lnTo>
                <a:close/>
              </a:path>
              <a:path w="2315845" h="257810">
                <a:moveTo>
                  <a:pt x="2281000" y="185056"/>
                </a:moveTo>
                <a:lnTo>
                  <a:pt x="2258920" y="195659"/>
                </a:lnTo>
                <a:lnTo>
                  <a:pt x="2279018" y="209660"/>
                </a:lnTo>
                <a:lnTo>
                  <a:pt x="2281000" y="185056"/>
                </a:lnTo>
                <a:close/>
              </a:path>
              <a:path w="2315845" h="257810">
                <a:moveTo>
                  <a:pt x="2293690" y="185056"/>
                </a:moveTo>
                <a:lnTo>
                  <a:pt x="2281000" y="185056"/>
                </a:lnTo>
                <a:lnTo>
                  <a:pt x="2279018" y="209660"/>
                </a:lnTo>
                <a:lnTo>
                  <a:pt x="2295777" y="209660"/>
                </a:lnTo>
                <a:lnTo>
                  <a:pt x="2299937" y="207662"/>
                </a:lnTo>
                <a:lnTo>
                  <a:pt x="2300778" y="206947"/>
                </a:lnTo>
                <a:lnTo>
                  <a:pt x="2302045" y="191217"/>
                </a:lnTo>
                <a:lnTo>
                  <a:pt x="2301333" y="190381"/>
                </a:lnTo>
                <a:lnTo>
                  <a:pt x="2293690" y="185056"/>
                </a:lnTo>
                <a:close/>
              </a:path>
              <a:path w="2315845" h="257810">
                <a:moveTo>
                  <a:pt x="8156" y="0"/>
                </a:moveTo>
                <a:lnTo>
                  <a:pt x="1267" y="5862"/>
                </a:lnTo>
                <a:lnTo>
                  <a:pt x="0" y="21593"/>
                </a:lnTo>
                <a:lnTo>
                  <a:pt x="5862" y="28483"/>
                </a:lnTo>
                <a:lnTo>
                  <a:pt x="2233361" y="207933"/>
                </a:lnTo>
                <a:lnTo>
                  <a:pt x="2258920" y="195659"/>
                </a:lnTo>
                <a:lnTo>
                  <a:pt x="2235654" y="179451"/>
                </a:lnTo>
                <a:lnTo>
                  <a:pt x="8156" y="0"/>
                </a:lnTo>
                <a:close/>
              </a:path>
              <a:path w="2315845" h="257810">
                <a:moveTo>
                  <a:pt x="2301333" y="190381"/>
                </a:moveTo>
                <a:lnTo>
                  <a:pt x="2302045" y="191217"/>
                </a:lnTo>
                <a:lnTo>
                  <a:pt x="2300778" y="206947"/>
                </a:lnTo>
                <a:lnTo>
                  <a:pt x="2299937" y="207662"/>
                </a:lnTo>
                <a:lnTo>
                  <a:pt x="2315449" y="200214"/>
                </a:lnTo>
                <a:lnTo>
                  <a:pt x="2301333" y="190381"/>
                </a:lnTo>
                <a:close/>
              </a:path>
              <a:path w="2315845" h="257810">
                <a:moveTo>
                  <a:pt x="2235654" y="179451"/>
                </a:moveTo>
                <a:lnTo>
                  <a:pt x="2258920" y="195659"/>
                </a:lnTo>
                <a:lnTo>
                  <a:pt x="2281000" y="185056"/>
                </a:lnTo>
                <a:lnTo>
                  <a:pt x="2293690" y="185056"/>
                </a:lnTo>
                <a:lnTo>
                  <a:pt x="2292181" y="184005"/>
                </a:lnTo>
                <a:lnTo>
                  <a:pt x="2235654" y="179451"/>
                </a:lnTo>
                <a:close/>
              </a:path>
              <a:path w="2315845" h="257810">
                <a:moveTo>
                  <a:pt x="2292181" y="184005"/>
                </a:moveTo>
                <a:lnTo>
                  <a:pt x="2301333" y="190381"/>
                </a:lnTo>
                <a:lnTo>
                  <a:pt x="2296183" y="184327"/>
                </a:lnTo>
                <a:lnTo>
                  <a:pt x="2292181" y="184005"/>
                </a:lnTo>
                <a:close/>
              </a:path>
              <a:path w="2315845" h="257810">
                <a:moveTo>
                  <a:pt x="2207444" y="124974"/>
                </a:moveTo>
                <a:lnTo>
                  <a:pt x="2198539" y="126566"/>
                </a:lnTo>
                <a:lnTo>
                  <a:pt x="2189518" y="139515"/>
                </a:lnTo>
                <a:lnTo>
                  <a:pt x="2191111" y="148421"/>
                </a:lnTo>
                <a:lnTo>
                  <a:pt x="2235654" y="179451"/>
                </a:lnTo>
                <a:lnTo>
                  <a:pt x="2292181" y="184005"/>
                </a:lnTo>
                <a:lnTo>
                  <a:pt x="2207444" y="124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42363" y="1311405"/>
            <a:ext cx="572135" cy="530860"/>
          </a:xfrm>
          <a:custGeom>
            <a:avLst/>
            <a:gdLst/>
            <a:ahLst/>
            <a:cxnLst/>
            <a:rect l="l" t="t" r="r" b="b"/>
            <a:pathLst>
              <a:path w="572135" h="530860">
                <a:moveTo>
                  <a:pt x="415474" y="28521"/>
                </a:moveTo>
                <a:lnTo>
                  <a:pt x="305426" y="28521"/>
                </a:lnTo>
                <a:lnTo>
                  <a:pt x="327317" y="29761"/>
                </a:lnTo>
                <a:lnTo>
                  <a:pt x="349168" y="33597"/>
                </a:lnTo>
                <a:lnTo>
                  <a:pt x="392007" y="48464"/>
                </a:lnTo>
                <a:lnTo>
                  <a:pt x="432375" y="71836"/>
                </a:lnTo>
                <a:lnTo>
                  <a:pt x="468675" y="102293"/>
                </a:lnTo>
                <a:lnTo>
                  <a:pt x="499352" y="138318"/>
                </a:lnTo>
                <a:lnTo>
                  <a:pt x="522930" y="178330"/>
                </a:lnTo>
                <a:lnTo>
                  <a:pt x="538049" y="220739"/>
                </a:lnTo>
                <a:lnTo>
                  <a:pt x="543492" y="264166"/>
                </a:lnTo>
                <a:lnTo>
                  <a:pt x="542347" y="286120"/>
                </a:lnTo>
                <a:lnTo>
                  <a:pt x="533069" y="329653"/>
                </a:lnTo>
                <a:lnTo>
                  <a:pt x="515446" y="371406"/>
                </a:lnTo>
                <a:lnTo>
                  <a:pt x="490749" y="409807"/>
                </a:lnTo>
                <a:lnTo>
                  <a:pt x="460349" y="443298"/>
                </a:lnTo>
                <a:lnTo>
                  <a:pt x="425700" y="470383"/>
                </a:lnTo>
                <a:lnTo>
                  <a:pt x="388299" y="489677"/>
                </a:lnTo>
                <a:lnTo>
                  <a:pt x="349604" y="499971"/>
                </a:lnTo>
                <a:lnTo>
                  <a:pt x="320327" y="501938"/>
                </a:lnTo>
                <a:lnTo>
                  <a:pt x="314374" y="508750"/>
                </a:lnTo>
                <a:lnTo>
                  <a:pt x="315432" y="524496"/>
                </a:lnTo>
                <a:lnTo>
                  <a:pt x="322243" y="530449"/>
                </a:lnTo>
                <a:lnTo>
                  <a:pt x="351519" y="528482"/>
                </a:lnTo>
                <a:lnTo>
                  <a:pt x="397097" y="516864"/>
                </a:lnTo>
                <a:lnTo>
                  <a:pt x="439952" y="495150"/>
                </a:lnTo>
                <a:lnTo>
                  <a:pt x="478859" y="465067"/>
                </a:lnTo>
                <a:lnTo>
                  <a:pt x="512643" y="428171"/>
                </a:lnTo>
                <a:lnTo>
                  <a:pt x="540072" y="385900"/>
                </a:lnTo>
                <a:lnTo>
                  <a:pt x="559842" y="339639"/>
                </a:lnTo>
                <a:lnTo>
                  <a:pt x="570544" y="290749"/>
                </a:lnTo>
                <a:lnTo>
                  <a:pt x="572023" y="265760"/>
                </a:lnTo>
                <a:lnTo>
                  <a:pt x="570575" y="240614"/>
                </a:lnTo>
                <a:lnTo>
                  <a:pt x="559026" y="191225"/>
                </a:lnTo>
                <a:lnTo>
                  <a:pt x="537403" y="144617"/>
                </a:lnTo>
                <a:lnTo>
                  <a:pt x="507368" y="102165"/>
                </a:lnTo>
                <a:lnTo>
                  <a:pt x="470446" y="65213"/>
                </a:lnTo>
                <a:lnTo>
                  <a:pt x="428064" y="35144"/>
                </a:lnTo>
                <a:lnTo>
                  <a:pt x="415474" y="28521"/>
                </a:lnTo>
                <a:close/>
              </a:path>
              <a:path w="572135" h="530860">
                <a:moveTo>
                  <a:pt x="47673" y="227303"/>
                </a:moveTo>
                <a:lnTo>
                  <a:pt x="54832" y="242925"/>
                </a:lnTo>
                <a:lnTo>
                  <a:pt x="64001" y="230256"/>
                </a:lnTo>
                <a:lnTo>
                  <a:pt x="62583" y="230256"/>
                </a:lnTo>
                <a:lnTo>
                  <a:pt x="47673" y="227303"/>
                </a:lnTo>
                <a:close/>
              </a:path>
              <a:path w="572135" h="530860">
                <a:moveTo>
                  <a:pt x="54335" y="173247"/>
                </a:moveTo>
                <a:lnTo>
                  <a:pt x="54240" y="173457"/>
                </a:lnTo>
                <a:lnTo>
                  <a:pt x="46897" y="195809"/>
                </a:lnTo>
                <a:lnTo>
                  <a:pt x="43602" y="211932"/>
                </a:lnTo>
                <a:lnTo>
                  <a:pt x="42705" y="216461"/>
                </a:lnTo>
                <a:lnTo>
                  <a:pt x="47673" y="227303"/>
                </a:lnTo>
                <a:lnTo>
                  <a:pt x="62583" y="230256"/>
                </a:lnTo>
                <a:lnTo>
                  <a:pt x="65335" y="228413"/>
                </a:lnTo>
                <a:lnTo>
                  <a:pt x="71025" y="220550"/>
                </a:lnTo>
                <a:lnTo>
                  <a:pt x="71633" y="217483"/>
                </a:lnTo>
                <a:lnTo>
                  <a:pt x="73292" y="208756"/>
                </a:lnTo>
                <a:lnTo>
                  <a:pt x="70606" y="208756"/>
                </a:lnTo>
                <a:lnTo>
                  <a:pt x="46043" y="206330"/>
                </a:lnTo>
                <a:lnTo>
                  <a:pt x="60403" y="186489"/>
                </a:lnTo>
                <a:lnTo>
                  <a:pt x="54335" y="173247"/>
                </a:lnTo>
                <a:close/>
              </a:path>
              <a:path w="572135" h="530860">
                <a:moveTo>
                  <a:pt x="65335" y="228413"/>
                </a:moveTo>
                <a:lnTo>
                  <a:pt x="62583" y="230256"/>
                </a:lnTo>
                <a:lnTo>
                  <a:pt x="64001" y="230256"/>
                </a:lnTo>
                <a:lnTo>
                  <a:pt x="65335" y="228413"/>
                </a:lnTo>
                <a:close/>
              </a:path>
              <a:path w="572135" h="530860">
                <a:moveTo>
                  <a:pt x="71025" y="220550"/>
                </a:moveTo>
                <a:lnTo>
                  <a:pt x="65335" y="228413"/>
                </a:lnTo>
                <a:lnTo>
                  <a:pt x="70100" y="225223"/>
                </a:lnTo>
                <a:lnTo>
                  <a:pt x="71025" y="220550"/>
                </a:lnTo>
                <a:close/>
              </a:path>
              <a:path w="572135" h="530860">
                <a:moveTo>
                  <a:pt x="42705" y="216461"/>
                </a:moveTo>
                <a:lnTo>
                  <a:pt x="42070" y="219673"/>
                </a:lnTo>
                <a:lnTo>
                  <a:pt x="47101" y="227190"/>
                </a:lnTo>
                <a:lnTo>
                  <a:pt x="47673" y="227303"/>
                </a:lnTo>
                <a:lnTo>
                  <a:pt x="42705" y="216461"/>
                </a:lnTo>
                <a:close/>
              </a:path>
              <a:path w="572135" h="530860">
                <a:moveTo>
                  <a:pt x="120304" y="119930"/>
                </a:moveTo>
                <a:lnTo>
                  <a:pt x="88822" y="166063"/>
                </a:lnTo>
                <a:lnTo>
                  <a:pt x="74076" y="204631"/>
                </a:lnTo>
                <a:lnTo>
                  <a:pt x="71633" y="217483"/>
                </a:lnTo>
                <a:lnTo>
                  <a:pt x="71025" y="220550"/>
                </a:lnTo>
                <a:lnTo>
                  <a:pt x="132005" y="136295"/>
                </a:lnTo>
                <a:lnTo>
                  <a:pt x="130572" y="127361"/>
                </a:lnTo>
                <a:lnTo>
                  <a:pt x="120304" y="119930"/>
                </a:lnTo>
                <a:close/>
              </a:path>
              <a:path w="572135" h="530860">
                <a:moveTo>
                  <a:pt x="17496" y="108209"/>
                </a:moveTo>
                <a:lnTo>
                  <a:pt x="3149" y="114782"/>
                </a:lnTo>
                <a:lnTo>
                  <a:pt x="0" y="123262"/>
                </a:lnTo>
                <a:lnTo>
                  <a:pt x="42705" y="216461"/>
                </a:lnTo>
                <a:lnTo>
                  <a:pt x="43602" y="211932"/>
                </a:lnTo>
                <a:lnTo>
                  <a:pt x="46897" y="195809"/>
                </a:lnTo>
                <a:lnTo>
                  <a:pt x="54240" y="173457"/>
                </a:lnTo>
                <a:lnTo>
                  <a:pt x="54335" y="173247"/>
                </a:lnTo>
                <a:lnTo>
                  <a:pt x="25976" y="111359"/>
                </a:lnTo>
                <a:lnTo>
                  <a:pt x="17496" y="108209"/>
                </a:lnTo>
                <a:close/>
              </a:path>
              <a:path w="572135" h="530860">
                <a:moveTo>
                  <a:pt x="60403" y="186489"/>
                </a:moveTo>
                <a:lnTo>
                  <a:pt x="46043" y="206330"/>
                </a:lnTo>
                <a:lnTo>
                  <a:pt x="70606" y="208756"/>
                </a:lnTo>
                <a:lnTo>
                  <a:pt x="60403" y="186489"/>
                </a:lnTo>
                <a:close/>
              </a:path>
              <a:path w="572135" h="530860">
                <a:moveTo>
                  <a:pt x="117788" y="118110"/>
                </a:moveTo>
                <a:lnTo>
                  <a:pt x="108855" y="119541"/>
                </a:lnTo>
                <a:lnTo>
                  <a:pt x="60403" y="186489"/>
                </a:lnTo>
                <a:lnTo>
                  <a:pt x="70606" y="208756"/>
                </a:lnTo>
                <a:lnTo>
                  <a:pt x="73292" y="208756"/>
                </a:lnTo>
                <a:lnTo>
                  <a:pt x="74076" y="204631"/>
                </a:lnTo>
                <a:lnTo>
                  <a:pt x="80299" y="185182"/>
                </a:lnTo>
                <a:lnTo>
                  <a:pt x="88822" y="166063"/>
                </a:lnTo>
                <a:lnTo>
                  <a:pt x="99485" y="147463"/>
                </a:lnTo>
                <a:lnTo>
                  <a:pt x="112120" y="129571"/>
                </a:lnTo>
                <a:lnTo>
                  <a:pt x="120304" y="119930"/>
                </a:lnTo>
                <a:lnTo>
                  <a:pt x="117788" y="118110"/>
                </a:lnTo>
                <a:close/>
              </a:path>
              <a:path w="572135" h="530860">
                <a:moveTo>
                  <a:pt x="307169" y="0"/>
                </a:moveTo>
                <a:lnTo>
                  <a:pt x="257087" y="5294"/>
                </a:lnTo>
                <a:lnTo>
                  <a:pt x="208986" y="20514"/>
                </a:lnTo>
                <a:lnTo>
                  <a:pt x="164251" y="44131"/>
                </a:lnTo>
                <a:lnTo>
                  <a:pt x="124254" y="74738"/>
                </a:lnTo>
                <a:lnTo>
                  <a:pt x="90379" y="111028"/>
                </a:lnTo>
                <a:lnTo>
                  <a:pt x="64074" y="151778"/>
                </a:lnTo>
                <a:lnTo>
                  <a:pt x="54335" y="173247"/>
                </a:lnTo>
                <a:lnTo>
                  <a:pt x="60403" y="186489"/>
                </a:lnTo>
                <a:lnTo>
                  <a:pt x="108855" y="119541"/>
                </a:lnTo>
                <a:lnTo>
                  <a:pt x="117788" y="118110"/>
                </a:lnTo>
                <a:lnTo>
                  <a:pt x="121850" y="118110"/>
                </a:lnTo>
                <a:lnTo>
                  <a:pt x="126549" y="112575"/>
                </a:lnTo>
                <a:lnTo>
                  <a:pt x="142585" y="96658"/>
                </a:lnTo>
                <a:lnTo>
                  <a:pt x="178713" y="68775"/>
                </a:lnTo>
                <a:lnTo>
                  <a:pt x="218945" y="47297"/>
                </a:lnTo>
                <a:lnTo>
                  <a:pt x="261702" y="33494"/>
                </a:lnTo>
                <a:lnTo>
                  <a:pt x="305426" y="28521"/>
                </a:lnTo>
                <a:lnTo>
                  <a:pt x="415474" y="28521"/>
                </a:lnTo>
                <a:lnTo>
                  <a:pt x="405254" y="23145"/>
                </a:lnTo>
                <a:lnTo>
                  <a:pt x="381586" y="13425"/>
                </a:lnTo>
                <a:lnTo>
                  <a:pt x="357233" y="6184"/>
                </a:lnTo>
                <a:lnTo>
                  <a:pt x="332365" y="1635"/>
                </a:lnTo>
                <a:lnTo>
                  <a:pt x="307169" y="0"/>
                </a:lnTo>
                <a:close/>
              </a:path>
              <a:path w="572135" h="530860">
                <a:moveTo>
                  <a:pt x="121850" y="118110"/>
                </a:moveTo>
                <a:lnTo>
                  <a:pt x="117788" y="118110"/>
                </a:lnTo>
                <a:lnTo>
                  <a:pt x="120304" y="119930"/>
                </a:lnTo>
                <a:lnTo>
                  <a:pt x="121850" y="118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76400" y="1533144"/>
            <a:ext cx="643127" cy="637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36776" y="1484375"/>
            <a:ext cx="722376" cy="8351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22882" y="1554265"/>
            <a:ext cx="548640" cy="546100"/>
          </a:xfrm>
          <a:custGeom>
            <a:avLst/>
            <a:gdLst/>
            <a:ahLst/>
            <a:cxnLst/>
            <a:rect l="l" t="t" r="r" b="b"/>
            <a:pathLst>
              <a:path w="548639" h="546100">
                <a:moveTo>
                  <a:pt x="274319" y="0"/>
                </a:moveTo>
                <a:lnTo>
                  <a:pt x="225010" y="4395"/>
                </a:lnTo>
                <a:lnTo>
                  <a:pt x="178600" y="17067"/>
                </a:lnTo>
                <a:lnTo>
                  <a:pt x="135865" y="37246"/>
                </a:lnTo>
                <a:lnTo>
                  <a:pt x="97578" y="64160"/>
                </a:lnTo>
                <a:lnTo>
                  <a:pt x="64516" y="97040"/>
                </a:lnTo>
                <a:lnTo>
                  <a:pt x="37452" y="135115"/>
                </a:lnTo>
                <a:lnTo>
                  <a:pt x="17162" y="177615"/>
                </a:lnTo>
                <a:lnTo>
                  <a:pt x="4419" y="223768"/>
                </a:lnTo>
                <a:lnTo>
                  <a:pt x="0" y="272806"/>
                </a:lnTo>
                <a:lnTo>
                  <a:pt x="4419" y="321842"/>
                </a:lnTo>
                <a:lnTo>
                  <a:pt x="17162" y="367996"/>
                </a:lnTo>
                <a:lnTo>
                  <a:pt x="37452" y="410495"/>
                </a:lnTo>
                <a:lnTo>
                  <a:pt x="64516" y="448570"/>
                </a:lnTo>
                <a:lnTo>
                  <a:pt x="97578" y="481450"/>
                </a:lnTo>
                <a:lnTo>
                  <a:pt x="135865" y="508365"/>
                </a:lnTo>
                <a:lnTo>
                  <a:pt x="178600" y="528543"/>
                </a:lnTo>
                <a:lnTo>
                  <a:pt x="225010" y="541215"/>
                </a:lnTo>
                <a:lnTo>
                  <a:pt x="274319" y="545611"/>
                </a:lnTo>
                <a:lnTo>
                  <a:pt x="323629" y="541215"/>
                </a:lnTo>
                <a:lnTo>
                  <a:pt x="370038" y="528543"/>
                </a:lnTo>
                <a:lnTo>
                  <a:pt x="412774" y="508365"/>
                </a:lnTo>
                <a:lnTo>
                  <a:pt x="451060" y="481450"/>
                </a:lnTo>
                <a:lnTo>
                  <a:pt x="484123" y="448570"/>
                </a:lnTo>
                <a:lnTo>
                  <a:pt x="511187" y="410495"/>
                </a:lnTo>
                <a:lnTo>
                  <a:pt x="531477" y="367996"/>
                </a:lnTo>
                <a:lnTo>
                  <a:pt x="544220" y="321842"/>
                </a:lnTo>
                <a:lnTo>
                  <a:pt x="548640" y="272806"/>
                </a:lnTo>
                <a:lnTo>
                  <a:pt x="544220" y="223768"/>
                </a:lnTo>
                <a:lnTo>
                  <a:pt x="531477" y="177615"/>
                </a:lnTo>
                <a:lnTo>
                  <a:pt x="511187" y="135115"/>
                </a:lnTo>
                <a:lnTo>
                  <a:pt x="484123" y="97040"/>
                </a:lnTo>
                <a:lnTo>
                  <a:pt x="451060" y="64160"/>
                </a:lnTo>
                <a:lnTo>
                  <a:pt x="412774" y="37246"/>
                </a:lnTo>
                <a:lnTo>
                  <a:pt x="370038" y="17067"/>
                </a:lnTo>
                <a:lnTo>
                  <a:pt x="323629" y="4395"/>
                </a:lnTo>
                <a:lnTo>
                  <a:pt x="2743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885283" y="1588515"/>
            <a:ext cx="2235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2919" y="3572255"/>
            <a:ext cx="643128" cy="6370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3295" y="3523488"/>
            <a:ext cx="722376" cy="8351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49701" y="3592934"/>
            <a:ext cx="548640" cy="546100"/>
          </a:xfrm>
          <a:custGeom>
            <a:avLst/>
            <a:gdLst/>
            <a:ahLst/>
            <a:cxnLst/>
            <a:rect l="l" t="t" r="r" b="b"/>
            <a:pathLst>
              <a:path w="548640" h="546100">
                <a:moveTo>
                  <a:pt x="274319" y="0"/>
                </a:moveTo>
                <a:lnTo>
                  <a:pt x="225010" y="4395"/>
                </a:lnTo>
                <a:lnTo>
                  <a:pt x="178600" y="17067"/>
                </a:lnTo>
                <a:lnTo>
                  <a:pt x="135865" y="37245"/>
                </a:lnTo>
                <a:lnTo>
                  <a:pt x="97579" y="64160"/>
                </a:lnTo>
                <a:lnTo>
                  <a:pt x="64516" y="97039"/>
                </a:lnTo>
                <a:lnTo>
                  <a:pt x="37452" y="135114"/>
                </a:lnTo>
                <a:lnTo>
                  <a:pt x="17162" y="177614"/>
                </a:lnTo>
                <a:lnTo>
                  <a:pt x="4419" y="223767"/>
                </a:lnTo>
                <a:lnTo>
                  <a:pt x="0" y="272804"/>
                </a:lnTo>
                <a:lnTo>
                  <a:pt x="4419" y="321842"/>
                </a:lnTo>
                <a:lnTo>
                  <a:pt x="17162" y="367995"/>
                </a:lnTo>
                <a:lnTo>
                  <a:pt x="37452" y="410494"/>
                </a:lnTo>
                <a:lnTo>
                  <a:pt x="64516" y="448569"/>
                </a:lnTo>
                <a:lnTo>
                  <a:pt x="97579" y="481449"/>
                </a:lnTo>
                <a:lnTo>
                  <a:pt x="135865" y="508364"/>
                </a:lnTo>
                <a:lnTo>
                  <a:pt x="178600" y="528542"/>
                </a:lnTo>
                <a:lnTo>
                  <a:pt x="225010" y="541214"/>
                </a:lnTo>
                <a:lnTo>
                  <a:pt x="274319" y="545609"/>
                </a:lnTo>
                <a:lnTo>
                  <a:pt x="323629" y="541214"/>
                </a:lnTo>
                <a:lnTo>
                  <a:pt x="370039" y="528542"/>
                </a:lnTo>
                <a:lnTo>
                  <a:pt x="412774" y="508364"/>
                </a:lnTo>
                <a:lnTo>
                  <a:pt x="451060" y="481449"/>
                </a:lnTo>
                <a:lnTo>
                  <a:pt x="484123" y="448569"/>
                </a:lnTo>
                <a:lnTo>
                  <a:pt x="511187" y="410494"/>
                </a:lnTo>
                <a:lnTo>
                  <a:pt x="531477" y="367995"/>
                </a:lnTo>
                <a:lnTo>
                  <a:pt x="544220" y="321842"/>
                </a:lnTo>
                <a:lnTo>
                  <a:pt x="548640" y="272804"/>
                </a:lnTo>
                <a:lnTo>
                  <a:pt x="544220" y="223767"/>
                </a:lnTo>
                <a:lnTo>
                  <a:pt x="531477" y="177614"/>
                </a:lnTo>
                <a:lnTo>
                  <a:pt x="511187" y="135114"/>
                </a:lnTo>
                <a:lnTo>
                  <a:pt x="484123" y="97039"/>
                </a:lnTo>
                <a:lnTo>
                  <a:pt x="451060" y="64160"/>
                </a:lnTo>
                <a:lnTo>
                  <a:pt x="412774" y="37245"/>
                </a:lnTo>
                <a:lnTo>
                  <a:pt x="370039" y="17067"/>
                </a:lnTo>
                <a:lnTo>
                  <a:pt x="323629" y="4395"/>
                </a:lnTo>
                <a:lnTo>
                  <a:pt x="2743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12102" y="3627627"/>
            <a:ext cx="2235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52800" y="3758184"/>
            <a:ext cx="640079" cy="6370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52215" y="3709415"/>
            <a:ext cx="841248" cy="8351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98850" y="3778266"/>
            <a:ext cx="548640" cy="546100"/>
          </a:xfrm>
          <a:custGeom>
            <a:avLst/>
            <a:gdLst/>
            <a:ahLst/>
            <a:cxnLst/>
            <a:rect l="l" t="t" r="r" b="b"/>
            <a:pathLst>
              <a:path w="548639" h="546100">
                <a:moveTo>
                  <a:pt x="274320" y="0"/>
                </a:moveTo>
                <a:lnTo>
                  <a:pt x="225010" y="4395"/>
                </a:lnTo>
                <a:lnTo>
                  <a:pt x="178600" y="17067"/>
                </a:lnTo>
                <a:lnTo>
                  <a:pt x="135865" y="37246"/>
                </a:lnTo>
                <a:lnTo>
                  <a:pt x="97578" y="64160"/>
                </a:lnTo>
                <a:lnTo>
                  <a:pt x="64516" y="97040"/>
                </a:lnTo>
                <a:lnTo>
                  <a:pt x="37452" y="135115"/>
                </a:lnTo>
                <a:lnTo>
                  <a:pt x="17162" y="177614"/>
                </a:lnTo>
                <a:lnTo>
                  <a:pt x="4419" y="223768"/>
                </a:lnTo>
                <a:lnTo>
                  <a:pt x="0" y="272804"/>
                </a:lnTo>
                <a:lnTo>
                  <a:pt x="4419" y="321842"/>
                </a:lnTo>
                <a:lnTo>
                  <a:pt x="17162" y="367995"/>
                </a:lnTo>
                <a:lnTo>
                  <a:pt x="37452" y="410494"/>
                </a:lnTo>
                <a:lnTo>
                  <a:pt x="64516" y="448569"/>
                </a:lnTo>
                <a:lnTo>
                  <a:pt x="97578" y="481449"/>
                </a:lnTo>
                <a:lnTo>
                  <a:pt x="135865" y="508364"/>
                </a:lnTo>
                <a:lnTo>
                  <a:pt x="178600" y="528542"/>
                </a:lnTo>
                <a:lnTo>
                  <a:pt x="225010" y="541214"/>
                </a:lnTo>
                <a:lnTo>
                  <a:pt x="274320" y="545609"/>
                </a:lnTo>
                <a:lnTo>
                  <a:pt x="323629" y="541214"/>
                </a:lnTo>
                <a:lnTo>
                  <a:pt x="370038" y="528542"/>
                </a:lnTo>
                <a:lnTo>
                  <a:pt x="412774" y="508364"/>
                </a:lnTo>
                <a:lnTo>
                  <a:pt x="451060" y="481449"/>
                </a:lnTo>
                <a:lnTo>
                  <a:pt x="484123" y="448569"/>
                </a:lnTo>
                <a:lnTo>
                  <a:pt x="511187" y="410494"/>
                </a:lnTo>
                <a:lnTo>
                  <a:pt x="531477" y="367995"/>
                </a:lnTo>
                <a:lnTo>
                  <a:pt x="544220" y="321842"/>
                </a:lnTo>
                <a:lnTo>
                  <a:pt x="548640" y="272804"/>
                </a:lnTo>
                <a:lnTo>
                  <a:pt x="544220" y="223768"/>
                </a:lnTo>
                <a:lnTo>
                  <a:pt x="531477" y="177614"/>
                </a:lnTo>
                <a:lnTo>
                  <a:pt x="511187" y="135115"/>
                </a:lnTo>
                <a:lnTo>
                  <a:pt x="484123" y="97040"/>
                </a:lnTo>
                <a:lnTo>
                  <a:pt x="451060" y="64160"/>
                </a:lnTo>
                <a:lnTo>
                  <a:pt x="412774" y="37246"/>
                </a:lnTo>
                <a:lnTo>
                  <a:pt x="370038" y="17067"/>
                </a:lnTo>
                <a:lnTo>
                  <a:pt x="323629" y="4395"/>
                </a:lnTo>
                <a:lnTo>
                  <a:pt x="274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502514" y="3813555"/>
            <a:ext cx="3416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62972" y="3578932"/>
            <a:ext cx="527685" cy="486409"/>
          </a:xfrm>
          <a:custGeom>
            <a:avLst/>
            <a:gdLst/>
            <a:ahLst/>
            <a:cxnLst/>
            <a:rect l="l" t="t" r="r" b="b"/>
            <a:pathLst>
              <a:path w="527685" h="486410">
                <a:moveTo>
                  <a:pt x="388835" y="28521"/>
                </a:moveTo>
                <a:lnTo>
                  <a:pt x="283617" y="28521"/>
                </a:lnTo>
                <a:lnTo>
                  <a:pt x="303363" y="29634"/>
                </a:lnTo>
                <a:lnTo>
                  <a:pt x="323088" y="33098"/>
                </a:lnTo>
                <a:lnTo>
                  <a:pt x="361792" y="46556"/>
                </a:lnTo>
                <a:lnTo>
                  <a:pt x="398297" y="67744"/>
                </a:lnTo>
                <a:lnTo>
                  <a:pt x="431139" y="95370"/>
                </a:lnTo>
                <a:lnTo>
                  <a:pt x="458895" y="128049"/>
                </a:lnTo>
                <a:lnTo>
                  <a:pt x="480222" y="164330"/>
                </a:lnTo>
                <a:lnTo>
                  <a:pt x="493895" y="202752"/>
                </a:lnTo>
                <a:lnTo>
                  <a:pt x="498830" y="241987"/>
                </a:lnTo>
                <a:lnTo>
                  <a:pt x="497719" y="261733"/>
                </a:lnTo>
                <a:lnTo>
                  <a:pt x="488566" y="300992"/>
                </a:lnTo>
                <a:lnTo>
                  <a:pt x="471089" y="338780"/>
                </a:lnTo>
                <a:lnTo>
                  <a:pt x="446514" y="373635"/>
                </a:lnTo>
                <a:lnTo>
                  <a:pt x="416184" y="404107"/>
                </a:lnTo>
                <a:lnTo>
                  <a:pt x="381520" y="428811"/>
                </a:lnTo>
                <a:lnTo>
                  <a:pt x="343988" y="446455"/>
                </a:lnTo>
                <a:lnTo>
                  <a:pt x="305020" y="455888"/>
                </a:lnTo>
                <a:lnTo>
                  <a:pt x="275742" y="457682"/>
                </a:lnTo>
                <a:lnTo>
                  <a:pt x="269748" y="464458"/>
                </a:lnTo>
                <a:lnTo>
                  <a:pt x="270713" y="480211"/>
                </a:lnTo>
                <a:lnTo>
                  <a:pt x="277489" y="486204"/>
                </a:lnTo>
                <a:lnTo>
                  <a:pt x="306768" y="484409"/>
                </a:lnTo>
                <a:lnTo>
                  <a:pt x="352075" y="473862"/>
                </a:lnTo>
                <a:lnTo>
                  <a:pt x="394798" y="454113"/>
                </a:lnTo>
                <a:lnTo>
                  <a:pt x="433693" y="426689"/>
                </a:lnTo>
                <a:lnTo>
                  <a:pt x="467545" y="392981"/>
                </a:lnTo>
                <a:lnTo>
                  <a:pt x="495098" y="354276"/>
                </a:lnTo>
                <a:lnTo>
                  <a:pt x="515014" y="311810"/>
                </a:lnTo>
                <a:lnTo>
                  <a:pt x="525842" y="266795"/>
                </a:lnTo>
                <a:lnTo>
                  <a:pt x="527352" y="243734"/>
                </a:lnTo>
                <a:lnTo>
                  <a:pt x="526041" y="220583"/>
                </a:lnTo>
                <a:lnTo>
                  <a:pt x="515492" y="175276"/>
                </a:lnTo>
                <a:lnTo>
                  <a:pt x="495744" y="132553"/>
                </a:lnTo>
                <a:lnTo>
                  <a:pt x="468321" y="93658"/>
                </a:lnTo>
                <a:lnTo>
                  <a:pt x="434611" y="59806"/>
                </a:lnTo>
                <a:lnTo>
                  <a:pt x="395908" y="32255"/>
                </a:lnTo>
                <a:lnTo>
                  <a:pt x="388835" y="28521"/>
                </a:lnTo>
                <a:close/>
              </a:path>
              <a:path w="527685" h="486410">
                <a:moveTo>
                  <a:pt x="48622" y="227437"/>
                </a:moveTo>
                <a:lnTo>
                  <a:pt x="55886" y="242926"/>
                </a:lnTo>
                <a:lnTo>
                  <a:pt x="64966" y="230144"/>
                </a:lnTo>
                <a:lnTo>
                  <a:pt x="63657" y="230144"/>
                </a:lnTo>
                <a:lnTo>
                  <a:pt x="48622" y="227437"/>
                </a:lnTo>
                <a:close/>
              </a:path>
              <a:path w="527685" h="486410">
                <a:moveTo>
                  <a:pt x="54490" y="172648"/>
                </a:moveTo>
                <a:lnTo>
                  <a:pt x="53969" y="173911"/>
                </a:lnTo>
                <a:lnTo>
                  <a:pt x="47322" y="196178"/>
                </a:lnTo>
                <a:lnTo>
                  <a:pt x="44361" y="212153"/>
                </a:lnTo>
                <a:lnTo>
                  <a:pt x="43554" y="216630"/>
                </a:lnTo>
                <a:lnTo>
                  <a:pt x="48622" y="227437"/>
                </a:lnTo>
                <a:lnTo>
                  <a:pt x="63657" y="230144"/>
                </a:lnTo>
                <a:lnTo>
                  <a:pt x="66243" y="228347"/>
                </a:lnTo>
                <a:lnTo>
                  <a:pt x="71918" y="220358"/>
                </a:lnTo>
                <a:lnTo>
                  <a:pt x="72585" y="216630"/>
                </a:lnTo>
                <a:lnTo>
                  <a:pt x="73974" y="208619"/>
                </a:lnTo>
                <a:lnTo>
                  <a:pt x="71358" y="208619"/>
                </a:lnTo>
                <a:lnTo>
                  <a:pt x="46775" y="206410"/>
                </a:lnTo>
                <a:lnTo>
                  <a:pt x="60959" y="186443"/>
                </a:lnTo>
                <a:lnTo>
                  <a:pt x="54490" y="172648"/>
                </a:lnTo>
                <a:close/>
              </a:path>
              <a:path w="527685" h="486410">
                <a:moveTo>
                  <a:pt x="66243" y="228347"/>
                </a:moveTo>
                <a:lnTo>
                  <a:pt x="63657" y="230144"/>
                </a:lnTo>
                <a:lnTo>
                  <a:pt x="64966" y="230144"/>
                </a:lnTo>
                <a:lnTo>
                  <a:pt x="66243" y="228347"/>
                </a:lnTo>
                <a:close/>
              </a:path>
              <a:path w="527685" h="486410">
                <a:moveTo>
                  <a:pt x="71918" y="220358"/>
                </a:moveTo>
                <a:lnTo>
                  <a:pt x="66243" y="228347"/>
                </a:lnTo>
                <a:lnTo>
                  <a:pt x="71085" y="224981"/>
                </a:lnTo>
                <a:lnTo>
                  <a:pt x="71918" y="220358"/>
                </a:lnTo>
                <a:close/>
              </a:path>
              <a:path w="527685" h="486410">
                <a:moveTo>
                  <a:pt x="43554" y="216630"/>
                </a:moveTo>
                <a:lnTo>
                  <a:pt x="42962" y="219919"/>
                </a:lnTo>
                <a:lnTo>
                  <a:pt x="48125" y="227347"/>
                </a:lnTo>
                <a:lnTo>
                  <a:pt x="48622" y="227437"/>
                </a:lnTo>
                <a:lnTo>
                  <a:pt x="43554" y="216630"/>
                </a:lnTo>
                <a:close/>
              </a:path>
              <a:path w="527685" h="486410">
                <a:moveTo>
                  <a:pt x="118066" y="117792"/>
                </a:moveTo>
                <a:lnTo>
                  <a:pt x="88188" y="165561"/>
                </a:lnTo>
                <a:lnTo>
                  <a:pt x="74729" y="204264"/>
                </a:lnTo>
                <a:lnTo>
                  <a:pt x="72483" y="217215"/>
                </a:lnTo>
                <a:lnTo>
                  <a:pt x="71918" y="220358"/>
                </a:lnTo>
                <a:lnTo>
                  <a:pt x="132114" y="135618"/>
                </a:lnTo>
                <a:lnTo>
                  <a:pt x="130604" y="126699"/>
                </a:lnTo>
                <a:lnTo>
                  <a:pt x="118066" y="117792"/>
                </a:lnTo>
                <a:close/>
              </a:path>
              <a:path w="527685" h="486410">
                <a:moveTo>
                  <a:pt x="17363" y="108544"/>
                </a:moveTo>
                <a:lnTo>
                  <a:pt x="3075" y="115244"/>
                </a:lnTo>
                <a:lnTo>
                  <a:pt x="0" y="123751"/>
                </a:lnTo>
                <a:lnTo>
                  <a:pt x="43554" y="216630"/>
                </a:lnTo>
                <a:lnTo>
                  <a:pt x="44361" y="212153"/>
                </a:lnTo>
                <a:lnTo>
                  <a:pt x="47322" y="196178"/>
                </a:lnTo>
                <a:lnTo>
                  <a:pt x="53969" y="173911"/>
                </a:lnTo>
                <a:lnTo>
                  <a:pt x="54490" y="172648"/>
                </a:lnTo>
                <a:lnTo>
                  <a:pt x="25871" y="111619"/>
                </a:lnTo>
                <a:lnTo>
                  <a:pt x="17363" y="108544"/>
                </a:lnTo>
                <a:close/>
              </a:path>
              <a:path w="527685" h="486410">
                <a:moveTo>
                  <a:pt x="60959" y="186443"/>
                </a:moveTo>
                <a:lnTo>
                  <a:pt x="46775" y="206410"/>
                </a:lnTo>
                <a:lnTo>
                  <a:pt x="71358" y="208619"/>
                </a:lnTo>
                <a:lnTo>
                  <a:pt x="60959" y="186443"/>
                </a:lnTo>
                <a:close/>
              </a:path>
              <a:path w="527685" h="486410">
                <a:moveTo>
                  <a:pt x="117739" y="117560"/>
                </a:moveTo>
                <a:lnTo>
                  <a:pt x="108818" y="119070"/>
                </a:lnTo>
                <a:lnTo>
                  <a:pt x="60959" y="186443"/>
                </a:lnTo>
                <a:lnTo>
                  <a:pt x="71358" y="208619"/>
                </a:lnTo>
                <a:lnTo>
                  <a:pt x="73974" y="208619"/>
                </a:lnTo>
                <a:lnTo>
                  <a:pt x="74729" y="204264"/>
                </a:lnTo>
                <a:lnTo>
                  <a:pt x="80417" y="184729"/>
                </a:lnTo>
                <a:lnTo>
                  <a:pt x="88188" y="165561"/>
                </a:lnTo>
                <a:lnTo>
                  <a:pt x="97894" y="146941"/>
                </a:lnTo>
                <a:lnTo>
                  <a:pt x="109376" y="129054"/>
                </a:lnTo>
                <a:lnTo>
                  <a:pt x="118066" y="117792"/>
                </a:lnTo>
                <a:lnTo>
                  <a:pt x="117739" y="117560"/>
                </a:lnTo>
                <a:close/>
              </a:path>
              <a:path w="527685" h="486410">
                <a:moveTo>
                  <a:pt x="285365" y="0"/>
                </a:moveTo>
                <a:lnTo>
                  <a:pt x="239321" y="5334"/>
                </a:lnTo>
                <a:lnTo>
                  <a:pt x="195143" y="20681"/>
                </a:lnTo>
                <a:lnTo>
                  <a:pt x="154183" y="44450"/>
                </a:lnTo>
                <a:lnTo>
                  <a:pt x="117656" y="75182"/>
                </a:lnTo>
                <a:lnTo>
                  <a:pt x="86746" y="111619"/>
                </a:lnTo>
                <a:lnTo>
                  <a:pt x="62885" y="152283"/>
                </a:lnTo>
                <a:lnTo>
                  <a:pt x="54490" y="172648"/>
                </a:lnTo>
                <a:lnTo>
                  <a:pt x="60959" y="186443"/>
                </a:lnTo>
                <a:lnTo>
                  <a:pt x="108818" y="119070"/>
                </a:lnTo>
                <a:lnTo>
                  <a:pt x="117739" y="117560"/>
                </a:lnTo>
                <a:lnTo>
                  <a:pt x="118245" y="117560"/>
                </a:lnTo>
                <a:lnTo>
                  <a:pt x="122468" y="112086"/>
                </a:lnTo>
                <a:lnTo>
                  <a:pt x="137002" y="96213"/>
                </a:lnTo>
                <a:lnTo>
                  <a:pt x="169680" y="68456"/>
                </a:lnTo>
                <a:lnTo>
                  <a:pt x="205962" y="47129"/>
                </a:lnTo>
                <a:lnTo>
                  <a:pt x="244383" y="33456"/>
                </a:lnTo>
                <a:lnTo>
                  <a:pt x="283617" y="28521"/>
                </a:lnTo>
                <a:lnTo>
                  <a:pt x="388835" y="28521"/>
                </a:lnTo>
                <a:lnTo>
                  <a:pt x="375069" y="21254"/>
                </a:lnTo>
                <a:lnTo>
                  <a:pt x="353440" y="12338"/>
                </a:lnTo>
                <a:lnTo>
                  <a:pt x="331174" y="5692"/>
                </a:lnTo>
                <a:lnTo>
                  <a:pt x="308427" y="1511"/>
                </a:lnTo>
                <a:lnTo>
                  <a:pt x="285365" y="0"/>
                </a:lnTo>
                <a:close/>
              </a:path>
              <a:path w="527685" h="486410">
                <a:moveTo>
                  <a:pt x="118245" y="117560"/>
                </a:moveTo>
                <a:lnTo>
                  <a:pt x="117739" y="117560"/>
                </a:lnTo>
                <a:lnTo>
                  <a:pt x="118066" y="117792"/>
                </a:lnTo>
                <a:lnTo>
                  <a:pt x="118245" y="117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981192" y="2083865"/>
            <a:ext cx="1498600" cy="1774825"/>
          </a:xfrm>
          <a:custGeom>
            <a:avLst/>
            <a:gdLst/>
            <a:ahLst/>
            <a:cxnLst/>
            <a:rect l="l" t="t" r="r" b="b"/>
            <a:pathLst>
              <a:path w="1498600" h="1774825">
                <a:moveTo>
                  <a:pt x="1481912" y="1768604"/>
                </a:moveTo>
                <a:lnTo>
                  <a:pt x="1498046" y="1774355"/>
                </a:lnTo>
                <a:lnTo>
                  <a:pt x="1497061" y="1768693"/>
                </a:lnTo>
                <a:lnTo>
                  <a:pt x="1482954" y="1768693"/>
                </a:lnTo>
                <a:lnTo>
                  <a:pt x="1481912" y="1768604"/>
                </a:lnTo>
                <a:close/>
              </a:path>
              <a:path w="1498600" h="1774825">
                <a:moveTo>
                  <a:pt x="1434787" y="1721472"/>
                </a:moveTo>
                <a:lnTo>
                  <a:pt x="1471335" y="1764834"/>
                </a:lnTo>
                <a:lnTo>
                  <a:pt x="1481912" y="1768604"/>
                </a:lnTo>
                <a:lnTo>
                  <a:pt x="1482954" y="1768693"/>
                </a:lnTo>
                <a:lnTo>
                  <a:pt x="1495021" y="1758523"/>
                </a:lnTo>
                <a:lnTo>
                  <a:pt x="1495110" y="1757480"/>
                </a:lnTo>
                <a:lnTo>
                  <a:pt x="1494699" y="1755122"/>
                </a:lnTo>
                <a:lnTo>
                  <a:pt x="1465695" y="1755122"/>
                </a:lnTo>
                <a:lnTo>
                  <a:pt x="1461497" y="1730992"/>
                </a:lnTo>
                <a:lnTo>
                  <a:pt x="1434787" y="1721472"/>
                </a:lnTo>
                <a:close/>
              </a:path>
              <a:path w="1498600" h="1774825">
                <a:moveTo>
                  <a:pt x="1495110" y="1757480"/>
                </a:moveTo>
                <a:lnTo>
                  <a:pt x="1495021" y="1758523"/>
                </a:lnTo>
                <a:lnTo>
                  <a:pt x="1482954" y="1768693"/>
                </a:lnTo>
                <a:lnTo>
                  <a:pt x="1497061" y="1768693"/>
                </a:lnTo>
                <a:lnTo>
                  <a:pt x="1495110" y="1757480"/>
                </a:lnTo>
                <a:close/>
              </a:path>
              <a:path w="1498600" h="1774825">
                <a:moveTo>
                  <a:pt x="1471335" y="1764834"/>
                </a:moveTo>
                <a:lnTo>
                  <a:pt x="1473940" y="1767925"/>
                </a:lnTo>
                <a:lnTo>
                  <a:pt x="1481912" y="1768604"/>
                </a:lnTo>
                <a:lnTo>
                  <a:pt x="1471335" y="1764834"/>
                </a:lnTo>
                <a:close/>
              </a:path>
              <a:path w="1498600" h="1774825">
                <a:moveTo>
                  <a:pt x="1383652" y="1703246"/>
                </a:moveTo>
                <a:lnTo>
                  <a:pt x="1375478" y="1707123"/>
                </a:lnTo>
                <a:lnTo>
                  <a:pt x="1370181" y="1721990"/>
                </a:lnTo>
                <a:lnTo>
                  <a:pt x="1374058" y="1730162"/>
                </a:lnTo>
                <a:lnTo>
                  <a:pt x="1471335" y="1764834"/>
                </a:lnTo>
                <a:lnTo>
                  <a:pt x="1434787" y="1721472"/>
                </a:lnTo>
                <a:lnTo>
                  <a:pt x="1383652" y="1703246"/>
                </a:lnTo>
                <a:close/>
              </a:path>
              <a:path w="1498600" h="1774825">
                <a:moveTo>
                  <a:pt x="1493185" y="1746417"/>
                </a:moveTo>
                <a:lnTo>
                  <a:pt x="1495110" y="1757480"/>
                </a:lnTo>
                <a:lnTo>
                  <a:pt x="1495790" y="1749508"/>
                </a:lnTo>
                <a:lnTo>
                  <a:pt x="1493185" y="1746417"/>
                </a:lnTo>
                <a:close/>
              </a:path>
              <a:path w="1498600" h="1774825">
                <a:moveTo>
                  <a:pt x="1461497" y="1730992"/>
                </a:moveTo>
                <a:lnTo>
                  <a:pt x="1465695" y="1755122"/>
                </a:lnTo>
                <a:lnTo>
                  <a:pt x="1484569" y="1739215"/>
                </a:lnTo>
                <a:lnTo>
                  <a:pt x="1461497" y="1730992"/>
                </a:lnTo>
                <a:close/>
              </a:path>
              <a:path w="1498600" h="1774825">
                <a:moveTo>
                  <a:pt x="1456636" y="1703054"/>
                </a:moveTo>
                <a:lnTo>
                  <a:pt x="1461497" y="1730992"/>
                </a:lnTo>
                <a:lnTo>
                  <a:pt x="1484569" y="1739215"/>
                </a:lnTo>
                <a:lnTo>
                  <a:pt x="1465695" y="1755122"/>
                </a:lnTo>
                <a:lnTo>
                  <a:pt x="1494699" y="1755122"/>
                </a:lnTo>
                <a:lnTo>
                  <a:pt x="1493185" y="1746417"/>
                </a:lnTo>
                <a:lnTo>
                  <a:pt x="1456636" y="1703054"/>
                </a:lnTo>
                <a:close/>
              </a:path>
              <a:path w="1498600" h="1774825">
                <a:moveTo>
                  <a:pt x="1468084" y="1639469"/>
                </a:moveTo>
                <a:lnTo>
                  <a:pt x="1452537" y="1642174"/>
                </a:lnTo>
                <a:lnTo>
                  <a:pt x="1447331" y="1649573"/>
                </a:lnTo>
                <a:lnTo>
                  <a:pt x="1456636" y="1703054"/>
                </a:lnTo>
                <a:lnTo>
                  <a:pt x="1493185" y="1746417"/>
                </a:lnTo>
                <a:lnTo>
                  <a:pt x="1475483" y="1644675"/>
                </a:lnTo>
                <a:lnTo>
                  <a:pt x="1468084" y="1639469"/>
                </a:lnTo>
                <a:close/>
              </a:path>
              <a:path w="1498600" h="1774825">
                <a:moveTo>
                  <a:pt x="12834" y="0"/>
                </a:moveTo>
                <a:lnTo>
                  <a:pt x="768" y="10171"/>
                </a:lnTo>
                <a:lnTo>
                  <a:pt x="0" y="19184"/>
                </a:lnTo>
                <a:lnTo>
                  <a:pt x="1434787" y="1721472"/>
                </a:lnTo>
                <a:lnTo>
                  <a:pt x="1461497" y="1730992"/>
                </a:lnTo>
                <a:lnTo>
                  <a:pt x="1456636" y="1703054"/>
                </a:lnTo>
                <a:lnTo>
                  <a:pt x="21849" y="768"/>
                </a:lnTo>
                <a:lnTo>
                  <a:pt x="1283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7722" y="2019917"/>
            <a:ext cx="996950" cy="1589405"/>
          </a:xfrm>
          <a:custGeom>
            <a:avLst/>
            <a:gdLst/>
            <a:ahLst/>
            <a:cxnLst/>
            <a:rect l="l" t="t" r="r" b="b"/>
            <a:pathLst>
              <a:path w="996950" h="1589404">
                <a:moveTo>
                  <a:pt x="965569" y="48143"/>
                </a:moveTo>
                <a:lnTo>
                  <a:pt x="940496" y="61385"/>
                </a:lnTo>
                <a:lnTo>
                  <a:pt x="0" y="1572164"/>
                </a:lnTo>
                <a:lnTo>
                  <a:pt x="2049" y="1580976"/>
                </a:lnTo>
                <a:lnTo>
                  <a:pt x="15447" y="1589316"/>
                </a:lnTo>
                <a:lnTo>
                  <a:pt x="24258" y="1587266"/>
                </a:lnTo>
                <a:lnTo>
                  <a:pt x="964754" y="76487"/>
                </a:lnTo>
                <a:lnTo>
                  <a:pt x="965569" y="48143"/>
                </a:lnTo>
                <a:close/>
              </a:path>
              <a:path w="996950" h="1589404">
                <a:moveTo>
                  <a:pt x="994725" y="28343"/>
                </a:moveTo>
                <a:lnTo>
                  <a:pt x="964754" y="76487"/>
                </a:lnTo>
                <a:lnTo>
                  <a:pt x="963194" y="130751"/>
                </a:lnTo>
                <a:lnTo>
                  <a:pt x="969404" y="137330"/>
                </a:lnTo>
                <a:lnTo>
                  <a:pt x="985179" y="137783"/>
                </a:lnTo>
                <a:lnTo>
                  <a:pt x="991756" y="131573"/>
                </a:lnTo>
                <a:lnTo>
                  <a:pt x="994725" y="28343"/>
                </a:lnTo>
                <a:close/>
              </a:path>
              <a:path w="996950" h="1589404">
                <a:moveTo>
                  <a:pt x="970467" y="13241"/>
                </a:moveTo>
                <a:lnTo>
                  <a:pt x="879148" y="61470"/>
                </a:lnTo>
                <a:lnTo>
                  <a:pt x="876479" y="70114"/>
                </a:lnTo>
                <a:lnTo>
                  <a:pt x="883848" y="84068"/>
                </a:lnTo>
                <a:lnTo>
                  <a:pt x="892492" y="86738"/>
                </a:lnTo>
                <a:lnTo>
                  <a:pt x="940496" y="61385"/>
                </a:lnTo>
                <a:lnTo>
                  <a:pt x="970467" y="13241"/>
                </a:lnTo>
                <a:close/>
              </a:path>
              <a:path w="996950" h="1589404">
                <a:moveTo>
                  <a:pt x="994860" y="23661"/>
                </a:moveTo>
                <a:lnTo>
                  <a:pt x="966273" y="23661"/>
                </a:lnTo>
                <a:lnTo>
                  <a:pt x="987226" y="36705"/>
                </a:lnTo>
                <a:lnTo>
                  <a:pt x="965569" y="48143"/>
                </a:lnTo>
                <a:lnTo>
                  <a:pt x="964754" y="76487"/>
                </a:lnTo>
                <a:lnTo>
                  <a:pt x="994725" y="28343"/>
                </a:lnTo>
                <a:lnTo>
                  <a:pt x="994860" y="23661"/>
                </a:lnTo>
                <a:close/>
              </a:path>
              <a:path w="996950" h="1589404">
                <a:moveTo>
                  <a:pt x="981409" y="7769"/>
                </a:moveTo>
                <a:lnTo>
                  <a:pt x="980371" y="8011"/>
                </a:lnTo>
                <a:lnTo>
                  <a:pt x="970467" y="13241"/>
                </a:lnTo>
                <a:lnTo>
                  <a:pt x="940496" y="61385"/>
                </a:lnTo>
                <a:lnTo>
                  <a:pt x="965569" y="48143"/>
                </a:lnTo>
                <a:lnTo>
                  <a:pt x="966273" y="23661"/>
                </a:lnTo>
                <a:lnTo>
                  <a:pt x="994860" y="23661"/>
                </a:lnTo>
                <a:lnTo>
                  <a:pt x="995047" y="17146"/>
                </a:lnTo>
                <a:lnTo>
                  <a:pt x="994806" y="16109"/>
                </a:lnTo>
                <a:lnTo>
                  <a:pt x="981409" y="7769"/>
                </a:lnTo>
                <a:close/>
              </a:path>
              <a:path w="996950" h="1589404">
                <a:moveTo>
                  <a:pt x="966273" y="23661"/>
                </a:moveTo>
                <a:lnTo>
                  <a:pt x="965569" y="48143"/>
                </a:lnTo>
                <a:lnTo>
                  <a:pt x="987226" y="36705"/>
                </a:lnTo>
                <a:lnTo>
                  <a:pt x="966273" y="23661"/>
                </a:lnTo>
                <a:close/>
              </a:path>
              <a:path w="996950" h="1589404">
                <a:moveTo>
                  <a:pt x="995047" y="17146"/>
                </a:moveTo>
                <a:lnTo>
                  <a:pt x="994725" y="28343"/>
                </a:lnTo>
                <a:lnTo>
                  <a:pt x="996856" y="24921"/>
                </a:lnTo>
                <a:lnTo>
                  <a:pt x="995047" y="17146"/>
                </a:lnTo>
                <a:close/>
              </a:path>
              <a:path w="996950" h="1589404">
                <a:moveTo>
                  <a:pt x="995316" y="7769"/>
                </a:moveTo>
                <a:lnTo>
                  <a:pt x="981409" y="7769"/>
                </a:lnTo>
                <a:lnTo>
                  <a:pt x="994806" y="16109"/>
                </a:lnTo>
                <a:lnTo>
                  <a:pt x="995047" y="17146"/>
                </a:lnTo>
                <a:lnTo>
                  <a:pt x="995316" y="7769"/>
                </a:lnTo>
                <a:close/>
              </a:path>
              <a:path w="996950" h="1589404">
                <a:moveTo>
                  <a:pt x="980371" y="8011"/>
                </a:moveTo>
                <a:lnTo>
                  <a:pt x="972597" y="9819"/>
                </a:lnTo>
                <a:lnTo>
                  <a:pt x="970467" y="13241"/>
                </a:lnTo>
                <a:lnTo>
                  <a:pt x="980371" y="8011"/>
                </a:lnTo>
                <a:close/>
              </a:path>
              <a:path w="996950" h="1589404">
                <a:moveTo>
                  <a:pt x="995540" y="0"/>
                </a:moveTo>
                <a:lnTo>
                  <a:pt x="980371" y="8011"/>
                </a:lnTo>
                <a:lnTo>
                  <a:pt x="981409" y="7769"/>
                </a:lnTo>
                <a:lnTo>
                  <a:pt x="995316" y="7769"/>
                </a:lnTo>
                <a:lnTo>
                  <a:pt x="995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 rot="18180000">
            <a:off x="856516" y="2757146"/>
            <a:ext cx="447566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 spc="-5">
                <a:latin typeface="Arial"/>
                <a:cs typeface="Arial"/>
              </a:rPr>
              <a:t>7</a:t>
            </a:r>
            <a:r>
              <a:rPr dirty="0" sz="1600" spc="-20">
                <a:latin typeface="Arial"/>
                <a:cs typeface="Arial"/>
              </a:rPr>
              <a:t>/</a:t>
            </a:r>
            <a:r>
              <a:rPr dirty="0" sz="1600" spc="-5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 rot="300000">
            <a:off x="1835425" y="3714453"/>
            <a:ext cx="445869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 spc="-5">
                <a:latin typeface="Arial"/>
                <a:cs typeface="Arial"/>
              </a:rPr>
              <a:t>7/15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 rot="360000">
            <a:off x="1787888" y="4174460"/>
            <a:ext cx="503795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 spc="-5">
                <a:latin typeface="Arial"/>
                <a:cs typeface="Arial"/>
              </a:rPr>
              <a:t>1/15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32573" y="3307588"/>
            <a:ext cx="5340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13</a:t>
            </a:r>
            <a:r>
              <a:rPr dirty="0" sz="1600" spc="0">
                <a:latin typeface="Arial"/>
                <a:cs typeface="Arial"/>
              </a:rPr>
              <a:t>/</a:t>
            </a:r>
            <a:r>
              <a:rPr dirty="0" sz="1600" spc="-5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 rot="2880000">
            <a:off x="2837184" y="2702851"/>
            <a:ext cx="445869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 spc="-5">
                <a:latin typeface="Arial"/>
                <a:cs typeface="Arial"/>
              </a:rPr>
              <a:t>1/15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 rot="2760000">
            <a:off x="2369927" y="2948371"/>
            <a:ext cx="444739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 spc="-5">
                <a:latin typeface="Arial"/>
                <a:cs typeface="Arial"/>
              </a:rPr>
              <a:t>1</a:t>
            </a:r>
            <a:r>
              <a:rPr dirty="0" sz="1600" spc="0">
                <a:latin typeface="Arial"/>
                <a:cs typeface="Arial"/>
              </a:rPr>
              <a:t>/</a:t>
            </a:r>
            <a:r>
              <a:rPr dirty="0" sz="1600" spc="-5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2400000">
            <a:off x="191629" y="4431656"/>
            <a:ext cx="501533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 spc="-5">
                <a:latin typeface="Arial"/>
                <a:cs typeface="Arial"/>
              </a:rPr>
              <a:t>1/15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6841" y="3810865"/>
            <a:ext cx="532130" cy="570865"/>
          </a:xfrm>
          <a:custGeom>
            <a:avLst/>
            <a:gdLst/>
            <a:ahLst/>
            <a:cxnLst/>
            <a:rect l="l" t="t" r="r" b="b"/>
            <a:pathLst>
              <a:path w="532130" h="570864">
                <a:moveTo>
                  <a:pt x="173229" y="54342"/>
                </a:moveTo>
                <a:lnTo>
                  <a:pt x="130937" y="76111"/>
                </a:lnTo>
                <a:lnTo>
                  <a:pt x="92266" y="106297"/>
                </a:lnTo>
                <a:lnTo>
                  <a:pt x="58655" y="143301"/>
                </a:lnTo>
                <a:lnTo>
                  <a:pt x="31370" y="185718"/>
                </a:lnTo>
                <a:lnTo>
                  <a:pt x="11765" y="232181"/>
                </a:lnTo>
                <a:lnTo>
                  <a:pt x="1306" y="281306"/>
                </a:lnTo>
                <a:lnTo>
                  <a:pt x="0" y="306453"/>
                </a:lnTo>
                <a:lnTo>
                  <a:pt x="1643" y="331588"/>
                </a:lnTo>
                <a:lnTo>
                  <a:pt x="13474" y="380683"/>
                </a:lnTo>
                <a:lnTo>
                  <a:pt x="35265" y="427032"/>
                </a:lnTo>
                <a:lnTo>
                  <a:pt x="65427" y="469291"/>
                </a:lnTo>
                <a:lnTo>
                  <a:pt x="102490" y="506101"/>
                </a:lnTo>
                <a:lnTo>
                  <a:pt x="145062" y="536040"/>
                </a:lnTo>
                <a:lnTo>
                  <a:pt x="191793" y="557590"/>
                </a:lnTo>
                <a:lnTo>
                  <a:pt x="241305" y="569102"/>
                </a:lnTo>
                <a:lnTo>
                  <a:pt x="266514" y="570544"/>
                </a:lnTo>
                <a:lnTo>
                  <a:pt x="291571" y="569067"/>
                </a:lnTo>
                <a:lnTo>
                  <a:pt x="316324" y="564944"/>
                </a:lnTo>
                <a:lnTo>
                  <a:pt x="340594" y="558369"/>
                </a:lnTo>
                <a:lnTo>
                  <a:pt x="364204" y="549529"/>
                </a:lnTo>
                <a:lnTo>
                  <a:pt x="379875" y="542013"/>
                </a:lnTo>
                <a:lnTo>
                  <a:pt x="264925" y="542013"/>
                </a:lnTo>
                <a:lnTo>
                  <a:pt x="243047" y="540579"/>
                </a:lnTo>
                <a:lnTo>
                  <a:pt x="199858" y="530178"/>
                </a:lnTo>
                <a:lnTo>
                  <a:pt x="158308" y="510720"/>
                </a:lnTo>
                <a:lnTo>
                  <a:pt x="119966" y="483492"/>
                </a:lnTo>
                <a:lnTo>
                  <a:pt x="86429" y="449915"/>
                </a:lnTo>
                <a:lnTo>
                  <a:pt x="59251" y="411502"/>
                </a:lnTo>
                <a:lnTo>
                  <a:pt x="39910" y="369837"/>
                </a:lnTo>
                <a:lnTo>
                  <a:pt x="29763" y="326510"/>
                </a:lnTo>
                <a:lnTo>
                  <a:pt x="28521" y="304699"/>
                </a:lnTo>
                <a:lnTo>
                  <a:pt x="29837" y="282901"/>
                </a:lnTo>
                <a:lnTo>
                  <a:pt x="39359" y="239604"/>
                </a:lnTo>
                <a:lnTo>
                  <a:pt x="57146" y="198052"/>
                </a:lnTo>
                <a:lnTo>
                  <a:pt x="81988" y="159797"/>
                </a:lnTo>
                <a:lnTo>
                  <a:pt x="112560" y="126414"/>
                </a:lnTo>
                <a:lnTo>
                  <a:pt x="119861" y="120235"/>
                </a:lnTo>
                <a:lnTo>
                  <a:pt x="118090" y="117787"/>
                </a:lnTo>
                <a:lnTo>
                  <a:pt x="119525" y="108855"/>
                </a:lnTo>
                <a:lnTo>
                  <a:pt x="186487" y="60422"/>
                </a:lnTo>
                <a:lnTo>
                  <a:pt x="173229" y="54342"/>
                </a:lnTo>
                <a:close/>
              </a:path>
              <a:path w="532130" h="570864">
                <a:moveTo>
                  <a:pt x="510267" y="312893"/>
                </a:moveTo>
                <a:lnTo>
                  <a:pt x="503455" y="318846"/>
                </a:lnTo>
                <a:lnTo>
                  <a:pt x="501481" y="348122"/>
                </a:lnTo>
                <a:lnTo>
                  <a:pt x="497516" y="367543"/>
                </a:lnTo>
                <a:lnTo>
                  <a:pt x="482540" y="405756"/>
                </a:lnTo>
                <a:lnTo>
                  <a:pt x="459118" y="441967"/>
                </a:lnTo>
                <a:lnTo>
                  <a:pt x="428555" y="474679"/>
                </a:lnTo>
                <a:lnTo>
                  <a:pt x="392304" y="502408"/>
                </a:lnTo>
                <a:lnTo>
                  <a:pt x="351901" y="523739"/>
                </a:lnTo>
                <a:lnTo>
                  <a:pt x="308921" y="537344"/>
                </a:lnTo>
                <a:lnTo>
                  <a:pt x="264925" y="542013"/>
                </a:lnTo>
                <a:lnTo>
                  <a:pt x="379875" y="542013"/>
                </a:lnTo>
                <a:lnTo>
                  <a:pt x="429377" y="511177"/>
                </a:lnTo>
                <a:lnTo>
                  <a:pt x="466382" y="477398"/>
                </a:lnTo>
                <a:lnTo>
                  <a:pt x="496555" y="438490"/>
                </a:lnTo>
                <a:lnTo>
                  <a:pt x="518337" y="395630"/>
                </a:lnTo>
                <a:lnTo>
                  <a:pt x="529992" y="350043"/>
                </a:lnTo>
                <a:lnTo>
                  <a:pt x="531965" y="320767"/>
                </a:lnTo>
                <a:lnTo>
                  <a:pt x="526013" y="313955"/>
                </a:lnTo>
                <a:lnTo>
                  <a:pt x="510267" y="312893"/>
                </a:lnTo>
                <a:close/>
              </a:path>
              <a:path w="532130" h="570864">
                <a:moveTo>
                  <a:pt x="220543" y="71056"/>
                </a:moveTo>
                <a:lnTo>
                  <a:pt x="166047" y="88802"/>
                </a:lnTo>
                <a:lnTo>
                  <a:pt x="129555" y="112030"/>
                </a:lnTo>
                <a:lnTo>
                  <a:pt x="119861" y="120235"/>
                </a:lnTo>
                <a:lnTo>
                  <a:pt x="127339" y="130575"/>
                </a:lnTo>
                <a:lnTo>
                  <a:pt x="136271" y="132008"/>
                </a:lnTo>
                <a:lnTo>
                  <a:pt x="220543" y="71056"/>
                </a:lnTo>
                <a:close/>
              </a:path>
              <a:path w="532130" h="570864">
                <a:moveTo>
                  <a:pt x="186487" y="60422"/>
                </a:moveTo>
                <a:lnTo>
                  <a:pt x="119525" y="108855"/>
                </a:lnTo>
                <a:lnTo>
                  <a:pt x="118090" y="117787"/>
                </a:lnTo>
                <a:lnTo>
                  <a:pt x="119861" y="120235"/>
                </a:lnTo>
                <a:lnTo>
                  <a:pt x="129555" y="112030"/>
                </a:lnTo>
                <a:lnTo>
                  <a:pt x="147447" y="99434"/>
                </a:lnTo>
                <a:lnTo>
                  <a:pt x="166047" y="88802"/>
                </a:lnTo>
                <a:lnTo>
                  <a:pt x="185167" y="80304"/>
                </a:lnTo>
                <a:lnTo>
                  <a:pt x="204619" y="74099"/>
                </a:lnTo>
                <a:lnTo>
                  <a:pt x="220543" y="71056"/>
                </a:lnTo>
                <a:lnTo>
                  <a:pt x="221129" y="70632"/>
                </a:lnTo>
                <a:lnTo>
                  <a:pt x="208750" y="70632"/>
                </a:lnTo>
                <a:lnTo>
                  <a:pt x="186487" y="60422"/>
                </a:lnTo>
                <a:close/>
              </a:path>
              <a:path w="532130" h="570864">
                <a:moveTo>
                  <a:pt x="228411" y="65365"/>
                </a:moveTo>
                <a:lnTo>
                  <a:pt x="220543" y="71056"/>
                </a:lnTo>
                <a:lnTo>
                  <a:pt x="225215" y="70134"/>
                </a:lnTo>
                <a:lnTo>
                  <a:pt x="228411" y="65365"/>
                </a:lnTo>
                <a:close/>
              </a:path>
              <a:path w="532130" h="570864">
                <a:moveTo>
                  <a:pt x="206333" y="46069"/>
                </a:moveTo>
                <a:lnTo>
                  <a:pt x="186487" y="60422"/>
                </a:lnTo>
                <a:lnTo>
                  <a:pt x="208750" y="70632"/>
                </a:lnTo>
                <a:lnTo>
                  <a:pt x="206333" y="46069"/>
                </a:lnTo>
                <a:close/>
              </a:path>
              <a:path w="532130" h="570864">
                <a:moveTo>
                  <a:pt x="223739" y="46069"/>
                </a:moveTo>
                <a:lnTo>
                  <a:pt x="206333" y="46069"/>
                </a:lnTo>
                <a:lnTo>
                  <a:pt x="208750" y="70632"/>
                </a:lnTo>
                <a:lnTo>
                  <a:pt x="221129" y="70632"/>
                </a:lnTo>
                <a:lnTo>
                  <a:pt x="228411" y="65365"/>
                </a:lnTo>
                <a:lnTo>
                  <a:pt x="230251" y="62619"/>
                </a:lnTo>
                <a:lnTo>
                  <a:pt x="227307" y="47705"/>
                </a:lnTo>
                <a:lnTo>
                  <a:pt x="223739" y="46069"/>
                </a:lnTo>
                <a:close/>
              </a:path>
              <a:path w="532130" h="570864">
                <a:moveTo>
                  <a:pt x="227307" y="47705"/>
                </a:moveTo>
                <a:lnTo>
                  <a:pt x="230251" y="62619"/>
                </a:lnTo>
                <a:lnTo>
                  <a:pt x="228411" y="65365"/>
                </a:lnTo>
                <a:lnTo>
                  <a:pt x="242925" y="54867"/>
                </a:lnTo>
                <a:lnTo>
                  <a:pt x="227307" y="47705"/>
                </a:lnTo>
                <a:close/>
              </a:path>
              <a:path w="532130" h="570864">
                <a:moveTo>
                  <a:pt x="216467" y="42734"/>
                </a:moveTo>
                <a:lnTo>
                  <a:pt x="195821" y="46912"/>
                </a:lnTo>
                <a:lnTo>
                  <a:pt x="173472" y="54232"/>
                </a:lnTo>
                <a:lnTo>
                  <a:pt x="173229" y="54342"/>
                </a:lnTo>
                <a:lnTo>
                  <a:pt x="186487" y="60422"/>
                </a:lnTo>
                <a:lnTo>
                  <a:pt x="206333" y="46069"/>
                </a:lnTo>
                <a:lnTo>
                  <a:pt x="223739" y="46069"/>
                </a:lnTo>
                <a:lnTo>
                  <a:pt x="216467" y="42734"/>
                </a:lnTo>
                <a:close/>
              </a:path>
              <a:path w="532130" h="570864">
                <a:moveTo>
                  <a:pt x="123278" y="0"/>
                </a:moveTo>
                <a:lnTo>
                  <a:pt x="114797" y="3148"/>
                </a:lnTo>
                <a:lnTo>
                  <a:pt x="108219" y="17492"/>
                </a:lnTo>
                <a:lnTo>
                  <a:pt x="111367" y="25974"/>
                </a:lnTo>
                <a:lnTo>
                  <a:pt x="173229" y="54342"/>
                </a:lnTo>
                <a:lnTo>
                  <a:pt x="173472" y="54232"/>
                </a:lnTo>
                <a:lnTo>
                  <a:pt x="195821" y="46912"/>
                </a:lnTo>
                <a:lnTo>
                  <a:pt x="216467" y="42734"/>
                </a:lnTo>
                <a:lnTo>
                  <a:pt x="123278" y="0"/>
                </a:lnTo>
                <a:close/>
              </a:path>
              <a:path w="532130" h="570864">
                <a:moveTo>
                  <a:pt x="219680" y="42100"/>
                </a:moveTo>
                <a:lnTo>
                  <a:pt x="216467" y="42734"/>
                </a:lnTo>
                <a:lnTo>
                  <a:pt x="227307" y="47705"/>
                </a:lnTo>
                <a:lnTo>
                  <a:pt x="227194" y="47137"/>
                </a:lnTo>
                <a:lnTo>
                  <a:pt x="219680" y="421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550853" y="1353819"/>
            <a:ext cx="4210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7</a:t>
            </a:r>
            <a:r>
              <a:rPr dirty="0" sz="1600" spc="0">
                <a:latin typeface="Arial"/>
                <a:cs typeface="Arial"/>
              </a:rPr>
              <a:t>/</a:t>
            </a:r>
            <a:r>
              <a:rPr dirty="0" sz="1600" spc="-5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 rot="18180000">
            <a:off x="1380680" y="2872970"/>
            <a:ext cx="447566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00"/>
              </a:lnSpc>
            </a:pPr>
            <a:r>
              <a:rPr dirty="0" sz="1600" spc="-5">
                <a:latin typeface="Arial"/>
                <a:cs typeface="Arial"/>
              </a:rPr>
              <a:t>7</a:t>
            </a:r>
            <a:r>
              <a:rPr dirty="0" sz="1600" spc="-20">
                <a:latin typeface="Arial"/>
                <a:cs typeface="Arial"/>
              </a:rPr>
              <a:t>/</a:t>
            </a:r>
            <a:r>
              <a:rPr dirty="0" sz="1600" spc="-5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87502" y="1630659"/>
            <a:ext cx="1371600" cy="1219200"/>
          </a:xfrm>
          <a:custGeom>
            <a:avLst/>
            <a:gdLst/>
            <a:ahLst/>
            <a:cxnLst/>
            <a:rect l="l" t="t" r="r" b="b"/>
            <a:pathLst>
              <a:path w="1371600" h="1219200">
                <a:moveTo>
                  <a:pt x="0" y="0"/>
                </a:moveTo>
                <a:lnTo>
                  <a:pt x="1371600" y="0"/>
                </a:lnTo>
                <a:lnTo>
                  <a:pt x="13716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132916" y="2352548"/>
            <a:ext cx="782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dirty="0" sz="2400">
                <a:latin typeface="Times New Roman"/>
                <a:cs typeface="Times New Roman"/>
              </a:rPr>
              <a:t>0	1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  <p:sp>
        <p:nvSpPr>
          <p:cNvPr id="37" name="object 37"/>
          <p:cNvSpPr txBox="1"/>
          <p:nvPr/>
        </p:nvSpPr>
        <p:spPr>
          <a:xfrm>
            <a:off x="5056716" y="1614932"/>
            <a:ext cx="1247775" cy="112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  <a:tabLst>
                <a:tab pos="1082040" algn="l"/>
              </a:tabLst>
            </a:pP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>
                <a:latin typeface="Times New Roman"/>
                <a:cs typeface="Times New Roman"/>
              </a:rPr>
              <a:t>2 1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>
                <a:latin typeface="Times New Roman"/>
                <a:cs typeface="Times New Roman"/>
              </a:rPr>
              <a:t>2	0</a:t>
            </a:r>
            <a:endParaRPr sz="2400">
              <a:latin typeface="Times New Roman"/>
              <a:cs typeface="Times New Roman"/>
            </a:endParaRPr>
          </a:p>
          <a:p>
            <a:pPr algn="r" marR="12700">
              <a:lnSpc>
                <a:spcPct val="100000"/>
              </a:lnSpc>
              <a:spcBef>
                <a:spcPts val="25"/>
              </a:spcBef>
              <a:tabLst>
                <a:tab pos="617220" algn="l"/>
                <a:tab pos="1074420" algn="l"/>
              </a:tabLst>
            </a:pP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>
                <a:latin typeface="Times New Roman"/>
                <a:cs typeface="Times New Roman"/>
              </a:rPr>
              <a:t>2	0	0</a:t>
            </a:r>
            <a:endParaRPr sz="2400">
              <a:latin typeface="Times New Roman"/>
              <a:cs typeface="Times New Roman"/>
            </a:endParaRPr>
          </a:p>
          <a:p>
            <a:pPr algn="r" marR="12700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43800" y="1630659"/>
            <a:ext cx="1447800" cy="1219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ts val="2820"/>
              </a:lnSpc>
            </a:pPr>
            <a:r>
              <a:rPr dirty="0" sz="2400" spc="-5">
                <a:latin typeface="Times New Roman"/>
                <a:cs typeface="Times New Roman"/>
              </a:rPr>
              <a:t>1/3 1/3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1/3</a:t>
            </a:r>
            <a:endParaRPr sz="24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latin typeface="Times New Roman"/>
                <a:cs typeface="Times New Roman"/>
              </a:rPr>
              <a:t>1/3 1/3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1/3</a:t>
            </a:r>
            <a:endParaRPr sz="24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latin typeface="Times New Roman"/>
                <a:cs typeface="Times New Roman"/>
              </a:rPr>
              <a:t>1/3 1/3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1/3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5447665" y="2971800"/>
          <a:ext cx="2564765" cy="127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535"/>
                <a:gridCol w="681918"/>
                <a:gridCol w="706368"/>
                <a:gridCol w="827862"/>
              </a:tblGrid>
              <a:tr h="406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7/15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7/15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1/15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305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31750">
                        <a:lnSpc>
                          <a:spcPts val="274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35560">
                        <a:lnSpc>
                          <a:spcPts val="2740"/>
                        </a:lnSpc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7/15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ts val="2740"/>
                        </a:lnSpc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1/15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ts val="2740"/>
                        </a:lnSpc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1/15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2730"/>
                        </a:lnSpc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1/15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2730"/>
                        </a:lnSpc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7/15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2730"/>
                        </a:lnSpc>
                      </a:pPr>
                      <a:r>
                        <a:rPr dirty="0" sz="2400" spc="-5">
                          <a:latin typeface="Times New Roman"/>
                          <a:cs typeface="Times New Roman"/>
                        </a:rPr>
                        <a:t>13/15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4510616" y="1944116"/>
            <a:ext cx="4216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orbel"/>
                <a:cs typeface="Corbel"/>
              </a:rPr>
              <a:t>0.8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68465" y="1907539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orbel"/>
                <a:cs typeface="Corbel"/>
              </a:rPr>
              <a:t>+</a:t>
            </a:r>
            <a:r>
              <a:rPr dirty="0" sz="2400" spc="-110">
                <a:latin typeface="Corbel"/>
                <a:cs typeface="Corbel"/>
              </a:rPr>
              <a:t> </a:t>
            </a:r>
            <a:r>
              <a:rPr dirty="0" sz="2400">
                <a:latin typeface="Corbel"/>
                <a:cs typeface="Corbel"/>
              </a:rPr>
              <a:t>0.2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28447" y="1121155"/>
            <a:ext cx="27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8000"/>
                </a:solidFill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7774940" y="1072388"/>
            <a:ext cx="11093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[1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/</a:t>
            </a:r>
            <a:r>
              <a:rPr dirty="0" sz="2400" spc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]</a:t>
            </a:r>
            <a:r>
              <a:rPr dirty="0" baseline="-17361" sz="2400" spc="-15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dirty="0" baseline="-17361" sz="2400" spc="-7">
                <a:solidFill>
                  <a:srgbClr val="008000"/>
                </a:solidFill>
                <a:latin typeface="Arial"/>
                <a:cs typeface="Arial"/>
              </a:rPr>
              <a:t>x</a:t>
            </a:r>
            <a:r>
              <a:rPr dirty="0" baseline="-17361" sz="2400">
                <a:solidFill>
                  <a:srgbClr val="008000"/>
                </a:solidFill>
                <a:latin typeface="Arial"/>
                <a:cs typeface="Arial"/>
              </a:rPr>
              <a:t>N</a:t>
            </a:r>
            <a:endParaRPr baseline="-17361" sz="2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15056" y="4327652"/>
            <a:ext cx="2628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50520"/>
            <a:ext cx="4727448" cy="554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55088" y="1457826"/>
            <a:ext cx="5633824" cy="4658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31802" y="6227572"/>
            <a:ext cx="20034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7F7F7F"/>
                </a:solidFill>
                <a:latin typeface="Corbel"/>
                <a:cs typeface="Corbel"/>
              </a:rPr>
              <a:t>Image credit:</a:t>
            </a:r>
            <a:r>
              <a:rPr dirty="0" sz="1600" spc="-90">
                <a:solidFill>
                  <a:srgbClr val="7F7F7F"/>
                </a:solidFill>
                <a:latin typeface="Corbel"/>
                <a:cs typeface="Corbel"/>
              </a:rPr>
              <a:t> </a:t>
            </a:r>
            <a:r>
              <a:rPr dirty="0" sz="1600" spc="-5" u="sng">
                <a:solidFill>
                  <a:srgbClr val="168BBA"/>
                </a:solidFill>
                <a:latin typeface="Corbel"/>
                <a:cs typeface="Corbel"/>
              </a:rPr>
              <a:t>Wikipedia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965440" cy="24701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4106545" algn="l"/>
              </a:tabLst>
            </a:pPr>
            <a:r>
              <a:rPr dirty="0" sz="3200" spc="-15">
                <a:solidFill>
                  <a:srgbClr val="D60093"/>
                </a:solidFill>
                <a:latin typeface="Calibri"/>
                <a:cs typeface="Calibri"/>
              </a:rPr>
              <a:t>PageRank </a:t>
            </a:r>
            <a:r>
              <a:rPr dirty="0" sz="3200" spc="-10">
                <a:latin typeface="Calibri"/>
                <a:cs typeface="Calibri"/>
              </a:rPr>
              <a:t>solves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for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𝒓	= 𝑮𝒓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1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can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  </a:t>
            </a:r>
            <a:r>
              <a:rPr dirty="0" sz="3200" spc="-10">
                <a:latin typeface="Calibri"/>
                <a:cs typeface="Calibri"/>
              </a:rPr>
              <a:t>efficiently computed </a:t>
            </a:r>
            <a:r>
              <a:rPr dirty="0" sz="3200" spc="-5">
                <a:latin typeface="Calibri"/>
                <a:cs typeface="Calibri"/>
              </a:rPr>
              <a:t>by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power </a:t>
            </a:r>
            <a:r>
              <a:rPr dirty="0" sz="3200" spc="-20">
                <a:solidFill>
                  <a:srgbClr val="0070C0"/>
                </a:solidFill>
                <a:latin typeface="Calibri"/>
                <a:cs typeface="Calibri"/>
              </a:rPr>
              <a:t>iteration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of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the 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stochastic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adjacency matrix</a:t>
            </a:r>
            <a:r>
              <a:rPr dirty="0" sz="3200" spc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(</a:t>
            </a:r>
            <a:r>
              <a:rPr dirty="0" sz="3200" spc="-5">
                <a:solidFill>
                  <a:srgbClr val="0070C0"/>
                </a:solidFill>
                <a:latin typeface="Cambria Math"/>
                <a:cs typeface="Cambria Math"/>
              </a:rPr>
              <a:t>𝑮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332740" marR="288925" indent="-320040">
              <a:lnSpc>
                <a:spcPts val="3910"/>
              </a:lnSpc>
              <a:spcBef>
                <a:spcPts val="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Adding </a:t>
            </a:r>
            <a:r>
              <a:rPr dirty="0" sz="3200" spc="-15">
                <a:latin typeface="Calibri"/>
                <a:cs typeface="Calibri"/>
              </a:rPr>
              <a:t>random uniform </a:t>
            </a:r>
            <a:r>
              <a:rPr dirty="0" sz="3200" spc="-10">
                <a:latin typeface="Calibri"/>
                <a:cs typeface="Calibri"/>
              </a:rPr>
              <a:t>teleportation solves  </a:t>
            </a:r>
            <a:r>
              <a:rPr dirty="0" sz="3200" spc="-5">
                <a:latin typeface="Calibri"/>
                <a:cs typeface="Calibri"/>
              </a:rPr>
              <a:t>issues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dead-ends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dirty="0" sz="3200" spc="3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0070C0"/>
                </a:solidFill>
                <a:latin typeface="Calibri"/>
                <a:cs typeface="Calibri"/>
              </a:rPr>
              <a:t>spider-traps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5527" y="2011679"/>
            <a:ext cx="7266432" cy="2060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0415" y="347472"/>
            <a:ext cx="67757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94295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Given:</a:t>
            </a:r>
          </a:p>
          <a:p>
            <a:pPr marL="332740" marR="5080">
              <a:lnSpc>
                <a:spcPts val="3910"/>
              </a:lnSpc>
              <a:spcBef>
                <a:spcPts val="45"/>
              </a:spcBef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bipartite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 representing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user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item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interactions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(e.g.</a:t>
            </a:r>
            <a:r>
              <a:rPr dirty="0" spc="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purchase)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7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27867" y="5086603"/>
            <a:ext cx="533400" cy="42799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875"/>
              </a:lnSpc>
            </a:pPr>
            <a:r>
              <a:rPr dirty="0" sz="4000">
                <a:latin typeface="Corbel"/>
                <a:cs typeface="Corbel"/>
              </a:rPr>
              <a:t>…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952" y="4008015"/>
            <a:ext cx="3864540" cy="16470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92654" y="4086956"/>
            <a:ext cx="644525" cy="1071880"/>
          </a:xfrm>
          <a:custGeom>
            <a:avLst/>
            <a:gdLst/>
            <a:ahLst/>
            <a:cxnLst/>
            <a:rect l="l" t="t" r="r" b="b"/>
            <a:pathLst>
              <a:path w="644525" h="1071879">
                <a:moveTo>
                  <a:pt x="0" y="0"/>
                </a:moveTo>
                <a:lnTo>
                  <a:pt x="0" y="665536"/>
                </a:lnTo>
                <a:lnTo>
                  <a:pt x="643960" y="665536"/>
                </a:lnTo>
                <a:lnTo>
                  <a:pt x="643960" y="1071606"/>
                </a:lnTo>
              </a:path>
            </a:pathLst>
          </a:custGeom>
          <a:ln w="28575">
            <a:solidFill>
              <a:srgbClr val="0400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88439" y="4029806"/>
            <a:ext cx="733425" cy="1129030"/>
          </a:xfrm>
          <a:custGeom>
            <a:avLst/>
            <a:gdLst/>
            <a:ahLst/>
            <a:cxnLst/>
            <a:rect l="l" t="t" r="r" b="b"/>
            <a:pathLst>
              <a:path w="733425" h="1129029">
                <a:moveTo>
                  <a:pt x="733149" y="0"/>
                </a:moveTo>
                <a:lnTo>
                  <a:pt x="733149" y="722665"/>
                </a:lnTo>
                <a:lnTo>
                  <a:pt x="0" y="722665"/>
                </a:lnTo>
                <a:lnTo>
                  <a:pt x="0" y="1128756"/>
                </a:lnTo>
              </a:path>
            </a:pathLst>
          </a:custGeom>
          <a:ln w="28575">
            <a:solidFill>
              <a:srgbClr val="0400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92063" y="4088684"/>
            <a:ext cx="1281430" cy="1068705"/>
          </a:xfrm>
          <a:custGeom>
            <a:avLst/>
            <a:gdLst/>
            <a:ahLst/>
            <a:cxnLst/>
            <a:rect l="l" t="t" r="r" b="b"/>
            <a:pathLst>
              <a:path w="1281429" h="1068704">
                <a:moveTo>
                  <a:pt x="0" y="0"/>
                </a:moveTo>
                <a:lnTo>
                  <a:pt x="0" y="772529"/>
                </a:lnTo>
                <a:lnTo>
                  <a:pt x="699618" y="772529"/>
                </a:lnTo>
                <a:lnTo>
                  <a:pt x="1280983" y="772529"/>
                </a:lnTo>
                <a:lnTo>
                  <a:pt x="1280983" y="1068150"/>
                </a:lnTo>
              </a:path>
            </a:pathLst>
          </a:custGeom>
          <a:ln w="28575">
            <a:solidFill>
              <a:srgbClr val="339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13853" y="4086956"/>
            <a:ext cx="668020" cy="1071880"/>
          </a:xfrm>
          <a:custGeom>
            <a:avLst/>
            <a:gdLst/>
            <a:ahLst/>
            <a:cxnLst/>
            <a:rect l="l" t="t" r="r" b="b"/>
            <a:pathLst>
              <a:path w="668020" h="1071879">
                <a:moveTo>
                  <a:pt x="667826" y="0"/>
                </a:moveTo>
                <a:lnTo>
                  <a:pt x="667826" y="775029"/>
                </a:lnTo>
                <a:lnTo>
                  <a:pt x="303087" y="775029"/>
                </a:lnTo>
                <a:lnTo>
                  <a:pt x="0" y="775029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339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95593" y="4086956"/>
            <a:ext cx="1686560" cy="1071880"/>
          </a:xfrm>
          <a:custGeom>
            <a:avLst/>
            <a:gdLst/>
            <a:ahLst/>
            <a:cxnLst/>
            <a:rect l="l" t="t" r="r" b="b"/>
            <a:pathLst>
              <a:path w="1686560" h="1071879">
                <a:moveTo>
                  <a:pt x="0" y="0"/>
                </a:moveTo>
                <a:lnTo>
                  <a:pt x="0" y="889333"/>
                </a:lnTo>
                <a:lnTo>
                  <a:pt x="1686519" y="889333"/>
                </a:lnTo>
                <a:lnTo>
                  <a:pt x="1686519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45254" y="4086957"/>
            <a:ext cx="0" cy="889635"/>
          </a:xfrm>
          <a:custGeom>
            <a:avLst/>
            <a:gdLst/>
            <a:ahLst/>
            <a:cxnLst/>
            <a:rect l="l" t="t" r="r" b="b"/>
            <a:pathLst>
              <a:path w="0" h="889635">
                <a:moveTo>
                  <a:pt x="0" y="0"/>
                </a:moveTo>
                <a:lnTo>
                  <a:pt x="1" y="8893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57675" y="513514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3" y="0"/>
                </a:lnTo>
                <a:lnTo>
                  <a:pt x="22514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4" y="473353"/>
                </a:lnTo>
                <a:lnTo>
                  <a:pt x="36863" y="476249"/>
                </a:lnTo>
                <a:lnTo>
                  <a:pt x="439388" y="476249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1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27484" y="513514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6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49"/>
                </a:lnTo>
                <a:lnTo>
                  <a:pt x="439386" y="476249"/>
                </a:lnTo>
                <a:lnTo>
                  <a:pt x="453735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1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5" y="2896"/>
                </a:lnTo>
                <a:lnTo>
                  <a:pt x="439386" y="0"/>
                </a:lnTo>
                <a:close/>
              </a:path>
            </a:pathLst>
          </a:custGeom>
          <a:solidFill>
            <a:srgbClr val="0400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67099" y="513514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49"/>
                </a:lnTo>
                <a:lnTo>
                  <a:pt x="439388" y="476249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1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339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40359" y="513514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49"/>
                </a:lnTo>
                <a:lnTo>
                  <a:pt x="439388" y="476249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1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261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97917" y="4086956"/>
            <a:ext cx="1687195" cy="1071880"/>
          </a:xfrm>
          <a:custGeom>
            <a:avLst/>
            <a:gdLst/>
            <a:ahLst/>
            <a:cxnLst/>
            <a:rect l="l" t="t" r="r" b="b"/>
            <a:pathLst>
              <a:path w="1687195" h="1071879">
                <a:moveTo>
                  <a:pt x="1686739" y="0"/>
                </a:moveTo>
                <a:lnTo>
                  <a:pt x="1686739" y="889333"/>
                </a:lnTo>
                <a:lnTo>
                  <a:pt x="0" y="889333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4320" y="4086956"/>
            <a:ext cx="1447800" cy="1071880"/>
          </a:xfrm>
          <a:custGeom>
            <a:avLst/>
            <a:gdLst/>
            <a:ahLst/>
            <a:cxnLst/>
            <a:rect l="l" t="t" r="r" b="b"/>
            <a:pathLst>
              <a:path w="1447800" h="1071879">
                <a:moveTo>
                  <a:pt x="0" y="0"/>
                </a:moveTo>
                <a:lnTo>
                  <a:pt x="0" y="808368"/>
                </a:lnTo>
                <a:lnTo>
                  <a:pt x="1447287" y="808368"/>
                </a:lnTo>
                <a:lnTo>
                  <a:pt x="1447287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84606" y="4086956"/>
            <a:ext cx="1057910" cy="1071880"/>
          </a:xfrm>
          <a:custGeom>
            <a:avLst/>
            <a:gdLst/>
            <a:ahLst/>
            <a:cxnLst/>
            <a:rect l="l" t="t" r="r" b="b"/>
            <a:pathLst>
              <a:path w="1057910" h="1071879">
                <a:moveTo>
                  <a:pt x="0" y="0"/>
                </a:moveTo>
                <a:lnTo>
                  <a:pt x="0" y="760741"/>
                </a:lnTo>
                <a:lnTo>
                  <a:pt x="1057881" y="760741"/>
                </a:lnTo>
                <a:lnTo>
                  <a:pt x="1057881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50818" y="4086956"/>
            <a:ext cx="655955" cy="1071880"/>
          </a:xfrm>
          <a:custGeom>
            <a:avLst/>
            <a:gdLst/>
            <a:ahLst/>
            <a:cxnLst/>
            <a:rect l="l" t="t" r="r" b="b"/>
            <a:pathLst>
              <a:path w="655955" h="1071879">
                <a:moveTo>
                  <a:pt x="0" y="0"/>
                </a:moveTo>
                <a:lnTo>
                  <a:pt x="0" y="717876"/>
                </a:lnTo>
                <a:lnTo>
                  <a:pt x="655862" y="717876"/>
                </a:lnTo>
                <a:lnTo>
                  <a:pt x="655862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00964" y="4086956"/>
            <a:ext cx="262255" cy="1071880"/>
          </a:xfrm>
          <a:custGeom>
            <a:avLst/>
            <a:gdLst/>
            <a:ahLst/>
            <a:cxnLst/>
            <a:rect l="l" t="t" r="r" b="b"/>
            <a:pathLst>
              <a:path w="262255" h="1071879">
                <a:moveTo>
                  <a:pt x="0" y="0"/>
                </a:moveTo>
                <a:lnTo>
                  <a:pt x="0" y="665536"/>
                </a:lnTo>
                <a:lnTo>
                  <a:pt x="261880" y="665536"/>
                </a:lnTo>
                <a:lnTo>
                  <a:pt x="26188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544437" y="4086956"/>
            <a:ext cx="840740" cy="1071880"/>
          </a:xfrm>
          <a:custGeom>
            <a:avLst/>
            <a:gdLst/>
            <a:ahLst/>
            <a:cxnLst/>
            <a:rect l="l" t="t" r="r" b="b"/>
            <a:pathLst>
              <a:path w="840739" h="1071879">
                <a:moveTo>
                  <a:pt x="840292" y="0"/>
                </a:moveTo>
                <a:lnTo>
                  <a:pt x="840292" y="760741"/>
                </a:lnTo>
                <a:lnTo>
                  <a:pt x="0" y="760741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81787" y="4086956"/>
            <a:ext cx="524510" cy="1071880"/>
          </a:xfrm>
          <a:custGeom>
            <a:avLst/>
            <a:gdLst/>
            <a:ahLst/>
            <a:cxnLst/>
            <a:rect l="l" t="t" r="r" b="b"/>
            <a:pathLst>
              <a:path w="524510" h="1071879">
                <a:moveTo>
                  <a:pt x="524220" y="0"/>
                </a:moveTo>
                <a:lnTo>
                  <a:pt x="524220" y="717876"/>
                </a:lnTo>
                <a:lnTo>
                  <a:pt x="0" y="71787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25243" y="4086956"/>
            <a:ext cx="71120" cy="1071880"/>
          </a:xfrm>
          <a:custGeom>
            <a:avLst/>
            <a:gdLst/>
            <a:ahLst/>
            <a:cxnLst/>
            <a:rect l="l" t="t" r="r" b="b"/>
            <a:pathLst>
              <a:path w="71119" h="1071879">
                <a:moveTo>
                  <a:pt x="70924" y="0"/>
                </a:moveTo>
                <a:lnTo>
                  <a:pt x="70924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320541" y="4086956"/>
            <a:ext cx="81915" cy="1071880"/>
          </a:xfrm>
          <a:custGeom>
            <a:avLst/>
            <a:gdLst/>
            <a:ahLst/>
            <a:cxnLst/>
            <a:rect l="l" t="t" r="r" b="b"/>
            <a:pathLst>
              <a:path w="81915" h="1071879">
                <a:moveTo>
                  <a:pt x="81870" y="0"/>
                </a:moveTo>
                <a:lnTo>
                  <a:pt x="81870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97291" y="513514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49"/>
                </a:lnTo>
                <a:lnTo>
                  <a:pt x="439388" y="476249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1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3D2D0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983426" y="513514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49"/>
                </a:lnTo>
                <a:lnTo>
                  <a:pt x="439388" y="476249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1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C74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281443" y="4086956"/>
            <a:ext cx="932815" cy="1071880"/>
          </a:xfrm>
          <a:custGeom>
            <a:avLst/>
            <a:gdLst/>
            <a:ahLst/>
            <a:cxnLst/>
            <a:rect l="l" t="t" r="r" b="b"/>
            <a:pathLst>
              <a:path w="932814" h="1071879">
                <a:moveTo>
                  <a:pt x="0" y="0"/>
                </a:moveTo>
                <a:lnTo>
                  <a:pt x="0" y="832181"/>
                </a:lnTo>
                <a:lnTo>
                  <a:pt x="932697" y="832181"/>
                </a:lnTo>
                <a:lnTo>
                  <a:pt x="932697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678778" y="4086956"/>
            <a:ext cx="597535" cy="1071880"/>
          </a:xfrm>
          <a:custGeom>
            <a:avLst/>
            <a:gdLst/>
            <a:ahLst/>
            <a:cxnLst/>
            <a:rect l="l" t="t" r="r" b="b"/>
            <a:pathLst>
              <a:path w="597535" h="1071879">
                <a:moveTo>
                  <a:pt x="0" y="0"/>
                </a:moveTo>
                <a:lnTo>
                  <a:pt x="0" y="717876"/>
                </a:lnTo>
                <a:lnTo>
                  <a:pt x="597399" y="717876"/>
                </a:lnTo>
                <a:lnTo>
                  <a:pt x="597399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341107" y="4086956"/>
            <a:ext cx="208915" cy="1071880"/>
          </a:xfrm>
          <a:custGeom>
            <a:avLst/>
            <a:gdLst/>
            <a:ahLst/>
            <a:cxnLst/>
            <a:rect l="l" t="t" r="r" b="b"/>
            <a:pathLst>
              <a:path w="208915" h="1071879">
                <a:moveTo>
                  <a:pt x="208391" y="0"/>
                </a:moveTo>
                <a:lnTo>
                  <a:pt x="208391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409165" y="4086956"/>
            <a:ext cx="588010" cy="1071880"/>
          </a:xfrm>
          <a:custGeom>
            <a:avLst/>
            <a:gdLst/>
            <a:ahLst/>
            <a:cxnLst/>
            <a:rect l="l" t="t" r="r" b="b"/>
            <a:pathLst>
              <a:path w="588009" h="1071879">
                <a:moveTo>
                  <a:pt x="587638" y="0"/>
                </a:moveTo>
                <a:lnTo>
                  <a:pt x="587638" y="717876"/>
                </a:lnTo>
                <a:lnTo>
                  <a:pt x="0" y="71787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935043" y="4086956"/>
            <a:ext cx="315595" cy="1071880"/>
          </a:xfrm>
          <a:custGeom>
            <a:avLst/>
            <a:gdLst/>
            <a:ahLst/>
            <a:cxnLst/>
            <a:rect l="l" t="t" r="r" b="b"/>
            <a:pathLst>
              <a:path w="315595" h="1071879">
                <a:moveTo>
                  <a:pt x="0" y="0"/>
                </a:moveTo>
                <a:lnTo>
                  <a:pt x="0" y="665536"/>
                </a:lnTo>
                <a:lnTo>
                  <a:pt x="315207" y="665536"/>
                </a:lnTo>
                <a:lnTo>
                  <a:pt x="315207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091999" y="4086956"/>
            <a:ext cx="1085850" cy="1071880"/>
          </a:xfrm>
          <a:custGeom>
            <a:avLst/>
            <a:gdLst/>
            <a:ahLst/>
            <a:cxnLst/>
            <a:rect l="l" t="t" r="r" b="b"/>
            <a:pathLst>
              <a:path w="1085850" h="1071879">
                <a:moveTo>
                  <a:pt x="0" y="0"/>
                </a:moveTo>
                <a:lnTo>
                  <a:pt x="0" y="717876"/>
                </a:lnTo>
                <a:lnTo>
                  <a:pt x="1085434" y="717876"/>
                </a:lnTo>
                <a:lnTo>
                  <a:pt x="1085434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640812" y="4086956"/>
            <a:ext cx="1466850" cy="1071880"/>
          </a:xfrm>
          <a:custGeom>
            <a:avLst/>
            <a:gdLst/>
            <a:ahLst/>
            <a:cxnLst/>
            <a:rect l="l" t="t" r="r" b="b"/>
            <a:pathLst>
              <a:path w="1466850" h="1071879">
                <a:moveTo>
                  <a:pt x="0" y="0"/>
                </a:moveTo>
                <a:lnTo>
                  <a:pt x="0" y="846469"/>
                </a:lnTo>
                <a:lnTo>
                  <a:pt x="1466733" y="846469"/>
                </a:lnTo>
                <a:lnTo>
                  <a:pt x="1466733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487906" y="4086956"/>
            <a:ext cx="675005" cy="1071880"/>
          </a:xfrm>
          <a:custGeom>
            <a:avLst/>
            <a:gdLst/>
            <a:ahLst/>
            <a:cxnLst/>
            <a:rect l="l" t="t" r="r" b="b"/>
            <a:pathLst>
              <a:path w="675004" h="1071879">
                <a:moveTo>
                  <a:pt x="0" y="0"/>
                </a:moveTo>
                <a:lnTo>
                  <a:pt x="0" y="613147"/>
                </a:lnTo>
                <a:lnTo>
                  <a:pt x="337365" y="613147"/>
                </a:lnTo>
                <a:lnTo>
                  <a:pt x="674730" y="613147"/>
                </a:lnTo>
                <a:lnTo>
                  <a:pt x="67473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60849" y="4086956"/>
            <a:ext cx="334010" cy="1071880"/>
          </a:xfrm>
          <a:custGeom>
            <a:avLst/>
            <a:gdLst/>
            <a:ahLst/>
            <a:cxnLst/>
            <a:rect l="l" t="t" r="r" b="b"/>
            <a:pathLst>
              <a:path w="334010" h="1071879">
                <a:moveTo>
                  <a:pt x="333857" y="0"/>
                </a:moveTo>
                <a:lnTo>
                  <a:pt x="333857" y="613147"/>
                </a:lnTo>
                <a:lnTo>
                  <a:pt x="166928" y="613147"/>
                </a:lnTo>
                <a:lnTo>
                  <a:pt x="0" y="613147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523498" y="4086956"/>
            <a:ext cx="668655" cy="1071880"/>
          </a:xfrm>
          <a:custGeom>
            <a:avLst/>
            <a:gdLst/>
            <a:ahLst/>
            <a:cxnLst/>
            <a:rect l="l" t="t" r="r" b="b"/>
            <a:pathLst>
              <a:path w="668654" h="1071879">
                <a:moveTo>
                  <a:pt x="668043" y="0"/>
                </a:moveTo>
                <a:lnTo>
                  <a:pt x="668043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344597" y="4018310"/>
            <a:ext cx="0" cy="1140460"/>
          </a:xfrm>
          <a:custGeom>
            <a:avLst/>
            <a:gdLst/>
            <a:ahLst/>
            <a:cxnLst/>
            <a:rect l="l" t="t" r="r" b="b"/>
            <a:pathLst>
              <a:path w="0" h="1140460">
                <a:moveTo>
                  <a:pt x="0" y="0"/>
                </a:moveTo>
                <a:lnTo>
                  <a:pt x="1" y="11402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097291" y="5135141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49"/>
                </a:lnTo>
                <a:lnTo>
                  <a:pt x="439388" y="476249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1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703130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253395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803660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353925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904190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454456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04721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4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4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6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54985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4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4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6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200481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750746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5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301010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851275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5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401540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4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4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6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502070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052335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602600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152865" y="3740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4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4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6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955305" y="3746764"/>
            <a:ext cx="373805" cy="3724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4068390" y="5892760"/>
            <a:ext cx="826135" cy="369570"/>
          </a:xfrm>
          <a:prstGeom prst="rect">
            <a:avLst/>
          </a:prstGeom>
          <a:solidFill>
            <a:srgbClr val="002060"/>
          </a:solidFill>
        </p:spPr>
        <p:txBody>
          <a:bodyPr wrap="square" lIns="0" tIns="4445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0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Users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084815" y="3158354"/>
            <a:ext cx="787400" cy="369570"/>
          </a:xfrm>
          <a:prstGeom prst="rect">
            <a:avLst/>
          </a:prstGeom>
          <a:solidFill>
            <a:srgbClr val="002060"/>
          </a:solidFill>
        </p:spPr>
        <p:txBody>
          <a:bodyPr wrap="square" lIns="0" tIns="450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5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697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6101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Goal: </a:t>
            </a:r>
            <a:r>
              <a:rPr dirty="0" spc="-15" b="0">
                <a:solidFill>
                  <a:srgbClr val="0000FF"/>
                </a:solidFill>
                <a:latin typeface="Calibri"/>
                <a:cs typeface="Calibri"/>
              </a:rPr>
              <a:t>Proximity </a:t>
            </a:r>
            <a:r>
              <a:rPr dirty="0" b="0">
                <a:solidFill>
                  <a:srgbClr val="0000FF"/>
                </a:solidFill>
                <a:latin typeface="Calibri"/>
                <a:cs typeface="Calibri"/>
              </a:rPr>
              <a:t>on </a:t>
            </a:r>
            <a:r>
              <a:rPr dirty="0" spc="-15" b="0">
                <a:solidFill>
                  <a:srgbClr val="0000FF"/>
                </a:solidFill>
                <a:latin typeface="Calibri"/>
                <a:cs typeface="Calibri"/>
              </a:rPr>
              <a:t>graphs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0908" rIns="0" bIns="0" rtlCol="0" vert="horz">
            <a:spAutoFit/>
          </a:bodyPr>
          <a:lstStyle/>
          <a:p>
            <a:pPr marL="625475" marR="5080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What items </a:t>
            </a:r>
            <a:r>
              <a:rPr dirty="0" sz="2800" spc="-5" b="1">
                <a:latin typeface="Calibri"/>
                <a:cs typeface="Calibri"/>
              </a:rPr>
              <a:t>should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10" b="1">
                <a:latin typeface="Calibri"/>
                <a:cs typeface="Calibri"/>
              </a:rPr>
              <a:t>recommend </a:t>
            </a:r>
            <a:r>
              <a:rPr dirty="0" sz="2800" spc="-15" b="1">
                <a:latin typeface="Calibri"/>
                <a:cs typeface="Calibri"/>
              </a:rPr>
              <a:t>to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5" b="1">
                <a:latin typeface="Calibri"/>
                <a:cs typeface="Calibri"/>
              </a:rPr>
              <a:t>user </a:t>
            </a:r>
            <a:r>
              <a:rPr dirty="0" sz="2800" spc="-210" b="1">
                <a:latin typeface="Calibri"/>
                <a:cs typeface="Calibri"/>
              </a:rPr>
              <a:t>who  </a:t>
            </a:r>
            <a:r>
              <a:rPr dirty="0" sz="2800" spc="-15" b="1">
                <a:latin typeface="Calibri"/>
                <a:cs typeface="Calibri"/>
              </a:rPr>
              <a:t>interacts </a:t>
            </a:r>
            <a:r>
              <a:rPr dirty="0" sz="2800" spc="-5" b="1">
                <a:latin typeface="Calibri"/>
                <a:cs typeface="Calibri"/>
              </a:rPr>
              <a:t>with </a:t>
            </a:r>
            <a:r>
              <a:rPr dirty="0" sz="2800" spc="-10" b="1">
                <a:latin typeface="Calibri"/>
                <a:cs typeface="Calibri"/>
              </a:rPr>
              <a:t>item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Q?</a:t>
            </a:r>
            <a:endParaRPr sz="2800">
              <a:latin typeface="Calibri"/>
              <a:cs typeface="Calibri"/>
            </a:endParaRPr>
          </a:p>
          <a:p>
            <a:pPr marL="625475" marR="508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Intuition</a:t>
            </a:r>
            <a:r>
              <a:rPr dirty="0" sz="2800" spc="-5"/>
              <a:t>: if </a:t>
            </a:r>
            <a:r>
              <a:rPr dirty="0" sz="2800" spc="-10"/>
              <a:t>items </a:t>
            </a:r>
            <a:r>
              <a:rPr dirty="0" sz="2800"/>
              <a:t>Q </a:t>
            </a:r>
            <a:r>
              <a:rPr dirty="0" sz="2800" spc="-5"/>
              <a:t>and </a:t>
            </a:r>
            <a:r>
              <a:rPr dirty="0" sz="2800"/>
              <a:t>P </a:t>
            </a:r>
            <a:r>
              <a:rPr dirty="0" sz="2800" spc="-15"/>
              <a:t>are </a:t>
            </a:r>
            <a:r>
              <a:rPr dirty="0" sz="2800" spc="-20"/>
              <a:t>interacted </a:t>
            </a:r>
            <a:r>
              <a:rPr dirty="0" sz="2800" spc="-5"/>
              <a:t>by </a:t>
            </a:r>
            <a:r>
              <a:rPr dirty="0" sz="2800" spc="-95"/>
              <a:t>similar  </a:t>
            </a:r>
            <a:r>
              <a:rPr dirty="0" sz="2800" spc="-10"/>
              <a:t>users, recommend </a:t>
            </a:r>
            <a:r>
              <a:rPr dirty="0" sz="2800"/>
              <a:t>P </a:t>
            </a:r>
            <a:r>
              <a:rPr dirty="0" sz="2800" spc="-5"/>
              <a:t>when user </a:t>
            </a:r>
            <a:r>
              <a:rPr dirty="0" sz="2800" spc="-20"/>
              <a:t>interacts </a:t>
            </a:r>
            <a:r>
              <a:rPr dirty="0" sz="2800" spc="-5"/>
              <a:t>with</a:t>
            </a:r>
            <a:r>
              <a:rPr dirty="0" sz="2800" spc="40"/>
              <a:t> </a:t>
            </a:r>
            <a:r>
              <a:rPr dirty="0" sz="2800"/>
              <a:t>Q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6193" y="6119876"/>
            <a:ext cx="533400" cy="42799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3875"/>
              </a:lnSpc>
            </a:pPr>
            <a:r>
              <a:rPr dirty="0" sz="4000">
                <a:latin typeface="Corbel"/>
                <a:cs typeface="Corbel"/>
              </a:rPr>
              <a:t>…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75278" y="5040798"/>
            <a:ext cx="3864538" cy="1647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80979" y="5119739"/>
            <a:ext cx="644525" cy="1071880"/>
          </a:xfrm>
          <a:custGeom>
            <a:avLst/>
            <a:gdLst/>
            <a:ahLst/>
            <a:cxnLst/>
            <a:rect l="l" t="t" r="r" b="b"/>
            <a:pathLst>
              <a:path w="644525" h="1071879">
                <a:moveTo>
                  <a:pt x="0" y="0"/>
                </a:moveTo>
                <a:lnTo>
                  <a:pt x="0" y="665536"/>
                </a:lnTo>
                <a:lnTo>
                  <a:pt x="643960" y="665536"/>
                </a:lnTo>
                <a:lnTo>
                  <a:pt x="643960" y="1071606"/>
                </a:lnTo>
              </a:path>
            </a:pathLst>
          </a:custGeom>
          <a:ln w="28575">
            <a:solidFill>
              <a:srgbClr val="0400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76765" y="5062589"/>
            <a:ext cx="733425" cy="1129030"/>
          </a:xfrm>
          <a:custGeom>
            <a:avLst/>
            <a:gdLst/>
            <a:ahLst/>
            <a:cxnLst/>
            <a:rect l="l" t="t" r="r" b="b"/>
            <a:pathLst>
              <a:path w="733425" h="1129029">
                <a:moveTo>
                  <a:pt x="733149" y="0"/>
                </a:moveTo>
                <a:lnTo>
                  <a:pt x="733149" y="722665"/>
                </a:lnTo>
                <a:lnTo>
                  <a:pt x="0" y="722665"/>
                </a:lnTo>
                <a:lnTo>
                  <a:pt x="0" y="1128756"/>
                </a:lnTo>
              </a:path>
            </a:pathLst>
          </a:custGeom>
          <a:ln w="28575">
            <a:solidFill>
              <a:srgbClr val="0400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80388" y="5121468"/>
            <a:ext cx="1281430" cy="1068705"/>
          </a:xfrm>
          <a:custGeom>
            <a:avLst/>
            <a:gdLst/>
            <a:ahLst/>
            <a:cxnLst/>
            <a:rect l="l" t="t" r="r" b="b"/>
            <a:pathLst>
              <a:path w="1281429" h="1068704">
                <a:moveTo>
                  <a:pt x="0" y="0"/>
                </a:moveTo>
                <a:lnTo>
                  <a:pt x="0" y="772529"/>
                </a:lnTo>
                <a:lnTo>
                  <a:pt x="699618" y="772529"/>
                </a:lnTo>
                <a:lnTo>
                  <a:pt x="1280983" y="772529"/>
                </a:lnTo>
                <a:lnTo>
                  <a:pt x="1280983" y="1068150"/>
                </a:lnTo>
              </a:path>
            </a:pathLst>
          </a:custGeom>
          <a:ln w="28575">
            <a:solidFill>
              <a:srgbClr val="339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02180" y="5119739"/>
            <a:ext cx="668020" cy="1071880"/>
          </a:xfrm>
          <a:custGeom>
            <a:avLst/>
            <a:gdLst/>
            <a:ahLst/>
            <a:cxnLst/>
            <a:rect l="l" t="t" r="r" b="b"/>
            <a:pathLst>
              <a:path w="668020" h="1071879">
                <a:moveTo>
                  <a:pt x="667826" y="0"/>
                </a:moveTo>
                <a:lnTo>
                  <a:pt x="667826" y="775029"/>
                </a:lnTo>
                <a:lnTo>
                  <a:pt x="303087" y="775029"/>
                </a:lnTo>
                <a:lnTo>
                  <a:pt x="0" y="775029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339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83918" y="5119739"/>
            <a:ext cx="1686560" cy="1071880"/>
          </a:xfrm>
          <a:custGeom>
            <a:avLst/>
            <a:gdLst/>
            <a:ahLst/>
            <a:cxnLst/>
            <a:rect l="l" t="t" r="r" b="b"/>
            <a:pathLst>
              <a:path w="1686560" h="1071879">
                <a:moveTo>
                  <a:pt x="0" y="0"/>
                </a:moveTo>
                <a:lnTo>
                  <a:pt x="0" y="889333"/>
                </a:lnTo>
                <a:lnTo>
                  <a:pt x="1686519" y="889333"/>
                </a:lnTo>
                <a:lnTo>
                  <a:pt x="1686519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33579" y="5119740"/>
            <a:ext cx="0" cy="889635"/>
          </a:xfrm>
          <a:custGeom>
            <a:avLst/>
            <a:gdLst/>
            <a:ahLst/>
            <a:cxnLst/>
            <a:rect l="l" t="t" r="r" b="b"/>
            <a:pathLst>
              <a:path w="0" h="889635">
                <a:moveTo>
                  <a:pt x="0" y="0"/>
                </a:moveTo>
                <a:lnTo>
                  <a:pt x="1" y="8893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46001" y="616792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15809" y="616792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0400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55425" y="616792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339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28685" y="616792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3" y="0"/>
                </a:lnTo>
                <a:lnTo>
                  <a:pt x="22514" y="2896"/>
                </a:lnTo>
                <a:lnTo>
                  <a:pt x="10797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7" y="465453"/>
                </a:lnTo>
                <a:lnTo>
                  <a:pt x="22514" y="473353"/>
                </a:lnTo>
                <a:lnTo>
                  <a:pt x="36863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261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86242" y="5119739"/>
            <a:ext cx="1687195" cy="1071880"/>
          </a:xfrm>
          <a:custGeom>
            <a:avLst/>
            <a:gdLst/>
            <a:ahLst/>
            <a:cxnLst/>
            <a:rect l="l" t="t" r="r" b="b"/>
            <a:pathLst>
              <a:path w="1687195" h="1071879">
                <a:moveTo>
                  <a:pt x="1686739" y="0"/>
                </a:moveTo>
                <a:lnTo>
                  <a:pt x="1686739" y="889333"/>
                </a:lnTo>
                <a:lnTo>
                  <a:pt x="0" y="889333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2646" y="5119739"/>
            <a:ext cx="1447800" cy="1071880"/>
          </a:xfrm>
          <a:custGeom>
            <a:avLst/>
            <a:gdLst/>
            <a:ahLst/>
            <a:cxnLst/>
            <a:rect l="l" t="t" r="r" b="b"/>
            <a:pathLst>
              <a:path w="1447800" h="1071879">
                <a:moveTo>
                  <a:pt x="0" y="0"/>
                </a:moveTo>
                <a:lnTo>
                  <a:pt x="0" y="808368"/>
                </a:lnTo>
                <a:lnTo>
                  <a:pt x="1447287" y="808368"/>
                </a:lnTo>
                <a:lnTo>
                  <a:pt x="1447287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72932" y="5119739"/>
            <a:ext cx="1057910" cy="1071880"/>
          </a:xfrm>
          <a:custGeom>
            <a:avLst/>
            <a:gdLst/>
            <a:ahLst/>
            <a:cxnLst/>
            <a:rect l="l" t="t" r="r" b="b"/>
            <a:pathLst>
              <a:path w="1057910" h="1071879">
                <a:moveTo>
                  <a:pt x="0" y="0"/>
                </a:moveTo>
                <a:lnTo>
                  <a:pt x="0" y="760741"/>
                </a:lnTo>
                <a:lnTo>
                  <a:pt x="1057881" y="760741"/>
                </a:lnTo>
                <a:lnTo>
                  <a:pt x="1057881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39144" y="5119739"/>
            <a:ext cx="655955" cy="1071880"/>
          </a:xfrm>
          <a:custGeom>
            <a:avLst/>
            <a:gdLst/>
            <a:ahLst/>
            <a:cxnLst/>
            <a:rect l="l" t="t" r="r" b="b"/>
            <a:pathLst>
              <a:path w="655955" h="1071879">
                <a:moveTo>
                  <a:pt x="0" y="0"/>
                </a:moveTo>
                <a:lnTo>
                  <a:pt x="0" y="717876"/>
                </a:lnTo>
                <a:lnTo>
                  <a:pt x="655862" y="717876"/>
                </a:lnTo>
                <a:lnTo>
                  <a:pt x="655862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89291" y="5119739"/>
            <a:ext cx="262255" cy="1071880"/>
          </a:xfrm>
          <a:custGeom>
            <a:avLst/>
            <a:gdLst/>
            <a:ahLst/>
            <a:cxnLst/>
            <a:rect l="l" t="t" r="r" b="b"/>
            <a:pathLst>
              <a:path w="262255" h="1071879">
                <a:moveTo>
                  <a:pt x="0" y="0"/>
                </a:moveTo>
                <a:lnTo>
                  <a:pt x="0" y="665536"/>
                </a:lnTo>
                <a:lnTo>
                  <a:pt x="261880" y="665536"/>
                </a:lnTo>
                <a:lnTo>
                  <a:pt x="26188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32762" y="5119739"/>
            <a:ext cx="840740" cy="1071880"/>
          </a:xfrm>
          <a:custGeom>
            <a:avLst/>
            <a:gdLst/>
            <a:ahLst/>
            <a:cxnLst/>
            <a:rect l="l" t="t" r="r" b="b"/>
            <a:pathLst>
              <a:path w="840739" h="1071879">
                <a:moveTo>
                  <a:pt x="840292" y="0"/>
                </a:moveTo>
                <a:lnTo>
                  <a:pt x="840292" y="760741"/>
                </a:lnTo>
                <a:lnTo>
                  <a:pt x="0" y="760741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70112" y="5119739"/>
            <a:ext cx="524510" cy="1071880"/>
          </a:xfrm>
          <a:custGeom>
            <a:avLst/>
            <a:gdLst/>
            <a:ahLst/>
            <a:cxnLst/>
            <a:rect l="l" t="t" r="r" b="b"/>
            <a:pathLst>
              <a:path w="524510" h="1071879">
                <a:moveTo>
                  <a:pt x="524220" y="0"/>
                </a:moveTo>
                <a:lnTo>
                  <a:pt x="524220" y="717876"/>
                </a:lnTo>
                <a:lnTo>
                  <a:pt x="0" y="71787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13568" y="5119739"/>
            <a:ext cx="71120" cy="1071880"/>
          </a:xfrm>
          <a:custGeom>
            <a:avLst/>
            <a:gdLst/>
            <a:ahLst/>
            <a:cxnLst/>
            <a:rect l="l" t="t" r="r" b="b"/>
            <a:pathLst>
              <a:path w="71119" h="1071879">
                <a:moveTo>
                  <a:pt x="70924" y="0"/>
                </a:moveTo>
                <a:lnTo>
                  <a:pt x="70924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108867" y="5119739"/>
            <a:ext cx="81915" cy="1071880"/>
          </a:xfrm>
          <a:custGeom>
            <a:avLst/>
            <a:gdLst/>
            <a:ahLst/>
            <a:cxnLst/>
            <a:rect l="l" t="t" r="r" b="b"/>
            <a:pathLst>
              <a:path w="81915" h="1071879">
                <a:moveTo>
                  <a:pt x="81870" y="0"/>
                </a:moveTo>
                <a:lnTo>
                  <a:pt x="81870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85618" y="616792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3D2D0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771753" y="616792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6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6" y="476250"/>
                </a:lnTo>
                <a:lnTo>
                  <a:pt x="453735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5" y="2896"/>
                </a:lnTo>
                <a:lnTo>
                  <a:pt x="439386" y="0"/>
                </a:lnTo>
                <a:close/>
              </a:path>
            </a:pathLst>
          </a:custGeom>
          <a:solidFill>
            <a:srgbClr val="C74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69768" y="5119739"/>
            <a:ext cx="932815" cy="1071880"/>
          </a:xfrm>
          <a:custGeom>
            <a:avLst/>
            <a:gdLst/>
            <a:ahLst/>
            <a:cxnLst/>
            <a:rect l="l" t="t" r="r" b="b"/>
            <a:pathLst>
              <a:path w="932814" h="1071879">
                <a:moveTo>
                  <a:pt x="0" y="0"/>
                </a:moveTo>
                <a:lnTo>
                  <a:pt x="0" y="832181"/>
                </a:lnTo>
                <a:lnTo>
                  <a:pt x="932697" y="832181"/>
                </a:lnTo>
                <a:lnTo>
                  <a:pt x="932697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467103" y="5119739"/>
            <a:ext cx="597535" cy="1071880"/>
          </a:xfrm>
          <a:custGeom>
            <a:avLst/>
            <a:gdLst/>
            <a:ahLst/>
            <a:cxnLst/>
            <a:rect l="l" t="t" r="r" b="b"/>
            <a:pathLst>
              <a:path w="597535" h="1071879">
                <a:moveTo>
                  <a:pt x="0" y="0"/>
                </a:moveTo>
                <a:lnTo>
                  <a:pt x="0" y="717876"/>
                </a:lnTo>
                <a:lnTo>
                  <a:pt x="597399" y="717876"/>
                </a:lnTo>
                <a:lnTo>
                  <a:pt x="597399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29432" y="5119739"/>
            <a:ext cx="208915" cy="1071880"/>
          </a:xfrm>
          <a:custGeom>
            <a:avLst/>
            <a:gdLst/>
            <a:ahLst/>
            <a:cxnLst/>
            <a:rect l="l" t="t" r="r" b="b"/>
            <a:pathLst>
              <a:path w="208914" h="1071879">
                <a:moveTo>
                  <a:pt x="208391" y="0"/>
                </a:moveTo>
                <a:lnTo>
                  <a:pt x="208391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197491" y="5119739"/>
            <a:ext cx="588010" cy="1071880"/>
          </a:xfrm>
          <a:custGeom>
            <a:avLst/>
            <a:gdLst/>
            <a:ahLst/>
            <a:cxnLst/>
            <a:rect l="l" t="t" r="r" b="b"/>
            <a:pathLst>
              <a:path w="588009" h="1071879">
                <a:moveTo>
                  <a:pt x="587638" y="0"/>
                </a:moveTo>
                <a:lnTo>
                  <a:pt x="587638" y="717876"/>
                </a:lnTo>
                <a:lnTo>
                  <a:pt x="0" y="71787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23369" y="5119739"/>
            <a:ext cx="315595" cy="1071880"/>
          </a:xfrm>
          <a:custGeom>
            <a:avLst/>
            <a:gdLst/>
            <a:ahLst/>
            <a:cxnLst/>
            <a:rect l="l" t="t" r="r" b="b"/>
            <a:pathLst>
              <a:path w="315595" h="1071879">
                <a:moveTo>
                  <a:pt x="0" y="0"/>
                </a:moveTo>
                <a:lnTo>
                  <a:pt x="0" y="665536"/>
                </a:lnTo>
                <a:lnTo>
                  <a:pt x="315207" y="665536"/>
                </a:lnTo>
                <a:lnTo>
                  <a:pt x="315207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80324" y="5119739"/>
            <a:ext cx="1085850" cy="1071880"/>
          </a:xfrm>
          <a:custGeom>
            <a:avLst/>
            <a:gdLst/>
            <a:ahLst/>
            <a:cxnLst/>
            <a:rect l="l" t="t" r="r" b="b"/>
            <a:pathLst>
              <a:path w="1085850" h="1071879">
                <a:moveTo>
                  <a:pt x="0" y="0"/>
                </a:moveTo>
                <a:lnTo>
                  <a:pt x="0" y="717876"/>
                </a:lnTo>
                <a:lnTo>
                  <a:pt x="1085434" y="717876"/>
                </a:lnTo>
                <a:lnTo>
                  <a:pt x="1085434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429138" y="5119739"/>
            <a:ext cx="1466850" cy="1071880"/>
          </a:xfrm>
          <a:custGeom>
            <a:avLst/>
            <a:gdLst/>
            <a:ahLst/>
            <a:cxnLst/>
            <a:rect l="l" t="t" r="r" b="b"/>
            <a:pathLst>
              <a:path w="1466850" h="1071879">
                <a:moveTo>
                  <a:pt x="0" y="0"/>
                </a:moveTo>
                <a:lnTo>
                  <a:pt x="0" y="846469"/>
                </a:lnTo>
                <a:lnTo>
                  <a:pt x="1466733" y="846469"/>
                </a:lnTo>
                <a:lnTo>
                  <a:pt x="1466733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276231" y="5119739"/>
            <a:ext cx="675005" cy="1071880"/>
          </a:xfrm>
          <a:custGeom>
            <a:avLst/>
            <a:gdLst/>
            <a:ahLst/>
            <a:cxnLst/>
            <a:rect l="l" t="t" r="r" b="b"/>
            <a:pathLst>
              <a:path w="675004" h="1071879">
                <a:moveTo>
                  <a:pt x="0" y="0"/>
                </a:moveTo>
                <a:lnTo>
                  <a:pt x="0" y="613147"/>
                </a:lnTo>
                <a:lnTo>
                  <a:pt x="337365" y="613147"/>
                </a:lnTo>
                <a:lnTo>
                  <a:pt x="674730" y="613147"/>
                </a:lnTo>
                <a:lnTo>
                  <a:pt x="67473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49174" y="5119739"/>
            <a:ext cx="334010" cy="1071880"/>
          </a:xfrm>
          <a:custGeom>
            <a:avLst/>
            <a:gdLst/>
            <a:ahLst/>
            <a:cxnLst/>
            <a:rect l="l" t="t" r="r" b="b"/>
            <a:pathLst>
              <a:path w="334010" h="1071879">
                <a:moveTo>
                  <a:pt x="333857" y="0"/>
                </a:moveTo>
                <a:lnTo>
                  <a:pt x="333857" y="613147"/>
                </a:lnTo>
                <a:lnTo>
                  <a:pt x="166928" y="613147"/>
                </a:lnTo>
                <a:lnTo>
                  <a:pt x="0" y="613147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11825" y="5119739"/>
            <a:ext cx="668655" cy="1071880"/>
          </a:xfrm>
          <a:custGeom>
            <a:avLst/>
            <a:gdLst/>
            <a:ahLst/>
            <a:cxnLst/>
            <a:rect l="l" t="t" r="r" b="b"/>
            <a:pathLst>
              <a:path w="668654" h="1071879">
                <a:moveTo>
                  <a:pt x="668043" y="0"/>
                </a:moveTo>
                <a:lnTo>
                  <a:pt x="668043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132924" y="5051093"/>
            <a:ext cx="0" cy="1140460"/>
          </a:xfrm>
          <a:custGeom>
            <a:avLst/>
            <a:gdLst/>
            <a:ahLst/>
            <a:cxnLst/>
            <a:rect l="l" t="t" r="r" b="b"/>
            <a:pathLst>
              <a:path w="0" h="1140460">
                <a:moveTo>
                  <a:pt x="0" y="0"/>
                </a:moveTo>
                <a:lnTo>
                  <a:pt x="1" y="11402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885618" y="616792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91457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41722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591987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142252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692516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4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4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6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42781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4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4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4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4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5" y="338587"/>
                </a:lnTo>
                <a:lnTo>
                  <a:pt x="338588" y="309134"/>
                </a:lnTo>
                <a:lnTo>
                  <a:pt x="361038" y="273822"/>
                </a:lnTo>
                <a:lnTo>
                  <a:pt x="375346" y="233791"/>
                </a:lnTo>
                <a:lnTo>
                  <a:pt x="380369" y="190183"/>
                </a:lnTo>
                <a:lnTo>
                  <a:pt x="375346" y="146576"/>
                </a:lnTo>
                <a:lnTo>
                  <a:pt x="361038" y="106545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93047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4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4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5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69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43311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6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69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988806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539071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6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089337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639600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6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89867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290397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840662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390927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941192" y="47737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5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743630" y="4779547"/>
            <a:ext cx="373806" cy="3724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3681517" y="3945572"/>
            <a:ext cx="902969" cy="369570"/>
          </a:xfrm>
          <a:prstGeom prst="rect">
            <a:avLst/>
          </a:prstGeom>
          <a:solidFill>
            <a:srgbClr val="002060"/>
          </a:solidFill>
        </p:spPr>
        <p:txBody>
          <a:bodyPr wrap="square" lIns="0" tIns="4381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Item</a:t>
            </a:r>
            <a:r>
              <a:rPr dirty="0" sz="18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088803" y="4300589"/>
            <a:ext cx="85725" cy="473709"/>
          </a:xfrm>
          <a:custGeom>
            <a:avLst/>
            <a:gdLst/>
            <a:ahLst/>
            <a:cxnLst/>
            <a:rect l="l" t="t" r="r" b="b"/>
            <a:pathLst>
              <a:path w="85725" h="473710">
                <a:moveTo>
                  <a:pt x="0" y="387250"/>
                </a:moveTo>
                <a:lnTo>
                  <a:pt x="42574" y="473120"/>
                </a:lnTo>
                <a:lnTo>
                  <a:pt x="71376" y="415997"/>
                </a:lnTo>
                <a:lnTo>
                  <a:pt x="50657" y="415997"/>
                </a:lnTo>
                <a:lnTo>
                  <a:pt x="34875" y="415944"/>
                </a:lnTo>
                <a:lnTo>
                  <a:pt x="28595" y="409621"/>
                </a:lnTo>
                <a:lnTo>
                  <a:pt x="28574" y="387347"/>
                </a:lnTo>
                <a:lnTo>
                  <a:pt x="0" y="387250"/>
                </a:lnTo>
                <a:close/>
              </a:path>
              <a:path w="85725" h="473710">
                <a:moveTo>
                  <a:pt x="28574" y="387347"/>
                </a:moveTo>
                <a:lnTo>
                  <a:pt x="28595" y="409621"/>
                </a:lnTo>
                <a:lnTo>
                  <a:pt x="34875" y="415944"/>
                </a:lnTo>
                <a:lnTo>
                  <a:pt x="50657" y="415997"/>
                </a:lnTo>
                <a:lnTo>
                  <a:pt x="57075" y="409621"/>
                </a:lnTo>
                <a:lnTo>
                  <a:pt x="57149" y="387443"/>
                </a:lnTo>
                <a:lnTo>
                  <a:pt x="28574" y="387347"/>
                </a:lnTo>
                <a:close/>
              </a:path>
              <a:path w="85725" h="473710">
                <a:moveTo>
                  <a:pt x="57149" y="387443"/>
                </a:moveTo>
                <a:lnTo>
                  <a:pt x="57075" y="409621"/>
                </a:lnTo>
                <a:lnTo>
                  <a:pt x="50657" y="415997"/>
                </a:lnTo>
                <a:lnTo>
                  <a:pt x="71376" y="415997"/>
                </a:lnTo>
                <a:lnTo>
                  <a:pt x="85725" y="387540"/>
                </a:lnTo>
                <a:lnTo>
                  <a:pt x="57149" y="387443"/>
                </a:lnTo>
                <a:close/>
              </a:path>
              <a:path w="85725" h="473710">
                <a:moveTo>
                  <a:pt x="36277" y="0"/>
                </a:moveTo>
                <a:lnTo>
                  <a:pt x="29860" y="6375"/>
                </a:lnTo>
                <a:lnTo>
                  <a:pt x="28574" y="387347"/>
                </a:lnTo>
                <a:lnTo>
                  <a:pt x="57149" y="387443"/>
                </a:lnTo>
                <a:lnTo>
                  <a:pt x="58408" y="14265"/>
                </a:lnTo>
                <a:lnTo>
                  <a:pt x="58339" y="6375"/>
                </a:lnTo>
                <a:lnTo>
                  <a:pt x="52059" y="53"/>
                </a:lnTo>
                <a:lnTo>
                  <a:pt x="36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7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5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91035" y="3262250"/>
            <a:ext cx="3864538" cy="1647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96736" y="3341191"/>
            <a:ext cx="644525" cy="1071880"/>
          </a:xfrm>
          <a:custGeom>
            <a:avLst/>
            <a:gdLst/>
            <a:ahLst/>
            <a:cxnLst/>
            <a:rect l="l" t="t" r="r" b="b"/>
            <a:pathLst>
              <a:path w="644525" h="1071879">
                <a:moveTo>
                  <a:pt x="0" y="0"/>
                </a:moveTo>
                <a:lnTo>
                  <a:pt x="0" y="665536"/>
                </a:lnTo>
                <a:lnTo>
                  <a:pt x="643960" y="665536"/>
                </a:lnTo>
                <a:lnTo>
                  <a:pt x="643960" y="107160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92520" y="3284041"/>
            <a:ext cx="733425" cy="1129030"/>
          </a:xfrm>
          <a:custGeom>
            <a:avLst/>
            <a:gdLst/>
            <a:ahLst/>
            <a:cxnLst/>
            <a:rect l="l" t="t" r="r" b="b"/>
            <a:pathLst>
              <a:path w="733425" h="1129029">
                <a:moveTo>
                  <a:pt x="733149" y="0"/>
                </a:moveTo>
                <a:lnTo>
                  <a:pt x="733149" y="722665"/>
                </a:lnTo>
                <a:lnTo>
                  <a:pt x="0" y="722665"/>
                </a:lnTo>
                <a:lnTo>
                  <a:pt x="0" y="112875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99675" y="3341191"/>
            <a:ext cx="1686560" cy="1071880"/>
          </a:xfrm>
          <a:custGeom>
            <a:avLst/>
            <a:gdLst/>
            <a:ahLst/>
            <a:cxnLst/>
            <a:rect l="l" t="t" r="r" b="b"/>
            <a:pathLst>
              <a:path w="1686560" h="1071879">
                <a:moveTo>
                  <a:pt x="0" y="0"/>
                </a:moveTo>
                <a:lnTo>
                  <a:pt x="0" y="889333"/>
                </a:lnTo>
                <a:lnTo>
                  <a:pt x="1686519" y="889333"/>
                </a:lnTo>
                <a:lnTo>
                  <a:pt x="1686519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49336" y="3341192"/>
            <a:ext cx="0" cy="889635"/>
          </a:xfrm>
          <a:custGeom>
            <a:avLst/>
            <a:gdLst/>
            <a:ahLst/>
            <a:cxnLst/>
            <a:rect l="l" t="t" r="r" b="b"/>
            <a:pathLst>
              <a:path w="0" h="889635">
                <a:moveTo>
                  <a:pt x="0" y="0"/>
                </a:moveTo>
                <a:lnTo>
                  <a:pt x="1" y="8893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61758" y="4389375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6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7"/>
                </a:lnTo>
                <a:lnTo>
                  <a:pt x="2896" y="22514"/>
                </a:lnTo>
                <a:lnTo>
                  <a:pt x="0" y="36863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6" y="476250"/>
                </a:lnTo>
                <a:lnTo>
                  <a:pt x="453735" y="473353"/>
                </a:lnTo>
                <a:lnTo>
                  <a:pt x="465452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3"/>
                </a:lnTo>
                <a:lnTo>
                  <a:pt x="473353" y="22514"/>
                </a:lnTo>
                <a:lnTo>
                  <a:pt x="465452" y="10797"/>
                </a:lnTo>
                <a:lnTo>
                  <a:pt x="453735" y="2896"/>
                </a:lnTo>
                <a:lnTo>
                  <a:pt x="4393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31566" y="4389375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7"/>
                </a:lnTo>
                <a:lnTo>
                  <a:pt x="2896" y="22514"/>
                </a:lnTo>
                <a:lnTo>
                  <a:pt x="0" y="36863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49" y="439388"/>
                </a:lnTo>
                <a:lnTo>
                  <a:pt x="476249" y="36863"/>
                </a:lnTo>
                <a:lnTo>
                  <a:pt x="473353" y="22514"/>
                </a:lnTo>
                <a:lnTo>
                  <a:pt x="465453" y="10797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31566" y="4389375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36861"/>
                </a:moveTo>
                <a:lnTo>
                  <a:pt x="2896" y="22513"/>
                </a:lnTo>
                <a:lnTo>
                  <a:pt x="10796" y="10796"/>
                </a:lnTo>
                <a:lnTo>
                  <a:pt x="22513" y="2896"/>
                </a:lnTo>
                <a:lnTo>
                  <a:pt x="36861" y="0"/>
                </a:lnTo>
                <a:lnTo>
                  <a:pt x="439388" y="0"/>
                </a:lnTo>
                <a:lnTo>
                  <a:pt x="453736" y="2896"/>
                </a:lnTo>
                <a:lnTo>
                  <a:pt x="465453" y="10796"/>
                </a:lnTo>
                <a:lnTo>
                  <a:pt x="473353" y="22513"/>
                </a:lnTo>
                <a:lnTo>
                  <a:pt x="476250" y="36861"/>
                </a:lnTo>
                <a:lnTo>
                  <a:pt x="476250" y="439388"/>
                </a:lnTo>
                <a:lnTo>
                  <a:pt x="473353" y="453736"/>
                </a:lnTo>
                <a:lnTo>
                  <a:pt x="465453" y="465453"/>
                </a:lnTo>
                <a:lnTo>
                  <a:pt x="453736" y="473353"/>
                </a:lnTo>
                <a:lnTo>
                  <a:pt x="439388" y="476250"/>
                </a:lnTo>
                <a:lnTo>
                  <a:pt x="36861" y="476250"/>
                </a:lnTo>
                <a:lnTo>
                  <a:pt x="22513" y="473353"/>
                </a:lnTo>
                <a:lnTo>
                  <a:pt x="10796" y="465453"/>
                </a:lnTo>
                <a:lnTo>
                  <a:pt x="2896" y="453736"/>
                </a:lnTo>
                <a:lnTo>
                  <a:pt x="0" y="439388"/>
                </a:lnTo>
                <a:lnTo>
                  <a:pt x="0" y="36861"/>
                </a:lnTo>
                <a:close/>
              </a:path>
            </a:pathLst>
          </a:custGeom>
          <a:ln w="31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44441" y="4389375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7"/>
                </a:lnTo>
                <a:lnTo>
                  <a:pt x="2896" y="22514"/>
                </a:lnTo>
                <a:lnTo>
                  <a:pt x="0" y="36863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3"/>
                </a:lnTo>
                <a:lnTo>
                  <a:pt x="473353" y="22514"/>
                </a:lnTo>
                <a:lnTo>
                  <a:pt x="465453" y="10797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261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01998" y="3341191"/>
            <a:ext cx="1687195" cy="1071880"/>
          </a:xfrm>
          <a:custGeom>
            <a:avLst/>
            <a:gdLst/>
            <a:ahLst/>
            <a:cxnLst/>
            <a:rect l="l" t="t" r="r" b="b"/>
            <a:pathLst>
              <a:path w="1687195" h="1071879">
                <a:moveTo>
                  <a:pt x="1686739" y="0"/>
                </a:moveTo>
                <a:lnTo>
                  <a:pt x="1686739" y="889333"/>
                </a:lnTo>
                <a:lnTo>
                  <a:pt x="0" y="889333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8403" y="3341191"/>
            <a:ext cx="1447800" cy="1071880"/>
          </a:xfrm>
          <a:custGeom>
            <a:avLst/>
            <a:gdLst/>
            <a:ahLst/>
            <a:cxnLst/>
            <a:rect l="l" t="t" r="r" b="b"/>
            <a:pathLst>
              <a:path w="1447800" h="1071879">
                <a:moveTo>
                  <a:pt x="0" y="0"/>
                </a:moveTo>
                <a:lnTo>
                  <a:pt x="0" y="808368"/>
                </a:lnTo>
                <a:lnTo>
                  <a:pt x="1447287" y="808368"/>
                </a:lnTo>
                <a:lnTo>
                  <a:pt x="1447287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88688" y="3341191"/>
            <a:ext cx="1057910" cy="1071880"/>
          </a:xfrm>
          <a:custGeom>
            <a:avLst/>
            <a:gdLst/>
            <a:ahLst/>
            <a:cxnLst/>
            <a:rect l="l" t="t" r="r" b="b"/>
            <a:pathLst>
              <a:path w="1057910" h="1071879">
                <a:moveTo>
                  <a:pt x="0" y="0"/>
                </a:moveTo>
                <a:lnTo>
                  <a:pt x="0" y="760741"/>
                </a:lnTo>
                <a:lnTo>
                  <a:pt x="1057881" y="760741"/>
                </a:lnTo>
                <a:lnTo>
                  <a:pt x="1057881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54901" y="3341191"/>
            <a:ext cx="655955" cy="1071880"/>
          </a:xfrm>
          <a:custGeom>
            <a:avLst/>
            <a:gdLst/>
            <a:ahLst/>
            <a:cxnLst/>
            <a:rect l="l" t="t" r="r" b="b"/>
            <a:pathLst>
              <a:path w="655955" h="1071879">
                <a:moveTo>
                  <a:pt x="0" y="0"/>
                </a:moveTo>
                <a:lnTo>
                  <a:pt x="0" y="717876"/>
                </a:lnTo>
                <a:lnTo>
                  <a:pt x="655862" y="717876"/>
                </a:lnTo>
                <a:lnTo>
                  <a:pt x="655862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05046" y="3341191"/>
            <a:ext cx="262255" cy="1071880"/>
          </a:xfrm>
          <a:custGeom>
            <a:avLst/>
            <a:gdLst/>
            <a:ahLst/>
            <a:cxnLst/>
            <a:rect l="l" t="t" r="r" b="b"/>
            <a:pathLst>
              <a:path w="262255" h="1071879">
                <a:moveTo>
                  <a:pt x="0" y="0"/>
                </a:moveTo>
                <a:lnTo>
                  <a:pt x="0" y="665536"/>
                </a:lnTo>
                <a:lnTo>
                  <a:pt x="261880" y="665536"/>
                </a:lnTo>
                <a:lnTo>
                  <a:pt x="26188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48518" y="3341191"/>
            <a:ext cx="840740" cy="1071880"/>
          </a:xfrm>
          <a:custGeom>
            <a:avLst/>
            <a:gdLst/>
            <a:ahLst/>
            <a:cxnLst/>
            <a:rect l="l" t="t" r="r" b="b"/>
            <a:pathLst>
              <a:path w="840739" h="1071879">
                <a:moveTo>
                  <a:pt x="840292" y="0"/>
                </a:moveTo>
                <a:lnTo>
                  <a:pt x="840292" y="760741"/>
                </a:lnTo>
                <a:lnTo>
                  <a:pt x="0" y="760741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85869" y="3341191"/>
            <a:ext cx="524510" cy="1071880"/>
          </a:xfrm>
          <a:custGeom>
            <a:avLst/>
            <a:gdLst/>
            <a:ahLst/>
            <a:cxnLst/>
            <a:rect l="l" t="t" r="r" b="b"/>
            <a:pathLst>
              <a:path w="524510" h="1071879">
                <a:moveTo>
                  <a:pt x="524220" y="0"/>
                </a:moveTo>
                <a:lnTo>
                  <a:pt x="524220" y="717876"/>
                </a:lnTo>
                <a:lnTo>
                  <a:pt x="0" y="71787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29324" y="3341191"/>
            <a:ext cx="71120" cy="1071880"/>
          </a:xfrm>
          <a:custGeom>
            <a:avLst/>
            <a:gdLst/>
            <a:ahLst/>
            <a:cxnLst/>
            <a:rect l="l" t="t" r="r" b="b"/>
            <a:pathLst>
              <a:path w="71119" h="1071879">
                <a:moveTo>
                  <a:pt x="70924" y="0"/>
                </a:moveTo>
                <a:lnTo>
                  <a:pt x="70924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24624" y="3341191"/>
            <a:ext cx="81915" cy="1071880"/>
          </a:xfrm>
          <a:custGeom>
            <a:avLst/>
            <a:gdLst/>
            <a:ahLst/>
            <a:cxnLst/>
            <a:rect l="l" t="t" r="r" b="b"/>
            <a:pathLst>
              <a:path w="81915" h="1071879">
                <a:moveTo>
                  <a:pt x="81870" y="0"/>
                </a:moveTo>
                <a:lnTo>
                  <a:pt x="81870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01373" y="4389375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7"/>
                </a:lnTo>
                <a:lnTo>
                  <a:pt x="2896" y="22514"/>
                </a:lnTo>
                <a:lnTo>
                  <a:pt x="0" y="36863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3"/>
                </a:lnTo>
                <a:lnTo>
                  <a:pt x="473353" y="22514"/>
                </a:lnTo>
                <a:lnTo>
                  <a:pt x="465453" y="10797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3D2D0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987508" y="4389375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7"/>
                </a:lnTo>
                <a:lnTo>
                  <a:pt x="2896" y="22514"/>
                </a:lnTo>
                <a:lnTo>
                  <a:pt x="0" y="36863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3"/>
                </a:lnTo>
                <a:lnTo>
                  <a:pt x="473353" y="22514"/>
                </a:lnTo>
                <a:lnTo>
                  <a:pt x="465453" y="10797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C74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85525" y="3341191"/>
            <a:ext cx="932815" cy="1071880"/>
          </a:xfrm>
          <a:custGeom>
            <a:avLst/>
            <a:gdLst/>
            <a:ahLst/>
            <a:cxnLst/>
            <a:rect l="l" t="t" r="r" b="b"/>
            <a:pathLst>
              <a:path w="932814" h="1071879">
                <a:moveTo>
                  <a:pt x="0" y="0"/>
                </a:moveTo>
                <a:lnTo>
                  <a:pt x="0" y="832181"/>
                </a:lnTo>
                <a:lnTo>
                  <a:pt x="932697" y="832181"/>
                </a:lnTo>
                <a:lnTo>
                  <a:pt x="932697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82860" y="3341191"/>
            <a:ext cx="597535" cy="1071880"/>
          </a:xfrm>
          <a:custGeom>
            <a:avLst/>
            <a:gdLst/>
            <a:ahLst/>
            <a:cxnLst/>
            <a:rect l="l" t="t" r="r" b="b"/>
            <a:pathLst>
              <a:path w="597535" h="1071879">
                <a:moveTo>
                  <a:pt x="0" y="0"/>
                </a:moveTo>
                <a:lnTo>
                  <a:pt x="0" y="717876"/>
                </a:lnTo>
                <a:lnTo>
                  <a:pt x="597399" y="717876"/>
                </a:lnTo>
                <a:lnTo>
                  <a:pt x="597399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45189" y="3341191"/>
            <a:ext cx="208915" cy="1071880"/>
          </a:xfrm>
          <a:custGeom>
            <a:avLst/>
            <a:gdLst/>
            <a:ahLst/>
            <a:cxnLst/>
            <a:rect l="l" t="t" r="r" b="b"/>
            <a:pathLst>
              <a:path w="208915" h="1071879">
                <a:moveTo>
                  <a:pt x="208391" y="0"/>
                </a:moveTo>
                <a:lnTo>
                  <a:pt x="208391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413248" y="3341191"/>
            <a:ext cx="588010" cy="1071880"/>
          </a:xfrm>
          <a:custGeom>
            <a:avLst/>
            <a:gdLst/>
            <a:ahLst/>
            <a:cxnLst/>
            <a:rect l="l" t="t" r="r" b="b"/>
            <a:pathLst>
              <a:path w="588009" h="1071879">
                <a:moveTo>
                  <a:pt x="587638" y="0"/>
                </a:moveTo>
                <a:lnTo>
                  <a:pt x="587638" y="717876"/>
                </a:lnTo>
                <a:lnTo>
                  <a:pt x="0" y="71787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261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939126" y="3341191"/>
            <a:ext cx="315595" cy="1071880"/>
          </a:xfrm>
          <a:custGeom>
            <a:avLst/>
            <a:gdLst/>
            <a:ahLst/>
            <a:cxnLst/>
            <a:rect l="l" t="t" r="r" b="b"/>
            <a:pathLst>
              <a:path w="315595" h="1071879">
                <a:moveTo>
                  <a:pt x="0" y="0"/>
                </a:moveTo>
                <a:lnTo>
                  <a:pt x="0" y="665536"/>
                </a:lnTo>
                <a:lnTo>
                  <a:pt x="315207" y="665536"/>
                </a:lnTo>
                <a:lnTo>
                  <a:pt x="315207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96081" y="3341191"/>
            <a:ext cx="1085850" cy="1071880"/>
          </a:xfrm>
          <a:custGeom>
            <a:avLst/>
            <a:gdLst/>
            <a:ahLst/>
            <a:cxnLst/>
            <a:rect l="l" t="t" r="r" b="b"/>
            <a:pathLst>
              <a:path w="1085850" h="1071879">
                <a:moveTo>
                  <a:pt x="0" y="0"/>
                </a:moveTo>
                <a:lnTo>
                  <a:pt x="0" y="717876"/>
                </a:lnTo>
                <a:lnTo>
                  <a:pt x="1085434" y="717876"/>
                </a:lnTo>
                <a:lnTo>
                  <a:pt x="1085434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644893" y="3341191"/>
            <a:ext cx="1466850" cy="1071880"/>
          </a:xfrm>
          <a:custGeom>
            <a:avLst/>
            <a:gdLst/>
            <a:ahLst/>
            <a:cxnLst/>
            <a:rect l="l" t="t" r="r" b="b"/>
            <a:pathLst>
              <a:path w="1466850" h="1071879">
                <a:moveTo>
                  <a:pt x="0" y="0"/>
                </a:moveTo>
                <a:lnTo>
                  <a:pt x="0" y="846469"/>
                </a:lnTo>
                <a:lnTo>
                  <a:pt x="1466733" y="846469"/>
                </a:lnTo>
                <a:lnTo>
                  <a:pt x="1466733" y="1071606"/>
                </a:lnTo>
              </a:path>
            </a:pathLst>
          </a:custGeom>
          <a:ln w="28575">
            <a:solidFill>
              <a:srgbClr val="C74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5216" y="347472"/>
            <a:ext cx="6992111" cy="5516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344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Which </a:t>
            </a:r>
            <a:r>
              <a:rPr dirty="0"/>
              <a:t>is </a:t>
            </a:r>
            <a:r>
              <a:rPr dirty="0" spc="-15"/>
              <a:t>more </a:t>
            </a:r>
            <a:r>
              <a:rPr dirty="0" spc="-20"/>
              <a:t>related A,A’ </a:t>
            </a:r>
            <a:r>
              <a:rPr dirty="0"/>
              <a:t>or</a:t>
            </a:r>
            <a:r>
              <a:rPr dirty="0" spc="10"/>
              <a:t> </a:t>
            </a:r>
            <a:r>
              <a:rPr dirty="0" spc="-10"/>
              <a:t>B,B’?</a:t>
            </a:r>
          </a:p>
        </p:txBody>
      </p:sp>
      <p:sp>
        <p:nvSpPr>
          <p:cNvPr id="31" name="object 31"/>
          <p:cNvSpPr/>
          <p:nvPr/>
        </p:nvSpPr>
        <p:spPr>
          <a:xfrm>
            <a:off x="3491988" y="3341191"/>
            <a:ext cx="675005" cy="1071880"/>
          </a:xfrm>
          <a:custGeom>
            <a:avLst/>
            <a:gdLst/>
            <a:ahLst/>
            <a:cxnLst/>
            <a:rect l="l" t="t" r="r" b="b"/>
            <a:pathLst>
              <a:path w="675004" h="1071879">
                <a:moveTo>
                  <a:pt x="0" y="0"/>
                </a:moveTo>
                <a:lnTo>
                  <a:pt x="0" y="613147"/>
                </a:lnTo>
                <a:lnTo>
                  <a:pt x="337365" y="613147"/>
                </a:lnTo>
                <a:lnTo>
                  <a:pt x="674730" y="613147"/>
                </a:lnTo>
                <a:lnTo>
                  <a:pt x="67473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464930" y="3341191"/>
            <a:ext cx="334010" cy="1071880"/>
          </a:xfrm>
          <a:custGeom>
            <a:avLst/>
            <a:gdLst/>
            <a:ahLst/>
            <a:cxnLst/>
            <a:rect l="l" t="t" r="r" b="b"/>
            <a:pathLst>
              <a:path w="334010" h="1071879">
                <a:moveTo>
                  <a:pt x="333857" y="0"/>
                </a:moveTo>
                <a:lnTo>
                  <a:pt x="333857" y="613147"/>
                </a:lnTo>
                <a:lnTo>
                  <a:pt x="166928" y="613147"/>
                </a:lnTo>
                <a:lnTo>
                  <a:pt x="0" y="613147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27580" y="3341191"/>
            <a:ext cx="668655" cy="1071880"/>
          </a:xfrm>
          <a:custGeom>
            <a:avLst/>
            <a:gdLst/>
            <a:ahLst/>
            <a:cxnLst/>
            <a:rect l="l" t="t" r="r" b="b"/>
            <a:pathLst>
              <a:path w="668654" h="1071879">
                <a:moveTo>
                  <a:pt x="668043" y="0"/>
                </a:moveTo>
                <a:lnTo>
                  <a:pt x="668043" y="665536"/>
                </a:lnTo>
                <a:lnTo>
                  <a:pt x="0" y="66553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348679" y="3272544"/>
            <a:ext cx="0" cy="1140460"/>
          </a:xfrm>
          <a:custGeom>
            <a:avLst/>
            <a:gdLst/>
            <a:ahLst/>
            <a:cxnLst/>
            <a:rect l="l" t="t" r="r" b="b"/>
            <a:pathLst>
              <a:path w="0" h="1140460">
                <a:moveTo>
                  <a:pt x="0" y="0"/>
                </a:moveTo>
                <a:lnTo>
                  <a:pt x="1" y="11402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101373" y="4389375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7"/>
                </a:lnTo>
                <a:lnTo>
                  <a:pt x="2896" y="22514"/>
                </a:lnTo>
                <a:lnTo>
                  <a:pt x="0" y="36863"/>
                </a:lnTo>
                <a:lnTo>
                  <a:pt x="0" y="439388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8" y="476250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8"/>
                </a:lnTo>
                <a:lnTo>
                  <a:pt x="476250" y="36863"/>
                </a:lnTo>
                <a:lnTo>
                  <a:pt x="473353" y="22514"/>
                </a:lnTo>
                <a:lnTo>
                  <a:pt x="465453" y="10797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257477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2" y="361039"/>
                </a:lnTo>
                <a:lnTo>
                  <a:pt x="309135" y="338588"/>
                </a:lnTo>
                <a:lnTo>
                  <a:pt x="338587" y="309135"/>
                </a:lnTo>
                <a:lnTo>
                  <a:pt x="361038" y="273823"/>
                </a:lnTo>
                <a:lnTo>
                  <a:pt x="375345" y="233792"/>
                </a:lnTo>
                <a:lnTo>
                  <a:pt x="380368" y="190185"/>
                </a:lnTo>
                <a:lnTo>
                  <a:pt x="375345" y="146577"/>
                </a:lnTo>
                <a:lnTo>
                  <a:pt x="361038" y="106546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908272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2" y="361039"/>
                </a:lnTo>
                <a:lnTo>
                  <a:pt x="309135" y="338588"/>
                </a:lnTo>
                <a:lnTo>
                  <a:pt x="338587" y="309135"/>
                </a:lnTo>
                <a:lnTo>
                  <a:pt x="361038" y="273823"/>
                </a:lnTo>
                <a:lnTo>
                  <a:pt x="375345" y="233792"/>
                </a:lnTo>
                <a:lnTo>
                  <a:pt x="380368" y="190185"/>
                </a:lnTo>
                <a:lnTo>
                  <a:pt x="375345" y="146577"/>
                </a:lnTo>
                <a:lnTo>
                  <a:pt x="361038" y="106546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458537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2" y="361039"/>
                </a:lnTo>
                <a:lnTo>
                  <a:pt x="309135" y="338588"/>
                </a:lnTo>
                <a:lnTo>
                  <a:pt x="338587" y="309135"/>
                </a:lnTo>
                <a:lnTo>
                  <a:pt x="361038" y="273823"/>
                </a:lnTo>
                <a:lnTo>
                  <a:pt x="375345" y="233792"/>
                </a:lnTo>
                <a:lnTo>
                  <a:pt x="380368" y="190185"/>
                </a:lnTo>
                <a:lnTo>
                  <a:pt x="375345" y="146577"/>
                </a:lnTo>
                <a:lnTo>
                  <a:pt x="361038" y="106546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08802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4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4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3" y="361039"/>
                </a:lnTo>
                <a:lnTo>
                  <a:pt x="309136" y="338588"/>
                </a:lnTo>
                <a:lnTo>
                  <a:pt x="338588" y="309135"/>
                </a:lnTo>
                <a:lnTo>
                  <a:pt x="361039" y="273823"/>
                </a:lnTo>
                <a:lnTo>
                  <a:pt x="375347" y="233792"/>
                </a:lnTo>
                <a:lnTo>
                  <a:pt x="380370" y="190185"/>
                </a:lnTo>
                <a:lnTo>
                  <a:pt x="375347" y="146577"/>
                </a:lnTo>
                <a:lnTo>
                  <a:pt x="361039" y="106546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59067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4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4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3" y="361039"/>
                </a:lnTo>
                <a:lnTo>
                  <a:pt x="309136" y="338588"/>
                </a:lnTo>
                <a:lnTo>
                  <a:pt x="338588" y="309135"/>
                </a:lnTo>
                <a:lnTo>
                  <a:pt x="361039" y="273823"/>
                </a:lnTo>
                <a:lnTo>
                  <a:pt x="375347" y="233792"/>
                </a:lnTo>
                <a:lnTo>
                  <a:pt x="380370" y="190185"/>
                </a:lnTo>
                <a:lnTo>
                  <a:pt x="375347" y="146577"/>
                </a:lnTo>
                <a:lnTo>
                  <a:pt x="361039" y="106546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204561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3" y="361039"/>
                </a:lnTo>
                <a:lnTo>
                  <a:pt x="309135" y="338588"/>
                </a:lnTo>
                <a:lnTo>
                  <a:pt x="338588" y="309135"/>
                </a:lnTo>
                <a:lnTo>
                  <a:pt x="361039" y="273823"/>
                </a:lnTo>
                <a:lnTo>
                  <a:pt x="375347" y="233792"/>
                </a:lnTo>
                <a:lnTo>
                  <a:pt x="380370" y="190185"/>
                </a:lnTo>
                <a:lnTo>
                  <a:pt x="375347" y="146577"/>
                </a:lnTo>
                <a:lnTo>
                  <a:pt x="361039" y="106546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754828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5" y="361039"/>
                </a:lnTo>
                <a:lnTo>
                  <a:pt x="146576" y="375347"/>
                </a:lnTo>
                <a:lnTo>
                  <a:pt x="190183" y="380370"/>
                </a:lnTo>
                <a:lnTo>
                  <a:pt x="233791" y="375347"/>
                </a:lnTo>
                <a:lnTo>
                  <a:pt x="273822" y="361039"/>
                </a:lnTo>
                <a:lnTo>
                  <a:pt x="309134" y="338588"/>
                </a:lnTo>
                <a:lnTo>
                  <a:pt x="338587" y="309135"/>
                </a:lnTo>
                <a:lnTo>
                  <a:pt x="361038" y="273823"/>
                </a:lnTo>
                <a:lnTo>
                  <a:pt x="375345" y="233792"/>
                </a:lnTo>
                <a:lnTo>
                  <a:pt x="380368" y="190185"/>
                </a:lnTo>
                <a:lnTo>
                  <a:pt x="375345" y="146577"/>
                </a:lnTo>
                <a:lnTo>
                  <a:pt x="361038" y="106546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056417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4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4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3" y="361039"/>
                </a:lnTo>
                <a:lnTo>
                  <a:pt x="309136" y="338588"/>
                </a:lnTo>
                <a:lnTo>
                  <a:pt x="338588" y="309135"/>
                </a:lnTo>
                <a:lnTo>
                  <a:pt x="361039" y="273823"/>
                </a:lnTo>
                <a:lnTo>
                  <a:pt x="375347" y="233792"/>
                </a:lnTo>
                <a:lnTo>
                  <a:pt x="380370" y="190185"/>
                </a:lnTo>
                <a:lnTo>
                  <a:pt x="375347" y="146577"/>
                </a:lnTo>
                <a:lnTo>
                  <a:pt x="361039" y="106546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606682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2" y="361039"/>
                </a:lnTo>
                <a:lnTo>
                  <a:pt x="309135" y="338588"/>
                </a:lnTo>
                <a:lnTo>
                  <a:pt x="338587" y="309135"/>
                </a:lnTo>
                <a:lnTo>
                  <a:pt x="361038" y="273823"/>
                </a:lnTo>
                <a:lnTo>
                  <a:pt x="375345" y="233792"/>
                </a:lnTo>
                <a:lnTo>
                  <a:pt x="380368" y="190185"/>
                </a:lnTo>
                <a:lnTo>
                  <a:pt x="375345" y="146577"/>
                </a:lnTo>
                <a:lnTo>
                  <a:pt x="361038" y="106546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855356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3" y="361039"/>
                </a:lnTo>
                <a:lnTo>
                  <a:pt x="309135" y="338588"/>
                </a:lnTo>
                <a:lnTo>
                  <a:pt x="338588" y="309135"/>
                </a:lnTo>
                <a:lnTo>
                  <a:pt x="361039" y="273823"/>
                </a:lnTo>
                <a:lnTo>
                  <a:pt x="375347" y="233792"/>
                </a:lnTo>
                <a:lnTo>
                  <a:pt x="380370" y="190185"/>
                </a:lnTo>
                <a:lnTo>
                  <a:pt x="375347" y="146577"/>
                </a:lnTo>
                <a:lnTo>
                  <a:pt x="361039" y="106546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405622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2" y="361039"/>
                </a:lnTo>
                <a:lnTo>
                  <a:pt x="309135" y="338588"/>
                </a:lnTo>
                <a:lnTo>
                  <a:pt x="338587" y="309135"/>
                </a:lnTo>
                <a:lnTo>
                  <a:pt x="361038" y="273823"/>
                </a:lnTo>
                <a:lnTo>
                  <a:pt x="375345" y="233792"/>
                </a:lnTo>
                <a:lnTo>
                  <a:pt x="380368" y="190185"/>
                </a:lnTo>
                <a:lnTo>
                  <a:pt x="375345" y="146577"/>
                </a:lnTo>
                <a:lnTo>
                  <a:pt x="361038" y="106546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506152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2" y="361039"/>
                </a:lnTo>
                <a:lnTo>
                  <a:pt x="309135" y="338588"/>
                </a:lnTo>
                <a:lnTo>
                  <a:pt x="338587" y="309135"/>
                </a:lnTo>
                <a:lnTo>
                  <a:pt x="361038" y="273823"/>
                </a:lnTo>
                <a:lnTo>
                  <a:pt x="375345" y="233792"/>
                </a:lnTo>
                <a:lnTo>
                  <a:pt x="380368" y="190185"/>
                </a:lnTo>
                <a:lnTo>
                  <a:pt x="375345" y="146577"/>
                </a:lnTo>
                <a:lnTo>
                  <a:pt x="361038" y="106546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807742" y="2995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6"/>
                </a:lnTo>
                <a:lnTo>
                  <a:pt x="5022" y="146577"/>
                </a:lnTo>
                <a:lnTo>
                  <a:pt x="0" y="190185"/>
                </a:lnTo>
                <a:lnTo>
                  <a:pt x="5022" y="233792"/>
                </a:lnTo>
                <a:lnTo>
                  <a:pt x="19330" y="273823"/>
                </a:lnTo>
                <a:lnTo>
                  <a:pt x="41781" y="309135"/>
                </a:lnTo>
                <a:lnTo>
                  <a:pt x="71233" y="338588"/>
                </a:lnTo>
                <a:lnTo>
                  <a:pt x="106546" y="361039"/>
                </a:lnTo>
                <a:lnTo>
                  <a:pt x="146577" y="375347"/>
                </a:lnTo>
                <a:lnTo>
                  <a:pt x="190185" y="380370"/>
                </a:lnTo>
                <a:lnTo>
                  <a:pt x="233792" y="375347"/>
                </a:lnTo>
                <a:lnTo>
                  <a:pt x="273822" y="361039"/>
                </a:lnTo>
                <a:lnTo>
                  <a:pt x="309135" y="338588"/>
                </a:lnTo>
                <a:lnTo>
                  <a:pt x="338587" y="309135"/>
                </a:lnTo>
                <a:lnTo>
                  <a:pt x="361038" y="273823"/>
                </a:lnTo>
                <a:lnTo>
                  <a:pt x="375345" y="233792"/>
                </a:lnTo>
                <a:lnTo>
                  <a:pt x="380368" y="190185"/>
                </a:lnTo>
                <a:lnTo>
                  <a:pt x="375345" y="146577"/>
                </a:lnTo>
                <a:lnTo>
                  <a:pt x="361038" y="106546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712469" y="3002657"/>
            <a:ext cx="372240" cy="373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307531" y="3000772"/>
            <a:ext cx="375184" cy="3704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63597" y="2999382"/>
            <a:ext cx="371478" cy="3730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160238" y="3001134"/>
            <a:ext cx="372515" cy="3714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959387" y="3000998"/>
            <a:ext cx="373806" cy="3724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956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446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Which </a:t>
            </a:r>
            <a:r>
              <a:rPr dirty="0"/>
              <a:t>is </a:t>
            </a:r>
            <a:r>
              <a:rPr dirty="0" spc="-15"/>
              <a:t>more </a:t>
            </a:r>
            <a:r>
              <a:rPr dirty="0" spc="-20"/>
              <a:t>related </a:t>
            </a:r>
            <a:r>
              <a:rPr dirty="0" spc="-80"/>
              <a:t>A,A’, </a:t>
            </a:r>
            <a:r>
              <a:rPr dirty="0" spc="-10"/>
              <a:t>B,B’ </a:t>
            </a:r>
            <a:r>
              <a:rPr dirty="0"/>
              <a:t>or</a:t>
            </a:r>
            <a:r>
              <a:rPr dirty="0" spc="100"/>
              <a:t> </a:t>
            </a:r>
            <a:r>
              <a:rPr dirty="0" spc="10"/>
              <a:t>C,C’?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233" y="4152900"/>
            <a:ext cx="15379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Corbel"/>
                <a:cs typeface="Corbel"/>
              </a:rPr>
              <a:t>Shortest</a:t>
            </a:r>
            <a:r>
              <a:rPr dirty="0" sz="2000" spc="-40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path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33329" y="2532118"/>
            <a:ext cx="3864538" cy="1647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9892" y="2611059"/>
            <a:ext cx="644525" cy="1071880"/>
          </a:xfrm>
          <a:custGeom>
            <a:avLst/>
            <a:gdLst/>
            <a:ahLst/>
            <a:cxnLst/>
            <a:rect l="l" t="t" r="r" b="b"/>
            <a:pathLst>
              <a:path w="644525" h="1071879">
                <a:moveTo>
                  <a:pt x="0" y="0"/>
                </a:moveTo>
                <a:lnTo>
                  <a:pt x="0" y="665536"/>
                </a:lnTo>
                <a:lnTo>
                  <a:pt x="643960" y="665536"/>
                </a:lnTo>
                <a:lnTo>
                  <a:pt x="643960" y="107160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25677" y="2553909"/>
            <a:ext cx="733425" cy="1129030"/>
          </a:xfrm>
          <a:custGeom>
            <a:avLst/>
            <a:gdLst/>
            <a:ahLst/>
            <a:cxnLst/>
            <a:rect l="l" t="t" r="r" b="b"/>
            <a:pathLst>
              <a:path w="733425" h="1129029">
                <a:moveTo>
                  <a:pt x="733149" y="0"/>
                </a:moveTo>
                <a:lnTo>
                  <a:pt x="733149" y="722665"/>
                </a:lnTo>
                <a:lnTo>
                  <a:pt x="0" y="722665"/>
                </a:lnTo>
                <a:lnTo>
                  <a:pt x="0" y="112875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4722" y="365924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7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6"/>
                </a:lnTo>
                <a:lnTo>
                  <a:pt x="2896" y="453735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7" y="476250"/>
                </a:lnTo>
                <a:lnTo>
                  <a:pt x="453735" y="473353"/>
                </a:lnTo>
                <a:lnTo>
                  <a:pt x="465452" y="465453"/>
                </a:lnTo>
                <a:lnTo>
                  <a:pt x="473352" y="453735"/>
                </a:lnTo>
                <a:lnTo>
                  <a:pt x="476249" y="439386"/>
                </a:lnTo>
                <a:lnTo>
                  <a:pt x="476249" y="36861"/>
                </a:lnTo>
                <a:lnTo>
                  <a:pt x="473352" y="22513"/>
                </a:lnTo>
                <a:lnTo>
                  <a:pt x="465452" y="10796"/>
                </a:lnTo>
                <a:lnTo>
                  <a:pt x="453735" y="2896"/>
                </a:lnTo>
                <a:lnTo>
                  <a:pt x="43938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63090" y="2272525"/>
            <a:ext cx="372240" cy="373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45063" y="2270640"/>
            <a:ext cx="375184" cy="3704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2400" y="2269250"/>
            <a:ext cx="371477" cy="3730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78891" y="2271001"/>
            <a:ext cx="372515" cy="37144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83831" y="2270865"/>
            <a:ext cx="373806" cy="3724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956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446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Which </a:t>
            </a:r>
            <a:r>
              <a:rPr dirty="0"/>
              <a:t>is </a:t>
            </a:r>
            <a:r>
              <a:rPr dirty="0" spc="-15"/>
              <a:t>more </a:t>
            </a:r>
            <a:r>
              <a:rPr dirty="0" spc="-20"/>
              <a:t>related </a:t>
            </a:r>
            <a:r>
              <a:rPr dirty="0" spc="-80"/>
              <a:t>A,A’, </a:t>
            </a:r>
            <a:r>
              <a:rPr dirty="0" spc="-10"/>
              <a:t>B,B’ </a:t>
            </a:r>
            <a:r>
              <a:rPr dirty="0"/>
              <a:t>or</a:t>
            </a:r>
            <a:r>
              <a:rPr dirty="0" spc="100"/>
              <a:t> </a:t>
            </a:r>
            <a:r>
              <a:rPr dirty="0" spc="10"/>
              <a:t>C,C’?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233" y="4152900"/>
            <a:ext cx="15379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Corbel"/>
                <a:cs typeface="Corbel"/>
              </a:rPr>
              <a:t>Shortest</a:t>
            </a:r>
            <a:r>
              <a:rPr dirty="0" sz="2000" spc="-40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path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6282" y="4287011"/>
            <a:ext cx="22225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Corbel"/>
                <a:cs typeface="Corbel"/>
              </a:rPr>
              <a:t>Common</a:t>
            </a:r>
            <a:r>
              <a:rPr dirty="0" sz="2000" spc="-35" b="1">
                <a:latin typeface="Corbel"/>
                <a:cs typeface="Corbel"/>
              </a:rPr>
              <a:t> </a:t>
            </a:r>
            <a:r>
              <a:rPr dirty="0" sz="2000" spc="-5" b="1">
                <a:latin typeface="Corbel"/>
                <a:cs typeface="Corbel"/>
              </a:rPr>
              <a:t>Neighbors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72392" y="2133600"/>
            <a:ext cx="2443348" cy="21471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33329" y="2532118"/>
            <a:ext cx="3864538" cy="16470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9892" y="2611059"/>
            <a:ext cx="644525" cy="1071880"/>
          </a:xfrm>
          <a:custGeom>
            <a:avLst/>
            <a:gdLst/>
            <a:ahLst/>
            <a:cxnLst/>
            <a:rect l="l" t="t" r="r" b="b"/>
            <a:pathLst>
              <a:path w="644525" h="1071879">
                <a:moveTo>
                  <a:pt x="0" y="0"/>
                </a:moveTo>
                <a:lnTo>
                  <a:pt x="0" y="665536"/>
                </a:lnTo>
                <a:lnTo>
                  <a:pt x="643960" y="665536"/>
                </a:lnTo>
                <a:lnTo>
                  <a:pt x="643960" y="107160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25677" y="2553909"/>
            <a:ext cx="733425" cy="1129030"/>
          </a:xfrm>
          <a:custGeom>
            <a:avLst/>
            <a:gdLst/>
            <a:ahLst/>
            <a:cxnLst/>
            <a:rect l="l" t="t" r="r" b="b"/>
            <a:pathLst>
              <a:path w="733425" h="1129029">
                <a:moveTo>
                  <a:pt x="733149" y="0"/>
                </a:moveTo>
                <a:lnTo>
                  <a:pt x="733149" y="722665"/>
                </a:lnTo>
                <a:lnTo>
                  <a:pt x="0" y="722665"/>
                </a:lnTo>
                <a:lnTo>
                  <a:pt x="0" y="112875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4722" y="365924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7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6"/>
                </a:lnTo>
                <a:lnTo>
                  <a:pt x="2896" y="453735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7" y="476250"/>
                </a:lnTo>
                <a:lnTo>
                  <a:pt x="453735" y="473353"/>
                </a:lnTo>
                <a:lnTo>
                  <a:pt x="465452" y="465453"/>
                </a:lnTo>
                <a:lnTo>
                  <a:pt x="473352" y="453735"/>
                </a:lnTo>
                <a:lnTo>
                  <a:pt x="476249" y="439386"/>
                </a:lnTo>
                <a:lnTo>
                  <a:pt x="476249" y="36861"/>
                </a:lnTo>
                <a:lnTo>
                  <a:pt x="473352" y="22513"/>
                </a:lnTo>
                <a:lnTo>
                  <a:pt x="465452" y="10796"/>
                </a:lnTo>
                <a:lnTo>
                  <a:pt x="453735" y="2896"/>
                </a:lnTo>
                <a:lnTo>
                  <a:pt x="43938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63090" y="2272525"/>
            <a:ext cx="372240" cy="3735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45063" y="2270640"/>
            <a:ext cx="375184" cy="3704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2400" y="2269250"/>
            <a:ext cx="371477" cy="3730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78891" y="2271001"/>
            <a:ext cx="372515" cy="3714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83831" y="2270865"/>
            <a:ext cx="373806" cy="3724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956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446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Which </a:t>
            </a:r>
            <a:r>
              <a:rPr dirty="0"/>
              <a:t>is </a:t>
            </a:r>
            <a:r>
              <a:rPr dirty="0" spc="-15"/>
              <a:t>more </a:t>
            </a:r>
            <a:r>
              <a:rPr dirty="0" spc="-20"/>
              <a:t>related </a:t>
            </a:r>
            <a:r>
              <a:rPr dirty="0" spc="-80"/>
              <a:t>A,A’, </a:t>
            </a:r>
            <a:r>
              <a:rPr dirty="0" spc="-10"/>
              <a:t>B,B’ </a:t>
            </a:r>
            <a:r>
              <a:rPr dirty="0"/>
              <a:t>or</a:t>
            </a:r>
            <a:r>
              <a:rPr dirty="0" spc="100"/>
              <a:t> </a:t>
            </a:r>
            <a:r>
              <a:rPr dirty="0" spc="10"/>
              <a:t>C,C’?</a:t>
            </a:r>
          </a:p>
        </p:txBody>
      </p:sp>
      <p:sp>
        <p:nvSpPr>
          <p:cNvPr id="4" name="object 4"/>
          <p:cNvSpPr/>
          <p:nvPr/>
        </p:nvSpPr>
        <p:spPr>
          <a:xfrm>
            <a:off x="5305018" y="4655482"/>
            <a:ext cx="3262629" cy="1071880"/>
          </a:xfrm>
          <a:custGeom>
            <a:avLst/>
            <a:gdLst/>
            <a:ahLst/>
            <a:cxnLst/>
            <a:rect l="l" t="t" r="r" b="b"/>
            <a:pathLst>
              <a:path w="3262629" h="1071879">
                <a:moveTo>
                  <a:pt x="3262285" y="0"/>
                </a:moveTo>
                <a:lnTo>
                  <a:pt x="3262285" y="808368"/>
                </a:lnTo>
                <a:lnTo>
                  <a:pt x="0" y="808368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54137" y="4655482"/>
            <a:ext cx="2171065" cy="1071880"/>
          </a:xfrm>
          <a:custGeom>
            <a:avLst/>
            <a:gdLst/>
            <a:ahLst/>
            <a:cxnLst/>
            <a:rect l="l" t="t" r="r" b="b"/>
            <a:pathLst>
              <a:path w="2171065" h="1071879">
                <a:moveTo>
                  <a:pt x="2170456" y="0"/>
                </a:moveTo>
                <a:lnTo>
                  <a:pt x="2170456" y="760741"/>
                </a:lnTo>
                <a:lnTo>
                  <a:pt x="0" y="760741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89944" y="4655482"/>
            <a:ext cx="1096645" cy="1071880"/>
          </a:xfrm>
          <a:custGeom>
            <a:avLst/>
            <a:gdLst/>
            <a:ahLst/>
            <a:cxnLst/>
            <a:rect l="l" t="t" r="r" b="b"/>
            <a:pathLst>
              <a:path w="1096645" h="1071879">
                <a:moveTo>
                  <a:pt x="1096343" y="0"/>
                </a:moveTo>
                <a:lnTo>
                  <a:pt x="1096343" y="717876"/>
                </a:lnTo>
                <a:lnTo>
                  <a:pt x="0" y="717876"/>
                </a:lnTo>
                <a:lnTo>
                  <a:pt x="0" y="107160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90407" y="4782670"/>
            <a:ext cx="1099185" cy="1009015"/>
          </a:xfrm>
          <a:custGeom>
            <a:avLst/>
            <a:gdLst/>
            <a:ahLst/>
            <a:cxnLst/>
            <a:rect l="l" t="t" r="r" b="b"/>
            <a:pathLst>
              <a:path w="1099185" h="1009014">
                <a:moveTo>
                  <a:pt x="0" y="0"/>
                </a:moveTo>
                <a:lnTo>
                  <a:pt x="1098841" y="100853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47234" y="4782670"/>
            <a:ext cx="1078230" cy="943610"/>
          </a:xfrm>
          <a:custGeom>
            <a:avLst/>
            <a:gdLst/>
            <a:ahLst/>
            <a:cxnLst/>
            <a:rect l="l" t="t" r="r" b="b"/>
            <a:pathLst>
              <a:path w="1078229" h="943610">
                <a:moveTo>
                  <a:pt x="1077835" y="0"/>
                </a:moveTo>
                <a:lnTo>
                  <a:pt x="0" y="943572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94142" y="4760976"/>
            <a:ext cx="0" cy="1129030"/>
          </a:xfrm>
          <a:custGeom>
            <a:avLst/>
            <a:gdLst/>
            <a:ahLst/>
            <a:cxnLst/>
            <a:rect l="l" t="t" r="r" b="b"/>
            <a:pathLst>
              <a:path w="0" h="1129029">
                <a:moveTo>
                  <a:pt x="0" y="0"/>
                </a:moveTo>
                <a:lnTo>
                  <a:pt x="1" y="112875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35565" y="4732401"/>
            <a:ext cx="0" cy="1186180"/>
          </a:xfrm>
          <a:custGeom>
            <a:avLst/>
            <a:gdLst/>
            <a:ahLst/>
            <a:cxnLst/>
            <a:rect l="l" t="t" r="r" b="b"/>
            <a:pathLst>
              <a:path w="0" h="1186179">
                <a:moveTo>
                  <a:pt x="0" y="0"/>
                </a:moveTo>
                <a:lnTo>
                  <a:pt x="1" y="118590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69645" y="457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56017" y="571500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6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49"/>
                </a:lnTo>
                <a:lnTo>
                  <a:pt x="439386" y="476249"/>
                </a:lnTo>
                <a:lnTo>
                  <a:pt x="453735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5" y="2896"/>
                </a:lnTo>
                <a:lnTo>
                  <a:pt x="43938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97440" y="569595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49"/>
                </a:lnTo>
                <a:lnTo>
                  <a:pt x="439388" y="476249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03957" y="457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5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45379" y="457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3" y="0"/>
                </a:moveTo>
                <a:lnTo>
                  <a:pt x="146576" y="5022"/>
                </a:lnTo>
                <a:lnTo>
                  <a:pt x="106545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5" y="361038"/>
                </a:lnTo>
                <a:lnTo>
                  <a:pt x="146576" y="375345"/>
                </a:lnTo>
                <a:lnTo>
                  <a:pt x="190183" y="380368"/>
                </a:lnTo>
                <a:lnTo>
                  <a:pt x="233791" y="375345"/>
                </a:lnTo>
                <a:lnTo>
                  <a:pt x="273822" y="361038"/>
                </a:lnTo>
                <a:lnTo>
                  <a:pt x="309134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4" y="41781"/>
                </a:lnTo>
                <a:lnTo>
                  <a:pt x="273822" y="19330"/>
                </a:lnTo>
                <a:lnTo>
                  <a:pt x="233791" y="5022"/>
                </a:lnTo>
                <a:lnTo>
                  <a:pt x="190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891764" y="4611115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45567" y="4611115"/>
            <a:ext cx="254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86801" y="457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5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28223" y="457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6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6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6963" y="4655482"/>
            <a:ext cx="3262629" cy="1071880"/>
          </a:xfrm>
          <a:custGeom>
            <a:avLst/>
            <a:gdLst/>
            <a:ahLst/>
            <a:cxnLst/>
            <a:rect l="l" t="t" r="r" b="b"/>
            <a:pathLst>
              <a:path w="3262629" h="1071879">
                <a:moveTo>
                  <a:pt x="0" y="0"/>
                </a:moveTo>
                <a:lnTo>
                  <a:pt x="0" y="808368"/>
                </a:lnTo>
                <a:lnTo>
                  <a:pt x="3262285" y="808368"/>
                </a:lnTo>
                <a:lnTo>
                  <a:pt x="3262285" y="107160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09672" y="4655482"/>
            <a:ext cx="2171065" cy="1071880"/>
          </a:xfrm>
          <a:custGeom>
            <a:avLst/>
            <a:gdLst/>
            <a:ahLst/>
            <a:cxnLst/>
            <a:rect l="l" t="t" r="r" b="b"/>
            <a:pathLst>
              <a:path w="2171065" h="1071879">
                <a:moveTo>
                  <a:pt x="0" y="0"/>
                </a:moveTo>
                <a:lnTo>
                  <a:pt x="0" y="760741"/>
                </a:lnTo>
                <a:lnTo>
                  <a:pt x="2170456" y="760741"/>
                </a:lnTo>
                <a:lnTo>
                  <a:pt x="2170456" y="107160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47977" y="4655482"/>
            <a:ext cx="1096645" cy="1071880"/>
          </a:xfrm>
          <a:custGeom>
            <a:avLst/>
            <a:gdLst/>
            <a:ahLst/>
            <a:cxnLst/>
            <a:rect l="l" t="t" r="r" b="b"/>
            <a:pathLst>
              <a:path w="1096645" h="1071879">
                <a:moveTo>
                  <a:pt x="0" y="0"/>
                </a:moveTo>
                <a:lnTo>
                  <a:pt x="0" y="717876"/>
                </a:lnTo>
                <a:lnTo>
                  <a:pt x="1096343" y="717876"/>
                </a:lnTo>
                <a:lnTo>
                  <a:pt x="1096343" y="107160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9691" y="457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4" y="0"/>
                </a:moveTo>
                <a:lnTo>
                  <a:pt x="146576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6" y="375345"/>
                </a:lnTo>
                <a:lnTo>
                  <a:pt x="190184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6" y="233791"/>
                </a:lnTo>
                <a:lnTo>
                  <a:pt x="380368" y="190183"/>
                </a:lnTo>
                <a:lnTo>
                  <a:pt x="375346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62535" y="457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2" y="361038"/>
                </a:lnTo>
                <a:lnTo>
                  <a:pt x="309135" y="338587"/>
                </a:lnTo>
                <a:lnTo>
                  <a:pt x="338587" y="309134"/>
                </a:lnTo>
                <a:lnTo>
                  <a:pt x="361038" y="273822"/>
                </a:lnTo>
                <a:lnTo>
                  <a:pt x="375345" y="233791"/>
                </a:lnTo>
                <a:lnTo>
                  <a:pt x="380368" y="190183"/>
                </a:lnTo>
                <a:lnTo>
                  <a:pt x="375345" y="146576"/>
                </a:lnTo>
                <a:lnTo>
                  <a:pt x="361038" y="106545"/>
                </a:lnTo>
                <a:lnTo>
                  <a:pt x="338587" y="71233"/>
                </a:lnTo>
                <a:lnTo>
                  <a:pt x="309135" y="41781"/>
                </a:lnTo>
                <a:lnTo>
                  <a:pt x="273822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21113" y="457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185" y="0"/>
                </a:moveTo>
                <a:lnTo>
                  <a:pt x="146577" y="5022"/>
                </a:lnTo>
                <a:lnTo>
                  <a:pt x="106546" y="19330"/>
                </a:lnTo>
                <a:lnTo>
                  <a:pt x="71233" y="41781"/>
                </a:lnTo>
                <a:lnTo>
                  <a:pt x="41781" y="71233"/>
                </a:lnTo>
                <a:lnTo>
                  <a:pt x="19330" y="106545"/>
                </a:lnTo>
                <a:lnTo>
                  <a:pt x="5022" y="146576"/>
                </a:lnTo>
                <a:lnTo>
                  <a:pt x="0" y="190183"/>
                </a:lnTo>
                <a:lnTo>
                  <a:pt x="5022" y="233791"/>
                </a:lnTo>
                <a:lnTo>
                  <a:pt x="19330" y="273822"/>
                </a:lnTo>
                <a:lnTo>
                  <a:pt x="41781" y="309134"/>
                </a:lnTo>
                <a:lnTo>
                  <a:pt x="71233" y="338587"/>
                </a:lnTo>
                <a:lnTo>
                  <a:pt x="106546" y="361038"/>
                </a:lnTo>
                <a:lnTo>
                  <a:pt x="146577" y="375345"/>
                </a:lnTo>
                <a:lnTo>
                  <a:pt x="190185" y="380368"/>
                </a:lnTo>
                <a:lnTo>
                  <a:pt x="233792" y="375345"/>
                </a:lnTo>
                <a:lnTo>
                  <a:pt x="273823" y="361038"/>
                </a:lnTo>
                <a:lnTo>
                  <a:pt x="309135" y="338587"/>
                </a:lnTo>
                <a:lnTo>
                  <a:pt x="338588" y="309134"/>
                </a:lnTo>
                <a:lnTo>
                  <a:pt x="361039" y="273822"/>
                </a:lnTo>
                <a:lnTo>
                  <a:pt x="375347" y="233791"/>
                </a:lnTo>
                <a:lnTo>
                  <a:pt x="380370" y="190183"/>
                </a:lnTo>
                <a:lnTo>
                  <a:pt x="375347" y="146576"/>
                </a:lnTo>
                <a:lnTo>
                  <a:pt x="361039" y="106545"/>
                </a:lnTo>
                <a:lnTo>
                  <a:pt x="338588" y="71233"/>
                </a:lnTo>
                <a:lnTo>
                  <a:pt x="309135" y="41781"/>
                </a:lnTo>
                <a:lnTo>
                  <a:pt x="273823" y="19330"/>
                </a:lnTo>
                <a:lnTo>
                  <a:pt x="233792" y="5022"/>
                </a:lnTo>
                <a:lnTo>
                  <a:pt x="19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572392" y="2133600"/>
            <a:ext cx="2443348" cy="21471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33329" y="2532118"/>
            <a:ext cx="3864538" cy="16470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9892" y="2611059"/>
            <a:ext cx="644525" cy="1071880"/>
          </a:xfrm>
          <a:custGeom>
            <a:avLst/>
            <a:gdLst/>
            <a:ahLst/>
            <a:cxnLst/>
            <a:rect l="l" t="t" r="r" b="b"/>
            <a:pathLst>
              <a:path w="644525" h="1071879">
                <a:moveTo>
                  <a:pt x="0" y="0"/>
                </a:moveTo>
                <a:lnTo>
                  <a:pt x="0" y="665536"/>
                </a:lnTo>
                <a:lnTo>
                  <a:pt x="643960" y="665536"/>
                </a:lnTo>
                <a:lnTo>
                  <a:pt x="643960" y="107160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25677" y="2553909"/>
            <a:ext cx="733425" cy="1129030"/>
          </a:xfrm>
          <a:custGeom>
            <a:avLst/>
            <a:gdLst/>
            <a:ahLst/>
            <a:cxnLst/>
            <a:rect l="l" t="t" r="r" b="b"/>
            <a:pathLst>
              <a:path w="733425" h="1129029">
                <a:moveTo>
                  <a:pt x="733149" y="0"/>
                </a:moveTo>
                <a:lnTo>
                  <a:pt x="733149" y="722665"/>
                </a:lnTo>
                <a:lnTo>
                  <a:pt x="0" y="722665"/>
                </a:lnTo>
                <a:lnTo>
                  <a:pt x="0" y="112875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64722" y="3659244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7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1"/>
                </a:lnTo>
                <a:lnTo>
                  <a:pt x="0" y="439386"/>
                </a:lnTo>
                <a:lnTo>
                  <a:pt x="2896" y="453735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50"/>
                </a:lnTo>
                <a:lnTo>
                  <a:pt x="439387" y="476250"/>
                </a:lnTo>
                <a:lnTo>
                  <a:pt x="453735" y="473353"/>
                </a:lnTo>
                <a:lnTo>
                  <a:pt x="465452" y="465453"/>
                </a:lnTo>
                <a:lnTo>
                  <a:pt x="473352" y="453735"/>
                </a:lnTo>
                <a:lnTo>
                  <a:pt x="476249" y="439386"/>
                </a:lnTo>
                <a:lnTo>
                  <a:pt x="476249" y="36861"/>
                </a:lnTo>
                <a:lnTo>
                  <a:pt x="473352" y="22513"/>
                </a:lnTo>
                <a:lnTo>
                  <a:pt x="465452" y="10796"/>
                </a:lnTo>
                <a:lnTo>
                  <a:pt x="453735" y="2896"/>
                </a:lnTo>
                <a:lnTo>
                  <a:pt x="43938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63090" y="2272525"/>
            <a:ext cx="372240" cy="3735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045063" y="2270640"/>
            <a:ext cx="375184" cy="3704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2400" y="2269250"/>
            <a:ext cx="371477" cy="3730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78891" y="2271001"/>
            <a:ext cx="372515" cy="3714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83831" y="2270865"/>
            <a:ext cx="373806" cy="3724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690403" y="6192011"/>
            <a:ext cx="57537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Corbel"/>
                <a:cs typeface="Corbel"/>
              </a:rPr>
              <a:t>Personalized </a:t>
            </a:r>
            <a:r>
              <a:rPr dirty="0" sz="2000" spc="-5" b="1">
                <a:latin typeface="Corbel"/>
                <a:cs typeface="Corbel"/>
              </a:rPr>
              <a:t>Page Rank/Random Walk </a:t>
            </a:r>
            <a:r>
              <a:rPr dirty="0" sz="2000" b="1">
                <a:latin typeface="Corbel"/>
                <a:cs typeface="Corbel"/>
              </a:rPr>
              <a:t>with</a:t>
            </a:r>
            <a:r>
              <a:rPr dirty="0" sz="2000" spc="-110" b="1">
                <a:latin typeface="Corbel"/>
                <a:cs typeface="Corbel"/>
              </a:rPr>
              <a:t> </a:t>
            </a:r>
            <a:r>
              <a:rPr dirty="0" sz="2000" spc="-10" b="1">
                <a:latin typeface="Corbel"/>
                <a:cs typeface="Corbel"/>
              </a:rPr>
              <a:t>Restarts</a:t>
            </a:r>
            <a:endParaRPr sz="2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9804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70"/>
              <a:t>P</a:t>
            </a:r>
            <a:r>
              <a:rPr dirty="0" spc="-5"/>
              <a:t>a</a:t>
            </a:r>
            <a:r>
              <a:rPr dirty="0" spc="-40"/>
              <a:t>g</a:t>
            </a:r>
            <a:r>
              <a:rPr dirty="0"/>
              <a:t>e</a:t>
            </a:r>
            <a:r>
              <a:rPr dirty="0" spc="-5"/>
              <a:t>Ran</a:t>
            </a:r>
            <a:r>
              <a:rPr dirty="0"/>
              <a:t>k: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7708900" cy="444754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Ranks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10">
                <a:latin typeface="Calibri"/>
                <a:cs typeface="Calibri"/>
              </a:rPr>
              <a:t>by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“importance”</a:t>
            </a:r>
            <a:endParaRPr sz="2800">
              <a:latin typeface="Calibri"/>
              <a:cs typeface="Calibri"/>
            </a:endParaRPr>
          </a:p>
          <a:p>
            <a:pPr marL="625475" marR="5080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5">
                <a:latin typeface="Calibri"/>
                <a:cs typeface="Calibri"/>
              </a:rPr>
              <a:t>Teleports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5">
                <a:latin typeface="Calibri"/>
                <a:cs typeface="Calibri"/>
              </a:rPr>
              <a:t>uniform </a:t>
            </a:r>
            <a:r>
              <a:rPr dirty="0" sz="2800" spc="-10">
                <a:latin typeface="Calibri"/>
                <a:cs typeface="Calibri"/>
              </a:rPr>
              <a:t>probability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0">
                <a:latin typeface="Calibri"/>
                <a:cs typeface="Calibri"/>
              </a:rPr>
              <a:t>any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280">
                <a:latin typeface="Calibri"/>
                <a:cs typeface="Calibri"/>
              </a:rPr>
              <a:t>in 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network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Personalized</a:t>
            </a:r>
            <a:r>
              <a:rPr dirty="0" sz="3200" spc="-8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PageRank: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ts val="3329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Ranks </a:t>
            </a:r>
            <a:r>
              <a:rPr dirty="0" sz="2800" spc="-15">
                <a:latin typeface="Calibri"/>
                <a:cs typeface="Calibri"/>
              </a:rPr>
              <a:t>proximity </a:t>
            </a:r>
            <a:r>
              <a:rPr dirty="0" sz="2800" spc="-5">
                <a:latin typeface="Calibri"/>
                <a:cs typeface="Calibri"/>
              </a:rPr>
              <a:t>of nodes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teleport </a:t>
            </a:r>
            <a:r>
              <a:rPr dirty="0" sz="2800" spc="-5">
                <a:latin typeface="Calibri"/>
                <a:cs typeface="Calibri"/>
              </a:rPr>
              <a:t>nodes  </a:t>
            </a:r>
            <a:r>
              <a:rPr dirty="0" sz="2800" spc="-215">
                <a:latin typeface="Cambria Math"/>
                <a:cs typeface="Cambria Math"/>
              </a:rPr>
              <a:t>𝑺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Proximity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on</a:t>
            </a:r>
            <a:r>
              <a:rPr dirty="0" sz="3200" spc="-3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graphs: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solidFill>
                  <a:srgbClr val="D60093"/>
                </a:solidFill>
                <a:latin typeface="Calibri"/>
                <a:cs typeface="Calibri"/>
              </a:rPr>
              <a:t>Q: </a:t>
            </a:r>
            <a:r>
              <a:rPr dirty="0" sz="2800" spc="-10">
                <a:latin typeface="Calibri"/>
                <a:cs typeface="Calibri"/>
              </a:rPr>
              <a:t>What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most </a:t>
            </a:r>
            <a:r>
              <a:rPr dirty="0" sz="2800" spc="-20">
                <a:latin typeface="Calibri"/>
                <a:cs typeface="Calibri"/>
              </a:rPr>
              <a:t>related </a:t>
            </a:r>
            <a:r>
              <a:rPr dirty="0" sz="2800" spc="-15">
                <a:latin typeface="Calibri"/>
                <a:cs typeface="Calibri"/>
              </a:rPr>
              <a:t>item to </a:t>
            </a:r>
            <a:r>
              <a:rPr dirty="0" sz="2800" spc="-10" b="1">
                <a:latin typeface="Calibri"/>
                <a:cs typeface="Calibri"/>
              </a:rPr>
              <a:t>Item</a:t>
            </a:r>
            <a:r>
              <a:rPr dirty="0" sz="2800" spc="3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Q</a:t>
            </a:r>
            <a:r>
              <a:rPr dirty="0" sz="2800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Random </a:t>
            </a:r>
            <a:r>
              <a:rPr dirty="0" sz="2800" spc="-30" b="1">
                <a:solidFill>
                  <a:srgbClr val="0000FF"/>
                </a:solidFill>
                <a:latin typeface="Calibri"/>
                <a:cs typeface="Calibri"/>
              </a:rPr>
              <a:t>Walks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dirty="0" sz="2800" spc="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Restarts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  <a:tab pos="5311140" algn="l"/>
                <a:tab pos="5946775" algn="l"/>
              </a:tabLst>
            </a:pPr>
            <a:r>
              <a:rPr dirty="0" sz="2400" spc="-30">
                <a:latin typeface="Calibri"/>
                <a:cs typeface="Calibri"/>
              </a:rPr>
              <a:t>Teleport </a:t>
            </a:r>
            <a:r>
              <a:rPr dirty="0" sz="2400" spc="-5">
                <a:latin typeface="Calibri"/>
                <a:cs typeface="Calibri"/>
              </a:rPr>
              <a:t>back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the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starting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node:	</a:t>
            </a:r>
            <a:r>
              <a:rPr dirty="0" sz="2400">
                <a:latin typeface="Cambria Math"/>
                <a:cs typeface="Cambria Math"/>
              </a:rPr>
              <a:t>𝑺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	</a:t>
            </a:r>
            <a:r>
              <a:rPr dirty="0" sz="2400" spc="-5">
                <a:latin typeface="Cambria Math"/>
                <a:cs typeface="Cambria Math"/>
              </a:rPr>
              <a:t>{𝑸}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97433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10325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/>
              <a:t>Idea</a:t>
            </a:r>
            <a:endParaRPr sz="3000"/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3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20"/>
              <a:t>Every </a:t>
            </a:r>
            <a:r>
              <a:rPr dirty="0" spc="-5"/>
              <a:t>node has some</a:t>
            </a:r>
            <a:r>
              <a:rPr dirty="0" spc="-40"/>
              <a:t> </a:t>
            </a:r>
            <a:r>
              <a:rPr dirty="0" spc="-5"/>
              <a:t>importance</a:t>
            </a:r>
          </a:p>
          <a:p>
            <a:pPr marL="625475" marR="699135" indent="-274320">
              <a:lnSpc>
                <a:spcPts val="278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10"/>
              <a:t>Importance </a:t>
            </a:r>
            <a:r>
              <a:rPr dirty="0" spc="-15"/>
              <a:t>gets </a:t>
            </a:r>
            <a:r>
              <a:rPr dirty="0" spc="-10"/>
              <a:t>evenly </a:t>
            </a:r>
            <a:r>
              <a:rPr dirty="0" spc="-5"/>
              <a:t>split among </a:t>
            </a:r>
            <a:r>
              <a:rPr dirty="0"/>
              <a:t>all </a:t>
            </a:r>
            <a:r>
              <a:rPr dirty="0" spc="-10"/>
              <a:t>edges </a:t>
            </a:r>
            <a:r>
              <a:rPr dirty="0" spc="-185"/>
              <a:t>and  </a:t>
            </a:r>
            <a:r>
              <a:rPr dirty="0" spc="-5"/>
              <a:t>pushed </a:t>
            </a:r>
            <a:r>
              <a:rPr dirty="0" spc="-15"/>
              <a:t>to </a:t>
            </a:r>
            <a:r>
              <a:rPr dirty="0" spc="-5"/>
              <a:t>the</a:t>
            </a:r>
            <a:r>
              <a:rPr dirty="0" spc="-50"/>
              <a:t> </a:t>
            </a:r>
            <a:r>
              <a:rPr dirty="0" spc="-10"/>
              <a:t>neighbors:</a:t>
            </a:r>
          </a:p>
          <a:p>
            <a:pPr marL="332740" marR="563880" indent="-320040">
              <a:lnSpc>
                <a:spcPts val="3190"/>
              </a:lnSpc>
              <a:spcBef>
                <a:spcPts val="10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Given </a:t>
            </a:r>
            <a:r>
              <a:rPr dirty="0" sz="3000" b="1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set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of </a:t>
            </a: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QUERY_NODES, we simulate </a:t>
            </a:r>
            <a:r>
              <a:rPr dirty="0" sz="3000" b="1">
                <a:solidFill>
                  <a:srgbClr val="D60093"/>
                </a:solidFill>
                <a:latin typeface="Calibri"/>
                <a:cs typeface="Calibri"/>
              </a:rPr>
              <a:t>a  </a:t>
            </a: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random</a:t>
            </a:r>
            <a:r>
              <a:rPr dirty="0" sz="3000" spc="-9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D60093"/>
                </a:solidFill>
                <a:latin typeface="Calibri"/>
                <a:cs typeface="Calibri"/>
              </a:rPr>
              <a:t>walk:</a:t>
            </a:r>
            <a:endParaRPr sz="3000">
              <a:latin typeface="Calibri"/>
              <a:cs typeface="Calibri"/>
            </a:endParaRPr>
          </a:p>
          <a:p>
            <a:pPr lvl="1" marL="625475" marR="5080" indent="-274320">
              <a:lnSpc>
                <a:spcPts val="278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20">
                <a:latin typeface="Calibri"/>
                <a:cs typeface="Calibri"/>
              </a:rPr>
              <a:t>Make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20">
                <a:latin typeface="Calibri"/>
                <a:cs typeface="Calibri"/>
              </a:rPr>
              <a:t>step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10">
                <a:latin typeface="Calibri"/>
                <a:cs typeface="Calibri"/>
              </a:rPr>
              <a:t>random </a:t>
            </a:r>
            <a:r>
              <a:rPr dirty="0" sz="2600" spc="-5">
                <a:latin typeface="Calibri"/>
                <a:cs typeface="Calibri"/>
              </a:rPr>
              <a:t>neighbor and </a:t>
            </a:r>
            <a:r>
              <a:rPr dirty="0" sz="2600" spc="-20">
                <a:latin typeface="Calibri"/>
                <a:cs typeface="Calibri"/>
              </a:rPr>
              <a:t>record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90">
                <a:latin typeface="Calibri"/>
                <a:cs typeface="Calibri"/>
              </a:rPr>
              <a:t>visit  </a:t>
            </a:r>
            <a:r>
              <a:rPr dirty="0" sz="2600" spc="-5">
                <a:latin typeface="Calibri"/>
                <a:cs typeface="Calibri"/>
              </a:rPr>
              <a:t>(visit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count)</a:t>
            </a:r>
            <a:endParaRPr sz="2600">
              <a:latin typeface="Calibri"/>
              <a:cs typeface="Calibri"/>
            </a:endParaRPr>
          </a:p>
          <a:p>
            <a:pPr lvl="1" marL="625475" marR="67945" indent="-274320">
              <a:lnSpc>
                <a:spcPts val="2810"/>
              </a:lnSpc>
              <a:spcBef>
                <a:spcPts val="7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With probability ALPHA, </a:t>
            </a:r>
            <a:r>
              <a:rPr dirty="0" sz="2600" spc="-15">
                <a:latin typeface="Calibri"/>
                <a:cs typeface="Calibri"/>
              </a:rPr>
              <a:t>restart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walk at </a:t>
            </a:r>
            <a:r>
              <a:rPr dirty="0" sz="2600" spc="-5">
                <a:latin typeface="Calibri"/>
                <a:cs typeface="Calibri"/>
              </a:rPr>
              <a:t>one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175">
                <a:latin typeface="Calibri"/>
                <a:cs typeface="Calibri"/>
              </a:rPr>
              <a:t>the  </a:t>
            </a:r>
            <a:r>
              <a:rPr dirty="0" sz="2600" spc="-10">
                <a:latin typeface="Calibri"/>
                <a:cs typeface="Calibri"/>
              </a:rPr>
              <a:t>QUERY_NODES</a:t>
            </a:r>
            <a:endParaRPr sz="2600">
              <a:latin typeface="Calibri"/>
              <a:cs typeface="Calibri"/>
            </a:endParaRPr>
          </a:p>
          <a:p>
            <a:pPr lvl="1" marL="625475" marR="438150" indent="-274320">
              <a:lnSpc>
                <a:spcPts val="278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nodes </a:t>
            </a:r>
            <a:r>
              <a:rPr dirty="0" sz="2600">
                <a:latin typeface="Calibri"/>
                <a:cs typeface="Calibri"/>
              </a:rPr>
              <a:t>with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highest </a:t>
            </a:r>
            <a:r>
              <a:rPr dirty="0" sz="2600" spc="-5">
                <a:latin typeface="Calibri"/>
                <a:cs typeface="Calibri"/>
              </a:rPr>
              <a:t>visit </a:t>
            </a:r>
            <a:r>
              <a:rPr dirty="0" sz="2600" spc="-15">
                <a:latin typeface="Calibri"/>
                <a:cs typeface="Calibri"/>
              </a:rPr>
              <a:t>count </a:t>
            </a:r>
            <a:r>
              <a:rPr dirty="0" sz="2600" spc="-20">
                <a:latin typeface="Calibri"/>
                <a:cs typeface="Calibri"/>
              </a:rPr>
              <a:t>have </a:t>
            </a:r>
            <a:r>
              <a:rPr dirty="0" sz="2600" spc="-90">
                <a:latin typeface="Calibri"/>
                <a:cs typeface="Calibri"/>
              </a:rPr>
              <a:t>highest  </a:t>
            </a:r>
            <a:r>
              <a:rPr dirty="0" sz="2600" spc="-15">
                <a:latin typeface="Calibri"/>
                <a:cs typeface="Calibri"/>
              </a:rPr>
              <a:t>proximity to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QUERY_NODES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62407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11880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Id</a:t>
            </a:r>
            <a:r>
              <a:rPr dirty="0"/>
              <a:t>e</a:t>
            </a:r>
            <a:r>
              <a:rPr dirty="0" spc="-5"/>
              <a:t>a:</a:t>
            </a:r>
          </a:p>
        </p:txBody>
      </p:sp>
      <p:sp>
        <p:nvSpPr>
          <p:cNvPr id="4" name="object 4"/>
          <p:cNvSpPr/>
          <p:nvPr/>
        </p:nvSpPr>
        <p:spPr>
          <a:xfrm>
            <a:off x="3699843" y="4685968"/>
            <a:ext cx="4316302" cy="18397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65284" y="4774033"/>
            <a:ext cx="720090" cy="1196975"/>
          </a:xfrm>
          <a:custGeom>
            <a:avLst/>
            <a:gdLst/>
            <a:ahLst/>
            <a:cxnLst/>
            <a:rect l="l" t="t" r="r" b="b"/>
            <a:pathLst>
              <a:path w="720089" h="1196975">
                <a:moveTo>
                  <a:pt x="0" y="0"/>
                </a:moveTo>
                <a:lnTo>
                  <a:pt x="0" y="743012"/>
                </a:lnTo>
                <a:lnTo>
                  <a:pt x="719639" y="743012"/>
                </a:lnTo>
                <a:lnTo>
                  <a:pt x="719639" y="1196395"/>
                </a:lnTo>
              </a:path>
            </a:pathLst>
          </a:custGeom>
          <a:ln w="26604">
            <a:solidFill>
              <a:srgbClr val="F3B30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66342" y="4710227"/>
            <a:ext cx="819785" cy="1260475"/>
          </a:xfrm>
          <a:custGeom>
            <a:avLst/>
            <a:gdLst/>
            <a:ahLst/>
            <a:cxnLst/>
            <a:rect l="l" t="t" r="r" b="b"/>
            <a:pathLst>
              <a:path w="819785" h="1260475">
                <a:moveTo>
                  <a:pt x="819309" y="0"/>
                </a:moveTo>
                <a:lnTo>
                  <a:pt x="819309" y="806818"/>
                </a:lnTo>
                <a:lnTo>
                  <a:pt x="0" y="806818"/>
                </a:lnTo>
                <a:lnTo>
                  <a:pt x="0" y="1260200"/>
                </a:lnTo>
              </a:path>
            </a:pathLst>
          </a:custGeom>
          <a:ln w="26603">
            <a:solidFill>
              <a:srgbClr val="F3B30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17401" y="4775961"/>
            <a:ext cx="1431925" cy="1193165"/>
          </a:xfrm>
          <a:custGeom>
            <a:avLst/>
            <a:gdLst/>
            <a:ahLst/>
            <a:cxnLst/>
            <a:rect l="l" t="t" r="r" b="b"/>
            <a:pathLst>
              <a:path w="1431925" h="1193164">
                <a:moveTo>
                  <a:pt x="0" y="0"/>
                </a:moveTo>
                <a:lnTo>
                  <a:pt x="0" y="862516"/>
                </a:lnTo>
                <a:lnTo>
                  <a:pt x="781857" y="862516"/>
                </a:lnTo>
                <a:lnTo>
                  <a:pt x="1431525" y="862516"/>
                </a:lnTo>
                <a:lnTo>
                  <a:pt x="1431525" y="1192538"/>
                </a:lnTo>
              </a:path>
            </a:pathLst>
          </a:custGeom>
          <a:ln w="26595">
            <a:solidFill>
              <a:srgbClr val="339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18036" y="4774033"/>
            <a:ext cx="746760" cy="1196975"/>
          </a:xfrm>
          <a:custGeom>
            <a:avLst/>
            <a:gdLst/>
            <a:ahLst/>
            <a:cxnLst/>
            <a:rect l="l" t="t" r="r" b="b"/>
            <a:pathLst>
              <a:path w="746760" h="1196975">
                <a:moveTo>
                  <a:pt x="746308" y="0"/>
                </a:moveTo>
                <a:lnTo>
                  <a:pt x="746308" y="865306"/>
                </a:lnTo>
                <a:lnTo>
                  <a:pt x="338696" y="865306"/>
                </a:lnTo>
                <a:lnTo>
                  <a:pt x="0" y="865306"/>
                </a:lnTo>
                <a:lnTo>
                  <a:pt x="0" y="1196395"/>
                </a:lnTo>
              </a:path>
            </a:pathLst>
          </a:custGeom>
          <a:ln w="26603">
            <a:solidFill>
              <a:srgbClr val="339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80109" y="4774033"/>
            <a:ext cx="1885314" cy="1196975"/>
          </a:xfrm>
          <a:custGeom>
            <a:avLst/>
            <a:gdLst/>
            <a:ahLst/>
            <a:cxnLst/>
            <a:rect l="l" t="t" r="r" b="b"/>
            <a:pathLst>
              <a:path w="1885314" h="1196975">
                <a:moveTo>
                  <a:pt x="0" y="0"/>
                </a:moveTo>
                <a:lnTo>
                  <a:pt x="0" y="992916"/>
                </a:lnTo>
                <a:lnTo>
                  <a:pt x="1884720" y="992916"/>
                </a:lnTo>
                <a:lnTo>
                  <a:pt x="1884720" y="1196395"/>
                </a:lnTo>
              </a:path>
            </a:pathLst>
          </a:custGeom>
          <a:ln w="26592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23851" y="4774033"/>
            <a:ext cx="0" cy="993140"/>
          </a:xfrm>
          <a:custGeom>
            <a:avLst/>
            <a:gdLst/>
            <a:ahLst/>
            <a:cxnLst/>
            <a:rect l="l" t="t" r="r" b="b"/>
            <a:pathLst>
              <a:path w="0" h="993139">
                <a:moveTo>
                  <a:pt x="0" y="0"/>
                </a:moveTo>
                <a:lnTo>
                  <a:pt x="0" y="992916"/>
                </a:lnTo>
              </a:path>
            </a:pathLst>
          </a:custGeom>
          <a:ln w="266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79235" y="5944280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30" h="532129">
                <a:moveTo>
                  <a:pt x="469200" y="0"/>
                </a:moveTo>
                <a:lnTo>
                  <a:pt x="63202" y="0"/>
                </a:lnTo>
                <a:lnTo>
                  <a:pt x="51019" y="48"/>
                </a:lnTo>
                <a:lnTo>
                  <a:pt x="11960" y="11997"/>
                </a:lnTo>
                <a:lnTo>
                  <a:pt x="0" y="50901"/>
                </a:lnTo>
                <a:lnTo>
                  <a:pt x="4" y="480809"/>
                </a:lnTo>
                <a:lnTo>
                  <a:pt x="11960" y="519713"/>
                </a:lnTo>
                <a:lnTo>
                  <a:pt x="50901" y="531662"/>
                </a:lnTo>
                <a:lnTo>
                  <a:pt x="62923" y="531710"/>
                </a:lnTo>
                <a:lnTo>
                  <a:pt x="468919" y="531710"/>
                </a:lnTo>
                <a:lnTo>
                  <a:pt x="513690" y="524910"/>
                </a:lnTo>
                <a:lnTo>
                  <a:pt x="531786" y="490341"/>
                </a:lnTo>
                <a:lnTo>
                  <a:pt x="532122" y="480809"/>
                </a:lnTo>
                <a:lnTo>
                  <a:pt x="532118" y="50901"/>
                </a:lnTo>
                <a:lnTo>
                  <a:pt x="520163" y="11997"/>
                </a:lnTo>
                <a:lnTo>
                  <a:pt x="481221" y="48"/>
                </a:lnTo>
                <a:lnTo>
                  <a:pt x="469200" y="0"/>
                </a:lnTo>
                <a:close/>
              </a:path>
            </a:pathLst>
          </a:custGeom>
          <a:solidFill>
            <a:srgbClr val="3754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63016" y="5944280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200" y="0"/>
                </a:moveTo>
                <a:lnTo>
                  <a:pt x="63202" y="0"/>
                </a:lnTo>
                <a:lnTo>
                  <a:pt x="51019" y="48"/>
                </a:lnTo>
                <a:lnTo>
                  <a:pt x="11960" y="11997"/>
                </a:lnTo>
                <a:lnTo>
                  <a:pt x="0" y="50901"/>
                </a:lnTo>
                <a:lnTo>
                  <a:pt x="4" y="480809"/>
                </a:lnTo>
                <a:lnTo>
                  <a:pt x="11960" y="519713"/>
                </a:lnTo>
                <a:lnTo>
                  <a:pt x="50902" y="531662"/>
                </a:lnTo>
                <a:lnTo>
                  <a:pt x="62923" y="531710"/>
                </a:lnTo>
                <a:lnTo>
                  <a:pt x="468919" y="531710"/>
                </a:lnTo>
                <a:lnTo>
                  <a:pt x="513690" y="524910"/>
                </a:lnTo>
                <a:lnTo>
                  <a:pt x="531787" y="490341"/>
                </a:lnTo>
                <a:lnTo>
                  <a:pt x="532123" y="480809"/>
                </a:lnTo>
                <a:lnTo>
                  <a:pt x="532119" y="50901"/>
                </a:lnTo>
                <a:lnTo>
                  <a:pt x="520163" y="11997"/>
                </a:lnTo>
                <a:lnTo>
                  <a:pt x="481222" y="48"/>
                </a:lnTo>
                <a:lnTo>
                  <a:pt x="469200" y="0"/>
                </a:lnTo>
                <a:close/>
              </a:path>
            </a:pathLst>
          </a:custGeom>
          <a:solidFill>
            <a:srgbClr val="F3B30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30579" y="5944280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198" y="0"/>
                </a:moveTo>
                <a:lnTo>
                  <a:pt x="63206" y="0"/>
                </a:lnTo>
                <a:lnTo>
                  <a:pt x="51021" y="48"/>
                </a:lnTo>
                <a:lnTo>
                  <a:pt x="11962" y="11997"/>
                </a:lnTo>
                <a:lnTo>
                  <a:pt x="0" y="50901"/>
                </a:lnTo>
                <a:lnTo>
                  <a:pt x="4" y="480809"/>
                </a:lnTo>
                <a:lnTo>
                  <a:pt x="11962" y="519713"/>
                </a:lnTo>
                <a:lnTo>
                  <a:pt x="50902" y="531662"/>
                </a:lnTo>
                <a:lnTo>
                  <a:pt x="62924" y="531710"/>
                </a:lnTo>
                <a:lnTo>
                  <a:pt x="468922" y="531710"/>
                </a:lnTo>
                <a:lnTo>
                  <a:pt x="513692" y="524910"/>
                </a:lnTo>
                <a:lnTo>
                  <a:pt x="531787" y="490341"/>
                </a:lnTo>
                <a:lnTo>
                  <a:pt x="532123" y="480809"/>
                </a:lnTo>
                <a:lnTo>
                  <a:pt x="532119" y="50901"/>
                </a:lnTo>
                <a:lnTo>
                  <a:pt x="520165" y="11997"/>
                </a:lnTo>
                <a:lnTo>
                  <a:pt x="481223" y="48"/>
                </a:lnTo>
                <a:lnTo>
                  <a:pt x="469198" y="0"/>
                </a:lnTo>
                <a:close/>
              </a:path>
            </a:pathLst>
          </a:custGeom>
          <a:solidFill>
            <a:srgbClr val="339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18218" y="5944280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198" y="0"/>
                </a:moveTo>
                <a:lnTo>
                  <a:pt x="63205" y="0"/>
                </a:lnTo>
                <a:lnTo>
                  <a:pt x="51020" y="48"/>
                </a:lnTo>
                <a:lnTo>
                  <a:pt x="11961" y="11997"/>
                </a:lnTo>
                <a:lnTo>
                  <a:pt x="0" y="50901"/>
                </a:lnTo>
                <a:lnTo>
                  <a:pt x="4" y="480809"/>
                </a:lnTo>
                <a:lnTo>
                  <a:pt x="11961" y="519713"/>
                </a:lnTo>
                <a:lnTo>
                  <a:pt x="50901" y="531662"/>
                </a:lnTo>
                <a:lnTo>
                  <a:pt x="62923" y="531710"/>
                </a:lnTo>
                <a:lnTo>
                  <a:pt x="468922" y="531710"/>
                </a:lnTo>
                <a:lnTo>
                  <a:pt x="513688" y="524910"/>
                </a:lnTo>
                <a:lnTo>
                  <a:pt x="531786" y="490341"/>
                </a:lnTo>
                <a:lnTo>
                  <a:pt x="532122" y="480809"/>
                </a:lnTo>
                <a:lnTo>
                  <a:pt x="532118" y="50901"/>
                </a:lnTo>
                <a:lnTo>
                  <a:pt x="520162" y="11997"/>
                </a:lnTo>
                <a:lnTo>
                  <a:pt x="481220" y="48"/>
                </a:lnTo>
                <a:lnTo>
                  <a:pt x="469198" y="0"/>
                </a:lnTo>
                <a:close/>
              </a:path>
            </a:pathLst>
          </a:custGeom>
          <a:solidFill>
            <a:srgbClr val="5392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371166" y="4774033"/>
            <a:ext cx="1885314" cy="1196975"/>
          </a:xfrm>
          <a:custGeom>
            <a:avLst/>
            <a:gdLst/>
            <a:ahLst/>
            <a:cxnLst/>
            <a:rect l="l" t="t" r="r" b="b"/>
            <a:pathLst>
              <a:path w="1885314" h="1196975">
                <a:moveTo>
                  <a:pt x="1884966" y="0"/>
                </a:moveTo>
                <a:lnTo>
                  <a:pt x="1884966" y="992916"/>
                </a:lnTo>
                <a:lnTo>
                  <a:pt x="0" y="992916"/>
                </a:lnTo>
                <a:lnTo>
                  <a:pt x="0" y="1196395"/>
                </a:lnTo>
              </a:path>
            </a:pathLst>
          </a:custGeom>
          <a:ln w="26592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9732" y="4774033"/>
            <a:ext cx="1617980" cy="1196975"/>
          </a:xfrm>
          <a:custGeom>
            <a:avLst/>
            <a:gdLst/>
            <a:ahLst/>
            <a:cxnLst/>
            <a:rect l="l" t="t" r="r" b="b"/>
            <a:pathLst>
              <a:path w="1617980" h="1196975">
                <a:moveTo>
                  <a:pt x="0" y="0"/>
                </a:moveTo>
                <a:lnTo>
                  <a:pt x="0" y="902525"/>
                </a:lnTo>
                <a:lnTo>
                  <a:pt x="1617374" y="902525"/>
                </a:lnTo>
                <a:lnTo>
                  <a:pt x="1617374" y="1196395"/>
                </a:lnTo>
              </a:path>
            </a:pathLst>
          </a:custGeom>
          <a:ln w="26594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91761" y="4774033"/>
            <a:ext cx="1182370" cy="1196975"/>
          </a:xfrm>
          <a:custGeom>
            <a:avLst/>
            <a:gdLst/>
            <a:ahLst/>
            <a:cxnLst/>
            <a:rect l="l" t="t" r="r" b="b"/>
            <a:pathLst>
              <a:path w="1182370" h="1196975">
                <a:moveTo>
                  <a:pt x="0" y="0"/>
                </a:moveTo>
                <a:lnTo>
                  <a:pt x="0" y="849354"/>
                </a:lnTo>
                <a:lnTo>
                  <a:pt x="1182204" y="849354"/>
                </a:lnTo>
                <a:lnTo>
                  <a:pt x="1182204" y="1196395"/>
                </a:lnTo>
              </a:path>
            </a:pathLst>
          </a:custGeom>
          <a:ln w="26598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12763" y="4774033"/>
            <a:ext cx="733425" cy="1196975"/>
          </a:xfrm>
          <a:custGeom>
            <a:avLst/>
            <a:gdLst/>
            <a:ahLst/>
            <a:cxnLst/>
            <a:rect l="l" t="t" r="r" b="b"/>
            <a:pathLst>
              <a:path w="733425" h="1196975">
                <a:moveTo>
                  <a:pt x="0" y="0"/>
                </a:moveTo>
                <a:lnTo>
                  <a:pt x="0" y="801500"/>
                </a:lnTo>
                <a:lnTo>
                  <a:pt x="732939" y="801500"/>
                </a:lnTo>
                <a:lnTo>
                  <a:pt x="732939" y="1196395"/>
                </a:lnTo>
              </a:path>
            </a:pathLst>
          </a:custGeom>
          <a:ln w="26604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15811" y="4774033"/>
            <a:ext cx="292735" cy="1196975"/>
          </a:xfrm>
          <a:custGeom>
            <a:avLst/>
            <a:gdLst/>
            <a:ahLst/>
            <a:cxnLst/>
            <a:rect l="l" t="t" r="r" b="b"/>
            <a:pathLst>
              <a:path w="292735" h="1196975">
                <a:moveTo>
                  <a:pt x="0" y="0"/>
                </a:moveTo>
                <a:lnTo>
                  <a:pt x="0" y="743012"/>
                </a:lnTo>
                <a:lnTo>
                  <a:pt x="292655" y="743012"/>
                </a:lnTo>
                <a:lnTo>
                  <a:pt x="292655" y="1196395"/>
                </a:lnTo>
              </a:path>
            </a:pathLst>
          </a:custGeom>
          <a:ln w="26609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11402" y="4774033"/>
            <a:ext cx="939165" cy="1196975"/>
          </a:xfrm>
          <a:custGeom>
            <a:avLst/>
            <a:gdLst/>
            <a:ahLst/>
            <a:cxnLst/>
            <a:rect l="l" t="t" r="r" b="b"/>
            <a:pathLst>
              <a:path w="939164" h="1196975">
                <a:moveTo>
                  <a:pt x="939043" y="0"/>
                </a:moveTo>
                <a:lnTo>
                  <a:pt x="939043" y="849354"/>
                </a:lnTo>
                <a:lnTo>
                  <a:pt x="0" y="849354"/>
                </a:lnTo>
                <a:lnTo>
                  <a:pt x="0" y="1196395"/>
                </a:lnTo>
              </a:path>
            </a:pathLst>
          </a:custGeom>
          <a:ln w="26601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41388" y="4774033"/>
            <a:ext cx="586105" cy="1196975"/>
          </a:xfrm>
          <a:custGeom>
            <a:avLst/>
            <a:gdLst/>
            <a:ahLst/>
            <a:cxnLst/>
            <a:rect l="l" t="t" r="r" b="b"/>
            <a:pathLst>
              <a:path w="586105" h="1196975">
                <a:moveTo>
                  <a:pt x="585826" y="0"/>
                </a:moveTo>
                <a:lnTo>
                  <a:pt x="585826" y="801500"/>
                </a:lnTo>
                <a:lnTo>
                  <a:pt x="0" y="801500"/>
                </a:lnTo>
                <a:lnTo>
                  <a:pt x="0" y="1196395"/>
                </a:lnTo>
              </a:path>
            </a:pathLst>
          </a:custGeom>
          <a:ln w="26606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78198" y="4774033"/>
            <a:ext cx="79375" cy="1196975"/>
          </a:xfrm>
          <a:custGeom>
            <a:avLst/>
            <a:gdLst/>
            <a:ahLst/>
            <a:cxnLst/>
            <a:rect l="l" t="t" r="r" b="b"/>
            <a:pathLst>
              <a:path w="79375" h="1196975">
                <a:moveTo>
                  <a:pt x="79258" y="0"/>
                </a:moveTo>
                <a:lnTo>
                  <a:pt x="79258" y="743012"/>
                </a:lnTo>
                <a:lnTo>
                  <a:pt x="0" y="743012"/>
                </a:lnTo>
                <a:lnTo>
                  <a:pt x="0" y="1196395"/>
                </a:lnTo>
              </a:path>
            </a:pathLst>
          </a:custGeom>
          <a:ln w="26610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766323" y="4774033"/>
            <a:ext cx="92075" cy="1196975"/>
          </a:xfrm>
          <a:custGeom>
            <a:avLst/>
            <a:gdLst/>
            <a:ahLst/>
            <a:cxnLst/>
            <a:rect l="l" t="t" r="r" b="b"/>
            <a:pathLst>
              <a:path w="92075" h="1196975">
                <a:moveTo>
                  <a:pt x="91490" y="0"/>
                </a:moveTo>
                <a:lnTo>
                  <a:pt x="91490" y="743012"/>
                </a:lnTo>
                <a:lnTo>
                  <a:pt x="0" y="743012"/>
                </a:lnTo>
                <a:lnTo>
                  <a:pt x="0" y="1196395"/>
                </a:lnTo>
              </a:path>
            </a:pathLst>
          </a:custGeom>
          <a:ln w="26610">
            <a:solidFill>
              <a:srgbClr val="E5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46797" y="5944280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200" y="0"/>
                </a:moveTo>
                <a:lnTo>
                  <a:pt x="63204" y="0"/>
                </a:lnTo>
                <a:lnTo>
                  <a:pt x="51020" y="48"/>
                </a:lnTo>
                <a:lnTo>
                  <a:pt x="11960" y="11997"/>
                </a:lnTo>
                <a:lnTo>
                  <a:pt x="0" y="50901"/>
                </a:lnTo>
                <a:lnTo>
                  <a:pt x="4" y="480809"/>
                </a:lnTo>
                <a:lnTo>
                  <a:pt x="11960" y="519713"/>
                </a:lnTo>
                <a:lnTo>
                  <a:pt x="50902" y="531662"/>
                </a:lnTo>
                <a:lnTo>
                  <a:pt x="62923" y="531710"/>
                </a:lnTo>
                <a:lnTo>
                  <a:pt x="468920" y="531710"/>
                </a:lnTo>
                <a:lnTo>
                  <a:pt x="513690" y="524910"/>
                </a:lnTo>
                <a:lnTo>
                  <a:pt x="531787" y="490341"/>
                </a:lnTo>
                <a:lnTo>
                  <a:pt x="532123" y="480809"/>
                </a:lnTo>
                <a:lnTo>
                  <a:pt x="532119" y="50901"/>
                </a:lnTo>
                <a:lnTo>
                  <a:pt x="520163" y="11997"/>
                </a:lnTo>
                <a:lnTo>
                  <a:pt x="481222" y="48"/>
                </a:lnTo>
                <a:lnTo>
                  <a:pt x="469200" y="0"/>
                </a:lnTo>
                <a:close/>
              </a:path>
            </a:pathLst>
          </a:custGeom>
          <a:solidFill>
            <a:srgbClr val="B9CF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389637" y="5944280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198" y="0"/>
                </a:moveTo>
                <a:lnTo>
                  <a:pt x="63205" y="0"/>
                </a:lnTo>
                <a:lnTo>
                  <a:pt x="51021" y="48"/>
                </a:lnTo>
                <a:lnTo>
                  <a:pt x="11961" y="11997"/>
                </a:lnTo>
                <a:lnTo>
                  <a:pt x="0" y="50901"/>
                </a:lnTo>
                <a:lnTo>
                  <a:pt x="4" y="480809"/>
                </a:lnTo>
                <a:lnTo>
                  <a:pt x="11961" y="519713"/>
                </a:lnTo>
                <a:lnTo>
                  <a:pt x="50902" y="531662"/>
                </a:lnTo>
                <a:lnTo>
                  <a:pt x="62923" y="531710"/>
                </a:lnTo>
                <a:lnTo>
                  <a:pt x="468922" y="531710"/>
                </a:lnTo>
                <a:lnTo>
                  <a:pt x="513691" y="524910"/>
                </a:lnTo>
                <a:lnTo>
                  <a:pt x="531786" y="490341"/>
                </a:lnTo>
                <a:lnTo>
                  <a:pt x="532122" y="480809"/>
                </a:lnTo>
                <a:lnTo>
                  <a:pt x="532118" y="50901"/>
                </a:lnTo>
                <a:lnTo>
                  <a:pt x="520164" y="11997"/>
                </a:lnTo>
                <a:lnTo>
                  <a:pt x="481222" y="48"/>
                </a:lnTo>
                <a:lnTo>
                  <a:pt x="469198" y="0"/>
                </a:lnTo>
                <a:close/>
              </a:path>
            </a:pathLst>
          </a:custGeom>
          <a:solidFill>
            <a:srgbClr val="E59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70062" y="4774033"/>
            <a:ext cx="1042669" cy="1196975"/>
          </a:xfrm>
          <a:custGeom>
            <a:avLst/>
            <a:gdLst/>
            <a:ahLst/>
            <a:cxnLst/>
            <a:rect l="l" t="t" r="r" b="b"/>
            <a:pathLst>
              <a:path w="1042670" h="1196975">
                <a:moveTo>
                  <a:pt x="0" y="0"/>
                </a:moveTo>
                <a:lnTo>
                  <a:pt x="0" y="929111"/>
                </a:lnTo>
                <a:lnTo>
                  <a:pt x="1042308" y="929111"/>
                </a:lnTo>
                <a:lnTo>
                  <a:pt x="1042308" y="1196395"/>
                </a:lnTo>
              </a:path>
            </a:pathLst>
          </a:custGeom>
          <a:ln w="26599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14093" y="4774033"/>
            <a:ext cx="668020" cy="1196975"/>
          </a:xfrm>
          <a:custGeom>
            <a:avLst/>
            <a:gdLst/>
            <a:ahLst/>
            <a:cxnLst/>
            <a:rect l="l" t="t" r="r" b="b"/>
            <a:pathLst>
              <a:path w="668020" h="1196975">
                <a:moveTo>
                  <a:pt x="0" y="0"/>
                </a:moveTo>
                <a:lnTo>
                  <a:pt x="0" y="801500"/>
                </a:lnTo>
                <a:lnTo>
                  <a:pt x="667606" y="801500"/>
                </a:lnTo>
                <a:lnTo>
                  <a:pt x="667606" y="1196395"/>
                </a:lnTo>
              </a:path>
            </a:pathLst>
          </a:custGeom>
          <a:ln w="26604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54261" y="4774033"/>
            <a:ext cx="233045" cy="1196975"/>
          </a:xfrm>
          <a:custGeom>
            <a:avLst/>
            <a:gdLst/>
            <a:ahLst/>
            <a:cxnLst/>
            <a:rect l="l" t="t" r="r" b="b"/>
            <a:pathLst>
              <a:path w="233045" h="1196975">
                <a:moveTo>
                  <a:pt x="232880" y="0"/>
                </a:moveTo>
                <a:lnTo>
                  <a:pt x="232880" y="743012"/>
                </a:lnTo>
                <a:lnTo>
                  <a:pt x="0" y="743012"/>
                </a:lnTo>
                <a:lnTo>
                  <a:pt x="0" y="1196395"/>
                </a:lnTo>
              </a:path>
            </a:pathLst>
          </a:custGeom>
          <a:ln w="26610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630318" y="4774033"/>
            <a:ext cx="657225" cy="1196975"/>
          </a:xfrm>
          <a:custGeom>
            <a:avLst/>
            <a:gdLst/>
            <a:ahLst/>
            <a:cxnLst/>
            <a:rect l="l" t="t" r="r" b="b"/>
            <a:pathLst>
              <a:path w="657225" h="1196975">
                <a:moveTo>
                  <a:pt x="656697" y="0"/>
                </a:moveTo>
                <a:lnTo>
                  <a:pt x="656697" y="801500"/>
                </a:lnTo>
                <a:lnTo>
                  <a:pt x="0" y="801500"/>
                </a:lnTo>
                <a:lnTo>
                  <a:pt x="0" y="1196395"/>
                </a:lnTo>
              </a:path>
            </a:pathLst>
          </a:custGeom>
          <a:ln w="26605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335519" y="4774033"/>
            <a:ext cx="352425" cy="1196975"/>
          </a:xfrm>
          <a:custGeom>
            <a:avLst/>
            <a:gdLst/>
            <a:ahLst/>
            <a:cxnLst/>
            <a:rect l="l" t="t" r="r" b="b"/>
            <a:pathLst>
              <a:path w="352425" h="1196975">
                <a:moveTo>
                  <a:pt x="0" y="0"/>
                </a:moveTo>
                <a:lnTo>
                  <a:pt x="0" y="743012"/>
                </a:lnTo>
                <a:lnTo>
                  <a:pt x="352250" y="743012"/>
                </a:lnTo>
                <a:lnTo>
                  <a:pt x="352250" y="1196395"/>
                </a:lnTo>
              </a:path>
            </a:pathLst>
          </a:custGeom>
          <a:ln w="26608">
            <a:solidFill>
              <a:srgbClr val="E5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93401" y="4774033"/>
            <a:ext cx="1213485" cy="1196975"/>
          </a:xfrm>
          <a:custGeom>
            <a:avLst/>
            <a:gdLst/>
            <a:ahLst/>
            <a:cxnLst/>
            <a:rect l="l" t="t" r="r" b="b"/>
            <a:pathLst>
              <a:path w="1213484" h="1196975">
                <a:moveTo>
                  <a:pt x="0" y="0"/>
                </a:moveTo>
                <a:lnTo>
                  <a:pt x="0" y="801500"/>
                </a:lnTo>
                <a:lnTo>
                  <a:pt x="1212995" y="801500"/>
                </a:lnTo>
                <a:lnTo>
                  <a:pt x="1212995" y="1196395"/>
                </a:lnTo>
              </a:path>
            </a:pathLst>
          </a:custGeom>
          <a:ln w="26598">
            <a:solidFill>
              <a:srgbClr val="E5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89187" y="4774033"/>
            <a:ext cx="1639570" cy="1196975"/>
          </a:xfrm>
          <a:custGeom>
            <a:avLst/>
            <a:gdLst/>
            <a:ahLst/>
            <a:cxnLst/>
            <a:rect l="l" t="t" r="r" b="b"/>
            <a:pathLst>
              <a:path w="1639570" h="1196975">
                <a:moveTo>
                  <a:pt x="0" y="0"/>
                </a:moveTo>
                <a:lnTo>
                  <a:pt x="0" y="945062"/>
                </a:lnTo>
                <a:lnTo>
                  <a:pt x="1639104" y="945062"/>
                </a:lnTo>
                <a:lnTo>
                  <a:pt x="1639104" y="1196395"/>
                </a:lnTo>
              </a:path>
            </a:pathLst>
          </a:custGeom>
          <a:ln w="26594">
            <a:solidFill>
              <a:srgbClr val="E5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365747" y="4774033"/>
            <a:ext cx="754380" cy="1196975"/>
          </a:xfrm>
          <a:custGeom>
            <a:avLst/>
            <a:gdLst/>
            <a:ahLst/>
            <a:cxnLst/>
            <a:rect l="l" t="t" r="r" b="b"/>
            <a:pathLst>
              <a:path w="754379" h="1196975">
                <a:moveTo>
                  <a:pt x="0" y="0"/>
                </a:moveTo>
                <a:lnTo>
                  <a:pt x="0" y="684524"/>
                </a:lnTo>
                <a:lnTo>
                  <a:pt x="377012" y="684524"/>
                </a:lnTo>
                <a:lnTo>
                  <a:pt x="754025" y="684524"/>
                </a:lnTo>
                <a:lnTo>
                  <a:pt x="754025" y="1196395"/>
                </a:lnTo>
              </a:path>
            </a:pathLst>
          </a:custGeom>
          <a:ln w="26603">
            <a:solidFill>
              <a:srgbClr val="BD1A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453030" y="4774033"/>
            <a:ext cx="373380" cy="1196975"/>
          </a:xfrm>
          <a:custGeom>
            <a:avLst/>
            <a:gdLst/>
            <a:ahLst/>
            <a:cxnLst/>
            <a:rect l="l" t="t" r="r" b="b"/>
            <a:pathLst>
              <a:path w="373379" h="1196975">
                <a:moveTo>
                  <a:pt x="373092" y="0"/>
                </a:moveTo>
                <a:lnTo>
                  <a:pt x="373092" y="684524"/>
                </a:lnTo>
                <a:lnTo>
                  <a:pt x="186546" y="684524"/>
                </a:lnTo>
                <a:lnTo>
                  <a:pt x="0" y="684524"/>
                </a:lnTo>
                <a:lnTo>
                  <a:pt x="0" y="1196395"/>
                </a:lnTo>
              </a:path>
            </a:pathLst>
          </a:custGeom>
          <a:ln w="26608">
            <a:solidFill>
              <a:srgbClr val="BD1A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23047" y="4774033"/>
            <a:ext cx="746760" cy="1196975"/>
          </a:xfrm>
          <a:custGeom>
            <a:avLst/>
            <a:gdLst/>
            <a:ahLst/>
            <a:cxnLst/>
            <a:rect l="l" t="t" r="r" b="b"/>
            <a:pathLst>
              <a:path w="746760" h="1196975">
                <a:moveTo>
                  <a:pt x="746552" y="0"/>
                </a:moveTo>
                <a:lnTo>
                  <a:pt x="746552" y="743012"/>
                </a:lnTo>
                <a:lnTo>
                  <a:pt x="0" y="743012"/>
                </a:lnTo>
                <a:lnTo>
                  <a:pt x="0" y="1196395"/>
                </a:lnTo>
              </a:path>
            </a:pathLst>
          </a:custGeom>
          <a:ln w="26603">
            <a:solidFill>
              <a:srgbClr val="BD1A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323119" y="4697392"/>
            <a:ext cx="0" cy="1273175"/>
          </a:xfrm>
          <a:custGeom>
            <a:avLst/>
            <a:gdLst/>
            <a:ahLst/>
            <a:cxnLst/>
            <a:rect l="l" t="t" r="r" b="b"/>
            <a:pathLst>
              <a:path w="0" h="1273175">
                <a:moveTo>
                  <a:pt x="0" y="0"/>
                </a:moveTo>
                <a:lnTo>
                  <a:pt x="0" y="1273036"/>
                </a:lnTo>
              </a:path>
            </a:pathLst>
          </a:custGeom>
          <a:ln w="26610">
            <a:solidFill>
              <a:srgbClr val="BD1A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46797" y="5944280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200" y="0"/>
                </a:moveTo>
                <a:lnTo>
                  <a:pt x="63204" y="0"/>
                </a:lnTo>
                <a:lnTo>
                  <a:pt x="51020" y="48"/>
                </a:lnTo>
                <a:lnTo>
                  <a:pt x="11960" y="11997"/>
                </a:lnTo>
                <a:lnTo>
                  <a:pt x="0" y="50901"/>
                </a:lnTo>
                <a:lnTo>
                  <a:pt x="4" y="480809"/>
                </a:lnTo>
                <a:lnTo>
                  <a:pt x="11960" y="519713"/>
                </a:lnTo>
                <a:lnTo>
                  <a:pt x="50902" y="531662"/>
                </a:lnTo>
                <a:lnTo>
                  <a:pt x="62923" y="531710"/>
                </a:lnTo>
                <a:lnTo>
                  <a:pt x="468920" y="531710"/>
                </a:lnTo>
                <a:lnTo>
                  <a:pt x="513690" y="524910"/>
                </a:lnTo>
                <a:lnTo>
                  <a:pt x="531787" y="490341"/>
                </a:lnTo>
                <a:lnTo>
                  <a:pt x="532123" y="480809"/>
                </a:lnTo>
                <a:lnTo>
                  <a:pt x="532119" y="50901"/>
                </a:lnTo>
                <a:lnTo>
                  <a:pt x="520163" y="11997"/>
                </a:lnTo>
                <a:lnTo>
                  <a:pt x="481222" y="48"/>
                </a:lnTo>
                <a:lnTo>
                  <a:pt x="469200" y="0"/>
                </a:lnTo>
                <a:close/>
              </a:path>
            </a:pathLst>
          </a:custGeom>
          <a:solidFill>
            <a:srgbClr val="BD1A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07536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90" y="322813"/>
                </a:lnTo>
                <a:lnTo>
                  <a:pt x="60980" y="361205"/>
                </a:lnTo>
                <a:lnTo>
                  <a:pt x="99408" y="391665"/>
                </a:lnTo>
                <a:lnTo>
                  <a:pt x="142346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1" y="391665"/>
                </a:lnTo>
                <a:lnTo>
                  <a:pt x="361549" y="361205"/>
                </a:lnTo>
                <a:lnTo>
                  <a:pt x="392039" y="322813"/>
                </a:lnTo>
                <a:lnTo>
                  <a:pt x="412366" y="279916"/>
                </a:lnTo>
                <a:lnTo>
                  <a:pt x="422530" y="234314"/>
                </a:lnTo>
                <a:lnTo>
                  <a:pt x="422530" y="187812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04948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9" y="0"/>
                </a:moveTo>
                <a:lnTo>
                  <a:pt x="187992" y="0"/>
                </a:lnTo>
                <a:lnTo>
                  <a:pt x="142347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90" y="322813"/>
                </a:lnTo>
                <a:lnTo>
                  <a:pt x="60980" y="361205"/>
                </a:lnTo>
                <a:lnTo>
                  <a:pt x="99408" y="391665"/>
                </a:lnTo>
                <a:lnTo>
                  <a:pt x="142347" y="411972"/>
                </a:lnTo>
                <a:lnTo>
                  <a:pt x="187992" y="422125"/>
                </a:lnTo>
                <a:lnTo>
                  <a:pt x="234539" y="422125"/>
                </a:lnTo>
                <a:lnTo>
                  <a:pt x="280184" y="411972"/>
                </a:lnTo>
                <a:lnTo>
                  <a:pt x="323122" y="391665"/>
                </a:lnTo>
                <a:lnTo>
                  <a:pt x="361551" y="361205"/>
                </a:lnTo>
                <a:lnTo>
                  <a:pt x="392040" y="322813"/>
                </a:lnTo>
                <a:lnTo>
                  <a:pt x="412367" y="279916"/>
                </a:lnTo>
                <a:lnTo>
                  <a:pt x="422530" y="234314"/>
                </a:lnTo>
                <a:lnTo>
                  <a:pt x="422530" y="187812"/>
                </a:lnTo>
                <a:lnTo>
                  <a:pt x="412367" y="142210"/>
                </a:lnTo>
                <a:lnTo>
                  <a:pt x="392040" y="99312"/>
                </a:lnTo>
                <a:lnTo>
                  <a:pt x="361551" y="60921"/>
                </a:lnTo>
                <a:lnTo>
                  <a:pt x="323122" y="30460"/>
                </a:lnTo>
                <a:lnTo>
                  <a:pt x="280184" y="10153"/>
                </a:lnTo>
                <a:lnTo>
                  <a:pt x="234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02359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90" y="322813"/>
                </a:lnTo>
                <a:lnTo>
                  <a:pt x="60980" y="361205"/>
                </a:lnTo>
                <a:lnTo>
                  <a:pt x="99408" y="391665"/>
                </a:lnTo>
                <a:lnTo>
                  <a:pt x="142346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1" y="391665"/>
                </a:lnTo>
                <a:lnTo>
                  <a:pt x="361549" y="361205"/>
                </a:lnTo>
                <a:lnTo>
                  <a:pt x="392039" y="322813"/>
                </a:lnTo>
                <a:lnTo>
                  <a:pt x="412366" y="279916"/>
                </a:lnTo>
                <a:lnTo>
                  <a:pt x="422530" y="234314"/>
                </a:lnTo>
                <a:lnTo>
                  <a:pt x="422530" y="187812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099771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90" y="322813"/>
                </a:lnTo>
                <a:lnTo>
                  <a:pt x="60980" y="361205"/>
                </a:lnTo>
                <a:lnTo>
                  <a:pt x="99408" y="391665"/>
                </a:lnTo>
                <a:lnTo>
                  <a:pt x="142346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1" y="391665"/>
                </a:lnTo>
                <a:lnTo>
                  <a:pt x="361549" y="361205"/>
                </a:lnTo>
                <a:lnTo>
                  <a:pt x="392039" y="322813"/>
                </a:lnTo>
                <a:lnTo>
                  <a:pt x="412366" y="279916"/>
                </a:lnTo>
                <a:lnTo>
                  <a:pt x="422530" y="234314"/>
                </a:lnTo>
                <a:lnTo>
                  <a:pt x="422530" y="187812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597182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90" y="322813"/>
                </a:lnTo>
                <a:lnTo>
                  <a:pt x="60980" y="361205"/>
                </a:lnTo>
                <a:lnTo>
                  <a:pt x="99408" y="391665"/>
                </a:lnTo>
                <a:lnTo>
                  <a:pt x="142346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1" y="391665"/>
                </a:lnTo>
                <a:lnTo>
                  <a:pt x="361549" y="361205"/>
                </a:lnTo>
                <a:lnTo>
                  <a:pt x="392039" y="322813"/>
                </a:lnTo>
                <a:lnTo>
                  <a:pt x="412366" y="279916"/>
                </a:lnTo>
                <a:lnTo>
                  <a:pt x="422530" y="234314"/>
                </a:lnTo>
                <a:lnTo>
                  <a:pt x="422530" y="187812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94594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7" y="391665"/>
                </a:lnTo>
                <a:lnTo>
                  <a:pt x="142346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1" y="391665"/>
                </a:lnTo>
                <a:lnTo>
                  <a:pt x="361549" y="361205"/>
                </a:lnTo>
                <a:lnTo>
                  <a:pt x="392039" y="322813"/>
                </a:lnTo>
                <a:lnTo>
                  <a:pt x="412366" y="279916"/>
                </a:lnTo>
                <a:lnTo>
                  <a:pt x="422529" y="234314"/>
                </a:lnTo>
                <a:lnTo>
                  <a:pt x="422529" y="187812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92005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7" y="391665"/>
                </a:lnTo>
                <a:lnTo>
                  <a:pt x="142346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2" y="391665"/>
                </a:lnTo>
                <a:lnTo>
                  <a:pt x="361550" y="361205"/>
                </a:lnTo>
                <a:lnTo>
                  <a:pt x="392040" y="322813"/>
                </a:lnTo>
                <a:lnTo>
                  <a:pt x="412366" y="279916"/>
                </a:lnTo>
                <a:lnTo>
                  <a:pt x="422529" y="234314"/>
                </a:lnTo>
                <a:lnTo>
                  <a:pt x="422529" y="187812"/>
                </a:lnTo>
                <a:lnTo>
                  <a:pt x="412366" y="142210"/>
                </a:lnTo>
                <a:lnTo>
                  <a:pt x="392040" y="99312"/>
                </a:lnTo>
                <a:lnTo>
                  <a:pt x="361550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9417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7" y="391665"/>
                </a:lnTo>
                <a:lnTo>
                  <a:pt x="142346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1" y="391665"/>
                </a:lnTo>
                <a:lnTo>
                  <a:pt x="361549" y="361205"/>
                </a:lnTo>
                <a:lnTo>
                  <a:pt x="392039" y="322813"/>
                </a:lnTo>
                <a:lnTo>
                  <a:pt x="412366" y="279916"/>
                </a:lnTo>
                <a:lnTo>
                  <a:pt x="422529" y="234314"/>
                </a:lnTo>
                <a:lnTo>
                  <a:pt x="422529" y="187812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633422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5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7" y="391665"/>
                </a:lnTo>
                <a:lnTo>
                  <a:pt x="142345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2" y="391665"/>
                </a:lnTo>
                <a:lnTo>
                  <a:pt x="361550" y="361205"/>
                </a:lnTo>
                <a:lnTo>
                  <a:pt x="392039" y="322813"/>
                </a:lnTo>
                <a:lnTo>
                  <a:pt x="412366" y="279916"/>
                </a:lnTo>
                <a:lnTo>
                  <a:pt x="422529" y="234314"/>
                </a:lnTo>
                <a:lnTo>
                  <a:pt x="422529" y="187812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50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30837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5" y="0"/>
                </a:moveTo>
                <a:lnTo>
                  <a:pt x="187989" y="0"/>
                </a:lnTo>
                <a:lnTo>
                  <a:pt x="142344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7" y="391665"/>
                </a:lnTo>
                <a:lnTo>
                  <a:pt x="142344" y="411972"/>
                </a:lnTo>
                <a:lnTo>
                  <a:pt x="187989" y="422125"/>
                </a:lnTo>
                <a:lnTo>
                  <a:pt x="234535" y="422125"/>
                </a:lnTo>
                <a:lnTo>
                  <a:pt x="280179" y="411972"/>
                </a:lnTo>
                <a:lnTo>
                  <a:pt x="323117" y="391665"/>
                </a:lnTo>
                <a:lnTo>
                  <a:pt x="361545" y="361205"/>
                </a:lnTo>
                <a:lnTo>
                  <a:pt x="392036" y="322813"/>
                </a:lnTo>
                <a:lnTo>
                  <a:pt x="412364" y="279916"/>
                </a:lnTo>
                <a:lnTo>
                  <a:pt x="422528" y="234314"/>
                </a:lnTo>
                <a:lnTo>
                  <a:pt x="422528" y="187812"/>
                </a:lnTo>
                <a:lnTo>
                  <a:pt x="412364" y="142210"/>
                </a:lnTo>
                <a:lnTo>
                  <a:pt x="392036" y="99312"/>
                </a:lnTo>
                <a:lnTo>
                  <a:pt x="361545" y="60921"/>
                </a:lnTo>
                <a:lnTo>
                  <a:pt x="323117" y="30460"/>
                </a:lnTo>
                <a:lnTo>
                  <a:pt x="280179" y="10153"/>
                </a:lnTo>
                <a:lnTo>
                  <a:pt x="2345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628246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5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7" y="391665"/>
                </a:lnTo>
                <a:lnTo>
                  <a:pt x="142345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2" y="391665"/>
                </a:lnTo>
                <a:lnTo>
                  <a:pt x="361550" y="361205"/>
                </a:lnTo>
                <a:lnTo>
                  <a:pt x="392039" y="322813"/>
                </a:lnTo>
                <a:lnTo>
                  <a:pt x="412366" y="279916"/>
                </a:lnTo>
                <a:lnTo>
                  <a:pt x="422529" y="234314"/>
                </a:lnTo>
                <a:lnTo>
                  <a:pt x="422529" y="187812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50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125656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9" y="0"/>
                </a:moveTo>
                <a:lnTo>
                  <a:pt x="187992" y="0"/>
                </a:lnTo>
                <a:lnTo>
                  <a:pt x="142348" y="10153"/>
                </a:lnTo>
                <a:lnTo>
                  <a:pt x="99410" y="30460"/>
                </a:lnTo>
                <a:lnTo>
                  <a:pt x="60983" y="60921"/>
                </a:lnTo>
                <a:lnTo>
                  <a:pt x="30491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91" y="322813"/>
                </a:lnTo>
                <a:lnTo>
                  <a:pt x="60983" y="361205"/>
                </a:lnTo>
                <a:lnTo>
                  <a:pt x="99410" y="391665"/>
                </a:lnTo>
                <a:lnTo>
                  <a:pt x="142348" y="411972"/>
                </a:lnTo>
                <a:lnTo>
                  <a:pt x="187992" y="422125"/>
                </a:lnTo>
                <a:lnTo>
                  <a:pt x="234539" y="422125"/>
                </a:lnTo>
                <a:lnTo>
                  <a:pt x="280183" y="411972"/>
                </a:lnTo>
                <a:lnTo>
                  <a:pt x="323121" y="391665"/>
                </a:lnTo>
                <a:lnTo>
                  <a:pt x="361548" y="361205"/>
                </a:lnTo>
                <a:lnTo>
                  <a:pt x="392038" y="322813"/>
                </a:lnTo>
                <a:lnTo>
                  <a:pt x="412364" y="279916"/>
                </a:lnTo>
                <a:lnTo>
                  <a:pt x="422528" y="234314"/>
                </a:lnTo>
                <a:lnTo>
                  <a:pt x="422528" y="187812"/>
                </a:lnTo>
                <a:lnTo>
                  <a:pt x="412364" y="142210"/>
                </a:lnTo>
                <a:lnTo>
                  <a:pt x="392038" y="99312"/>
                </a:lnTo>
                <a:lnTo>
                  <a:pt x="361548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623068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5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7" y="391665"/>
                </a:lnTo>
                <a:lnTo>
                  <a:pt x="142345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2" y="391665"/>
                </a:lnTo>
                <a:lnTo>
                  <a:pt x="361550" y="361205"/>
                </a:lnTo>
                <a:lnTo>
                  <a:pt x="392039" y="322813"/>
                </a:lnTo>
                <a:lnTo>
                  <a:pt x="412366" y="279916"/>
                </a:lnTo>
                <a:lnTo>
                  <a:pt x="422529" y="234314"/>
                </a:lnTo>
                <a:lnTo>
                  <a:pt x="422529" y="187812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50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617891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9" y="0"/>
                </a:moveTo>
                <a:lnTo>
                  <a:pt x="187992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7" y="391665"/>
                </a:lnTo>
                <a:lnTo>
                  <a:pt x="142346" y="411972"/>
                </a:lnTo>
                <a:lnTo>
                  <a:pt x="187992" y="422125"/>
                </a:lnTo>
                <a:lnTo>
                  <a:pt x="234539" y="422125"/>
                </a:lnTo>
                <a:lnTo>
                  <a:pt x="280184" y="411972"/>
                </a:lnTo>
                <a:lnTo>
                  <a:pt x="323123" y="391665"/>
                </a:lnTo>
                <a:lnTo>
                  <a:pt x="361551" y="361205"/>
                </a:lnTo>
                <a:lnTo>
                  <a:pt x="392041" y="322813"/>
                </a:lnTo>
                <a:lnTo>
                  <a:pt x="412367" y="279916"/>
                </a:lnTo>
                <a:lnTo>
                  <a:pt x="422530" y="234314"/>
                </a:lnTo>
                <a:lnTo>
                  <a:pt x="422530" y="187812"/>
                </a:lnTo>
                <a:lnTo>
                  <a:pt x="412367" y="142210"/>
                </a:lnTo>
                <a:lnTo>
                  <a:pt x="392041" y="99312"/>
                </a:lnTo>
                <a:lnTo>
                  <a:pt x="361551" y="60921"/>
                </a:lnTo>
                <a:lnTo>
                  <a:pt x="323123" y="30460"/>
                </a:lnTo>
                <a:lnTo>
                  <a:pt x="280184" y="10153"/>
                </a:lnTo>
                <a:lnTo>
                  <a:pt x="234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115300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41" y="0"/>
                </a:moveTo>
                <a:lnTo>
                  <a:pt x="187994" y="0"/>
                </a:lnTo>
                <a:lnTo>
                  <a:pt x="142349" y="10153"/>
                </a:lnTo>
                <a:lnTo>
                  <a:pt x="99409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9" y="391665"/>
                </a:lnTo>
                <a:lnTo>
                  <a:pt x="142349" y="411972"/>
                </a:lnTo>
                <a:lnTo>
                  <a:pt x="187994" y="422125"/>
                </a:lnTo>
                <a:lnTo>
                  <a:pt x="234541" y="422125"/>
                </a:lnTo>
                <a:lnTo>
                  <a:pt x="280185" y="411972"/>
                </a:lnTo>
                <a:lnTo>
                  <a:pt x="323123" y="391665"/>
                </a:lnTo>
                <a:lnTo>
                  <a:pt x="361551" y="361205"/>
                </a:lnTo>
                <a:lnTo>
                  <a:pt x="392041" y="322813"/>
                </a:lnTo>
                <a:lnTo>
                  <a:pt x="412367" y="279916"/>
                </a:lnTo>
                <a:lnTo>
                  <a:pt x="422530" y="234314"/>
                </a:lnTo>
                <a:lnTo>
                  <a:pt x="422530" y="187812"/>
                </a:lnTo>
                <a:lnTo>
                  <a:pt x="412367" y="142210"/>
                </a:lnTo>
                <a:lnTo>
                  <a:pt x="392041" y="99312"/>
                </a:lnTo>
                <a:lnTo>
                  <a:pt x="361551" y="60921"/>
                </a:lnTo>
                <a:lnTo>
                  <a:pt x="323123" y="30460"/>
                </a:lnTo>
                <a:lnTo>
                  <a:pt x="280185" y="10153"/>
                </a:lnTo>
                <a:lnTo>
                  <a:pt x="234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612714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9" y="0"/>
                </a:moveTo>
                <a:lnTo>
                  <a:pt x="187992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89" y="322813"/>
                </a:lnTo>
                <a:lnTo>
                  <a:pt x="60979" y="361205"/>
                </a:lnTo>
                <a:lnTo>
                  <a:pt x="99407" y="391665"/>
                </a:lnTo>
                <a:lnTo>
                  <a:pt x="142346" y="411972"/>
                </a:lnTo>
                <a:lnTo>
                  <a:pt x="187992" y="422125"/>
                </a:lnTo>
                <a:lnTo>
                  <a:pt x="234539" y="422125"/>
                </a:lnTo>
                <a:lnTo>
                  <a:pt x="280184" y="411972"/>
                </a:lnTo>
                <a:lnTo>
                  <a:pt x="323123" y="391665"/>
                </a:lnTo>
                <a:lnTo>
                  <a:pt x="361551" y="361205"/>
                </a:lnTo>
                <a:lnTo>
                  <a:pt x="392041" y="322813"/>
                </a:lnTo>
                <a:lnTo>
                  <a:pt x="412367" y="279916"/>
                </a:lnTo>
                <a:lnTo>
                  <a:pt x="422530" y="234314"/>
                </a:lnTo>
                <a:lnTo>
                  <a:pt x="422530" y="187812"/>
                </a:lnTo>
                <a:lnTo>
                  <a:pt x="412367" y="142210"/>
                </a:lnTo>
                <a:lnTo>
                  <a:pt x="392041" y="99312"/>
                </a:lnTo>
                <a:lnTo>
                  <a:pt x="361551" y="60921"/>
                </a:lnTo>
                <a:lnTo>
                  <a:pt x="323123" y="30460"/>
                </a:lnTo>
                <a:lnTo>
                  <a:pt x="280184" y="10153"/>
                </a:lnTo>
                <a:lnTo>
                  <a:pt x="234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110125" y="4388975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2"/>
                </a:lnTo>
                <a:lnTo>
                  <a:pt x="0" y="234314"/>
                </a:lnTo>
                <a:lnTo>
                  <a:pt x="10163" y="279916"/>
                </a:lnTo>
                <a:lnTo>
                  <a:pt x="30490" y="322813"/>
                </a:lnTo>
                <a:lnTo>
                  <a:pt x="60980" y="361205"/>
                </a:lnTo>
                <a:lnTo>
                  <a:pt x="99408" y="391665"/>
                </a:lnTo>
                <a:lnTo>
                  <a:pt x="142346" y="411972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2"/>
                </a:lnTo>
                <a:lnTo>
                  <a:pt x="323122" y="391665"/>
                </a:lnTo>
                <a:lnTo>
                  <a:pt x="361551" y="361205"/>
                </a:lnTo>
                <a:lnTo>
                  <a:pt x="392040" y="322813"/>
                </a:lnTo>
                <a:lnTo>
                  <a:pt x="412367" y="279916"/>
                </a:lnTo>
                <a:lnTo>
                  <a:pt x="422530" y="234314"/>
                </a:lnTo>
                <a:lnTo>
                  <a:pt x="422530" y="187812"/>
                </a:lnTo>
                <a:lnTo>
                  <a:pt x="412367" y="142210"/>
                </a:lnTo>
                <a:lnTo>
                  <a:pt x="392040" y="99312"/>
                </a:lnTo>
                <a:lnTo>
                  <a:pt x="361551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123884" y="4394998"/>
            <a:ext cx="416678" cy="4150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18108" y="1789683"/>
            <a:ext cx="7733030" cy="29749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>
                <a:latin typeface="Calibri"/>
                <a:cs typeface="Calibri"/>
              </a:rPr>
              <a:t>Every </a:t>
            </a:r>
            <a:r>
              <a:rPr dirty="0" sz="2800" spc="-5">
                <a:latin typeface="Calibri"/>
                <a:cs typeface="Calibri"/>
              </a:rPr>
              <a:t>node has some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importance</a:t>
            </a:r>
            <a:endParaRPr sz="2800">
              <a:latin typeface="Calibri"/>
              <a:cs typeface="Calibri"/>
            </a:endParaRPr>
          </a:p>
          <a:p>
            <a:pPr marL="625475" marR="5080" indent="-274320">
              <a:lnSpc>
                <a:spcPts val="3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Importance </a:t>
            </a:r>
            <a:r>
              <a:rPr dirty="0" sz="2800" spc="-15">
                <a:latin typeface="Calibri"/>
                <a:cs typeface="Calibri"/>
              </a:rPr>
              <a:t>gets evenly </a:t>
            </a:r>
            <a:r>
              <a:rPr dirty="0" sz="2800" spc="-5">
                <a:latin typeface="Calibri"/>
                <a:cs typeface="Calibri"/>
              </a:rPr>
              <a:t>split among all </a:t>
            </a:r>
            <a:r>
              <a:rPr dirty="0" sz="2800" spc="-10">
                <a:latin typeface="Calibri"/>
                <a:cs typeface="Calibri"/>
              </a:rPr>
              <a:t>edges </a:t>
            </a:r>
            <a:r>
              <a:rPr dirty="0" sz="2800" spc="-135">
                <a:latin typeface="Calibri"/>
                <a:cs typeface="Calibri"/>
              </a:rPr>
              <a:t>and  </a:t>
            </a:r>
            <a:r>
              <a:rPr dirty="0" sz="2800" spc="-5">
                <a:latin typeface="Calibri"/>
                <a:cs typeface="Calibri"/>
              </a:rPr>
              <a:t>pushed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neighbors</a:t>
            </a:r>
            <a:endParaRPr sz="2800">
              <a:latin typeface="Calibri"/>
              <a:cs typeface="Calibri"/>
            </a:endParaRPr>
          </a:p>
          <a:p>
            <a:pPr marL="332740" marR="333375" indent="-320040">
              <a:lnSpc>
                <a:spcPts val="3379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Given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set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15" b="1">
                <a:latin typeface="Calibri"/>
                <a:cs typeface="Calibri"/>
              </a:rPr>
              <a:t>QUERY </a:t>
            </a:r>
            <a:r>
              <a:rPr dirty="0" sz="3200" spc="-10" b="1">
                <a:latin typeface="Calibri"/>
                <a:cs typeface="Calibri"/>
              </a:rPr>
              <a:t>NODES </a:t>
            </a:r>
            <a:r>
              <a:rPr dirty="0" sz="3200" b="1">
                <a:latin typeface="Calibri"/>
                <a:cs typeface="Calibri"/>
              </a:rPr>
              <a:t>Q</a:t>
            </a:r>
            <a:r>
              <a:rPr dirty="0" sz="3200">
                <a:latin typeface="Calibri"/>
                <a:cs typeface="Calibri"/>
              </a:rPr>
              <a:t>, </a:t>
            </a:r>
            <a:r>
              <a:rPr dirty="0" sz="3200" spc="-10">
                <a:latin typeface="Calibri"/>
                <a:cs typeface="Calibri"/>
              </a:rPr>
              <a:t>simulate </a:t>
            </a:r>
            <a:r>
              <a:rPr dirty="0" sz="3200">
                <a:latin typeface="Calibri"/>
                <a:cs typeface="Calibri"/>
              </a:rPr>
              <a:t>a  </a:t>
            </a:r>
            <a:r>
              <a:rPr dirty="0" sz="3200" spc="-15">
                <a:latin typeface="Calibri"/>
                <a:cs typeface="Calibri"/>
              </a:rPr>
              <a:t>random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walk:</a:t>
            </a:r>
            <a:endParaRPr sz="3200">
              <a:latin typeface="Calibri"/>
              <a:cs typeface="Calibri"/>
            </a:endParaRPr>
          </a:p>
          <a:p>
            <a:pPr algn="ctr" marR="311150">
              <a:lnSpc>
                <a:spcPct val="100000"/>
              </a:lnSpc>
              <a:spcBef>
                <a:spcPts val="3045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2673615" y="6699893"/>
            <a:ext cx="480377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Social and Information Network Analysis,</a:t>
            </a:r>
            <a:r>
              <a:rPr dirty="0" sz="900" spc="10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5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771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2133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Proximity to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query node(s)</a:t>
            </a:r>
            <a:r>
              <a:rPr dirty="0" spc="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i="1">
                <a:solidFill>
                  <a:srgbClr val="000000"/>
                </a:solidFill>
                <a:latin typeface="Calibri"/>
                <a:cs typeface="Calibri"/>
              </a:rPr>
              <a:t>Q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371172" y="2155158"/>
            <a:ext cx="1178083" cy="161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26131" y="1998402"/>
            <a:ext cx="269413" cy="5034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42602" y="1998402"/>
            <a:ext cx="233593" cy="5034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1172" y="1965585"/>
            <a:ext cx="1178083" cy="1612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99843" y="4594510"/>
            <a:ext cx="4316302" cy="18397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65284" y="4682575"/>
            <a:ext cx="720090" cy="1196975"/>
          </a:xfrm>
          <a:custGeom>
            <a:avLst/>
            <a:gdLst/>
            <a:ahLst/>
            <a:cxnLst/>
            <a:rect l="l" t="t" r="r" b="b"/>
            <a:pathLst>
              <a:path w="720089" h="1196975">
                <a:moveTo>
                  <a:pt x="0" y="0"/>
                </a:moveTo>
                <a:lnTo>
                  <a:pt x="0" y="743012"/>
                </a:lnTo>
                <a:lnTo>
                  <a:pt x="719639" y="743012"/>
                </a:lnTo>
                <a:lnTo>
                  <a:pt x="719639" y="1196395"/>
                </a:lnTo>
              </a:path>
            </a:pathLst>
          </a:custGeom>
          <a:ln w="26604">
            <a:solidFill>
              <a:srgbClr val="F3B30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66342" y="4618770"/>
            <a:ext cx="819785" cy="1260475"/>
          </a:xfrm>
          <a:custGeom>
            <a:avLst/>
            <a:gdLst/>
            <a:ahLst/>
            <a:cxnLst/>
            <a:rect l="l" t="t" r="r" b="b"/>
            <a:pathLst>
              <a:path w="819785" h="1260475">
                <a:moveTo>
                  <a:pt x="819309" y="0"/>
                </a:moveTo>
                <a:lnTo>
                  <a:pt x="819309" y="806818"/>
                </a:lnTo>
                <a:lnTo>
                  <a:pt x="0" y="806818"/>
                </a:lnTo>
                <a:lnTo>
                  <a:pt x="0" y="1260200"/>
                </a:lnTo>
              </a:path>
            </a:pathLst>
          </a:custGeom>
          <a:ln w="26603">
            <a:solidFill>
              <a:srgbClr val="F3B30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17401" y="4684504"/>
            <a:ext cx="1431925" cy="1193165"/>
          </a:xfrm>
          <a:custGeom>
            <a:avLst/>
            <a:gdLst/>
            <a:ahLst/>
            <a:cxnLst/>
            <a:rect l="l" t="t" r="r" b="b"/>
            <a:pathLst>
              <a:path w="1431925" h="1193164">
                <a:moveTo>
                  <a:pt x="0" y="0"/>
                </a:moveTo>
                <a:lnTo>
                  <a:pt x="0" y="862516"/>
                </a:lnTo>
                <a:lnTo>
                  <a:pt x="781857" y="862516"/>
                </a:lnTo>
                <a:lnTo>
                  <a:pt x="1431525" y="862516"/>
                </a:lnTo>
                <a:lnTo>
                  <a:pt x="1431525" y="1192538"/>
                </a:lnTo>
              </a:path>
            </a:pathLst>
          </a:custGeom>
          <a:ln w="26595">
            <a:solidFill>
              <a:srgbClr val="339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18036" y="4682575"/>
            <a:ext cx="746760" cy="1196975"/>
          </a:xfrm>
          <a:custGeom>
            <a:avLst/>
            <a:gdLst/>
            <a:ahLst/>
            <a:cxnLst/>
            <a:rect l="l" t="t" r="r" b="b"/>
            <a:pathLst>
              <a:path w="746760" h="1196975">
                <a:moveTo>
                  <a:pt x="746308" y="0"/>
                </a:moveTo>
                <a:lnTo>
                  <a:pt x="746308" y="865306"/>
                </a:lnTo>
                <a:lnTo>
                  <a:pt x="338696" y="865306"/>
                </a:lnTo>
                <a:lnTo>
                  <a:pt x="0" y="865306"/>
                </a:lnTo>
                <a:lnTo>
                  <a:pt x="0" y="1196395"/>
                </a:lnTo>
              </a:path>
            </a:pathLst>
          </a:custGeom>
          <a:ln w="26603">
            <a:solidFill>
              <a:srgbClr val="3391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80109" y="4682575"/>
            <a:ext cx="1885314" cy="1196975"/>
          </a:xfrm>
          <a:custGeom>
            <a:avLst/>
            <a:gdLst/>
            <a:ahLst/>
            <a:cxnLst/>
            <a:rect l="l" t="t" r="r" b="b"/>
            <a:pathLst>
              <a:path w="1885314" h="1196975">
                <a:moveTo>
                  <a:pt x="0" y="0"/>
                </a:moveTo>
                <a:lnTo>
                  <a:pt x="0" y="992916"/>
                </a:lnTo>
                <a:lnTo>
                  <a:pt x="1884720" y="992916"/>
                </a:lnTo>
                <a:lnTo>
                  <a:pt x="1884720" y="1196395"/>
                </a:lnTo>
              </a:path>
            </a:pathLst>
          </a:custGeom>
          <a:ln w="26592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323851" y="4682575"/>
            <a:ext cx="0" cy="993140"/>
          </a:xfrm>
          <a:custGeom>
            <a:avLst/>
            <a:gdLst/>
            <a:ahLst/>
            <a:cxnLst/>
            <a:rect l="l" t="t" r="r" b="b"/>
            <a:pathLst>
              <a:path w="0" h="993139">
                <a:moveTo>
                  <a:pt x="0" y="0"/>
                </a:moveTo>
                <a:lnTo>
                  <a:pt x="0" y="992916"/>
                </a:lnTo>
              </a:path>
            </a:pathLst>
          </a:custGeom>
          <a:ln w="266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79235" y="5852822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30" h="532129">
                <a:moveTo>
                  <a:pt x="469200" y="0"/>
                </a:moveTo>
                <a:lnTo>
                  <a:pt x="63202" y="0"/>
                </a:lnTo>
                <a:lnTo>
                  <a:pt x="51019" y="48"/>
                </a:lnTo>
                <a:lnTo>
                  <a:pt x="11960" y="11997"/>
                </a:lnTo>
                <a:lnTo>
                  <a:pt x="0" y="50900"/>
                </a:lnTo>
                <a:lnTo>
                  <a:pt x="4" y="480809"/>
                </a:lnTo>
                <a:lnTo>
                  <a:pt x="11960" y="519713"/>
                </a:lnTo>
                <a:lnTo>
                  <a:pt x="50901" y="531661"/>
                </a:lnTo>
                <a:lnTo>
                  <a:pt x="62923" y="531710"/>
                </a:lnTo>
                <a:lnTo>
                  <a:pt x="468919" y="531710"/>
                </a:lnTo>
                <a:lnTo>
                  <a:pt x="513690" y="524910"/>
                </a:lnTo>
                <a:lnTo>
                  <a:pt x="531786" y="490341"/>
                </a:lnTo>
                <a:lnTo>
                  <a:pt x="532122" y="480809"/>
                </a:lnTo>
                <a:lnTo>
                  <a:pt x="532118" y="50900"/>
                </a:lnTo>
                <a:lnTo>
                  <a:pt x="520163" y="11997"/>
                </a:lnTo>
                <a:lnTo>
                  <a:pt x="481221" y="48"/>
                </a:lnTo>
                <a:lnTo>
                  <a:pt x="469200" y="0"/>
                </a:lnTo>
                <a:close/>
              </a:path>
            </a:pathLst>
          </a:custGeom>
          <a:solidFill>
            <a:srgbClr val="3754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63016" y="5852822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200" y="0"/>
                </a:moveTo>
                <a:lnTo>
                  <a:pt x="63202" y="0"/>
                </a:lnTo>
                <a:lnTo>
                  <a:pt x="51019" y="48"/>
                </a:lnTo>
                <a:lnTo>
                  <a:pt x="11960" y="11997"/>
                </a:lnTo>
                <a:lnTo>
                  <a:pt x="0" y="50900"/>
                </a:lnTo>
                <a:lnTo>
                  <a:pt x="4" y="480809"/>
                </a:lnTo>
                <a:lnTo>
                  <a:pt x="11960" y="519713"/>
                </a:lnTo>
                <a:lnTo>
                  <a:pt x="50902" y="531661"/>
                </a:lnTo>
                <a:lnTo>
                  <a:pt x="62923" y="531710"/>
                </a:lnTo>
                <a:lnTo>
                  <a:pt x="468919" y="531710"/>
                </a:lnTo>
                <a:lnTo>
                  <a:pt x="513690" y="524910"/>
                </a:lnTo>
                <a:lnTo>
                  <a:pt x="531787" y="490341"/>
                </a:lnTo>
                <a:lnTo>
                  <a:pt x="532123" y="480809"/>
                </a:lnTo>
                <a:lnTo>
                  <a:pt x="532119" y="50900"/>
                </a:lnTo>
                <a:lnTo>
                  <a:pt x="520163" y="11997"/>
                </a:lnTo>
                <a:lnTo>
                  <a:pt x="481222" y="48"/>
                </a:lnTo>
                <a:lnTo>
                  <a:pt x="469200" y="0"/>
                </a:lnTo>
                <a:close/>
              </a:path>
            </a:pathLst>
          </a:custGeom>
          <a:solidFill>
            <a:srgbClr val="F3B30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30579" y="5852822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198" y="0"/>
                </a:moveTo>
                <a:lnTo>
                  <a:pt x="63206" y="0"/>
                </a:lnTo>
                <a:lnTo>
                  <a:pt x="51021" y="48"/>
                </a:lnTo>
                <a:lnTo>
                  <a:pt x="11962" y="11997"/>
                </a:lnTo>
                <a:lnTo>
                  <a:pt x="0" y="50900"/>
                </a:lnTo>
                <a:lnTo>
                  <a:pt x="4" y="480809"/>
                </a:lnTo>
                <a:lnTo>
                  <a:pt x="11962" y="519713"/>
                </a:lnTo>
                <a:lnTo>
                  <a:pt x="50902" y="531661"/>
                </a:lnTo>
                <a:lnTo>
                  <a:pt x="62924" y="531710"/>
                </a:lnTo>
                <a:lnTo>
                  <a:pt x="468922" y="531710"/>
                </a:lnTo>
                <a:lnTo>
                  <a:pt x="513692" y="524910"/>
                </a:lnTo>
                <a:lnTo>
                  <a:pt x="531787" y="490341"/>
                </a:lnTo>
                <a:lnTo>
                  <a:pt x="532123" y="480809"/>
                </a:lnTo>
                <a:lnTo>
                  <a:pt x="532119" y="50900"/>
                </a:lnTo>
                <a:lnTo>
                  <a:pt x="520165" y="11997"/>
                </a:lnTo>
                <a:lnTo>
                  <a:pt x="481223" y="48"/>
                </a:lnTo>
                <a:lnTo>
                  <a:pt x="469198" y="0"/>
                </a:lnTo>
                <a:close/>
              </a:path>
            </a:pathLst>
          </a:custGeom>
          <a:solidFill>
            <a:srgbClr val="339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18218" y="5852822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198" y="0"/>
                </a:moveTo>
                <a:lnTo>
                  <a:pt x="63205" y="0"/>
                </a:lnTo>
                <a:lnTo>
                  <a:pt x="51020" y="48"/>
                </a:lnTo>
                <a:lnTo>
                  <a:pt x="11961" y="11997"/>
                </a:lnTo>
                <a:lnTo>
                  <a:pt x="0" y="50900"/>
                </a:lnTo>
                <a:lnTo>
                  <a:pt x="4" y="480809"/>
                </a:lnTo>
                <a:lnTo>
                  <a:pt x="11961" y="519713"/>
                </a:lnTo>
                <a:lnTo>
                  <a:pt x="50901" y="531661"/>
                </a:lnTo>
                <a:lnTo>
                  <a:pt x="62923" y="531710"/>
                </a:lnTo>
                <a:lnTo>
                  <a:pt x="468922" y="531710"/>
                </a:lnTo>
                <a:lnTo>
                  <a:pt x="513688" y="524910"/>
                </a:lnTo>
                <a:lnTo>
                  <a:pt x="531786" y="490341"/>
                </a:lnTo>
                <a:lnTo>
                  <a:pt x="532122" y="480809"/>
                </a:lnTo>
                <a:lnTo>
                  <a:pt x="532118" y="50900"/>
                </a:lnTo>
                <a:lnTo>
                  <a:pt x="520162" y="11997"/>
                </a:lnTo>
                <a:lnTo>
                  <a:pt x="481220" y="48"/>
                </a:lnTo>
                <a:lnTo>
                  <a:pt x="469198" y="0"/>
                </a:lnTo>
                <a:close/>
              </a:path>
            </a:pathLst>
          </a:custGeom>
          <a:solidFill>
            <a:srgbClr val="5392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71166" y="4682575"/>
            <a:ext cx="1885314" cy="1196975"/>
          </a:xfrm>
          <a:custGeom>
            <a:avLst/>
            <a:gdLst/>
            <a:ahLst/>
            <a:cxnLst/>
            <a:rect l="l" t="t" r="r" b="b"/>
            <a:pathLst>
              <a:path w="1885314" h="1196975">
                <a:moveTo>
                  <a:pt x="1884966" y="0"/>
                </a:moveTo>
                <a:lnTo>
                  <a:pt x="1884966" y="992916"/>
                </a:lnTo>
                <a:lnTo>
                  <a:pt x="0" y="992916"/>
                </a:lnTo>
                <a:lnTo>
                  <a:pt x="0" y="1196395"/>
                </a:lnTo>
              </a:path>
            </a:pathLst>
          </a:custGeom>
          <a:ln w="26592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9732" y="4682575"/>
            <a:ext cx="1617980" cy="1196975"/>
          </a:xfrm>
          <a:custGeom>
            <a:avLst/>
            <a:gdLst/>
            <a:ahLst/>
            <a:cxnLst/>
            <a:rect l="l" t="t" r="r" b="b"/>
            <a:pathLst>
              <a:path w="1617980" h="1196975">
                <a:moveTo>
                  <a:pt x="0" y="0"/>
                </a:moveTo>
                <a:lnTo>
                  <a:pt x="0" y="902525"/>
                </a:lnTo>
                <a:lnTo>
                  <a:pt x="1617374" y="902525"/>
                </a:lnTo>
                <a:lnTo>
                  <a:pt x="1617374" y="1196395"/>
                </a:lnTo>
              </a:path>
            </a:pathLst>
          </a:custGeom>
          <a:ln w="26594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91761" y="4682575"/>
            <a:ext cx="1182370" cy="1196975"/>
          </a:xfrm>
          <a:custGeom>
            <a:avLst/>
            <a:gdLst/>
            <a:ahLst/>
            <a:cxnLst/>
            <a:rect l="l" t="t" r="r" b="b"/>
            <a:pathLst>
              <a:path w="1182370" h="1196975">
                <a:moveTo>
                  <a:pt x="0" y="0"/>
                </a:moveTo>
                <a:lnTo>
                  <a:pt x="0" y="849354"/>
                </a:lnTo>
                <a:lnTo>
                  <a:pt x="1182204" y="849354"/>
                </a:lnTo>
                <a:lnTo>
                  <a:pt x="1182204" y="1196395"/>
                </a:lnTo>
              </a:path>
            </a:pathLst>
          </a:custGeom>
          <a:ln w="26598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12763" y="4682575"/>
            <a:ext cx="733425" cy="1196975"/>
          </a:xfrm>
          <a:custGeom>
            <a:avLst/>
            <a:gdLst/>
            <a:ahLst/>
            <a:cxnLst/>
            <a:rect l="l" t="t" r="r" b="b"/>
            <a:pathLst>
              <a:path w="733425" h="1196975">
                <a:moveTo>
                  <a:pt x="0" y="0"/>
                </a:moveTo>
                <a:lnTo>
                  <a:pt x="0" y="801500"/>
                </a:lnTo>
                <a:lnTo>
                  <a:pt x="732939" y="801500"/>
                </a:lnTo>
                <a:lnTo>
                  <a:pt x="732939" y="1196395"/>
                </a:lnTo>
              </a:path>
            </a:pathLst>
          </a:custGeom>
          <a:ln w="26604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15811" y="4682575"/>
            <a:ext cx="292735" cy="1196975"/>
          </a:xfrm>
          <a:custGeom>
            <a:avLst/>
            <a:gdLst/>
            <a:ahLst/>
            <a:cxnLst/>
            <a:rect l="l" t="t" r="r" b="b"/>
            <a:pathLst>
              <a:path w="292735" h="1196975">
                <a:moveTo>
                  <a:pt x="0" y="0"/>
                </a:moveTo>
                <a:lnTo>
                  <a:pt x="0" y="743012"/>
                </a:lnTo>
                <a:lnTo>
                  <a:pt x="292655" y="743012"/>
                </a:lnTo>
                <a:lnTo>
                  <a:pt x="292655" y="1196395"/>
                </a:lnTo>
              </a:path>
            </a:pathLst>
          </a:custGeom>
          <a:ln w="26609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11402" y="4682575"/>
            <a:ext cx="939165" cy="1196975"/>
          </a:xfrm>
          <a:custGeom>
            <a:avLst/>
            <a:gdLst/>
            <a:ahLst/>
            <a:cxnLst/>
            <a:rect l="l" t="t" r="r" b="b"/>
            <a:pathLst>
              <a:path w="939164" h="1196975">
                <a:moveTo>
                  <a:pt x="939043" y="0"/>
                </a:moveTo>
                <a:lnTo>
                  <a:pt x="939043" y="849354"/>
                </a:lnTo>
                <a:lnTo>
                  <a:pt x="0" y="849354"/>
                </a:lnTo>
                <a:lnTo>
                  <a:pt x="0" y="1196395"/>
                </a:lnTo>
              </a:path>
            </a:pathLst>
          </a:custGeom>
          <a:ln w="26601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241388" y="4682575"/>
            <a:ext cx="586105" cy="1196975"/>
          </a:xfrm>
          <a:custGeom>
            <a:avLst/>
            <a:gdLst/>
            <a:ahLst/>
            <a:cxnLst/>
            <a:rect l="l" t="t" r="r" b="b"/>
            <a:pathLst>
              <a:path w="586105" h="1196975">
                <a:moveTo>
                  <a:pt x="585826" y="0"/>
                </a:moveTo>
                <a:lnTo>
                  <a:pt x="585826" y="801500"/>
                </a:lnTo>
                <a:lnTo>
                  <a:pt x="0" y="801500"/>
                </a:lnTo>
                <a:lnTo>
                  <a:pt x="0" y="1196395"/>
                </a:lnTo>
              </a:path>
            </a:pathLst>
          </a:custGeom>
          <a:ln w="26606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78198" y="4682575"/>
            <a:ext cx="79375" cy="1196975"/>
          </a:xfrm>
          <a:custGeom>
            <a:avLst/>
            <a:gdLst/>
            <a:ahLst/>
            <a:cxnLst/>
            <a:rect l="l" t="t" r="r" b="b"/>
            <a:pathLst>
              <a:path w="79375" h="1196975">
                <a:moveTo>
                  <a:pt x="79258" y="0"/>
                </a:moveTo>
                <a:lnTo>
                  <a:pt x="79258" y="743012"/>
                </a:lnTo>
                <a:lnTo>
                  <a:pt x="0" y="743012"/>
                </a:lnTo>
                <a:lnTo>
                  <a:pt x="0" y="1196395"/>
                </a:lnTo>
              </a:path>
            </a:pathLst>
          </a:custGeom>
          <a:ln w="26610">
            <a:solidFill>
              <a:srgbClr val="37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766323" y="4682575"/>
            <a:ext cx="92075" cy="1196975"/>
          </a:xfrm>
          <a:custGeom>
            <a:avLst/>
            <a:gdLst/>
            <a:ahLst/>
            <a:cxnLst/>
            <a:rect l="l" t="t" r="r" b="b"/>
            <a:pathLst>
              <a:path w="92075" h="1196975">
                <a:moveTo>
                  <a:pt x="91490" y="0"/>
                </a:moveTo>
                <a:lnTo>
                  <a:pt x="91490" y="743012"/>
                </a:lnTo>
                <a:lnTo>
                  <a:pt x="0" y="743012"/>
                </a:lnTo>
                <a:lnTo>
                  <a:pt x="0" y="1196395"/>
                </a:lnTo>
              </a:path>
            </a:pathLst>
          </a:custGeom>
          <a:ln w="26610">
            <a:solidFill>
              <a:srgbClr val="E5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46797" y="5852822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200" y="0"/>
                </a:moveTo>
                <a:lnTo>
                  <a:pt x="63204" y="0"/>
                </a:lnTo>
                <a:lnTo>
                  <a:pt x="51020" y="48"/>
                </a:lnTo>
                <a:lnTo>
                  <a:pt x="11960" y="11997"/>
                </a:lnTo>
                <a:lnTo>
                  <a:pt x="0" y="50900"/>
                </a:lnTo>
                <a:lnTo>
                  <a:pt x="4" y="480809"/>
                </a:lnTo>
                <a:lnTo>
                  <a:pt x="11960" y="519713"/>
                </a:lnTo>
                <a:lnTo>
                  <a:pt x="50902" y="531661"/>
                </a:lnTo>
                <a:lnTo>
                  <a:pt x="62923" y="531710"/>
                </a:lnTo>
                <a:lnTo>
                  <a:pt x="468920" y="531710"/>
                </a:lnTo>
                <a:lnTo>
                  <a:pt x="513690" y="524910"/>
                </a:lnTo>
                <a:lnTo>
                  <a:pt x="531787" y="490341"/>
                </a:lnTo>
                <a:lnTo>
                  <a:pt x="532123" y="480809"/>
                </a:lnTo>
                <a:lnTo>
                  <a:pt x="532119" y="50900"/>
                </a:lnTo>
                <a:lnTo>
                  <a:pt x="520163" y="11997"/>
                </a:lnTo>
                <a:lnTo>
                  <a:pt x="481222" y="48"/>
                </a:lnTo>
                <a:lnTo>
                  <a:pt x="469200" y="0"/>
                </a:lnTo>
                <a:close/>
              </a:path>
            </a:pathLst>
          </a:custGeom>
          <a:solidFill>
            <a:srgbClr val="B9CF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389637" y="5852822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198" y="0"/>
                </a:moveTo>
                <a:lnTo>
                  <a:pt x="63205" y="0"/>
                </a:lnTo>
                <a:lnTo>
                  <a:pt x="51021" y="48"/>
                </a:lnTo>
                <a:lnTo>
                  <a:pt x="11961" y="11997"/>
                </a:lnTo>
                <a:lnTo>
                  <a:pt x="0" y="50900"/>
                </a:lnTo>
                <a:lnTo>
                  <a:pt x="4" y="480809"/>
                </a:lnTo>
                <a:lnTo>
                  <a:pt x="11961" y="519713"/>
                </a:lnTo>
                <a:lnTo>
                  <a:pt x="50902" y="531661"/>
                </a:lnTo>
                <a:lnTo>
                  <a:pt x="62923" y="531710"/>
                </a:lnTo>
                <a:lnTo>
                  <a:pt x="468922" y="531710"/>
                </a:lnTo>
                <a:lnTo>
                  <a:pt x="513691" y="524910"/>
                </a:lnTo>
                <a:lnTo>
                  <a:pt x="531786" y="490341"/>
                </a:lnTo>
                <a:lnTo>
                  <a:pt x="532122" y="480809"/>
                </a:lnTo>
                <a:lnTo>
                  <a:pt x="532118" y="50900"/>
                </a:lnTo>
                <a:lnTo>
                  <a:pt x="520164" y="11997"/>
                </a:lnTo>
                <a:lnTo>
                  <a:pt x="481222" y="48"/>
                </a:lnTo>
                <a:lnTo>
                  <a:pt x="469198" y="0"/>
                </a:lnTo>
                <a:close/>
              </a:path>
            </a:pathLst>
          </a:custGeom>
          <a:solidFill>
            <a:srgbClr val="E59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370062" y="4682575"/>
            <a:ext cx="1042669" cy="1196975"/>
          </a:xfrm>
          <a:custGeom>
            <a:avLst/>
            <a:gdLst/>
            <a:ahLst/>
            <a:cxnLst/>
            <a:rect l="l" t="t" r="r" b="b"/>
            <a:pathLst>
              <a:path w="1042670" h="1196975">
                <a:moveTo>
                  <a:pt x="0" y="0"/>
                </a:moveTo>
                <a:lnTo>
                  <a:pt x="0" y="929111"/>
                </a:lnTo>
                <a:lnTo>
                  <a:pt x="1042308" y="929111"/>
                </a:lnTo>
                <a:lnTo>
                  <a:pt x="1042308" y="1196395"/>
                </a:lnTo>
              </a:path>
            </a:pathLst>
          </a:custGeom>
          <a:ln w="26599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814093" y="4682575"/>
            <a:ext cx="668020" cy="1196975"/>
          </a:xfrm>
          <a:custGeom>
            <a:avLst/>
            <a:gdLst/>
            <a:ahLst/>
            <a:cxnLst/>
            <a:rect l="l" t="t" r="r" b="b"/>
            <a:pathLst>
              <a:path w="668020" h="1196975">
                <a:moveTo>
                  <a:pt x="0" y="0"/>
                </a:moveTo>
                <a:lnTo>
                  <a:pt x="0" y="801500"/>
                </a:lnTo>
                <a:lnTo>
                  <a:pt x="667606" y="801500"/>
                </a:lnTo>
                <a:lnTo>
                  <a:pt x="667606" y="1196395"/>
                </a:lnTo>
              </a:path>
            </a:pathLst>
          </a:custGeom>
          <a:ln w="26604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554261" y="4682575"/>
            <a:ext cx="233045" cy="1196975"/>
          </a:xfrm>
          <a:custGeom>
            <a:avLst/>
            <a:gdLst/>
            <a:ahLst/>
            <a:cxnLst/>
            <a:rect l="l" t="t" r="r" b="b"/>
            <a:pathLst>
              <a:path w="233045" h="1196975">
                <a:moveTo>
                  <a:pt x="232880" y="0"/>
                </a:moveTo>
                <a:lnTo>
                  <a:pt x="232880" y="743012"/>
                </a:lnTo>
                <a:lnTo>
                  <a:pt x="0" y="743012"/>
                </a:lnTo>
                <a:lnTo>
                  <a:pt x="0" y="1196395"/>
                </a:lnTo>
              </a:path>
            </a:pathLst>
          </a:custGeom>
          <a:ln w="26610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30318" y="4682575"/>
            <a:ext cx="657225" cy="1196975"/>
          </a:xfrm>
          <a:custGeom>
            <a:avLst/>
            <a:gdLst/>
            <a:ahLst/>
            <a:cxnLst/>
            <a:rect l="l" t="t" r="r" b="b"/>
            <a:pathLst>
              <a:path w="657225" h="1196975">
                <a:moveTo>
                  <a:pt x="656697" y="0"/>
                </a:moveTo>
                <a:lnTo>
                  <a:pt x="656697" y="801500"/>
                </a:lnTo>
                <a:lnTo>
                  <a:pt x="0" y="801500"/>
                </a:lnTo>
                <a:lnTo>
                  <a:pt x="0" y="1196395"/>
                </a:lnTo>
              </a:path>
            </a:pathLst>
          </a:custGeom>
          <a:ln w="26605">
            <a:solidFill>
              <a:srgbClr val="53928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335519" y="4682575"/>
            <a:ext cx="352425" cy="1196975"/>
          </a:xfrm>
          <a:custGeom>
            <a:avLst/>
            <a:gdLst/>
            <a:ahLst/>
            <a:cxnLst/>
            <a:rect l="l" t="t" r="r" b="b"/>
            <a:pathLst>
              <a:path w="352425" h="1196975">
                <a:moveTo>
                  <a:pt x="0" y="0"/>
                </a:moveTo>
                <a:lnTo>
                  <a:pt x="0" y="743012"/>
                </a:lnTo>
                <a:lnTo>
                  <a:pt x="352250" y="743012"/>
                </a:lnTo>
                <a:lnTo>
                  <a:pt x="352250" y="1196395"/>
                </a:lnTo>
              </a:path>
            </a:pathLst>
          </a:custGeom>
          <a:ln w="26608">
            <a:solidFill>
              <a:srgbClr val="E5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393401" y="4682575"/>
            <a:ext cx="1213485" cy="1196975"/>
          </a:xfrm>
          <a:custGeom>
            <a:avLst/>
            <a:gdLst/>
            <a:ahLst/>
            <a:cxnLst/>
            <a:rect l="l" t="t" r="r" b="b"/>
            <a:pathLst>
              <a:path w="1213484" h="1196975">
                <a:moveTo>
                  <a:pt x="0" y="0"/>
                </a:moveTo>
                <a:lnTo>
                  <a:pt x="0" y="801500"/>
                </a:lnTo>
                <a:lnTo>
                  <a:pt x="1212995" y="801500"/>
                </a:lnTo>
                <a:lnTo>
                  <a:pt x="1212995" y="1196395"/>
                </a:lnTo>
              </a:path>
            </a:pathLst>
          </a:custGeom>
          <a:ln w="26598">
            <a:solidFill>
              <a:srgbClr val="E5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89187" y="4682575"/>
            <a:ext cx="1639570" cy="1196975"/>
          </a:xfrm>
          <a:custGeom>
            <a:avLst/>
            <a:gdLst/>
            <a:ahLst/>
            <a:cxnLst/>
            <a:rect l="l" t="t" r="r" b="b"/>
            <a:pathLst>
              <a:path w="1639570" h="1196975">
                <a:moveTo>
                  <a:pt x="0" y="0"/>
                </a:moveTo>
                <a:lnTo>
                  <a:pt x="0" y="945062"/>
                </a:lnTo>
                <a:lnTo>
                  <a:pt x="1639104" y="945062"/>
                </a:lnTo>
                <a:lnTo>
                  <a:pt x="1639104" y="1196395"/>
                </a:lnTo>
              </a:path>
            </a:pathLst>
          </a:custGeom>
          <a:ln w="26594">
            <a:solidFill>
              <a:srgbClr val="E59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365747" y="4682575"/>
            <a:ext cx="754380" cy="1196975"/>
          </a:xfrm>
          <a:custGeom>
            <a:avLst/>
            <a:gdLst/>
            <a:ahLst/>
            <a:cxnLst/>
            <a:rect l="l" t="t" r="r" b="b"/>
            <a:pathLst>
              <a:path w="754379" h="1196975">
                <a:moveTo>
                  <a:pt x="0" y="0"/>
                </a:moveTo>
                <a:lnTo>
                  <a:pt x="0" y="684524"/>
                </a:lnTo>
                <a:lnTo>
                  <a:pt x="377012" y="684524"/>
                </a:lnTo>
                <a:lnTo>
                  <a:pt x="754025" y="684524"/>
                </a:lnTo>
                <a:lnTo>
                  <a:pt x="754025" y="1196395"/>
                </a:lnTo>
              </a:path>
            </a:pathLst>
          </a:custGeom>
          <a:ln w="26603">
            <a:solidFill>
              <a:srgbClr val="BD1A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53030" y="4682575"/>
            <a:ext cx="373380" cy="1196975"/>
          </a:xfrm>
          <a:custGeom>
            <a:avLst/>
            <a:gdLst/>
            <a:ahLst/>
            <a:cxnLst/>
            <a:rect l="l" t="t" r="r" b="b"/>
            <a:pathLst>
              <a:path w="373379" h="1196975">
                <a:moveTo>
                  <a:pt x="373092" y="0"/>
                </a:moveTo>
                <a:lnTo>
                  <a:pt x="373092" y="684524"/>
                </a:lnTo>
                <a:lnTo>
                  <a:pt x="186546" y="684524"/>
                </a:lnTo>
                <a:lnTo>
                  <a:pt x="0" y="684524"/>
                </a:lnTo>
                <a:lnTo>
                  <a:pt x="0" y="1196395"/>
                </a:lnTo>
              </a:path>
            </a:pathLst>
          </a:custGeom>
          <a:ln w="26608">
            <a:solidFill>
              <a:srgbClr val="BD1A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523047" y="4682575"/>
            <a:ext cx="746760" cy="1196975"/>
          </a:xfrm>
          <a:custGeom>
            <a:avLst/>
            <a:gdLst/>
            <a:ahLst/>
            <a:cxnLst/>
            <a:rect l="l" t="t" r="r" b="b"/>
            <a:pathLst>
              <a:path w="746760" h="1196975">
                <a:moveTo>
                  <a:pt x="746552" y="0"/>
                </a:moveTo>
                <a:lnTo>
                  <a:pt x="746552" y="743012"/>
                </a:lnTo>
                <a:lnTo>
                  <a:pt x="0" y="743012"/>
                </a:lnTo>
                <a:lnTo>
                  <a:pt x="0" y="1196395"/>
                </a:lnTo>
              </a:path>
            </a:pathLst>
          </a:custGeom>
          <a:ln w="26603">
            <a:solidFill>
              <a:srgbClr val="BD1A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323119" y="4605934"/>
            <a:ext cx="0" cy="1273175"/>
          </a:xfrm>
          <a:custGeom>
            <a:avLst/>
            <a:gdLst/>
            <a:ahLst/>
            <a:cxnLst/>
            <a:rect l="l" t="t" r="r" b="b"/>
            <a:pathLst>
              <a:path w="0" h="1273175">
                <a:moveTo>
                  <a:pt x="0" y="0"/>
                </a:moveTo>
                <a:lnTo>
                  <a:pt x="0" y="1273036"/>
                </a:lnTo>
              </a:path>
            </a:pathLst>
          </a:custGeom>
          <a:ln w="26610">
            <a:solidFill>
              <a:srgbClr val="BD1A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046797" y="5852822"/>
            <a:ext cx="532130" cy="532130"/>
          </a:xfrm>
          <a:custGeom>
            <a:avLst/>
            <a:gdLst/>
            <a:ahLst/>
            <a:cxnLst/>
            <a:rect l="l" t="t" r="r" b="b"/>
            <a:pathLst>
              <a:path w="532129" h="532129">
                <a:moveTo>
                  <a:pt x="469200" y="0"/>
                </a:moveTo>
                <a:lnTo>
                  <a:pt x="63204" y="0"/>
                </a:lnTo>
                <a:lnTo>
                  <a:pt x="51020" y="48"/>
                </a:lnTo>
                <a:lnTo>
                  <a:pt x="11960" y="11997"/>
                </a:lnTo>
                <a:lnTo>
                  <a:pt x="0" y="50900"/>
                </a:lnTo>
                <a:lnTo>
                  <a:pt x="4" y="480809"/>
                </a:lnTo>
                <a:lnTo>
                  <a:pt x="11960" y="519713"/>
                </a:lnTo>
                <a:lnTo>
                  <a:pt x="50902" y="531661"/>
                </a:lnTo>
                <a:lnTo>
                  <a:pt x="62923" y="531710"/>
                </a:lnTo>
                <a:lnTo>
                  <a:pt x="468920" y="531710"/>
                </a:lnTo>
                <a:lnTo>
                  <a:pt x="513690" y="524910"/>
                </a:lnTo>
                <a:lnTo>
                  <a:pt x="531787" y="490341"/>
                </a:lnTo>
                <a:lnTo>
                  <a:pt x="532123" y="480809"/>
                </a:lnTo>
                <a:lnTo>
                  <a:pt x="532119" y="50900"/>
                </a:lnTo>
                <a:lnTo>
                  <a:pt x="520163" y="11997"/>
                </a:lnTo>
                <a:lnTo>
                  <a:pt x="481222" y="48"/>
                </a:lnTo>
                <a:lnTo>
                  <a:pt x="469200" y="0"/>
                </a:lnTo>
                <a:close/>
              </a:path>
            </a:pathLst>
          </a:custGeom>
          <a:solidFill>
            <a:srgbClr val="BD1A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07536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90" y="322813"/>
                </a:lnTo>
                <a:lnTo>
                  <a:pt x="60980" y="361204"/>
                </a:lnTo>
                <a:lnTo>
                  <a:pt x="99408" y="391664"/>
                </a:lnTo>
                <a:lnTo>
                  <a:pt x="142346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1" y="391664"/>
                </a:lnTo>
                <a:lnTo>
                  <a:pt x="361549" y="361204"/>
                </a:lnTo>
                <a:lnTo>
                  <a:pt x="392039" y="322813"/>
                </a:lnTo>
                <a:lnTo>
                  <a:pt x="412366" y="279915"/>
                </a:lnTo>
                <a:lnTo>
                  <a:pt x="422530" y="234314"/>
                </a:lnTo>
                <a:lnTo>
                  <a:pt x="422530" y="187811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104948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9" y="0"/>
                </a:moveTo>
                <a:lnTo>
                  <a:pt x="187992" y="0"/>
                </a:lnTo>
                <a:lnTo>
                  <a:pt x="142347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90" y="322813"/>
                </a:lnTo>
                <a:lnTo>
                  <a:pt x="60980" y="361204"/>
                </a:lnTo>
                <a:lnTo>
                  <a:pt x="99408" y="391664"/>
                </a:lnTo>
                <a:lnTo>
                  <a:pt x="142347" y="411971"/>
                </a:lnTo>
                <a:lnTo>
                  <a:pt x="187992" y="422125"/>
                </a:lnTo>
                <a:lnTo>
                  <a:pt x="234539" y="422125"/>
                </a:lnTo>
                <a:lnTo>
                  <a:pt x="280184" y="411971"/>
                </a:lnTo>
                <a:lnTo>
                  <a:pt x="323122" y="391664"/>
                </a:lnTo>
                <a:lnTo>
                  <a:pt x="361551" y="361204"/>
                </a:lnTo>
                <a:lnTo>
                  <a:pt x="392040" y="322813"/>
                </a:lnTo>
                <a:lnTo>
                  <a:pt x="412367" y="279915"/>
                </a:lnTo>
                <a:lnTo>
                  <a:pt x="422530" y="234314"/>
                </a:lnTo>
                <a:lnTo>
                  <a:pt x="422530" y="187811"/>
                </a:lnTo>
                <a:lnTo>
                  <a:pt x="412367" y="142210"/>
                </a:lnTo>
                <a:lnTo>
                  <a:pt x="392040" y="99312"/>
                </a:lnTo>
                <a:lnTo>
                  <a:pt x="361551" y="60921"/>
                </a:lnTo>
                <a:lnTo>
                  <a:pt x="323122" y="30460"/>
                </a:lnTo>
                <a:lnTo>
                  <a:pt x="280184" y="10153"/>
                </a:lnTo>
                <a:lnTo>
                  <a:pt x="234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602359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90" y="322813"/>
                </a:lnTo>
                <a:lnTo>
                  <a:pt x="60980" y="361204"/>
                </a:lnTo>
                <a:lnTo>
                  <a:pt x="99408" y="391664"/>
                </a:lnTo>
                <a:lnTo>
                  <a:pt x="142346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1" y="391664"/>
                </a:lnTo>
                <a:lnTo>
                  <a:pt x="361549" y="361204"/>
                </a:lnTo>
                <a:lnTo>
                  <a:pt x="392039" y="322813"/>
                </a:lnTo>
                <a:lnTo>
                  <a:pt x="412366" y="279915"/>
                </a:lnTo>
                <a:lnTo>
                  <a:pt x="422530" y="234314"/>
                </a:lnTo>
                <a:lnTo>
                  <a:pt x="422530" y="187811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099771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90" y="322813"/>
                </a:lnTo>
                <a:lnTo>
                  <a:pt x="60980" y="361204"/>
                </a:lnTo>
                <a:lnTo>
                  <a:pt x="99408" y="391664"/>
                </a:lnTo>
                <a:lnTo>
                  <a:pt x="142346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1" y="391664"/>
                </a:lnTo>
                <a:lnTo>
                  <a:pt x="361549" y="361204"/>
                </a:lnTo>
                <a:lnTo>
                  <a:pt x="392039" y="322813"/>
                </a:lnTo>
                <a:lnTo>
                  <a:pt x="412366" y="279915"/>
                </a:lnTo>
                <a:lnTo>
                  <a:pt x="422530" y="234314"/>
                </a:lnTo>
                <a:lnTo>
                  <a:pt x="422530" y="187811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597182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90" y="322813"/>
                </a:lnTo>
                <a:lnTo>
                  <a:pt x="60980" y="361204"/>
                </a:lnTo>
                <a:lnTo>
                  <a:pt x="99408" y="391664"/>
                </a:lnTo>
                <a:lnTo>
                  <a:pt x="142346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1" y="391664"/>
                </a:lnTo>
                <a:lnTo>
                  <a:pt x="361549" y="361204"/>
                </a:lnTo>
                <a:lnTo>
                  <a:pt x="392039" y="322813"/>
                </a:lnTo>
                <a:lnTo>
                  <a:pt x="412366" y="279915"/>
                </a:lnTo>
                <a:lnTo>
                  <a:pt x="422530" y="234314"/>
                </a:lnTo>
                <a:lnTo>
                  <a:pt x="422530" y="187811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94594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7" y="391664"/>
                </a:lnTo>
                <a:lnTo>
                  <a:pt x="142346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1" y="391664"/>
                </a:lnTo>
                <a:lnTo>
                  <a:pt x="361549" y="361204"/>
                </a:lnTo>
                <a:lnTo>
                  <a:pt x="392039" y="322813"/>
                </a:lnTo>
                <a:lnTo>
                  <a:pt x="412366" y="279915"/>
                </a:lnTo>
                <a:lnTo>
                  <a:pt x="422529" y="234314"/>
                </a:lnTo>
                <a:lnTo>
                  <a:pt x="422529" y="187811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92005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7" y="391664"/>
                </a:lnTo>
                <a:lnTo>
                  <a:pt x="142346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2" y="391664"/>
                </a:lnTo>
                <a:lnTo>
                  <a:pt x="361550" y="361204"/>
                </a:lnTo>
                <a:lnTo>
                  <a:pt x="392040" y="322813"/>
                </a:lnTo>
                <a:lnTo>
                  <a:pt x="412366" y="279915"/>
                </a:lnTo>
                <a:lnTo>
                  <a:pt x="422529" y="234314"/>
                </a:lnTo>
                <a:lnTo>
                  <a:pt x="422529" y="187811"/>
                </a:lnTo>
                <a:lnTo>
                  <a:pt x="412366" y="142210"/>
                </a:lnTo>
                <a:lnTo>
                  <a:pt x="392040" y="99312"/>
                </a:lnTo>
                <a:lnTo>
                  <a:pt x="361550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9417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7" y="391664"/>
                </a:lnTo>
                <a:lnTo>
                  <a:pt x="142346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1" y="391664"/>
                </a:lnTo>
                <a:lnTo>
                  <a:pt x="361549" y="361204"/>
                </a:lnTo>
                <a:lnTo>
                  <a:pt x="392039" y="322813"/>
                </a:lnTo>
                <a:lnTo>
                  <a:pt x="412366" y="279915"/>
                </a:lnTo>
                <a:lnTo>
                  <a:pt x="422529" y="234314"/>
                </a:lnTo>
                <a:lnTo>
                  <a:pt x="422529" y="187811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49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633422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5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7" y="391664"/>
                </a:lnTo>
                <a:lnTo>
                  <a:pt x="142345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2" y="391664"/>
                </a:lnTo>
                <a:lnTo>
                  <a:pt x="361550" y="361204"/>
                </a:lnTo>
                <a:lnTo>
                  <a:pt x="392039" y="322813"/>
                </a:lnTo>
                <a:lnTo>
                  <a:pt x="412366" y="279915"/>
                </a:lnTo>
                <a:lnTo>
                  <a:pt x="422529" y="234314"/>
                </a:lnTo>
                <a:lnTo>
                  <a:pt x="422529" y="187811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50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130837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5" y="0"/>
                </a:moveTo>
                <a:lnTo>
                  <a:pt x="187989" y="0"/>
                </a:lnTo>
                <a:lnTo>
                  <a:pt x="142344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7" y="391664"/>
                </a:lnTo>
                <a:lnTo>
                  <a:pt x="142344" y="411971"/>
                </a:lnTo>
                <a:lnTo>
                  <a:pt x="187989" y="422125"/>
                </a:lnTo>
                <a:lnTo>
                  <a:pt x="234535" y="422125"/>
                </a:lnTo>
                <a:lnTo>
                  <a:pt x="280179" y="411971"/>
                </a:lnTo>
                <a:lnTo>
                  <a:pt x="323117" y="391664"/>
                </a:lnTo>
                <a:lnTo>
                  <a:pt x="361545" y="361204"/>
                </a:lnTo>
                <a:lnTo>
                  <a:pt x="392036" y="322813"/>
                </a:lnTo>
                <a:lnTo>
                  <a:pt x="412364" y="279915"/>
                </a:lnTo>
                <a:lnTo>
                  <a:pt x="422528" y="234314"/>
                </a:lnTo>
                <a:lnTo>
                  <a:pt x="422528" y="187811"/>
                </a:lnTo>
                <a:lnTo>
                  <a:pt x="412364" y="142210"/>
                </a:lnTo>
                <a:lnTo>
                  <a:pt x="392036" y="99312"/>
                </a:lnTo>
                <a:lnTo>
                  <a:pt x="361545" y="60921"/>
                </a:lnTo>
                <a:lnTo>
                  <a:pt x="323117" y="30460"/>
                </a:lnTo>
                <a:lnTo>
                  <a:pt x="280179" y="10153"/>
                </a:lnTo>
                <a:lnTo>
                  <a:pt x="2345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628246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5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7" y="391664"/>
                </a:lnTo>
                <a:lnTo>
                  <a:pt x="142345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2" y="391664"/>
                </a:lnTo>
                <a:lnTo>
                  <a:pt x="361550" y="361204"/>
                </a:lnTo>
                <a:lnTo>
                  <a:pt x="392039" y="322813"/>
                </a:lnTo>
                <a:lnTo>
                  <a:pt x="412366" y="279915"/>
                </a:lnTo>
                <a:lnTo>
                  <a:pt x="422529" y="234314"/>
                </a:lnTo>
                <a:lnTo>
                  <a:pt x="422529" y="187811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50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125656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9" y="0"/>
                </a:moveTo>
                <a:lnTo>
                  <a:pt x="187992" y="0"/>
                </a:lnTo>
                <a:lnTo>
                  <a:pt x="142348" y="10153"/>
                </a:lnTo>
                <a:lnTo>
                  <a:pt x="99410" y="30460"/>
                </a:lnTo>
                <a:lnTo>
                  <a:pt x="60983" y="60921"/>
                </a:lnTo>
                <a:lnTo>
                  <a:pt x="30491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91" y="322813"/>
                </a:lnTo>
                <a:lnTo>
                  <a:pt x="60983" y="361204"/>
                </a:lnTo>
                <a:lnTo>
                  <a:pt x="99410" y="391664"/>
                </a:lnTo>
                <a:lnTo>
                  <a:pt x="142348" y="411971"/>
                </a:lnTo>
                <a:lnTo>
                  <a:pt x="187992" y="422125"/>
                </a:lnTo>
                <a:lnTo>
                  <a:pt x="234539" y="422125"/>
                </a:lnTo>
                <a:lnTo>
                  <a:pt x="280183" y="411971"/>
                </a:lnTo>
                <a:lnTo>
                  <a:pt x="323121" y="391664"/>
                </a:lnTo>
                <a:lnTo>
                  <a:pt x="361548" y="361204"/>
                </a:lnTo>
                <a:lnTo>
                  <a:pt x="392038" y="322813"/>
                </a:lnTo>
                <a:lnTo>
                  <a:pt x="412364" y="279915"/>
                </a:lnTo>
                <a:lnTo>
                  <a:pt x="422528" y="234314"/>
                </a:lnTo>
                <a:lnTo>
                  <a:pt x="422528" y="187811"/>
                </a:lnTo>
                <a:lnTo>
                  <a:pt x="412364" y="142210"/>
                </a:lnTo>
                <a:lnTo>
                  <a:pt x="392038" y="99312"/>
                </a:lnTo>
                <a:lnTo>
                  <a:pt x="361548" y="60921"/>
                </a:lnTo>
                <a:lnTo>
                  <a:pt x="323121" y="30460"/>
                </a:lnTo>
                <a:lnTo>
                  <a:pt x="280183" y="10153"/>
                </a:lnTo>
                <a:lnTo>
                  <a:pt x="234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623068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09" h="422275">
                <a:moveTo>
                  <a:pt x="234538" y="0"/>
                </a:moveTo>
                <a:lnTo>
                  <a:pt x="187991" y="0"/>
                </a:lnTo>
                <a:lnTo>
                  <a:pt x="142345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7" y="391664"/>
                </a:lnTo>
                <a:lnTo>
                  <a:pt x="142345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2" y="391664"/>
                </a:lnTo>
                <a:lnTo>
                  <a:pt x="361550" y="361204"/>
                </a:lnTo>
                <a:lnTo>
                  <a:pt x="392039" y="322813"/>
                </a:lnTo>
                <a:lnTo>
                  <a:pt x="412366" y="279915"/>
                </a:lnTo>
                <a:lnTo>
                  <a:pt x="422529" y="234314"/>
                </a:lnTo>
                <a:lnTo>
                  <a:pt x="422529" y="187811"/>
                </a:lnTo>
                <a:lnTo>
                  <a:pt x="412366" y="142210"/>
                </a:lnTo>
                <a:lnTo>
                  <a:pt x="392039" y="99312"/>
                </a:lnTo>
                <a:lnTo>
                  <a:pt x="361550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617891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9" y="0"/>
                </a:moveTo>
                <a:lnTo>
                  <a:pt x="187992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7" y="391664"/>
                </a:lnTo>
                <a:lnTo>
                  <a:pt x="142346" y="411971"/>
                </a:lnTo>
                <a:lnTo>
                  <a:pt x="187992" y="422125"/>
                </a:lnTo>
                <a:lnTo>
                  <a:pt x="234539" y="422125"/>
                </a:lnTo>
                <a:lnTo>
                  <a:pt x="280184" y="411971"/>
                </a:lnTo>
                <a:lnTo>
                  <a:pt x="323123" y="391664"/>
                </a:lnTo>
                <a:lnTo>
                  <a:pt x="361551" y="361204"/>
                </a:lnTo>
                <a:lnTo>
                  <a:pt x="392041" y="322813"/>
                </a:lnTo>
                <a:lnTo>
                  <a:pt x="412367" y="279915"/>
                </a:lnTo>
                <a:lnTo>
                  <a:pt x="422530" y="234314"/>
                </a:lnTo>
                <a:lnTo>
                  <a:pt x="422530" y="187811"/>
                </a:lnTo>
                <a:lnTo>
                  <a:pt x="412367" y="142210"/>
                </a:lnTo>
                <a:lnTo>
                  <a:pt x="392041" y="99312"/>
                </a:lnTo>
                <a:lnTo>
                  <a:pt x="361551" y="60921"/>
                </a:lnTo>
                <a:lnTo>
                  <a:pt x="323123" y="30460"/>
                </a:lnTo>
                <a:lnTo>
                  <a:pt x="280184" y="10153"/>
                </a:lnTo>
                <a:lnTo>
                  <a:pt x="234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115300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41" y="0"/>
                </a:moveTo>
                <a:lnTo>
                  <a:pt x="187994" y="0"/>
                </a:lnTo>
                <a:lnTo>
                  <a:pt x="142349" y="10153"/>
                </a:lnTo>
                <a:lnTo>
                  <a:pt x="99409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9" y="391664"/>
                </a:lnTo>
                <a:lnTo>
                  <a:pt x="142349" y="411971"/>
                </a:lnTo>
                <a:lnTo>
                  <a:pt x="187994" y="422125"/>
                </a:lnTo>
                <a:lnTo>
                  <a:pt x="234541" y="422125"/>
                </a:lnTo>
                <a:lnTo>
                  <a:pt x="280185" y="411971"/>
                </a:lnTo>
                <a:lnTo>
                  <a:pt x="323123" y="391664"/>
                </a:lnTo>
                <a:lnTo>
                  <a:pt x="361551" y="361204"/>
                </a:lnTo>
                <a:lnTo>
                  <a:pt x="392041" y="322813"/>
                </a:lnTo>
                <a:lnTo>
                  <a:pt x="412367" y="279915"/>
                </a:lnTo>
                <a:lnTo>
                  <a:pt x="422530" y="234314"/>
                </a:lnTo>
                <a:lnTo>
                  <a:pt x="422530" y="187811"/>
                </a:lnTo>
                <a:lnTo>
                  <a:pt x="412367" y="142210"/>
                </a:lnTo>
                <a:lnTo>
                  <a:pt x="392041" y="99312"/>
                </a:lnTo>
                <a:lnTo>
                  <a:pt x="361551" y="60921"/>
                </a:lnTo>
                <a:lnTo>
                  <a:pt x="323123" y="30460"/>
                </a:lnTo>
                <a:lnTo>
                  <a:pt x="280185" y="10153"/>
                </a:lnTo>
                <a:lnTo>
                  <a:pt x="234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612714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9" y="0"/>
                </a:moveTo>
                <a:lnTo>
                  <a:pt x="187992" y="0"/>
                </a:lnTo>
                <a:lnTo>
                  <a:pt x="142346" y="10153"/>
                </a:lnTo>
                <a:lnTo>
                  <a:pt x="99407" y="30460"/>
                </a:lnTo>
                <a:lnTo>
                  <a:pt x="60979" y="60921"/>
                </a:lnTo>
                <a:lnTo>
                  <a:pt x="30489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89" y="322813"/>
                </a:lnTo>
                <a:lnTo>
                  <a:pt x="60979" y="361204"/>
                </a:lnTo>
                <a:lnTo>
                  <a:pt x="99407" y="391664"/>
                </a:lnTo>
                <a:lnTo>
                  <a:pt x="142346" y="411971"/>
                </a:lnTo>
                <a:lnTo>
                  <a:pt x="187992" y="422125"/>
                </a:lnTo>
                <a:lnTo>
                  <a:pt x="234539" y="422125"/>
                </a:lnTo>
                <a:lnTo>
                  <a:pt x="280184" y="411971"/>
                </a:lnTo>
                <a:lnTo>
                  <a:pt x="323123" y="391664"/>
                </a:lnTo>
                <a:lnTo>
                  <a:pt x="361551" y="361204"/>
                </a:lnTo>
                <a:lnTo>
                  <a:pt x="392041" y="322813"/>
                </a:lnTo>
                <a:lnTo>
                  <a:pt x="412367" y="279915"/>
                </a:lnTo>
                <a:lnTo>
                  <a:pt x="422530" y="234314"/>
                </a:lnTo>
                <a:lnTo>
                  <a:pt x="422530" y="187811"/>
                </a:lnTo>
                <a:lnTo>
                  <a:pt x="412367" y="142210"/>
                </a:lnTo>
                <a:lnTo>
                  <a:pt x="392041" y="99312"/>
                </a:lnTo>
                <a:lnTo>
                  <a:pt x="361551" y="60921"/>
                </a:lnTo>
                <a:lnTo>
                  <a:pt x="323123" y="30460"/>
                </a:lnTo>
                <a:lnTo>
                  <a:pt x="280184" y="10153"/>
                </a:lnTo>
                <a:lnTo>
                  <a:pt x="2345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110125" y="4297517"/>
            <a:ext cx="422909" cy="422275"/>
          </a:xfrm>
          <a:custGeom>
            <a:avLst/>
            <a:gdLst/>
            <a:ahLst/>
            <a:cxnLst/>
            <a:rect l="l" t="t" r="r" b="b"/>
            <a:pathLst>
              <a:path w="422910" h="422275">
                <a:moveTo>
                  <a:pt x="234538" y="0"/>
                </a:moveTo>
                <a:lnTo>
                  <a:pt x="187991" y="0"/>
                </a:lnTo>
                <a:lnTo>
                  <a:pt x="142346" y="10153"/>
                </a:lnTo>
                <a:lnTo>
                  <a:pt x="99408" y="30460"/>
                </a:lnTo>
                <a:lnTo>
                  <a:pt x="60980" y="60921"/>
                </a:lnTo>
                <a:lnTo>
                  <a:pt x="30490" y="99312"/>
                </a:lnTo>
                <a:lnTo>
                  <a:pt x="10163" y="142210"/>
                </a:lnTo>
                <a:lnTo>
                  <a:pt x="0" y="187811"/>
                </a:lnTo>
                <a:lnTo>
                  <a:pt x="0" y="234314"/>
                </a:lnTo>
                <a:lnTo>
                  <a:pt x="10163" y="279915"/>
                </a:lnTo>
                <a:lnTo>
                  <a:pt x="30490" y="322813"/>
                </a:lnTo>
                <a:lnTo>
                  <a:pt x="60980" y="361204"/>
                </a:lnTo>
                <a:lnTo>
                  <a:pt x="99408" y="391664"/>
                </a:lnTo>
                <a:lnTo>
                  <a:pt x="142346" y="411971"/>
                </a:lnTo>
                <a:lnTo>
                  <a:pt x="187991" y="422125"/>
                </a:lnTo>
                <a:lnTo>
                  <a:pt x="234538" y="422125"/>
                </a:lnTo>
                <a:lnTo>
                  <a:pt x="280183" y="411971"/>
                </a:lnTo>
                <a:lnTo>
                  <a:pt x="323122" y="391664"/>
                </a:lnTo>
                <a:lnTo>
                  <a:pt x="361551" y="361204"/>
                </a:lnTo>
                <a:lnTo>
                  <a:pt x="392040" y="322813"/>
                </a:lnTo>
                <a:lnTo>
                  <a:pt x="412367" y="279915"/>
                </a:lnTo>
                <a:lnTo>
                  <a:pt x="422530" y="234314"/>
                </a:lnTo>
                <a:lnTo>
                  <a:pt x="422530" y="187811"/>
                </a:lnTo>
                <a:lnTo>
                  <a:pt x="412367" y="142210"/>
                </a:lnTo>
                <a:lnTo>
                  <a:pt x="392040" y="99312"/>
                </a:lnTo>
                <a:lnTo>
                  <a:pt x="361551" y="60921"/>
                </a:lnTo>
                <a:lnTo>
                  <a:pt x="323122" y="30460"/>
                </a:lnTo>
                <a:lnTo>
                  <a:pt x="280183" y="10153"/>
                </a:lnTo>
                <a:lnTo>
                  <a:pt x="234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123884" y="4303540"/>
            <a:ext cx="416678" cy="4150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273940" y="1998402"/>
            <a:ext cx="381000" cy="375285"/>
          </a:xfrm>
          <a:custGeom>
            <a:avLst/>
            <a:gdLst/>
            <a:ahLst/>
            <a:cxnLst/>
            <a:rect l="l" t="t" r="r" b="b"/>
            <a:pathLst>
              <a:path w="381000" h="375285">
                <a:moveTo>
                  <a:pt x="190500" y="0"/>
                </a:moveTo>
                <a:lnTo>
                  <a:pt x="139857" y="6699"/>
                </a:lnTo>
                <a:lnTo>
                  <a:pt x="94350" y="25604"/>
                </a:lnTo>
                <a:lnTo>
                  <a:pt x="55796" y="54929"/>
                </a:lnTo>
                <a:lnTo>
                  <a:pt x="26008" y="92884"/>
                </a:lnTo>
                <a:lnTo>
                  <a:pt x="6804" y="137684"/>
                </a:lnTo>
                <a:lnTo>
                  <a:pt x="0" y="187539"/>
                </a:lnTo>
                <a:lnTo>
                  <a:pt x="6804" y="237395"/>
                </a:lnTo>
                <a:lnTo>
                  <a:pt x="26008" y="282194"/>
                </a:lnTo>
                <a:lnTo>
                  <a:pt x="55796" y="320150"/>
                </a:lnTo>
                <a:lnTo>
                  <a:pt x="94350" y="349474"/>
                </a:lnTo>
                <a:lnTo>
                  <a:pt x="139857" y="368380"/>
                </a:lnTo>
                <a:lnTo>
                  <a:pt x="190500" y="375079"/>
                </a:lnTo>
                <a:lnTo>
                  <a:pt x="241142" y="368380"/>
                </a:lnTo>
                <a:lnTo>
                  <a:pt x="286649" y="349474"/>
                </a:lnTo>
                <a:lnTo>
                  <a:pt x="325203" y="320150"/>
                </a:lnTo>
                <a:lnTo>
                  <a:pt x="354991" y="282194"/>
                </a:lnTo>
                <a:lnTo>
                  <a:pt x="374195" y="237395"/>
                </a:lnTo>
                <a:lnTo>
                  <a:pt x="381000" y="187539"/>
                </a:lnTo>
                <a:lnTo>
                  <a:pt x="374195" y="137684"/>
                </a:lnTo>
                <a:lnTo>
                  <a:pt x="354991" y="92884"/>
                </a:lnTo>
                <a:lnTo>
                  <a:pt x="325203" y="54929"/>
                </a:lnTo>
                <a:lnTo>
                  <a:pt x="286649" y="25604"/>
                </a:lnTo>
                <a:lnTo>
                  <a:pt x="241142" y="6699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273940" y="1998402"/>
            <a:ext cx="381000" cy="375285"/>
          </a:xfrm>
          <a:custGeom>
            <a:avLst/>
            <a:gdLst/>
            <a:ahLst/>
            <a:cxnLst/>
            <a:rect l="l" t="t" r="r" b="b"/>
            <a:pathLst>
              <a:path w="381000" h="375285">
                <a:moveTo>
                  <a:pt x="0" y="187540"/>
                </a:moveTo>
                <a:lnTo>
                  <a:pt x="6804" y="137684"/>
                </a:lnTo>
                <a:lnTo>
                  <a:pt x="26008" y="92884"/>
                </a:lnTo>
                <a:lnTo>
                  <a:pt x="55796" y="54929"/>
                </a:lnTo>
                <a:lnTo>
                  <a:pt x="94351" y="25604"/>
                </a:lnTo>
                <a:lnTo>
                  <a:pt x="139857" y="6699"/>
                </a:lnTo>
                <a:lnTo>
                  <a:pt x="190500" y="0"/>
                </a:lnTo>
                <a:lnTo>
                  <a:pt x="241142" y="6699"/>
                </a:lnTo>
                <a:lnTo>
                  <a:pt x="286648" y="25604"/>
                </a:lnTo>
                <a:lnTo>
                  <a:pt x="325203" y="54929"/>
                </a:lnTo>
                <a:lnTo>
                  <a:pt x="354991" y="92884"/>
                </a:lnTo>
                <a:lnTo>
                  <a:pt x="374195" y="137684"/>
                </a:lnTo>
                <a:lnTo>
                  <a:pt x="381000" y="187540"/>
                </a:lnTo>
                <a:lnTo>
                  <a:pt x="374195" y="237395"/>
                </a:lnTo>
                <a:lnTo>
                  <a:pt x="354991" y="282195"/>
                </a:lnTo>
                <a:lnTo>
                  <a:pt x="325203" y="320150"/>
                </a:lnTo>
                <a:lnTo>
                  <a:pt x="286648" y="349475"/>
                </a:lnTo>
                <a:lnTo>
                  <a:pt x="241142" y="368380"/>
                </a:lnTo>
                <a:lnTo>
                  <a:pt x="190500" y="375080"/>
                </a:lnTo>
                <a:lnTo>
                  <a:pt x="139857" y="368380"/>
                </a:lnTo>
                <a:lnTo>
                  <a:pt x="94351" y="349475"/>
                </a:lnTo>
                <a:lnTo>
                  <a:pt x="55796" y="320150"/>
                </a:lnTo>
                <a:lnTo>
                  <a:pt x="26008" y="282195"/>
                </a:lnTo>
                <a:lnTo>
                  <a:pt x="6804" y="237395"/>
                </a:lnTo>
                <a:lnTo>
                  <a:pt x="0" y="18754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362840" y="2035555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558801" y="1950211"/>
            <a:ext cx="5400040" cy="19399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767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latin typeface="Arial"/>
                <a:cs typeface="Arial"/>
              </a:rPr>
              <a:t>item </a:t>
            </a:r>
            <a:r>
              <a:rPr dirty="0" sz="1800">
                <a:latin typeface="Arial"/>
                <a:cs typeface="Arial"/>
              </a:rPr>
              <a:t>= </a:t>
            </a:r>
            <a:r>
              <a:rPr dirty="0" sz="1800" spc="-5">
                <a:latin typeface="Arial"/>
                <a:cs typeface="Arial"/>
              </a:rPr>
              <a:t>QUERY_NODES.sample_by_weight( </a:t>
            </a:r>
            <a:r>
              <a:rPr dirty="0" sz="1800">
                <a:latin typeface="Arial"/>
                <a:cs typeface="Arial"/>
              </a:rPr>
              <a:t>)  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dirty="0" sz="1800">
                <a:latin typeface="Arial"/>
                <a:cs typeface="Arial"/>
              </a:rPr>
              <a:t>i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in </a:t>
            </a:r>
            <a:r>
              <a:rPr dirty="0" sz="1800" spc="-5">
                <a:latin typeface="Arial"/>
                <a:cs typeface="Arial"/>
              </a:rPr>
              <a:t>range( N_STEPS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):</a:t>
            </a:r>
            <a:endParaRPr sz="1800">
              <a:latin typeface="Arial"/>
              <a:cs typeface="Arial"/>
            </a:endParaRPr>
          </a:p>
          <a:p>
            <a:pPr marL="393700" marR="1346835">
              <a:lnSpc>
                <a:spcPts val="2110"/>
              </a:lnSpc>
              <a:spcBef>
                <a:spcPts val="70"/>
              </a:spcBef>
            </a:pPr>
            <a:r>
              <a:rPr dirty="0" sz="1800" spc="-5">
                <a:latin typeface="Arial"/>
                <a:cs typeface="Arial"/>
              </a:rPr>
              <a:t>user </a:t>
            </a:r>
            <a:r>
              <a:rPr dirty="0" sz="1800">
                <a:latin typeface="Arial"/>
                <a:cs typeface="Arial"/>
              </a:rPr>
              <a:t>= </a:t>
            </a:r>
            <a:r>
              <a:rPr dirty="0" sz="1800" spc="-5">
                <a:latin typeface="Arial"/>
                <a:cs typeface="Arial"/>
              </a:rPr>
              <a:t>item.get_random_neighbor( </a:t>
            </a:r>
            <a:r>
              <a:rPr dirty="0" sz="1800">
                <a:latin typeface="Arial"/>
                <a:cs typeface="Arial"/>
              </a:rPr>
              <a:t>)  </a:t>
            </a:r>
            <a:r>
              <a:rPr dirty="0" sz="1800" spc="-5">
                <a:latin typeface="Arial"/>
                <a:cs typeface="Arial"/>
              </a:rPr>
              <a:t>item </a:t>
            </a:r>
            <a:r>
              <a:rPr dirty="0" sz="1800">
                <a:latin typeface="Arial"/>
                <a:cs typeface="Arial"/>
              </a:rPr>
              <a:t>= </a:t>
            </a:r>
            <a:r>
              <a:rPr dirty="0" sz="1800" spc="-10">
                <a:latin typeface="Arial"/>
                <a:cs typeface="Arial"/>
              </a:rPr>
              <a:t>user.get_random_neighbor(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93700" marR="2769870">
              <a:lnSpc>
                <a:spcPts val="2180"/>
              </a:lnSpc>
              <a:spcBef>
                <a:spcPts val="40"/>
              </a:spcBef>
            </a:pPr>
            <a:r>
              <a:rPr dirty="0" sz="1800" spc="-5">
                <a:latin typeface="Arial"/>
                <a:cs typeface="Arial"/>
              </a:rPr>
              <a:t>item.visit_count +=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1  if </a:t>
            </a:r>
            <a:r>
              <a:rPr dirty="0" sz="1800" spc="-5">
                <a:latin typeface="Arial"/>
                <a:cs typeface="Arial"/>
              </a:rPr>
              <a:t>random( </a:t>
            </a:r>
            <a:r>
              <a:rPr dirty="0" sz="1800">
                <a:latin typeface="Arial"/>
                <a:cs typeface="Arial"/>
              </a:rPr>
              <a:t>) &lt;</a:t>
            </a:r>
            <a:r>
              <a:rPr dirty="0" sz="1800" spc="-1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ALPHA:</a:t>
            </a:r>
            <a:endParaRPr sz="1800">
              <a:latin typeface="Arial"/>
              <a:cs typeface="Arial"/>
            </a:endParaRPr>
          </a:p>
          <a:p>
            <a:pPr marL="774700">
              <a:lnSpc>
                <a:spcPts val="2035"/>
              </a:lnSpc>
            </a:pPr>
            <a:r>
              <a:rPr dirty="0" sz="1800" spc="-5">
                <a:latin typeface="Arial"/>
                <a:cs typeface="Arial"/>
              </a:rPr>
              <a:t>item </a:t>
            </a:r>
            <a:r>
              <a:rPr dirty="0" sz="1800">
                <a:latin typeface="Arial"/>
                <a:cs typeface="Arial"/>
              </a:rPr>
              <a:t>= </a:t>
            </a:r>
            <a:r>
              <a:rPr dirty="0" sz="1800" spc="-5">
                <a:latin typeface="Arial"/>
                <a:cs typeface="Arial"/>
              </a:rPr>
              <a:t>QUERY_NODES.sample.by_weight </a:t>
            </a:r>
            <a:r>
              <a:rPr dirty="0" sz="1800">
                <a:latin typeface="Arial"/>
                <a:cs typeface="Arial"/>
              </a:rPr>
              <a:t>(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126802" y="4324159"/>
            <a:ext cx="381000" cy="375285"/>
          </a:xfrm>
          <a:custGeom>
            <a:avLst/>
            <a:gdLst/>
            <a:ahLst/>
            <a:cxnLst/>
            <a:rect l="l" t="t" r="r" b="b"/>
            <a:pathLst>
              <a:path w="381000" h="375285">
                <a:moveTo>
                  <a:pt x="190500" y="0"/>
                </a:moveTo>
                <a:lnTo>
                  <a:pt x="139857" y="6699"/>
                </a:lnTo>
                <a:lnTo>
                  <a:pt x="94350" y="25604"/>
                </a:lnTo>
                <a:lnTo>
                  <a:pt x="55796" y="54928"/>
                </a:lnTo>
                <a:lnTo>
                  <a:pt x="26008" y="92884"/>
                </a:lnTo>
                <a:lnTo>
                  <a:pt x="6804" y="137683"/>
                </a:lnTo>
                <a:lnTo>
                  <a:pt x="0" y="187539"/>
                </a:lnTo>
                <a:lnTo>
                  <a:pt x="6804" y="237394"/>
                </a:lnTo>
                <a:lnTo>
                  <a:pt x="26008" y="282194"/>
                </a:lnTo>
                <a:lnTo>
                  <a:pt x="55796" y="320150"/>
                </a:lnTo>
                <a:lnTo>
                  <a:pt x="94350" y="349474"/>
                </a:lnTo>
                <a:lnTo>
                  <a:pt x="139857" y="368380"/>
                </a:lnTo>
                <a:lnTo>
                  <a:pt x="190500" y="375079"/>
                </a:lnTo>
                <a:lnTo>
                  <a:pt x="241142" y="368380"/>
                </a:lnTo>
                <a:lnTo>
                  <a:pt x="286649" y="349474"/>
                </a:lnTo>
                <a:lnTo>
                  <a:pt x="325203" y="320150"/>
                </a:lnTo>
                <a:lnTo>
                  <a:pt x="354991" y="282194"/>
                </a:lnTo>
                <a:lnTo>
                  <a:pt x="374195" y="237394"/>
                </a:lnTo>
                <a:lnTo>
                  <a:pt x="381000" y="187539"/>
                </a:lnTo>
                <a:lnTo>
                  <a:pt x="374195" y="137683"/>
                </a:lnTo>
                <a:lnTo>
                  <a:pt x="354991" y="92884"/>
                </a:lnTo>
                <a:lnTo>
                  <a:pt x="325203" y="54928"/>
                </a:lnTo>
                <a:lnTo>
                  <a:pt x="286649" y="25604"/>
                </a:lnTo>
                <a:lnTo>
                  <a:pt x="241142" y="6699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126802" y="4324159"/>
            <a:ext cx="381000" cy="375285"/>
          </a:xfrm>
          <a:custGeom>
            <a:avLst/>
            <a:gdLst/>
            <a:ahLst/>
            <a:cxnLst/>
            <a:rect l="l" t="t" r="r" b="b"/>
            <a:pathLst>
              <a:path w="381000" h="375285">
                <a:moveTo>
                  <a:pt x="0" y="187540"/>
                </a:moveTo>
                <a:lnTo>
                  <a:pt x="6804" y="137684"/>
                </a:lnTo>
                <a:lnTo>
                  <a:pt x="26008" y="92884"/>
                </a:lnTo>
                <a:lnTo>
                  <a:pt x="55796" y="54929"/>
                </a:lnTo>
                <a:lnTo>
                  <a:pt x="94351" y="25604"/>
                </a:lnTo>
                <a:lnTo>
                  <a:pt x="139857" y="6699"/>
                </a:lnTo>
                <a:lnTo>
                  <a:pt x="190500" y="0"/>
                </a:lnTo>
                <a:lnTo>
                  <a:pt x="241142" y="6699"/>
                </a:lnTo>
                <a:lnTo>
                  <a:pt x="286648" y="25604"/>
                </a:lnTo>
                <a:lnTo>
                  <a:pt x="325203" y="54929"/>
                </a:lnTo>
                <a:lnTo>
                  <a:pt x="354991" y="92884"/>
                </a:lnTo>
                <a:lnTo>
                  <a:pt x="374195" y="137684"/>
                </a:lnTo>
                <a:lnTo>
                  <a:pt x="381000" y="187540"/>
                </a:lnTo>
                <a:lnTo>
                  <a:pt x="374195" y="237395"/>
                </a:lnTo>
                <a:lnTo>
                  <a:pt x="354991" y="282195"/>
                </a:lnTo>
                <a:lnTo>
                  <a:pt x="325203" y="320150"/>
                </a:lnTo>
                <a:lnTo>
                  <a:pt x="286648" y="349475"/>
                </a:lnTo>
                <a:lnTo>
                  <a:pt x="241142" y="368380"/>
                </a:lnTo>
                <a:lnTo>
                  <a:pt x="190500" y="375080"/>
                </a:lnTo>
                <a:lnTo>
                  <a:pt x="139857" y="368380"/>
                </a:lnTo>
                <a:lnTo>
                  <a:pt x="94351" y="349475"/>
                </a:lnTo>
                <a:lnTo>
                  <a:pt x="55796" y="320150"/>
                </a:lnTo>
                <a:lnTo>
                  <a:pt x="26008" y="282195"/>
                </a:lnTo>
                <a:lnTo>
                  <a:pt x="6804" y="237395"/>
                </a:lnTo>
                <a:lnTo>
                  <a:pt x="0" y="18754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4215702" y="4361179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2673615" y="6699893"/>
            <a:ext cx="480377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Social and Information Network Analysis,</a:t>
            </a:r>
            <a:r>
              <a:rPr dirty="0" sz="900" spc="10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9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48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771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2133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Proximity to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query node(s)</a:t>
            </a:r>
            <a:r>
              <a:rPr dirty="0" spc="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i="1">
                <a:solidFill>
                  <a:srgbClr val="000000"/>
                </a:solidFill>
                <a:latin typeface="Calibri"/>
                <a:cs typeface="Calibri"/>
              </a:rPr>
              <a:t>Q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371172" y="2155158"/>
            <a:ext cx="1178083" cy="161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26131" y="1998402"/>
            <a:ext cx="269413" cy="5034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42602" y="1998402"/>
            <a:ext cx="233593" cy="5034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1172" y="1965585"/>
            <a:ext cx="1178083" cy="1612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5781" y="3861738"/>
            <a:ext cx="8976123" cy="23724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68259" y="6264453"/>
            <a:ext cx="688975" cy="140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40"/>
              </a:lnSpc>
            </a:pPr>
            <a:r>
              <a:rPr dirty="0" sz="900" spc="155" b="1">
                <a:latin typeface="Calibri"/>
                <a:cs typeface="Calibri"/>
              </a:rPr>
              <a:t>S</a:t>
            </a:r>
            <a:r>
              <a:rPr dirty="0" sz="900" spc="15" b="1">
                <a:latin typeface="Calibri"/>
                <a:cs typeface="Calibri"/>
              </a:rPr>
              <a:t>t</a:t>
            </a:r>
            <a:r>
              <a:rPr dirty="0" sz="900" spc="0" b="1">
                <a:latin typeface="Calibri"/>
                <a:cs typeface="Calibri"/>
              </a:rPr>
              <a:t>r</a:t>
            </a:r>
            <a:r>
              <a:rPr dirty="0" sz="900" spc="40" b="1">
                <a:latin typeface="Calibri"/>
                <a:cs typeface="Calibri"/>
              </a:rPr>
              <a:t>a</a:t>
            </a:r>
            <a:r>
              <a:rPr dirty="0" sz="900" spc="50" b="1">
                <a:latin typeface="Calibri"/>
                <a:cs typeface="Calibri"/>
              </a:rPr>
              <a:t>wberries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94041" y="6264453"/>
            <a:ext cx="572135" cy="140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40"/>
              </a:lnSpc>
            </a:pPr>
            <a:r>
              <a:rPr dirty="0" sz="900" spc="80" b="1">
                <a:latin typeface="Calibri"/>
                <a:cs typeface="Calibri"/>
              </a:rPr>
              <a:t>Smo</a:t>
            </a:r>
            <a:r>
              <a:rPr dirty="0" sz="900" spc="65" b="1">
                <a:latin typeface="Calibri"/>
                <a:cs typeface="Calibri"/>
              </a:rPr>
              <a:t>o</a:t>
            </a:r>
            <a:r>
              <a:rPr dirty="0" sz="900" spc="35" b="1">
                <a:latin typeface="Calibri"/>
                <a:cs typeface="Calibri"/>
              </a:rPr>
              <a:t>thies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33714" y="6264453"/>
            <a:ext cx="440055" cy="140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40"/>
              </a:lnSpc>
            </a:pPr>
            <a:r>
              <a:rPr dirty="0" sz="900" spc="70" b="1">
                <a:latin typeface="Calibri"/>
                <a:cs typeface="Calibri"/>
              </a:rPr>
              <a:t>Y</a:t>
            </a:r>
            <a:r>
              <a:rPr dirty="0" sz="900" spc="55" b="1">
                <a:latin typeface="Calibri"/>
                <a:cs typeface="Calibri"/>
              </a:rPr>
              <a:t>ummm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16101" y="6264453"/>
            <a:ext cx="1116330" cy="140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40"/>
              </a:lnSpc>
            </a:pPr>
            <a:r>
              <a:rPr dirty="0" sz="900" spc="80" b="1">
                <a:latin typeface="Calibri"/>
                <a:cs typeface="Calibri"/>
              </a:rPr>
              <a:t>Smo</a:t>
            </a:r>
            <a:r>
              <a:rPr dirty="0" sz="900" spc="65" b="1">
                <a:latin typeface="Calibri"/>
                <a:cs typeface="Calibri"/>
              </a:rPr>
              <a:t>o</a:t>
            </a:r>
            <a:r>
              <a:rPr dirty="0" sz="900" spc="25" b="1">
                <a:latin typeface="Calibri"/>
                <a:cs typeface="Calibri"/>
              </a:rPr>
              <a:t>thie</a:t>
            </a:r>
            <a:r>
              <a:rPr dirty="0" sz="900" spc="-65" b="1">
                <a:latin typeface="Calibri"/>
                <a:cs typeface="Calibri"/>
              </a:rPr>
              <a:t> </a:t>
            </a:r>
            <a:r>
              <a:rPr dirty="0" sz="900" spc="50" b="1">
                <a:latin typeface="Calibri"/>
                <a:cs typeface="Calibri"/>
              </a:rPr>
              <a:t>Madnes</a:t>
            </a:r>
            <a:r>
              <a:rPr dirty="0" sz="900" spc="-25" b="1">
                <a:latin typeface="Calibri"/>
                <a:cs typeface="Calibri"/>
              </a:rPr>
              <a:t>s!•!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123" y="3257803"/>
            <a:ext cx="295910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latin typeface="Arial"/>
                <a:cs typeface="Arial"/>
              </a:rPr>
              <a:t>Number </a:t>
            </a:r>
            <a:r>
              <a:rPr dirty="0" sz="1800" b="1">
                <a:latin typeface="Arial"/>
                <a:cs typeface="Arial"/>
              </a:rPr>
              <a:t>of </a:t>
            </a:r>
            <a:r>
              <a:rPr dirty="0" sz="1800" spc="-5" b="1">
                <a:latin typeface="Arial"/>
                <a:cs typeface="Arial"/>
              </a:rPr>
              <a:t>visits </a:t>
            </a:r>
            <a:r>
              <a:rPr dirty="0" sz="1800" b="1">
                <a:latin typeface="Arial"/>
                <a:cs typeface="Arial"/>
              </a:rPr>
              <a:t>by  </a:t>
            </a:r>
            <a:r>
              <a:rPr dirty="0" sz="1800" spc="-5" b="1">
                <a:latin typeface="Arial"/>
                <a:cs typeface="Arial"/>
              </a:rPr>
              <a:t>random </a:t>
            </a:r>
            <a:r>
              <a:rPr dirty="0" sz="1800" b="1">
                <a:latin typeface="Arial"/>
                <a:cs typeface="Arial"/>
              </a:rPr>
              <a:t>walks </a:t>
            </a:r>
            <a:r>
              <a:rPr dirty="0" sz="1800" spc="-5" b="1">
                <a:latin typeface="Arial"/>
                <a:cs typeface="Arial"/>
              </a:rPr>
              <a:t>starting at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58647" y="6256141"/>
            <a:ext cx="890269" cy="369570"/>
          </a:xfrm>
          <a:prstGeom prst="rect">
            <a:avLst/>
          </a:prstGeom>
          <a:solidFill>
            <a:srgbClr val="002060"/>
          </a:solidFill>
        </p:spPr>
        <p:txBody>
          <a:bodyPr wrap="square" lIns="0" tIns="4699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70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92247" y="6261583"/>
            <a:ext cx="890269" cy="369570"/>
          </a:xfrm>
          <a:prstGeom prst="rect">
            <a:avLst/>
          </a:prstGeom>
          <a:solidFill>
            <a:srgbClr val="002060"/>
          </a:solidFill>
        </p:spPr>
        <p:txBody>
          <a:bodyPr wrap="square" lIns="0" tIns="4445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0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48321" y="6256141"/>
            <a:ext cx="890269" cy="369570"/>
          </a:xfrm>
          <a:prstGeom prst="rect">
            <a:avLst/>
          </a:prstGeom>
          <a:solidFill>
            <a:srgbClr val="002060"/>
          </a:solidFill>
        </p:spPr>
        <p:txBody>
          <a:bodyPr wrap="square" lIns="0" tIns="4699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70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74153" y="6256141"/>
            <a:ext cx="1170305" cy="369570"/>
          </a:xfrm>
          <a:custGeom>
            <a:avLst/>
            <a:gdLst/>
            <a:ahLst/>
            <a:cxnLst/>
            <a:rect l="l" t="t" r="r" b="b"/>
            <a:pathLst>
              <a:path w="1170304" h="369570">
                <a:moveTo>
                  <a:pt x="0" y="0"/>
                </a:moveTo>
                <a:lnTo>
                  <a:pt x="1169846" y="0"/>
                </a:lnTo>
                <a:lnTo>
                  <a:pt x="1169846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52893" y="6290564"/>
            <a:ext cx="724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0071" y="1998074"/>
            <a:ext cx="381000" cy="375285"/>
          </a:xfrm>
          <a:custGeom>
            <a:avLst/>
            <a:gdLst/>
            <a:ahLst/>
            <a:cxnLst/>
            <a:rect l="l" t="t" r="r" b="b"/>
            <a:pathLst>
              <a:path w="381000" h="375285">
                <a:moveTo>
                  <a:pt x="190500" y="0"/>
                </a:moveTo>
                <a:lnTo>
                  <a:pt x="139857" y="6699"/>
                </a:lnTo>
                <a:lnTo>
                  <a:pt x="94351" y="25604"/>
                </a:lnTo>
                <a:lnTo>
                  <a:pt x="55796" y="54928"/>
                </a:lnTo>
                <a:lnTo>
                  <a:pt x="26009" y="92884"/>
                </a:lnTo>
                <a:lnTo>
                  <a:pt x="6804" y="137683"/>
                </a:lnTo>
                <a:lnTo>
                  <a:pt x="0" y="187539"/>
                </a:lnTo>
                <a:lnTo>
                  <a:pt x="6804" y="237394"/>
                </a:lnTo>
                <a:lnTo>
                  <a:pt x="26009" y="282194"/>
                </a:lnTo>
                <a:lnTo>
                  <a:pt x="55796" y="320150"/>
                </a:lnTo>
                <a:lnTo>
                  <a:pt x="94351" y="349474"/>
                </a:lnTo>
                <a:lnTo>
                  <a:pt x="139857" y="368380"/>
                </a:lnTo>
                <a:lnTo>
                  <a:pt x="190500" y="375079"/>
                </a:lnTo>
                <a:lnTo>
                  <a:pt x="241142" y="368380"/>
                </a:lnTo>
                <a:lnTo>
                  <a:pt x="286649" y="349474"/>
                </a:lnTo>
                <a:lnTo>
                  <a:pt x="325203" y="320150"/>
                </a:lnTo>
                <a:lnTo>
                  <a:pt x="354991" y="282194"/>
                </a:lnTo>
                <a:lnTo>
                  <a:pt x="374195" y="237394"/>
                </a:lnTo>
                <a:lnTo>
                  <a:pt x="381000" y="187539"/>
                </a:lnTo>
                <a:lnTo>
                  <a:pt x="374195" y="137683"/>
                </a:lnTo>
                <a:lnTo>
                  <a:pt x="354991" y="92884"/>
                </a:lnTo>
                <a:lnTo>
                  <a:pt x="325203" y="54928"/>
                </a:lnTo>
                <a:lnTo>
                  <a:pt x="286649" y="25604"/>
                </a:lnTo>
                <a:lnTo>
                  <a:pt x="241142" y="6699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80071" y="1998074"/>
            <a:ext cx="381000" cy="375285"/>
          </a:xfrm>
          <a:custGeom>
            <a:avLst/>
            <a:gdLst/>
            <a:ahLst/>
            <a:cxnLst/>
            <a:rect l="l" t="t" r="r" b="b"/>
            <a:pathLst>
              <a:path w="381000" h="375285">
                <a:moveTo>
                  <a:pt x="0" y="187540"/>
                </a:moveTo>
                <a:lnTo>
                  <a:pt x="6804" y="137684"/>
                </a:lnTo>
                <a:lnTo>
                  <a:pt x="26008" y="92884"/>
                </a:lnTo>
                <a:lnTo>
                  <a:pt x="55796" y="54929"/>
                </a:lnTo>
                <a:lnTo>
                  <a:pt x="94351" y="25604"/>
                </a:lnTo>
                <a:lnTo>
                  <a:pt x="139857" y="6699"/>
                </a:lnTo>
                <a:lnTo>
                  <a:pt x="190500" y="0"/>
                </a:lnTo>
                <a:lnTo>
                  <a:pt x="241142" y="6699"/>
                </a:lnTo>
                <a:lnTo>
                  <a:pt x="286648" y="25604"/>
                </a:lnTo>
                <a:lnTo>
                  <a:pt x="325203" y="54929"/>
                </a:lnTo>
                <a:lnTo>
                  <a:pt x="354991" y="92884"/>
                </a:lnTo>
                <a:lnTo>
                  <a:pt x="374195" y="137684"/>
                </a:lnTo>
                <a:lnTo>
                  <a:pt x="381000" y="187540"/>
                </a:lnTo>
                <a:lnTo>
                  <a:pt x="374195" y="237395"/>
                </a:lnTo>
                <a:lnTo>
                  <a:pt x="354991" y="282195"/>
                </a:lnTo>
                <a:lnTo>
                  <a:pt x="325203" y="320150"/>
                </a:lnTo>
                <a:lnTo>
                  <a:pt x="286648" y="349475"/>
                </a:lnTo>
                <a:lnTo>
                  <a:pt x="241142" y="368380"/>
                </a:lnTo>
                <a:lnTo>
                  <a:pt x="190500" y="375080"/>
                </a:lnTo>
                <a:lnTo>
                  <a:pt x="139857" y="368380"/>
                </a:lnTo>
                <a:lnTo>
                  <a:pt x="94351" y="349475"/>
                </a:lnTo>
                <a:lnTo>
                  <a:pt x="55796" y="320150"/>
                </a:lnTo>
                <a:lnTo>
                  <a:pt x="26008" y="282195"/>
                </a:lnTo>
                <a:lnTo>
                  <a:pt x="6804" y="237395"/>
                </a:lnTo>
                <a:lnTo>
                  <a:pt x="0" y="18754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368971" y="2035555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73615" y="6699893"/>
            <a:ext cx="480377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Social and Information Network Analysis,</a:t>
            </a:r>
            <a:r>
              <a:rPr dirty="0" sz="900" spc="10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8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9885" y="1950211"/>
            <a:ext cx="8758555" cy="293624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3371215" marR="767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latin typeface="Arial"/>
                <a:cs typeface="Arial"/>
              </a:rPr>
              <a:t>item </a:t>
            </a:r>
            <a:r>
              <a:rPr dirty="0" sz="1800">
                <a:latin typeface="Arial"/>
                <a:cs typeface="Arial"/>
              </a:rPr>
              <a:t>= </a:t>
            </a:r>
            <a:r>
              <a:rPr dirty="0" sz="1800" spc="-5">
                <a:latin typeface="Arial"/>
                <a:cs typeface="Arial"/>
              </a:rPr>
              <a:t>QUERY_NODES.sample_by_weight( </a:t>
            </a:r>
            <a:r>
              <a:rPr dirty="0" sz="1800">
                <a:latin typeface="Arial"/>
                <a:cs typeface="Arial"/>
              </a:rPr>
              <a:t>)  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dirty="0" sz="1800">
                <a:latin typeface="Arial"/>
                <a:cs typeface="Arial"/>
              </a:rPr>
              <a:t>i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in </a:t>
            </a:r>
            <a:r>
              <a:rPr dirty="0" sz="1800" spc="-5">
                <a:latin typeface="Arial"/>
                <a:cs typeface="Arial"/>
              </a:rPr>
              <a:t>range( N_STEPS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):</a:t>
            </a:r>
            <a:endParaRPr sz="1800">
              <a:latin typeface="Arial"/>
              <a:cs typeface="Arial"/>
            </a:endParaRPr>
          </a:p>
          <a:p>
            <a:pPr marL="3752215" marR="1346835">
              <a:lnSpc>
                <a:spcPts val="2110"/>
              </a:lnSpc>
              <a:spcBef>
                <a:spcPts val="70"/>
              </a:spcBef>
            </a:pPr>
            <a:r>
              <a:rPr dirty="0" sz="1800" spc="-5">
                <a:latin typeface="Arial"/>
                <a:cs typeface="Arial"/>
              </a:rPr>
              <a:t>user </a:t>
            </a:r>
            <a:r>
              <a:rPr dirty="0" sz="1800">
                <a:latin typeface="Arial"/>
                <a:cs typeface="Arial"/>
              </a:rPr>
              <a:t>= </a:t>
            </a:r>
            <a:r>
              <a:rPr dirty="0" sz="1800" spc="-5">
                <a:latin typeface="Arial"/>
                <a:cs typeface="Arial"/>
              </a:rPr>
              <a:t>item.get_random_neighbor( </a:t>
            </a:r>
            <a:r>
              <a:rPr dirty="0" sz="1800">
                <a:latin typeface="Arial"/>
                <a:cs typeface="Arial"/>
              </a:rPr>
              <a:t>)  </a:t>
            </a:r>
            <a:r>
              <a:rPr dirty="0" sz="1800" spc="-5">
                <a:latin typeface="Arial"/>
                <a:cs typeface="Arial"/>
              </a:rPr>
              <a:t>item </a:t>
            </a:r>
            <a:r>
              <a:rPr dirty="0" sz="1800">
                <a:latin typeface="Arial"/>
                <a:cs typeface="Arial"/>
              </a:rPr>
              <a:t>= </a:t>
            </a:r>
            <a:r>
              <a:rPr dirty="0" sz="1800" spc="-10">
                <a:latin typeface="Arial"/>
                <a:cs typeface="Arial"/>
              </a:rPr>
              <a:t>user.get_random_neighbor(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752215" marR="2769870">
              <a:lnSpc>
                <a:spcPts val="2180"/>
              </a:lnSpc>
              <a:spcBef>
                <a:spcPts val="40"/>
              </a:spcBef>
            </a:pPr>
            <a:r>
              <a:rPr dirty="0" sz="1800" spc="-5">
                <a:latin typeface="Arial"/>
                <a:cs typeface="Arial"/>
              </a:rPr>
              <a:t>item.visit_count += 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1  if </a:t>
            </a:r>
            <a:r>
              <a:rPr dirty="0" sz="1800" spc="-5">
                <a:latin typeface="Arial"/>
                <a:cs typeface="Arial"/>
              </a:rPr>
              <a:t>random( </a:t>
            </a:r>
            <a:r>
              <a:rPr dirty="0" sz="1800">
                <a:latin typeface="Arial"/>
                <a:cs typeface="Arial"/>
              </a:rPr>
              <a:t>) &lt;</a:t>
            </a:r>
            <a:r>
              <a:rPr dirty="0" sz="1800" spc="-1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ALPHA:</a:t>
            </a:r>
            <a:endParaRPr sz="1800">
              <a:latin typeface="Arial"/>
              <a:cs typeface="Arial"/>
            </a:endParaRPr>
          </a:p>
          <a:p>
            <a:pPr marL="4133215">
              <a:lnSpc>
                <a:spcPts val="2035"/>
              </a:lnSpc>
            </a:pPr>
            <a:r>
              <a:rPr dirty="0" sz="1800" spc="-5">
                <a:latin typeface="Arial"/>
                <a:cs typeface="Arial"/>
              </a:rPr>
              <a:t>item </a:t>
            </a:r>
            <a:r>
              <a:rPr dirty="0" sz="1800">
                <a:latin typeface="Arial"/>
                <a:cs typeface="Arial"/>
              </a:rPr>
              <a:t>= </a:t>
            </a:r>
            <a:r>
              <a:rPr dirty="0" sz="1800" spc="-5">
                <a:latin typeface="Arial"/>
                <a:cs typeface="Arial"/>
              </a:rPr>
              <a:t>QUERY_NODES.sample.by_weight </a:t>
            </a:r>
            <a:r>
              <a:rPr dirty="0" sz="1800">
                <a:latin typeface="Arial"/>
                <a:cs typeface="Arial"/>
              </a:rPr>
              <a:t>(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algn="ctr" marR="299085">
              <a:lnSpc>
                <a:spcPct val="100000"/>
              </a:lnSpc>
              <a:spcBef>
                <a:spcPts val="144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Query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Item</a:t>
            </a:r>
            <a:r>
              <a:rPr dirty="0" sz="18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  <a:tabLst>
                <a:tab pos="516890" algn="l"/>
                <a:tab pos="1016000" algn="l"/>
                <a:tab pos="1520825" algn="l"/>
                <a:tab pos="2025650" algn="l"/>
                <a:tab pos="2546350" algn="l"/>
                <a:tab pos="2981960" algn="l"/>
                <a:tab pos="3528695" algn="l"/>
                <a:tab pos="4012565" algn="l"/>
                <a:tab pos="4474210" algn="l"/>
                <a:tab pos="5048250" algn="l"/>
                <a:tab pos="5542280" algn="l"/>
                <a:tab pos="6041390" algn="l"/>
                <a:tab pos="6546215" algn="l"/>
                <a:tab pos="7045325" algn="l"/>
                <a:tab pos="7566025" algn="l"/>
                <a:tab pos="8049259" algn="l"/>
                <a:tab pos="8554085" algn="l"/>
              </a:tabLst>
            </a:pPr>
            <a:r>
              <a:rPr dirty="0" sz="2150" spc="215" b="1">
                <a:latin typeface="Calibri"/>
                <a:cs typeface="Calibri"/>
              </a:rPr>
              <a:t>5	5	5	5	5	5	</a:t>
            </a:r>
            <a:r>
              <a:rPr dirty="0" sz="2150" spc="25" b="1">
                <a:latin typeface="Calibri"/>
                <a:cs typeface="Calibri"/>
              </a:rPr>
              <a:t>14	</a:t>
            </a:r>
            <a:r>
              <a:rPr dirty="0" sz="2150" spc="250" b="1">
                <a:latin typeface="Calibri"/>
                <a:cs typeface="Calibri"/>
              </a:rPr>
              <a:t>9	</a:t>
            </a:r>
            <a:r>
              <a:rPr dirty="0" sz="2150" spc="140" b="1">
                <a:solidFill>
                  <a:srgbClr val="FFFFFF"/>
                </a:solidFill>
                <a:latin typeface="Calibri"/>
                <a:cs typeface="Calibri"/>
              </a:rPr>
              <a:t>Q	</a:t>
            </a:r>
            <a:r>
              <a:rPr dirty="0" sz="2150" spc="15" b="1">
                <a:latin typeface="Calibri"/>
                <a:cs typeface="Calibri"/>
              </a:rPr>
              <a:t>16	</a:t>
            </a:r>
            <a:r>
              <a:rPr dirty="0" sz="2150" spc="90" b="1">
                <a:latin typeface="Calibri"/>
                <a:cs typeface="Calibri"/>
              </a:rPr>
              <a:t>7	</a:t>
            </a:r>
            <a:r>
              <a:rPr dirty="0" sz="2150" spc="225" b="1">
                <a:latin typeface="Calibri"/>
                <a:cs typeface="Calibri"/>
              </a:rPr>
              <a:t>8	8	8	8	</a:t>
            </a:r>
            <a:r>
              <a:rPr dirty="0" sz="2150" spc="-210" b="1">
                <a:latin typeface="Calibri"/>
                <a:cs typeface="Calibri"/>
              </a:rPr>
              <a:t>1	1	1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1999488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0204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>
                <a:solidFill>
                  <a:srgbClr val="000000"/>
                </a:solidFill>
              </a:rPr>
              <a:t>Why </a:t>
            </a:r>
            <a:r>
              <a:rPr dirty="0">
                <a:solidFill>
                  <a:srgbClr val="000000"/>
                </a:solidFill>
              </a:rPr>
              <a:t>is </a:t>
            </a:r>
            <a:r>
              <a:rPr dirty="0" spc="-5">
                <a:solidFill>
                  <a:srgbClr val="000000"/>
                </a:solidFill>
              </a:rPr>
              <a:t>this </a:t>
            </a:r>
            <a:r>
              <a:rPr dirty="0">
                <a:solidFill>
                  <a:srgbClr val="000000"/>
                </a:solidFill>
              </a:rPr>
              <a:t>a </a:t>
            </a:r>
            <a:r>
              <a:rPr dirty="0" spc="-10">
                <a:solidFill>
                  <a:srgbClr val="000000"/>
                </a:solidFill>
              </a:rPr>
              <a:t>good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solution?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Because </a:t>
            </a:r>
            <a:r>
              <a:rPr dirty="0" spc="-5">
                <a:solidFill>
                  <a:srgbClr val="000000"/>
                </a:solidFill>
              </a:rPr>
              <a:t>the </a:t>
            </a:r>
            <a:r>
              <a:rPr dirty="0">
                <a:solidFill>
                  <a:srgbClr val="000000"/>
                </a:solidFill>
              </a:rPr>
              <a:t>“similarity”</a:t>
            </a:r>
            <a:r>
              <a:rPr dirty="0" spc="-10">
                <a:solidFill>
                  <a:srgbClr val="000000"/>
                </a:solidFill>
              </a:rPr>
              <a:t> considers: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332227"/>
            <a:ext cx="4807585" cy="207073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Multiple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connections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Multiple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paths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Direct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0">
                <a:latin typeface="Calibri"/>
                <a:cs typeface="Calibri"/>
              </a:rPr>
              <a:t>indirect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connections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Degree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88576" y="4800953"/>
            <a:ext cx="3864538" cy="16470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85139" y="4879893"/>
            <a:ext cx="644525" cy="1071880"/>
          </a:xfrm>
          <a:custGeom>
            <a:avLst/>
            <a:gdLst/>
            <a:ahLst/>
            <a:cxnLst/>
            <a:rect l="l" t="t" r="r" b="b"/>
            <a:pathLst>
              <a:path w="644525" h="1071879">
                <a:moveTo>
                  <a:pt x="0" y="0"/>
                </a:moveTo>
                <a:lnTo>
                  <a:pt x="0" y="665536"/>
                </a:lnTo>
                <a:lnTo>
                  <a:pt x="643960" y="665536"/>
                </a:lnTo>
                <a:lnTo>
                  <a:pt x="643960" y="107160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80924" y="4822743"/>
            <a:ext cx="733425" cy="1129030"/>
          </a:xfrm>
          <a:custGeom>
            <a:avLst/>
            <a:gdLst/>
            <a:ahLst/>
            <a:cxnLst/>
            <a:rect l="l" t="t" r="r" b="b"/>
            <a:pathLst>
              <a:path w="733425" h="1129029">
                <a:moveTo>
                  <a:pt x="733149" y="0"/>
                </a:moveTo>
                <a:lnTo>
                  <a:pt x="733149" y="722665"/>
                </a:lnTo>
                <a:lnTo>
                  <a:pt x="0" y="722665"/>
                </a:lnTo>
                <a:lnTo>
                  <a:pt x="0" y="1128756"/>
                </a:lnTo>
              </a:path>
            </a:pathLst>
          </a:custGeom>
          <a:ln w="28575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19969" y="5928078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439388" y="0"/>
                </a:moveTo>
                <a:lnTo>
                  <a:pt x="36861" y="0"/>
                </a:lnTo>
                <a:lnTo>
                  <a:pt x="22513" y="2896"/>
                </a:lnTo>
                <a:lnTo>
                  <a:pt x="10796" y="10796"/>
                </a:lnTo>
                <a:lnTo>
                  <a:pt x="2896" y="22513"/>
                </a:lnTo>
                <a:lnTo>
                  <a:pt x="0" y="36862"/>
                </a:lnTo>
                <a:lnTo>
                  <a:pt x="0" y="439387"/>
                </a:lnTo>
                <a:lnTo>
                  <a:pt x="2896" y="453736"/>
                </a:lnTo>
                <a:lnTo>
                  <a:pt x="10796" y="465453"/>
                </a:lnTo>
                <a:lnTo>
                  <a:pt x="22513" y="473353"/>
                </a:lnTo>
                <a:lnTo>
                  <a:pt x="36861" y="476249"/>
                </a:lnTo>
                <a:lnTo>
                  <a:pt x="439388" y="476249"/>
                </a:lnTo>
                <a:lnTo>
                  <a:pt x="453736" y="473353"/>
                </a:lnTo>
                <a:lnTo>
                  <a:pt x="465453" y="465453"/>
                </a:lnTo>
                <a:lnTo>
                  <a:pt x="473353" y="453736"/>
                </a:lnTo>
                <a:lnTo>
                  <a:pt x="476250" y="439387"/>
                </a:lnTo>
                <a:lnTo>
                  <a:pt x="476250" y="36862"/>
                </a:lnTo>
                <a:lnTo>
                  <a:pt x="473353" y="22513"/>
                </a:lnTo>
                <a:lnTo>
                  <a:pt x="465453" y="10796"/>
                </a:lnTo>
                <a:lnTo>
                  <a:pt x="453736" y="2896"/>
                </a:lnTo>
                <a:lnTo>
                  <a:pt x="43938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18336" y="4541360"/>
            <a:ext cx="372240" cy="3735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07646" y="4538085"/>
            <a:ext cx="371478" cy="3730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34138" y="4539836"/>
            <a:ext cx="372515" cy="3714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39077" y="4539701"/>
            <a:ext cx="373806" cy="3724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43550" y="4909972"/>
            <a:ext cx="0" cy="633730"/>
          </a:xfrm>
          <a:custGeom>
            <a:avLst/>
            <a:gdLst/>
            <a:ahLst/>
            <a:cxnLst/>
            <a:rect l="l" t="t" r="r" b="b"/>
            <a:pathLst>
              <a:path w="0" h="633729">
                <a:moveTo>
                  <a:pt x="0" y="0"/>
                </a:moveTo>
                <a:lnTo>
                  <a:pt x="1" y="633578"/>
                </a:lnTo>
              </a:path>
            </a:pathLst>
          </a:custGeom>
          <a:ln w="254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543552" y="5539468"/>
            <a:ext cx="1498600" cy="4445"/>
          </a:xfrm>
          <a:custGeom>
            <a:avLst/>
            <a:gdLst/>
            <a:ahLst/>
            <a:cxnLst/>
            <a:rect l="l" t="t" r="r" b="b"/>
            <a:pathLst>
              <a:path w="1498600" h="4445">
                <a:moveTo>
                  <a:pt x="1498144" y="0"/>
                </a:moveTo>
                <a:lnTo>
                  <a:pt x="0" y="4082"/>
                </a:lnTo>
              </a:path>
            </a:pathLst>
          </a:custGeom>
          <a:ln w="254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41696" y="5539468"/>
            <a:ext cx="0" cy="384810"/>
          </a:xfrm>
          <a:custGeom>
            <a:avLst/>
            <a:gdLst/>
            <a:ahLst/>
            <a:cxnLst/>
            <a:rect l="l" t="t" r="r" b="b"/>
            <a:pathLst>
              <a:path w="0" h="384810">
                <a:moveTo>
                  <a:pt x="0" y="0"/>
                </a:moveTo>
                <a:lnTo>
                  <a:pt x="1" y="384529"/>
                </a:lnTo>
              </a:path>
            </a:pathLst>
          </a:custGeom>
          <a:ln w="254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55103" y="4909972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1" y="62949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07805" y="4537512"/>
            <a:ext cx="373806" cy="3724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237388" y="5539468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4" h="0">
                <a:moveTo>
                  <a:pt x="0" y="0"/>
                </a:moveTo>
                <a:lnTo>
                  <a:pt x="217715" y="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37388" y="5539468"/>
            <a:ext cx="0" cy="384810"/>
          </a:xfrm>
          <a:custGeom>
            <a:avLst/>
            <a:gdLst/>
            <a:ahLst/>
            <a:cxnLst/>
            <a:rect l="l" t="t" r="r" b="b"/>
            <a:pathLst>
              <a:path w="0" h="384810">
                <a:moveTo>
                  <a:pt x="0" y="0"/>
                </a:moveTo>
                <a:lnTo>
                  <a:pt x="1" y="384529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53025" y="5539468"/>
            <a:ext cx="0" cy="384810"/>
          </a:xfrm>
          <a:custGeom>
            <a:avLst/>
            <a:gdLst/>
            <a:ahLst/>
            <a:cxnLst/>
            <a:rect l="l" t="t" r="r" b="b"/>
            <a:pathLst>
              <a:path w="0" h="384810">
                <a:moveTo>
                  <a:pt x="0" y="0"/>
                </a:moveTo>
                <a:lnTo>
                  <a:pt x="1" y="384529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72593" y="4909972"/>
            <a:ext cx="0" cy="629920"/>
          </a:xfrm>
          <a:custGeom>
            <a:avLst/>
            <a:gdLst/>
            <a:ahLst/>
            <a:cxnLst/>
            <a:rect l="l" t="t" r="r" b="b"/>
            <a:pathLst>
              <a:path w="0" h="629920">
                <a:moveTo>
                  <a:pt x="0" y="0"/>
                </a:moveTo>
                <a:lnTo>
                  <a:pt x="1" y="629496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72593" y="5539468"/>
            <a:ext cx="1280795" cy="0"/>
          </a:xfrm>
          <a:custGeom>
            <a:avLst/>
            <a:gdLst/>
            <a:ahLst/>
            <a:cxnLst/>
            <a:rect l="l" t="t" r="r" b="b"/>
            <a:pathLst>
              <a:path w="1280795" h="0">
                <a:moveTo>
                  <a:pt x="1280432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247163" y="4822743"/>
            <a:ext cx="0" cy="1101725"/>
          </a:xfrm>
          <a:custGeom>
            <a:avLst/>
            <a:gdLst/>
            <a:ahLst/>
            <a:cxnLst/>
            <a:rect l="l" t="t" r="r" b="b"/>
            <a:pathLst>
              <a:path w="0" h="1101725">
                <a:moveTo>
                  <a:pt x="0" y="0"/>
                </a:moveTo>
                <a:lnTo>
                  <a:pt x="1" y="1101253"/>
                </a:lnTo>
              </a:path>
            </a:pathLst>
          </a:custGeom>
          <a:ln w="254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48039" y="4510527"/>
            <a:ext cx="375184" cy="37048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4279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1655"/>
            <a:ext cx="183007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5">
                <a:solidFill>
                  <a:srgbClr val="FF0066"/>
                </a:solidFill>
              </a:rPr>
              <a:t>P</a:t>
            </a:r>
            <a:r>
              <a:rPr dirty="0" sz="2700">
                <a:solidFill>
                  <a:srgbClr val="FF0066"/>
                </a:solidFill>
              </a:rPr>
              <a:t>a</a:t>
            </a:r>
            <a:r>
              <a:rPr dirty="0" sz="2700" spc="-35">
                <a:solidFill>
                  <a:srgbClr val="FF0066"/>
                </a:solidFill>
              </a:rPr>
              <a:t>g</a:t>
            </a:r>
            <a:r>
              <a:rPr dirty="0" sz="2700">
                <a:solidFill>
                  <a:srgbClr val="FF0066"/>
                </a:solidFill>
              </a:rPr>
              <a:t>eRan</a:t>
            </a:r>
            <a:r>
              <a:rPr dirty="0" sz="2700" spc="0">
                <a:solidFill>
                  <a:srgbClr val="FF0066"/>
                </a:solidFill>
              </a:rPr>
              <a:t>k</a:t>
            </a:r>
            <a:r>
              <a:rPr dirty="0" sz="2700">
                <a:solidFill>
                  <a:srgbClr val="FF0066"/>
                </a:solidFill>
              </a:rPr>
              <a:t>:</a:t>
            </a:r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618108" y="1739900"/>
            <a:ext cx="8194675" cy="440563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25">
                <a:latin typeface="Calibri"/>
                <a:cs typeface="Calibri"/>
              </a:rPr>
              <a:t>Teleports </a:t>
            </a:r>
            <a:r>
              <a:rPr dirty="0" sz="2400" spc="-15">
                <a:latin typeface="Calibri"/>
                <a:cs typeface="Calibri"/>
              </a:rPr>
              <a:t>to any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ts val="2750"/>
              </a:lnSpc>
              <a:spcBef>
                <a:spcPts val="2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 spc="-5">
                <a:latin typeface="Calibri"/>
                <a:cs typeface="Calibri"/>
              </a:rPr>
              <a:t>the same </a:t>
            </a:r>
            <a:r>
              <a:rPr dirty="0" sz="2400" spc="-10">
                <a:latin typeface="Calibri"/>
                <a:cs typeface="Calibri"/>
              </a:rPr>
              <a:t>probability </a:t>
            </a:r>
            <a:r>
              <a:rPr dirty="0" sz="2400" spc="-5">
                <a:latin typeface="Calibri"/>
                <a:cs typeface="Calibri"/>
              </a:rPr>
              <a:t>of the </a:t>
            </a:r>
            <a:r>
              <a:rPr dirty="0" sz="2400" spc="-10">
                <a:latin typeface="Calibri"/>
                <a:cs typeface="Calibri"/>
              </a:rPr>
              <a:t>surfer</a:t>
            </a:r>
            <a:r>
              <a:rPr dirty="0" sz="2400" spc="9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landing:</a:t>
            </a:r>
            <a:endParaRPr sz="2400">
              <a:latin typeface="Calibri"/>
              <a:cs typeface="Calibri"/>
            </a:endParaRPr>
          </a:p>
          <a:p>
            <a:pPr marL="977265">
              <a:lnSpc>
                <a:spcPts val="2550"/>
              </a:lnSpc>
              <a:tabLst>
                <a:tab pos="1301750" algn="l"/>
                <a:tab pos="1680210" algn="l"/>
              </a:tabLst>
            </a:pPr>
            <a:r>
              <a:rPr dirty="0" sz="2400">
                <a:latin typeface="Cambria Math"/>
                <a:cs typeface="Cambria Math"/>
              </a:rPr>
              <a:t>𝑺	=	</a:t>
            </a:r>
            <a:r>
              <a:rPr dirty="0" sz="2400" spc="-5">
                <a:latin typeface="Cambria Math"/>
                <a:cs typeface="Cambria Math"/>
              </a:rPr>
              <a:t>[0.1,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0.1]</a:t>
            </a:r>
            <a:endParaRPr sz="2400">
              <a:latin typeface="Cambria Math"/>
              <a:cs typeface="Cambria Math"/>
            </a:endParaRPr>
          </a:p>
          <a:p>
            <a:pPr marL="332740" indent="-320040">
              <a:lnSpc>
                <a:spcPts val="304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20" b="1">
                <a:solidFill>
                  <a:srgbClr val="FF0066"/>
                </a:solidFill>
                <a:latin typeface="Calibri"/>
                <a:cs typeface="Calibri"/>
              </a:rPr>
              <a:t>Topic-Specific </a:t>
            </a:r>
            <a:r>
              <a:rPr dirty="0" sz="2700" spc="-15" b="1">
                <a:solidFill>
                  <a:srgbClr val="FF0066"/>
                </a:solidFill>
                <a:latin typeface="Calibri"/>
                <a:cs typeface="Calibri"/>
              </a:rPr>
              <a:t>PageRank </a:t>
            </a:r>
            <a:r>
              <a:rPr dirty="0" sz="2700" spc="-20">
                <a:solidFill>
                  <a:srgbClr val="FF0066"/>
                </a:solidFill>
                <a:latin typeface="Calibri"/>
                <a:cs typeface="Calibri"/>
              </a:rPr>
              <a:t>aka </a:t>
            </a:r>
            <a:r>
              <a:rPr dirty="0" sz="2700" spc="-15" b="1">
                <a:solidFill>
                  <a:srgbClr val="FF0066"/>
                </a:solidFill>
                <a:latin typeface="Calibri"/>
                <a:cs typeface="Calibri"/>
              </a:rPr>
              <a:t>Personalized</a:t>
            </a:r>
            <a:r>
              <a:rPr dirty="0" sz="2700" spc="10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FF0066"/>
                </a:solidFill>
                <a:latin typeface="Calibri"/>
                <a:cs typeface="Calibri"/>
              </a:rPr>
              <a:t>PageRank: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25">
                <a:latin typeface="Calibri"/>
                <a:cs typeface="Calibri"/>
              </a:rPr>
              <a:t>Teleports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specific set 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lvl="1" marL="625475" marR="280670" indent="-274320">
              <a:lnSpc>
                <a:spcPts val="259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 spc="-20">
                <a:latin typeface="Calibri"/>
                <a:cs typeface="Calibri"/>
              </a:rPr>
              <a:t>have different </a:t>
            </a:r>
            <a:r>
              <a:rPr dirty="0" sz="2400" spc="-10">
                <a:latin typeface="Calibri"/>
                <a:cs typeface="Calibri"/>
              </a:rPr>
              <a:t>probabilities </a:t>
            </a:r>
            <a:r>
              <a:rPr dirty="0" sz="2400" spc="-5">
                <a:latin typeface="Calibri"/>
                <a:cs typeface="Calibri"/>
              </a:rPr>
              <a:t>of the </a:t>
            </a:r>
            <a:r>
              <a:rPr dirty="0" sz="2400" spc="-10">
                <a:latin typeface="Calibri"/>
                <a:cs typeface="Calibri"/>
              </a:rPr>
              <a:t>surfer </a:t>
            </a:r>
            <a:r>
              <a:rPr dirty="0" sz="2400" spc="-70">
                <a:latin typeface="Calibri"/>
                <a:cs typeface="Calibri"/>
              </a:rPr>
              <a:t>landing  </a:t>
            </a:r>
            <a:r>
              <a:rPr dirty="0" sz="2400" spc="-10">
                <a:latin typeface="Calibri"/>
                <a:cs typeface="Calibri"/>
              </a:rPr>
              <a:t>there:</a:t>
            </a:r>
            <a:endParaRPr sz="2400">
              <a:latin typeface="Calibri"/>
              <a:cs typeface="Calibri"/>
            </a:endParaRPr>
          </a:p>
          <a:p>
            <a:pPr algn="ctr" marR="590550">
              <a:lnSpc>
                <a:spcPts val="2380"/>
              </a:lnSpc>
              <a:tabLst>
                <a:tab pos="323850" algn="l"/>
                <a:tab pos="702310" algn="l"/>
              </a:tabLst>
            </a:pPr>
            <a:r>
              <a:rPr dirty="0" sz="2400">
                <a:latin typeface="Cambria Math"/>
                <a:cs typeface="Cambria Math"/>
              </a:rPr>
              <a:t>𝑺	=	</a:t>
            </a:r>
            <a:r>
              <a:rPr dirty="0" sz="2400" spc="-5">
                <a:latin typeface="Cambria Math"/>
                <a:cs typeface="Cambria Math"/>
              </a:rPr>
              <a:t>[0.1,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0.2,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0.5,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0.2]</a:t>
            </a:r>
            <a:endParaRPr sz="2400">
              <a:latin typeface="Cambria Math"/>
              <a:cs typeface="Cambria Math"/>
            </a:endParaRPr>
          </a:p>
          <a:p>
            <a:pPr marL="332740" indent="-320040">
              <a:lnSpc>
                <a:spcPts val="304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 b="1">
                <a:solidFill>
                  <a:srgbClr val="FF0066"/>
                </a:solidFill>
                <a:latin typeface="Calibri"/>
                <a:cs typeface="Calibri"/>
              </a:rPr>
              <a:t>Random </a:t>
            </a:r>
            <a:r>
              <a:rPr dirty="0" sz="2700" spc="-25" b="1">
                <a:solidFill>
                  <a:srgbClr val="FF0066"/>
                </a:solidFill>
                <a:latin typeface="Calibri"/>
                <a:cs typeface="Calibri"/>
              </a:rPr>
              <a:t>Walk </a:t>
            </a:r>
            <a:r>
              <a:rPr dirty="0" sz="2700" spc="-5" b="1">
                <a:solidFill>
                  <a:srgbClr val="FF0066"/>
                </a:solidFill>
                <a:latin typeface="Calibri"/>
                <a:cs typeface="Calibri"/>
              </a:rPr>
              <a:t>with</a:t>
            </a:r>
            <a:r>
              <a:rPr dirty="0" sz="2700" spc="5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2700" spc="-15" b="1">
                <a:solidFill>
                  <a:srgbClr val="FF0066"/>
                </a:solidFill>
                <a:latin typeface="Calibri"/>
                <a:cs typeface="Calibri"/>
              </a:rPr>
              <a:t>Restarts:</a:t>
            </a:r>
            <a:endParaRPr sz="2700">
              <a:latin typeface="Calibri"/>
              <a:cs typeface="Calibri"/>
            </a:endParaRPr>
          </a:p>
          <a:p>
            <a:pPr lvl="1" marL="625475" marR="5080" indent="-274320">
              <a:lnSpc>
                <a:spcPts val="259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20">
                <a:latin typeface="Calibri"/>
                <a:cs typeface="Calibri"/>
              </a:rPr>
              <a:t>Topic-Specific </a:t>
            </a:r>
            <a:r>
              <a:rPr dirty="0" sz="2400" spc="-15">
                <a:latin typeface="Calibri"/>
                <a:cs typeface="Calibri"/>
              </a:rPr>
              <a:t>PageRank </a:t>
            </a:r>
            <a:r>
              <a:rPr dirty="0" sz="2400" spc="-10">
                <a:latin typeface="Calibri"/>
                <a:cs typeface="Calibri"/>
              </a:rPr>
              <a:t>where </a:t>
            </a:r>
            <a:r>
              <a:rPr dirty="0" sz="2400" spc="-5">
                <a:latin typeface="Calibri"/>
                <a:cs typeface="Calibri"/>
              </a:rPr>
              <a:t>teleport is </a:t>
            </a:r>
            <a:r>
              <a:rPr dirty="0" sz="2400" spc="-20">
                <a:latin typeface="Calibri"/>
                <a:cs typeface="Calibri"/>
              </a:rPr>
              <a:t>always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30">
                <a:latin typeface="Calibri"/>
                <a:cs typeface="Calibri"/>
              </a:rPr>
              <a:t>same  </a:t>
            </a:r>
            <a:r>
              <a:rPr dirty="0" sz="2400" spc="-5">
                <a:latin typeface="Calibri"/>
                <a:cs typeface="Calibri"/>
              </a:rPr>
              <a:t>node:</a:t>
            </a:r>
            <a:endParaRPr sz="2400">
              <a:latin typeface="Calibri"/>
              <a:cs typeface="Calibri"/>
            </a:endParaRPr>
          </a:p>
          <a:p>
            <a:pPr algn="ctr" marR="590550">
              <a:lnSpc>
                <a:spcPts val="2555"/>
              </a:lnSpc>
            </a:pPr>
            <a:r>
              <a:rPr dirty="0" sz="2400">
                <a:latin typeface="Cambria Math"/>
                <a:cs typeface="Cambria Math"/>
              </a:rPr>
              <a:t>𝑺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14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[0,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𝟏,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0,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2586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C246: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Mining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Massive</a:t>
            </a:r>
            <a:r>
              <a:rPr dirty="0" sz="900" spc="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Datasets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93965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naturally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represented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as a</a:t>
            </a:r>
            <a:r>
              <a:rPr dirty="0" spc="9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matrix</a:t>
            </a:r>
          </a:p>
          <a:p>
            <a:pPr marL="332740" marR="508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defined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random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walk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process over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899155"/>
            <a:ext cx="7806055" cy="33083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26289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Random </a:t>
            </a:r>
            <a:r>
              <a:rPr dirty="0" sz="2800" spc="-15">
                <a:latin typeface="Calibri"/>
                <a:cs typeface="Calibri"/>
              </a:rPr>
              <a:t>surfer </a:t>
            </a:r>
            <a:r>
              <a:rPr dirty="0" sz="2800" spc="-10">
                <a:latin typeface="Calibri"/>
                <a:cs typeface="Calibri"/>
              </a:rPr>
              <a:t>moving across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links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0">
                <a:latin typeface="Calibri"/>
                <a:cs typeface="Calibri"/>
              </a:rPr>
              <a:t>with  </a:t>
            </a:r>
            <a:r>
              <a:rPr dirty="0" sz="2800" spc="-15">
                <a:latin typeface="Calibri"/>
                <a:cs typeface="Calibri"/>
              </a:rPr>
              <a:t>random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teleportation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29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Stochastic </a:t>
            </a:r>
            <a:r>
              <a:rPr dirty="0" sz="2800" spc="-5">
                <a:latin typeface="Calibri"/>
                <a:cs typeface="Calibri"/>
              </a:rPr>
              <a:t>adjacency </a:t>
            </a:r>
            <a:r>
              <a:rPr dirty="0" sz="2800" spc="-10">
                <a:latin typeface="Calibri"/>
                <a:cs typeface="Calibri"/>
              </a:rPr>
              <a:t>matrix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910"/>
              </a:lnSpc>
              <a:spcBef>
                <a:spcPts val="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PageRank </a:t>
            </a:r>
            <a:r>
              <a:rPr dirty="0" sz="3200">
                <a:latin typeface="Calibri"/>
                <a:cs typeface="Calibri"/>
              </a:rPr>
              <a:t>= Limiting </a:t>
            </a:r>
            <a:r>
              <a:rPr dirty="0" sz="3200" spc="-5">
                <a:latin typeface="Calibri"/>
                <a:cs typeface="Calibri"/>
              </a:rPr>
              <a:t>distribution of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surfer  </a:t>
            </a:r>
            <a:r>
              <a:rPr dirty="0" sz="3200" spc="-10">
                <a:latin typeface="Calibri"/>
                <a:cs typeface="Calibri"/>
              </a:rPr>
              <a:t>location </a:t>
            </a:r>
            <a:r>
              <a:rPr dirty="0" sz="3200" spc="-20">
                <a:latin typeface="Calibri"/>
                <a:cs typeface="Calibri"/>
              </a:rPr>
              <a:t>represented </a:t>
            </a:r>
            <a:r>
              <a:rPr dirty="0" sz="3200">
                <a:latin typeface="Calibri"/>
                <a:cs typeface="Calibri"/>
              </a:rPr>
              <a:t>node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importance</a:t>
            </a:r>
            <a:endParaRPr sz="3200">
              <a:latin typeface="Calibri"/>
              <a:cs typeface="Calibri"/>
            </a:endParaRPr>
          </a:p>
          <a:p>
            <a:pPr lvl="1" marL="625475" marR="1120140" indent="-274320">
              <a:lnSpc>
                <a:spcPct val="101400"/>
              </a:lnSpc>
              <a:spcBef>
                <a:spcPts val="4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Corresponds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leading </a:t>
            </a:r>
            <a:r>
              <a:rPr dirty="0" sz="2800" spc="-20">
                <a:latin typeface="Calibri"/>
                <a:cs typeface="Calibri"/>
              </a:rPr>
              <a:t>eigenvector </a:t>
            </a:r>
            <a:r>
              <a:rPr dirty="0" sz="2800" spc="-310">
                <a:latin typeface="Calibri"/>
                <a:cs typeface="Calibri"/>
              </a:rPr>
              <a:t>of  </a:t>
            </a:r>
            <a:r>
              <a:rPr dirty="0" sz="2800" spc="-20">
                <a:latin typeface="Calibri"/>
                <a:cs typeface="Calibri"/>
              </a:rPr>
              <a:t>transformed </a:t>
            </a:r>
            <a:r>
              <a:rPr dirty="0" sz="2800" spc="-5">
                <a:latin typeface="Calibri"/>
                <a:cs typeface="Calibri"/>
              </a:rPr>
              <a:t>adjacency </a:t>
            </a:r>
            <a:r>
              <a:rPr dirty="0" sz="2800" spc="-10">
                <a:latin typeface="Calibri"/>
                <a:cs typeface="Calibri"/>
              </a:rPr>
              <a:t>matrix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2/14/21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2749295"/>
            <a:ext cx="6403848" cy="2060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891272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338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60B5CC"/>
                </a:solidFill>
              </a:rPr>
              <a:t>Recall: </a:t>
            </a:r>
            <a:r>
              <a:rPr dirty="0" spc="-10" b="0">
                <a:solidFill>
                  <a:srgbClr val="60B5CC"/>
                </a:solidFill>
                <a:latin typeface="Calibri"/>
                <a:cs typeface="Calibri"/>
              </a:rPr>
              <a:t>encoder </a:t>
            </a:r>
            <a:r>
              <a:rPr dirty="0" b="0">
                <a:solidFill>
                  <a:srgbClr val="60B5CC"/>
                </a:solidFill>
                <a:latin typeface="Calibri"/>
                <a:cs typeface="Calibri"/>
              </a:rPr>
              <a:t>as an </a:t>
            </a:r>
            <a:r>
              <a:rPr dirty="0" spc="-5" b="0">
                <a:solidFill>
                  <a:srgbClr val="60B5CC"/>
                </a:solidFill>
                <a:latin typeface="Calibri"/>
                <a:cs typeface="Calibri"/>
              </a:rPr>
              <a:t>embedding</a:t>
            </a:r>
            <a:r>
              <a:rPr dirty="0" spc="50" b="0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60B5CC"/>
                </a:solidFill>
                <a:latin typeface="Calibri"/>
                <a:cs typeface="Calibri"/>
              </a:rPr>
              <a:t>lookup</a:t>
            </a:r>
          </a:p>
        </p:txBody>
      </p:sp>
      <p:sp>
        <p:nvSpPr>
          <p:cNvPr id="4" name="object 4"/>
          <p:cNvSpPr/>
          <p:nvPr/>
        </p:nvSpPr>
        <p:spPr>
          <a:xfrm>
            <a:off x="2211859" y="2785447"/>
            <a:ext cx="4266565" cy="2095500"/>
          </a:xfrm>
          <a:custGeom>
            <a:avLst/>
            <a:gdLst/>
            <a:ahLst/>
            <a:cxnLst/>
            <a:rect l="l" t="t" r="r" b="b"/>
            <a:pathLst>
              <a:path w="4266565" h="2095500">
                <a:moveTo>
                  <a:pt x="4241939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2070877"/>
                </a:lnTo>
                <a:lnTo>
                  <a:pt x="1886" y="2080219"/>
                </a:lnTo>
                <a:lnTo>
                  <a:pt x="7029" y="2087848"/>
                </a:lnTo>
                <a:lnTo>
                  <a:pt x="14658" y="2092991"/>
                </a:lnTo>
                <a:lnTo>
                  <a:pt x="24000" y="2094877"/>
                </a:lnTo>
                <a:lnTo>
                  <a:pt x="4241939" y="2094877"/>
                </a:lnTo>
                <a:lnTo>
                  <a:pt x="4251281" y="2092991"/>
                </a:lnTo>
                <a:lnTo>
                  <a:pt x="4258910" y="2087848"/>
                </a:lnTo>
                <a:lnTo>
                  <a:pt x="4264054" y="2080219"/>
                </a:lnTo>
                <a:lnTo>
                  <a:pt x="4265940" y="2070877"/>
                </a:lnTo>
                <a:lnTo>
                  <a:pt x="4265940" y="2066076"/>
                </a:lnTo>
                <a:lnTo>
                  <a:pt x="28799" y="2066076"/>
                </a:lnTo>
                <a:lnTo>
                  <a:pt x="28799" y="28799"/>
                </a:lnTo>
                <a:lnTo>
                  <a:pt x="4265940" y="28799"/>
                </a:lnTo>
                <a:lnTo>
                  <a:pt x="4265940" y="24000"/>
                </a:lnTo>
                <a:lnTo>
                  <a:pt x="4264054" y="14658"/>
                </a:lnTo>
                <a:lnTo>
                  <a:pt x="4258910" y="7029"/>
                </a:lnTo>
                <a:lnTo>
                  <a:pt x="4251281" y="1886"/>
                </a:lnTo>
                <a:lnTo>
                  <a:pt x="4241939" y="0"/>
                </a:lnTo>
                <a:close/>
              </a:path>
              <a:path w="4266565" h="2095500">
                <a:moveTo>
                  <a:pt x="4265940" y="28799"/>
                </a:moveTo>
                <a:lnTo>
                  <a:pt x="4237140" y="28799"/>
                </a:lnTo>
                <a:lnTo>
                  <a:pt x="4237140" y="2066076"/>
                </a:lnTo>
                <a:lnTo>
                  <a:pt x="4265940" y="2066076"/>
                </a:lnTo>
                <a:lnTo>
                  <a:pt x="4265940" y="28799"/>
                </a:lnTo>
                <a:close/>
              </a:path>
              <a:path w="4266565" h="2095500">
                <a:moveTo>
                  <a:pt x="4227540" y="38399"/>
                </a:moveTo>
                <a:lnTo>
                  <a:pt x="38399" y="38399"/>
                </a:lnTo>
                <a:lnTo>
                  <a:pt x="38399" y="2056476"/>
                </a:lnTo>
                <a:lnTo>
                  <a:pt x="4227540" y="2056476"/>
                </a:lnTo>
                <a:lnTo>
                  <a:pt x="4227540" y="2046876"/>
                </a:lnTo>
                <a:lnTo>
                  <a:pt x="47999" y="2046876"/>
                </a:lnTo>
                <a:lnTo>
                  <a:pt x="47999" y="47999"/>
                </a:lnTo>
                <a:lnTo>
                  <a:pt x="4227540" y="47999"/>
                </a:lnTo>
                <a:lnTo>
                  <a:pt x="4227540" y="38399"/>
                </a:lnTo>
                <a:close/>
              </a:path>
              <a:path w="4266565" h="2095500">
                <a:moveTo>
                  <a:pt x="4227540" y="47999"/>
                </a:moveTo>
                <a:lnTo>
                  <a:pt x="4217940" y="47999"/>
                </a:lnTo>
                <a:lnTo>
                  <a:pt x="4217940" y="2046876"/>
                </a:lnTo>
                <a:lnTo>
                  <a:pt x="4227540" y="2046876"/>
                </a:lnTo>
                <a:lnTo>
                  <a:pt x="4227540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03720" y="2801359"/>
            <a:ext cx="267970" cy="2078989"/>
          </a:xfrm>
          <a:custGeom>
            <a:avLst/>
            <a:gdLst/>
            <a:ahLst/>
            <a:cxnLst/>
            <a:rect l="l" t="t" r="r" b="b"/>
            <a:pathLst>
              <a:path w="267970" h="2078989">
                <a:moveTo>
                  <a:pt x="28775" y="2017908"/>
                </a:moveTo>
                <a:lnTo>
                  <a:pt x="120" y="2020796"/>
                </a:lnTo>
                <a:lnTo>
                  <a:pt x="1024" y="2029766"/>
                </a:lnTo>
                <a:lnTo>
                  <a:pt x="1346" y="2031342"/>
                </a:lnTo>
                <a:lnTo>
                  <a:pt x="11767" y="2054153"/>
                </a:lnTo>
                <a:lnTo>
                  <a:pt x="34244" y="2036141"/>
                </a:lnTo>
                <a:lnTo>
                  <a:pt x="31318" y="2030752"/>
                </a:lnTo>
                <a:lnTo>
                  <a:pt x="29470" y="2024799"/>
                </a:lnTo>
                <a:lnTo>
                  <a:pt x="28824" y="2018389"/>
                </a:lnTo>
                <a:lnTo>
                  <a:pt x="28775" y="2017908"/>
                </a:lnTo>
                <a:close/>
              </a:path>
              <a:path w="267970" h="2078989">
                <a:moveTo>
                  <a:pt x="28799" y="1970389"/>
                </a:moveTo>
                <a:lnTo>
                  <a:pt x="0" y="1970389"/>
                </a:lnTo>
                <a:lnTo>
                  <a:pt x="0" y="2018389"/>
                </a:lnTo>
                <a:lnTo>
                  <a:pt x="23999" y="2018389"/>
                </a:lnTo>
                <a:lnTo>
                  <a:pt x="28775" y="2017908"/>
                </a:lnTo>
                <a:lnTo>
                  <a:pt x="28799" y="1970389"/>
                </a:lnTo>
                <a:close/>
              </a:path>
              <a:path w="267970" h="2078989">
                <a:moveTo>
                  <a:pt x="28799" y="2018147"/>
                </a:moveTo>
                <a:lnTo>
                  <a:pt x="28799" y="2018389"/>
                </a:lnTo>
                <a:lnTo>
                  <a:pt x="28799" y="2018147"/>
                </a:lnTo>
                <a:close/>
              </a:path>
              <a:path w="267970" h="2078989">
                <a:moveTo>
                  <a:pt x="28799" y="2017908"/>
                </a:moveTo>
                <a:lnTo>
                  <a:pt x="28799" y="2018147"/>
                </a:lnTo>
                <a:lnTo>
                  <a:pt x="28799" y="2017908"/>
                </a:lnTo>
                <a:close/>
              </a:path>
              <a:path w="267970" h="2078989">
                <a:moveTo>
                  <a:pt x="47879" y="2015981"/>
                </a:moveTo>
                <a:lnTo>
                  <a:pt x="38399" y="2016938"/>
                </a:lnTo>
                <a:lnTo>
                  <a:pt x="38472" y="2018389"/>
                </a:lnTo>
                <a:lnTo>
                  <a:pt x="38925" y="2022875"/>
                </a:lnTo>
                <a:lnTo>
                  <a:pt x="40206" y="2027003"/>
                </a:lnTo>
                <a:lnTo>
                  <a:pt x="42238" y="2030746"/>
                </a:lnTo>
                <a:lnTo>
                  <a:pt x="50232" y="2025351"/>
                </a:lnTo>
                <a:lnTo>
                  <a:pt x="49094" y="2023254"/>
                </a:lnTo>
                <a:lnTo>
                  <a:pt x="48379" y="2020951"/>
                </a:lnTo>
                <a:lnTo>
                  <a:pt x="48121" y="2018389"/>
                </a:lnTo>
                <a:lnTo>
                  <a:pt x="47879" y="2015981"/>
                </a:lnTo>
                <a:close/>
              </a:path>
              <a:path w="267970" h="2078989">
                <a:moveTo>
                  <a:pt x="38399" y="2017663"/>
                </a:moveTo>
                <a:lnTo>
                  <a:pt x="38399" y="2018389"/>
                </a:lnTo>
                <a:lnTo>
                  <a:pt x="38399" y="2017663"/>
                </a:lnTo>
                <a:close/>
              </a:path>
              <a:path w="267970" h="2078989">
                <a:moveTo>
                  <a:pt x="47999" y="2017179"/>
                </a:moveTo>
                <a:lnTo>
                  <a:pt x="47999" y="2018389"/>
                </a:lnTo>
                <a:lnTo>
                  <a:pt x="47999" y="2017179"/>
                </a:lnTo>
                <a:close/>
              </a:path>
              <a:path w="267970" h="2078989">
                <a:moveTo>
                  <a:pt x="47999" y="2015981"/>
                </a:moveTo>
                <a:lnTo>
                  <a:pt x="47999" y="2017179"/>
                </a:lnTo>
                <a:lnTo>
                  <a:pt x="47999" y="2015981"/>
                </a:lnTo>
                <a:close/>
              </a:path>
              <a:path w="267970" h="2078989">
                <a:moveTo>
                  <a:pt x="47999" y="1970389"/>
                </a:moveTo>
                <a:lnTo>
                  <a:pt x="38399" y="1970389"/>
                </a:lnTo>
                <a:lnTo>
                  <a:pt x="38399" y="2016938"/>
                </a:lnTo>
                <a:lnTo>
                  <a:pt x="47879" y="2015981"/>
                </a:lnTo>
                <a:lnTo>
                  <a:pt x="47999" y="1970389"/>
                </a:lnTo>
                <a:close/>
              </a:path>
              <a:path w="267970" h="2078989">
                <a:moveTo>
                  <a:pt x="28799" y="1874389"/>
                </a:moveTo>
                <a:lnTo>
                  <a:pt x="0" y="1874389"/>
                </a:lnTo>
                <a:lnTo>
                  <a:pt x="0" y="1922388"/>
                </a:lnTo>
                <a:lnTo>
                  <a:pt x="28799" y="1922388"/>
                </a:lnTo>
                <a:lnTo>
                  <a:pt x="28799" y="1874389"/>
                </a:lnTo>
                <a:close/>
              </a:path>
              <a:path w="267970" h="2078989">
                <a:moveTo>
                  <a:pt x="47999" y="1874389"/>
                </a:moveTo>
                <a:lnTo>
                  <a:pt x="38399" y="1874389"/>
                </a:lnTo>
                <a:lnTo>
                  <a:pt x="38399" y="1922388"/>
                </a:lnTo>
                <a:lnTo>
                  <a:pt x="47999" y="1922388"/>
                </a:lnTo>
                <a:lnTo>
                  <a:pt x="47999" y="1874389"/>
                </a:lnTo>
                <a:close/>
              </a:path>
              <a:path w="267970" h="2078989">
                <a:moveTo>
                  <a:pt x="28799" y="1778389"/>
                </a:moveTo>
                <a:lnTo>
                  <a:pt x="0" y="1778389"/>
                </a:lnTo>
                <a:lnTo>
                  <a:pt x="0" y="1826389"/>
                </a:lnTo>
                <a:lnTo>
                  <a:pt x="28799" y="1826389"/>
                </a:lnTo>
                <a:lnTo>
                  <a:pt x="28799" y="1778389"/>
                </a:lnTo>
                <a:close/>
              </a:path>
              <a:path w="267970" h="2078989">
                <a:moveTo>
                  <a:pt x="47999" y="1778389"/>
                </a:moveTo>
                <a:lnTo>
                  <a:pt x="38399" y="1778389"/>
                </a:lnTo>
                <a:lnTo>
                  <a:pt x="38399" y="1826389"/>
                </a:lnTo>
                <a:lnTo>
                  <a:pt x="47999" y="1826389"/>
                </a:lnTo>
                <a:lnTo>
                  <a:pt x="47999" y="1778389"/>
                </a:lnTo>
                <a:close/>
              </a:path>
              <a:path w="267970" h="2078989">
                <a:moveTo>
                  <a:pt x="28799" y="1682389"/>
                </a:moveTo>
                <a:lnTo>
                  <a:pt x="0" y="1682389"/>
                </a:lnTo>
                <a:lnTo>
                  <a:pt x="0" y="1730388"/>
                </a:lnTo>
                <a:lnTo>
                  <a:pt x="28799" y="1730388"/>
                </a:lnTo>
                <a:lnTo>
                  <a:pt x="28799" y="1682389"/>
                </a:lnTo>
                <a:close/>
              </a:path>
              <a:path w="267970" h="2078989">
                <a:moveTo>
                  <a:pt x="47999" y="1682389"/>
                </a:moveTo>
                <a:lnTo>
                  <a:pt x="38399" y="1682389"/>
                </a:lnTo>
                <a:lnTo>
                  <a:pt x="38399" y="1730388"/>
                </a:lnTo>
                <a:lnTo>
                  <a:pt x="47999" y="1730388"/>
                </a:lnTo>
                <a:lnTo>
                  <a:pt x="47999" y="1682389"/>
                </a:lnTo>
                <a:close/>
              </a:path>
              <a:path w="267970" h="2078989">
                <a:moveTo>
                  <a:pt x="28799" y="1586388"/>
                </a:moveTo>
                <a:lnTo>
                  <a:pt x="0" y="1586388"/>
                </a:lnTo>
                <a:lnTo>
                  <a:pt x="0" y="1634389"/>
                </a:lnTo>
                <a:lnTo>
                  <a:pt x="28799" y="1634389"/>
                </a:lnTo>
                <a:lnTo>
                  <a:pt x="28799" y="1586388"/>
                </a:lnTo>
                <a:close/>
              </a:path>
              <a:path w="267970" h="2078989">
                <a:moveTo>
                  <a:pt x="47999" y="1586388"/>
                </a:moveTo>
                <a:lnTo>
                  <a:pt x="38399" y="1586388"/>
                </a:lnTo>
                <a:lnTo>
                  <a:pt x="38399" y="1634389"/>
                </a:lnTo>
                <a:lnTo>
                  <a:pt x="47999" y="1634389"/>
                </a:lnTo>
                <a:lnTo>
                  <a:pt x="47999" y="1586388"/>
                </a:lnTo>
                <a:close/>
              </a:path>
              <a:path w="267970" h="2078989">
                <a:moveTo>
                  <a:pt x="28799" y="1490389"/>
                </a:moveTo>
                <a:lnTo>
                  <a:pt x="0" y="1490389"/>
                </a:lnTo>
                <a:lnTo>
                  <a:pt x="0" y="1538389"/>
                </a:lnTo>
                <a:lnTo>
                  <a:pt x="28799" y="1538389"/>
                </a:lnTo>
                <a:lnTo>
                  <a:pt x="28799" y="1490389"/>
                </a:lnTo>
                <a:close/>
              </a:path>
              <a:path w="267970" h="2078989">
                <a:moveTo>
                  <a:pt x="47999" y="1490389"/>
                </a:moveTo>
                <a:lnTo>
                  <a:pt x="38399" y="1490389"/>
                </a:lnTo>
                <a:lnTo>
                  <a:pt x="38399" y="1538389"/>
                </a:lnTo>
                <a:lnTo>
                  <a:pt x="47999" y="1538389"/>
                </a:lnTo>
                <a:lnTo>
                  <a:pt x="47999" y="1490389"/>
                </a:lnTo>
                <a:close/>
              </a:path>
              <a:path w="267970" h="2078989">
                <a:moveTo>
                  <a:pt x="28799" y="1394388"/>
                </a:moveTo>
                <a:lnTo>
                  <a:pt x="0" y="1394388"/>
                </a:lnTo>
                <a:lnTo>
                  <a:pt x="0" y="1442389"/>
                </a:lnTo>
                <a:lnTo>
                  <a:pt x="28799" y="1442389"/>
                </a:lnTo>
                <a:lnTo>
                  <a:pt x="28799" y="1394388"/>
                </a:lnTo>
                <a:close/>
              </a:path>
              <a:path w="267970" h="2078989">
                <a:moveTo>
                  <a:pt x="47999" y="1394388"/>
                </a:moveTo>
                <a:lnTo>
                  <a:pt x="38399" y="1394388"/>
                </a:lnTo>
                <a:lnTo>
                  <a:pt x="38399" y="1442389"/>
                </a:lnTo>
                <a:lnTo>
                  <a:pt x="47999" y="1442389"/>
                </a:lnTo>
                <a:lnTo>
                  <a:pt x="47999" y="1394388"/>
                </a:lnTo>
                <a:close/>
              </a:path>
              <a:path w="267970" h="2078989">
                <a:moveTo>
                  <a:pt x="28799" y="1298389"/>
                </a:moveTo>
                <a:lnTo>
                  <a:pt x="0" y="1298389"/>
                </a:lnTo>
                <a:lnTo>
                  <a:pt x="0" y="1346389"/>
                </a:lnTo>
                <a:lnTo>
                  <a:pt x="28799" y="1346389"/>
                </a:lnTo>
                <a:lnTo>
                  <a:pt x="28799" y="1298389"/>
                </a:lnTo>
                <a:close/>
              </a:path>
              <a:path w="267970" h="2078989">
                <a:moveTo>
                  <a:pt x="47999" y="1298389"/>
                </a:moveTo>
                <a:lnTo>
                  <a:pt x="38399" y="1298389"/>
                </a:lnTo>
                <a:lnTo>
                  <a:pt x="38399" y="1346389"/>
                </a:lnTo>
                <a:lnTo>
                  <a:pt x="47999" y="1346389"/>
                </a:lnTo>
                <a:lnTo>
                  <a:pt x="47999" y="1298389"/>
                </a:lnTo>
                <a:close/>
              </a:path>
              <a:path w="267970" h="2078989">
                <a:moveTo>
                  <a:pt x="28799" y="1202389"/>
                </a:moveTo>
                <a:lnTo>
                  <a:pt x="0" y="1202389"/>
                </a:lnTo>
                <a:lnTo>
                  <a:pt x="0" y="1250389"/>
                </a:lnTo>
                <a:lnTo>
                  <a:pt x="28799" y="1250389"/>
                </a:lnTo>
                <a:lnTo>
                  <a:pt x="28799" y="1202389"/>
                </a:lnTo>
                <a:close/>
              </a:path>
              <a:path w="267970" h="2078989">
                <a:moveTo>
                  <a:pt x="47999" y="1202389"/>
                </a:moveTo>
                <a:lnTo>
                  <a:pt x="38399" y="1202389"/>
                </a:lnTo>
                <a:lnTo>
                  <a:pt x="38399" y="1250389"/>
                </a:lnTo>
                <a:lnTo>
                  <a:pt x="47999" y="1250389"/>
                </a:lnTo>
                <a:lnTo>
                  <a:pt x="47999" y="1202389"/>
                </a:lnTo>
                <a:close/>
              </a:path>
              <a:path w="267970" h="2078989">
                <a:moveTo>
                  <a:pt x="28799" y="1106389"/>
                </a:moveTo>
                <a:lnTo>
                  <a:pt x="0" y="1106389"/>
                </a:lnTo>
                <a:lnTo>
                  <a:pt x="0" y="1154389"/>
                </a:lnTo>
                <a:lnTo>
                  <a:pt x="28799" y="1154389"/>
                </a:lnTo>
                <a:lnTo>
                  <a:pt x="28799" y="1106389"/>
                </a:lnTo>
                <a:close/>
              </a:path>
              <a:path w="267970" h="2078989">
                <a:moveTo>
                  <a:pt x="47999" y="1106389"/>
                </a:moveTo>
                <a:lnTo>
                  <a:pt x="38399" y="1106389"/>
                </a:lnTo>
                <a:lnTo>
                  <a:pt x="38399" y="1154389"/>
                </a:lnTo>
                <a:lnTo>
                  <a:pt x="47999" y="1154389"/>
                </a:lnTo>
                <a:lnTo>
                  <a:pt x="47999" y="1106389"/>
                </a:lnTo>
                <a:close/>
              </a:path>
              <a:path w="267970" h="2078989">
                <a:moveTo>
                  <a:pt x="28799" y="1010389"/>
                </a:moveTo>
                <a:lnTo>
                  <a:pt x="0" y="1010389"/>
                </a:lnTo>
                <a:lnTo>
                  <a:pt x="0" y="1058388"/>
                </a:lnTo>
                <a:lnTo>
                  <a:pt x="28799" y="1058388"/>
                </a:lnTo>
                <a:lnTo>
                  <a:pt x="28799" y="1010389"/>
                </a:lnTo>
                <a:close/>
              </a:path>
              <a:path w="267970" h="2078989">
                <a:moveTo>
                  <a:pt x="47999" y="1010389"/>
                </a:moveTo>
                <a:lnTo>
                  <a:pt x="38399" y="1010389"/>
                </a:lnTo>
                <a:lnTo>
                  <a:pt x="38399" y="1058388"/>
                </a:lnTo>
                <a:lnTo>
                  <a:pt x="47999" y="1058388"/>
                </a:lnTo>
                <a:lnTo>
                  <a:pt x="47999" y="1010389"/>
                </a:lnTo>
                <a:close/>
              </a:path>
              <a:path w="267970" h="2078989">
                <a:moveTo>
                  <a:pt x="28799" y="914389"/>
                </a:moveTo>
                <a:lnTo>
                  <a:pt x="0" y="914389"/>
                </a:lnTo>
                <a:lnTo>
                  <a:pt x="0" y="962389"/>
                </a:lnTo>
                <a:lnTo>
                  <a:pt x="28799" y="962389"/>
                </a:lnTo>
                <a:lnTo>
                  <a:pt x="28799" y="914389"/>
                </a:lnTo>
                <a:close/>
              </a:path>
              <a:path w="267970" h="2078989">
                <a:moveTo>
                  <a:pt x="47999" y="914389"/>
                </a:moveTo>
                <a:lnTo>
                  <a:pt x="38399" y="914389"/>
                </a:lnTo>
                <a:lnTo>
                  <a:pt x="38399" y="962389"/>
                </a:lnTo>
                <a:lnTo>
                  <a:pt x="47999" y="962389"/>
                </a:lnTo>
                <a:lnTo>
                  <a:pt x="47999" y="914389"/>
                </a:lnTo>
                <a:close/>
              </a:path>
              <a:path w="267970" h="2078989">
                <a:moveTo>
                  <a:pt x="28799" y="818389"/>
                </a:moveTo>
                <a:lnTo>
                  <a:pt x="0" y="818389"/>
                </a:lnTo>
                <a:lnTo>
                  <a:pt x="0" y="866388"/>
                </a:lnTo>
                <a:lnTo>
                  <a:pt x="28799" y="866388"/>
                </a:lnTo>
                <a:lnTo>
                  <a:pt x="28799" y="818389"/>
                </a:lnTo>
                <a:close/>
              </a:path>
              <a:path w="267970" h="2078989">
                <a:moveTo>
                  <a:pt x="47999" y="818389"/>
                </a:moveTo>
                <a:lnTo>
                  <a:pt x="38399" y="818389"/>
                </a:lnTo>
                <a:lnTo>
                  <a:pt x="38399" y="866388"/>
                </a:lnTo>
                <a:lnTo>
                  <a:pt x="47999" y="866388"/>
                </a:lnTo>
                <a:lnTo>
                  <a:pt x="47999" y="818389"/>
                </a:lnTo>
                <a:close/>
              </a:path>
              <a:path w="267970" h="2078989">
                <a:moveTo>
                  <a:pt x="28799" y="722389"/>
                </a:moveTo>
                <a:lnTo>
                  <a:pt x="0" y="722389"/>
                </a:lnTo>
                <a:lnTo>
                  <a:pt x="0" y="770389"/>
                </a:lnTo>
                <a:lnTo>
                  <a:pt x="28799" y="770389"/>
                </a:lnTo>
                <a:lnTo>
                  <a:pt x="28799" y="722389"/>
                </a:lnTo>
                <a:close/>
              </a:path>
              <a:path w="267970" h="2078989">
                <a:moveTo>
                  <a:pt x="47999" y="722389"/>
                </a:moveTo>
                <a:lnTo>
                  <a:pt x="38399" y="722389"/>
                </a:lnTo>
                <a:lnTo>
                  <a:pt x="38399" y="770389"/>
                </a:lnTo>
                <a:lnTo>
                  <a:pt x="47999" y="770389"/>
                </a:lnTo>
                <a:lnTo>
                  <a:pt x="47999" y="722389"/>
                </a:lnTo>
                <a:close/>
              </a:path>
              <a:path w="267970" h="2078989">
                <a:moveTo>
                  <a:pt x="28799" y="626389"/>
                </a:moveTo>
                <a:lnTo>
                  <a:pt x="0" y="626389"/>
                </a:lnTo>
                <a:lnTo>
                  <a:pt x="0" y="674389"/>
                </a:lnTo>
                <a:lnTo>
                  <a:pt x="28799" y="674389"/>
                </a:lnTo>
                <a:lnTo>
                  <a:pt x="28799" y="626389"/>
                </a:lnTo>
                <a:close/>
              </a:path>
              <a:path w="267970" h="2078989">
                <a:moveTo>
                  <a:pt x="47999" y="626389"/>
                </a:moveTo>
                <a:lnTo>
                  <a:pt x="38399" y="626389"/>
                </a:lnTo>
                <a:lnTo>
                  <a:pt x="38399" y="674389"/>
                </a:lnTo>
                <a:lnTo>
                  <a:pt x="47999" y="674389"/>
                </a:lnTo>
                <a:lnTo>
                  <a:pt x="47999" y="626389"/>
                </a:lnTo>
                <a:close/>
              </a:path>
              <a:path w="267970" h="2078989">
                <a:moveTo>
                  <a:pt x="28799" y="530388"/>
                </a:moveTo>
                <a:lnTo>
                  <a:pt x="0" y="530388"/>
                </a:lnTo>
                <a:lnTo>
                  <a:pt x="0" y="578389"/>
                </a:lnTo>
                <a:lnTo>
                  <a:pt x="28799" y="578389"/>
                </a:lnTo>
                <a:lnTo>
                  <a:pt x="28799" y="530388"/>
                </a:lnTo>
                <a:close/>
              </a:path>
              <a:path w="267970" h="2078989">
                <a:moveTo>
                  <a:pt x="47999" y="530388"/>
                </a:moveTo>
                <a:lnTo>
                  <a:pt x="38399" y="530388"/>
                </a:lnTo>
                <a:lnTo>
                  <a:pt x="38399" y="578389"/>
                </a:lnTo>
                <a:lnTo>
                  <a:pt x="47999" y="578389"/>
                </a:lnTo>
                <a:lnTo>
                  <a:pt x="47999" y="530388"/>
                </a:lnTo>
                <a:close/>
              </a:path>
              <a:path w="267970" h="2078989">
                <a:moveTo>
                  <a:pt x="28799" y="434389"/>
                </a:moveTo>
                <a:lnTo>
                  <a:pt x="0" y="434389"/>
                </a:lnTo>
                <a:lnTo>
                  <a:pt x="0" y="482389"/>
                </a:lnTo>
                <a:lnTo>
                  <a:pt x="28799" y="482389"/>
                </a:lnTo>
                <a:lnTo>
                  <a:pt x="28799" y="434389"/>
                </a:lnTo>
                <a:close/>
              </a:path>
              <a:path w="267970" h="2078989">
                <a:moveTo>
                  <a:pt x="47999" y="434389"/>
                </a:moveTo>
                <a:lnTo>
                  <a:pt x="38399" y="434389"/>
                </a:lnTo>
                <a:lnTo>
                  <a:pt x="38399" y="482389"/>
                </a:lnTo>
                <a:lnTo>
                  <a:pt x="47999" y="482389"/>
                </a:lnTo>
                <a:lnTo>
                  <a:pt x="47999" y="434389"/>
                </a:lnTo>
                <a:close/>
              </a:path>
              <a:path w="267970" h="2078989">
                <a:moveTo>
                  <a:pt x="28799" y="338388"/>
                </a:moveTo>
                <a:lnTo>
                  <a:pt x="0" y="338388"/>
                </a:lnTo>
                <a:lnTo>
                  <a:pt x="0" y="386389"/>
                </a:lnTo>
                <a:lnTo>
                  <a:pt x="28799" y="386389"/>
                </a:lnTo>
                <a:lnTo>
                  <a:pt x="28799" y="338388"/>
                </a:lnTo>
                <a:close/>
              </a:path>
              <a:path w="267970" h="2078989">
                <a:moveTo>
                  <a:pt x="47999" y="338388"/>
                </a:moveTo>
                <a:lnTo>
                  <a:pt x="38399" y="338388"/>
                </a:lnTo>
                <a:lnTo>
                  <a:pt x="38399" y="386389"/>
                </a:lnTo>
                <a:lnTo>
                  <a:pt x="47999" y="386389"/>
                </a:lnTo>
                <a:lnTo>
                  <a:pt x="47999" y="338388"/>
                </a:lnTo>
                <a:close/>
              </a:path>
              <a:path w="267970" h="2078989">
                <a:moveTo>
                  <a:pt x="28799" y="242389"/>
                </a:moveTo>
                <a:lnTo>
                  <a:pt x="0" y="242389"/>
                </a:lnTo>
                <a:lnTo>
                  <a:pt x="0" y="290389"/>
                </a:lnTo>
                <a:lnTo>
                  <a:pt x="28799" y="290389"/>
                </a:lnTo>
                <a:lnTo>
                  <a:pt x="28799" y="242389"/>
                </a:lnTo>
                <a:close/>
              </a:path>
              <a:path w="267970" h="2078989">
                <a:moveTo>
                  <a:pt x="47999" y="242389"/>
                </a:moveTo>
                <a:lnTo>
                  <a:pt x="38399" y="242389"/>
                </a:lnTo>
                <a:lnTo>
                  <a:pt x="38399" y="290389"/>
                </a:lnTo>
                <a:lnTo>
                  <a:pt x="47999" y="290389"/>
                </a:lnTo>
                <a:lnTo>
                  <a:pt x="47999" y="242389"/>
                </a:lnTo>
                <a:close/>
              </a:path>
              <a:path w="267970" h="2078989">
                <a:moveTo>
                  <a:pt x="28799" y="146389"/>
                </a:moveTo>
                <a:lnTo>
                  <a:pt x="0" y="146389"/>
                </a:lnTo>
                <a:lnTo>
                  <a:pt x="0" y="194388"/>
                </a:lnTo>
                <a:lnTo>
                  <a:pt x="28799" y="194388"/>
                </a:lnTo>
                <a:lnTo>
                  <a:pt x="28799" y="146389"/>
                </a:lnTo>
                <a:close/>
              </a:path>
              <a:path w="267970" h="2078989">
                <a:moveTo>
                  <a:pt x="47999" y="146389"/>
                </a:moveTo>
                <a:lnTo>
                  <a:pt x="38399" y="146389"/>
                </a:lnTo>
                <a:lnTo>
                  <a:pt x="38399" y="194388"/>
                </a:lnTo>
                <a:lnTo>
                  <a:pt x="47999" y="194388"/>
                </a:lnTo>
                <a:lnTo>
                  <a:pt x="47999" y="146389"/>
                </a:lnTo>
                <a:close/>
              </a:path>
              <a:path w="267970" h="2078989">
                <a:moveTo>
                  <a:pt x="2645" y="43436"/>
                </a:moveTo>
                <a:lnTo>
                  <a:pt x="1346" y="47623"/>
                </a:lnTo>
                <a:lnTo>
                  <a:pt x="1024" y="49199"/>
                </a:lnTo>
                <a:lnTo>
                  <a:pt x="759" y="51974"/>
                </a:lnTo>
                <a:lnTo>
                  <a:pt x="0" y="60576"/>
                </a:lnTo>
                <a:lnTo>
                  <a:pt x="0" y="98389"/>
                </a:lnTo>
                <a:lnTo>
                  <a:pt x="28799" y="98389"/>
                </a:lnTo>
                <a:lnTo>
                  <a:pt x="28799" y="60576"/>
                </a:lnTo>
                <a:lnTo>
                  <a:pt x="29470" y="54166"/>
                </a:lnTo>
                <a:lnTo>
                  <a:pt x="30151" y="51974"/>
                </a:lnTo>
                <a:lnTo>
                  <a:pt x="2645" y="43436"/>
                </a:lnTo>
                <a:close/>
              </a:path>
              <a:path w="267970" h="2078989">
                <a:moveTo>
                  <a:pt x="39319" y="54820"/>
                </a:moveTo>
                <a:lnTo>
                  <a:pt x="38925" y="56090"/>
                </a:lnTo>
                <a:lnTo>
                  <a:pt x="38399" y="60576"/>
                </a:lnTo>
                <a:lnTo>
                  <a:pt x="38399" y="98389"/>
                </a:lnTo>
                <a:lnTo>
                  <a:pt x="47999" y="98389"/>
                </a:lnTo>
                <a:lnTo>
                  <a:pt x="47999" y="60576"/>
                </a:lnTo>
                <a:lnTo>
                  <a:pt x="48379" y="58013"/>
                </a:lnTo>
                <a:lnTo>
                  <a:pt x="48487" y="57666"/>
                </a:lnTo>
                <a:lnTo>
                  <a:pt x="39319" y="54820"/>
                </a:lnTo>
                <a:close/>
              </a:path>
              <a:path w="267970" h="2078989">
                <a:moveTo>
                  <a:pt x="109393" y="0"/>
                </a:moveTo>
                <a:lnTo>
                  <a:pt x="61393" y="0"/>
                </a:lnTo>
                <a:lnTo>
                  <a:pt x="61393" y="28799"/>
                </a:lnTo>
                <a:lnTo>
                  <a:pt x="109393" y="28799"/>
                </a:lnTo>
                <a:lnTo>
                  <a:pt x="109393" y="0"/>
                </a:lnTo>
                <a:close/>
              </a:path>
              <a:path w="267970" h="2078989">
                <a:moveTo>
                  <a:pt x="109393" y="38399"/>
                </a:moveTo>
                <a:lnTo>
                  <a:pt x="61393" y="38399"/>
                </a:lnTo>
                <a:lnTo>
                  <a:pt x="61393" y="47999"/>
                </a:lnTo>
                <a:lnTo>
                  <a:pt x="109393" y="47999"/>
                </a:lnTo>
                <a:lnTo>
                  <a:pt x="109393" y="38399"/>
                </a:lnTo>
                <a:close/>
              </a:path>
              <a:path w="267970" h="2078989">
                <a:moveTo>
                  <a:pt x="205393" y="0"/>
                </a:moveTo>
                <a:lnTo>
                  <a:pt x="157393" y="0"/>
                </a:lnTo>
                <a:lnTo>
                  <a:pt x="157393" y="28799"/>
                </a:lnTo>
                <a:lnTo>
                  <a:pt x="205393" y="28799"/>
                </a:lnTo>
                <a:lnTo>
                  <a:pt x="205393" y="0"/>
                </a:lnTo>
                <a:close/>
              </a:path>
              <a:path w="267970" h="2078989">
                <a:moveTo>
                  <a:pt x="205393" y="38399"/>
                </a:moveTo>
                <a:lnTo>
                  <a:pt x="157393" y="38399"/>
                </a:lnTo>
                <a:lnTo>
                  <a:pt x="157393" y="47999"/>
                </a:lnTo>
                <a:lnTo>
                  <a:pt x="205393" y="47999"/>
                </a:lnTo>
                <a:lnTo>
                  <a:pt x="205393" y="38399"/>
                </a:lnTo>
                <a:close/>
              </a:path>
              <a:path w="267970" h="2078989">
                <a:moveTo>
                  <a:pt x="264612" y="42797"/>
                </a:moveTo>
                <a:lnTo>
                  <a:pt x="237106" y="51335"/>
                </a:lnTo>
                <a:lnTo>
                  <a:pt x="237985" y="54166"/>
                </a:lnTo>
                <a:lnTo>
                  <a:pt x="238679" y="61057"/>
                </a:lnTo>
                <a:lnTo>
                  <a:pt x="238655" y="97720"/>
                </a:lnTo>
                <a:lnTo>
                  <a:pt x="267455" y="97720"/>
                </a:lnTo>
                <a:lnTo>
                  <a:pt x="267335" y="58168"/>
                </a:lnTo>
                <a:lnTo>
                  <a:pt x="266430" y="49199"/>
                </a:lnTo>
                <a:lnTo>
                  <a:pt x="266109" y="47622"/>
                </a:lnTo>
                <a:lnTo>
                  <a:pt x="264612" y="42797"/>
                </a:lnTo>
                <a:close/>
              </a:path>
              <a:path w="267970" h="2078989">
                <a:moveTo>
                  <a:pt x="227938" y="54182"/>
                </a:moveTo>
                <a:lnTo>
                  <a:pt x="218770" y="57028"/>
                </a:lnTo>
                <a:lnTo>
                  <a:pt x="219076" y="58013"/>
                </a:lnTo>
                <a:lnTo>
                  <a:pt x="219479" y="62020"/>
                </a:lnTo>
                <a:lnTo>
                  <a:pt x="219456" y="97720"/>
                </a:lnTo>
                <a:lnTo>
                  <a:pt x="229055" y="97720"/>
                </a:lnTo>
                <a:lnTo>
                  <a:pt x="229128" y="62020"/>
                </a:lnTo>
                <a:lnTo>
                  <a:pt x="228531" y="56090"/>
                </a:lnTo>
                <a:lnTo>
                  <a:pt x="227938" y="54182"/>
                </a:lnTo>
                <a:close/>
              </a:path>
              <a:path w="267970" h="2078989">
                <a:moveTo>
                  <a:pt x="267455" y="145719"/>
                </a:moveTo>
                <a:lnTo>
                  <a:pt x="238655" y="145719"/>
                </a:lnTo>
                <a:lnTo>
                  <a:pt x="238655" y="193720"/>
                </a:lnTo>
                <a:lnTo>
                  <a:pt x="267455" y="193720"/>
                </a:lnTo>
                <a:lnTo>
                  <a:pt x="267455" y="145719"/>
                </a:lnTo>
                <a:close/>
              </a:path>
              <a:path w="267970" h="2078989">
                <a:moveTo>
                  <a:pt x="229055" y="145719"/>
                </a:moveTo>
                <a:lnTo>
                  <a:pt x="219456" y="145719"/>
                </a:lnTo>
                <a:lnTo>
                  <a:pt x="219456" y="193720"/>
                </a:lnTo>
                <a:lnTo>
                  <a:pt x="229055" y="193720"/>
                </a:lnTo>
                <a:lnTo>
                  <a:pt x="229055" y="145719"/>
                </a:lnTo>
                <a:close/>
              </a:path>
              <a:path w="267970" h="2078989">
                <a:moveTo>
                  <a:pt x="267455" y="241720"/>
                </a:moveTo>
                <a:lnTo>
                  <a:pt x="238655" y="241720"/>
                </a:lnTo>
                <a:lnTo>
                  <a:pt x="238655" y="289720"/>
                </a:lnTo>
                <a:lnTo>
                  <a:pt x="267455" y="289720"/>
                </a:lnTo>
                <a:lnTo>
                  <a:pt x="267455" y="241720"/>
                </a:lnTo>
                <a:close/>
              </a:path>
              <a:path w="267970" h="2078989">
                <a:moveTo>
                  <a:pt x="229055" y="241720"/>
                </a:moveTo>
                <a:lnTo>
                  <a:pt x="219456" y="241720"/>
                </a:lnTo>
                <a:lnTo>
                  <a:pt x="219456" y="289720"/>
                </a:lnTo>
                <a:lnTo>
                  <a:pt x="229055" y="289720"/>
                </a:lnTo>
                <a:lnTo>
                  <a:pt x="229055" y="241720"/>
                </a:lnTo>
                <a:close/>
              </a:path>
              <a:path w="267970" h="2078989">
                <a:moveTo>
                  <a:pt x="267455" y="337719"/>
                </a:moveTo>
                <a:lnTo>
                  <a:pt x="238655" y="337719"/>
                </a:lnTo>
                <a:lnTo>
                  <a:pt x="238655" y="385720"/>
                </a:lnTo>
                <a:lnTo>
                  <a:pt x="267455" y="385720"/>
                </a:lnTo>
                <a:lnTo>
                  <a:pt x="267455" y="337719"/>
                </a:lnTo>
                <a:close/>
              </a:path>
              <a:path w="267970" h="2078989">
                <a:moveTo>
                  <a:pt x="229055" y="337719"/>
                </a:moveTo>
                <a:lnTo>
                  <a:pt x="219456" y="337719"/>
                </a:lnTo>
                <a:lnTo>
                  <a:pt x="219456" y="385720"/>
                </a:lnTo>
                <a:lnTo>
                  <a:pt x="229055" y="385720"/>
                </a:lnTo>
                <a:lnTo>
                  <a:pt x="229055" y="337719"/>
                </a:lnTo>
                <a:close/>
              </a:path>
              <a:path w="267970" h="2078989">
                <a:moveTo>
                  <a:pt x="267455" y="433720"/>
                </a:moveTo>
                <a:lnTo>
                  <a:pt x="238655" y="433720"/>
                </a:lnTo>
                <a:lnTo>
                  <a:pt x="238655" y="481719"/>
                </a:lnTo>
                <a:lnTo>
                  <a:pt x="267455" y="481719"/>
                </a:lnTo>
                <a:lnTo>
                  <a:pt x="267455" y="433720"/>
                </a:lnTo>
                <a:close/>
              </a:path>
              <a:path w="267970" h="2078989">
                <a:moveTo>
                  <a:pt x="229055" y="433720"/>
                </a:moveTo>
                <a:lnTo>
                  <a:pt x="219456" y="433720"/>
                </a:lnTo>
                <a:lnTo>
                  <a:pt x="219456" y="481719"/>
                </a:lnTo>
                <a:lnTo>
                  <a:pt x="229055" y="481719"/>
                </a:lnTo>
                <a:lnTo>
                  <a:pt x="229055" y="433720"/>
                </a:lnTo>
                <a:close/>
              </a:path>
              <a:path w="267970" h="2078989">
                <a:moveTo>
                  <a:pt x="267455" y="529719"/>
                </a:moveTo>
                <a:lnTo>
                  <a:pt x="238655" y="529719"/>
                </a:lnTo>
                <a:lnTo>
                  <a:pt x="238655" y="577720"/>
                </a:lnTo>
                <a:lnTo>
                  <a:pt x="267455" y="577720"/>
                </a:lnTo>
                <a:lnTo>
                  <a:pt x="267455" y="529719"/>
                </a:lnTo>
                <a:close/>
              </a:path>
              <a:path w="267970" h="2078989">
                <a:moveTo>
                  <a:pt x="229055" y="529719"/>
                </a:moveTo>
                <a:lnTo>
                  <a:pt x="219456" y="529719"/>
                </a:lnTo>
                <a:lnTo>
                  <a:pt x="219456" y="577720"/>
                </a:lnTo>
                <a:lnTo>
                  <a:pt x="229055" y="577720"/>
                </a:lnTo>
                <a:lnTo>
                  <a:pt x="229055" y="529719"/>
                </a:lnTo>
                <a:close/>
              </a:path>
              <a:path w="267970" h="2078989">
                <a:moveTo>
                  <a:pt x="267455" y="625720"/>
                </a:moveTo>
                <a:lnTo>
                  <a:pt x="238655" y="625720"/>
                </a:lnTo>
                <a:lnTo>
                  <a:pt x="238655" y="673719"/>
                </a:lnTo>
                <a:lnTo>
                  <a:pt x="267455" y="673719"/>
                </a:lnTo>
                <a:lnTo>
                  <a:pt x="267455" y="625720"/>
                </a:lnTo>
                <a:close/>
              </a:path>
              <a:path w="267970" h="2078989">
                <a:moveTo>
                  <a:pt x="229055" y="625720"/>
                </a:moveTo>
                <a:lnTo>
                  <a:pt x="219456" y="625720"/>
                </a:lnTo>
                <a:lnTo>
                  <a:pt x="219456" y="673719"/>
                </a:lnTo>
                <a:lnTo>
                  <a:pt x="229055" y="673719"/>
                </a:lnTo>
                <a:lnTo>
                  <a:pt x="229055" y="625720"/>
                </a:lnTo>
                <a:close/>
              </a:path>
              <a:path w="267970" h="2078989">
                <a:moveTo>
                  <a:pt x="267455" y="721720"/>
                </a:moveTo>
                <a:lnTo>
                  <a:pt x="238655" y="721720"/>
                </a:lnTo>
                <a:lnTo>
                  <a:pt x="238655" y="769720"/>
                </a:lnTo>
                <a:lnTo>
                  <a:pt x="267455" y="769720"/>
                </a:lnTo>
                <a:lnTo>
                  <a:pt x="267455" y="721720"/>
                </a:lnTo>
                <a:close/>
              </a:path>
              <a:path w="267970" h="2078989">
                <a:moveTo>
                  <a:pt x="229055" y="721720"/>
                </a:moveTo>
                <a:lnTo>
                  <a:pt x="219456" y="721720"/>
                </a:lnTo>
                <a:lnTo>
                  <a:pt x="219456" y="769720"/>
                </a:lnTo>
                <a:lnTo>
                  <a:pt x="229055" y="769720"/>
                </a:lnTo>
                <a:lnTo>
                  <a:pt x="229055" y="721720"/>
                </a:lnTo>
                <a:close/>
              </a:path>
              <a:path w="267970" h="2078989">
                <a:moveTo>
                  <a:pt x="267455" y="817719"/>
                </a:moveTo>
                <a:lnTo>
                  <a:pt x="238655" y="817719"/>
                </a:lnTo>
                <a:lnTo>
                  <a:pt x="238655" y="865719"/>
                </a:lnTo>
                <a:lnTo>
                  <a:pt x="267455" y="865719"/>
                </a:lnTo>
                <a:lnTo>
                  <a:pt x="267455" y="817719"/>
                </a:lnTo>
                <a:close/>
              </a:path>
              <a:path w="267970" h="2078989">
                <a:moveTo>
                  <a:pt x="229055" y="817719"/>
                </a:moveTo>
                <a:lnTo>
                  <a:pt x="219456" y="817719"/>
                </a:lnTo>
                <a:lnTo>
                  <a:pt x="219456" y="865719"/>
                </a:lnTo>
                <a:lnTo>
                  <a:pt x="229055" y="865719"/>
                </a:lnTo>
                <a:lnTo>
                  <a:pt x="229055" y="817719"/>
                </a:lnTo>
                <a:close/>
              </a:path>
              <a:path w="267970" h="2078989">
                <a:moveTo>
                  <a:pt x="267455" y="913720"/>
                </a:moveTo>
                <a:lnTo>
                  <a:pt x="238655" y="913720"/>
                </a:lnTo>
                <a:lnTo>
                  <a:pt x="238655" y="961720"/>
                </a:lnTo>
                <a:lnTo>
                  <a:pt x="267455" y="961720"/>
                </a:lnTo>
                <a:lnTo>
                  <a:pt x="267455" y="913720"/>
                </a:lnTo>
                <a:close/>
              </a:path>
              <a:path w="267970" h="2078989">
                <a:moveTo>
                  <a:pt x="229055" y="913720"/>
                </a:moveTo>
                <a:lnTo>
                  <a:pt x="219456" y="913720"/>
                </a:lnTo>
                <a:lnTo>
                  <a:pt x="219456" y="961720"/>
                </a:lnTo>
                <a:lnTo>
                  <a:pt x="229055" y="961720"/>
                </a:lnTo>
                <a:lnTo>
                  <a:pt x="229055" y="913720"/>
                </a:lnTo>
                <a:close/>
              </a:path>
              <a:path w="267970" h="2078989">
                <a:moveTo>
                  <a:pt x="267455" y="1009719"/>
                </a:moveTo>
                <a:lnTo>
                  <a:pt x="238655" y="1009719"/>
                </a:lnTo>
                <a:lnTo>
                  <a:pt x="238655" y="1057719"/>
                </a:lnTo>
                <a:lnTo>
                  <a:pt x="267455" y="1057719"/>
                </a:lnTo>
                <a:lnTo>
                  <a:pt x="267455" y="1009719"/>
                </a:lnTo>
                <a:close/>
              </a:path>
              <a:path w="267970" h="2078989">
                <a:moveTo>
                  <a:pt x="229055" y="1009719"/>
                </a:moveTo>
                <a:lnTo>
                  <a:pt x="219456" y="1009719"/>
                </a:lnTo>
                <a:lnTo>
                  <a:pt x="219456" y="1057719"/>
                </a:lnTo>
                <a:lnTo>
                  <a:pt x="229055" y="1057719"/>
                </a:lnTo>
                <a:lnTo>
                  <a:pt x="229055" y="1009719"/>
                </a:lnTo>
                <a:close/>
              </a:path>
              <a:path w="267970" h="2078989">
                <a:moveTo>
                  <a:pt x="267455" y="1105720"/>
                </a:moveTo>
                <a:lnTo>
                  <a:pt x="238655" y="1105720"/>
                </a:lnTo>
                <a:lnTo>
                  <a:pt x="238655" y="1153720"/>
                </a:lnTo>
                <a:lnTo>
                  <a:pt x="267455" y="1153720"/>
                </a:lnTo>
                <a:lnTo>
                  <a:pt x="267455" y="1105720"/>
                </a:lnTo>
                <a:close/>
              </a:path>
              <a:path w="267970" h="2078989">
                <a:moveTo>
                  <a:pt x="229055" y="1105720"/>
                </a:moveTo>
                <a:lnTo>
                  <a:pt x="219456" y="1105720"/>
                </a:lnTo>
                <a:lnTo>
                  <a:pt x="219456" y="1153720"/>
                </a:lnTo>
                <a:lnTo>
                  <a:pt x="229055" y="1153720"/>
                </a:lnTo>
                <a:lnTo>
                  <a:pt x="229055" y="1105720"/>
                </a:lnTo>
                <a:close/>
              </a:path>
              <a:path w="267970" h="2078989">
                <a:moveTo>
                  <a:pt x="267455" y="1201719"/>
                </a:moveTo>
                <a:lnTo>
                  <a:pt x="238655" y="1201719"/>
                </a:lnTo>
                <a:lnTo>
                  <a:pt x="238655" y="1249720"/>
                </a:lnTo>
                <a:lnTo>
                  <a:pt x="267455" y="1249720"/>
                </a:lnTo>
                <a:lnTo>
                  <a:pt x="267455" y="1201719"/>
                </a:lnTo>
                <a:close/>
              </a:path>
              <a:path w="267970" h="2078989">
                <a:moveTo>
                  <a:pt x="229055" y="1201719"/>
                </a:moveTo>
                <a:lnTo>
                  <a:pt x="219456" y="1201719"/>
                </a:lnTo>
                <a:lnTo>
                  <a:pt x="219456" y="1249720"/>
                </a:lnTo>
                <a:lnTo>
                  <a:pt x="229055" y="1249720"/>
                </a:lnTo>
                <a:lnTo>
                  <a:pt x="229055" y="1201719"/>
                </a:lnTo>
                <a:close/>
              </a:path>
              <a:path w="267970" h="2078989">
                <a:moveTo>
                  <a:pt x="267455" y="1297720"/>
                </a:moveTo>
                <a:lnTo>
                  <a:pt x="238655" y="1297720"/>
                </a:lnTo>
                <a:lnTo>
                  <a:pt x="238655" y="1345719"/>
                </a:lnTo>
                <a:lnTo>
                  <a:pt x="267455" y="1345719"/>
                </a:lnTo>
                <a:lnTo>
                  <a:pt x="267455" y="1297720"/>
                </a:lnTo>
                <a:close/>
              </a:path>
              <a:path w="267970" h="2078989">
                <a:moveTo>
                  <a:pt x="229055" y="1297720"/>
                </a:moveTo>
                <a:lnTo>
                  <a:pt x="219456" y="1297720"/>
                </a:lnTo>
                <a:lnTo>
                  <a:pt x="219456" y="1345719"/>
                </a:lnTo>
                <a:lnTo>
                  <a:pt x="229055" y="1345719"/>
                </a:lnTo>
                <a:lnTo>
                  <a:pt x="229055" y="1297720"/>
                </a:lnTo>
                <a:close/>
              </a:path>
              <a:path w="267970" h="2078989">
                <a:moveTo>
                  <a:pt x="267455" y="1393719"/>
                </a:moveTo>
                <a:lnTo>
                  <a:pt x="238655" y="1393719"/>
                </a:lnTo>
                <a:lnTo>
                  <a:pt x="238655" y="1441720"/>
                </a:lnTo>
                <a:lnTo>
                  <a:pt x="267455" y="1441720"/>
                </a:lnTo>
                <a:lnTo>
                  <a:pt x="267455" y="1393719"/>
                </a:lnTo>
                <a:close/>
              </a:path>
              <a:path w="267970" h="2078989">
                <a:moveTo>
                  <a:pt x="229055" y="1393719"/>
                </a:moveTo>
                <a:lnTo>
                  <a:pt x="219456" y="1393719"/>
                </a:lnTo>
                <a:lnTo>
                  <a:pt x="219456" y="1441720"/>
                </a:lnTo>
                <a:lnTo>
                  <a:pt x="229055" y="1441720"/>
                </a:lnTo>
                <a:lnTo>
                  <a:pt x="229055" y="1393719"/>
                </a:lnTo>
                <a:close/>
              </a:path>
              <a:path w="267970" h="2078989">
                <a:moveTo>
                  <a:pt x="267455" y="1489720"/>
                </a:moveTo>
                <a:lnTo>
                  <a:pt x="238655" y="1489720"/>
                </a:lnTo>
                <a:lnTo>
                  <a:pt x="238655" y="1537719"/>
                </a:lnTo>
                <a:lnTo>
                  <a:pt x="267455" y="1537719"/>
                </a:lnTo>
                <a:lnTo>
                  <a:pt x="267455" y="1489720"/>
                </a:lnTo>
                <a:close/>
              </a:path>
              <a:path w="267970" h="2078989">
                <a:moveTo>
                  <a:pt x="229055" y="1489720"/>
                </a:moveTo>
                <a:lnTo>
                  <a:pt x="219456" y="1489720"/>
                </a:lnTo>
                <a:lnTo>
                  <a:pt x="219456" y="1537719"/>
                </a:lnTo>
                <a:lnTo>
                  <a:pt x="229055" y="1537719"/>
                </a:lnTo>
                <a:lnTo>
                  <a:pt x="229055" y="1489720"/>
                </a:lnTo>
                <a:close/>
              </a:path>
              <a:path w="267970" h="2078989">
                <a:moveTo>
                  <a:pt x="267455" y="1585719"/>
                </a:moveTo>
                <a:lnTo>
                  <a:pt x="238655" y="1585719"/>
                </a:lnTo>
                <a:lnTo>
                  <a:pt x="238655" y="1633720"/>
                </a:lnTo>
                <a:lnTo>
                  <a:pt x="267455" y="1633720"/>
                </a:lnTo>
                <a:lnTo>
                  <a:pt x="267455" y="1585719"/>
                </a:lnTo>
                <a:close/>
              </a:path>
              <a:path w="267970" h="2078989">
                <a:moveTo>
                  <a:pt x="229055" y="1585719"/>
                </a:moveTo>
                <a:lnTo>
                  <a:pt x="219456" y="1585719"/>
                </a:lnTo>
                <a:lnTo>
                  <a:pt x="219456" y="1633720"/>
                </a:lnTo>
                <a:lnTo>
                  <a:pt x="229055" y="1633720"/>
                </a:lnTo>
                <a:lnTo>
                  <a:pt x="229055" y="1585719"/>
                </a:lnTo>
                <a:close/>
              </a:path>
              <a:path w="267970" h="2078989">
                <a:moveTo>
                  <a:pt x="267455" y="1681720"/>
                </a:moveTo>
                <a:lnTo>
                  <a:pt x="238655" y="1681720"/>
                </a:lnTo>
                <a:lnTo>
                  <a:pt x="238655" y="1729719"/>
                </a:lnTo>
                <a:lnTo>
                  <a:pt x="267455" y="1729719"/>
                </a:lnTo>
                <a:lnTo>
                  <a:pt x="267455" y="1681720"/>
                </a:lnTo>
                <a:close/>
              </a:path>
              <a:path w="267970" h="2078989">
                <a:moveTo>
                  <a:pt x="229055" y="1681720"/>
                </a:moveTo>
                <a:lnTo>
                  <a:pt x="219456" y="1681720"/>
                </a:lnTo>
                <a:lnTo>
                  <a:pt x="219456" y="1729719"/>
                </a:lnTo>
                <a:lnTo>
                  <a:pt x="229055" y="1729719"/>
                </a:lnTo>
                <a:lnTo>
                  <a:pt x="229055" y="1681720"/>
                </a:lnTo>
                <a:close/>
              </a:path>
              <a:path w="267970" h="2078989">
                <a:moveTo>
                  <a:pt x="267455" y="1777720"/>
                </a:moveTo>
                <a:lnTo>
                  <a:pt x="238655" y="1777720"/>
                </a:lnTo>
                <a:lnTo>
                  <a:pt x="238655" y="1825720"/>
                </a:lnTo>
                <a:lnTo>
                  <a:pt x="267455" y="1825720"/>
                </a:lnTo>
                <a:lnTo>
                  <a:pt x="267455" y="1777720"/>
                </a:lnTo>
                <a:close/>
              </a:path>
              <a:path w="267970" h="2078989">
                <a:moveTo>
                  <a:pt x="229055" y="1777720"/>
                </a:moveTo>
                <a:lnTo>
                  <a:pt x="219456" y="1777720"/>
                </a:lnTo>
                <a:lnTo>
                  <a:pt x="219456" y="1825720"/>
                </a:lnTo>
                <a:lnTo>
                  <a:pt x="229055" y="1825720"/>
                </a:lnTo>
                <a:lnTo>
                  <a:pt x="229055" y="1777720"/>
                </a:lnTo>
                <a:close/>
              </a:path>
              <a:path w="267970" h="2078989">
                <a:moveTo>
                  <a:pt x="267455" y="1873719"/>
                </a:moveTo>
                <a:lnTo>
                  <a:pt x="238655" y="1873719"/>
                </a:lnTo>
                <a:lnTo>
                  <a:pt x="238655" y="1921719"/>
                </a:lnTo>
                <a:lnTo>
                  <a:pt x="267455" y="1921719"/>
                </a:lnTo>
                <a:lnTo>
                  <a:pt x="267455" y="1873719"/>
                </a:lnTo>
                <a:close/>
              </a:path>
              <a:path w="267970" h="2078989">
                <a:moveTo>
                  <a:pt x="229055" y="1873719"/>
                </a:moveTo>
                <a:lnTo>
                  <a:pt x="219456" y="1873719"/>
                </a:lnTo>
                <a:lnTo>
                  <a:pt x="219456" y="1921719"/>
                </a:lnTo>
                <a:lnTo>
                  <a:pt x="229055" y="1921719"/>
                </a:lnTo>
                <a:lnTo>
                  <a:pt x="229055" y="1873719"/>
                </a:lnTo>
                <a:close/>
              </a:path>
              <a:path w="267970" h="2078989">
                <a:moveTo>
                  <a:pt x="267455" y="1969720"/>
                </a:moveTo>
                <a:lnTo>
                  <a:pt x="238655" y="1969720"/>
                </a:lnTo>
                <a:lnTo>
                  <a:pt x="238655" y="2017720"/>
                </a:lnTo>
                <a:lnTo>
                  <a:pt x="267455" y="2017720"/>
                </a:lnTo>
                <a:lnTo>
                  <a:pt x="267455" y="1969720"/>
                </a:lnTo>
                <a:close/>
              </a:path>
              <a:path w="267970" h="2078989">
                <a:moveTo>
                  <a:pt x="229055" y="1969720"/>
                </a:moveTo>
                <a:lnTo>
                  <a:pt x="219456" y="1969720"/>
                </a:lnTo>
                <a:lnTo>
                  <a:pt x="219456" y="2017720"/>
                </a:lnTo>
                <a:lnTo>
                  <a:pt x="229055" y="2017720"/>
                </a:lnTo>
                <a:lnTo>
                  <a:pt x="229055" y="1969720"/>
                </a:lnTo>
                <a:close/>
              </a:path>
              <a:path w="267970" h="2078989">
                <a:moveTo>
                  <a:pt x="168918" y="2050166"/>
                </a:moveTo>
                <a:lnTo>
                  <a:pt x="168918" y="2078965"/>
                </a:lnTo>
                <a:lnTo>
                  <a:pt x="209285" y="2078845"/>
                </a:lnTo>
                <a:lnTo>
                  <a:pt x="218254" y="2077940"/>
                </a:lnTo>
                <a:lnTo>
                  <a:pt x="219831" y="2077619"/>
                </a:lnTo>
                <a:lnTo>
                  <a:pt x="223878" y="2076364"/>
                </a:lnTo>
                <a:lnTo>
                  <a:pt x="215753" y="2050190"/>
                </a:lnTo>
                <a:lnTo>
                  <a:pt x="168918" y="2050166"/>
                </a:lnTo>
                <a:close/>
              </a:path>
              <a:path w="267970" h="2078989">
                <a:moveTo>
                  <a:pt x="215339" y="2048859"/>
                </a:moveTo>
                <a:lnTo>
                  <a:pt x="213288" y="2049495"/>
                </a:lnTo>
                <a:lnTo>
                  <a:pt x="206397" y="2050190"/>
                </a:lnTo>
                <a:lnTo>
                  <a:pt x="215753" y="2050190"/>
                </a:lnTo>
                <a:lnTo>
                  <a:pt x="215339" y="2048859"/>
                </a:lnTo>
                <a:close/>
              </a:path>
              <a:path w="267970" h="2078989">
                <a:moveTo>
                  <a:pt x="168918" y="2030966"/>
                </a:moveTo>
                <a:lnTo>
                  <a:pt x="168918" y="2040566"/>
                </a:lnTo>
                <a:lnTo>
                  <a:pt x="205435" y="2040638"/>
                </a:lnTo>
                <a:lnTo>
                  <a:pt x="211364" y="2040041"/>
                </a:lnTo>
                <a:lnTo>
                  <a:pt x="212493" y="2039691"/>
                </a:lnTo>
                <a:lnTo>
                  <a:pt x="209823" y="2031086"/>
                </a:lnTo>
                <a:lnTo>
                  <a:pt x="204471" y="2031086"/>
                </a:lnTo>
                <a:lnTo>
                  <a:pt x="168918" y="2030966"/>
                </a:lnTo>
                <a:close/>
              </a:path>
              <a:path w="267970" h="2078989">
                <a:moveTo>
                  <a:pt x="209647" y="2030521"/>
                </a:moveTo>
                <a:lnTo>
                  <a:pt x="209440" y="2030586"/>
                </a:lnTo>
                <a:lnTo>
                  <a:pt x="204471" y="2031086"/>
                </a:lnTo>
                <a:lnTo>
                  <a:pt x="209823" y="2031086"/>
                </a:lnTo>
                <a:lnTo>
                  <a:pt x="209647" y="2030521"/>
                </a:lnTo>
                <a:close/>
              </a:path>
              <a:path w="267970" h="2078989">
                <a:moveTo>
                  <a:pt x="120919" y="2050166"/>
                </a:moveTo>
                <a:lnTo>
                  <a:pt x="72918" y="2050166"/>
                </a:lnTo>
                <a:lnTo>
                  <a:pt x="72918" y="2078965"/>
                </a:lnTo>
                <a:lnTo>
                  <a:pt x="120919" y="2078965"/>
                </a:lnTo>
                <a:lnTo>
                  <a:pt x="120919" y="2050166"/>
                </a:lnTo>
                <a:close/>
              </a:path>
              <a:path w="267970" h="2078989">
                <a:moveTo>
                  <a:pt x="120919" y="2030966"/>
                </a:moveTo>
                <a:lnTo>
                  <a:pt x="72918" y="2030966"/>
                </a:lnTo>
                <a:lnTo>
                  <a:pt x="72918" y="2040566"/>
                </a:lnTo>
                <a:lnTo>
                  <a:pt x="120919" y="2040566"/>
                </a:lnTo>
                <a:lnTo>
                  <a:pt x="120919" y="2030966"/>
                </a:lnTo>
                <a:close/>
              </a:path>
            </a:pathLst>
          </a:custGeom>
          <a:solidFill>
            <a:srgbClr val="5A63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64297" y="28528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64297" y="30560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64297" y="32592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64297" y="34624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64297" y="36656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64297" y="38688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64297" y="40720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64297" y="42752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64297" y="44784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64297" y="468166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0" y="6227"/>
                </a:lnTo>
                <a:lnTo>
                  <a:pt x="23210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0" y="135285"/>
                </a:lnTo>
                <a:lnTo>
                  <a:pt x="48400" y="152268"/>
                </a:lnTo>
                <a:lnTo>
                  <a:pt x="79248" y="158496"/>
                </a:lnTo>
                <a:lnTo>
                  <a:pt x="110094" y="152268"/>
                </a:lnTo>
                <a:lnTo>
                  <a:pt x="135284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4" y="23211"/>
                </a:lnTo>
                <a:lnTo>
                  <a:pt x="110094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83519" y="4914050"/>
            <a:ext cx="4270375" cy="440690"/>
          </a:xfrm>
          <a:custGeom>
            <a:avLst/>
            <a:gdLst/>
            <a:ahLst/>
            <a:cxnLst/>
            <a:rect l="l" t="t" r="r" b="b"/>
            <a:pathLst>
              <a:path w="4270375" h="440689">
                <a:moveTo>
                  <a:pt x="4270279" y="0"/>
                </a:moveTo>
                <a:lnTo>
                  <a:pt x="4268408" y="69579"/>
                </a:lnTo>
                <a:lnTo>
                  <a:pt x="4263200" y="130007"/>
                </a:lnTo>
                <a:lnTo>
                  <a:pt x="4255258" y="177660"/>
                </a:lnTo>
                <a:lnTo>
                  <a:pt x="4233591" y="220133"/>
                </a:lnTo>
                <a:lnTo>
                  <a:pt x="2171827" y="220133"/>
                </a:lnTo>
                <a:lnTo>
                  <a:pt x="2160230" y="231356"/>
                </a:lnTo>
                <a:lnTo>
                  <a:pt x="2150160" y="262606"/>
                </a:lnTo>
                <a:lnTo>
                  <a:pt x="2142218" y="310259"/>
                </a:lnTo>
                <a:lnTo>
                  <a:pt x="2137010" y="370687"/>
                </a:lnTo>
                <a:lnTo>
                  <a:pt x="2135140" y="440267"/>
                </a:lnTo>
                <a:lnTo>
                  <a:pt x="2133269" y="370687"/>
                </a:lnTo>
                <a:lnTo>
                  <a:pt x="2128061" y="310259"/>
                </a:lnTo>
                <a:lnTo>
                  <a:pt x="2120119" y="262606"/>
                </a:lnTo>
                <a:lnTo>
                  <a:pt x="2110048" y="231356"/>
                </a:lnTo>
                <a:lnTo>
                  <a:pt x="2098452" y="220133"/>
                </a:lnTo>
                <a:lnTo>
                  <a:pt x="36687" y="220133"/>
                </a:lnTo>
                <a:lnTo>
                  <a:pt x="25091" y="208910"/>
                </a:lnTo>
                <a:lnTo>
                  <a:pt x="15020" y="177660"/>
                </a:lnTo>
                <a:lnTo>
                  <a:pt x="7078" y="130007"/>
                </a:lnTo>
                <a:lnTo>
                  <a:pt x="1870" y="69579"/>
                </a:lnTo>
                <a:lnTo>
                  <a:pt x="0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490374" y="2809445"/>
            <a:ext cx="417830" cy="2030730"/>
          </a:xfrm>
          <a:custGeom>
            <a:avLst/>
            <a:gdLst/>
            <a:ahLst/>
            <a:cxnLst/>
            <a:rect l="l" t="t" r="r" b="b"/>
            <a:pathLst>
              <a:path w="417829" h="2030729">
                <a:moveTo>
                  <a:pt x="0" y="0"/>
                </a:moveTo>
                <a:lnTo>
                  <a:pt x="65988" y="1773"/>
                </a:lnTo>
                <a:lnTo>
                  <a:pt x="123298" y="6713"/>
                </a:lnTo>
                <a:lnTo>
                  <a:pt x="168491" y="14245"/>
                </a:lnTo>
                <a:lnTo>
                  <a:pt x="208772" y="34794"/>
                </a:lnTo>
                <a:lnTo>
                  <a:pt x="208772" y="980564"/>
                </a:lnTo>
                <a:lnTo>
                  <a:pt x="219415" y="991561"/>
                </a:lnTo>
                <a:lnTo>
                  <a:pt x="249053" y="1001112"/>
                </a:lnTo>
                <a:lnTo>
                  <a:pt x="294246" y="1008644"/>
                </a:lnTo>
                <a:lnTo>
                  <a:pt x="351556" y="1013584"/>
                </a:lnTo>
                <a:lnTo>
                  <a:pt x="417545" y="1015358"/>
                </a:lnTo>
                <a:lnTo>
                  <a:pt x="351556" y="1017131"/>
                </a:lnTo>
                <a:lnTo>
                  <a:pt x="294246" y="1022070"/>
                </a:lnTo>
                <a:lnTo>
                  <a:pt x="249053" y="1029602"/>
                </a:lnTo>
                <a:lnTo>
                  <a:pt x="219415" y="1039153"/>
                </a:lnTo>
                <a:lnTo>
                  <a:pt x="208772" y="1050151"/>
                </a:lnTo>
                <a:lnTo>
                  <a:pt x="208772" y="1995921"/>
                </a:lnTo>
                <a:lnTo>
                  <a:pt x="198129" y="2006918"/>
                </a:lnTo>
                <a:lnTo>
                  <a:pt x="168491" y="2016470"/>
                </a:lnTo>
                <a:lnTo>
                  <a:pt x="123298" y="2024001"/>
                </a:lnTo>
                <a:lnTo>
                  <a:pt x="65988" y="2028941"/>
                </a:lnTo>
                <a:lnTo>
                  <a:pt x="0" y="2030715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998959" y="3370579"/>
            <a:ext cx="209550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>
                <a:latin typeface="Arial"/>
                <a:cs typeface="Arial"/>
              </a:rPr>
              <a:t>Dimension</a:t>
            </a:r>
            <a:r>
              <a:rPr dirty="0" sz="2400" spc="-5">
                <a:latin typeface="Arial"/>
                <a:cs typeface="Arial"/>
              </a:rPr>
              <a:t>/</a:t>
            </a:r>
            <a:r>
              <a:rPr dirty="0" sz="2400">
                <a:latin typeface="Arial"/>
                <a:cs typeface="Arial"/>
              </a:rPr>
              <a:t>size  of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embeddings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8458" y="5242052"/>
            <a:ext cx="289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one column per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0403" y="2309876"/>
            <a:ext cx="153670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53060" marR="5080" indent="-340995">
              <a:lnSpc>
                <a:spcPct val="100800"/>
              </a:lnSpc>
              <a:spcBef>
                <a:spcPts val="75"/>
              </a:spcBef>
            </a:pPr>
            <a:r>
              <a:rPr dirty="0" sz="2400">
                <a:latin typeface="Arial"/>
                <a:cs typeface="Arial"/>
              </a:rPr>
              <a:t>embedd</a:t>
            </a:r>
            <a:r>
              <a:rPr dirty="0" sz="2400" spc="0">
                <a:latin typeface="Arial"/>
                <a:cs typeface="Arial"/>
              </a:rPr>
              <a:t>i</a:t>
            </a:r>
            <a:r>
              <a:rPr dirty="0" sz="2400">
                <a:latin typeface="Arial"/>
                <a:cs typeface="Arial"/>
              </a:rPr>
              <a:t>ng  </a:t>
            </a:r>
            <a:r>
              <a:rPr dirty="0" sz="2400" spc="-5"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27457" y="3052451"/>
            <a:ext cx="189230" cy="415925"/>
          </a:xfrm>
          <a:custGeom>
            <a:avLst/>
            <a:gdLst/>
            <a:ahLst/>
            <a:cxnLst/>
            <a:rect l="l" t="t" r="r" b="b"/>
            <a:pathLst>
              <a:path w="189230" h="415925">
                <a:moveTo>
                  <a:pt x="151068" y="346862"/>
                </a:moveTo>
                <a:lnTo>
                  <a:pt x="119097" y="360920"/>
                </a:lnTo>
                <a:lnTo>
                  <a:pt x="184645" y="415339"/>
                </a:lnTo>
                <a:lnTo>
                  <a:pt x="187340" y="360822"/>
                </a:lnTo>
                <a:lnTo>
                  <a:pt x="158759" y="360822"/>
                </a:lnTo>
                <a:lnTo>
                  <a:pt x="156885" y="360093"/>
                </a:lnTo>
                <a:lnTo>
                  <a:pt x="151068" y="346862"/>
                </a:lnTo>
                <a:close/>
              </a:path>
              <a:path w="189230" h="415925">
                <a:moveTo>
                  <a:pt x="156881" y="344306"/>
                </a:moveTo>
                <a:lnTo>
                  <a:pt x="151068" y="346862"/>
                </a:lnTo>
                <a:lnTo>
                  <a:pt x="156885" y="360093"/>
                </a:lnTo>
                <a:lnTo>
                  <a:pt x="158759" y="360822"/>
                </a:lnTo>
                <a:lnTo>
                  <a:pt x="161969" y="359411"/>
                </a:lnTo>
                <a:lnTo>
                  <a:pt x="162698" y="357538"/>
                </a:lnTo>
                <a:lnTo>
                  <a:pt x="156881" y="344306"/>
                </a:lnTo>
                <a:close/>
              </a:path>
              <a:path w="189230" h="415925">
                <a:moveTo>
                  <a:pt x="188852" y="330249"/>
                </a:moveTo>
                <a:lnTo>
                  <a:pt x="156881" y="344306"/>
                </a:lnTo>
                <a:lnTo>
                  <a:pt x="162698" y="357538"/>
                </a:lnTo>
                <a:lnTo>
                  <a:pt x="161969" y="359411"/>
                </a:lnTo>
                <a:lnTo>
                  <a:pt x="158759" y="360822"/>
                </a:lnTo>
                <a:lnTo>
                  <a:pt x="187340" y="360822"/>
                </a:lnTo>
                <a:lnTo>
                  <a:pt x="188852" y="330249"/>
                </a:lnTo>
                <a:close/>
              </a:path>
              <a:path w="189230" h="415925">
                <a:moveTo>
                  <a:pt x="3939" y="0"/>
                </a:moveTo>
                <a:lnTo>
                  <a:pt x="729" y="1412"/>
                </a:lnTo>
                <a:lnTo>
                  <a:pt x="0" y="3285"/>
                </a:lnTo>
                <a:lnTo>
                  <a:pt x="151068" y="346862"/>
                </a:lnTo>
                <a:lnTo>
                  <a:pt x="156881" y="344306"/>
                </a:lnTo>
                <a:lnTo>
                  <a:pt x="5812" y="728"/>
                </a:lnTo>
                <a:lnTo>
                  <a:pt x="3939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218679" y="1919732"/>
            <a:ext cx="31445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embedding </a:t>
            </a:r>
            <a:r>
              <a:rPr dirty="0" sz="2400" spc="-5">
                <a:latin typeface="Arial"/>
                <a:cs typeface="Arial"/>
              </a:rPr>
              <a:t>vector for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87842" y="2288539"/>
            <a:ext cx="1806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specific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24394" y="2651423"/>
            <a:ext cx="1087755" cy="890269"/>
          </a:xfrm>
          <a:custGeom>
            <a:avLst/>
            <a:gdLst/>
            <a:ahLst/>
            <a:cxnLst/>
            <a:rect l="l" t="t" r="r" b="b"/>
            <a:pathLst>
              <a:path w="1087754" h="890270">
                <a:moveTo>
                  <a:pt x="34850" y="812518"/>
                </a:moveTo>
                <a:lnTo>
                  <a:pt x="0" y="890258"/>
                </a:lnTo>
                <a:lnTo>
                  <a:pt x="83102" y="871493"/>
                </a:lnTo>
                <a:lnTo>
                  <a:pt x="68475" y="853615"/>
                </a:lnTo>
                <a:lnTo>
                  <a:pt x="49800" y="853615"/>
                </a:lnTo>
                <a:lnTo>
                  <a:pt x="47800" y="853415"/>
                </a:lnTo>
                <a:lnTo>
                  <a:pt x="45579" y="850700"/>
                </a:lnTo>
                <a:lnTo>
                  <a:pt x="45779" y="848700"/>
                </a:lnTo>
                <a:lnTo>
                  <a:pt x="56965" y="839548"/>
                </a:lnTo>
                <a:lnTo>
                  <a:pt x="34850" y="812518"/>
                </a:lnTo>
                <a:close/>
              </a:path>
              <a:path w="1087754" h="890270">
                <a:moveTo>
                  <a:pt x="56965" y="839548"/>
                </a:moveTo>
                <a:lnTo>
                  <a:pt x="45779" y="848700"/>
                </a:lnTo>
                <a:lnTo>
                  <a:pt x="45579" y="850700"/>
                </a:lnTo>
                <a:lnTo>
                  <a:pt x="47800" y="853415"/>
                </a:lnTo>
                <a:lnTo>
                  <a:pt x="49800" y="853615"/>
                </a:lnTo>
                <a:lnTo>
                  <a:pt x="60986" y="844462"/>
                </a:lnTo>
                <a:lnTo>
                  <a:pt x="56965" y="839548"/>
                </a:lnTo>
                <a:close/>
              </a:path>
              <a:path w="1087754" h="890270">
                <a:moveTo>
                  <a:pt x="60986" y="844462"/>
                </a:moveTo>
                <a:lnTo>
                  <a:pt x="49800" y="853615"/>
                </a:lnTo>
                <a:lnTo>
                  <a:pt x="68475" y="853615"/>
                </a:lnTo>
                <a:lnTo>
                  <a:pt x="60986" y="844462"/>
                </a:lnTo>
                <a:close/>
              </a:path>
              <a:path w="1087754" h="890270">
                <a:moveTo>
                  <a:pt x="1083077" y="0"/>
                </a:moveTo>
                <a:lnTo>
                  <a:pt x="56965" y="839548"/>
                </a:lnTo>
                <a:lnTo>
                  <a:pt x="60986" y="844462"/>
                </a:lnTo>
                <a:lnTo>
                  <a:pt x="1087098" y="4914"/>
                </a:lnTo>
                <a:lnTo>
                  <a:pt x="1087299" y="2914"/>
                </a:lnTo>
                <a:lnTo>
                  <a:pt x="1085077" y="199"/>
                </a:lnTo>
                <a:lnTo>
                  <a:pt x="1083077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34804" y="3492500"/>
            <a:ext cx="100456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Cambria Math"/>
                <a:cs typeface="Cambria Math"/>
              </a:rPr>
              <a:t>𝐙</a:t>
            </a:r>
            <a:r>
              <a:rPr dirty="0" sz="4800" spc="160">
                <a:latin typeface="Cambria Math"/>
                <a:cs typeface="Cambria Math"/>
              </a:rPr>
              <a:t> </a:t>
            </a:r>
            <a:r>
              <a:rPr dirty="0" sz="4800">
                <a:latin typeface="Cambria Math"/>
                <a:cs typeface="Cambria Math"/>
              </a:rPr>
              <a:t>=</a:t>
            </a:r>
            <a:endParaRPr sz="4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674733" y="5842508"/>
            <a:ext cx="30854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Objective</a:t>
            </a:r>
            <a:r>
              <a:rPr dirty="0" sz="2400" spc="-5">
                <a:latin typeface="Calibri"/>
                <a:cs typeface="Calibri"/>
              </a:rPr>
              <a:t>: </a:t>
            </a:r>
            <a:r>
              <a:rPr dirty="0" sz="2400" spc="-15">
                <a:latin typeface="Calibri"/>
                <a:cs typeface="Calibri"/>
              </a:rPr>
              <a:t>maximize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305">
                <a:latin typeface="Cambria Math"/>
                <a:cs typeface="Cambria Math"/>
              </a:rPr>
              <a:t>𝐳</a:t>
            </a:r>
            <a:r>
              <a:rPr dirty="0" baseline="26234" sz="2700" spc="457">
                <a:latin typeface="Cambria Math"/>
                <a:cs typeface="Cambria Math"/>
              </a:rPr>
              <a:t>.</a:t>
            </a:r>
            <a:r>
              <a:rPr dirty="0" sz="2400" spc="305">
                <a:latin typeface="Cambria Math"/>
                <a:cs typeface="Cambria Math"/>
              </a:rPr>
              <a:t>𝐳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14885" y="5982715"/>
            <a:ext cx="494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</a:tabLst>
            </a:pPr>
            <a:r>
              <a:rPr dirty="0" sz="1800" spc="415">
                <a:latin typeface="Cambria Math"/>
                <a:cs typeface="Cambria Math"/>
              </a:rPr>
              <a:t>-</a:t>
            </a:r>
            <a:r>
              <a:rPr dirty="0" sz="1800" spc="415">
                <a:latin typeface="Cambria Math"/>
                <a:cs typeface="Cambria Math"/>
              </a:rPr>
              <a:t>	</a:t>
            </a:r>
            <a:r>
              <a:rPr dirty="0" sz="1800" spc="280">
                <a:latin typeface="Cambria Math"/>
                <a:cs typeface="Cambria Math"/>
              </a:rPr>
              <a:t>/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63906" y="5842508"/>
            <a:ext cx="45027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10">
                <a:latin typeface="Calibri"/>
                <a:cs typeface="Calibri"/>
              </a:rPr>
              <a:t>pairs </a:t>
            </a:r>
            <a:r>
              <a:rPr dirty="0" sz="2400" spc="10">
                <a:latin typeface="Cambria Math"/>
                <a:cs typeface="Cambria Math"/>
              </a:rPr>
              <a:t>(𝑢, </a:t>
            </a:r>
            <a:r>
              <a:rPr dirty="0" sz="2400" spc="25">
                <a:latin typeface="Cambria Math"/>
                <a:cs typeface="Cambria Math"/>
              </a:rPr>
              <a:t>𝑣)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15">
                <a:latin typeface="Calibri"/>
                <a:cs typeface="Calibri"/>
              </a:rPr>
              <a:t>are</a:t>
            </a:r>
            <a:r>
              <a:rPr dirty="0" sz="2400" spc="-185"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similar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65759"/>
            <a:ext cx="7802880" cy="387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96340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Simplest </a:t>
            </a:r>
            <a:r>
              <a:rPr dirty="0" spc="-5">
                <a:solidFill>
                  <a:srgbClr val="C00000"/>
                </a:solidFill>
              </a:rPr>
              <a:t>node similarity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: Nodes 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𝑢,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𝑣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are 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similar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if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they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are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connected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by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</a:t>
            </a:r>
            <a:r>
              <a:rPr dirty="0" spc="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edge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351532"/>
            <a:ext cx="40252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3338195" algn="l"/>
              </a:tabLst>
            </a:pPr>
            <a:r>
              <a:rPr dirty="0" sz="3200">
                <a:latin typeface="Calibri"/>
                <a:cs typeface="Calibri"/>
              </a:rPr>
              <a:t>This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means: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185">
                <a:latin typeface="Cambria Math"/>
                <a:cs typeface="Cambria Math"/>
              </a:rPr>
              <a:t>𝐳</a:t>
            </a:r>
            <a:r>
              <a:rPr dirty="0" baseline="28985" sz="3450" spc="277">
                <a:latin typeface="Cambria Math"/>
                <a:cs typeface="Cambria Math"/>
              </a:rPr>
              <a:t>/</a:t>
            </a:r>
            <a:r>
              <a:rPr dirty="0" sz="3200" spc="185">
                <a:latin typeface="Cambria Math"/>
                <a:cs typeface="Cambria Math"/>
              </a:rPr>
              <a:t>𝐳	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𝐴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2398" y="2548127"/>
            <a:ext cx="18732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515" algn="l"/>
                <a:tab pos="1437640" algn="l"/>
              </a:tabLst>
            </a:pPr>
            <a:r>
              <a:rPr dirty="0" sz="2300" spc="825">
                <a:latin typeface="Cambria Math"/>
                <a:cs typeface="Cambria Math"/>
              </a:rPr>
              <a:t>.</a:t>
            </a:r>
            <a:r>
              <a:rPr dirty="0" sz="2300" spc="825">
                <a:latin typeface="Cambria Math"/>
                <a:cs typeface="Cambria Math"/>
              </a:rPr>
              <a:t>	</a:t>
            </a:r>
            <a:r>
              <a:rPr dirty="0" sz="2300" spc="215">
                <a:latin typeface="Cambria Math"/>
                <a:cs typeface="Cambria Math"/>
              </a:rPr>
              <a:t>0</a:t>
            </a:r>
            <a:r>
              <a:rPr dirty="0" sz="2300" spc="215">
                <a:latin typeface="Cambria Math"/>
                <a:cs typeface="Cambria Math"/>
              </a:rPr>
              <a:t>	</a:t>
            </a:r>
            <a:r>
              <a:rPr dirty="0" sz="2300" spc="270">
                <a:latin typeface="Cambria Math"/>
                <a:cs typeface="Cambria Math"/>
              </a:rPr>
              <a:t>0</a:t>
            </a:r>
            <a:r>
              <a:rPr dirty="0" sz="2300">
                <a:latin typeface="Cambria Math"/>
                <a:cs typeface="Cambria Math"/>
              </a:rPr>
              <a:t>,</a:t>
            </a:r>
            <a:r>
              <a:rPr dirty="0" sz="2300" spc="825">
                <a:latin typeface="Cambria Math"/>
                <a:cs typeface="Cambria Math"/>
              </a:rPr>
              <a:t>.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2860548"/>
            <a:ext cx="6459855" cy="14763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>
              <a:lnSpc>
                <a:spcPts val="3790"/>
              </a:lnSpc>
              <a:spcBef>
                <a:spcPts val="265"/>
              </a:spcBef>
            </a:pPr>
            <a:r>
              <a:rPr dirty="0" sz="3200" spc="-5">
                <a:latin typeface="Calibri"/>
                <a:cs typeface="Calibri"/>
              </a:rPr>
              <a:t>which </a:t>
            </a:r>
            <a:r>
              <a:rPr dirty="0" sz="3200">
                <a:latin typeface="Calibri"/>
                <a:cs typeface="Calibri"/>
              </a:rPr>
              <a:t>is the </a:t>
            </a:r>
            <a:r>
              <a:rPr dirty="0" sz="3200" spc="15">
                <a:latin typeface="Cambria Math"/>
                <a:cs typeface="Cambria Math"/>
              </a:rPr>
              <a:t>(𝑢, </a:t>
            </a:r>
            <a:r>
              <a:rPr dirty="0" sz="3200" spc="35">
                <a:latin typeface="Cambria Math"/>
                <a:cs typeface="Cambria Math"/>
              </a:rPr>
              <a:t>𝑣) </a:t>
            </a:r>
            <a:r>
              <a:rPr dirty="0" sz="3200" spc="-5">
                <a:latin typeface="Calibri"/>
                <a:cs typeface="Calibri"/>
              </a:rPr>
              <a:t>entry of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22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  </a:t>
            </a:r>
            <a:r>
              <a:rPr dirty="0" sz="3200" spc="-5">
                <a:latin typeface="Calibri"/>
                <a:cs typeface="Calibri"/>
              </a:rPr>
              <a:t>adjacency matrix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𝐴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>
                <a:latin typeface="Calibri"/>
                <a:cs typeface="Calibri"/>
              </a:rPr>
              <a:t>Therefore, </a:t>
            </a:r>
            <a:r>
              <a:rPr dirty="0" sz="3200" spc="9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baseline="27777" sz="3450" spc="135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dirty="0" sz="3200" spc="90">
                <a:solidFill>
                  <a:srgbClr val="C00000"/>
                </a:solidFill>
                <a:latin typeface="Cambria Math"/>
                <a:cs typeface="Cambria Math"/>
              </a:rPr>
              <a:t>𝒁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dirty="0" sz="3200" spc="2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𝐴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8470" y="4979398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8411" y="4979398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8470" y="5665196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97821" y="4952927"/>
            <a:ext cx="1738630" cy="376555"/>
          </a:xfrm>
          <a:custGeom>
            <a:avLst/>
            <a:gdLst/>
            <a:ahLst/>
            <a:cxnLst/>
            <a:rect l="l" t="t" r="r" b="b"/>
            <a:pathLst>
              <a:path w="1738630" h="376554">
                <a:moveTo>
                  <a:pt x="1738160" y="376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0143" y="5769863"/>
            <a:ext cx="408431" cy="4084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4201" y="578838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4201" y="578838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07906" y="578764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2272" y="4773167"/>
            <a:ext cx="405384" cy="4053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4447" y="479045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39" y="160019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4447" y="479045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65075" y="479094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78023" y="5160264"/>
            <a:ext cx="405384" cy="405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20749" y="517734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20749" y="517734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459991" y="5489447"/>
            <a:ext cx="408432" cy="4084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04142" y="550836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04142" y="550836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07599" y="51658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7470" y="553161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005020" y="5307332"/>
            <a:ext cx="607060" cy="335280"/>
          </a:xfrm>
          <a:custGeom>
            <a:avLst/>
            <a:gdLst/>
            <a:ahLst/>
            <a:cxnLst/>
            <a:rect l="l" t="t" r="r" b="b"/>
            <a:pathLst>
              <a:path w="607060" h="335279">
                <a:moveTo>
                  <a:pt x="0" y="83684"/>
                </a:moveTo>
                <a:lnTo>
                  <a:pt x="439693" y="83684"/>
                </a:lnTo>
                <a:lnTo>
                  <a:pt x="439693" y="0"/>
                </a:lnTo>
                <a:lnTo>
                  <a:pt x="607061" y="167367"/>
                </a:lnTo>
                <a:lnTo>
                  <a:pt x="439693" y="334735"/>
                </a:lnTo>
                <a:lnTo>
                  <a:pt x="439693" y="251051"/>
                </a:lnTo>
                <a:lnTo>
                  <a:pt x="0" y="251051"/>
                </a:lnTo>
                <a:lnTo>
                  <a:pt x="0" y="83684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793408" y="5307332"/>
            <a:ext cx="607060" cy="335280"/>
          </a:xfrm>
          <a:custGeom>
            <a:avLst/>
            <a:gdLst/>
            <a:ahLst/>
            <a:cxnLst/>
            <a:rect l="l" t="t" r="r" b="b"/>
            <a:pathLst>
              <a:path w="607060" h="335279">
                <a:moveTo>
                  <a:pt x="0" y="83684"/>
                </a:moveTo>
                <a:lnTo>
                  <a:pt x="439693" y="83684"/>
                </a:lnTo>
                <a:lnTo>
                  <a:pt x="439693" y="0"/>
                </a:lnTo>
                <a:lnTo>
                  <a:pt x="607061" y="167367"/>
                </a:lnTo>
                <a:lnTo>
                  <a:pt x="439693" y="334735"/>
                </a:lnTo>
                <a:lnTo>
                  <a:pt x="439693" y="251051"/>
                </a:lnTo>
                <a:lnTo>
                  <a:pt x="0" y="251051"/>
                </a:lnTo>
                <a:lnTo>
                  <a:pt x="0" y="83684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55921" y="4865475"/>
            <a:ext cx="727075" cy="1243330"/>
          </a:xfrm>
          <a:custGeom>
            <a:avLst/>
            <a:gdLst/>
            <a:ahLst/>
            <a:cxnLst/>
            <a:rect l="l" t="t" r="r" b="b"/>
            <a:pathLst>
              <a:path w="727075" h="1243329">
                <a:moveTo>
                  <a:pt x="0" y="0"/>
                </a:moveTo>
                <a:lnTo>
                  <a:pt x="726621" y="0"/>
                </a:lnTo>
                <a:lnTo>
                  <a:pt x="726621" y="1242953"/>
                </a:lnTo>
                <a:lnTo>
                  <a:pt x="0" y="124295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85295" y="4874186"/>
            <a:ext cx="1243330" cy="727075"/>
          </a:xfrm>
          <a:custGeom>
            <a:avLst/>
            <a:gdLst/>
            <a:ahLst/>
            <a:cxnLst/>
            <a:rect l="l" t="t" r="r" b="b"/>
            <a:pathLst>
              <a:path w="1243329" h="727075">
                <a:moveTo>
                  <a:pt x="0" y="726621"/>
                </a:moveTo>
                <a:lnTo>
                  <a:pt x="0" y="0"/>
                </a:lnTo>
                <a:lnTo>
                  <a:pt x="1242953" y="0"/>
                </a:lnTo>
                <a:lnTo>
                  <a:pt x="1242953" y="726621"/>
                </a:lnTo>
                <a:lnTo>
                  <a:pt x="0" y="726621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430593" y="5034788"/>
            <a:ext cx="2432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00384" y="4336796"/>
            <a:ext cx="3581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675" sz="3600" spc="-15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sz="1800" spc="10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02356" y="4434332"/>
            <a:ext cx="2184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112449" y="4850188"/>
            <a:ext cx="255270" cy="774700"/>
          </a:xfrm>
          <a:custGeom>
            <a:avLst/>
            <a:gdLst/>
            <a:ahLst/>
            <a:cxnLst/>
            <a:rect l="l" t="t" r="r" b="b"/>
            <a:pathLst>
              <a:path w="255270" h="774700">
                <a:moveTo>
                  <a:pt x="28799" y="668172"/>
                </a:moveTo>
                <a:lnTo>
                  <a:pt x="0" y="668172"/>
                </a:lnTo>
                <a:lnTo>
                  <a:pt x="0" y="716173"/>
                </a:lnTo>
                <a:lnTo>
                  <a:pt x="28799" y="716173"/>
                </a:lnTo>
                <a:lnTo>
                  <a:pt x="28799" y="668172"/>
                </a:lnTo>
                <a:close/>
              </a:path>
              <a:path w="255270" h="774700">
                <a:moveTo>
                  <a:pt x="47999" y="668172"/>
                </a:moveTo>
                <a:lnTo>
                  <a:pt x="38399" y="668172"/>
                </a:lnTo>
                <a:lnTo>
                  <a:pt x="38399" y="716173"/>
                </a:lnTo>
                <a:lnTo>
                  <a:pt x="47999" y="716173"/>
                </a:lnTo>
                <a:lnTo>
                  <a:pt x="47999" y="668172"/>
                </a:lnTo>
                <a:close/>
              </a:path>
              <a:path w="255270" h="774700">
                <a:moveTo>
                  <a:pt x="28799" y="572173"/>
                </a:moveTo>
                <a:lnTo>
                  <a:pt x="0" y="572173"/>
                </a:lnTo>
                <a:lnTo>
                  <a:pt x="0" y="620172"/>
                </a:lnTo>
                <a:lnTo>
                  <a:pt x="28799" y="620172"/>
                </a:lnTo>
                <a:lnTo>
                  <a:pt x="28799" y="572173"/>
                </a:lnTo>
                <a:close/>
              </a:path>
              <a:path w="255270" h="774700">
                <a:moveTo>
                  <a:pt x="47999" y="572173"/>
                </a:moveTo>
                <a:lnTo>
                  <a:pt x="38399" y="572173"/>
                </a:lnTo>
                <a:lnTo>
                  <a:pt x="38399" y="620172"/>
                </a:lnTo>
                <a:lnTo>
                  <a:pt x="47999" y="620172"/>
                </a:lnTo>
                <a:lnTo>
                  <a:pt x="47999" y="572173"/>
                </a:lnTo>
                <a:close/>
              </a:path>
              <a:path w="255270" h="774700">
                <a:moveTo>
                  <a:pt x="28799" y="476172"/>
                </a:moveTo>
                <a:lnTo>
                  <a:pt x="0" y="476172"/>
                </a:lnTo>
                <a:lnTo>
                  <a:pt x="0" y="524173"/>
                </a:lnTo>
                <a:lnTo>
                  <a:pt x="28799" y="524173"/>
                </a:lnTo>
                <a:lnTo>
                  <a:pt x="28799" y="476172"/>
                </a:lnTo>
                <a:close/>
              </a:path>
              <a:path w="255270" h="774700">
                <a:moveTo>
                  <a:pt x="47999" y="476172"/>
                </a:moveTo>
                <a:lnTo>
                  <a:pt x="38399" y="476172"/>
                </a:lnTo>
                <a:lnTo>
                  <a:pt x="38399" y="524173"/>
                </a:lnTo>
                <a:lnTo>
                  <a:pt x="47999" y="524173"/>
                </a:lnTo>
                <a:lnTo>
                  <a:pt x="47999" y="476172"/>
                </a:lnTo>
                <a:close/>
              </a:path>
              <a:path w="255270" h="774700">
                <a:moveTo>
                  <a:pt x="28799" y="380173"/>
                </a:moveTo>
                <a:lnTo>
                  <a:pt x="0" y="380173"/>
                </a:lnTo>
                <a:lnTo>
                  <a:pt x="0" y="428172"/>
                </a:lnTo>
                <a:lnTo>
                  <a:pt x="28799" y="428172"/>
                </a:lnTo>
                <a:lnTo>
                  <a:pt x="28799" y="380173"/>
                </a:lnTo>
                <a:close/>
              </a:path>
              <a:path w="255270" h="774700">
                <a:moveTo>
                  <a:pt x="47999" y="380173"/>
                </a:moveTo>
                <a:lnTo>
                  <a:pt x="38399" y="380173"/>
                </a:lnTo>
                <a:lnTo>
                  <a:pt x="38399" y="428172"/>
                </a:lnTo>
                <a:lnTo>
                  <a:pt x="47999" y="428172"/>
                </a:lnTo>
                <a:lnTo>
                  <a:pt x="47999" y="380173"/>
                </a:lnTo>
                <a:close/>
              </a:path>
              <a:path w="255270" h="774700">
                <a:moveTo>
                  <a:pt x="28799" y="284172"/>
                </a:moveTo>
                <a:lnTo>
                  <a:pt x="0" y="284172"/>
                </a:lnTo>
                <a:lnTo>
                  <a:pt x="0" y="332173"/>
                </a:lnTo>
                <a:lnTo>
                  <a:pt x="28799" y="332173"/>
                </a:lnTo>
                <a:lnTo>
                  <a:pt x="28799" y="284172"/>
                </a:lnTo>
                <a:close/>
              </a:path>
              <a:path w="255270" h="774700">
                <a:moveTo>
                  <a:pt x="47999" y="284172"/>
                </a:moveTo>
                <a:lnTo>
                  <a:pt x="38399" y="284172"/>
                </a:lnTo>
                <a:lnTo>
                  <a:pt x="38399" y="332173"/>
                </a:lnTo>
                <a:lnTo>
                  <a:pt x="47999" y="332173"/>
                </a:lnTo>
                <a:lnTo>
                  <a:pt x="47999" y="284172"/>
                </a:lnTo>
                <a:close/>
              </a:path>
              <a:path w="255270" h="774700">
                <a:moveTo>
                  <a:pt x="28799" y="188173"/>
                </a:moveTo>
                <a:lnTo>
                  <a:pt x="0" y="188173"/>
                </a:lnTo>
                <a:lnTo>
                  <a:pt x="0" y="236173"/>
                </a:lnTo>
                <a:lnTo>
                  <a:pt x="28799" y="236173"/>
                </a:lnTo>
                <a:lnTo>
                  <a:pt x="28799" y="188173"/>
                </a:lnTo>
                <a:close/>
              </a:path>
              <a:path w="255270" h="774700">
                <a:moveTo>
                  <a:pt x="47999" y="188173"/>
                </a:moveTo>
                <a:lnTo>
                  <a:pt x="38399" y="188173"/>
                </a:lnTo>
                <a:lnTo>
                  <a:pt x="38399" y="236173"/>
                </a:lnTo>
                <a:lnTo>
                  <a:pt x="47999" y="236173"/>
                </a:lnTo>
                <a:lnTo>
                  <a:pt x="47999" y="188173"/>
                </a:lnTo>
                <a:close/>
              </a:path>
              <a:path w="255270" h="774700">
                <a:moveTo>
                  <a:pt x="28799" y="92172"/>
                </a:moveTo>
                <a:lnTo>
                  <a:pt x="0" y="92172"/>
                </a:lnTo>
                <a:lnTo>
                  <a:pt x="0" y="140172"/>
                </a:lnTo>
                <a:lnTo>
                  <a:pt x="28799" y="140172"/>
                </a:lnTo>
                <a:lnTo>
                  <a:pt x="28799" y="92172"/>
                </a:lnTo>
                <a:close/>
              </a:path>
              <a:path w="255270" h="774700">
                <a:moveTo>
                  <a:pt x="47999" y="92172"/>
                </a:moveTo>
                <a:lnTo>
                  <a:pt x="38399" y="92172"/>
                </a:lnTo>
                <a:lnTo>
                  <a:pt x="38399" y="140172"/>
                </a:lnTo>
                <a:lnTo>
                  <a:pt x="47999" y="140172"/>
                </a:lnTo>
                <a:lnTo>
                  <a:pt x="47999" y="92172"/>
                </a:lnTo>
                <a:close/>
              </a:path>
              <a:path w="255270" h="774700">
                <a:moveTo>
                  <a:pt x="59893" y="38327"/>
                </a:moveTo>
                <a:lnTo>
                  <a:pt x="39613" y="51445"/>
                </a:lnTo>
                <a:lnTo>
                  <a:pt x="48051" y="56024"/>
                </a:lnTo>
                <a:lnTo>
                  <a:pt x="49870" y="52673"/>
                </a:lnTo>
                <a:lnTo>
                  <a:pt x="51137" y="51137"/>
                </a:lnTo>
                <a:lnTo>
                  <a:pt x="52673" y="49870"/>
                </a:lnTo>
                <a:lnTo>
                  <a:pt x="54411" y="48926"/>
                </a:lnTo>
                <a:lnTo>
                  <a:pt x="56315" y="48336"/>
                </a:lnTo>
                <a:lnTo>
                  <a:pt x="60855" y="47879"/>
                </a:lnTo>
                <a:lnTo>
                  <a:pt x="66691" y="47879"/>
                </a:lnTo>
                <a:lnTo>
                  <a:pt x="66691" y="38399"/>
                </a:lnTo>
                <a:lnTo>
                  <a:pt x="59893" y="38327"/>
                </a:lnTo>
                <a:close/>
              </a:path>
              <a:path w="255270" h="774700">
                <a:moveTo>
                  <a:pt x="66691" y="47879"/>
                </a:moveTo>
                <a:lnTo>
                  <a:pt x="60855" y="47879"/>
                </a:lnTo>
                <a:lnTo>
                  <a:pt x="66691" y="47999"/>
                </a:lnTo>
                <a:close/>
              </a:path>
              <a:path w="255270" h="774700">
                <a:moveTo>
                  <a:pt x="66691" y="0"/>
                </a:moveTo>
                <a:lnTo>
                  <a:pt x="26384" y="9525"/>
                </a:lnTo>
                <a:lnTo>
                  <a:pt x="5864" y="33127"/>
                </a:lnTo>
                <a:lnTo>
                  <a:pt x="31177" y="46865"/>
                </a:lnTo>
                <a:lnTo>
                  <a:pt x="33888" y="41875"/>
                </a:lnTo>
                <a:lnTo>
                  <a:pt x="37499" y="37499"/>
                </a:lnTo>
                <a:lnTo>
                  <a:pt x="41884" y="33879"/>
                </a:lnTo>
                <a:lnTo>
                  <a:pt x="46913" y="31150"/>
                </a:lnTo>
                <a:lnTo>
                  <a:pt x="52467" y="29427"/>
                </a:lnTo>
                <a:lnTo>
                  <a:pt x="58929" y="28775"/>
                </a:lnTo>
                <a:lnTo>
                  <a:pt x="66691" y="28775"/>
                </a:lnTo>
                <a:lnTo>
                  <a:pt x="66691" y="0"/>
                </a:lnTo>
                <a:close/>
              </a:path>
              <a:path w="255270" h="774700">
                <a:moveTo>
                  <a:pt x="66691" y="28775"/>
                </a:moveTo>
                <a:lnTo>
                  <a:pt x="58929" y="28775"/>
                </a:lnTo>
                <a:lnTo>
                  <a:pt x="66691" y="28799"/>
                </a:lnTo>
                <a:close/>
              </a:path>
              <a:path w="255270" h="774700">
                <a:moveTo>
                  <a:pt x="162690" y="0"/>
                </a:moveTo>
                <a:lnTo>
                  <a:pt x="114691" y="0"/>
                </a:lnTo>
                <a:lnTo>
                  <a:pt x="114691" y="28799"/>
                </a:lnTo>
                <a:lnTo>
                  <a:pt x="162690" y="28799"/>
                </a:lnTo>
                <a:lnTo>
                  <a:pt x="162690" y="0"/>
                </a:lnTo>
                <a:close/>
              </a:path>
              <a:path w="255270" h="774700">
                <a:moveTo>
                  <a:pt x="162690" y="38399"/>
                </a:moveTo>
                <a:lnTo>
                  <a:pt x="114691" y="38399"/>
                </a:lnTo>
                <a:lnTo>
                  <a:pt x="114691" y="47999"/>
                </a:lnTo>
                <a:lnTo>
                  <a:pt x="162690" y="47999"/>
                </a:lnTo>
                <a:lnTo>
                  <a:pt x="162690" y="38399"/>
                </a:lnTo>
                <a:close/>
              </a:path>
              <a:path w="255270" h="774700">
                <a:moveTo>
                  <a:pt x="203396" y="39697"/>
                </a:moveTo>
                <a:lnTo>
                  <a:pt x="198817" y="48135"/>
                </a:lnTo>
                <a:lnTo>
                  <a:pt x="202015" y="49870"/>
                </a:lnTo>
                <a:lnTo>
                  <a:pt x="203550" y="51137"/>
                </a:lnTo>
                <a:lnTo>
                  <a:pt x="206688" y="66866"/>
                </a:lnTo>
                <a:lnTo>
                  <a:pt x="216288" y="66866"/>
                </a:lnTo>
                <a:lnTo>
                  <a:pt x="207408" y="41875"/>
                </a:lnTo>
                <a:lnTo>
                  <a:pt x="203396" y="39697"/>
                </a:lnTo>
                <a:close/>
              </a:path>
              <a:path w="255270" h="774700">
                <a:moveTo>
                  <a:pt x="221715" y="5948"/>
                </a:moveTo>
                <a:lnTo>
                  <a:pt x="207976" y="31261"/>
                </a:lnTo>
                <a:lnTo>
                  <a:pt x="212803" y="33879"/>
                </a:lnTo>
                <a:lnTo>
                  <a:pt x="217189" y="37499"/>
                </a:lnTo>
                <a:lnTo>
                  <a:pt x="220807" y="41884"/>
                </a:lnTo>
                <a:lnTo>
                  <a:pt x="223537" y="46913"/>
                </a:lnTo>
                <a:lnTo>
                  <a:pt x="225261" y="52467"/>
                </a:lnTo>
                <a:lnTo>
                  <a:pt x="225912" y="58929"/>
                </a:lnTo>
                <a:lnTo>
                  <a:pt x="225888" y="66866"/>
                </a:lnTo>
                <a:lnTo>
                  <a:pt x="254688" y="66866"/>
                </a:lnTo>
                <a:lnTo>
                  <a:pt x="245163" y="26384"/>
                </a:lnTo>
                <a:lnTo>
                  <a:pt x="228304" y="9525"/>
                </a:lnTo>
                <a:lnTo>
                  <a:pt x="221715" y="5948"/>
                </a:lnTo>
                <a:close/>
              </a:path>
              <a:path w="255270" h="774700">
                <a:moveTo>
                  <a:pt x="254688" y="114866"/>
                </a:moveTo>
                <a:lnTo>
                  <a:pt x="225888" y="114866"/>
                </a:lnTo>
                <a:lnTo>
                  <a:pt x="225888" y="162867"/>
                </a:lnTo>
                <a:lnTo>
                  <a:pt x="254688" y="162867"/>
                </a:lnTo>
                <a:lnTo>
                  <a:pt x="254688" y="114866"/>
                </a:lnTo>
                <a:close/>
              </a:path>
              <a:path w="255270" h="774700">
                <a:moveTo>
                  <a:pt x="216288" y="114866"/>
                </a:moveTo>
                <a:lnTo>
                  <a:pt x="206688" y="114866"/>
                </a:lnTo>
                <a:lnTo>
                  <a:pt x="206688" y="162867"/>
                </a:lnTo>
                <a:lnTo>
                  <a:pt x="216288" y="162867"/>
                </a:lnTo>
                <a:lnTo>
                  <a:pt x="216288" y="114866"/>
                </a:lnTo>
                <a:close/>
              </a:path>
              <a:path w="255270" h="774700">
                <a:moveTo>
                  <a:pt x="254688" y="210866"/>
                </a:moveTo>
                <a:lnTo>
                  <a:pt x="225888" y="210866"/>
                </a:lnTo>
                <a:lnTo>
                  <a:pt x="225888" y="258866"/>
                </a:lnTo>
                <a:lnTo>
                  <a:pt x="254688" y="258866"/>
                </a:lnTo>
                <a:lnTo>
                  <a:pt x="254688" y="210866"/>
                </a:lnTo>
                <a:close/>
              </a:path>
              <a:path w="255270" h="774700">
                <a:moveTo>
                  <a:pt x="216288" y="210866"/>
                </a:moveTo>
                <a:lnTo>
                  <a:pt x="206688" y="210866"/>
                </a:lnTo>
                <a:lnTo>
                  <a:pt x="206688" y="258866"/>
                </a:lnTo>
                <a:lnTo>
                  <a:pt x="216288" y="258866"/>
                </a:lnTo>
                <a:lnTo>
                  <a:pt x="216288" y="210866"/>
                </a:lnTo>
                <a:close/>
              </a:path>
              <a:path w="255270" h="774700">
                <a:moveTo>
                  <a:pt x="254688" y="306867"/>
                </a:moveTo>
                <a:lnTo>
                  <a:pt x="225888" y="306867"/>
                </a:lnTo>
                <a:lnTo>
                  <a:pt x="225888" y="354867"/>
                </a:lnTo>
                <a:lnTo>
                  <a:pt x="254688" y="354867"/>
                </a:lnTo>
                <a:lnTo>
                  <a:pt x="254688" y="306867"/>
                </a:lnTo>
                <a:close/>
              </a:path>
              <a:path w="255270" h="774700">
                <a:moveTo>
                  <a:pt x="216288" y="306867"/>
                </a:moveTo>
                <a:lnTo>
                  <a:pt x="206688" y="306867"/>
                </a:lnTo>
                <a:lnTo>
                  <a:pt x="206688" y="354867"/>
                </a:lnTo>
                <a:lnTo>
                  <a:pt x="216288" y="354867"/>
                </a:lnTo>
                <a:lnTo>
                  <a:pt x="216288" y="306867"/>
                </a:lnTo>
                <a:close/>
              </a:path>
              <a:path w="255270" h="774700">
                <a:moveTo>
                  <a:pt x="254688" y="402866"/>
                </a:moveTo>
                <a:lnTo>
                  <a:pt x="225888" y="402866"/>
                </a:lnTo>
                <a:lnTo>
                  <a:pt x="225888" y="450866"/>
                </a:lnTo>
                <a:lnTo>
                  <a:pt x="254688" y="450866"/>
                </a:lnTo>
                <a:lnTo>
                  <a:pt x="254688" y="402866"/>
                </a:lnTo>
                <a:close/>
              </a:path>
              <a:path w="255270" h="774700">
                <a:moveTo>
                  <a:pt x="216288" y="402866"/>
                </a:moveTo>
                <a:lnTo>
                  <a:pt x="206688" y="402866"/>
                </a:lnTo>
                <a:lnTo>
                  <a:pt x="206688" y="450866"/>
                </a:lnTo>
                <a:lnTo>
                  <a:pt x="216288" y="450866"/>
                </a:lnTo>
                <a:lnTo>
                  <a:pt x="216288" y="402866"/>
                </a:lnTo>
                <a:close/>
              </a:path>
              <a:path w="255270" h="774700">
                <a:moveTo>
                  <a:pt x="254688" y="498867"/>
                </a:moveTo>
                <a:lnTo>
                  <a:pt x="225888" y="498867"/>
                </a:lnTo>
                <a:lnTo>
                  <a:pt x="225888" y="546867"/>
                </a:lnTo>
                <a:lnTo>
                  <a:pt x="254688" y="546867"/>
                </a:lnTo>
                <a:lnTo>
                  <a:pt x="254688" y="498867"/>
                </a:lnTo>
                <a:close/>
              </a:path>
              <a:path w="255270" h="774700">
                <a:moveTo>
                  <a:pt x="216288" y="498867"/>
                </a:moveTo>
                <a:lnTo>
                  <a:pt x="206688" y="498867"/>
                </a:lnTo>
                <a:lnTo>
                  <a:pt x="206688" y="546867"/>
                </a:lnTo>
                <a:lnTo>
                  <a:pt x="216288" y="546867"/>
                </a:lnTo>
                <a:lnTo>
                  <a:pt x="216288" y="498867"/>
                </a:lnTo>
                <a:close/>
              </a:path>
              <a:path w="255270" h="774700">
                <a:moveTo>
                  <a:pt x="254688" y="594866"/>
                </a:moveTo>
                <a:lnTo>
                  <a:pt x="225888" y="594866"/>
                </a:lnTo>
                <a:lnTo>
                  <a:pt x="225888" y="642866"/>
                </a:lnTo>
                <a:lnTo>
                  <a:pt x="254688" y="642866"/>
                </a:lnTo>
                <a:lnTo>
                  <a:pt x="254688" y="594866"/>
                </a:lnTo>
                <a:close/>
              </a:path>
              <a:path w="255270" h="774700">
                <a:moveTo>
                  <a:pt x="216288" y="594866"/>
                </a:moveTo>
                <a:lnTo>
                  <a:pt x="206688" y="594866"/>
                </a:lnTo>
                <a:lnTo>
                  <a:pt x="206688" y="642866"/>
                </a:lnTo>
                <a:lnTo>
                  <a:pt x="216288" y="642866"/>
                </a:lnTo>
                <a:lnTo>
                  <a:pt x="216288" y="594866"/>
                </a:lnTo>
                <a:close/>
              </a:path>
              <a:path w="255270" h="774700">
                <a:moveTo>
                  <a:pt x="254688" y="690867"/>
                </a:moveTo>
                <a:lnTo>
                  <a:pt x="225888" y="690867"/>
                </a:lnTo>
                <a:lnTo>
                  <a:pt x="225888" y="716173"/>
                </a:lnTo>
                <a:lnTo>
                  <a:pt x="225261" y="722153"/>
                </a:lnTo>
                <a:lnTo>
                  <a:pt x="223537" y="727707"/>
                </a:lnTo>
                <a:lnTo>
                  <a:pt x="220807" y="732736"/>
                </a:lnTo>
                <a:lnTo>
                  <a:pt x="219646" y="734142"/>
                </a:lnTo>
                <a:lnTo>
                  <a:pt x="241862" y="752471"/>
                </a:lnTo>
                <a:lnTo>
                  <a:pt x="254688" y="716173"/>
                </a:lnTo>
                <a:lnTo>
                  <a:pt x="254688" y="690867"/>
                </a:lnTo>
                <a:close/>
              </a:path>
              <a:path w="255270" h="774700">
                <a:moveTo>
                  <a:pt x="216288" y="690867"/>
                </a:moveTo>
                <a:lnTo>
                  <a:pt x="206688" y="690867"/>
                </a:lnTo>
                <a:lnTo>
                  <a:pt x="206688" y="716173"/>
                </a:lnTo>
                <a:lnTo>
                  <a:pt x="206352" y="718305"/>
                </a:lnTo>
                <a:lnTo>
                  <a:pt x="205750" y="720229"/>
                </a:lnTo>
                <a:lnTo>
                  <a:pt x="204817" y="721948"/>
                </a:lnTo>
                <a:lnTo>
                  <a:pt x="212242" y="728033"/>
                </a:lnTo>
                <a:lnTo>
                  <a:pt x="212812" y="727341"/>
                </a:lnTo>
                <a:lnTo>
                  <a:pt x="214649" y="723958"/>
                </a:lnTo>
                <a:lnTo>
                  <a:pt x="215809" y="720209"/>
                </a:lnTo>
                <a:lnTo>
                  <a:pt x="216288" y="716173"/>
                </a:lnTo>
                <a:lnTo>
                  <a:pt x="216288" y="690867"/>
                </a:lnTo>
                <a:close/>
              </a:path>
              <a:path w="255270" h="774700">
                <a:moveTo>
                  <a:pt x="179577" y="745821"/>
                </a:moveTo>
                <a:lnTo>
                  <a:pt x="131578" y="745821"/>
                </a:lnTo>
                <a:lnTo>
                  <a:pt x="131578" y="774621"/>
                </a:lnTo>
                <a:lnTo>
                  <a:pt x="179577" y="774621"/>
                </a:lnTo>
                <a:lnTo>
                  <a:pt x="179577" y="745821"/>
                </a:lnTo>
                <a:close/>
              </a:path>
              <a:path w="255270" h="774700">
                <a:moveTo>
                  <a:pt x="179577" y="726621"/>
                </a:moveTo>
                <a:lnTo>
                  <a:pt x="131578" y="726621"/>
                </a:lnTo>
                <a:lnTo>
                  <a:pt x="131578" y="736221"/>
                </a:lnTo>
                <a:lnTo>
                  <a:pt x="179577" y="736221"/>
                </a:lnTo>
                <a:lnTo>
                  <a:pt x="179577" y="726621"/>
                </a:lnTo>
                <a:close/>
              </a:path>
              <a:path w="255270" h="774700">
                <a:moveTo>
                  <a:pt x="40342" y="739468"/>
                </a:moveTo>
                <a:lnTo>
                  <a:pt x="22014" y="761682"/>
                </a:lnTo>
                <a:lnTo>
                  <a:pt x="25102" y="764231"/>
                </a:lnTo>
                <a:lnTo>
                  <a:pt x="26384" y="765096"/>
                </a:lnTo>
                <a:lnTo>
                  <a:pt x="58447" y="774621"/>
                </a:lnTo>
                <a:lnTo>
                  <a:pt x="83578" y="774621"/>
                </a:lnTo>
                <a:lnTo>
                  <a:pt x="83578" y="745821"/>
                </a:lnTo>
                <a:lnTo>
                  <a:pt x="58447" y="745821"/>
                </a:lnTo>
                <a:lnTo>
                  <a:pt x="52467" y="745194"/>
                </a:lnTo>
                <a:lnTo>
                  <a:pt x="46913" y="743470"/>
                </a:lnTo>
                <a:lnTo>
                  <a:pt x="41884" y="740740"/>
                </a:lnTo>
                <a:lnTo>
                  <a:pt x="40342" y="739468"/>
                </a:lnTo>
                <a:close/>
              </a:path>
              <a:path w="255270" h="774700">
                <a:moveTo>
                  <a:pt x="52561" y="724658"/>
                </a:moveTo>
                <a:lnTo>
                  <a:pt x="46451" y="732063"/>
                </a:lnTo>
                <a:lnTo>
                  <a:pt x="47279" y="732745"/>
                </a:lnTo>
                <a:lnTo>
                  <a:pt x="50662" y="734581"/>
                </a:lnTo>
                <a:lnTo>
                  <a:pt x="54391" y="735738"/>
                </a:lnTo>
                <a:lnTo>
                  <a:pt x="58447" y="736221"/>
                </a:lnTo>
                <a:lnTo>
                  <a:pt x="83578" y="736221"/>
                </a:lnTo>
                <a:lnTo>
                  <a:pt x="83578" y="726621"/>
                </a:lnTo>
                <a:lnTo>
                  <a:pt x="58447" y="726621"/>
                </a:lnTo>
                <a:lnTo>
                  <a:pt x="56315" y="726285"/>
                </a:lnTo>
                <a:lnTo>
                  <a:pt x="54411" y="725694"/>
                </a:lnTo>
                <a:lnTo>
                  <a:pt x="52673" y="724750"/>
                </a:lnTo>
                <a:close/>
              </a:path>
            </a:pathLst>
          </a:custGeom>
          <a:solidFill>
            <a:srgbClr val="5A63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544772" y="5106680"/>
            <a:ext cx="774700" cy="255270"/>
          </a:xfrm>
          <a:custGeom>
            <a:avLst/>
            <a:gdLst/>
            <a:ahLst/>
            <a:cxnLst/>
            <a:rect l="l" t="t" r="r" b="b"/>
            <a:pathLst>
              <a:path w="774700" h="255270">
                <a:moveTo>
                  <a:pt x="716173" y="225889"/>
                </a:moveTo>
                <a:lnTo>
                  <a:pt x="668173" y="225889"/>
                </a:lnTo>
                <a:lnTo>
                  <a:pt x="668173" y="254689"/>
                </a:lnTo>
                <a:lnTo>
                  <a:pt x="716173" y="254689"/>
                </a:lnTo>
                <a:lnTo>
                  <a:pt x="716173" y="225889"/>
                </a:lnTo>
                <a:close/>
              </a:path>
              <a:path w="774700" h="255270">
                <a:moveTo>
                  <a:pt x="716173" y="206688"/>
                </a:moveTo>
                <a:lnTo>
                  <a:pt x="668173" y="206688"/>
                </a:lnTo>
                <a:lnTo>
                  <a:pt x="668173" y="216288"/>
                </a:lnTo>
                <a:lnTo>
                  <a:pt x="716173" y="216288"/>
                </a:lnTo>
                <a:lnTo>
                  <a:pt x="716173" y="206688"/>
                </a:lnTo>
                <a:close/>
              </a:path>
              <a:path w="774700" h="255270">
                <a:moveTo>
                  <a:pt x="620174" y="225889"/>
                </a:moveTo>
                <a:lnTo>
                  <a:pt x="572173" y="225889"/>
                </a:lnTo>
                <a:lnTo>
                  <a:pt x="572173" y="254689"/>
                </a:lnTo>
                <a:lnTo>
                  <a:pt x="620174" y="254689"/>
                </a:lnTo>
                <a:lnTo>
                  <a:pt x="620174" y="225889"/>
                </a:lnTo>
                <a:close/>
              </a:path>
              <a:path w="774700" h="255270">
                <a:moveTo>
                  <a:pt x="620174" y="206688"/>
                </a:moveTo>
                <a:lnTo>
                  <a:pt x="572173" y="206688"/>
                </a:lnTo>
                <a:lnTo>
                  <a:pt x="572173" y="216288"/>
                </a:lnTo>
                <a:lnTo>
                  <a:pt x="620174" y="216288"/>
                </a:lnTo>
                <a:lnTo>
                  <a:pt x="620174" y="206688"/>
                </a:lnTo>
                <a:close/>
              </a:path>
              <a:path w="774700" h="255270">
                <a:moveTo>
                  <a:pt x="524173" y="225889"/>
                </a:moveTo>
                <a:lnTo>
                  <a:pt x="476173" y="225889"/>
                </a:lnTo>
                <a:lnTo>
                  <a:pt x="476173" y="254689"/>
                </a:lnTo>
                <a:lnTo>
                  <a:pt x="524173" y="254689"/>
                </a:lnTo>
                <a:lnTo>
                  <a:pt x="524173" y="225889"/>
                </a:lnTo>
                <a:close/>
              </a:path>
              <a:path w="774700" h="255270">
                <a:moveTo>
                  <a:pt x="524173" y="206688"/>
                </a:moveTo>
                <a:lnTo>
                  <a:pt x="476173" y="206688"/>
                </a:lnTo>
                <a:lnTo>
                  <a:pt x="476173" y="216288"/>
                </a:lnTo>
                <a:lnTo>
                  <a:pt x="524173" y="216288"/>
                </a:lnTo>
                <a:lnTo>
                  <a:pt x="524173" y="206688"/>
                </a:lnTo>
                <a:close/>
              </a:path>
              <a:path w="774700" h="255270">
                <a:moveTo>
                  <a:pt x="428174" y="225889"/>
                </a:moveTo>
                <a:lnTo>
                  <a:pt x="380173" y="225889"/>
                </a:lnTo>
                <a:lnTo>
                  <a:pt x="380173" y="254689"/>
                </a:lnTo>
                <a:lnTo>
                  <a:pt x="428174" y="254689"/>
                </a:lnTo>
                <a:lnTo>
                  <a:pt x="428174" y="225889"/>
                </a:lnTo>
                <a:close/>
              </a:path>
              <a:path w="774700" h="255270">
                <a:moveTo>
                  <a:pt x="428174" y="206688"/>
                </a:moveTo>
                <a:lnTo>
                  <a:pt x="380173" y="206688"/>
                </a:lnTo>
                <a:lnTo>
                  <a:pt x="380173" y="216288"/>
                </a:lnTo>
                <a:lnTo>
                  <a:pt x="428174" y="216288"/>
                </a:lnTo>
                <a:lnTo>
                  <a:pt x="428174" y="206688"/>
                </a:lnTo>
                <a:close/>
              </a:path>
              <a:path w="774700" h="255270">
                <a:moveTo>
                  <a:pt x="332173" y="225889"/>
                </a:moveTo>
                <a:lnTo>
                  <a:pt x="284173" y="225889"/>
                </a:lnTo>
                <a:lnTo>
                  <a:pt x="284173" y="254689"/>
                </a:lnTo>
                <a:lnTo>
                  <a:pt x="332173" y="254689"/>
                </a:lnTo>
                <a:lnTo>
                  <a:pt x="332173" y="225889"/>
                </a:lnTo>
                <a:close/>
              </a:path>
              <a:path w="774700" h="255270">
                <a:moveTo>
                  <a:pt x="332173" y="206688"/>
                </a:moveTo>
                <a:lnTo>
                  <a:pt x="284173" y="206688"/>
                </a:lnTo>
                <a:lnTo>
                  <a:pt x="284173" y="216288"/>
                </a:lnTo>
                <a:lnTo>
                  <a:pt x="332173" y="216288"/>
                </a:lnTo>
                <a:lnTo>
                  <a:pt x="332173" y="206688"/>
                </a:lnTo>
                <a:close/>
              </a:path>
              <a:path w="774700" h="255270">
                <a:moveTo>
                  <a:pt x="236173" y="225889"/>
                </a:moveTo>
                <a:lnTo>
                  <a:pt x="188173" y="225889"/>
                </a:lnTo>
                <a:lnTo>
                  <a:pt x="188173" y="254689"/>
                </a:lnTo>
                <a:lnTo>
                  <a:pt x="236173" y="254689"/>
                </a:lnTo>
                <a:lnTo>
                  <a:pt x="236173" y="225889"/>
                </a:lnTo>
                <a:close/>
              </a:path>
              <a:path w="774700" h="255270">
                <a:moveTo>
                  <a:pt x="236173" y="206688"/>
                </a:moveTo>
                <a:lnTo>
                  <a:pt x="188173" y="206688"/>
                </a:lnTo>
                <a:lnTo>
                  <a:pt x="188173" y="216288"/>
                </a:lnTo>
                <a:lnTo>
                  <a:pt x="236173" y="216288"/>
                </a:lnTo>
                <a:lnTo>
                  <a:pt x="236173" y="206688"/>
                </a:lnTo>
                <a:close/>
              </a:path>
              <a:path w="774700" h="255270">
                <a:moveTo>
                  <a:pt x="140173" y="225889"/>
                </a:moveTo>
                <a:lnTo>
                  <a:pt x="92174" y="225889"/>
                </a:lnTo>
                <a:lnTo>
                  <a:pt x="92174" y="254689"/>
                </a:lnTo>
                <a:lnTo>
                  <a:pt x="140173" y="254689"/>
                </a:lnTo>
                <a:lnTo>
                  <a:pt x="140173" y="225889"/>
                </a:lnTo>
                <a:close/>
              </a:path>
              <a:path w="774700" h="255270">
                <a:moveTo>
                  <a:pt x="140173" y="206688"/>
                </a:moveTo>
                <a:lnTo>
                  <a:pt x="92174" y="206688"/>
                </a:lnTo>
                <a:lnTo>
                  <a:pt x="92174" y="216288"/>
                </a:lnTo>
                <a:lnTo>
                  <a:pt x="140173" y="216288"/>
                </a:lnTo>
                <a:lnTo>
                  <a:pt x="140173" y="206688"/>
                </a:lnTo>
                <a:close/>
              </a:path>
              <a:path w="774700" h="255270">
                <a:moveTo>
                  <a:pt x="28799" y="187998"/>
                </a:moveTo>
                <a:lnTo>
                  <a:pt x="0" y="187998"/>
                </a:lnTo>
                <a:lnTo>
                  <a:pt x="120" y="198648"/>
                </a:lnTo>
                <a:lnTo>
                  <a:pt x="16551" y="237054"/>
                </a:lnTo>
                <a:lnTo>
                  <a:pt x="33127" y="248823"/>
                </a:lnTo>
                <a:lnTo>
                  <a:pt x="46866" y="223512"/>
                </a:lnTo>
                <a:lnTo>
                  <a:pt x="41885" y="220808"/>
                </a:lnTo>
                <a:lnTo>
                  <a:pt x="37499" y="217190"/>
                </a:lnTo>
                <a:lnTo>
                  <a:pt x="33881" y="212803"/>
                </a:lnTo>
                <a:lnTo>
                  <a:pt x="31151" y="207774"/>
                </a:lnTo>
                <a:lnTo>
                  <a:pt x="29427" y="202220"/>
                </a:lnTo>
                <a:lnTo>
                  <a:pt x="28775" y="195759"/>
                </a:lnTo>
                <a:lnTo>
                  <a:pt x="28799" y="187998"/>
                </a:lnTo>
                <a:close/>
              </a:path>
              <a:path w="774700" h="255270">
                <a:moveTo>
                  <a:pt x="47999" y="187998"/>
                </a:moveTo>
                <a:lnTo>
                  <a:pt x="38399" y="187998"/>
                </a:lnTo>
                <a:lnTo>
                  <a:pt x="38424" y="195759"/>
                </a:lnTo>
                <a:lnTo>
                  <a:pt x="51446" y="215074"/>
                </a:lnTo>
                <a:lnTo>
                  <a:pt x="56026" y="206637"/>
                </a:lnTo>
                <a:lnTo>
                  <a:pt x="52674" y="204817"/>
                </a:lnTo>
                <a:lnTo>
                  <a:pt x="51137" y="203550"/>
                </a:lnTo>
                <a:lnTo>
                  <a:pt x="49870" y="202015"/>
                </a:lnTo>
                <a:lnTo>
                  <a:pt x="48928" y="200277"/>
                </a:lnTo>
                <a:lnTo>
                  <a:pt x="48337" y="198374"/>
                </a:lnTo>
                <a:lnTo>
                  <a:pt x="47976" y="194796"/>
                </a:lnTo>
                <a:lnTo>
                  <a:pt x="47999" y="187998"/>
                </a:lnTo>
                <a:close/>
              </a:path>
              <a:path w="774700" h="255270">
                <a:moveTo>
                  <a:pt x="28799" y="91997"/>
                </a:moveTo>
                <a:lnTo>
                  <a:pt x="0" y="91997"/>
                </a:lnTo>
                <a:lnTo>
                  <a:pt x="0" y="139997"/>
                </a:lnTo>
                <a:lnTo>
                  <a:pt x="28799" y="139997"/>
                </a:lnTo>
                <a:lnTo>
                  <a:pt x="28799" y="91997"/>
                </a:lnTo>
                <a:close/>
              </a:path>
              <a:path w="774700" h="255270">
                <a:moveTo>
                  <a:pt x="47999" y="91997"/>
                </a:moveTo>
                <a:lnTo>
                  <a:pt x="38399" y="91997"/>
                </a:lnTo>
                <a:lnTo>
                  <a:pt x="38399" y="139997"/>
                </a:lnTo>
                <a:lnTo>
                  <a:pt x="47999" y="139997"/>
                </a:lnTo>
                <a:lnTo>
                  <a:pt x="47999" y="91997"/>
                </a:lnTo>
                <a:close/>
              </a:path>
              <a:path w="774700" h="255270">
                <a:moveTo>
                  <a:pt x="59893" y="38327"/>
                </a:moveTo>
                <a:lnTo>
                  <a:pt x="39698" y="51291"/>
                </a:lnTo>
                <a:lnTo>
                  <a:pt x="48135" y="55871"/>
                </a:lnTo>
                <a:lnTo>
                  <a:pt x="49870" y="52674"/>
                </a:lnTo>
                <a:lnTo>
                  <a:pt x="51137" y="51137"/>
                </a:lnTo>
                <a:lnTo>
                  <a:pt x="52674" y="49870"/>
                </a:lnTo>
                <a:lnTo>
                  <a:pt x="54411" y="48928"/>
                </a:lnTo>
                <a:lnTo>
                  <a:pt x="56315" y="48337"/>
                </a:lnTo>
                <a:lnTo>
                  <a:pt x="60855" y="47879"/>
                </a:lnTo>
                <a:lnTo>
                  <a:pt x="66868" y="47879"/>
                </a:lnTo>
                <a:lnTo>
                  <a:pt x="66868" y="38399"/>
                </a:lnTo>
                <a:lnTo>
                  <a:pt x="59893" y="38327"/>
                </a:lnTo>
                <a:close/>
              </a:path>
              <a:path w="774700" h="255270">
                <a:moveTo>
                  <a:pt x="66868" y="47879"/>
                </a:moveTo>
                <a:lnTo>
                  <a:pt x="60855" y="47879"/>
                </a:lnTo>
                <a:lnTo>
                  <a:pt x="66868" y="47999"/>
                </a:lnTo>
                <a:close/>
              </a:path>
              <a:path w="774700" h="255270">
                <a:moveTo>
                  <a:pt x="66868" y="0"/>
                </a:moveTo>
                <a:lnTo>
                  <a:pt x="26385" y="9525"/>
                </a:lnTo>
                <a:lnTo>
                  <a:pt x="5949" y="32973"/>
                </a:lnTo>
                <a:lnTo>
                  <a:pt x="31261" y="46711"/>
                </a:lnTo>
                <a:lnTo>
                  <a:pt x="33889" y="41875"/>
                </a:lnTo>
                <a:lnTo>
                  <a:pt x="37499" y="37499"/>
                </a:lnTo>
                <a:lnTo>
                  <a:pt x="41885" y="33881"/>
                </a:lnTo>
                <a:lnTo>
                  <a:pt x="46913" y="31151"/>
                </a:lnTo>
                <a:lnTo>
                  <a:pt x="52467" y="29427"/>
                </a:lnTo>
                <a:lnTo>
                  <a:pt x="58930" y="28775"/>
                </a:lnTo>
                <a:lnTo>
                  <a:pt x="66868" y="28775"/>
                </a:lnTo>
                <a:lnTo>
                  <a:pt x="66868" y="0"/>
                </a:lnTo>
                <a:close/>
              </a:path>
              <a:path w="774700" h="255270">
                <a:moveTo>
                  <a:pt x="66868" y="28775"/>
                </a:moveTo>
                <a:lnTo>
                  <a:pt x="58930" y="28775"/>
                </a:lnTo>
                <a:lnTo>
                  <a:pt x="66868" y="28799"/>
                </a:lnTo>
                <a:close/>
              </a:path>
              <a:path w="774700" h="255270">
                <a:moveTo>
                  <a:pt x="162867" y="0"/>
                </a:moveTo>
                <a:lnTo>
                  <a:pt x="114867" y="0"/>
                </a:lnTo>
                <a:lnTo>
                  <a:pt x="114867" y="28799"/>
                </a:lnTo>
                <a:lnTo>
                  <a:pt x="162867" y="28799"/>
                </a:lnTo>
                <a:lnTo>
                  <a:pt x="162867" y="0"/>
                </a:lnTo>
                <a:close/>
              </a:path>
              <a:path w="774700" h="255270">
                <a:moveTo>
                  <a:pt x="162867" y="38399"/>
                </a:moveTo>
                <a:lnTo>
                  <a:pt x="114867" y="38399"/>
                </a:lnTo>
                <a:lnTo>
                  <a:pt x="114867" y="47999"/>
                </a:lnTo>
                <a:lnTo>
                  <a:pt x="162867" y="47999"/>
                </a:lnTo>
                <a:lnTo>
                  <a:pt x="162867" y="38399"/>
                </a:lnTo>
                <a:close/>
              </a:path>
              <a:path w="774700" h="255270">
                <a:moveTo>
                  <a:pt x="258867" y="0"/>
                </a:moveTo>
                <a:lnTo>
                  <a:pt x="210866" y="0"/>
                </a:lnTo>
                <a:lnTo>
                  <a:pt x="210866" y="28799"/>
                </a:lnTo>
                <a:lnTo>
                  <a:pt x="258867" y="28799"/>
                </a:lnTo>
                <a:lnTo>
                  <a:pt x="258867" y="0"/>
                </a:lnTo>
                <a:close/>
              </a:path>
              <a:path w="774700" h="255270">
                <a:moveTo>
                  <a:pt x="258867" y="38399"/>
                </a:moveTo>
                <a:lnTo>
                  <a:pt x="210866" y="38399"/>
                </a:lnTo>
                <a:lnTo>
                  <a:pt x="210866" y="47999"/>
                </a:lnTo>
                <a:lnTo>
                  <a:pt x="258867" y="47999"/>
                </a:lnTo>
                <a:lnTo>
                  <a:pt x="258867" y="38399"/>
                </a:lnTo>
                <a:close/>
              </a:path>
              <a:path w="774700" h="255270">
                <a:moveTo>
                  <a:pt x="354867" y="0"/>
                </a:moveTo>
                <a:lnTo>
                  <a:pt x="306867" y="0"/>
                </a:lnTo>
                <a:lnTo>
                  <a:pt x="306867" y="28799"/>
                </a:lnTo>
                <a:lnTo>
                  <a:pt x="354867" y="28799"/>
                </a:lnTo>
                <a:lnTo>
                  <a:pt x="354867" y="0"/>
                </a:lnTo>
                <a:close/>
              </a:path>
              <a:path w="774700" h="255270">
                <a:moveTo>
                  <a:pt x="354867" y="38399"/>
                </a:moveTo>
                <a:lnTo>
                  <a:pt x="306867" y="38399"/>
                </a:lnTo>
                <a:lnTo>
                  <a:pt x="306867" y="47999"/>
                </a:lnTo>
                <a:lnTo>
                  <a:pt x="354867" y="47999"/>
                </a:lnTo>
                <a:lnTo>
                  <a:pt x="354867" y="38399"/>
                </a:lnTo>
                <a:close/>
              </a:path>
              <a:path w="774700" h="255270">
                <a:moveTo>
                  <a:pt x="450867" y="0"/>
                </a:moveTo>
                <a:lnTo>
                  <a:pt x="402868" y="0"/>
                </a:lnTo>
                <a:lnTo>
                  <a:pt x="402868" y="28799"/>
                </a:lnTo>
                <a:lnTo>
                  <a:pt x="450867" y="28799"/>
                </a:lnTo>
                <a:lnTo>
                  <a:pt x="450867" y="0"/>
                </a:lnTo>
                <a:close/>
              </a:path>
              <a:path w="774700" h="255270">
                <a:moveTo>
                  <a:pt x="450867" y="38399"/>
                </a:moveTo>
                <a:lnTo>
                  <a:pt x="402868" y="38399"/>
                </a:lnTo>
                <a:lnTo>
                  <a:pt x="402868" y="47999"/>
                </a:lnTo>
                <a:lnTo>
                  <a:pt x="450867" y="47999"/>
                </a:lnTo>
                <a:lnTo>
                  <a:pt x="450867" y="38399"/>
                </a:lnTo>
                <a:close/>
              </a:path>
              <a:path w="774700" h="255270">
                <a:moveTo>
                  <a:pt x="546867" y="0"/>
                </a:moveTo>
                <a:lnTo>
                  <a:pt x="498867" y="0"/>
                </a:lnTo>
                <a:lnTo>
                  <a:pt x="498867" y="28799"/>
                </a:lnTo>
                <a:lnTo>
                  <a:pt x="546867" y="28799"/>
                </a:lnTo>
                <a:lnTo>
                  <a:pt x="546867" y="0"/>
                </a:lnTo>
                <a:close/>
              </a:path>
              <a:path w="774700" h="255270">
                <a:moveTo>
                  <a:pt x="546867" y="38399"/>
                </a:moveTo>
                <a:lnTo>
                  <a:pt x="498867" y="38399"/>
                </a:lnTo>
                <a:lnTo>
                  <a:pt x="498867" y="47999"/>
                </a:lnTo>
                <a:lnTo>
                  <a:pt x="546867" y="47999"/>
                </a:lnTo>
                <a:lnTo>
                  <a:pt x="546867" y="38399"/>
                </a:lnTo>
                <a:close/>
              </a:path>
              <a:path w="774700" h="255270">
                <a:moveTo>
                  <a:pt x="642867" y="0"/>
                </a:moveTo>
                <a:lnTo>
                  <a:pt x="594867" y="0"/>
                </a:lnTo>
                <a:lnTo>
                  <a:pt x="594867" y="28799"/>
                </a:lnTo>
                <a:lnTo>
                  <a:pt x="642867" y="28799"/>
                </a:lnTo>
                <a:lnTo>
                  <a:pt x="642867" y="0"/>
                </a:lnTo>
                <a:close/>
              </a:path>
              <a:path w="774700" h="255270">
                <a:moveTo>
                  <a:pt x="642867" y="38399"/>
                </a:moveTo>
                <a:lnTo>
                  <a:pt x="594867" y="38399"/>
                </a:lnTo>
                <a:lnTo>
                  <a:pt x="594867" y="47999"/>
                </a:lnTo>
                <a:lnTo>
                  <a:pt x="642867" y="47999"/>
                </a:lnTo>
                <a:lnTo>
                  <a:pt x="642867" y="38399"/>
                </a:lnTo>
                <a:close/>
              </a:path>
              <a:path w="774700" h="255270">
                <a:moveTo>
                  <a:pt x="716173" y="0"/>
                </a:moveTo>
                <a:lnTo>
                  <a:pt x="690867" y="0"/>
                </a:lnTo>
                <a:lnTo>
                  <a:pt x="690867" y="28799"/>
                </a:lnTo>
                <a:lnTo>
                  <a:pt x="716173" y="28799"/>
                </a:lnTo>
                <a:lnTo>
                  <a:pt x="722153" y="29427"/>
                </a:lnTo>
                <a:lnTo>
                  <a:pt x="727708" y="31151"/>
                </a:lnTo>
                <a:lnTo>
                  <a:pt x="732736" y="33881"/>
                </a:lnTo>
                <a:lnTo>
                  <a:pt x="734143" y="35041"/>
                </a:lnTo>
                <a:lnTo>
                  <a:pt x="752472" y="12827"/>
                </a:lnTo>
                <a:lnTo>
                  <a:pt x="725523" y="821"/>
                </a:lnTo>
                <a:lnTo>
                  <a:pt x="716173" y="0"/>
                </a:lnTo>
                <a:close/>
              </a:path>
              <a:path w="774700" h="255270">
                <a:moveTo>
                  <a:pt x="716173" y="38399"/>
                </a:moveTo>
                <a:lnTo>
                  <a:pt x="690867" y="38399"/>
                </a:lnTo>
                <a:lnTo>
                  <a:pt x="690867" y="47999"/>
                </a:lnTo>
                <a:lnTo>
                  <a:pt x="716173" y="47999"/>
                </a:lnTo>
                <a:lnTo>
                  <a:pt x="718306" y="48337"/>
                </a:lnTo>
                <a:lnTo>
                  <a:pt x="720210" y="48928"/>
                </a:lnTo>
                <a:lnTo>
                  <a:pt x="721948" y="49870"/>
                </a:lnTo>
                <a:lnTo>
                  <a:pt x="728033" y="42447"/>
                </a:lnTo>
                <a:lnTo>
                  <a:pt x="727342" y="41875"/>
                </a:lnTo>
                <a:lnTo>
                  <a:pt x="723959" y="40039"/>
                </a:lnTo>
                <a:lnTo>
                  <a:pt x="720230" y="38882"/>
                </a:lnTo>
                <a:lnTo>
                  <a:pt x="716173" y="38399"/>
                </a:lnTo>
                <a:close/>
              </a:path>
              <a:path w="774700" h="255270">
                <a:moveTo>
                  <a:pt x="774622" y="75110"/>
                </a:moveTo>
                <a:lnTo>
                  <a:pt x="745822" y="75110"/>
                </a:lnTo>
                <a:lnTo>
                  <a:pt x="745822" y="123109"/>
                </a:lnTo>
                <a:lnTo>
                  <a:pt x="774622" y="123109"/>
                </a:lnTo>
                <a:lnTo>
                  <a:pt x="774622" y="75110"/>
                </a:lnTo>
                <a:close/>
              </a:path>
              <a:path w="774700" h="255270">
                <a:moveTo>
                  <a:pt x="736222" y="75110"/>
                </a:moveTo>
                <a:lnTo>
                  <a:pt x="726621" y="75110"/>
                </a:lnTo>
                <a:lnTo>
                  <a:pt x="726621" y="123109"/>
                </a:lnTo>
                <a:lnTo>
                  <a:pt x="736222" y="123109"/>
                </a:lnTo>
                <a:lnTo>
                  <a:pt x="736222" y="75110"/>
                </a:lnTo>
                <a:close/>
              </a:path>
              <a:path w="774700" h="255270">
                <a:moveTo>
                  <a:pt x="774622" y="171110"/>
                </a:moveTo>
                <a:lnTo>
                  <a:pt x="745822" y="171110"/>
                </a:lnTo>
                <a:lnTo>
                  <a:pt x="745822" y="196240"/>
                </a:lnTo>
                <a:lnTo>
                  <a:pt x="745195" y="202220"/>
                </a:lnTo>
                <a:lnTo>
                  <a:pt x="743470" y="207774"/>
                </a:lnTo>
                <a:lnTo>
                  <a:pt x="740741" y="212803"/>
                </a:lnTo>
                <a:lnTo>
                  <a:pt x="739468" y="214346"/>
                </a:lnTo>
                <a:lnTo>
                  <a:pt x="761683" y="232675"/>
                </a:lnTo>
                <a:lnTo>
                  <a:pt x="774622" y="196240"/>
                </a:lnTo>
                <a:lnTo>
                  <a:pt x="774622" y="171110"/>
                </a:lnTo>
                <a:close/>
              </a:path>
              <a:path w="774700" h="255270">
                <a:moveTo>
                  <a:pt x="736222" y="171110"/>
                </a:moveTo>
                <a:lnTo>
                  <a:pt x="726621" y="171110"/>
                </a:lnTo>
                <a:lnTo>
                  <a:pt x="726621" y="196240"/>
                </a:lnTo>
                <a:lnTo>
                  <a:pt x="726285" y="198374"/>
                </a:lnTo>
                <a:lnTo>
                  <a:pt x="725683" y="200298"/>
                </a:lnTo>
                <a:lnTo>
                  <a:pt x="724750" y="202015"/>
                </a:lnTo>
                <a:lnTo>
                  <a:pt x="732063" y="208236"/>
                </a:lnTo>
                <a:lnTo>
                  <a:pt x="732746" y="207410"/>
                </a:lnTo>
                <a:lnTo>
                  <a:pt x="734583" y="204026"/>
                </a:lnTo>
                <a:lnTo>
                  <a:pt x="735742" y="200277"/>
                </a:lnTo>
                <a:lnTo>
                  <a:pt x="736222" y="196240"/>
                </a:lnTo>
                <a:lnTo>
                  <a:pt x="736222" y="171110"/>
                </a:lnTo>
                <a:close/>
              </a:path>
            </a:pathLst>
          </a:custGeom>
          <a:solidFill>
            <a:srgbClr val="5A63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703471" y="6147308"/>
            <a:ext cx="325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𝐳</a:t>
            </a:r>
            <a:r>
              <a:rPr dirty="0" baseline="-15432" sz="2700" spc="419">
                <a:solidFill>
                  <a:srgbClr val="0070C0"/>
                </a:solidFill>
                <a:latin typeface="Cambria Math"/>
                <a:cs typeface="Cambria Math"/>
              </a:rPr>
              <a:t>/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012456" y="5227623"/>
            <a:ext cx="678815" cy="979169"/>
          </a:xfrm>
          <a:custGeom>
            <a:avLst/>
            <a:gdLst/>
            <a:ahLst/>
            <a:cxnLst/>
            <a:rect l="l" t="t" r="r" b="b"/>
            <a:pathLst>
              <a:path w="678815" h="979170">
                <a:moveTo>
                  <a:pt x="618133" y="916118"/>
                </a:moveTo>
                <a:lnTo>
                  <a:pt x="594593" y="932317"/>
                </a:lnTo>
                <a:lnTo>
                  <a:pt x="678500" y="978639"/>
                </a:lnTo>
                <a:lnTo>
                  <a:pt x="672535" y="936032"/>
                </a:lnTo>
                <a:lnTo>
                  <a:pt x="639601" y="936032"/>
                </a:lnTo>
                <a:lnTo>
                  <a:pt x="630706" y="934388"/>
                </a:lnTo>
                <a:lnTo>
                  <a:pt x="618133" y="916118"/>
                </a:lnTo>
                <a:close/>
              </a:path>
              <a:path w="678815" h="979170">
                <a:moveTo>
                  <a:pt x="641673" y="899920"/>
                </a:moveTo>
                <a:lnTo>
                  <a:pt x="618133" y="916118"/>
                </a:lnTo>
                <a:lnTo>
                  <a:pt x="630706" y="934388"/>
                </a:lnTo>
                <a:lnTo>
                  <a:pt x="639601" y="936032"/>
                </a:lnTo>
                <a:lnTo>
                  <a:pt x="652602" y="927086"/>
                </a:lnTo>
                <a:lnTo>
                  <a:pt x="654245" y="918190"/>
                </a:lnTo>
                <a:lnTo>
                  <a:pt x="641673" y="899920"/>
                </a:lnTo>
                <a:close/>
              </a:path>
              <a:path w="678815" h="979170">
                <a:moveTo>
                  <a:pt x="665213" y="883721"/>
                </a:moveTo>
                <a:lnTo>
                  <a:pt x="641673" y="899920"/>
                </a:lnTo>
                <a:lnTo>
                  <a:pt x="654245" y="918190"/>
                </a:lnTo>
                <a:lnTo>
                  <a:pt x="652602" y="927086"/>
                </a:lnTo>
                <a:lnTo>
                  <a:pt x="639601" y="936032"/>
                </a:lnTo>
                <a:lnTo>
                  <a:pt x="672535" y="936032"/>
                </a:lnTo>
                <a:lnTo>
                  <a:pt x="665213" y="883721"/>
                </a:lnTo>
                <a:close/>
              </a:path>
              <a:path w="678815" h="979170">
                <a:moveTo>
                  <a:pt x="14644" y="0"/>
                </a:moveTo>
                <a:lnTo>
                  <a:pt x="1643" y="8947"/>
                </a:lnTo>
                <a:lnTo>
                  <a:pt x="0" y="17842"/>
                </a:lnTo>
                <a:lnTo>
                  <a:pt x="618133" y="916118"/>
                </a:lnTo>
                <a:lnTo>
                  <a:pt x="641673" y="899920"/>
                </a:lnTo>
                <a:lnTo>
                  <a:pt x="23540" y="1643"/>
                </a:lnTo>
                <a:lnTo>
                  <a:pt x="14644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223671" y="5449277"/>
            <a:ext cx="313055" cy="803910"/>
          </a:xfrm>
          <a:custGeom>
            <a:avLst/>
            <a:gdLst/>
            <a:ahLst/>
            <a:cxnLst/>
            <a:rect l="l" t="t" r="r" b="b"/>
            <a:pathLst>
              <a:path w="313054" h="803910">
                <a:moveTo>
                  <a:pt x="259060" y="727812"/>
                </a:moveTo>
                <a:lnTo>
                  <a:pt x="232197" y="737556"/>
                </a:lnTo>
                <a:lnTo>
                  <a:pt x="301721" y="803529"/>
                </a:lnTo>
                <a:lnTo>
                  <a:pt x="307652" y="752493"/>
                </a:lnTo>
                <a:lnTo>
                  <a:pt x="274816" y="752493"/>
                </a:lnTo>
                <a:lnTo>
                  <a:pt x="266622" y="748661"/>
                </a:lnTo>
                <a:lnTo>
                  <a:pt x="259060" y="727812"/>
                </a:lnTo>
                <a:close/>
              </a:path>
              <a:path w="313054" h="803910">
                <a:moveTo>
                  <a:pt x="285922" y="718069"/>
                </a:moveTo>
                <a:lnTo>
                  <a:pt x="259060" y="727812"/>
                </a:lnTo>
                <a:lnTo>
                  <a:pt x="266622" y="748661"/>
                </a:lnTo>
                <a:lnTo>
                  <a:pt x="274816" y="752493"/>
                </a:lnTo>
                <a:lnTo>
                  <a:pt x="289652" y="747112"/>
                </a:lnTo>
                <a:lnTo>
                  <a:pt x="293484" y="738918"/>
                </a:lnTo>
                <a:lnTo>
                  <a:pt x="285922" y="718069"/>
                </a:lnTo>
                <a:close/>
              </a:path>
              <a:path w="313054" h="803910">
                <a:moveTo>
                  <a:pt x="312785" y="708326"/>
                </a:moveTo>
                <a:lnTo>
                  <a:pt x="285922" y="718069"/>
                </a:lnTo>
                <a:lnTo>
                  <a:pt x="293484" y="738918"/>
                </a:lnTo>
                <a:lnTo>
                  <a:pt x="289652" y="747112"/>
                </a:lnTo>
                <a:lnTo>
                  <a:pt x="274816" y="752493"/>
                </a:lnTo>
                <a:lnTo>
                  <a:pt x="307652" y="752493"/>
                </a:lnTo>
                <a:lnTo>
                  <a:pt x="312785" y="708326"/>
                </a:lnTo>
                <a:close/>
              </a:path>
              <a:path w="313054" h="803910">
                <a:moveTo>
                  <a:pt x="18669" y="0"/>
                </a:moveTo>
                <a:lnTo>
                  <a:pt x="3832" y="5380"/>
                </a:lnTo>
                <a:lnTo>
                  <a:pt x="0" y="13576"/>
                </a:lnTo>
                <a:lnTo>
                  <a:pt x="259060" y="727812"/>
                </a:lnTo>
                <a:lnTo>
                  <a:pt x="285922" y="718069"/>
                </a:lnTo>
                <a:lnTo>
                  <a:pt x="26863" y="3832"/>
                </a:lnTo>
                <a:lnTo>
                  <a:pt x="1866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437542" y="6226555"/>
            <a:ext cx="306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𝐳</a:t>
            </a:r>
            <a:r>
              <a:rPr dirty="0" baseline="-15432" sz="2700" spc="622">
                <a:solidFill>
                  <a:srgbClr val="0070C0"/>
                </a:solidFill>
                <a:latin typeface="Cambria Math"/>
                <a:cs typeface="Cambria Math"/>
              </a:rPr>
              <a:t>-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339114" y="5140802"/>
            <a:ext cx="245745" cy="325120"/>
          </a:xfrm>
          <a:custGeom>
            <a:avLst/>
            <a:gdLst/>
            <a:ahLst/>
            <a:cxnLst/>
            <a:rect l="l" t="t" r="r" b="b"/>
            <a:pathLst>
              <a:path w="245745" h="325120">
                <a:moveTo>
                  <a:pt x="0" y="0"/>
                </a:moveTo>
                <a:lnTo>
                  <a:pt x="245477" y="0"/>
                </a:lnTo>
                <a:lnTo>
                  <a:pt x="245477" y="324596"/>
                </a:lnTo>
                <a:lnTo>
                  <a:pt x="0" y="324596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579152" y="5149272"/>
            <a:ext cx="1320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-15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7"/>
              </a:rPr>
              <a:t>http://cs224w.stanford.edu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  <p:sp>
        <p:nvSpPr>
          <p:cNvPr id="42" name="object 42"/>
          <p:cNvSpPr txBox="1"/>
          <p:nvPr/>
        </p:nvSpPr>
        <p:spPr>
          <a:xfrm>
            <a:off x="5579152" y="5859174"/>
            <a:ext cx="1320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140">
                <a:latin typeface="Symbol"/>
                <a:cs typeface="Symbol"/>
              </a:rPr>
              <a:t>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99492" y="5859174"/>
            <a:ext cx="1320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140">
                <a:latin typeface="Symbol"/>
                <a:cs typeface="Symbol"/>
              </a:rPr>
              <a:t>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99492" y="5592798"/>
            <a:ext cx="29718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-275">
                <a:latin typeface="Symbol"/>
                <a:cs typeface="Symbol"/>
              </a:rPr>
              <a:t></a:t>
            </a:r>
            <a:r>
              <a:rPr dirty="0" baseline="-29320" sz="2700" spc="-412">
                <a:latin typeface="Symbol"/>
                <a:cs typeface="Symbol"/>
              </a:rPr>
              <a:t></a:t>
            </a:r>
            <a:r>
              <a:rPr dirty="0" baseline="-29320" sz="2700" spc="-509">
                <a:latin typeface="Times New Roman"/>
                <a:cs typeface="Times New Roman"/>
              </a:rPr>
              <a:t> </a:t>
            </a:r>
            <a:r>
              <a:rPr dirty="0" baseline="-50925" sz="2700" spc="277">
                <a:latin typeface="Times New Roman"/>
                <a:cs typeface="Times New Roman"/>
              </a:rPr>
              <a:t>1</a:t>
            </a:r>
            <a:endParaRPr baseline="-50925" sz="27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16447" y="5371048"/>
            <a:ext cx="29527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20061" sz="2700" spc="555">
                <a:latin typeface="Times New Roman"/>
                <a:cs typeface="Times New Roman"/>
              </a:rPr>
              <a:t>1</a:t>
            </a:r>
            <a:r>
              <a:rPr dirty="0" sz="1800" spc="-15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99492" y="5371048"/>
            <a:ext cx="299085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140">
                <a:latin typeface="Symbol"/>
                <a:cs typeface="Symbol"/>
              </a:rPr>
              <a:t></a:t>
            </a:r>
            <a:r>
              <a:rPr dirty="0" sz="1800" spc="-330">
                <a:latin typeface="Times New Roman"/>
                <a:cs typeface="Times New Roman"/>
              </a:rPr>
              <a:t> </a:t>
            </a:r>
            <a:r>
              <a:rPr dirty="0" baseline="-20061" sz="2700" spc="277">
                <a:latin typeface="Times New Roman"/>
                <a:cs typeface="Times New Roman"/>
              </a:rPr>
              <a:t>0</a:t>
            </a:r>
            <a:endParaRPr baseline="-20061" sz="27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99492" y="4762385"/>
            <a:ext cx="1612265" cy="1344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ts val="1730"/>
              </a:lnSpc>
              <a:spcBef>
                <a:spcPts val="120"/>
              </a:spcBef>
              <a:tabLst>
                <a:tab pos="527050" algn="l"/>
                <a:tab pos="923925" algn="l"/>
                <a:tab pos="1316355" algn="l"/>
              </a:tabLst>
            </a:pPr>
            <a:r>
              <a:rPr dirty="0" baseline="-4629" sz="2700" spc="209">
                <a:latin typeface="Symbol"/>
                <a:cs typeface="Symbol"/>
              </a:rPr>
              <a:t></a:t>
            </a:r>
            <a:r>
              <a:rPr dirty="0" baseline="-4629" sz="2700" spc="-352">
                <a:latin typeface="Times New Roman"/>
                <a:cs typeface="Times New Roman"/>
              </a:rPr>
              <a:t> 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370">
                <a:latin typeface="Times New Roman"/>
                <a:cs typeface="Times New Roman"/>
              </a:rPr>
              <a:t>1</a:t>
            </a:r>
            <a:r>
              <a:rPr dirty="0" baseline="-4629" sz="2700" spc="209">
                <a:latin typeface="Symbol"/>
                <a:cs typeface="Symbol"/>
              </a:rPr>
              <a:t></a:t>
            </a:r>
            <a:endParaRPr baseline="-4629" sz="2700">
              <a:latin typeface="Symbol"/>
              <a:cs typeface="Symbol"/>
            </a:endParaRPr>
          </a:p>
          <a:p>
            <a:pPr algn="ctr">
              <a:lnSpc>
                <a:spcPts val="1365"/>
              </a:lnSpc>
              <a:tabLst>
                <a:tab pos="1479550" algn="l"/>
              </a:tabLst>
            </a:pPr>
            <a:r>
              <a:rPr dirty="0" sz="1800" spc="140">
                <a:latin typeface="Symbol"/>
                <a:cs typeface="Symbol"/>
              </a:rPr>
              <a:t></a:t>
            </a:r>
            <a:r>
              <a:rPr dirty="0" sz="1800" spc="140">
                <a:latin typeface="Times New Roman"/>
                <a:cs typeface="Times New Roman"/>
              </a:rPr>
              <a:t>	</a:t>
            </a:r>
            <a:r>
              <a:rPr dirty="0" sz="1800" spc="-150">
                <a:latin typeface="Symbol"/>
                <a:cs typeface="Symbol"/>
              </a:rPr>
              <a:t></a:t>
            </a:r>
            <a:endParaRPr sz="1800">
              <a:latin typeface="Symbol"/>
              <a:cs typeface="Symbol"/>
            </a:endParaRPr>
          </a:p>
          <a:p>
            <a:pPr algn="ctr" marL="1905">
              <a:lnSpc>
                <a:spcPts val="1795"/>
              </a:lnSpc>
              <a:tabLst>
                <a:tab pos="398780" algn="l"/>
                <a:tab pos="793115" algn="l"/>
                <a:tab pos="1186180" algn="l"/>
              </a:tabLst>
            </a:pPr>
            <a:r>
              <a:rPr dirty="0" sz="1800" spc="185">
                <a:latin typeface="Times New Roman"/>
                <a:cs typeface="Times New Roman"/>
              </a:rPr>
              <a:t>1	0	0	1</a:t>
            </a:r>
            <a:endParaRPr sz="1800">
              <a:latin typeface="Times New Roman"/>
              <a:cs typeface="Times New Roman"/>
            </a:endParaRPr>
          </a:p>
          <a:p>
            <a:pPr marL="541655">
              <a:lnSpc>
                <a:spcPct val="100000"/>
              </a:lnSpc>
              <a:spcBef>
                <a:spcPts val="570"/>
              </a:spcBef>
              <a:tabLst>
                <a:tab pos="936625" algn="l"/>
                <a:tab pos="1492250" algn="l"/>
              </a:tabLst>
            </a:pP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sz="1800" spc="185">
                <a:latin typeface="Times New Roman"/>
                <a:cs typeface="Times New Roman"/>
              </a:rPr>
              <a:t>0</a:t>
            </a:r>
            <a:r>
              <a:rPr dirty="0" sz="1800" spc="185">
                <a:latin typeface="Times New Roman"/>
                <a:cs typeface="Times New Roman"/>
              </a:rPr>
              <a:t>	</a:t>
            </a:r>
            <a:r>
              <a:rPr dirty="0" baseline="-32407" sz="2700" spc="-1485">
                <a:latin typeface="Symbol"/>
                <a:cs typeface="Symbol"/>
              </a:rPr>
              <a:t></a:t>
            </a:r>
            <a:r>
              <a:rPr dirty="0" baseline="-61728" sz="2700" spc="-225">
                <a:latin typeface="Symbol"/>
                <a:cs typeface="Symbol"/>
              </a:rPr>
              <a:t></a:t>
            </a:r>
            <a:endParaRPr baseline="-61728" sz="2700">
              <a:latin typeface="Symbol"/>
              <a:cs typeface="Symbol"/>
            </a:endParaRPr>
          </a:p>
          <a:p>
            <a:pPr marL="539750">
              <a:lnSpc>
                <a:spcPct val="100000"/>
              </a:lnSpc>
              <a:spcBef>
                <a:spcPts val="570"/>
              </a:spcBef>
              <a:tabLst>
                <a:tab pos="934085" algn="l"/>
                <a:tab pos="1331595" algn="l"/>
              </a:tabLst>
            </a:pPr>
            <a:r>
              <a:rPr dirty="0" sz="1800" spc="185">
                <a:latin typeface="Times New Roman"/>
                <a:cs typeface="Times New Roman"/>
              </a:rPr>
              <a:t>1	1	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65571" y="5279442"/>
            <a:ext cx="566420" cy="303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 spc="229" i="1">
                <a:latin typeface="Times New Roman"/>
                <a:cs typeface="Times New Roman"/>
              </a:rPr>
              <a:t>A</a:t>
            </a:r>
            <a:r>
              <a:rPr dirty="0" sz="1800" spc="-330" i="1">
                <a:latin typeface="Times New Roman"/>
                <a:cs typeface="Times New Roman"/>
              </a:rPr>
              <a:t> </a:t>
            </a:r>
            <a:r>
              <a:rPr dirty="0" sz="1800" spc="204">
                <a:latin typeface="Symbol"/>
                <a:cs typeface="Symbol"/>
              </a:rPr>
              <a:t>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baseline="30864" sz="2700" spc="209">
                <a:latin typeface="Symbol"/>
                <a:cs typeface="Symbol"/>
              </a:rPr>
              <a:t></a:t>
            </a:r>
            <a:endParaRPr baseline="30864" sz="27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94690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0132"/>
            <a:ext cx="8462010" cy="1308735"/>
          </a:xfrm>
          <a:prstGeom prst="rect"/>
        </p:spPr>
        <p:txBody>
          <a:bodyPr wrap="square" lIns="0" tIns="69215" rIns="0" bIns="0" rtlCol="0" vert="horz">
            <a:spAutoFit/>
          </a:bodyPr>
          <a:lstStyle/>
          <a:p>
            <a:pPr marL="332740" marR="208279" indent="-320040">
              <a:lnSpc>
                <a:spcPts val="3190"/>
              </a:lnSpc>
              <a:spcBef>
                <a:spcPts val="54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The embedding dimension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𝑑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(number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z="3000" spc="-20" b="0">
                <a:solidFill>
                  <a:srgbClr val="000000"/>
                </a:solidFill>
                <a:latin typeface="Calibri"/>
                <a:cs typeface="Calibri"/>
              </a:rPr>
              <a:t>rows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z="3000" b="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) 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is much smaller than number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nodes</a:t>
            </a:r>
            <a:r>
              <a:rPr dirty="0" sz="300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25" b="0">
                <a:solidFill>
                  <a:srgbClr val="000000"/>
                </a:solidFill>
                <a:latin typeface="Cambria Math"/>
                <a:cs typeface="Cambria Math"/>
              </a:rPr>
              <a:t>𝑛</a:t>
            </a:r>
            <a:r>
              <a:rPr dirty="0" sz="3000" spc="25" b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327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Exact </a:t>
            </a:r>
            <a:r>
              <a:rPr dirty="0" sz="3000" spc="-20" b="0">
                <a:solidFill>
                  <a:srgbClr val="000000"/>
                </a:solidFill>
                <a:latin typeface="Calibri"/>
                <a:cs typeface="Calibri"/>
              </a:rPr>
              <a:t>factorization </a:t>
            </a:r>
            <a:r>
              <a:rPr dirty="0" sz="3000" b="0">
                <a:solidFill>
                  <a:srgbClr val="C00000"/>
                </a:solidFill>
                <a:latin typeface="Cambria Math"/>
                <a:cs typeface="Cambria Math"/>
              </a:rPr>
              <a:t>𝐴  = </a:t>
            </a:r>
            <a:r>
              <a:rPr dirty="0" sz="3000" spc="225" b="0">
                <a:solidFill>
                  <a:srgbClr val="C00000"/>
                </a:solidFill>
                <a:latin typeface="Cambria Math"/>
                <a:cs typeface="Cambria Math"/>
              </a:rPr>
              <a:t>𝑍</a:t>
            </a:r>
            <a:r>
              <a:rPr dirty="0" baseline="27777" sz="3300" spc="337" b="0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r>
              <a:rPr dirty="0" sz="3000" spc="225" b="0">
                <a:solidFill>
                  <a:srgbClr val="C00000"/>
                </a:solidFill>
                <a:latin typeface="Cambria Math"/>
                <a:cs typeface="Cambria Math"/>
              </a:rPr>
              <a:t>𝑍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generally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not</a:t>
            </a:r>
            <a:r>
              <a:rPr dirty="0" sz="3000" spc="-3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possible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541523"/>
            <a:ext cx="6464935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454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45">
                <a:latin typeface="Calibri"/>
                <a:cs typeface="Calibri"/>
              </a:rPr>
              <a:t>However, </a:t>
            </a:r>
            <a:r>
              <a:rPr dirty="0" sz="3000" spc="-15">
                <a:latin typeface="Calibri"/>
                <a:cs typeface="Calibri"/>
              </a:rPr>
              <a:t>we can </a:t>
            </a:r>
            <a:r>
              <a:rPr dirty="0" sz="3000" spc="-5">
                <a:latin typeface="Calibri"/>
                <a:cs typeface="Calibri"/>
              </a:rPr>
              <a:t>learn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sz="3000" spc="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000" spc="-20">
                <a:latin typeface="Calibri"/>
                <a:cs typeface="Calibri"/>
              </a:rPr>
              <a:t>approximately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3454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Objective</a:t>
            </a:r>
            <a:r>
              <a:rPr dirty="0" sz="3000" spc="-5">
                <a:latin typeface="Calibri"/>
                <a:cs typeface="Calibri"/>
              </a:rPr>
              <a:t>:</a:t>
            </a:r>
            <a:r>
              <a:rPr dirty="0" sz="3000" spc="-5">
                <a:solidFill>
                  <a:srgbClr val="C00000"/>
                </a:solidFill>
                <a:latin typeface="Cambria Math"/>
                <a:cs typeface="Cambria Math"/>
              </a:rPr>
              <a:t>min </a:t>
            </a:r>
            <a:r>
              <a:rPr dirty="0" sz="3000">
                <a:solidFill>
                  <a:srgbClr val="C00000"/>
                </a:solidFill>
                <a:latin typeface="Cambria Math"/>
                <a:cs typeface="Cambria Math"/>
              </a:rPr>
              <a:t>∥ A − </a:t>
            </a:r>
            <a:r>
              <a:rPr dirty="0" sz="3000" spc="18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baseline="27777" sz="3300" spc="270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r>
              <a:rPr dirty="0" sz="3000" spc="18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sz="3000" spc="45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000" spc="-190">
                <a:solidFill>
                  <a:srgbClr val="C00000"/>
                </a:solidFill>
                <a:latin typeface="Cambria Math"/>
                <a:cs typeface="Cambria Math"/>
              </a:rPr>
              <a:t>∥</a:t>
            </a:r>
            <a:r>
              <a:rPr dirty="0" baseline="-15151" sz="3300" spc="-284">
                <a:solidFill>
                  <a:srgbClr val="C00000"/>
                </a:solidFill>
                <a:latin typeface="Cambria Math"/>
                <a:cs typeface="Cambria Math"/>
              </a:rPr>
              <a:t>+</a:t>
            </a:r>
            <a:endParaRPr baseline="-15151" sz="3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295396"/>
            <a:ext cx="8136255" cy="308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73605">
              <a:lnSpc>
                <a:spcPts val="2450"/>
              </a:lnSpc>
              <a:spcBef>
                <a:spcPts val="100"/>
              </a:spcBef>
            </a:pPr>
            <a:r>
              <a:rPr dirty="0" sz="2200" spc="375">
                <a:solidFill>
                  <a:srgbClr val="C00000"/>
                </a:solidFill>
                <a:latin typeface="Cambria Math"/>
                <a:cs typeface="Cambria Math"/>
              </a:rPr>
              <a:t>*</a:t>
            </a:r>
            <a:endParaRPr sz="2200">
              <a:latin typeface="Cambria Math"/>
              <a:cs typeface="Cambria Math"/>
            </a:endParaRPr>
          </a:p>
          <a:p>
            <a:pPr marL="625475" marR="841375" indent="-274320">
              <a:lnSpc>
                <a:spcPts val="2810"/>
              </a:lnSpc>
              <a:spcBef>
                <a:spcPts val="1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0">
                <a:latin typeface="Calibri"/>
                <a:cs typeface="Calibri"/>
              </a:rPr>
              <a:t>We </a:t>
            </a:r>
            <a:r>
              <a:rPr dirty="0" sz="2600" spc="-15">
                <a:latin typeface="Calibri"/>
                <a:cs typeface="Calibri"/>
              </a:rPr>
              <a:t>optimize </a:t>
            </a: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𝒁 </a:t>
            </a:r>
            <a:r>
              <a:rPr dirty="0" sz="2600" spc="-5">
                <a:latin typeface="Calibri"/>
                <a:cs typeface="Calibri"/>
              </a:rPr>
              <a:t>such </a:t>
            </a:r>
            <a:r>
              <a:rPr dirty="0" sz="2600" spc="-10">
                <a:latin typeface="Calibri"/>
                <a:cs typeface="Calibri"/>
              </a:rPr>
              <a:t>that </a:t>
            </a:r>
            <a:r>
              <a:rPr dirty="0" sz="2600">
                <a:latin typeface="Calibri"/>
                <a:cs typeface="Calibri"/>
              </a:rPr>
              <a:t>it </a:t>
            </a:r>
            <a:r>
              <a:rPr dirty="0" sz="2600" spc="-10">
                <a:latin typeface="Calibri"/>
                <a:cs typeface="Calibri"/>
              </a:rPr>
              <a:t>minimizes </a:t>
            </a:r>
            <a:r>
              <a:rPr dirty="0" sz="2600" spc="-5">
                <a:latin typeface="Calibri"/>
                <a:cs typeface="Calibri"/>
              </a:rPr>
              <a:t>the L2 </a:t>
            </a:r>
            <a:r>
              <a:rPr dirty="0" sz="2600" spc="-135">
                <a:latin typeface="Calibri"/>
                <a:cs typeface="Calibri"/>
              </a:rPr>
              <a:t>norm  </a:t>
            </a:r>
            <a:r>
              <a:rPr dirty="0" sz="2600" spc="-10">
                <a:latin typeface="Calibri"/>
                <a:cs typeface="Calibri"/>
              </a:rPr>
              <a:t>(Frobenius </a:t>
            </a:r>
            <a:r>
              <a:rPr dirty="0" sz="2600" spc="-5">
                <a:latin typeface="Calibri"/>
                <a:cs typeface="Calibri"/>
              </a:rPr>
              <a:t>norm)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A −</a:t>
            </a:r>
            <a:r>
              <a:rPr dirty="0" sz="2600" spc="-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600" spc="-14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baseline="27777" sz="2850" spc="-209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r>
              <a:rPr dirty="0" sz="2600" spc="-14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endParaRPr sz="2600">
              <a:latin typeface="Cambria Math"/>
              <a:cs typeface="Cambria Math"/>
            </a:endParaRPr>
          </a:p>
          <a:p>
            <a:pPr marL="625475" marR="5080" indent="-274320">
              <a:lnSpc>
                <a:spcPts val="2780"/>
              </a:lnSpc>
              <a:spcBef>
                <a:spcPts val="6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Note </a:t>
            </a:r>
            <a:r>
              <a:rPr dirty="0" sz="2600">
                <a:latin typeface="Calibri"/>
                <a:cs typeface="Calibri"/>
              </a:rPr>
              <a:t>in </a:t>
            </a:r>
            <a:r>
              <a:rPr dirty="0" sz="2600" spc="-10">
                <a:latin typeface="Calibri"/>
                <a:cs typeface="Calibri"/>
              </a:rPr>
              <a:t>lecture </a:t>
            </a:r>
            <a:r>
              <a:rPr dirty="0" sz="2600">
                <a:latin typeface="Calibri"/>
                <a:cs typeface="Calibri"/>
              </a:rPr>
              <a:t>3 </a:t>
            </a:r>
            <a:r>
              <a:rPr dirty="0" sz="2600" spc="-10">
                <a:latin typeface="Calibri"/>
                <a:cs typeface="Calibri"/>
              </a:rPr>
              <a:t>we </a:t>
            </a:r>
            <a:r>
              <a:rPr dirty="0" sz="2600" spc="-5">
                <a:latin typeface="Calibri"/>
                <a:cs typeface="Calibri"/>
              </a:rPr>
              <a:t>used </a:t>
            </a:r>
            <a:r>
              <a:rPr dirty="0" sz="2600" spc="-10">
                <a:latin typeface="Calibri"/>
                <a:cs typeface="Calibri"/>
              </a:rPr>
              <a:t>softmax </a:t>
            </a:r>
            <a:r>
              <a:rPr dirty="0" sz="2600" spc="-15">
                <a:latin typeface="Calibri"/>
                <a:cs typeface="Calibri"/>
              </a:rPr>
              <a:t>instead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10">
                <a:latin typeface="Calibri"/>
                <a:cs typeface="Calibri"/>
              </a:rPr>
              <a:t>L2. </a:t>
            </a:r>
            <a:r>
              <a:rPr dirty="0" sz="2600" spc="-5">
                <a:latin typeface="Calibri"/>
                <a:cs typeface="Calibri"/>
              </a:rPr>
              <a:t>But </a:t>
            </a:r>
            <a:r>
              <a:rPr dirty="0" sz="2600" spc="-185">
                <a:latin typeface="Calibri"/>
                <a:cs typeface="Calibri"/>
              </a:rPr>
              <a:t>the  </a:t>
            </a:r>
            <a:r>
              <a:rPr dirty="0" sz="2600" spc="-5">
                <a:latin typeface="Calibri"/>
                <a:cs typeface="Calibri"/>
              </a:rPr>
              <a:t>goal </a:t>
            </a:r>
            <a:r>
              <a:rPr dirty="0" sz="2600" spc="-15">
                <a:latin typeface="Calibri"/>
                <a:cs typeface="Calibri"/>
              </a:rPr>
              <a:t>to approximate </a:t>
            </a: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A </a:t>
            </a:r>
            <a:r>
              <a:rPr dirty="0" sz="2600">
                <a:latin typeface="Calibri"/>
                <a:cs typeface="Calibri"/>
              </a:rPr>
              <a:t>with </a:t>
            </a:r>
            <a:r>
              <a:rPr dirty="0" sz="2600" spc="-140">
                <a:solidFill>
                  <a:srgbClr val="C00000"/>
                </a:solidFill>
                <a:latin typeface="Cambria Math"/>
                <a:cs typeface="Cambria Math"/>
              </a:rPr>
              <a:t>𝒁</a:t>
            </a:r>
            <a:r>
              <a:rPr dirty="0" baseline="27777" sz="2850" spc="-209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r>
              <a:rPr dirty="0" sz="2600" spc="-140">
                <a:solidFill>
                  <a:srgbClr val="C00000"/>
                </a:solidFill>
                <a:latin typeface="Cambria Math"/>
                <a:cs typeface="Cambria Math"/>
              </a:rPr>
              <a:t>𝒁 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 spc="-30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same.</a:t>
            </a:r>
            <a:endParaRPr sz="2600">
              <a:latin typeface="Calibri"/>
              <a:cs typeface="Calibri"/>
            </a:endParaRPr>
          </a:p>
          <a:p>
            <a:pPr marL="332740" marR="692785" indent="-320040">
              <a:lnSpc>
                <a:spcPts val="3190"/>
              </a:lnSpc>
              <a:spcBef>
                <a:spcPts val="10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Conclusion: </a:t>
            </a:r>
            <a:r>
              <a:rPr dirty="0" sz="3000" b="1">
                <a:solidFill>
                  <a:srgbClr val="0070C0"/>
                </a:solidFill>
                <a:latin typeface="Calibri"/>
                <a:cs typeface="Calibri"/>
              </a:rPr>
              <a:t>inner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product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decoder with </a:t>
            </a:r>
            <a:r>
              <a:rPr dirty="0" sz="3000" b="1">
                <a:solidFill>
                  <a:srgbClr val="0070C0"/>
                </a:solidFill>
                <a:latin typeface="Calibri"/>
                <a:cs typeface="Calibri"/>
              </a:rPr>
              <a:t>node 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similarity defined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by edge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connectivity </a:t>
            </a:r>
            <a:r>
              <a:rPr dirty="0" sz="3000" b="1">
                <a:solidFill>
                  <a:srgbClr val="0070C0"/>
                </a:solidFill>
                <a:latin typeface="Calibri"/>
                <a:cs typeface="Calibri"/>
              </a:rPr>
              <a:t>is 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equivalent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z="3000" spc="-10" b="1">
                <a:solidFill>
                  <a:srgbClr val="FF0066"/>
                </a:solidFill>
                <a:latin typeface="Calibri"/>
                <a:cs typeface="Calibri"/>
              </a:rPr>
              <a:t>matrix </a:t>
            </a:r>
            <a:r>
              <a:rPr dirty="0" sz="3000" spc="-20" b="1">
                <a:solidFill>
                  <a:srgbClr val="FF0066"/>
                </a:solidFill>
                <a:latin typeface="Calibri"/>
                <a:cs typeface="Calibri"/>
              </a:rPr>
              <a:t>factorization </a:t>
            </a:r>
            <a:r>
              <a:rPr dirty="0" sz="3000" spc="-5" b="1">
                <a:solidFill>
                  <a:srgbClr val="FF0066"/>
                </a:solidFill>
                <a:latin typeface="Calibri"/>
                <a:cs typeface="Calibri"/>
              </a:rPr>
              <a:t>of</a:t>
            </a:r>
            <a:r>
              <a:rPr dirty="0" sz="3000" spc="15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0066"/>
                </a:solidFill>
                <a:latin typeface="Cambria Math"/>
                <a:cs typeface="Cambria Math"/>
              </a:rPr>
              <a:t>𝑨</a:t>
            </a:r>
            <a:endParaRPr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2246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29525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0000"/>
                </a:solidFill>
              </a:rPr>
              <a:t>DeepWalk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-10">
                <a:solidFill>
                  <a:srgbClr val="000000"/>
                </a:solidFill>
              </a:rPr>
              <a:t>node2vec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have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more  complex </a:t>
            </a:r>
            <a:r>
              <a:rPr dirty="0" spc="-5">
                <a:solidFill>
                  <a:srgbClr val="C00000"/>
                </a:solidFill>
              </a:rPr>
              <a:t>node similarity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definition based on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random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walks</a:t>
            </a: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0000"/>
                </a:solidFill>
              </a:rPr>
              <a:t>DeepWalk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equivalent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8149" y="3305555"/>
            <a:ext cx="7416800" cy="99504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z="3200" spc="-15">
                <a:latin typeface="Calibri"/>
                <a:cs typeface="Calibri"/>
              </a:rPr>
              <a:t>factorization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following </a:t>
            </a:r>
            <a:r>
              <a:rPr dirty="0" sz="3200" spc="-15">
                <a:latin typeface="Calibri"/>
                <a:cs typeface="Calibri"/>
              </a:rPr>
              <a:t>complex </a:t>
            </a:r>
            <a:r>
              <a:rPr dirty="0" sz="3200" spc="-5">
                <a:latin typeface="Calibri"/>
                <a:cs typeface="Calibri"/>
              </a:rPr>
              <a:t>matrix  </a:t>
            </a:r>
            <a:r>
              <a:rPr dirty="0" sz="3200" spc="-15">
                <a:latin typeface="Calibri"/>
                <a:cs typeface="Calibri"/>
              </a:rPr>
              <a:t>expression: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45895" y="4499299"/>
            <a:ext cx="4371975" cy="602615"/>
          </a:xfrm>
          <a:custGeom>
            <a:avLst/>
            <a:gdLst/>
            <a:ahLst/>
            <a:cxnLst/>
            <a:rect l="l" t="t" r="r" b="b"/>
            <a:pathLst>
              <a:path w="4371975" h="602614">
                <a:moveTo>
                  <a:pt x="4264644" y="0"/>
                </a:moveTo>
                <a:lnTo>
                  <a:pt x="4256012" y="9972"/>
                </a:lnTo>
                <a:lnTo>
                  <a:pt x="4274020" y="29803"/>
                </a:lnTo>
                <a:lnTo>
                  <a:pt x="4290391" y="54471"/>
                </a:lnTo>
                <a:lnTo>
                  <a:pt x="4318223" y="118319"/>
                </a:lnTo>
                <a:lnTo>
                  <a:pt x="4328966" y="157312"/>
                </a:lnTo>
                <a:lnTo>
                  <a:pt x="4336640" y="200769"/>
                </a:lnTo>
                <a:lnTo>
                  <a:pt x="4341245" y="248692"/>
                </a:lnTo>
                <a:lnTo>
                  <a:pt x="4342779" y="301080"/>
                </a:lnTo>
                <a:lnTo>
                  <a:pt x="4341245" y="353467"/>
                </a:lnTo>
                <a:lnTo>
                  <a:pt x="4336640" y="401390"/>
                </a:lnTo>
                <a:lnTo>
                  <a:pt x="4328966" y="444847"/>
                </a:lnTo>
                <a:lnTo>
                  <a:pt x="4318223" y="483840"/>
                </a:lnTo>
                <a:lnTo>
                  <a:pt x="4290391" y="547687"/>
                </a:lnTo>
                <a:lnTo>
                  <a:pt x="4256012" y="592187"/>
                </a:lnTo>
                <a:lnTo>
                  <a:pt x="4264644" y="602159"/>
                </a:lnTo>
                <a:lnTo>
                  <a:pt x="4304902" y="557827"/>
                </a:lnTo>
                <a:lnTo>
                  <a:pt x="4339654" y="492100"/>
                </a:lnTo>
                <a:lnTo>
                  <a:pt x="4353653" y="451494"/>
                </a:lnTo>
                <a:lnTo>
                  <a:pt x="4363652" y="406096"/>
                </a:lnTo>
                <a:lnTo>
                  <a:pt x="4369652" y="355909"/>
                </a:lnTo>
                <a:lnTo>
                  <a:pt x="4371652" y="300931"/>
                </a:lnTo>
                <a:lnTo>
                  <a:pt x="4369652" y="246083"/>
                </a:lnTo>
                <a:lnTo>
                  <a:pt x="4363652" y="195988"/>
                </a:lnTo>
                <a:lnTo>
                  <a:pt x="4353653" y="150647"/>
                </a:lnTo>
                <a:lnTo>
                  <a:pt x="4339654" y="110059"/>
                </a:lnTo>
                <a:lnTo>
                  <a:pt x="4322966" y="74521"/>
                </a:lnTo>
                <a:lnTo>
                  <a:pt x="4285461" y="19492"/>
                </a:lnTo>
                <a:lnTo>
                  <a:pt x="4264644" y="0"/>
                </a:lnTo>
                <a:close/>
              </a:path>
              <a:path w="4371975" h="602614">
                <a:moveTo>
                  <a:pt x="107002" y="0"/>
                </a:moveTo>
                <a:lnTo>
                  <a:pt x="66744" y="44332"/>
                </a:lnTo>
                <a:lnTo>
                  <a:pt x="31993" y="110059"/>
                </a:lnTo>
                <a:lnTo>
                  <a:pt x="17994" y="150647"/>
                </a:lnTo>
                <a:lnTo>
                  <a:pt x="7994" y="195988"/>
                </a:lnTo>
                <a:lnTo>
                  <a:pt x="1994" y="246083"/>
                </a:lnTo>
                <a:lnTo>
                  <a:pt x="0" y="301080"/>
                </a:lnTo>
                <a:lnTo>
                  <a:pt x="1994" y="355909"/>
                </a:lnTo>
                <a:lnTo>
                  <a:pt x="7994" y="406096"/>
                </a:lnTo>
                <a:lnTo>
                  <a:pt x="17994" y="451494"/>
                </a:lnTo>
                <a:lnTo>
                  <a:pt x="31993" y="492100"/>
                </a:lnTo>
                <a:lnTo>
                  <a:pt x="48680" y="527638"/>
                </a:lnTo>
                <a:lnTo>
                  <a:pt x="86185" y="582667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6" y="572355"/>
                </a:lnTo>
                <a:lnTo>
                  <a:pt x="81254" y="547687"/>
                </a:lnTo>
                <a:lnTo>
                  <a:pt x="53424" y="483840"/>
                </a:lnTo>
                <a:lnTo>
                  <a:pt x="42681" y="444847"/>
                </a:lnTo>
                <a:lnTo>
                  <a:pt x="35007" y="401390"/>
                </a:lnTo>
                <a:lnTo>
                  <a:pt x="30402" y="353467"/>
                </a:lnTo>
                <a:lnTo>
                  <a:pt x="28872" y="300931"/>
                </a:lnTo>
                <a:lnTo>
                  <a:pt x="30402" y="248692"/>
                </a:lnTo>
                <a:lnTo>
                  <a:pt x="35007" y="200769"/>
                </a:lnTo>
                <a:lnTo>
                  <a:pt x="42681" y="157312"/>
                </a:lnTo>
                <a:lnTo>
                  <a:pt x="53424" y="118319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40317" y="4499299"/>
            <a:ext cx="2552700" cy="602615"/>
          </a:xfrm>
          <a:custGeom>
            <a:avLst/>
            <a:gdLst/>
            <a:ahLst/>
            <a:cxnLst/>
            <a:rect l="l" t="t" r="r" b="b"/>
            <a:pathLst>
              <a:path w="2552700" h="602614">
                <a:moveTo>
                  <a:pt x="2445559" y="0"/>
                </a:moveTo>
                <a:lnTo>
                  <a:pt x="2436927" y="9972"/>
                </a:lnTo>
                <a:lnTo>
                  <a:pt x="2454936" y="29803"/>
                </a:lnTo>
                <a:lnTo>
                  <a:pt x="2471307" y="54471"/>
                </a:lnTo>
                <a:lnTo>
                  <a:pt x="2499138" y="118319"/>
                </a:lnTo>
                <a:lnTo>
                  <a:pt x="2509881" y="157312"/>
                </a:lnTo>
                <a:lnTo>
                  <a:pt x="2517555" y="200769"/>
                </a:lnTo>
                <a:lnTo>
                  <a:pt x="2522160" y="248692"/>
                </a:lnTo>
                <a:lnTo>
                  <a:pt x="2523695" y="301080"/>
                </a:lnTo>
                <a:lnTo>
                  <a:pt x="2522160" y="353467"/>
                </a:lnTo>
                <a:lnTo>
                  <a:pt x="2517555" y="401390"/>
                </a:lnTo>
                <a:lnTo>
                  <a:pt x="2509881" y="444847"/>
                </a:lnTo>
                <a:lnTo>
                  <a:pt x="2499138" y="483840"/>
                </a:lnTo>
                <a:lnTo>
                  <a:pt x="2471307" y="547687"/>
                </a:lnTo>
                <a:lnTo>
                  <a:pt x="2436927" y="592187"/>
                </a:lnTo>
                <a:lnTo>
                  <a:pt x="2445559" y="602159"/>
                </a:lnTo>
                <a:lnTo>
                  <a:pt x="2485818" y="557827"/>
                </a:lnTo>
                <a:lnTo>
                  <a:pt x="2520569" y="492100"/>
                </a:lnTo>
                <a:lnTo>
                  <a:pt x="2534569" y="451494"/>
                </a:lnTo>
                <a:lnTo>
                  <a:pt x="2544568" y="406096"/>
                </a:lnTo>
                <a:lnTo>
                  <a:pt x="2550567" y="355909"/>
                </a:lnTo>
                <a:lnTo>
                  <a:pt x="2552567" y="300931"/>
                </a:lnTo>
                <a:lnTo>
                  <a:pt x="2550567" y="246083"/>
                </a:lnTo>
                <a:lnTo>
                  <a:pt x="2544568" y="195988"/>
                </a:lnTo>
                <a:lnTo>
                  <a:pt x="2534569" y="150647"/>
                </a:lnTo>
                <a:lnTo>
                  <a:pt x="2520569" y="110059"/>
                </a:lnTo>
                <a:lnTo>
                  <a:pt x="2503882" y="74521"/>
                </a:lnTo>
                <a:lnTo>
                  <a:pt x="2466377" y="19492"/>
                </a:lnTo>
                <a:lnTo>
                  <a:pt x="2445559" y="0"/>
                </a:lnTo>
                <a:close/>
              </a:path>
              <a:path w="2552700" h="602614">
                <a:moveTo>
                  <a:pt x="107002" y="0"/>
                </a:moveTo>
                <a:lnTo>
                  <a:pt x="66744" y="44332"/>
                </a:lnTo>
                <a:lnTo>
                  <a:pt x="31992" y="110059"/>
                </a:lnTo>
                <a:lnTo>
                  <a:pt x="17993" y="150647"/>
                </a:lnTo>
                <a:lnTo>
                  <a:pt x="7994" y="195988"/>
                </a:lnTo>
                <a:lnTo>
                  <a:pt x="1994" y="246083"/>
                </a:lnTo>
                <a:lnTo>
                  <a:pt x="0" y="301080"/>
                </a:lnTo>
                <a:lnTo>
                  <a:pt x="1994" y="355909"/>
                </a:lnTo>
                <a:lnTo>
                  <a:pt x="7994" y="406096"/>
                </a:lnTo>
                <a:lnTo>
                  <a:pt x="17993" y="451494"/>
                </a:lnTo>
                <a:lnTo>
                  <a:pt x="31992" y="492100"/>
                </a:lnTo>
                <a:lnTo>
                  <a:pt x="48679" y="527638"/>
                </a:lnTo>
                <a:lnTo>
                  <a:pt x="86184" y="582667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80" y="444847"/>
                </a:lnTo>
                <a:lnTo>
                  <a:pt x="35006" y="401390"/>
                </a:lnTo>
                <a:lnTo>
                  <a:pt x="30402" y="353467"/>
                </a:lnTo>
                <a:lnTo>
                  <a:pt x="28872" y="300931"/>
                </a:lnTo>
                <a:lnTo>
                  <a:pt x="30402" y="248692"/>
                </a:lnTo>
                <a:lnTo>
                  <a:pt x="35006" y="200769"/>
                </a:lnTo>
                <a:lnTo>
                  <a:pt x="42680" y="157312"/>
                </a:lnTo>
                <a:lnTo>
                  <a:pt x="53423" y="118319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34213" y="4798479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429261" y="4339844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1607381" y="4568444"/>
            <a:ext cx="2546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3575" algn="l"/>
                <a:tab pos="1824355" algn="l"/>
              </a:tabLst>
            </a:pPr>
            <a:r>
              <a:rPr dirty="0" sz="2400" spc="-5">
                <a:latin typeface="Cambria Math"/>
                <a:cs typeface="Cambria Math"/>
              </a:rPr>
              <a:t>𝑙𝑜𝑔	</a:t>
            </a:r>
            <a:r>
              <a:rPr dirty="0" sz="2400" spc="25">
                <a:latin typeface="Cambria Math"/>
                <a:cs typeface="Cambria Math"/>
              </a:rPr>
              <a:t>𝑣𝑜𝑙(𝐺)	</a:t>
            </a:r>
            <a:r>
              <a:rPr dirty="0" baseline="-37037" sz="3600">
                <a:latin typeface="Cambria Math"/>
                <a:cs typeface="Cambria Math"/>
              </a:rPr>
              <a:t>𝑇</a:t>
            </a:r>
            <a:r>
              <a:rPr dirty="0" baseline="-37037" sz="3600" spc="509">
                <a:latin typeface="Cambria Math"/>
                <a:cs typeface="Cambria Math"/>
              </a:rPr>
              <a:t> </a:t>
            </a:r>
            <a:r>
              <a:rPr dirty="0" sz="2400" spc="1960">
                <a:latin typeface="Cambria Math"/>
                <a:cs typeface="Cambria Math"/>
              </a:rPr>
              <a:t>$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855336"/>
            <a:ext cx="8114665" cy="152400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ctr" marR="476250">
              <a:lnSpc>
                <a:spcPct val="100000"/>
              </a:lnSpc>
              <a:spcBef>
                <a:spcPts val="430"/>
              </a:spcBef>
            </a:pPr>
            <a:r>
              <a:rPr dirty="0" sz="1800" spc="175">
                <a:latin typeface="Cambria Math"/>
                <a:cs typeface="Cambria Math"/>
              </a:rPr>
              <a:t>12)</a:t>
            </a:r>
            <a:endParaRPr sz="1800">
              <a:latin typeface="Cambria Math"/>
              <a:cs typeface="Cambria Math"/>
            </a:endParaRPr>
          </a:p>
          <a:p>
            <a:pPr marL="414655" indent="-320040">
              <a:lnSpc>
                <a:spcPct val="100000"/>
              </a:lnSpc>
              <a:spcBef>
                <a:spcPts val="5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15290" algn="l"/>
              </a:tabLst>
            </a:pP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Explanation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in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next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 slide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85"/>
              </a:spcBef>
            </a:pPr>
            <a:r>
              <a:rPr dirty="0" sz="1400" spc="-5" u="sng">
                <a:solidFill>
                  <a:srgbClr val="168BBA"/>
                </a:solidFill>
                <a:latin typeface="Arial"/>
                <a:cs typeface="Arial"/>
              </a:rPr>
              <a:t>Network Embedding as Matrix Factorization: Unifying </a:t>
            </a:r>
            <a:r>
              <a:rPr dirty="0" sz="1400" spc="-10" u="sng">
                <a:solidFill>
                  <a:srgbClr val="168BBA"/>
                </a:solidFill>
                <a:latin typeface="Arial"/>
                <a:cs typeface="Arial"/>
              </a:rPr>
              <a:t>DeepWalk, </a:t>
            </a:r>
            <a:r>
              <a:rPr dirty="0" sz="1400" spc="-5" u="sng">
                <a:solidFill>
                  <a:srgbClr val="168BBA"/>
                </a:solidFill>
                <a:latin typeface="Arial"/>
                <a:cs typeface="Arial"/>
              </a:rPr>
              <a:t>LINE, PTE, and node2vec</a:t>
            </a:r>
            <a:r>
              <a:rPr dirty="0" sz="1400" spc="-5">
                <a:latin typeface="Arial"/>
                <a:cs typeface="Arial"/>
              </a:rPr>
              <a:t>, </a:t>
            </a:r>
            <a:r>
              <a:rPr dirty="0" sz="1400">
                <a:latin typeface="Arial"/>
                <a:cs typeface="Arial"/>
              </a:rPr>
              <a:t>WSDM</a:t>
            </a:r>
            <a:r>
              <a:rPr dirty="0" sz="1400" spc="3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8776" y="4336796"/>
            <a:ext cx="166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3812" y="4568444"/>
            <a:ext cx="1120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(</a:t>
            </a:r>
            <a:r>
              <a:rPr dirty="0" sz="2400" spc="65">
                <a:latin typeface="Cambria Math"/>
                <a:cs typeface="Cambria Math"/>
              </a:rPr>
              <a:t>𝐷</a:t>
            </a:r>
            <a:r>
              <a:rPr dirty="0" baseline="26234" sz="2700" spc="412">
                <a:latin typeface="Cambria Math"/>
                <a:cs typeface="Cambria Math"/>
              </a:rPr>
              <a:t>3</a:t>
            </a:r>
            <a:r>
              <a:rPr dirty="0" baseline="26234" sz="2700" spc="502">
                <a:latin typeface="Cambria Math"/>
                <a:cs typeface="Cambria Math"/>
              </a:rPr>
              <a:t>)</a:t>
            </a:r>
            <a:r>
              <a:rPr dirty="0" sz="2400" spc="25">
                <a:latin typeface="Cambria Math"/>
                <a:cs typeface="Cambria Math"/>
              </a:rPr>
              <a:t>𝐴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baseline="26234" sz="2700" spc="-67">
                <a:latin typeface="Cambria Math"/>
                <a:cs typeface="Cambria Math"/>
              </a:rPr>
              <a:t>1</a:t>
            </a:r>
            <a:endParaRPr baseline="26234" sz="27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56293" y="4458715"/>
            <a:ext cx="5397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675" sz="3600" spc="97">
                <a:latin typeface="Cambria Math"/>
                <a:cs typeface="Cambria Math"/>
              </a:rPr>
              <a:t>𝐷</a:t>
            </a:r>
            <a:r>
              <a:rPr dirty="0" sz="1800" spc="275">
                <a:latin typeface="Cambria Math"/>
                <a:cs typeface="Cambria Math"/>
              </a:rPr>
              <a:t>3</a:t>
            </a:r>
            <a:r>
              <a:rPr dirty="0" sz="1800" spc="28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97911" y="4568444"/>
            <a:ext cx="930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− </a:t>
            </a:r>
            <a:r>
              <a:rPr dirty="0" sz="2400" spc="-5">
                <a:latin typeface="Cambria Math"/>
                <a:cs typeface="Cambria Math"/>
              </a:rPr>
              <a:t>log</a:t>
            </a:r>
            <a:r>
              <a:rPr dirty="0" sz="2400" spc="-2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2246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5940" y="4765548"/>
            <a:ext cx="8114030" cy="181165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14655" marR="252729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15290" algn="l"/>
              </a:tabLst>
            </a:pPr>
            <a:r>
              <a:rPr dirty="0" sz="3200" spc="-5" b="1">
                <a:latin typeface="Calibri"/>
                <a:cs typeface="Calibri"/>
              </a:rPr>
              <a:t>Node2vec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also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15">
                <a:latin typeface="Calibri"/>
                <a:cs typeface="Calibri"/>
              </a:rPr>
              <a:t>formulated </a:t>
            </a:r>
            <a:r>
              <a:rPr dirty="0" sz="3200">
                <a:latin typeface="Calibri"/>
                <a:cs typeface="Calibri"/>
              </a:rPr>
              <a:t>as a </a:t>
            </a:r>
            <a:r>
              <a:rPr dirty="0" sz="3200" spc="-5">
                <a:latin typeface="Calibri"/>
                <a:cs typeface="Calibri"/>
              </a:rPr>
              <a:t>matrix  </a:t>
            </a:r>
            <a:r>
              <a:rPr dirty="0" sz="3200" spc="-15">
                <a:latin typeface="Calibri"/>
                <a:cs typeface="Calibri"/>
              </a:rPr>
              <a:t>factorization </a:t>
            </a:r>
            <a:r>
              <a:rPr dirty="0" sz="3200" spc="-5">
                <a:latin typeface="Calibri"/>
                <a:cs typeface="Calibri"/>
              </a:rPr>
              <a:t>(albeit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5">
                <a:latin typeface="Calibri"/>
                <a:cs typeface="Calibri"/>
              </a:rPr>
              <a:t>more complex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matrix)</a:t>
            </a:r>
            <a:endParaRPr sz="3200">
              <a:latin typeface="Calibri"/>
              <a:cs typeface="Calibri"/>
            </a:endParaRPr>
          </a:p>
          <a:p>
            <a:pPr marL="414655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415290" algn="l"/>
              </a:tabLst>
            </a:pPr>
            <a:r>
              <a:rPr dirty="0" sz="3200" spc="-40">
                <a:latin typeface="Calibri"/>
                <a:cs typeface="Calibri"/>
              </a:rPr>
              <a:t>Refer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paper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15">
                <a:latin typeface="Calibri"/>
                <a:cs typeface="Calibri"/>
              </a:rPr>
              <a:t>more </a:t>
            </a:r>
            <a:r>
              <a:rPr dirty="0" sz="3200" spc="-10">
                <a:latin typeface="Calibri"/>
                <a:cs typeface="Calibri"/>
              </a:rPr>
              <a:t>detailed</a:t>
            </a:r>
            <a:r>
              <a:rPr dirty="0" sz="3200" spc="8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proofs.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spc="-5">
                <a:latin typeface="Arial"/>
                <a:cs typeface="Arial"/>
              </a:rPr>
              <a:t>Network Embedding as Matrix Factorization: Unifying </a:t>
            </a:r>
            <a:r>
              <a:rPr dirty="0" sz="1400" spc="-10">
                <a:latin typeface="Arial"/>
                <a:cs typeface="Arial"/>
              </a:rPr>
              <a:t>DeepWalk, </a:t>
            </a:r>
            <a:r>
              <a:rPr dirty="0" sz="1400" spc="-5">
                <a:latin typeface="Arial"/>
                <a:cs typeface="Arial"/>
              </a:rPr>
              <a:t>LINE, PTE, and node2vec, </a:t>
            </a:r>
            <a:r>
              <a:rPr dirty="0" sz="1400">
                <a:latin typeface="Arial"/>
                <a:cs typeface="Arial"/>
              </a:rPr>
              <a:t>WSDM</a:t>
            </a:r>
            <a:r>
              <a:rPr dirty="0" sz="1400" spc="3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66631" y="3186305"/>
            <a:ext cx="85725" cy="884555"/>
          </a:xfrm>
          <a:custGeom>
            <a:avLst/>
            <a:gdLst/>
            <a:ahLst/>
            <a:cxnLst/>
            <a:rect l="l" t="t" r="r" b="b"/>
            <a:pathLst>
              <a:path w="85725" h="884554">
                <a:moveTo>
                  <a:pt x="50753" y="57150"/>
                </a:moveTo>
                <a:lnTo>
                  <a:pt x="34971" y="57150"/>
                </a:lnTo>
                <a:lnTo>
                  <a:pt x="28575" y="63545"/>
                </a:lnTo>
                <a:lnTo>
                  <a:pt x="28573" y="878154"/>
                </a:lnTo>
                <a:lnTo>
                  <a:pt x="34970" y="884551"/>
                </a:lnTo>
                <a:lnTo>
                  <a:pt x="50751" y="884551"/>
                </a:lnTo>
                <a:lnTo>
                  <a:pt x="57148" y="878154"/>
                </a:lnTo>
                <a:lnTo>
                  <a:pt x="57150" y="63545"/>
                </a:lnTo>
                <a:lnTo>
                  <a:pt x="50753" y="57150"/>
                </a:lnTo>
                <a:close/>
              </a:path>
              <a:path w="85725" h="884554">
                <a:moveTo>
                  <a:pt x="42862" y="0"/>
                </a:moveTo>
                <a:lnTo>
                  <a:pt x="0" y="85725"/>
                </a:lnTo>
                <a:lnTo>
                  <a:pt x="28574" y="85725"/>
                </a:lnTo>
                <a:lnTo>
                  <a:pt x="28575" y="63545"/>
                </a:lnTo>
                <a:lnTo>
                  <a:pt x="34971" y="57150"/>
                </a:lnTo>
                <a:lnTo>
                  <a:pt x="71437" y="57150"/>
                </a:lnTo>
                <a:lnTo>
                  <a:pt x="42862" y="0"/>
                </a:lnTo>
                <a:close/>
              </a:path>
              <a:path w="85725" h="884554">
                <a:moveTo>
                  <a:pt x="71437" y="57150"/>
                </a:moveTo>
                <a:lnTo>
                  <a:pt x="50753" y="57150"/>
                </a:lnTo>
                <a:lnTo>
                  <a:pt x="57150" y="63545"/>
                </a:lnTo>
                <a:lnTo>
                  <a:pt x="57149" y="85725"/>
                </a:lnTo>
                <a:lnTo>
                  <a:pt x="85725" y="85725"/>
                </a:lnTo>
                <a:lnTo>
                  <a:pt x="71437" y="5715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66943" y="4050284"/>
            <a:ext cx="22612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Power </a:t>
            </a:r>
            <a:r>
              <a:rPr dirty="0" sz="1800" b="1">
                <a:solidFill>
                  <a:srgbClr val="E88651"/>
                </a:solidFill>
                <a:latin typeface="Arial"/>
                <a:cs typeface="Arial"/>
              </a:rPr>
              <a:t>of</a:t>
            </a:r>
            <a:r>
              <a:rPr dirty="0" sz="1800" spc="-70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normalized  adjacency</a:t>
            </a:r>
            <a:r>
              <a:rPr dirty="0" sz="1800" spc="-85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01060" y="4439554"/>
            <a:ext cx="287655" cy="212090"/>
          </a:xfrm>
          <a:custGeom>
            <a:avLst/>
            <a:gdLst/>
            <a:ahLst/>
            <a:cxnLst/>
            <a:rect l="l" t="t" r="r" b="b"/>
            <a:pathLst>
              <a:path w="287655" h="212089">
                <a:moveTo>
                  <a:pt x="219572" y="0"/>
                </a:moveTo>
                <a:lnTo>
                  <a:pt x="216559" y="8594"/>
                </a:lnTo>
                <a:lnTo>
                  <a:pt x="228816" y="13913"/>
                </a:lnTo>
                <a:lnTo>
                  <a:pt x="239358" y="21277"/>
                </a:lnTo>
                <a:lnTo>
                  <a:pt x="260761" y="55408"/>
                </a:lnTo>
                <a:lnTo>
                  <a:pt x="267793" y="104811"/>
                </a:lnTo>
                <a:lnTo>
                  <a:pt x="267008" y="123487"/>
                </a:lnTo>
                <a:lnTo>
                  <a:pt x="255235" y="169217"/>
                </a:lnTo>
                <a:lnTo>
                  <a:pt x="228959" y="197806"/>
                </a:lnTo>
                <a:lnTo>
                  <a:pt x="216894" y="203150"/>
                </a:lnTo>
                <a:lnTo>
                  <a:pt x="219572" y="211744"/>
                </a:lnTo>
                <a:lnTo>
                  <a:pt x="260028" y="187708"/>
                </a:lnTo>
                <a:lnTo>
                  <a:pt x="282750" y="143335"/>
                </a:lnTo>
                <a:lnTo>
                  <a:pt x="287103" y="105928"/>
                </a:lnTo>
                <a:lnTo>
                  <a:pt x="286012" y="86516"/>
                </a:lnTo>
                <a:lnTo>
                  <a:pt x="269634" y="37113"/>
                </a:lnTo>
                <a:lnTo>
                  <a:pt x="234924" y="5542"/>
                </a:lnTo>
                <a:lnTo>
                  <a:pt x="219572" y="0"/>
                </a:lnTo>
                <a:close/>
              </a:path>
              <a:path w="287655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83534" y="3824732"/>
            <a:ext cx="2235835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context window</a:t>
            </a:r>
            <a:r>
              <a:rPr dirty="0" sz="1800" spc="-5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size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spc="-5">
                <a:latin typeface="Arial"/>
                <a:cs typeface="Arial"/>
              </a:rPr>
              <a:t>See Lec </a:t>
            </a:r>
            <a:r>
              <a:rPr dirty="0" sz="1800">
                <a:latin typeface="Arial"/>
                <a:cs typeface="Arial"/>
              </a:rPr>
              <a:t>3 </a:t>
            </a:r>
            <a:r>
              <a:rPr dirty="0" sz="1800" spc="-5">
                <a:latin typeface="Arial"/>
                <a:cs typeface="Arial"/>
              </a:rPr>
              <a:t>slide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30: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>
                <a:latin typeface="Cambria Math"/>
                <a:cs typeface="Cambria Math"/>
              </a:rPr>
              <a:t>𝑇  = </a:t>
            </a:r>
            <a:r>
              <a:rPr dirty="0" sz="1800" spc="-155">
                <a:latin typeface="Cambria Math"/>
                <a:cs typeface="Cambria Math"/>
              </a:rPr>
              <a:t>|𝑁</a:t>
            </a:r>
            <a:r>
              <a:rPr dirty="0" baseline="-14957" sz="1950" spc="-232">
                <a:latin typeface="Cambria Math"/>
                <a:cs typeface="Cambria Math"/>
              </a:rPr>
              <a:t>%     </a:t>
            </a:r>
            <a:r>
              <a:rPr dirty="0" sz="1800">
                <a:latin typeface="Cambria Math"/>
                <a:cs typeface="Cambria Math"/>
              </a:rPr>
              <a:t>𝑢</a:t>
            </a:r>
            <a:r>
              <a:rPr dirty="0" sz="1800" spc="12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|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28582" y="3373810"/>
            <a:ext cx="941705" cy="433070"/>
          </a:xfrm>
          <a:custGeom>
            <a:avLst/>
            <a:gdLst/>
            <a:ahLst/>
            <a:cxnLst/>
            <a:rect l="l" t="t" r="r" b="b"/>
            <a:pathLst>
              <a:path w="941705" h="433070">
                <a:moveTo>
                  <a:pt x="857259" y="26100"/>
                </a:moveTo>
                <a:lnTo>
                  <a:pt x="3239" y="406618"/>
                </a:lnTo>
                <a:lnTo>
                  <a:pt x="0" y="415065"/>
                </a:lnTo>
                <a:lnTo>
                  <a:pt x="6423" y="429480"/>
                </a:lnTo>
                <a:lnTo>
                  <a:pt x="14869" y="432720"/>
                </a:lnTo>
                <a:lnTo>
                  <a:pt x="868888" y="52201"/>
                </a:lnTo>
                <a:lnTo>
                  <a:pt x="857259" y="26100"/>
                </a:lnTo>
                <a:close/>
              </a:path>
              <a:path w="941705" h="433070">
                <a:moveTo>
                  <a:pt x="930847" y="17073"/>
                </a:moveTo>
                <a:lnTo>
                  <a:pt x="877517" y="17073"/>
                </a:lnTo>
                <a:lnTo>
                  <a:pt x="885964" y="20313"/>
                </a:lnTo>
                <a:lnTo>
                  <a:pt x="892387" y="34729"/>
                </a:lnTo>
                <a:lnTo>
                  <a:pt x="889147" y="43174"/>
                </a:lnTo>
                <a:lnTo>
                  <a:pt x="868888" y="52201"/>
                </a:lnTo>
                <a:lnTo>
                  <a:pt x="880518" y="78303"/>
                </a:lnTo>
                <a:lnTo>
                  <a:pt x="930847" y="17073"/>
                </a:lnTo>
                <a:close/>
              </a:path>
              <a:path w="941705" h="433070">
                <a:moveTo>
                  <a:pt x="877517" y="17073"/>
                </a:moveTo>
                <a:lnTo>
                  <a:pt x="857259" y="26100"/>
                </a:lnTo>
                <a:lnTo>
                  <a:pt x="868888" y="52201"/>
                </a:lnTo>
                <a:lnTo>
                  <a:pt x="889147" y="43174"/>
                </a:lnTo>
                <a:lnTo>
                  <a:pt x="892387" y="34729"/>
                </a:lnTo>
                <a:lnTo>
                  <a:pt x="885964" y="20313"/>
                </a:lnTo>
                <a:lnTo>
                  <a:pt x="877517" y="17073"/>
                </a:lnTo>
                <a:close/>
              </a:path>
              <a:path w="941705" h="433070">
                <a:moveTo>
                  <a:pt x="845629" y="0"/>
                </a:moveTo>
                <a:lnTo>
                  <a:pt x="857259" y="26100"/>
                </a:lnTo>
                <a:lnTo>
                  <a:pt x="877517" y="17073"/>
                </a:lnTo>
                <a:lnTo>
                  <a:pt x="930847" y="17073"/>
                </a:lnTo>
                <a:lnTo>
                  <a:pt x="941378" y="4262"/>
                </a:lnTo>
                <a:lnTo>
                  <a:pt x="84562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427765" y="3867403"/>
            <a:ext cx="193040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Number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of 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negative</a:t>
            </a:r>
            <a:r>
              <a:rPr dirty="0" sz="1800" spc="-7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samples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39598" y="1739900"/>
            <a:ext cx="1962150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25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2060"/>
                </a:solidFill>
                <a:latin typeface="Arial"/>
                <a:cs typeface="Arial"/>
              </a:rPr>
              <a:t>Diagonal matrix</a:t>
            </a:r>
            <a:r>
              <a:rPr dirty="0" sz="1800" spc="-45" b="1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dirty="0" sz="1800">
                <a:latin typeface="Cambria Math"/>
                <a:cs typeface="Cambria Math"/>
              </a:rPr>
              <a:t>𝐷</a:t>
            </a:r>
            <a:endParaRPr sz="1800">
              <a:latin typeface="Cambria Math"/>
              <a:cs typeface="Cambria Math"/>
            </a:endParaRPr>
          </a:p>
          <a:p>
            <a:pPr algn="ctr" marL="26670">
              <a:lnSpc>
                <a:spcPts val="2125"/>
              </a:lnSpc>
            </a:pPr>
            <a:r>
              <a:rPr dirty="0" sz="1800" spc="-45">
                <a:latin typeface="Cambria Math"/>
                <a:cs typeface="Cambria Math"/>
              </a:rPr>
              <a:t>𝐷</a:t>
            </a:r>
            <a:r>
              <a:rPr dirty="0" baseline="-14957" sz="1950" spc="-67">
                <a:latin typeface="Cambria Math"/>
                <a:cs typeface="Cambria Math"/>
              </a:rPr>
              <a:t>&amp;,&amp; 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 spc="0">
                <a:latin typeface="Cambria Math"/>
                <a:cs typeface="Cambria Math"/>
              </a:rPr>
              <a:t>deg(𝑢)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76011" y="2786092"/>
            <a:ext cx="3643629" cy="502284"/>
          </a:xfrm>
          <a:custGeom>
            <a:avLst/>
            <a:gdLst/>
            <a:ahLst/>
            <a:cxnLst/>
            <a:rect l="l" t="t" r="r" b="b"/>
            <a:pathLst>
              <a:path w="3643629" h="502285">
                <a:moveTo>
                  <a:pt x="3553849" y="0"/>
                </a:moveTo>
                <a:lnTo>
                  <a:pt x="3546655" y="8309"/>
                </a:lnTo>
                <a:lnTo>
                  <a:pt x="3561662" y="24835"/>
                </a:lnTo>
                <a:lnTo>
                  <a:pt x="3575305" y="45392"/>
                </a:lnTo>
                <a:lnTo>
                  <a:pt x="3598497" y="98598"/>
                </a:lnTo>
                <a:lnTo>
                  <a:pt x="3613844" y="167307"/>
                </a:lnTo>
                <a:lnTo>
                  <a:pt x="3617681" y="207243"/>
                </a:lnTo>
                <a:lnTo>
                  <a:pt x="3618960" y="250899"/>
                </a:lnTo>
                <a:lnTo>
                  <a:pt x="3617681" y="294555"/>
                </a:lnTo>
                <a:lnTo>
                  <a:pt x="3613844" y="334491"/>
                </a:lnTo>
                <a:lnTo>
                  <a:pt x="3598497" y="403199"/>
                </a:lnTo>
                <a:lnTo>
                  <a:pt x="3575305" y="456406"/>
                </a:lnTo>
                <a:lnTo>
                  <a:pt x="3546655" y="493488"/>
                </a:lnTo>
                <a:lnTo>
                  <a:pt x="3553849" y="501798"/>
                </a:lnTo>
                <a:lnTo>
                  <a:pt x="3587397" y="464855"/>
                </a:lnTo>
                <a:lnTo>
                  <a:pt x="3616356" y="410082"/>
                </a:lnTo>
                <a:lnTo>
                  <a:pt x="3636355" y="338413"/>
                </a:lnTo>
                <a:lnTo>
                  <a:pt x="3641354" y="296590"/>
                </a:lnTo>
                <a:lnTo>
                  <a:pt x="3643020" y="250775"/>
                </a:lnTo>
                <a:lnTo>
                  <a:pt x="3641354" y="205069"/>
                </a:lnTo>
                <a:lnTo>
                  <a:pt x="3636355" y="163323"/>
                </a:lnTo>
                <a:lnTo>
                  <a:pt x="3628022" y="125539"/>
                </a:lnTo>
                <a:lnTo>
                  <a:pt x="3602450" y="62100"/>
                </a:lnTo>
                <a:lnTo>
                  <a:pt x="3571196" y="16242"/>
                </a:lnTo>
                <a:lnTo>
                  <a:pt x="3553849" y="0"/>
                </a:lnTo>
                <a:close/>
              </a:path>
              <a:path w="3643629" h="502285">
                <a:moveTo>
                  <a:pt x="89167" y="0"/>
                </a:moveTo>
                <a:lnTo>
                  <a:pt x="55619" y="36943"/>
                </a:lnTo>
                <a:lnTo>
                  <a:pt x="26660" y="91715"/>
                </a:lnTo>
                <a:lnTo>
                  <a:pt x="6661" y="163323"/>
                </a:lnTo>
                <a:lnTo>
                  <a:pt x="1661" y="205069"/>
                </a:lnTo>
                <a:lnTo>
                  <a:pt x="0" y="250899"/>
                </a:lnTo>
                <a:lnTo>
                  <a:pt x="1661" y="296590"/>
                </a:lnTo>
                <a:lnTo>
                  <a:pt x="6661" y="338413"/>
                </a:lnTo>
                <a:lnTo>
                  <a:pt x="14994" y="376244"/>
                </a:lnTo>
                <a:lnTo>
                  <a:pt x="40566" y="439697"/>
                </a:lnTo>
                <a:lnTo>
                  <a:pt x="71819" y="485555"/>
                </a:lnTo>
                <a:lnTo>
                  <a:pt x="89167" y="501798"/>
                </a:lnTo>
                <a:lnTo>
                  <a:pt x="96361" y="493488"/>
                </a:lnTo>
                <a:lnTo>
                  <a:pt x="81354" y="476963"/>
                </a:lnTo>
                <a:lnTo>
                  <a:pt x="67711" y="456406"/>
                </a:lnTo>
                <a:lnTo>
                  <a:pt x="44519" y="403199"/>
                </a:lnTo>
                <a:lnTo>
                  <a:pt x="29171" y="334491"/>
                </a:lnTo>
                <a:lnTo>
                  <a:pt x="25334" y="294555"/>
                </a:lnTo>
                <a:lnTo>
                  <a:pt x="24059" y="250775"/>
                </a:lnTo>
                <a:lnTo>
                  <a:pt x="25334" y="207243"/>
                </a:lnTo>
                <a:lnTo>
                  <a:pt x="29171" y="167307"/>
                </a:lnTo>
                <a:lnTo>
                  <a:pt x="44519" y="98598"/>
                </a:lnTo>
                <a:lnTo>
                  <a:pt x="67711" y="45392"/>
                </a:lnTo>
                <a:lnTo>
                  <a:pt x="96361" y="8309"/>
                </a:lnTo>
                <a:lnTo>
                  <a:pt x="891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71255" y="2842260"/>
            <a:ext cx="12661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634" algn="l"/>
              </a:tabLst>
            </a:pPr>
            <a:r>
              <a:rPr dirty="0" sz="2000" spc="-10">
                <a:latin typeface="Cambria Math"/>
                <a:cs typeface="Cambria Math"/>
              </a:rPr>
              <a:t>l</a:t>
            </a:r>
            <a:r>
              <a:rPr dirty="0" sz="2000">
                <a:latin typeface="Cambria Math"/>
                <a:cs typeface="Cambria Math"/>
              </a:rPr>
              <a:t>og	</a:t>
            </a:r>
            <a:r>
              <a:rPr dirty="0" sz="2000" spc="-5">
                <a:latin typeface="Cambria Math"/>
                <a:cs typeface="Cambria Math"/>
              </a:rPr>
              <a:t>𝑣𝑜</a:t>
            </a:r>
            <a:r>
              <a:rPr dirty="0" sz="2000" spc="65">
                <a:latin typeface="Cambria Math"/>
                <a:cs typeface="Cambria Math"/>
              </a:rPr>
              <a:t>𝑙</a:t>
            </a:r>
            <a:r>
              <a:rPr dirty="0" sz="2000" spc="-10">
                <a:latin typeface="Cambria Math"/>
                <a:cs typeface="Cambria Math"/>
              </a:rPr>
              <a:t>(</a:t>
            </a:r>
            <a:r>
              <a:rPr dirty="0" sz="2000" spc="85">
                <a:latin typeface="Cambria Math"/>
                <a:cs typeface="Cambria Math"/>
              </a:rPr>
              <a:t>𝐺</a:t>
            </a:r>
            <a:r>
              <a:rPr dirty="0" sz="200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87046" y="2786092"/>
            <a:ext cx="2127250" cy="502284"/>
          </a:xfrm>
          <a:custGeom>
            <a:avLst/>
            <a:gdLst/>
            <a:ahLst/>
            <a:cxnLst/>
            <a:rect l="l" t="t" r="r" b="b"/>
            <a:pathLst>
              <a:path w="2127250" h="502285">
                <a:moveTo>
                  <a:pt x="2037850" y="0"/>
                </a:moveTo>
                <a:lnTo>
                  <a:pt x="2030656" y="8309"/>
                </a:lnTo>
                <a:lnTo>
                  <a:pt x="2045663" y="24835"/>
                </a:lnTo>
                <a:lnTo>
                  <a:pt x="2059306" y="45392"/>
                </a:lnTo>
                <a:lnTo>
                  <a:pt x="2082498" y="98598"/>
                </a:lnTo>
                <a:lnTo>
                  <a:pt x="2097845" y="167307"/>
                </a:lnTo>
                <a:lnTo>
                  <a:pt x="2101682" y="207243"/>
                </a:lnTo>
                <a:lnTo>
                  <a:pt x="2102961" y="250899"/>
                </a:lnTo>
                <a:lnTo>
                  <a:pt x="2101682" y="294555"/>
                </a:lnTo>
                <a:lnTo>
                  <a:pt x="2097845" y="334491"/>
                </a:lnTo>
                <a:lnTo>
                  <a:pt x="2082498" y="403199"/>
                </a:lnTo>
                <a:lnTo>
                  <a:pt x="2059306" y="456406"/>
                </a:lnTo>
                <a:lnTo>
                  <a:pt x="2030656" y="493488"/>
                </a:lnTo>
                <a:lnTo>
                  <a:pt x="2037850" y="501798"/>
                </a:lnTo>
                <a:lnTo>
                  <a:pt x="2071398" y="464855"/>
                </a:lnTo>
                <a:lnTo>
                  <a:pt x="2100357" y="410082"/>
                </a:lnTo>
                <a:lnTo>
                  <a:pt x="2120356" y="338413"/>
                </a:lnTo>
                <a:lnTo>
                  <a:pt x="2125355" y="296590"/>
                </a:lnTo>
                <a:lnTo>
                  <a:pt x="2127021" y="250775"/>
                </a:lnTo>
                <a:lnTo>
                  <a:pt x="2125355" y="205069"/>
                </a:lnTo>
                <a:lnTo>
                  <a:pt x="2120356" y="163323"/>
                </a:lnTo>
                <a:lnTo>
                  <a:pt x="2112023" y="125539"/>
                </a:lnTo>
                <a:lnTo>
                  <a:pt x="2086451" y="62100"/>
                </a:lnTo>
                <a:lnTo>
                  <a:pt x="2055197" y="16242"/>
                </a:lnTo>
                <a:lnTo>
                  <a:pt x="2037850" y="0"/>
                </a:lnTo>
                <a:close/>
              </a:path>
              <a:path w="2127250" h="502285">
                <a:moveTo>
                  <a:pt x="89167" y="0"/>
                </a:moveTo>
                <a:lnTo>
                  <a:pt x="55619" y="36943"/>
                </a:lnTo>
                <a:lnTo>
                  <a:pt x="26660" y="91715"/>
                </a:lnTo>
                <a:lnTo>
                  <a:pt x="6661" y="163323"/>
                </a:lnTo>
                <a:lnTo>
                  <a:pt x="1661" y="205069"/>
                </a:lnTo>
                <a:lnTo>
                  <a:pt x="0" y="250899"/>
                </a:lnTo>
                <a:lnTo>
                  <a:pt x="1661" y="296590"/>
                </a:lnTo>
                <a:lnTo>
                  <a:pt x="6661" y="338413"/>
                </a:lnTo>
                <a:lnTo>
                  <a:pt x="14994" y="376244"/>
                </a:lnTo>
                <a:lnTo>
                  <a:pt x="40566" y="439697"/>
                </a:lnTo>
                <a:lnTo>
                  <a:pt x="71819" y="485555"/>
                </a:lnTo>
                <a:lnTo>
                  <a:pt x="89167" y="501798"/>
                </a:lnTo>
                <a:lnTo>
                  <a:pt x="96360" y="493488"/>
                </a:lnTo>
                <a:lnTo>
                  <a:pt x="81353" y="476963"/>
                </a:lnTo>
                <a:lnTo>
                  <a:pt x="67711" y="456406"/>
                </a:lnTo>
                <a:lnTo>
                  <a:pt x="44519" y="403199"/>
                </a:lnTo>
                <a:lnTo>
                  <a:pt x="29171" y="334491"/>
                </a:lnTo>
                <a:lnTo>
                  <a:pt x="25334" y="294555"/>
                </a:lnTo>
                <a:lnTo>
                  <a:pt x="24059" y="250775"/>
                </a:lnTo>
                <a:lnTo>
                  <a:pt x="25334" y="207243"/>
                </a:lnTo>
                <a:lnTo>
                  <a:pt x="29171" y="167307"/>
                </a:lnTo>
                <a:lnTo>
                  <a:pt x="44519" y="98598"/>
                </a:lnTo>
                <a:lnTo>
                  <a:pt x="67711" y="45392"/>
                </a:lnTo>
                <a:lnTo>
                  <a:pt x="96360" y="8309"/>
                </a:lnTo>
                <a:lnTo>
                  <a:pt x="891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42423" y="303969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834359" y="3012948"/>
            <a:ext cx="1771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𝑇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25417" y="3116072"/>
            <a:ext cx="3752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20">
                <a:latin typeface="Cambria Math"/>
                <a:cs typeface="Cambria Math"/>
              </a:rPr>
              <a:t>%</a:t>
            </a:r>
            <a:r>
              <a:rPr dirty="0" sz="1500" spc="25">
                <a:latin typeface="Cambria Math"/>
                <a:cs typeface="Cambria Math"/>
              </a:rPr>
              <a:t>&amp;</a:t>
            </a:r>
            <a:r>
              <a:rPr dirty="0" sz="1500" spc="275">
                <a:latin typeface="Cambria Math"/>
                <a:cs typeface="Cambria Math"/>
              </a:rPr>
              <a:t>"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41915" y="2586228"/>
            <a:ext cx="7264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3888" sz="3000">
                <a:latin typeface="Cambria Math"/>
                <a:cs typeface="Cambria Math"/>
              </a:rPr>
              <a:t>1</a:t>
            </a:r>
            <a:r>
              <a:rPr dirty="0" baseline="-13888" sz="3000" spc="427">
                <a:latin typeface="Cambria Math"/>
                <a:cs typeface="Cambria Math"/>
              </a:rPr>
              <a:t> </a:t>
            </a:r>
            <a:r>
              <a:rPr dirty="0" baseline="-55555" sz="3000" spc="1470">
                <a:latin typeface="Cambria Math"/>
                <a:cs typeface="Cambria Math"/>
              </a:rPr>
              <a:t>A</a:t>
            </a:r>
            <a:r>
              <a:rPr dirty="0" sz="1500" spc="980">
                <a:latin typeface="Cambria Math"/>
                <a:cs typeface="Cambria Math"/>
              </a:rPr>
              <a:t>'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72635" y="2842260"/>
            <a:ext cx="9359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">
                <a:latin typeface="Cambria Math"/>
                <a:cs typeface="Cambria Math"/>
              </a:rPr>
              <a:t>(𝐷</a:t>
            </a:r>
            <a:r>
              <a:rPr dirty="0" baseline="25925" sz="2250" spc="44">
                <a:latin typeface="Cambria Math"/>
                <a:cs typeface="Cambria Math"/>
              </a:rPr>
              <a:t>("</a:t>
            </a:r>
            <a:r>
              <a:rPr dirty="0" sz="2000" spc="30">
                <a:latin typeface="Cambria Math"/>
                <a:cs typeface="Cambria Math"/>
              </a:rPr>
              <a:t>𝐴)</a:t>
            </a:r>
            <a:r>
              <a:rPr dirty="0" baseline="25925" sz="2250" spc="44">
                <a:latin typeface="Cambria Math"/>
                <a:cs typeface="Cambria Math"/>
              </a:rPr>
              <a:t>%</a:t>
            </a:r>
            <a:endParaRPr baseline="25925" sz="22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64835" y="2750820"/>
            <a:ext cx="45465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444" sz="3000" spc="82">
                <a:latin typeface="Cambria Math"/>
                <a:cs typeface="Cambria Math"/>
              </a:rPr>
              <a:t>𝐷</a:t>
            </a:r>
            <a:r>
              <a:rPr dirty="0" sz="1500" spc="430">
                <a:latin typeface="Cambria Math"/>
                <a:cs typeface="Cambria Math"/>
              </a:rPr>
              <a:t>(</a:t>
            </a:r>
            <a:r>
              <a:rPr dirty="0" sz="1500" spc="275">
                <a:latin typeface="Cambria Math"/>
                <a:cs typeface="Cambria Math"/>
              </a:rPr>
              <a:t>"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83896" y="2842260"/>
            <a:ext cx="7804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− </a:t>
            </a:r>
            <a:r>
              <a:rPr dirty="0" sz="2000" spc="-5">
                <a:latin typeface="Cambria Math"/>
                <a:cs typeface="Cambria Math"/>
              </a:rPr>
              <a:t>log</a:t>
            </a:r>
            <a:r>
              <a:rPr dirty="0" sz="2000" spc="-2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55545" y="3241810"/>
            <a:ext cx="1031240" cy="501015"/>
          </a:xfrm>
          <a:custGeom>
            <a:avLst/>
            <a:gdLst/>
            <a:ahLst/>
            <a:cxnLst/>
            <a:rect l="l" t="t" r="r" b="b"/>
            <a:pathLst>
              <a:path w="1031240" h="501014">
                <a:moveTo>
                  <a:pt x="83548" y="25802"/>
                </a:moveTo>
                <a:lnTo>
                  <a:pt x="71271" y="51606"/>
                </a:lnTo>
                <a:lnTo>
                  <a:pt x="1015390" y="500804"/>
                </a:lnTo>
                <a:lnTo>
                  <a:pt x="1023914" y="497775"/>
                </a:lnTo>
                <a:lnTo>
                  <a:pt x="1030695" y="483524"/>
                </a:lnTo>
                <a:lnTo>
                  <a:pt x="1027666" y="475000"/>
                </a:lnTo>
                <a:lnTo>
                  <a:pt x="83548" y="25802"/>
                </a:lnTo>
                <a:close/>
              </a:path>
              <a:path w="1031240" h="501014">
                <a:moveTo>
                  <a:pt x="95825" y="0"/>
                </a:moveTo>
                <a:lnTo>
                  <a:pt x="0" y="1874"/>
                </a:lnTo>
                <a:lnTo>
                  <a:pt x="58994" y="77409"/>
                </a:lnTo>
                <a:lnTo>
                  <a:pt x="71271" y="51606"/>
                </a:lnTo>
                <a:lnTo>
                  <a:pt x="51244" y="42077"/>
                </a:lnTo>
                <a:lnTo>
                  <a:pt x="48216" y="33553"/>
                </a:lnTo>
                <a:lnTo>
                  <a:pt x="54997" y="19302"/>
                </a:lnTo>
                <a:lnTo>
                  <a:pt x="63521" y="16273"/>
                </a:lnTo>
                <a:lnTo>
                  <a:pt x="88082" y="16273"/>
                </a:lnTo>
                <a:lnTo>
                  <a:pt x="95825" y="0"/>
                </a:lnTo>
                <a:close/>
              </a:path>
              <a:path w="1031240" h="501014">
                <a:moveTo>
                  <a:pt x="63521" y="16273"/>
                </a:moveTo>
                <a:lnTo>
                  <a:pt x="54997" y="19302"/>
                </a:lnTo>
                <a:lnTo>
                  <a:pt x="48216" y="33553"/>
                </a:lnTo>
                <a:lnTo>
                  <a:pt x="51244" y="42077"/>
                </a:lnTo>
                <a:lnTo>
                  <a:pt x="71271" y="51606"/>
                </a:lnTo>
                <a:lnTo>
                  <a:pt x="83548" y="25802"/>
                </a:lnTo>
                <a:lnTo>
                  <a:pt x="63521" y="16273"/>
                </a:lnTo>
                <a:close/>
              </a:path>
              <a:path w="1031240" h="501014">
                <a:moveTo>
                  <a:pt x="88082" y="16273"/>
                </a:moveTo>
                <a:lnTo>
                  <a:pt x="63521" y="16273"/>
                </a:lnTo>
                <a:lnTo>
                  <a:pt x="83548" y="25802"/>
                </a:lnTo>
                <a:lnTo>
                  <a:pt x="88082" y="16273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16954" y="1981056"/>
            <a:ext cx="1437005" cy="888365"/>
          </a:xfrm>
          <a:custGeom>
            <a:avLst/>
            <a:gdLst/>
            <a:ahLst/>
            <a:cxnLst/>
            <a:rect l="l" t="t" r="r" b="b"/>
            <a:pathLst>
              <a:path w="1437004" h="888364">
                <a:moveTo>
                  <a:pt x="50659" y="806386"/>
                </a:moveTo>
                <a:lnTo>
                  <a:pt x="0" y="887747"/>
                </a:lnTo>
                <a:lnTo>
                  <a:pt x="95484" y="879458"/>
                </a:lnTo>
                <a:lnTo>
                  <a:pt x="87657" y="866698"/>
                </a:lnTo>
                <a:lnTo>
                  <a:pt x="61638" y="866698"/>
                </a:lnTo>
                <a:lnTo>
                  <a:pt x="52840" y="864590"/>
                </a:lnTo>
                <a:lnTo>
                  <a:pt x="44588" y="851138"/>
                </a:lnTo>
                <a:lnTo>
                  <a:pt x="46696" y="842341"/>
                </a:lnTo>
                <a:lnTo>
                  <a:pt x="65601" y="830744"/>
                </a:lnTo>
                <a:lnTo>
                  <a:pt x="50659" y="806386"/>
                </a:lnTo>
                <a:close/>
              </a:path>
              <a:path w="1437004" h="888364">
                <a:moveTo>
                  <a:pt x="65601" y="830744"/>
                </a:moveTo>
                <a:lnTo>
                  <a:pt x="46696" y="842341"/>
                </a:lnTo>
                <a:lnTo>
                  <a:pt x="44588" y="851138"/>
                </a:lnTo>
                <a:lnTo>
                  <a:pt x="52840" y="864590"/>
                </a:lnTo>
                <a:lnTo>
                  <a:pt x="61638" y="866698"/>
                </a:lnTo>
                <a:lnTo>
                  <a:pt x="80543" y="855101"/>
                </a:lnTo>
                <a:lnTo>
                  <a:pt x="65601" y="830744"/>
                </a:lnTo>
                <a:close/>
              </a:path>
              <a:path w="1437004" h="888364">
                <a:moveTo>
                  <a:pt x="80543" y="855101"/>
                </a:moveTo>
                <a:lnTo>
                  <a:pt x="61638" y="866698"/>
                </a:lnTo>
                <a:lnTo>
                  <a:pt x="87657" y="866698"/>
                </a:lnTo>
                <a:lnTo>
                  <a:pt x="80543" y="855101"/>
                </a:lnTo>
                <a:close/>
              </a:path>
              <a:path w="1437004" h="888364">
                <a:moveTo>
                  <a:pt x="1419839" y="0"/>
                </a:moveTo>
                <a:lnTo>
                  <a:pt x="65601" y="830744"/>
                </a:lnTo>
                <a:lnTo>
                  <a:pt x="80543" y="855101"/>
                </a:lnTo>
                <a:lnTo>
                  <a:pt x="1434781" y="24357"/>
                </a:lnTo>
                <a:lnTo>
                  <a:pt x="1436889" y="15560"/>
                </a:lnTo>
                <a:lnTo>
                  <a:pt x="1428636" y="2108"/>
                </a:lnTo>
                <a:lnTo>
                  <a:pt x="1419839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13171" y="1230883"/>
            <a:ext cx="18122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Volume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8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48235" y="1719720"/>
            <a:ext cx="304165" cy="212090"/>
          </a:xfrm>
          <a:custGeom>
            <a:avLst/>
            <a:gdLst/>
            <a:ahLst/>
            <a:cxnLst/>
            <a:rect l="l" t="t" r="r" b="b"/>
            <a:pathLst>
              <a:path w="304165" h="212089">
                <a:moveTo>
                  <a:pt x="236528" y="0"/>
                </a:moveTo>
                <a:lnTo>
                  <a:pt x="233514" y="8595"/>
                </a:lnTo>
                <a:lnTo>
                  <a:pt x="245771" y="13914"/>
                </a:lnTo>
                <a:lnTo>
                  <a:pt x="256312" y="21277"/>
                </a:lnTo>
                <a:lnTo>
                  <a:pt x="277716" y="55409"/>
                </a:lnTo>
                <a:lnTo>
                  <a:pt x="284747" y="104811"/>
                </a:lnTo>
                <a:lnTo>
                  <a:pt x="283963" y="123487"/>
                </a:lnTo>
                <a:lnTo>
                  <a:pt x="272191" y="169217"/>
                </a:lnTo>
                <a:lnTo>
                  <a:pt x="245914" y="197806"/>
                </a:lnTo>
                <a:lnTo>
                  <a:pt x="233848" y="203150"/>
                </a:lnTo>
                <a:lnTo>
                  <a:pt x="236528" y="211744"/>
                </a:lnTo>
                <a:lnTo>
                  <a:pt x="276984" y="187708"/>
                </a:lnTo>
                <a:lnTo>
                  <a:pt x="299705" y="143335"/>
                </a:lnTo>
                <a:lnTo>
                  <a:pt x="304058" y="105928"/>
                </a:lnTo>
                <a:lnTo>
                  <a:pt x="302966" y="86516"/>
                </a:lnTo>
                <a:lnTo>
                  <a:pt x="286590" y="37114"/>
                </a:lnTo>
                <a:lnTo>
                  <a:pt x="251879" y="5542"/>
                </a:lnTo>
                <a:lnTo>
                  <a:pt x="236528" y="0"/>
                </a:lnTo>
                <a:close/>
              </a:path>
              <a:path w="30416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3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7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90704" y="1535214"/>
            <a:ext cx="1996439" cy="6934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  <a:tabLst>
                <a:tab pos="744855" algn="l"/>
              </a:tabLst>
            </a:pPr>
            <a:r>
              <a:rPr dirty="0" sz="1800" spc="-5">
                <a:latin typeface="Cambria Math"/>
                <a:cs typeface="Cambria Math"/>
              </a:rPr>
              <a:t>𝑣𝑜𝑙 </a:t>
            </a:r>
            <a:r>
              <a:rPr dirty="0" sz="1800" spc="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𝐺	=</a:t>
            </a:r>
            <a:r>
              <a:rPr dirty="0" sz="1800" spc="65">
                <a:latin typeface="Cambria Math"/>
                <a:cs typeface="Cambria Math"/>
              </a:rPr>
              <a:t> </a:t>
            </a:r>
            <a:r>
              <a:rPr dirty="0" sz="1800" spc="1255">
                <a:latin typeface="Cambria Math"/>
                <a:cs typeface="Cambria Math"/>
              </a:rPr>
              <a:t>A</a:t>
            </a:r>
            <a:r>
              <a:rPr dirty="0" sz="1800" spc="-120">
                <a:latin typeface="Cambria Math"/>
                <a:cs typeface="Cambria Math"/>
              </a:rPr>
              <a:t> </a:t>
            </a:r>
            <a:r>
              <a:rPr dirty="0" sz="1800" spc="1255">
                <a:latin typeface="Cambria Math"/>
                <a:cs typeface="Cambria Math"/>
              </a:rPr>
              <a:t>A</a:t>
            </a:r>
            <a:r>
              <a:rPr dirty="0" sz="1800" spc="-120">
                <a:latin typeface="Cambria Math"/>
                <a:cs typeface="Cambria Math"/>
              </a:rPr>
              <a:t> </a:t>
            </a:r>
            <a:r>
              <a:rPr dirty="0" sz="1800" spc="0">
                <a:latin typeface="Cambria Math"/>
                <a:cs typeface="Cambria Math"/>
              </a:rPr>
              <a:t>𝐴</a:t>
            </a:r>
            <a:r>
              <a:rPr dirty="0" baseline="-17094" sz="1950" spc="0">
                <a:latin typeface="Cambria Math"/>
                <a:cs typeface="Cambria Math"/>
              </a:rPr>
              <a:t>(,)</a:t>
            </a:r>
            <a:endParaRPr baseline="-17094" sz="1950">
              <a:latin typeface="Cambria Math"/>
              <a:cs typeface="Cambria Math"/>
            </a:endParaRPr>
          </a:p>
          <a:p>
            <a:pPr marL="1099185">
              <a:lnSpc>
                <a:spcPct val="100000"/>
              </a:lnSpc>
              <a:spcBef>
                <a:spcPts val="640"/>
              </a:spcBef>
              <a:tabLst>
                <a:tab pos="1430655" algn="l"/>
              </a:tabLst>
            </a:pPr>
            <a:r>
              <a:rPr dirty="0" sz="1300" spc="-85">
                <a:latin typeface="Cambria Math"/>
                <a:cs typeface="Cambria Math"/>
              </a:rPr>
              <a:t>(	</a:t>
            </a:r>
            <a:r>
              <a:rPr dirty="0" sz="1300" spc="65">
                <a:latin typeface="Cambria Math"/>
                <a:cs typeface="Cambria Math"/>
              </a:rPr>
              <a:t>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81048" y="2254092"/>
            <a:ext cx="448945" cy="615315"/>
          </a:xfrm>
          <a:custGeom>
            <a:avLst/>
            <a:gdLst/>
            <a:ahLst/>
            <a:cxnLst/>
            <a:rect l="l" t="t" r="r" b="b"/>
            <a:pathLst>
              <a:path w="448944" h="615314">
                <a:moveTo>
                  <a:pt x="387046" y="553607"/>
                </a:moveTo>
                <a:lnTo>
                  <a:pt x="363888" y="570348"/>
                </a:lnTo>
                <a:lnTo>
                  <a:pt x="448845" y="614711"/>
                </a:lnTo>
                <a:lnTo>
                  <a:pt x="442020" y="573017"/>
                </a:lnTo>
                <a:lnTo>
                  <a:pt x="408970" y="573017"/>
                </a:lnTo>
                <a:lnTo>
                  <a:pt x="400038" y="571581"/>
                </a:lnTo>
                <a:lnTo>
                  <a:pt x="387046" y="553607"/>
                </a:lnTo>
                <a:close/>
              </a:path>
              <a:path w="448944" h="615314">
                <a:moveTo>
                  <a:pt x="410204" y="536867"/>
                </a:moveTo>
                <a:lnTo>
                  <a:pt x="387046" y="553607"/>
                </a:lnTo>
                <a:lnTo>
                  <a:pt x="400038" y="571581"/>
                </a:lnTo>
                <a:lnTo>
                  <a:pt x="408970" y="573017"/>
                </a:lnTo>
                <a:lnTo>
                  <a:pt x="421760" y="563772"/>
                </a:lnTo>
                <a:lnTo>
                  <a:pt x="423197" y="554841"/>
                </a:lnTo>
                <a:lnTo>
                  <a:pt x="410204" y="536867"/>
                </a:lnTo>
                <a:close/>
              </a:path>
              <a:path w="448944" h="615314">
                <a:moveTo>
                  <a:pt x="433362" y="520127"/>
                </a:moveTo>
                <a:lnTo>
                  <a:pt x="410204" y="536867"/>
                </a:lnTo>
                <a:lnTo>
                  <a:pt x="423197" y="554841"/>
                </a:lnTo>
                <a:lnTo>
                  <a:pt x="421760" y="563772"/>
                </a:lnTo>
                <a:lnTo>
                  <a:pt x="408970" y="573017"/>
                </a:lnTo>
                <a:lnTo>
                  <a:pt x="442020" y="573017"/>
                </a:lnTo>
                <a:lnTo>
                  <a:pt x="433362" y="520127"/>
                </a:lnTo>
                <a:close/>
              </a:path>
              <a:path w="448944" h="615314">
                <a:moveTo>
                  <a:pt x="14226" y="0"/>
                </a:moveTo>
                <a:lnTo>
                  <a:pt x="1436" y="9245"/>
                </a:lnTo>
                <a:lnTo>
                  <a:pt x="0" y="18176"/>
                </a:lnTo>
                <a:lnTo>
                  <a:pt x="387046" y="553607"/>
                </a:lnTo>
                <a:lnTo>
                  <a:pt x="410204" y="536867"/>
                </a:lnTo>
                <a:lnTo>
                  <a:pt x="23158" y="1436"/>
                </a:lnTo>
                <a:lnTo>
                  <a:pt x="1422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55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517391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22312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10">
                <a:solidFill>
                  <a:srgbClr val="60B5CC"/>
                </a:solidFill>
              </a:rPr>
              <a:t>Limitations </a:t>
            </a:r>
            <a:r>
              <a:rPr dirty="0">
                <a:solidFill>
                  <a:srgbClr val="60B5CC"/>
                </a:solidFill>
              </a:rPr>
              <a:t>of </a:t>
            </a:r>
            <a:r>
              <a:rPr dirty="0" spc="-5">
                <a:solidFill>
                  <a:srgbClr val="60B5CC"/>
                </a:solidFill>
              </a:rPr>
              <a:t>node embeddings via </a:t>
            </a:r>
            <a:r>
              <a:rPr dirty="0" spc="-10">
                <a:solidFill>
                  <a:srgbClr val="60B5CC"/>
                </a:solidFill>
              </a:rPr>
              <a:t>matrix  </a:t>
            </a:r>
            <a:r>
              <a:rPr dirty="0" spc="-15">
                <a:solidFill>
                  <a:srgbClr val="60B5CC"/>
                </a:solidFill>
              </a:rPr>
              <a:t>factorization </a:t>
            </a:r>
            <a:r>
              <a:rPr dirty="0" spc="-5">
                <a:solidFill>
                  <a:srgbClr val="60B5CC"/>
                </a:solidFill>
              </a:rPr>
              <a:t>and </a:t>
            </a:r>
            <a:r>
              <a:rPr dirty="0" spc="-15">
                <a:solidFill>
                  <a:srgbClr val="60B5CC"/>
                </a:solidFill>
              </a:rPr>
              <a:t>random</a:t>
            </a:r>
            <a:r>
              <a:rPr dirty="0" spc="-60">
                <a:solidFill>
                  <a:srgbClr val="60B5CC"/>
                </a:solidFill>
              </a:rPr>
              <a:t> </a:t>
            </a:r>
            <a:r>
              <a:rPr dirty="0" spc="-15">
                <a:solidFill>
                  <a:srgbClr val="60B5CC"/>
                </a:solidFill>
              </a:rPr>
              <a:t>walks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145655" cy="8731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Cannot </a:t>
            </a:r>
            <a:r>
              <a:rPr dirty="0" sz="2800" spc="-15">
                <a:latin typeface="Calibri"/>
                <a:cs typeface="Calibri"/>
              </a:rPr>
              <a:t>obtain </a:t>
            </a:r>
            <a:r>
              <a:rPr dirty="0" sz="2800" spc="-5">
                <a:latin typeface="Calibri"/>
                <a:cs typeface="Calibri"/>
              </a:rPr>
              <a:t>embeddings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nodes not in </a:t>
            </a:r>
            <a:r>
              <a:rPr dirty="0" sz="2800" spc="-210">
                <a:latin typeface="Calibri"/>
                <a:cs typeface="Calibri"/>
              </a:rPr>
              <a:t>the  </a:t>
            </a:r>
            <a:r>
              <a:rPr dirty="0" sz="2800" spc="-10">
                <a:latin typeface="Calibri"/>
                <a:cs typeface="Calibri"/>
              </a:rPr>
              <a:t>training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89120" y="4568952"/>
            <a:ext cx="405384" cy="4053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32231" y="458648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39" y="160019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32231" y="458648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0020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10506" y="3807823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80448" y="3807823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10507" y="4493621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89857" y="3781352"/>
            <a:ext cx="1738630" cy="376555"/>
          </a:xfrm>
          <a:custGeom>
            <a:avLst/>
            <a:gdLst/>
            <a:ahLst/>
            <a:cxnLst/>
            <a:rect l="l" t="t" r="r" b="b"/>
            <a:pathLst>
              <a:path w="1738629" h="376554">
                <a:moveTo>
                  <a:pt x="1738160" y="376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81200" y="4599432"/>
            <a:ext cx="408431" cy="4053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26237" y="461681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26237" y="461681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099942" y="461721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43327" y="3599688"/>
            <a:ext cx="405384" cy="408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86482" y="361887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86482" y="3618879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357112" y="36205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69079" y="3986784"/>
            <a:ext cx="408431" cy="4084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12784" y="400577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112784" y="4005774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51048" y="4319015"/>
            <a:ext cx="408431" cy="4084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96177" y="433678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8" y="109441"/>
                </a:lnTo>
                <a:lnTo>
                  <a:pt x="0" y="160019"/>
                </a:lnTo>
                <a:lnTo>
                  <a:pt x="8158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96177" y="433678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179507" y="3940555"/>
            <a:ext cx="1172210" cy="7207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6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25242" y="5095747"/>
            <a:ext cx="1308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Arial"/>
                <a:cs typeface="Arial"/>
              </a:rPr>
              <a:t>Training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98018" y="4509458"/>
            <a:ext cx="1057275" cy="258445"/>
          </a:xfrm>
          <a:custGeom>
            <a:avLst/>
            <a:gdLst/>
            <a:ahLst/>
            <a:cxnLst/>
            <a:rect l="l" t="t" r="r" b="b"/>
            <a:pathLst>
              <a:path w="1057275" h="258445">
                <a:moveTo>
                  <a:pt x="953032" y="208542"/>
                </a:moveTo>
                <a:lnTo>
                  <a:pt x="945404" y="213405"/>
                </a:lnTo>
                <a:lnTo>
                  <a:pt x="941993" y="228814"/>
                </a:lnTo>
                <a:lnTo>
                  <a:pt x="946856" y="236442"/>
                </a:lnTo>
                <a:lnTo>
                  <a:pt x="1045963" y="258382"/>
                </a:lnTo>
                <a:lnTo>
                  <a:pt x="1053590" y="253519"/>
                </a:lnTo>
                <a:lnTo>
                  <a:pt x="1057001" y="238112"/>
                </a:lnTo>
                <a:lnTo>
                  <a:pt x="1052139" y="230483"/>
                </a:lnTo>
                <a:lnTo>
                  <a:pt x="953032" y="208542"/>
                </a:lnTo>
                <a:close/>
              </a:path>
              <a:path w="1057275" h="258445">
                <a:moveTo>
                  <a:pt x="757735" y="165307"/>
                </a:moveTo>
                <a:lnTo>
                  <a:pt x="750107" y="170169"/>
                </a:lnTo>
                <a:lnTo>
                  <a:pt x="746696" y="185578"/>
                </a:lnTo>
                <a:lnTo>
                  <a:pt x="751559" y="193206"/>
                </a:lnTo>
                <a:lnTo>
                  <a:pt x="850666" y="215148"/>
                </a:lnTo>
                <a:lnTo>
                  <a:pt x="858293" y="210285"/>
                </a:lnTo>
                <a:lnTo>
                  <a:pt x="861705" y="194876"/>
                </a:lnTo>
                <a:lnTo>
                  <a:pt x="856842" y="187247"/>
                </a:lnTo>
                <a:lnTo>
                  <a:pt x="757735" y="165307"/>
                </a:lnTo>
                <a:close/>
              </a:path>
              <a:path w="1057275" h="258445">
                <a:moveTo>
                  <a:pt x="562439" y="122071"/>
                </a:moveTo>
                <a:lnTo>
                  <a:pt x="554810" y="126933"/>
                </a:lnTo>
                <a:lnTo>
                  <a:pt x="551399" y="142342"/>
                </a:lnTo>
                <a:lnTo>
                  <a:pt x="556262" y="149970"/>
                </a:lnTo>
                <a:lnTo>
                  <a:pt x="655369" y="171912"/>
                </a:lnTo>
                <a:lnTo>
                  <a:pt x="662998" y="167049"/>
                </a:lnTo>
                <a:lnTo>
                  <a:pt x="666409" y="151640"/>
                </a:lnTo>
                <a:lnTo>
                  <a:pt x="661546" y="144012"/>
                </a:lnTo>
                <a:lnTo>
                  <a:pt x="562439" y="122071"/>
                </a:lnTo>
                <a:close/>
              </a:path>
              <a:path w="1057275" h="258445">
                <a:moveTo>
                  <a:pt x="367143" y="78836"/>
                </a:moveTo>
                <a:lnTo>
                  <a:pt x="359515" y="83699"/>
                </a:lnTo>
                <a:lnTo>
                  <a:pt x="356104" y="99106"/>
                </a:lnTo>
                <a:lnTo>
                  <a:pt x="360967" y="106735"/>
                </a:lnTo>
                <a:lnTo>
                  <a:pt x="460074" y="128676"/>
                </a:lnTo>
                <a:lnTo>
                  <a:pt x="467701" y="123813"/>
                </a:lnTo>
                <a:lnTo>
                  <a:pt x="471112" y="108404"/>
                </a:lnTo>
                <a:lnTo>
                  <a:pt x="466250" y="100777"/>
                </a:lnTo>
                <a:lnTo>
                  <a:pt x="367143" y="78836"/>
                </a:lnTo>
                <a:close/>
              </a:path>
              <a:path w="1057275" h="258445">
                <a:moveTo>
                  <a:pt x="171846" y="35600"/>
                </a:moveTo>
                <a:lnTo>
                  <a:pt x="164218" y="40463"/>
                </a:lnTo>
                <a:lnTo>
                  <a:pt x="160807" y="55871"/>
                </a:lnTo>
                <a:lnTo>
                  <a:pt x="165670" y="63499"/>
                </a:lnTo>
                <a:lnTo>
                  <a:pt x="264777" y="85440"/>
                </a:lnTo>
                <a:lnTo>
                  <a:pt x="272404" y="80577"/>
                </a:lnTo>
                <a:lnTo>
                  <a:pt x="275816" y="65168"/>
                </a:lnTo>
                <a:lnTo>
                  <a:pt x="270953" y="57541"/>
                </a:lnTo>
                <a:lnTo>
                  <a:pt x="171846" y="35600"/>
                </a:lnTo>
                <a:close/>
              </a:path>
              <a:path w="1057275" h="258445">
                <a:moveTo>
                  <a:pt x="11038" y="0"/>
                </a:moveTo>
                <a:lnTo>
                  <a:pt x="3409" y="4862"/>
                </a:lnTo>
                <a:lnTo>
                  <a:pt x="0" y="20270"/>
                </a:lnTo>
                <a:lnTo>
                  <a:pt x="4862" y="27899"/>
                </a:lnTo>
                <a:lnTo>
                  <a:pt x="69480" y="42204"/>
                </a:lnTo>
                <a:lnTo>
                  <a:pt x="77109" y="37341"/>
                </a:lnTo>
                <a:lnTo>
                  <a:pt x="80520" y="21932"/>
                </a:lnTo>
                <a:lnTo>
                  <a:pt x="75657" y="14305"/>
                </a:lnTo>
                <a:lnTo>
                  <a:pt x="110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518104" y="4586732"/>
            <a:ext cx="3782695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  <a:p>
            <a:pPr marL="62230" marR="5080">
              <a:lnSpc>
                <a:spcPts val="2090"/>
              </a:lnSpc>
              <a:spcBef>
                <a:spcPts val="1470"/>
              </a:spcBef>
            </a:pPr>
            <a:r>
              <a:rPr dirty="0" sz="1800" b="1">
                <a:latin typeface="Arial"/>
                <a:cs typeface="Arial"/>
              </a:rPr>
              <a:t>A </a:t>
            </a:r>
            <a:r>
              <a:rPr dirty="0" sz="1800" spc="-5" b="1">
                <a:latin typeface="Arial"/>
                <a:cs typeface="Arial"/>
              </a:rPr>
              <a:t>newly added </a:t>
            </a:r>
            <a:r>
              <a:rPr dirty="0" sz="1800" b="1">
                <a:latin typeface="Arial"/>
                <a:cs typeface="Arial"/>
              </a:rPr>
              <a:t>node 5 </a:t>
            </a:r>
            <a:r>
              <a:rPr dirty="0" sz="1800" spc="-5" b="1">
                <a:latin typeface="Arial"/>
                <a:cs typeface="Arial"/>
              </a:rPr>
              <a:t>at test time  (e.g. new user in </a:t>
            </a:r>
            <a:r>
              <a:rPr dirty="0" sz="1800" b="1">
                <a:latin typeface="Arial"/>
                <a:cs typeface="Arial"/>
              </a:rPr>
              <a:t>a </a:t>
            </a:r>
            <a:r>
              <a:rPr dirty="0" sz="1800" spc="-5" b="1">
                <a:latin typeface="Arial"/>
                <a:cs typeface="Arial"/>
              </a:rPr>
              <a:t>social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network)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68135" y="5772403"/>
            <a:ext cx="3840479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Cannot compute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its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embedding  with </a:t>
            </a:r>
            <a:r>
              <a:rPr dirty="0" sz="1800" spc="-15" b="1">
                <a:solidFill>
                  <a:srgbClr val="008000"/>
                </a:solidFill>
                <a:latin typeface="Arial"/>
                <a:cs typeface="Arial"/>
              </a:rPr>
              <a:t>DeepWalk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/ node2vec.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Need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to 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recompute all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dirty="0" sz="1800" spc="-9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embeddings.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276600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59956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Cannot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capture </a:t>
            </a:r>
            <a:r>
              <a:rPr dirty="0" sz="3000" spc="-15">
                <a:solidFill>
                  <a:srgbClr val="000000"/>
                </a:solidFill>
              </a:rPr>
              <a:t>structural</a:t>
            </a:r>
            <a:r>
              <a:rPr dirty="0" sz="3000" spc="-30">
                <a:solidFill>
                  <a:srgbClr val="000000"/>
                </a:solidFill>
              </a:rPr>
              <a:t> </a:t>
            </a:r>
            <a:r>
              <a:rPr dirty="0" sz="3000" spc="-5">
                <a:solidFill>
                  <a:srgbClr val="000000"/>
                </a:solidFill>
              </a:rPr>
              <a:t>similarity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455923"/>
            <a:ext cx="8307070" cy="32137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332740" marR="5080" indent="-320040">
              <a:lnSpc>
                <a:spcPts val="3310"/>
              </a:lnSpc>
              <a:spcBef>
                <a:spcPts val="45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Node </a:t>
            </a:r>
            <a:r>
              <a:rPr dirty="0" sz="3000">
                <a:latin typeface="Calibri"/>
                <a:cs typeface="Calibri"/>
              </a:rPr>
              <a:t>1 </a:t>
            </a:r>
            <a:r>
              <a:rPr dirty="0" sz="3000" spc="-5">
                <a:latin typeface="Calibri"/>
                <a:cs typeface="Calibri"/>
              </a:rPr>
              <a:t>and </a:t>
            </a:r>
            <a:r>
              <a:rPr dirty="0" sz="3000">
                <a:latin typeface="Calibri"/>
                <a:cs typeface="Calibri"/>
              </a:rPr>
              <a:t>11 </a:t>
            </a:r>
            <a:r>
              <a:rPr dirty="0" sz="3000" spc="-15">
                <a:latin typeface="Calibri"/>
                <a:cs typeface="Calibri"/>
              </a:rPr>
              <a:t>are </a:t>
            </a:r>
            <a:r>
              <a:rPr dirty="0" sz="3000" spc="-15" b="1">
                <a:solidFill>
                  <a:srgbClr val="CC0066"/>
                </a:solidFill>
                <a:latin typeface="Calibri"/>
                <a:cs typeface="Calibri"/>
              </a:rPr>
              <a:t>structurally </a:t>
            </a:r>
            <a:r>
              <a:rPr dirty="0" sz="3000" spc="-5" b="1">
                <a:solidFill>
                  <a:srgbClr val="CC0066"/>
                </a:solidFill>
                <a:latin typeface="Calibri"/>
                <a:cs typeface="Calibri"/>
              </a:rPr>
              <a:t>similar </a:t>
            </a:r>
            <a:r>
              <a:rPr dirty="0" sz="3000">
                <a:latin typeface="Calibri"/>
                <a:cs typeface="Calibri"/>
              </a:rPr>
              <a:t>– </a:t>
            </a:r>
            <a:r>
              <a:rPr dirty="0" sz="3000" spc="-5">
                <a:latin typeface="Calibri"/>
                <a:cs typeface="Calibri"/>
              </a:rPr>
              <a:t>part </a:t>
            </a:r>
            <a:r>
              <a:rPr dirty="0" sz="3000">
                <a:latin typeface="Calibri"/>
                <a:cs typeface="Calibri"/>
              </a:rPr>
              <a:t>of </a:t>
            </a:r>
            <a:r>
              <a:rPr dirty="0" sz="3000" spc="-5">
                <a:latin typeface="Calibri"/>
                <a:cs typeface="Calibri"/>
              </a:rPr>
              <a:t>one  triangle, </a:t>
            </a:r>
            <a:r>
              <a:rPr dirty="0" sz="3000" spc="-15">
                <a:latin typeface="Calibri"/>
                <a:cs typeface="Calibri"/>
              </a:rPr>
              <a:t>degree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2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313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45">
                <a:latin typeface="Calibri"/>
                <a:cs typeface="Calibri"/>
              </a:rPr>
              <a:t>However, </a:t>
            </a:r>
            <a:r>
              <a:rPr dirty="0" sz="3000" spc="-10">
                <a:latin typeface="Calibri"/>
                <a:cs typeface="Calibri"/>
              </a:rPr>
              <a:t>they </a:t>
            </a:r>
            <a:r>
              <a:rPr dirty="0" sz="3000" spc="-25">
                <a:latin typeface="Calibri"/>
                <a:cs typeface="Calibri"/>
              </a:rPr>
              <a:t>have </a:t>
            </a:r>
            <a:r>
              <a:rPr dirty="0" sz="3000" spc="-10">
                <a:latin typeface="Calibri"/>
                <a:cs typeface="Calibri"/>
              </a:rPr>
              <a:t>very </a:t>
            </a:r>
            <a:r>
              <a:rPr dirty="0" sz="3000" spc="-15" b="1">
                <a:solidFill>
                  <a:srgbClr val="CC0066"/>
                </a:solidFill>
                <a:latin typeface="Calibri"/>
                <a:cs typeface="Calibri"/>
              </a:rPr>
              <a:t>different</a:t>
            </a:r>
            <a:r>
              <a:rPr dirty="0" sz="3000" b="1">
                <a:solidFill>
                  <a:srgbClr val="CC0066"/>
                </a:solidFill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embeddings</a:t>
            </a:r>
            <a:endParaRPr sz="3000">
              <a:latin typeface="Calibri"/>
              <a:cs typeface="Calibri"/>
            </a:endParaRPr>
          </a:p>
          <a:p>
            <a:pPr lvl="1" marL="625475" marR="2134870" indent="-274320">
              <a:lnSpc>
                <a:spcPts val="2810"/>
              </a:lnSpc>
              <a:spcBef>
                <a:spcPts val="6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25">
                <a:latin typeface="Calibri"/>
                <a:cs typeface="Calibri"/>
              </a:rPr>
              <a:t>It’s </a:t>
            </a:r>
            <a:r>
              <a:rPr dirty="0" sz="2600" spc="-15">
                <a:latin typeface="Calibri"/>
                <a:cs typeface="Calibri"/>
              </a:rPr>
              <a:t>unlikely </a:t>
            </a:r>
            <a:r>
              <a:rPr dirty="0" sz="2600" spc="-10">
                <a:latin typeface="Calibri"/>
                <a:cs typeface="Calibri"/>
              </a:rPr>
              <a:t>that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10">
                <a:latin typeface="Calibri"/>
                <a:cs typeface="Calibri"/>
              </a:rPr>
              <a:t>random walk </a:t>
            </a:r>
            <a:r>
              <a:rPr dirty="0" sz="2600">
                <a:latin typeface="Calibri"/>
                <a:cs typeface="Calibri"/>
              </a:rPr>
              <a:t>will </a:t>
            </a:r>
            <a:r>
              <a:rPr dirty="0" sz="2600" spc="-75">
                <a:latin typeface="Calibri"/>
                <a:cs typeface="Calibri"/>
              </a:rPr>
              <a:t>reach  </a:t>
            </a:r>
            <a:r>
              <a:rPr dirty="0" sz="2600" spc="-5">
                <a:latin typeface="Calibri"/>
                <a:cs typeface="Calibri"/>
              </a:rPr>
              <a:t>node 11 </a:t>
            </a:r>
            <a:r>
              <a:rPr dirty="0" sz="2600" spc="-15">
                <a:latin typeface="Calibri"/>
                <a:cs typeface="Calibri"/>
              </a:rPr>
              <a:t>from </a:t>
            </a:r>
            <a:r>
              <a:rPr dirty="0" sz="2600" spc="-5">
                <a:latin typeface="Calibri"/>
                <a:cs typeface="Calibri"/>
              </a:rPr>
              <a:t>node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</a:t>
            </a:r>
            <a:endParaRPr sz="2600">
              <a:latin typeface="Calibri"/>
              <a:cs typeface="Calibri"/>
            </a:endParaRPr>
          </a:p>
          <a:p>
            <a:pPr marL="332740" marR="22860" indent="-320040">
              <a:lnSpc>
                <a:spcPts val="3290"/>
              </a:lnSpc>
              <a:spcBef>
                <a:spcPts val="22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solidFill>
                  <a:srgbClr val="008000"/>
                </a:solidFill>
                <a:latin typeface="Calibri"/>
                <a:cs typeface="Calibri"/>
              </a:rPr>
              <a:t>DeepWalk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and node2vec </a:t>
            </a:r>
            <a:r>
              <a:rPr dirty="0" sz="3000" b="1">
                <a:solidFill>
                  <a:srgbClr val="008000"/>
                </a:solidFill>
                <a:latin typeface="Calibri"/>
                <a:cs typeface="Calibri"/>
              </a:rPr>
              <a:t>do not </a:t>
            </a:r>
            <a:r>
              <a:rPr dirty="0" sz="3000" spc="-15" b="1">
                <a:solidFill>
                  <a:srgbClr val="008000"/>
                </a:solidFill>
                <a:latin typeface="Calibri"/>
                <a:cs typeface="Calibri"/>
              </a:rPr>
              <a:t>capture </a:t>
            </a:r>
            <a:r>
              <a:rPr dirty="0" sz="3000" spc="-20" b="1">
                <a:solidFill>
                  <a:srgbClr val="008000"/>
                </a:solidFill>
                <a:latin typeface="Calibri"/>
                <a:cs typeface="Calibri"/>
              </a:rPr>
              <a:t>structural 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similarity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74786" y="2399210"/>
            <a:ext cx="699770" cy="304800"/>
          </a:xfrm>
          <a:custGeom>
            <a:avLst/>
            <a:gdLst/>
            <a:ahLst/>
            <a:cxnLst/>
            <a:rect l="l" t="t" r="r" b="b"/>
            <a:pathLst>
              <a:path w="699770" h="304800">
                <a:moveTo>
                  <a:pt x="699697" y="0"/>
                </a:moveTo>
                <a:lnTo>
                  <a:pt x="0" y="30416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23353" y="2696223"/>
            <a:ext cx="318770" cy="635"/>
          </a:xfrm>
          <a:custGeom>
            <a:avLst/>
            <a:gdLst/>
            <a:ahLst/>
            <a:cxnLst/>
            <a:rect l="l" t="t" r="r" b="b"/>
            <a:pathLst>
              <a:path w="318770" h="635">
                <a:moveTo>
                  <a:pt x="318666" y="15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91711" y="2514600"/>
            <a:ext cx="408432" cy="4053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34885" y="253179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39" y="160020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34885" y="253179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30842" y="2330088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00784" y="2330088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30843" y="3015887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10195" y="2303619"/>
            <a:ext cx="1293495" cy="396240"/>
          </a:xfrm>
          <a:custGeom>
            <a:avLst/>
            <a:gdLst/>
            <a:ahLst/>
            <a:cxnLst/>
            <a:rect l="l" t="t" r="r" b="b"/>
            <a:pathLst>
              <a:path w="1293495" h="396239">
                <a:moveTo>
                  <a:pt x="1293118" y="39615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02080" y="3121151"/>
            <a:ext cx="408431" cy="408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46574" y="313907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46574" y="313907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520278" y="31389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64207" y="2121407"/>
            <a:ext cx="405383" cy="408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06820" y="214114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06820" y="214114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60776" y="2508504"/>
            <a:ext cx="405384" cy="4084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03313" y="252804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1"/>
                </a:lnTo>
                <a:lnTo>
                  <a:pt x="160020" y="320040"/>
                </a:lnTo>
                <a:lnTo>
                  <a:pt x="210598" y="311881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39" y="160020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03313" y="252804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71927" y="2840735"/>
            <a:ext cx="408431" cy="408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16515" y="285905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16515" y="285905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309615" y="2523744"/>
            <a:ext cx="408432" cy="4084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354745" y="254335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354745" y="2543356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194027" y="2677844"/>
            <a:ext cx="1115060" cy="36830"/>
          </a:xfrm>
          <a:custGeom>
            <a:avLst/>
            <a:gdLst/>
            <a:ahLst/>
            <a:cxnLst/>
            <a:rect l="l" t="t" r="r" b="b"/>
            <a:pathLst>
              <a:path w="1115060" h="36830">
                <a:moveTo>
                  <a:pt x="1035225" y="7190"/>
                </a:moveTo>
                <a:lnTo>
                  <a:pt x="1028785" y="13542"/>
                </a:lnTo>
                <a:lnTo>
                  <a:pt x="1028674" y="29323"/>
                </a:lnTo>
                <a:lnTo>
                  <a:pt x="1035025" y="35764"/>
                </a:lnTo>
                <a:lnTo>
                  <a:pt x="1107955" y="36275"/>
                </a:lnTo>
                <a:lnTo>
                  <a:pt x="1114397" y="29922"/>
                </a:lnTo>
                <a:lnTo>
                  <a:pt x="1114507" y="14141"/>
                </a:lnTo>
                <a:lnTo>
                  <a:pt x="1108155" y="7700"/>
                </a:lnTo>
                <a:lnTo>
                  <a:pt x="1035225" y="7190"/>
                </a:lnTo>
                <a:close/>
              </a:path>
              <a:path w="1115060" h="36830">
                <a:moveTo>
                  <a:pt x="920929" y="6391"/>
                </a:moveTo>
                <a:lnTo>
                  <a:pt x="914487" y="12743"/>
                </a:lnTo>
                <a:lnTo>
                  <a:pt x="914377" y="28524"/>
                </a:lnTo>
                <a:lnTo>
                  <a:pt x="920728" y="34965"/>
                </a:lnTo>
                <a:lnTo>
                  <a:pt x="993658" y="35476"/>
                </a:lnTo>
                <a:lnTo>
                  <a:pt x="1000099" y="29123"/>
                </a:lnTo>
                <a:lnTo>
                  <a:pt x="1000210" y="13342"/>
                </a:lnTo>
                <a:lnTo>
                  <a:pt x="993858" y="6901"/>
                </a:lnTo>
                <a:lnTo>
                  <a:pt x="920929" y="6391"/>
                </a:lnTo>
                <a:close/>
              </a:path>
              <a:path w="1115060" h="36830">
                <a:moveTo>
                  <a:pt x="806631" y="5593"/>
                </a:moveTo>
                <a:lnTo>
                  <a:pt x="800190" y="11944"/>
                </a:lnTo>
                <a:lnTo>
                  <a:pt x="800079" y="27725"/>
                </a:lnTo>
                <a:lnTo>
                  <a:pt x="806432" y="34166"/>
                </a:lnTo>
                <a:lnTo>
                  <a:pt x="879361" y="34677"/>
                </a:lnTo>
                <a:lnTo>
                  <a:pt x="885802" y="28324"/>
                </a:lnTo>
                <a:lnTo>
                  <a:pt x="885912" y="12543"/>
                </a:lnTo>
                <a:lnTo>
                  <a:pt x="879561" y="6102"/>
                </a:lnTo>
                <a:lnTo>
                  <a:pt x="806631" y="5593"/>
                </a:lnTo>
                <a:close/>
              </a:path>
              <a:path w="1115060" h="36830">
                <a:moveTo>
                  <a:pt x="692334" y="4792"/>
                </a:moveTo>
                <a:lnTo>
                  <a:pt x="685892" y="11145"/>
                </a:lnTo>
                <a:lnTo>
                  <a:pt x="685782" y="26926"/>
                </a:lnTo>
                <a:lnTo>
                  <a:pt x="692134" y="33367"/>
                </a:lnTo>
                <a:lnTo>
                  <a:pt x="765064" y="33877"/>
                </a:lnTo>
                <a:lnTo>
                  <a:pt x="771505" y="27525"/>
                </a:lnTo>
                <a:lnTo>
                  <a:pt x="771616" y="11744"/>
                </a:lnTo>
                <a:lnTo>
                  <a:pt x="765263" y="5303"/>
                </a:lnTo>
                <a:lnTo>
                  <a:pt x="692334" y="4792"/>
                </a:lnTo>
                <a:close/>
              </a:path>
              <a:path w="1115060" h="36830">
                <a:moveTo>
                  <a:pt x="578036" y="3994"/>
                </a:moveTo>
                <a:lnTo>
                  <a:pt x="571595" y="10346"/>
                </a:lnTo>
                <a:lnTo>
                  <a:pt x="571486" y="26127"/>
                </a:lnTo>
                <a:lnTo>
                  <a:pt x="577837" y="32569"/>
                </a:lnTo>
                <a:lnTo>
                  <a:pt x="650767" y="33078"/>
                </a:lnTo>
                <a:lnTo>
                  <a:pt x="657208" y="26727"/>
                </a:lnTo>
                <a:lnTo>
                  <a:pt x="657318" y="10946"/>
                </a:lnTo>
                <a:lnTo>
                  <a:pt x="650966" y="4504"/>
                </a:lnTo>
                <a:lnTo>
                  <a:pt x="578036" y="3994"/>
                </a:lnTo>
                <a:close/>
              </a:path>
              <a:path w="1115060" h="36830">
                <a:moveTo>
                  <a:pt x="463739" y="3195"/>
                </a:moveTo>
                <a:lnTo>
                  <a:pt x="457299" y="9547"/>
                </a:lnTo>
                <a:lnTo>
                  <a:pt x="457188" y="25328"/>
                </a:lnTo>
                <a:lnTo>
                  <a:pt x="463539" y="31770"/>
                </a:lnTo>
                <a:lnTo>
                  <a:pt x="536469" y="32279"/>
                </a:lnTo>
                <a:lnTo>
                  <a:pt x="542911" y="25928"/>
                </a:lnTo>
                <a:lnTo>
                  <a:pt x="543021" y="10147"/>
                </a:lnTo>
                <a:lnTo>
                  <a:pt x="536668" y="3705"/>
                </a:lnTo>
                <a:lnTo>
                  <a:pt x="463739" y="3195"/>
                </a:lnTo>
                <a:close/>
              </a:path>
              <a:path w="1115060" h="36830">
                <a:moveTo>
                  <a:pt x="349443" y="2396"/>
                </a:moveTo>
                <a:lnTo>
                  <a:pt x="343001" y="8749"/>
                </a:lnTo>
                <a:lnTo>
                  <a:pt x="342891" y="24530"/>
                </a:lnTo>
                <a:lnTo>
                  <a:pt x="349242" y="30971"/>
                </a:lnTo>
                <a:lnTo>
                  <a:pt x="422172" y="31480"/>
                </a:lnTo>
                <a:lnTo>
                  <a:pt x="428613" y="25129"/>
                </a:lnTo>
                <a:lnTo>
                  <a:pt x="428724" y="9347"/>
                </a:lnTo>
                <a:lnTo>
                  <a:pt x="422372" y="2907"/>
                </a:lnTo>
                <a:lnTo>
                  <a:pt x="349443" y="2396"/>
                </a:lnTo>
                <a:close/>
              </a:path>
              <a:path w="1115060" h="36830">
                <a:moveTo>
                  <a:pt x="235145" y="1597"/>
                </a:moveTo>
                <a:lnTo>
                  <a:pt x="228704" y="7948"/>
                </a:lnTo>
                <a:lnTo>
                  <a:pt x="228593" y="23731"/>
                </a:lnTo>
                <a:lnTo>
                  <a:pt x="234946" y="30171"/>
                </a:lnTo>
                <a:lnTo>
                  <a:pt x="307875" y="30681"/>
                </a:lnTo>
                <a:lnTo>
                  <a:pt x="314316" y="24329"/>
                </a:lnTo>
                <a:lnTo>
                  <a:pt x="314426" y="8548"/>
                </a:lnTo>
                <a:lnTo>
                  <a:pt x="308075" y="2106"/>
                </a:lnTo>
                <a:lnTo>
                  <a:pt x="235145" y="1597"/>
                </a:lnTo>
                <a:close/>
              </a:path>
              <a:path w="1115060" h="36830">
                <a:moveTo>
                  <a:pt x="120848" y="798"/>
                </a:moveTo>
                <a:lnTo>
                  <a:pt x="114406" y="7150"/>
                </a:lnTo>
                <a:lnTo>
                  <a:pt x="114296" y="22931"/>
                </a:lnTo>
                <a:lnTo>
                  <a:pt x="120648" y="29372"/>
                </a:lnTo>
                <a:lnTo>
                  <a:pt x="193578" y="29883"/>
                </a:lnTo>
                <a:lnTo>
                  <a:pt x="200019" y="23530"/>
                </a:lnTo>
                <a:lnTo>
                  <a:pt x="200130" y="7749"/>
                </a:lnTo>
                <a:lnTo>
                  <a:pt x="193777" y="1308"/>
                </a:lnTo>
                <a:lnTo>
                  <a:pt x="120848" y="798"/>
                </a:lnTo>
                <a:close/>
              </a:path>
              <a:path w="1115060" h="36830">
                <a:moveTo>
                  <a:pt x="6550" y="0"/>
                </a:moveTo>
                <a:lnTo>
                  <a:pt x="109" y="6351"/>
                </a:lnTo>
                <a:lnTo>
                  <a:pt x="0" y="22132"/>
                </a:lnTo>
                <a:lnTo>
                  <a:pt x="6351" y="28573"/>
                </a:lnTo>
                <a:lnTo>
                  <a:pt x="79281" y="29084"/>
                </a:lnTo>
                <a:lnTo>
                  <a:pt x="85722" y="22731"/>
                </a:lnTo>
                <a:lnTo>
                  <a:pt x="85832" y="6950"/>
                </a:lnTo>
                <a:lnTo>
                  <a:pt x="79480" y="509"/>
                </a:lnTo>
                <a:lnTo>
                  <a:pt x="6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78311" y="2351817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548253" y="2351817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4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278312" y="3037617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050279" y="3142488"/>
            <a:ext cx="408431" cy="4084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094044" y="316080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094044" y="316080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112991" y="3163316"/>
            <a:ext cx="254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 b="1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309359" y="2145792"/>
            <a:ext cx="408432" cy="40538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354288" y="216287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354288" y="216287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120128" y="2862072"/>
            <a:ext cx="408431" cy="40843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163983" y="28807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8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8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163983" y="28807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777448" y="2041652"/>
            <a:ext cx="5682615" cy="114109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4597400" algn="l"/>
              </a:tabLst>
            </a:pPr>
            <a:r>
              <a:rPr dirty="0" baseline="1543" sz="2700" b="1">
                <a:solidFill>
                  <a:srgbClr val="FFFFFF"/>
                </a:solidFill>
                <a:latin typeface="Arial"/>
                <a:cs typeface="Arial"/>
              </a:rPr>
              <a:t>3	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800">
              <a:latin typeface="Arial"/>
              <a:cs typeface="Arial"/>
            </a:endParaRPr>
          </a:p>
          <a:p>
            <a:pPr marL="1517015">
              <a:lnSpc>
                <a:spcPct val="100000"/>
              </a:lnSpc>
              <a:spcBef>
                <a:spcPts val="860"/>
              </a:spcBef>
              <a:tabLst>
                <a:tab pos="2155825" algn="l"/>
                <a:tab pos="3608070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	</a:t>
            </a:r>
            <a:r>
              <a:rPr dirty="0" baseline="3086" sz="2700" b="1">
                <a:solidFill>
                  <a:srgbClr val="FFFFFF"/>
                </a:solidFill>
                <a:latin typeface="Arial"/>
                <a:cs typeface="Arial"/>
              </a:rPr>
              <a:t>5	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  <a:p>
            <a:pPr marL="835025">
              <a:lnSpc>
                <a:spcPct val="100000"/>
              </a:lnSpc>
              <a:spcBef>
                <a:spcPts val="575"/>
              </a:spcBef>
              <a:tabLst>
                <a:tab pos="5415280" algn="l"/>
              </a:tabLs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	</a:t>
            </a:r>
            <a:r>
              <a:rPr dirty="0" baseline="1543" sz="2700" spc="-7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baseline="1543" sz="27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2"/>
              </a:rPr>
              <a:t>http://cs224w.stanford.edu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514344" cy="53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546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Cannot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utilize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node,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edge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</a:t>
            </a:r>
            <a:r>
              <a:rPr dirty="0" spc="10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features</a:t>
            </a:r>
          </a:p>
        </p:txBody>
      </p:sp>
      <p:sp>
        <p:nvSpPr>
          <p:cNvPr id="4" name="object 4"/>
          <p:cNvSpPr/>
          <p:nvPr/>
        </p:nvSpPr>
        <p:spPr>
          <a:xfrm>
            <a:off x="851152" y="2897504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21095" y="2897504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51153" y="3583303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30504" y="2871034"/>
            <a:ext cx="1738630" cy="376555"/>
          </a:xfrm>
          <a:custGeom>
            <a:avLst/>
            <a:gdLst/>
            <a:ahLst/>
            <a:cxnLst/>
            <a:rect l="l" t="t" r="r" b="b"/>
            <a:pathLst>
              <a:path w="1738630" h="376555">
                <a:moveTo>
                  <a:pt x="1738160" y="376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1791" y="3688079"/>
            <a:ext cx="408432" cy="4084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6885" y="370649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6885" y="370649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40588" y="370585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83919" y="2691383"/>
            <a:ext cx="408431" cy="4053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27129" y="270856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27129" y="270856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97758" y="27091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09672" y="3078479"/>
            <a:ext cx="408431" cy="405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53432" y="309545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1" y="210598"/>
                </a:lnTo>
                <a:lnTo>
                  <a:pt x="320039" y="160019"/>
                </a:lnTo>
                <a:lnTo>
                  <a:pt x="311881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53432" y="309545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91639" y="3407664"/>
            <a:ext cx="408431" cy="4084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36825" y="342646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36825" y="342646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839333" y="31023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0153" y="34498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97051" y="3482798"/>
            <a:ext cx="80645" cy="544195"/>
          </a:xfrm>
          <a:custGeom>
            <a:avLst/>
            <a:gdLst/>
            <a:ahLst/>
            <a:cxnLst/>
            <a:rect l="l" t="t" r="r" b="b"/>
            <a:pathLst>
              <a:path w="80644" h="544195">
                <a:moveTo>
                  <a:pt x="0" y="0"/>
                </a:moveTo>
                <a:lnTo>
                  <a:pt x="80415" y="0"/>
                </a:lnTo>
                <a:lnTo>
                  <a:pt x="80415" y="543736"/>
                </a:lnTo>
                <a:lnTo>
                  <a:pt x="0" y="543736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97051" y="3482798"/>
            <a:ext cx="80645" cy="544195"/>
          </a:xfrm>
          <a:custGeom>
            <a:avLst/>
            <a:gdLst/>
            <a:ahLst/>
            <a:cxnLst/>
            <a:rect l="l" t="t" r="r" b="b"/>
            <a:pathLst>
              <a:path w="80644" h="544195">
                <a:moveTo>
                  <a:pt x="0" y="0"/>
                </a:moveTo>
                <a:lnTo>
                  <a:pt x="80415" y="0"/>
                </a:lnTo>
                <a:lnTo>
                  <a:pt x="80415" y="543736"/>
                </a:lnTo>
                <a:lnTo>
                  <a:pt x="0" y="54373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60316" y="3857473"/>
            <a:ext cx="80645" cy="544195"/>
          </a:xfrm>
          <a:custGeom>
            <a:avLst/>
            <a:gdLst/>
            <a:ahLst/>
            <a:cxnLst/>
            <a:rect l="l" t="t" r="r" b="b"/>
            <a:pathLst>
              <a:path w="80644" h="544195">
                <a:moveTo>
                  <a:pt x="0" y="0"/>
                </a:moveTo>
                <a:lnTo>
                  <a:pt x="80415" y="0"/>
                </a:lnTo>
                <a:lnTo>
                  <a:pt x="80415" y="543736"/>
                </a:lnTo>
                <a:lnTo>
                  <a:pt x="0" y="543736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60316" y="3857473"/>
            <a:ext cx="80645" cy="544195"/>
          </a:xfrm>
          <a:custGeom>
            <a:avLst/>
            <a:gdLst/>
            <a:ahLst/>
            <a:cxnLst/>
            <a:rect l="l" t="t" r="r" b="b"/>
            <a:pathLst>
              <a:path w="80644" h="544195">
                <a:moveTo>
                  <a:pt x="0" y="0"/>
                </a:moveTo>
                <a:lnTo>
                  <a:pt x="80415" y="0"/>
                </a:lnTo>
                <a:lnTo>
                  <a:pt x="80415" y="543736"/>
                </a:lnTo>
                <a:lnTo>
                  <a:pt x="0" y="54373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0737" y="4119759"/>
            <a:ext cx="80645" cy="544195"/>
          </a:xfrm>
          <a:custGeom>
            <a:avLst/>
            <a:gdLst/>
            <a:ahLst/>
            <a:cxnLst/>
            <a:rect l="l" t="t" r="r" b="b"/>
            <a:pathLst>
              <a:path w="80644" h="544195">
                <a:moveTo>
                  <a:pt x="0" y="0"/>
                </a:moveTo>
                <a:lnTo>
                  <a:pt x="80415" y="0"/>
                </a:lnTo>
                <a:lnTo>
                  <a:pt x="80415" y="543735"/>
                </a:lnTo>
                <a:lnTo>
                  <a:pt x="0" y="54373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0737" y="4119759"/>
            <a:ext cx="80645" cy="544195"/>
          </a:xfrm>
          <a:custGeom>
            <a:avLst/>
            <a:gdLst/>
            <a:ahLst/>
            <a:cxnLst/>
            <a:rect l="l" t="t" r="r" b="b"/>
            <a:pathLst>
              <a:path w="80644" h="544195">
                <a:moveTo>
                  <a:pt x="0" y="0"/>
                </a:moveTo>
                <a:lnTo>
                  <a:pt x="80415" y="0"/>
                </a:lnTo>
                <a:lnTo>
                  <a:pt x="80415" y="543736"/>
                </a:lnTo>
                <a:lnTo>
                  <a:pt x="0" y="54373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35332" y="2066662"/>
            <a:ext cx="80645" cy="544195"/>
          </a:xfrm>
          <a:custGeom>
            <a:avLst/>
            <a:gdLst/>
            <a:ahLst/>
            <a:cxnLst/>
            <a:rect l="l" t="t" r="r" b="b"/>
            <a:pathLst>
              <a:path w="80644" h="544194">
                <a:moveTo>
                  <a:pt x="0" y="0"/>
                </a:moveTo>
                <a:lnTo>
                  <a:pt x="80415" y="0"/>
                </a:lnTo>
                <a:lnTo>
                  <a:pt x="80415" y="543735"/>
                </a:lnTo>
                <a:lnTo>
                  <a:pt x="0" y="54373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35332" y="2066662"/>
            <a:ext cx="80645" cy="544195"/>
          </a:xfrm>
          <a:custGeom>
            <a:avLst/>
            <a:gdLst/>
            <a:ahLst/>
            <a:cxnLst/>
            <a:rect l="l" t="t" r="r" b="b"/>
            <a:pathLst>
              <a:path w="80644" h="544194">
                <a:moveTo>
                  <a:pt x="0" y="0"/>
                </a:moveTo>
                <a:lnTo>
                  <a:pt x="80415" y="0"/>
                </a:lnTo>
                <a:lnTo>
                  <a:pt x="80415" y="543736"/>
                </a:lnTo>
                <a:lnTo>
                  <a:pt x="0" y="54373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196469" y="3347368"/>
            <a:ext cx="633730" cy="340360"/>
          </a:xfrm>
          <a:custGeom>
            <a:avLst/>
            <a:gdLst/>
            <a:ahLst/>
            <a:cxnLst/>
            <a:rect l="l" t="t" r="r" b="b"/>
            <a:pathLst>
              <a:path w="633729" h="340360">
                <a:moveTo>
                  <a:pt x="55998" y="262309"/>
                </a:moveTo>
                <a:lnTo>
                  <a:pt x="0" y="340093"/>
                </a:lnTo>
                <a:lnTo>
                  <a:pt x="95825" y="338221"/>
                </a:lnTo>
                <a:lnTo>
                  <a:pt x="87955" y="323221"/>
                </a:lnTo>
                <a:lnTo>
                  <a:pt x="62910" y="323221"/>
                </a:lnTo>
                <a:lnTo>
                  <a:pt x="54274" y="320528"/>
                </a:lnTo>
                <a:lnTo>
                  <a:pt x="46943" y="306553"/>
                </a:lnTo>
                <a:lnTo>
                  <a:pt x="49635" y="297917"/>
                </a:lnTo>
                <a:lnTo>
                  <a:pt x="69274" y="287614"/>
                </a:lnTo>
                <a:lnTo>
                  <a:pt x="55998" y="262309"/>
                </a:lnTo>
                <a:close/>
              </a:path>
              <a:path w="633729" h="340360">
                <a:moveTo>
                  <a:pt x="69274" y="287614"/>
                </a:moveTo>
                <a:lnTo>
                  <a:pt x="49635" y="297917"/>
                </a:lnTo>
                <a:lnTo>
                  <a:pt x="46943" y="306553"/>
                </a:lnTo>
                <a:lnTo>
                  <a:pt x="54274" y="320528"/>
                </a:lnTo>
                <a:lnTo>
                  <a:pt x="62910" y="323221"/>
                </a:lnTo>
                <a:lnTo>
                  <a:pt x="82549" y="312917"/>
                </a:lnTo>
                <a:lnTo>
                  <a:pt x="69274" y="287614"/>
                </a:lnTo>
                <a:close/>
              </a:path>
              <a:path w="633729" h="340360">
                <a:moveTo>
                  <a:pt x="82549" y="312917"/>
                </a:moveTo>
                <a:lnTo>
                  <a:pt x="62910" y="323221"/>
                </a:lnTo>
                <a:lnTo>
                  <a:pt x="87955" y="323221"/>
                </a:lnTo>
                <a:lnTo>
                  <a:pt x="82549" y="312917"/>
                </a:lnTo>
                <a:close/>
              </a:path>
              <a:path w="633729" h="340360">
                <a:moveTo>
                  <a:pt x="617474" y="0"/>
                </a:moveTo>
                <a:lnTo>
                  <a:pt x="69274" y="287614"/>
                </a:lnTo>
                <a:lnTo>
                  <a:pt x="82549" y="312917"/>
                </a:lnTo>
                <a:lnTo>
                  <a:pt x="630749" y="25303"/>
                </a:lnTo>
                <a:lnTo>
                  <a:pt x="633441" y="16667"/>
                </a:lnTo>
                <a:lnTo>
                  <a:pt x="626110" y="2692"/>
                </a:lnTo>
                <a:lnTo>
                  <a:pt x="617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015304" y="2864611"/>
            <a:ext cx="3658235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Feature</a:t>
            </a:r>
            <a:r>
              <a:rPr dirty="0" sz="1800" spc="-6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vector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spc="-5" b="1">
                <a:latin typeface="Arial"/>
                <a:cs typeface="Arial"/>
              </a:rPr>
              <a:t>(e.g. protein properties in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-5" b="1">
                <a:latin typeface="Arial"/>
                <a:cs typeface="Arial"/>
              </a:rPr>
              <a:t>protein-protein interaction</a:t>
            </a:r>
            <a:r>
              <a:rPr dirty="0" sz="1800" spc="2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7"/>
              </a:rPr>
              <a:t>http://cs224w.stanford.edu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34" name="object 34"/>
          <p:cNvSpPr txBox="1"/>
          <p:nvPr/>
        </p:nvSpPr>
        <p:spPr>
          <a:xfrm>
            <a:off x="814009" y="3922267"/>
            <a:ext cx="7584440" cy="2326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213735" marR="932180">
              <a:lnSpc>
                <a:spcPct val="99400"/>
              </a:lnSpc>
              <a:spcBef>
                <a:spcPts val="110"/>
              </a:spcBef>
            </a:pPr>
            <a:r>
              <a:rPr dirty="0" sz="1800" spc="-15" b="1">
                <a:solidFill>
                  <a:srgbClr val="008000"/>
                </a:solidFill>
                <a:latin typeface="Arial"/>
                <a:cs typeface="Arial"/>
              </a:rPr>
              <a:t>DeepWalk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/ node2vec 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embeddings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do not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incorporate  such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dirty="0" sz="1800" spc="-7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Solution </a:t>
            </a:r>
            <a:r>
              <a:rPr dirty="0" sz="2400" spc="-10" b="1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these </a:t>
            </a:r>
            <a:r>
              <a:rPr dirty="0" sz="2400" spc="-10" b="1">
                <a:solidFill>
                  <a:srgbClr val="D60093"/>
                </a:solidFill>
                <a:latin typeface="Calibri"/>
                <a:cs typeface="Calibri"/>
              </a:rPr>
              <a:t>limitations: 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Deep </a:t>
            </a:r>
            <a:r>
              <a:rPr dirty="0" sz="2400" spc="-15" b="1">
                <a:solidFill>
                  <a:srgbClr val="D60093"/>
                </a:solidFill>
                <a:latin typeface="Calibri"/>
                <a:cs typeface="Calibri"/>
              </a:rPr>
              <a:t>Representation 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Learning  </a:t>
            </a:r>
            <a:r>
              <a:rPr dirty="0" sz="2400" b="1">
                <a:solidFill>
                  <a:srgbClr val="D60093"/>
                </a:solidFill>
                <a:latin typeface="Calibri"/>
                <a:cs typeface="Calibri"/>
              </a:rPr>
              <a:t>and </a:t>
            </a:r>
            <a:r>
              <a:rPr dirty="0" sz="2400" spc="-15" b="1">
                <a:solidFill>
                  <a:srgbClr val="D60093"/>
                </a:solidFill>
                <a:latin typeface="Calibri"/>
                <a:cs typeface="Calibri"/>
              </a:rPr>
              <a:t>Graph Neural</a:t>
            </a:r>
            <a:r>
              <a:rPr dirty="0" sz="2400" spc="-8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D60093"/>
                </a:solidFill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spc="-75">
                <a:latin typeface="Calibri"/>
                <a:cs typeface="Calibri"/>
              </a:rPr>
              <a:t>(To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15">
                <a:latin typeface="Calibri"/>
                <a:cs typeface="Calibri"/>
              </a:rPr>
              <a:t>covered </a:t>
            </a:r>
            <a:r>
              <a:rPr dirty="0" sz="2400" spc="-5">
                <a:latin typeface="Calibri"/>
                <a:cs typeface="Calibri"/>
              </a:rPr>
              <a:t>in depth </a:t>
            </a:r>
            <a:r>
              <a:rPr dirty="0" sz="2400" spc="-10">
                <a:latin typeface="Calibri"/>
                <a:cs typeface="Calibri"/>
              </a:rPr>
              <a:t>next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week)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2383536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18872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60">
                <a:solidFill>
                  <a:srgbClr val="008000"/>
                </a:solidFill>
              </a:rPr>
              <a:t>P</a:t>
            </a:r>
            <a:r>
              <a:rPr dirty="0" sz="3000" spc="-10">
                <a:solidFill>
                  <a:srgbClr val="008000"/>
                </a:solidFill>
              </a:rPr>
              <a:t>a</a:t>
            </a:r>
            <a:r>
              <a:rPr dirty="0" sz="3000" spc="-30">
                <a:solidFill>
                  <a:srgbClr val="008000"/>
                </a:solidFill>
              </a:rPr>
              <a:t>g</a:t>
            </a:r>
            <a:r>
              <a:rPr dirty="0" sz="3000">
                <a:solidFill>
                  <a:srgbClr val="008000"/>
                </a:solidFill>
              </a:rPr>
              <a:t>e</a:t>
            </a:r>
            <a:r>
              <a:rPr dirty="0" sz="3000" spc="-5">
                <a:solidFill>
                  <a:srgbClr val="008000"/>
                </a:solidFill>
              </a:rPr>
              <a:t>R</a:t>
            </a:r>
            <a:r>
              <a:rPr dirty="0" sz="3000" spc="-10">
                <a:solidFill>
                  <a:srgbClr val="008000"/>
                </a:solidFill>
              </a:rPr>
              <a:t>a</a:t>
            </a:r>
            <a:r>
              <a:rPr dirty="0" sz="3000">
                <a:solidFill>
                  <a:srgbClr val="008000"/>
                </a:solidFill>
              </a:rPr>
              <a:t>nk</a:t>
            </a:r>
            <a:endParaRPr sz="3000"/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769364"/>
            <a:ext cx="7976234" cy="453136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3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Measures </a:t>
            </a:r>
            <a:r>
              <a:rPr dirty="0" sz="2600" spc="-5">
                <a:latin typeface="Calibri"/>
                <a:cs typeface="Calibri"/>
              </a:rPr>
              <a:t>importance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nodes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graph</a:t>
            </a:r>
            <a:endParaRPr sz="2600">
              <a:latin typeface="Calibri"/>
              <a:cs typeface="Calibri"/>
            </a:endParaRPr>
          </a:p>
          <a:p>
            <a:pPr marL="625475" marR="625475" indent="-274320">
              <a:lnSpc>
                <a:spcPts val="278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>
                <a:latin typeface="Calibri"/>
                <a:cs typeface="Calibri"/>
              </a:rPr>
              <a:t>Can </a:t>
            </a:r>
            <a:r>
              <a:rPr dirty="0" sz="2600" spc="-5">
                <a:latin typeface="Calibri"/>
                <a:cs typeface="Calibri"/>
              </a:rPr>
              <a:t>be </a:t>
            </a:r>
            <a:r>
              <a:rPr dirty="0" sz="2600" spc="-15">
                <a:latin typeface="Calibri"/>
                <a:cs typeface="Calibri"/>
              </a:rPr>
              <a:t>efficiently </a:t>
            </a:r>
            <a:r>
              <a:rPr dirty="0" sz="2600" spc="-10">
                <a:latin typeface="Calibri"/>
                <a:cs typeface="Calibri"/>
              </a:rPr>
              <a:t>computed by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power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iteration </a:t>
            </a:r>
            <a:r>
              <a:rPr dirty="0" sz="2600" spc="-530" b="1">
                <a:solidFill>
                  <a:srgbClr val="0070C0"/>
                </a:solidFill>
                <a:latin typeface="Calibri"/>
                <a:cs typeface="Calibri"/>
              </a:rPr>
              <a:t>of 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adjacency</a:t>
            </a:r>
            <a:r>
              <a:rPr dirty="0" sz="2600" spc="-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matrix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26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solidFill>
                  <a:srgbClr val="008000"/>
                </a:solidFill>
                <a:latin typeface="Calibri"/>
                <a:cs typeface="Calibri"/>
              </a:rPr>
              <a:t>Personalized PageRank</a:t>
            </a:r>
            <a:r>
              <a:rPr dirty="0" sz="3000" spc="-4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(PPR)</a:t>
            </a:r>
            <a:endParaRPr sz="3000">
              <a:latin typeface="Calibri"/>
              <a:cs typeface="Calibri"/>
            </a:endParaRPr>
          </a:p>
          <a:p>
            <a:pPr lvl="1" marL="625475" marR="848360" indent="-274320">
              <a:lnSpc>
                <a:spcPts val="281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Measures </a:t>
            </a:r>
            <a:r>
              <a:rPr dirty="0" sz="2600" spc="-5">
                <a:latin typeface="Calibri"/>
                <a:cs typeface="Calibri"/>
              </a:rPr>
              <a:t>importance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nodes </a:t>
            </a:r>
            <a:r>
              <a:rPr dirty="0" sz="2600">
                <a:latin typeface="Calibri"/>
                <a:cs typeface="Calibri"/>
              </a:rPr>
              <a:t>with </a:t>
            </a:r>
            <a:r>
              <a:rPr dirty="0" sz="2600" spc="-10">
                <a:latin typeface="Calibri"/>
                <a:cs typeface="Calibri"/>
              </a:rPr>
              <a:t>respect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545">
                <a:latin typeface="Calibri"/>
                <a:cs typeface="Calibri"/>
              </a:rPr>
              <a:t>a  </a:t>
            </a:r>
            <a:r>
              <a:rPr dirty="0" sz="2600" spc="-5">
                <a:latin typeface="Calibri"/>
                <a:cs typeface="Calibri"/>
              </a:rPr>
              <a:t>particular node </a:t>
            </a:r>
            <a:r>
              <a:rPr dirty="0" sz="2600">
                <a:latin typeface="Calibri"/>
                <a:cs typeface="Calibri"/>
              </a:rPr>
              <a:t>or </a:t>
            </a:r>
            <a:r>
              <a:rPr dirty="0" sz="2600" spc="-10">
                <a:latin typeface="Calibri"/>
                <a:cs typeface="Calibri"/>
              </a:rPr>
              <a:t>set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nodes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ts val="2955"/>
              </a:lnSpc>
              <a:spcBef>
                <a:spcPts val="2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>
                <a:latin typeface="Calibri"/>
                <a:cs typeface="Calibri"/>
              </a:rPr>
              <a:t>Can </a:t>
            </a:r>
            <a:r>
              <a:rPr dirty="0" sz="2600" spc="-5">
                <a:latin typeface="Calibri"/>
                <a:cs typeface="Calibri"/>
              </a:rPr>
              <a:t>be </a:t>
            </a:r>
            <a:r>
              <a:rPr dirty="0" sz="2600" spc="-15">
                <a:latin typeface="Calibri"/>
                <a:cs typeface="Calibri"/>
              </a:rPr>
              <a:t>efficiently </a:t>
            </a:r>
            <a:r>
              <a:rPr dirty="0" sz="2600" spc="-10">
                <a:latin typeface="Calibri"/>
                <a:cs typeface="Calibri"/>
              </a:rPr>
              <a:t>computed by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random</a:t>
            </a:r>
            <a:r>
              <a:rPr dirty="0" sz="2600" spc="-3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walk</a:t>
            </a:r>
            <a:endParaRPr sz="2600">
              <a:latin typeface="Calibri"/>
              <a:cs typeface="Calibri"/>
            </a:endParaRPr>
          </a:p>
          <a:p>
            <a:pPr marL="332740" marR="394335" indent="-320040">
              <a:lnSpc>
                <a:spcPts val="3190"/>
              </a:lnSpc>
              <a:spcBef>
                <a:spcPts val="28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Node embeddings </a:t>
            </a:r>
            <a:r>
              <a:rPr dirty="0" sz="3000" spc="-5">
                <a:latin typeface="Calibri"/>
                <a:cs typeface="Calibri"/>
              </a:rPr>
              <a:t>based </a:t>
            </a:r>
            <a:r>
              <a:rPr dirty="0" sz="3000">
                <a:latin typeface="Calibri"/>
                <a:cs typeface="Calibri"/>
              </a:rPr>
              <a:t>on </a:t>
            </a:r>
            <a:r>
              <a:rPr dirty="0" sz="3000" spc="-15">
                <a:latin typeface="Calibri"/>
                <a:cs typeface="Calibri"/>
              </a:rPr>
              <a:t>random walks can  </a:t>
            </a:r>
            <a:r>
              <a:rPr dirty="0" sz="3000" spc="-5">
                <a:latin typeface="Calibri"/>
                <a:cs typeface="Calibri"/>
              </a:rPr>
              <a:t>be </a:t>
            </a:r>
            <a:r>
              <a:rPr dirty="0" sz="3000" spc="-15">
                <a:latin typeface="Calibri"/>
                <a:cs typeface="Calibri"/>
              </a:rPr>
              <a:t>expressed </a:t>
            </a:r>
            <a:r>
              <a:rPr dirty="0" sz="3000">
                <a:latin typeface="Calibri"/>
                <a:cs typeface="Calibri"/>
              </a:rPr>
              <a:t>as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matrix</a:t>
            </a:r>
            <a:r>
              <a:rPr dirty="0" sz="3000" spc="-5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factorization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ts val="3190"/>
              </a:lnSpc>
              <a:spcBef>
                <a:spcPts val="12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Viewing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graphs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as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matrices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plays </a:t>
            </a: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000" spc="-40" b="1">
                <a:solidFill>
                  <a:srgbClr val="C00000"/>
                </a:solidFill>
                <a:latin typeface="Calibri"/>
                <a:cs typeface="Calibri"/>
              </a:rPr>
              <a:t>key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role </a:t>
            </a: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all 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above</a:t>
            </a:r>
            <a:r>
              <a:rPr dirty="0" sz="3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algorithms!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2026-10-20T23:46:42Z</dcterms:created>
  <dcterms:modified xsi:type="dcterms:W3CDTF">2026-10-20T23:46:42Z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2021-02-15T00:00:00Z</vt:filetime>
  </property>
  <property fmtid="{D5CDD505-2E9C-101B-9397-08002B2CF9AE}" pid="3" name="LastSaved">
    <vt:filetime>2026-10-20T00:00:00Z</vt:filetime>
  </property>
</Properties>
</file>