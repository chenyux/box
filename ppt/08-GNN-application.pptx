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B05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B05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B05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7871" y="1318260"/>
            <a:ext cx="8202930" cy="998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B05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108" y="2414523"/>
            <a:ext cx="7923530" cy="2532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7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hyperlink" Target="http://cs224w.stanford.edu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://cs224w.stanford.edu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3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Relationship Id="rId4" Type="http://schemas.openxmlformats.org/officeDocument/2006/relationships/hyperlink" Target="http://cs224w.stanford.edu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hyperlink" Target="http://cs224w.stanford.edu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hyperlink" Target="http://cs224w.stanford.edu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Relationship Id="rId4" Type="http://schemas.openxmlformats.org/officeDocument/2006/relationships/hyperlink" Target="http://cs224w.stanford.edu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Relationship Id="rId4" Type="http://schemas.openxmlformats.org/officeDocument/2006/relationships/hyperlink" Target="http://cs224w.stanford.edu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hyperlink" Target="http://cs224w.stanford.edu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hyperlink" Target="http://cs224w.stanford.edu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hyperlink" Target="http://cs224w.stanford.edu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hyperlink" Target="http://cs224w.stanford.edu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hyperlink" Target="http://cs224w.stanford.edu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hyperlink" Target="http://cs224w.stanford.edu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jpg"/><Relationship Id="rId4" Type="http://schemas.openxmlformats.org/officeDocument/2006/relationships/image" Target="../media/image46.png"/><Relationship Id="rId5" Type="http://schemas.openxmlformats.org/officeDocument/2006/relationships/hyperlink" Target="http://cs224w.stanford.edu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hyperlink" Target="http://cs224w.stanford.edu/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hyperlink" Target="http://cs224w.stanford.edu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9.png"/><Relationship Id="rId3" Type="http://schemas.openxmlformats.org/officeDocument/2006/relationships/hyperlink" Target="http://cs224w.stanford.edu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hyperlink" Target="http://cs224w.stanford.edu/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4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3" Type="http://schemas.openxmlformats.org/officeDocument/2006/relationships/image" Target="../media/image56.jpg"/><Relationship Id="rId4" Type="http://schemas.openxmlformats.org/officeDocument/2006/relationships/hyperlink" Target="http://cs224w.stanford.edu/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jp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hyperlink" Target="http://cs224w.stanford.edu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hyperlink" Target="http://cs224w.stanford.edu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jpg"/><Relationship Id="rId4" Type="http://schemas.openxmlformats.org/officeDocument/2006/relationships/hyperlink" Target="http://cs224w.stanford.edu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hyperlink" Target="http://cs224w.stanford.edu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jpg"/><Relationship Id="rId4" Type="http://schemas.openxmlformats.org/officeDocument/2006/relationships/hyperlink" Target="http://cs224w.stanford.edu/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hyperlink" Target="http://cs224w.stanford.edu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hyperlink" Target="http://cs224w.stanford.edu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jpg"/><Relationship Id="rId4" Type="http://schemas.openxmlformats.org/officeDocument/2006/relationships/image" Target="../media/image74.png"/><Relationship Id="rId5" Type="http://schemas.openxmlformats.org/officeDocument/2006/relationships/hyperlink" Target="http://cs224w.stanford.edu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hyperlink" Target="http://cs224w.stanford.edu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hyperlink" Target="http://cs224w.stanford.edu/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hyperlink" Target="http://cs224w.stanford.edu/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jpg"/><Relationship Id="rId3" Type="http://schemas.openxmlformats.org/officeDocument/2006/relationships/image" Target="../media/image79.png"/><Relationship Id="rId4" Type="http://schemas.openxmlformats.org/officeDocument/2006/relationships/hyperlink" Target="http://cs224w.stanford.edu/" TargetMode="Externa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jpg"/><Relationship Id="rId3" Type="http://schemas.openxmlformats.org/officeDocument/2006/relationships/image" Target="../media/image81.png"/><Relationship Id="rId4" Type="http://schemas.openxmlformats.org/officeDocument/2006/relationships/hyperlink" Target="http://cs224w.stanford.edu/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85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jpg"/><Relationship Id="rId4" Type="http://schemas.openxmlformats.org/officeDocument/2006/relationships/image" Target="../media/image88.jpg"/><Relationship Id="rId5" Type="http://schemas.openxmlformats.org/officeDocument/2006/relationships/image" Target="../media/image89.jpg"/><Relationship Id="rId6" Type="http://schemas.openxmlformats.org/officeDocument/2006/relationships/hyperlink" Target="http://cs224w.stanford.edu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hyperlink" Target="http://cs224w.stanford.edu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hyperlink" Target="http://cs224w.stanford.edu/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hyperlink" Target="http://cs224w.stanford.edu/" TargetMode="Externa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openxmlformats.org/officeDocument/2006/relationships/image" Target="../media/image94.jpg"/><Relationship Id="rId4" Type="http://schemas.openxmlformats.org/officeDocument/2006/relationships/image" Target="../media/image95.jpg"/><Relationship Id="rId5" Type="http://schemas.openxmlformats.org/officeDocument/2006/relationships/image" Target="../media/image96.jpg"/><Relationship Id="rId6" Type="http://schemas.openxmlformats.org/officeDocument/2006/relationships/hyperlink" Target="http://cs224w.stanford.edu/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hyperlink" Target="http://cs224w.stanford.edu/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3" Type="http://schemas.openxmlformats.org/officeDocument/2006/relationships/hyperlink" Target="http://cs224w.stanford.edu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Relationship Id="rId3" Type="http://schemas.openxmlformats.org/officeDocument/2006/relationships/hyperlink" Target="http://cs224w.stanford.edu/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hyperlink" Target="http://cs224w.stanford.edu/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1.png"/><Relationship Id="rId3" Type="http://schemas.openxmlformats.org/officeDocument/2006/relationships/image" Target="../media/image102.jpg"/><Relationship Id="rId4" Type="http://schemas.openxmlformats.org/officeDocument/2006/relationships/image" Target="../media/image103.jpg"/><Relationship Id="rId5" Type="http://schemas.openxmlformats.org/officeDocument/2006/relationships/image" Target="../media/image104.jpg"/><Relationship Id="rId6" Type="http://schemas.openxmlformats.org/officeDocument/2006/relationships/hyperlink" Target="http://cs224w.stanford.edu/" TargetMode="Externa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hyperlink" Target="http://cs224w.stanford.edu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Relationship Id="rId3" Type="http://schemas.openxmlformats.org/officeDocument/2006/relationships/hyperlink" Target="http://cs224w.stanford.edu/" TargetMode="Externa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3" Type="http://schemas.openxmlformats.org/officeDocument/2006/relationships/image" Target="../media/image108.jpg"/><Relationship Id="rId4" Type="http://schemas.openxmlformats.org/officeDocument/2006/relationships/hyperlink" Target="http://cs224w.stanford.edu/" TargetMode="Externa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png"/><Relationship Id="rId3" Type="http://schemas.openxmlformats.org/officeDocument/2006/relationships/image" Target="../media/image110.jpg"/><Relationship Id="rId4" Type="http://schemas.openxmlformats.org/officeDocument/2006/relationships/hyperlink" Target="http://cs224w.stanford.edu/" TargetMode="Externa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1.png"/><Relationship Id="rId3" Type="http://schemas.openxmlformats.org/officeDocument/2006/relationships/image" Target="../media/image112.jpg"/><Relationship Id="rId4" Type="http://schemas.openxmlformats.org/officeDocument/2006/relationships/hyperlink" Target="http://cs224w.stanford.edu/" TargetMode="Externa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16.jp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image" Target="../media/image118.jpg"/><Relationship Id="rId4" Type="http://schemas.openxmlformats.org/officeDocument/2006/relationships/image" Target="../media/image119.jpg"/><Relationship Id="rId5" Type="http://schemas.openxmlformats.org/officeDocument/2006/relationships/image" Target="../media/image120.jpg"/><Relationship Id="rId6" Type="http://schemas.openxmlformats.org/officeDocument/2006/relationships/image" Target="../media/image121.jpg"/><Relationship Id="rId7" Type="http://schemas.openxmlformats.org/officeDocument/2006/relationships/image" Target="../media/image122.jpg"/><Relationship Id="rId8" Type="http://schemas.openxmlformats.org/officeDocument/2006/relationships/image" Target="../media/image123.jpg"/><Relationship Id="rId9" Type="http://schemas.openxmlformats.org/officeDocument/2006/relationships/image" Target="../media/image124.jpg"/><Relationship Id="rId10" Type="http://schemas.openxmlformats.org/officeDocument/2006/relationships/image" Target="../media/image125.jpg"/><Relationship Id="rId11" Type="http://schemas.openxmlformats.org/officeDocument/2006/relationships/hyperlink" Target="http://cs224w.stanford.edu/" TargetMode="Externa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3" Type="http://schemas.openxmlformats.org/officeDocument/2006/relationships/hyperlink" Target="http://cs224w.stanford.edu/" TargetMode="Externa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Relationship Id="rId8" Type="http://schemas.openxmlformats.org/officeDocument/2006/relationships/image" Target="../media/image133.png"/><Relationship Id="rId9" Type="http://schemas.openxmlformats.org/officeDocument/2006/relationships/hyperlink" Target="http://cs224w.stanford.edu/" TargetMode="Externa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Relationship Id="rId9" Type="http://schemas.openxmlformats.org/officeDocument/2006/relationships/hyperlink" Target="http://cs224w.stanford.edu/" TargetMode="Externa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Relationship Id="rId9" Type="http://schemas.openxmlformats.org/officeDocument/2006/relationships/hyperlink" Target="http://cs224w.stanford.edu/" TargetMode="Externa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8.png"/><Relationship Id="rId3" Type="http://schemas.openxmlformats.org/officeDocument/2006/relationships/image" Target="../media/image149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53.png"/><Relationship Id="rId8" Type="http://schemas.openxmlformats.org/officeDocument/2006/relationships/image" Target="../media/image154.png"/><Relationship Id="rId9" Type="http://schemas.openxmlformats.org/officeDocument/2006/relationships/hyperlink" Target="http://cs224w.stanford.edu/" TargetMode="Externa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5.png"/><Relationship Id="rId3" Type="http://schemas.openxmlformats.org/officeDocument/2006/relationships/hyperlink" Target="http://cs224w.stanford.edu/" TargetMode="Externa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6.png"/><Relationship Id="rId3" Type="http://schemas.openxmlformats.org/officeDocument/2006/relationships/image" Target="../media/image157.jpg"/><Relationship Id="rId4" Type="http://schemas.openxmlformats.org/officeDocument/2006/relationships/image" Target="../media/image158.jpg"/><Relationship Id="rId5" Type="http://schemas.openxmlformats.org/officeDocument/2006/relationships/image" Target="../media/image159.jpg"/><Relationship Id="rId6" Type="http://schemas.openxmlformats.org/officeDocument/2006/relationships/image" Target="../media/image160.jpg"/><Relationship Id="rId7" Type="http://schemas.openxmlformats.org/officeDocument/2006/relationships/hyperlink" Target="http://cs224w.stanford.edu/" TargetMode="Externa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1.png"/><Relationship Id="rId3" Type="http://schemas.openxmlformats.org/officeDocument/2006/relationships/image" Target="../media/image162.jpg"/><Relationship Id="rId4" Type="http://schemas.openxmlformats.org/officeDocument/2006/relationships/image" Target="../media/image163.jpg"/><Relationship Id="rId5" Type="http://schemas.openxmlformats.org/officeDocument/2006/relationships/image" Target="../media/image164.jpg"/><Relationship Id="rId6" Type="http://schemas.openxmlformats.org/officeDocument/2006/relationships/image" Target="../media/image165.jpg"/><Relationship Id="rId7" Type="http://schemas.openxmlformats.org/officeDocument/2006/relationships/image" Target="../media/image166.jpg"/><Relationship Id="rId8" Type="http://schemas.openxmlformats.org/officeDocument/2006/relationships/hyperlink" Target="http://cs224w.stanford.edu/" TargetMode="Externa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7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png"/><Relationship Id="rId9" Type="http://schemas.openxmlformats.org/officeDocument/2006/relationships/image" Target="../media/image174.png"/><Relationship Id="rId10" Type="http://schemas.openxmlformats.org/officeDocument/2006/relationships/image" Target="../media/image175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Relationship Id="rId13" Type="http://schemas.openxmlformats.org/officeDocument/2006/relationships/image" Target="../media/image178.png"/><Relationship Id="rId14" Type="http://schemas.openxmlformats.org/officeDocument/2006/relationships/image" Target="../media/image179.png"/><Relationship Id="rId15" Type="http://schemas.openxmlformats.org/officeDocument/2006/relationships/image" Target="../media/image180.png"/><Relationship Id="rId16" Type="http://schemas.openxmlformats.org/officeDocument/2006/relationships/image" Target="../media/image181.png"/><Relationship Id="rId17" Type="http://schemas.openxmlformats.org/officeDocument/2006/relationships/image" Target="../media/image182.png"/><Relationship Id="rId18" Type="http://schemas.openxmlformats.org/officeDocument/2006/relationships/hyperlink" Target="http://cs224w.stanford.edu/" TargetMode="Externa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3.png"/><Relationship Id="rId3" Type="http://schemas.openxmlformats.org/officeDocument/2006/relationships/image" Target="../media/image184.png"/><Relationship Id="rId4" Type="http://schemas.openxmlformats.org/officeDocument/2006/relationships/image" Target="../media/image185.png"/><Relationship Id="rId5" Type="http://schemas.openxmlformats.org/officeDocument/2006/relationships/image" Target="../media/image186.png"/><Relationship Id="rId6" Type="http://schemas.openxmlformats.org/officeDocument/2006/relationships/image" Target="../media/image187.png"/><Relationship Id="rId7" Type="http://schemas.openxmlformats.org/officeDocument/2006/relationships/image" Target="../media/image188.png"/><Relationship Id="rId8" Type="http://schemas.openxmlformats.org/officeDocument/2006/relationships/hyperlink" Target="http://cs224w.stanford.edu/" TargetMode="Externa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9.png"/><Relationship Id="rId3" Type="http://schemas.openxmlformats.org/officeDocument/2006/relationships/image" Target="../media/image190.png"/><Relationship Id="rId4" Type="http://schemas.openxmlformats.org/officeDocument/2006/relationships/image" Target="../media/image191.png"/><Relationship Id="rId5" Type="http://schemas.openxmlformats.org/officeDocument/2006/relationships/image" Target="../media/image192.png"/><Relationship Id="rId6" Type="http://schemas.openxmlformats.org/officeDocument/2006/relationships/image" Target="../media/image193.png"/><Relationship Id="rId7" Type="http://schemas.openxmlformats.org/officeDocument/2006/relationships/image" Target="../media/image194.png"/><Relationship Id="rId8" Type="http://schemas.openxmlformats.org/officeDocument/2006/relationships/image" Target="../media/image195.png"/><Relationship Id="rId9" Type="http://schemas.openxmlformats.org/officeDocument/2006/relationships/image" Target="../media/image196.png"/><Relationship Id="rId10" Type="http://schemas.openxmlformats.org/officeDocument/2006/relationships/image" Target="../media/image197.png"/><Relationship Id="rId11" Type="http://schemas.openxmlformats.org/officeDocument/2006/relationships/image" Target="../media/image198.png"/><Relationship Id="rId12" Type="http://schemas.openxmlformats.org/officeDocument/2006/relationships/image" Target="../media/image199.png"/><Relationship Id="rId13" Type="http://schemas.openxmlformats.org/officeDocument/2006/relationships/image" Target="../media/image200.png"/><Relationship Id="rId14" Type="http://schemas.openxmlformats.org/officeDocument/2006/relationships/image" Target="../media/image201.png"/><Relationship Id="rId15" Type="http://schemas.openxmlformats.org/officeDocument/2006/relationships/image" Target="../media/image202.png"/><Relationship Id="rId16" Type="http://schemas.openxmlformats.org/officeDocument/2006/relationships/image" Target="../media/image203.png"/><Relationship Id="rId17" Type="http://schemas.openxmlformats.org/officeDocument/2006/relationships/image" Target="../media/image204.png"/><Relationship Id="rId18" Type="http://schemas.openxmlformats.org/officeDocument/2006/relationships/hyperlink" Target="http://cs224w.stanford.edu/" TargetMode="Externa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5.png"/><Relationship Id="rId3" Type="http://schemas.openxmlformats.org/officeDocument/2006/relationships/image" Target="../media/image206.png"/><Relationship Id="rId4" Type="http://schemas.openxmlformats.org/officeDocument/2006/relationships/image" Target="../media/image207.png"/><Relationship Id="rId5" Type="http://schemas.openxmlformats.org/officeDocument/2006/relationships/image" Target="../media/image208.png"/><Relationship Id="rId6" Type="http://schemas.openxmlformats.org/officeDocument/2006/relationships/image" Target="../media/image209.png"/><Relationship Id="rId7" Type="http://schemas.openxmlformats.org/officeDocument/2006/relationships/image" Target="../media/image210.png"/><Relationship Id="rId8" Type="http://schemas.openxmlformats.org/officeDocument/2006/relationships/image" Target="../media/image211.png"/><Relationship Id="rId9" Type="http://schemas.openxmlformats.org/officeDocument/2006/relationships/image" Target="../media/image212.png"/><Relationship Id="rId10" Type="http://schemas.openxmlformats.org/officeDocument/2006/relationships/image" Target="../media/image213.png"/><Relationship Id="rId11" Type="http://schemas.openxmlformats.org/officeDocument/2006/relationships/image" Target="../media/image214.png"/><Relationship Id="rId12" Type="http://schemas.openxmlformats.org/officeDocument/2006/relationships/image" Target="../media/image215.png"/><Relationship Id="rId13" Type="http://schemas.openxmlformats.org/officeDocument/2006/relationships/image" Target="../media/image216.png"/><Relationship Id="rId14" Type="http://schemas.openxmlformats.org/officeDocument/2006/relationships/image" Target="../media/image217.png"/><Relationship Id="rId15" Type="http://schemas.openxmlformats.org/officeDocument/2006/relationships/image" Target="../media/image218.png"/><Relationship Id="rId16" Type="http://schemas.openxmlformats.org/officeDocument/2006/relationships/image" Target="../media/image219.png"/><Relationship Id="rId17" Type="http://schemas.openxmlformats.org/officeDocument/2006/relationships/image" Target="../media/image220.png"/><Relationship Id="rId18" Type="http://schemas.openxmlformats.org/officeDocument/2006/relationships/hyperlink" Target="http://cs224w.stanford.edu/" TargetMode="Externa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1.png"/><Relationship Id="rId3" Type="http://schemas.openxmlformats.org/officeDocument/2006/relationships/image" Target="../media/image222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hyperlink" Target="http://cs224w.stanford.edu/" TargetMode="Externa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image" Target="../media/image232.png"/><Relationship Id="rId8" Type="http://schemas.openxmlformats.org/officeDocument/2006/relationships/hyperlink" Target="http://cs224w.stanford.edu/" TargetMode="Externa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Relationship Id="rId4" Type="http://schemas.openxmlformats.org/officeDocument/2006/relationships/image" Target="../media/image235.png"/><Relationship Id="rId5" Type="http://schemas.openxmlformats.org/officeDocument/2006/relationships/image" Target="../media/image236.png"/><Relationship Id="rId6" Type="http://schemas.openxmlformats.org/officeDocument/2006/relationships/image" Target="../media/image237.png"/><Relationship Id="rId7" Type="http://schemas.openxmlformats.org/officeDocument/2006/relationships/image" Target="../media/image238.png"/><Relationship Id="rId8" Type="http://schemas.openxmlformats.org/officeDocument/2006/relationships/image" Target="../media/image239.png"/><Relationship Id="rId9" Type="http://schemas.openxmlformats.org/officeDocument/2006/relationships/image" Target="../media/image240.png"/><Relationship Id="rId10" Type="http://schemas.openxmlformats.org/officeDocument/2006/relationships/image" Target="../media/image241.png"/><Relationship Id="rId11" Type="http://schemas.openxmlformats.org/officeDocument/2006/relationships/image" Target="../media/image242.png"/><Relationship Id="rId12" Type="http://schemas.openxmlformats.org/officeDocument/2006/relationships/image" Target="../media/image243.png"/><Relationship Id="rId13" Type="http://schemas.openxmlformats.org/officeDocument/2006/relationships/image" Target="../media/image244.png"/><Relationship Id="rId14" Type="http://schemas.openxmlformats.org/officeDocument/2006/relationships/image" Target="../media/image245.png"/><Relationship Id="rId15" Type="http://schemas.openxmlformats.org/officeDocument/2006/relationships/image" Target="../media/image246.png"/><Relationship Id="rId16" Type="http://schemas.openxmlformats.org/officeDocument/2006/relationships/image" Target="../media/image247.png"/><Relationship Id="rId17" Type="http://schemas.openxmlformats.org/officeDocument/2006/relationships/image" Target="../media/image248.png"/><Relationship Id="rId18" Type="http://schemas.openxmlformats.org/officeDocument/2006/relationships/image" Target="../media/image249.png"/><Relationship Id="rId19" Type="http://schemas.openxmlformats.org/officeDocument/2006/relationships/image" Target="../media/image250.png"/><Relationship Id="rId20" Type="http://schemas.openxmlformats.org/officeDocument/2006/relationships/image" Target="../media/image251.png"/><Relationship Id="rId21" Type="http://schemas.openxmlformats.org/officeDocument/2006/relationships/image" Target="../media/image252.png"/><Relationship Id="rId22" Type="http://schemas.openxmlformats.org/officeDocument/2006/relationships/image" Target="../media/image253.png"/><Relationship Id="rId23" Type="http://schemas.openxmlformats.org/officeDocument/2006/relationships/hyperlink" Target="http://cs224w.stanford.edu/" TargetMode="Externa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4.png"/><Relationship Id="rId3" Type="http://schemas.openxmlformats.org/officeDocument/2006/relationships/image" Target="../media/image255.png"/><Relationship Id="rId4" Type="http://schemas.openxmlformats.org/officeDocument/2006/relationships/image" Target="../media/image256.png"/><Relationship Id="rId5" Type="http://schemas.openxmlformats.org/officeDocument/2006/relationships/image" Target="../media/image257.png"/><Relationship Id="rId6" Type="http://schemas.openxmlformats.org/officeDocument/2006/relationships/image" Target="../media/image258.png"/><Relationship Id="rId7" Type="http://schemas.openxmlformats.org/officeDocument/2006/relationships/image" Target="../media/image259.png"/><Relationship Id="rId8" Type="http://schemas.openxmlformats.org/officeDocument/2006/relationships/image" Target="../media/image260.png"/><Relationship Id="rId9" Type="http://schemas.openxmlformats.org/officeDocument/2006/relationships/image" Target="../media/image261.png"/><Relationship Id="rId10" Type="http://schemas.openxmlformats.org/officeDocument/2006/relationships/image" Target="../media/image262.png"/><Relationship Id="rId11" Type="http://schemas.openxmlformats.org/officeDocument/2006/relationships/image" Target="../media/image263.png"/><Relationship Id="rId12" Type="http://schemas.openxmlformats.org/officeDocument/2006/relationships/image" Target="../media/image264.png"/><Relationship Id="rId13" Type="http://schemas.openxmlformats.org/officeDocument/2006/relationships/image" Target="../media/image265.png"/><Relationship Id="rId14" Type="http://schemas.openxmlformats.org/officeDocument/2006/relationships/image" Target="../media/image266.png"/><Relationship Id="rId15" Type="http://schemas.openxmlformats.org/officeDocument/2006/relationships/image" Target="../media/image267.png"/><Relationship Id="rId16" Type="http://schemas.openxmlformats.org/officeDocument/2006/relationships/image" Target="../media/image268.png"/><Relationship Id="rId17" Type="http://schemas.openxmlformats.org/officeDocument/2006/relationships/image" Target="../media/image269.png"/><Relationship Id="rId18" Type="http://schemas.openxmlformats.org/officeDocument/2006/relationships/hyperlink" Target="http://cs224w.stanford.edu/" TargetMode="Externa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0.png"/><Relationship Id="rId3" Type="http://schemas.openxmlformats.org/officeDocument/2006/relationships/image" Target="../media/image271.png"/><Relationship Id="rId4" Type="http://schemas.openxmlformats.org/officeDocument/2006/relationships/image" Target="../media/image272.png"/><Relationship Id="rId5" Type="http://schemas.openxmlformats.org/officeDocument/2006/relationships/image" Target="../media/image273.png"/><Relationship Id="rId6" Type="http://schemas.openxmlformats.org/officeDocument/2006/relationships/image" Target="../media/image274.png"/><Relationship Id="rId7" Type="http://schemas.openxmlformats.org/officeDocument/2006/relationships/image" Target="../media/image275.png"/><Relationship Id="rId8" Type="http://schemas.openxmlformats.org/officeDocument/2006/relationships/image" Target="../media/image276.png"/><Relationship Id="rId9" Type="http://schemas.openxmlformats.org/officeDocument/2006/relationships/image" Target="../media/image277.png"/><Relationship Id="rId10" Type="http://schemas.openxmlformats.org/officeDocument/2006/relationships/image" Target="../media/image278.png"/><Relationship Id="rId11" Type="http://schemas.openxmlformats.org/officeDocument/2006/relationships/image" Target="../media/image279.png"/><Relationship Id="rId12" Type="http://schemas.openxmlformats.org/officeDocument/2006/relationships/image" Target="../media/image280.png"/><Relationship Id="rId13" Type="http://schemas.openxmlformats.org/officeDocument/2006/relationships/hyperlink" Target="http://cs224w.stanford.edu/" TargetMode="Externa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1.png"/><Relationship Id="rId3" Type="http://schemas.openxmlformats.org/officeDocument/2006/relationships/image" Target="../media/image282.jpg"/><Relationship Id="rId4" Type="http://schemas.openxmlformats.org/officeDocument/2006/relationships/image" Target="../media/image283.jpg"/><Relationship Id="rId5" Type="http://schemas.openxmlformats.org/officeDocument/2006/relationships/image" Target="../media/image284.jpg"/><Relationship Id="rId6" Type="http://schemas.openxmlformats.org/officeDocument/2006/relationships/image" Target="../media/image285.jpg"/><Relationship Id="rId7" Type="http://schemas.openxmlformats.org/officeDocument/2006/relationships/image" Target="../media/image286.jpg"/><Relationship Id="rId8" Type="http://schemas.openxmlformats.org/officeDocument/2006/relationships/image" Target="../media/image287.jpg"/><Relationship Id="rId9" Type="http://schemas.openxmlformats.org/officeDocument/2006/relationships/image" Target="../media/image288.jpg"/><Relationship Id="rId10" Type="http://schemas.openxmlformats.org/officeDocument/2006/relationships/image" Target="../media/image289.jpg"/><Relationship Id="rId11" Type="http://schemas.openxmlformats.org/officeDocument/2006/relationships/hyperlink" Target="http://cs224w.stanford.edu/" TargetMode="Externa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0.png"/><Relationship Id="rId3" Type="http://schemas.openxmlformats.org/officeDocument/2006/relationships/hyperlink" Target="http://cs224w.stanford.edu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7240" y="3002279"/>
            <a:ext cx="6193536" cy="20238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1954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992" y="1600200"/>
            <a:ext cx="8229599" cy="4746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511524" y="3726370"/>
            <a:ext cx="43180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100">
                <a:latin typeface="Arial"/>
                <a:cs typeface="Arial"/>
              </a:rPr>
              <a:t>…</a:t>
            </a:r>
            <a:endParaRPr sz="3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43400" y="4282064"/>
            <a:ext cx="4648200" cy="2322195"/>
          </a:xfrm>
          <a:custGeom>
            <a:avLst/>
            <a:gdLst/>
            <a:ahLst/>
            <a:cxnLst/>
            <a:rect l="l" t="t" r="r" b="b"/>
            <a:pathLst>
              <a:path w="4648200" h="2322195">
                <a:moveTo>
                  <a:pt x="4648200" y="1088139"/>
                </a:moveTo>
                <a:lnTo>
                  <a:pt x="0" y="1088139"/>
                </a:lnTo>
                <a:lnTo>
                  <a:pt x="0" y="2322053"/>
                </a:lnTo>
                <a:lnTo>
                  <a:pt x="4648200" y="2322053"/>
                </a:lnTo>
                <a:lnTo>
                  <a:pt x="4648200" y="1088139"/>
                </a:lnTo>
                <a:close/>
              </a:path>
              <a:path w="4648200" h="2322195">
                <a:moveTo>
                  <a:pt x="4397754" y="0"/>
                </a:moveTo>
                <a:lnTo>
                  <a:pt x="2711450" y="1088139"/>
                </a:lnTo>
                <a:lnTo>
                  <a:pt x="3873500" y="1088139"/>
                </a:lnTo>
                <a:lnTo>
                  <a:pt x="43977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14825" y="4253570"/>
            <a:ext cx="4705350" cy="2379345"/>
          </a:xfrm>
          <a:custGeom>
            <a:avLst/>
            <a:gdLst/>
            <a:ahLst/>
            <a:cxnLst/>
            <a:rect l="l" t="t" r="r" b="b"/>
            <a:pathLst>
              <a:path w="4705350" h="2379345">
                <a:moveTo>
                  <a:pt x="4428475" y="0"/>
                </a:moveTo>
                <a:lnTo>
                  <a:pt x="4419400" y="769"/>
                </a:lnTo>
                <a:lnTo>
                  <a:pt x="4410835" y="4484"/>
                </a:lnTo>
                <a:lnTo>
                  <a:pt x="2731606" y="1088058"/>
                </a:lnTo>
                <a:lnTo>
                  <a:pt x="28575" y="1088058"/>
                </a:lnTo>
                <a:lnTo>
                  <a:pt x="17452" y="1090304"/>
                </a:lnTo>
                <a:lnTo>
                  <a:pt x="8369" y="1096428"/>
                </a:lnTo>
                <a:lnTo>
                  <a:pt x="2245" y="1105511"/>
                </a:lnTo>
                <a:lnTo>
                  <a:pt x="0" y="1116633"/>
                </a:lnTo>
                <a:lnTo>
                  <a:pt x="0" y="2350547"/>
                </a:lnTo>
                <a:lnTo>
                  <a:pt x="2245" y="2361670"/>
                </a:lnTo>
                <a:lnTo>
                  <a:pt x="8369" y="2370752"/>
                </a:lnTo>
                <a:lnTo>
                  <a:pt x="17452" y="2376876"/>
                </a:lnTo>
                <a:lnTo>
                  <a:pt x="28575" y="2379122"/>
                </a:lnTo>
                <a:lnTo>
                  <a:pt x="4676775" y="2379122"/>
                </a:lnTo>
                <a:lnTo>
                  <a:pt x="4687897" y="2376876"/>
                </a:lnTo>
                <a:lnTo>
                  <a:pt x="4696980" y="2370752"/>
                </a:lnTo>
                <a:lnTo>
                  <a:pt x="4703104" y="2361670"/>
                </a:lnTo>
                <a:lnTo>
                  <a:pt x="4705350" y="2350547"/>
                </a:lnTo>
                <a:lnTo>
                  <a:pt x="4705350" y="2344832"/>
                </a:lnTo>
                <a:lnTo>
                  <a:pt x="34289" y="2344832"/>
                </a:lnTo>
                <a:lnTo>
                  <a:pt x="34289" y="1122348"/>
                </a:lnTo>
                <a:lnTo>
                  <a:pt x="2741123" y="1122348"/>
                </a:lnTo>
                <a:lnTo>
                  <a:pt x="2742200" y="1122031"/>
                </a:lnTo>
                <a:lnTo>
                  <a:pt x="4375546" y="68064"/>
                </a:lnTo>
                <a:lnTo>
                  <a:pt x="4400586" y="16092"/>
                </a:lnTo>
                <a:lnTo>
                  <a:pt x="4451807" y="16092"/>
                </a:lnTo>
                <a:lnTo>
                  <a:pt x="4451139" y="14312"/>
                </a:lnTo>
                <a:lnTo>
                  <a:pt x="4445243" y="7075"/>
                </a:lnTo>
                <a:lnTo>
                  <a:pt x="4437332" y="2120"/>
                </a:lnTo>
                <a:lnTo>
                  <a:pt x="4428475" y="0"/>
                </a:lnTo>
                <a:close/>
              </a:path>
              <a:path w="4705350" h="2379345">
                <a:moveTo>
                  <a:pt x="4454464" y="26013"/>
                </a:moveTo>
                <a:lnTo>
                  <a:pt x="4421181" y="26013"/>
                </a:lnTo>
                <a:lnTo>
                  <a:pt x="4429427" y="33296"/>
                </a:lnTo>
                <a:lnTo>
                  <a:pt x="4426724" y="35041"/>
                </a:lnTo>
                <a:lnTo>
                  <a:pt x="4435624" y="42900"/>
                </a:lnTo>
                <a:lnTo>
                  <a:pt x="4432921" y="44644"/>
                </a:lnTo>
                <a:lnTo>
                  <a:pt x="4441822" y="52504"/>
                </a:lnTo>
                <a:lnTo>
                  <a:pt x="4393347" y="83784"/>
                </a:lnTo>
                <a:lnTo>
                  <a:pt x="3896072" y="1115923"/>
                </a:lnTo>
                <a:lnTo>
                  <a:pt x="3896189" y="1118008"/>
                </a:lnTo>
                <a:lnTo>
                  <a:pt x="3898281" y="1121337"/>
                </a:lnTo>
                <a:lnTo>
                  <a:pt x="3900109" y="1122348"/>
                </a:lnTo>
                <a:lnTo>
                  <a:pt x="4671059" y="1122348"/>
                </a:lnTo>
                <a:lnTo>
                  <a:pt x="4671059" y="2344832"/>
                </a:lnTo>
                <a:lnTo>
                  <a:pt x="4705350" y="2344832"/>
                </a:lnTo>
                <a:lnTo>
                  <a:pt x="4705350" y="1116633"/>
                </a:lnTo>
                <a:lnTo>
                  <a:pt x="4703104" y="1105511"/>
                </a:lnTo>
                <a:lnTo>
                  <a:pt x="4696980" y="1096428"/>
                </a:lnTo>
                <a:lnTo>
                  <a:pt x="4687897" y="1090304"/>
                </a:lnTo>
                <a:lnTo>
                  <a:pt x="4676775" y="1088058"/>
                </a:lnTo>
                <a:lnTo>
                  <a:pt x="3947560" y="1088058"/>
                </a:lnTo>
                <a:lnTo>
                  <a:pt x="4452072" y="40896"/>
                </a:lnTo>
                <a:lnTo>
                  <a:pt x="4454698" y="31938"/>
                </a:lnTo>
                <a:lnTo>
                  <a:pt x="4454464" y="26013"/>
                </a:lnTo>
                <a:close/>
              </a:path>
              <a:path w="4705350" h="2379345">
                <a:moveTo>
                  <a:pt x="4366036" y="87804"/>
                </a:moveTo>
                <a:lnTo>
                  <a:pt x="2746550" y="1132827"/>
                </a:lnTo>
                <a:lnTo>
                  <a:pt x="2743321" y="1133778"/>
                </a:lnTo>
                <a:lnTo>
                  <a:pt x="45720" y="1133778"/>
                </a:lnTo>
                <a:lnTo>
                  <a:pt x="45720" y="2333402"/>
                </a:lnTo>
                <a:lnTo>
                  <a:pt x="4659630" y="2333402"/>
                </a:lnTo>
                <a:lnTo>
                  <a:pt x="4659630" y="2321972"/>
                </a:lnTo>
                <a:lnTo>
                  <a:pt x="57150" y="2321972"/>
                </a:lnTo>
                <a:lnTo>
                  <a:pt x="57150" y="1145208"/>
                </a:lnTo>
                <a:lnTo>
                  <a:pt x="2745520" y="1145208"/>
                </a:lnTo>
                <a:lnTo>
                  <a:pt x="2750900" y="1143623"/>
                </a:lnTo>
                <a:lnTo>
                  <a:pt x="4356525" y="107544"/>
                </a:lnTo>
                <a:lnTo>
                  <a:pt x="4366036" y="87804"/>
                </a:lnTo>
                <a:close/>
              </a:path>
              <a:path w="4705350" h="2379345">
                <a:moveTo>
                  <a:pt x="4374935" y="95665"/>
                </a:moveTo>
                <a:lnTo>
                  <a:pt x="4356525" y="107544"/>
                </a:lnTo>
                <a:lnTo>
                  <a:pt x="3876332" y="1104230"/>
                </a:lnTo>
                <a:lnTo>
                  <a:pt x="3874038" y="1111108"/>
                </a:lnTo>
                <a:lnTo>
                  <a:pt x="3873544" y="1118231"/>
                </a:lnTo>
                <a:lnTo>
                  <a:pt x="3874831" y="1125255"/>
                </a:lnTo>
                <a:lnTo>
                  <a:pt x="3902075" y="1145208"/>
                </a:lnTo>
                <a:lnTo>
                  <a:pt x="4648200" y="1145208"/>
                </a:lnTo>
                <a:lnTo>
                  <a:pt x="4648200" y="2321972"/>
                </a:lnTo>
                <a:lnTo>
                  <a:pt x="4659630" y="2321972"/>
                </a:lnTo>
                <a:lnTo>
                  <a:pt x="4659630" y="1133778"/>
                </a:lnTo>
                <a:lnTo>
                  <a:pt x="3896177" y="1133778"/>
                </a:lnTo>
                <a:lnTo>
                  <a:pt x="3890694" y="1130747"/>
                </a:lnTo>
                <a:lnTo>
                  <a:pt x="3884419" y="1120759"/>
                </a:lnTo>
                <a:lnTo>
                  <a:pt x="3884068" y="1114505"/>
                </a:lnTo>
                <a:lnTo>
                  <a:pt x="4374935" y="95665"/>
                </a:lnTo>
                <a:close/>
              </a:path>
              <a:path w="4705350" h="2379345">
                <a:moveTo>
                  <a:pt x="4384445" y="75925"/>
                </a:moveTo>
                <a:lnTo>
                  <a:pt x="4366036" y="87804"/>
                </a:lnTo>
                <a:lnTo>
                  <a:pt x="4356525" y="107544"/>
                </a:lnTo>
                <a:lnTo>
                  <a:pt x="4374935" y="95665"/>
                </a:lnTo>
                <a:lnTo>
                  <a:pt x="4384445" y="75925"/>
                </a:lnTo>
                <a:close/>
              </a:path>
              <a:path w="4705350" h="2379345">
                <a:moveTo>
                  <a:pt x="4402858" y="64044"/>
                </a:moveTo>
                <a:lnTo>
                  <a:pt x="4384445" y="75925"/>
                </a:lnTo>
                <a:lnTo>
                  <a:pt x="4374935" y="95665"/>
                </a:lnTo>
                <a:lnTo>
                  <a:pt x="4393347" y="83784"/>
                </a:lnTo>
                <a:lnTo>
                  <a:pt x="4402858" y="64044"/>
                </a:lnTo>
                <a:close/>
              </a:path>
              <a:path w="4705350" h="2379345">
                <a:moveTo>
                  <a:pt x="4393956" y="56185"/>
                </a:moveTo>
                <a:lnTo>
                  <a:pt x="4375546" y="68064"/>
                </a:lnTo>
                <a:lnTo>
                  <a:pt x="4366036" y="87804"/>
                </a:lnTo>
                <a:lnTo>
                  <a:pt x="4384445" y="75925"/>
                </a:lnTo>
                <a:lnTo>
                  <a:pt x="4393956" y="56185"/>
                </a:lnTo>
                <a:close/>
              </a:path>
              <a:path w="4705350" h="2379345">
                <a:moveTo>
                  <a:pt x="4432921" y="44644"/>
                </a:moveTo>
                <a:lnTo>
                  <a:pt x="4402858" y="64044"/>
                </a:lnTo>
                <a:lnTo>
                  <a:pt x="4393347" y="83784"/>
                </a:lnTo>
                <a:lnTo>
                  <a:pt x="4441822" y="52504"/>
                </a:lnTo>
                <a:lnTo>
                  <a:pt x="4432921" y="44644"/>
                </a:lnTo>
                <a:close/>
              </a:path>
              <a:path w="4705350" h="2379345">
                <a:moveTo>
                  <a:pt x="4400586" y="16092"/>
                </a:moveTo>
                <a:lnTo>
                  <a:pt x="4375546" y="68064"/>
                </a:lnTo>
                <a:lnTo>
                  <a:pt x="4393956" y="56185"/>
                </a:lnTo>
                <a:lnTo>
                  <a:pt x="4409486" y="23950"/>
                </a:lnTo>
                <a:lnTo>
                  <a:pt x="4400586" y="16092"/>
                </a:lnTo>
                <a:close/>
              </a:path>
              <a:path w="4705350" h="2379345">
                <a:moveTo>
                  <a:pt x="4424021" y="36785"/>
                </a:moveTo>
                <a:lnTo>
                  <a:pt x="4412368" y="44304"/>
                </a:lnTo>
                <a:lnTo>
                  <a:pt x="4402858" y="64044"/>
                </a:lnTo>
                <a:lnTo>
                  <a:pt x="4432921" y="44644"/>
                </a:lnTo>
                <a:lnTo>
                  <a:pt x="4424021" y="36785"/>
                </a:lnTo>
                <a:close/>
              </a:path>
              <a:path w="4705350" h="2379345">
                <a:moveTo>
                  <a:pt x="4409486" y="23950"/>
                </a:moveTo>
                <a:lnTo>
                  <a:pt x="4393956" y="56185"/>
                </a:lnTo>
                <a:lnTo>
                  <a:pt x="4412368" y="44304"/>
                </a:lnTo>
                <a:lnTo>
                  <a:pt x="4418387" y="31811"/>
                </a:lnTo>
                <a:lnTo>
                  <a:pt x="4409486" y="23950"/>
                </a:lnTo>
                <a:close/>
              </a:path>
              <a:path w="4705350" h="2379345">
                <a:moveTo>
                  <a:pt x="4418387" y="31811"/>
                </a:moveTo>
                <a:lnTo>
                  <a:pt x="4412368" y="44304"/>
                </a:lnTo>
                <a:lnTo>
                  <a:pt x="4424021" y="36785"/>
                </a:lnTo>
                <a:lnTo>
                  <a:pt x="4418387" y="31811"/>
                </a:lnTo>
                <a:close/>
              </a:path>
              <a:path w="4705350" h="2379345">
                <a:moveTo>
                  <a:pt x="4419784" y="28912"/>
                </a:moveTo>
                <a:lnTo>
                  <a:pt x="4418387" y="31811"/>
                </a:lnTo>
                <a:lnTo>
                  <a:pt x="4424021" y="36785"/>
                </a:lnTo>
                <a:lnTo>
                  <a:pt x="4426724" y="35041"/>
                </a:lnTo>
                <a:lnTo>
                  <a:pt x="4419784" y="28912"/>
                </a:lnTo>
                <a:close/>
              </a:path>
              <a:path w="4705350" h="2379345">
                <a:moveTo>
                  <a:pt x="4421181" y="26013"/>
                </a:moveTo>
                <a:lnTo>
                  <a:pt x="4419784" y="28912"/>
                </a:lnTo>
                <a:lnTo>
                  <a:pt x="4426724" y="35041"/>
                </a:lnTo>
                <a:lnTo>
                  <a:pt x="4429427" y="33296"/>
                </a:lnTo>
                <a:lnTo>
                  <a:pt x="4421181" y="26013"/>
                </a:lnTo>
                <a:close/>
              </a:path>
              <a:path w="4705350" h="2379345">
                <a:moveTo>
                  <a:pt x="4453668" y="21052"/>
                </a:moveTo>
                <a:lnTo>
                  <a:pt x="4410882" y="21052"/>
                </a:lnTo>
                <a:lnTo>
                  <a:pt x="4419784" y="28912"/>
                </a:lnTo>
                <a:lnTo>
                  <a:pt x="4421181" y="26013"/>
                </a:lnTo>
                <a:lnTo>
                  <a:pt x="4454464" y="26013"/>
                </a:lnTo>
                <a:lnTo>
                  <a:pt x="4454338" y="22839"/>
                </a:lnTo>
                <a:lnTo>
                  <a:pt x="4453668" y="21052"/>
                </a:lnTo>
                <a:close/>
              </a:path>
              <a:path w="4705350" h="2379345">
                <a:moveTo>
                  <a:pt x="4451807" y="16092"/>
                </a:moveTo>
                <a:lnTo>
                  <a:pt x="4400586" y="16092"/>
                </a:lnTo>
                <a:lnTo>
                  <a:pt x="4409486" y="23950"/>
                </a:lnTo>
                <a:lnTo>
                  <a:pt x="4410882" y="21052"/>
                </a:lnTo>
                <a:lnTo>
                  <a:pt x="4453668" y="21052"/>
                </a:lnTo>
                <a:lnTo>
                  <a:pt x="4451807" y="160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422141" y="5424932"/>
            <a:ext cx="4281805" cy="11258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Output: </a:t>
            </a:r>
            <a:r>
              <a:rPr dirty="0" sz="2400">
                <a:latin typeface="Arial"/>
                <a:cs typeface="Arial"/>
              </a:rPr>
              <a:t>Node embeddings.  </a:t>
            </a:r>
            <a:r>
              <a:rPr dirty="0" sz="2400" spc="-5">
                <a:latin typeface="Arial"/>
                <a:cs typeface="Arial"/>
              </a:rPr>
              <a:t>Also, </a:t>
            </a:r>
            <a:r>
              <a:rPr dirty="0" sz="2400">
                <a:latin typeface="Arial"/>
                <a:cs typeface="Arial"/>
              </a:rPr>
              <a:t>we can embed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subgraphs  and </a:t>
            </a:r>
            <a:r>
              <a:rPr dirty="0" sz="2400" spc="-5">
                <a:latin typeface="Arial"/>
                <a:cs typeface="Arial"/>
              </a:rPr>
              <a:t>entire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graphs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1345" y="2516037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26219" y="2118419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5704" y="2054125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5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26446" y="1628394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4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42171" y="3085247"/>
            <a:ext cx="716915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9395" y="1645108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70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3542" y="1868218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53221" y="0"/>
                </a:moveTo>
                <a:lnTo>
                  <a:pt x="0" y="179"/>
                </a:lnTo>
                <a:lnTo>
                  <a:pt x="26791" y="53310"/>
                </a:lnTo>
                <a:lnTo>
                  <a:pt x="5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0918" y="1488617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1480" y="1616090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30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15290" y="150268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63088" y="148152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4951" y="2096364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09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7340" y="25463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33366" y="272762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3972" y="2490946"/>
            <a:ext cx="862965" cy="39814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3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82927" y="2179035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40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23426" y="238460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90"/>
                </a:lnTo>
                <a:lnTo>
                  <a:pt x="90961" y="181432"/>
                </a:lnTo>
                <a:lnTo>
                  <a:pt x="125190" y="174790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2" y="90716"/>
                </a:lnTo>
                <a:lnTo>
                  <a:pt x="175262" y="56579"/>
                </a:lnTo>
                <a:lnTo>
                  <a:pt x="155280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62249" y="2368538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63392" y="203937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402585" y="202260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1847" y="1967625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09117" y="194277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17636" y="2155510"/>
            <a:ext cx="3449642" cy="3973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586295" y="3023107"/>
            <a:ext cx="1971675" cy="1056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2400" spc="-8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2400" spc="-7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079980" y="2891656"/>
            <a:ext cx="5986145" cy="1302385"/>
          </a:xfrm>
          <a:custGeom>
            <a:avLst/>
            <a:gdLst/>
            <a:ahLst/>
            <a:cxnLst/>
            <a:rect l="l" t="t" r="r" b="b"/>
            <a:pathLst>
              <a:path w="5986145" h="1302385">
                <a:moveTo>
                  <a:pt x="0" y="0"/>
                </a:moveTo>
                <a:lnTo>
                  <a:pt x="5985711" y="0"/>
                </a:lnTo>
                <a:lnTo>
                  <a:pt x="5985711" y="1302052"/>
                </a:lnTo>
                <a:lnTo>
                  <a:pt x="0" y="130205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184670" y="3332988"/>
            <a:ext cx="13296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79979" y="4688799"/>
            <a:ext cx="5986145" cy="1096010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11181" y="6168644"/>
            <a:ext cx="3060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(4) </a:t>
            </a:r>
            <a:r>
              <a:rPr dirty="0" sz="2400" spc="-15" b="1">
                <a:solidFill>
                  <a:srgbClr val="0070C0"/>
                </a:solidFill>
                <a:latin typeface="Calibri"/>
                <a:cs typeface="Calibri"/>
              </a:rPr>
              <a:t>Graph</a:t>
            </a:r>
            <a:r>
              <a:rPr dirty="0" sz="2400" spc="-6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5724" y="4025900"/>
            <a:ext cx="157353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(3) 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Layer  c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nne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18782" y="1721611"/>
            <a:ext cx="2755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0B5CC"/>
                </a:solidFill>
                <a:latin typeface="Calibri"/>
                <a:cs typeface="Calibri"/>
              </a:rPr>
              <a:t>(5) Learning</a:t>
            </a:r>
            <a:r>
              <a:rPr dirty="0" sz="2400" spc="-4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60B5CC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30389" y="20827"/>
            <a:ext cx="516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1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82168" y="365759"/>
            <a:ext cx="7632192" cy="499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8576" y="3550920"/>
            <a:ext cx="7882128" cy="12984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15086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1345" y="2516037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6219" y="2118419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5704" y="2054125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5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26446" y="1628394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4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9395" y="1645108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70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3542" y="1868218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53221" y="0"/>
                </a:moveTo>
                <a:lnTo>
                  <a:pt x="0" y="179"/>
                </a:lnTo>
                <a:lnTo>
                  <a:pt x="26791" y="53310"/>
                </a:lnTo>
                <a:lnTo>
                  <a:pt x="5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0918" y="1488617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1480" y="1616090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30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15290" y="150268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63088" y="148152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4951" y="2096364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09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7340" y="25463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33366" y="272762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3972" y="2490946"/>
            <a:ext cx="1045210" cy="7391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  <a:p>
            <a:pPr marL="775335">
              <a:lnSpc>
                <a:spcPct val="100000"/>
              </a:lnSpc>
              <a:spcBef>
                <a:spcPts val="3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 marL="340360">
              <a:lnSpc>
                <a:spcPct val="100000"/>
              </a:lnSpc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82927" y="2179035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40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23426" y="238460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90"/>
                </a:lnTo>
                <a:lnTo>
                  <a:pt x="90961" y="181432"/>
                </a:lnTo>
                <a:lnTo>
                  <a:pt x="125190" y="174790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2" y="90716"/>
                </a:lnTo>
                <a:lnTo>
                  <a:pt x="175262" y="56579"/>
                </a:lnTo>
                <a:lnTo>
                  <a:pt x="155280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62249" y="2368538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63392" y="203937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402585" y="202260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1847" y="1967625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09117" y="194277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17636" y="2155510"/>
            <a:ext cx="3449642" cy="397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11181" y="6168644"/>
            <a:ext cx="3060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(4) </a:t>
            </a:r>
            <a:r>
              <a:rPr dirty="0" sz="2400" spc="-15" b="1">
                <a:solidFill>
                  <a:srgbClr val="0070C0"/>
                </a:solidFill>
                <a:latin typeface="Calibri"/>
                <a:cs typeface="Calibri"/>
              </a:rPr>
              <a:t>Graph</a:t>
            </a:r>
            <a:r>
              <a:rPr dirty="0" sz="2400" spc="-6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30389" y="20827"/>
            <a:ext cx="5156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8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132868" y="1163827"/>
            <a:ext cx="58102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</a:rPr>
              <a:t>Idea: </a:t>
            </a:r>
            <a:r>
              <a:rPr dirty="0" sz="2400" spc="-10">
                <a:solidFill>
                  <a:srgbClr val="C00000"/>
                </a:solidFill>
              </a:rPr>
              <a:t>Raw </a:t>
            </a:r>
            <a:r>
              <a:rPr dirty="0" sz="2400" spc="-5">
                <a:solidFill>
                  <a:srgbClr val="C00000"/>
                </a:solidFill>
              </a:rPr>
              <a:t>input </a:t>
            </a:r>
            <a:r>
              <a:rPr dirty="0" sz="2400" spc="-15">
                <a:solidFill>
                  <a:srgbClr val="C00000"/>
                </a:solidFill>
              </a:rPr>
              <a:t>graph </a:t>
            </a:r>
            <a:r>
              <a:rPr dirty="0" sz="2400" b="0">
                <a:solidFill>
                  <a:srgbClr val="C00000"/>
                </a:solidFill>
                <a:latin typeface="Cambria Math"/>
                <a:cs typeface="Cambria Math"/>
              </a:rPr>
              <a:t>≠ </a:t>
            </a:r>
            <a:r>
              <a:rPr dirty="0" sz="2400" spc="-10">
                <a:solidFill>
                  <a:srgbClr val="C00000"/>
                </a:solidFill>
              </a:rPr>
              <a:t>computational</a:t>
            </a:r>
            <a:r>
              <a:rPr dirty="0" sz="2400" spc="-15">
                <a:solidFill>
                  <a:srgbClr val="C00000"/>
                </a:solidFill>
              </a:rPr>
              <a:t> graph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32868" y="1520444"/>
            <a:ext cx="421068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15" b="1">
                <a:latin typeface="Calibri"/>
                <a:cs typeface="Calibri"/>
              </a:rPr>
              <a:t>Graph feature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15" b="1">
                <a:latin typeface="Calibri"/>
                <a:cs typeface="Calibri"/>
              </a:rPr>
              <a:t>Graph </a:t>
            </a:r>
            <a:r>
              <a:rPr dirty="0" sz="2400" spc="-10" b="1">
                <a:latin typeface="Calibri"/>
                <a:cs typeface="Calibri"/>
              </a:rPr>
              <a:t>structure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538276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120890" cy="13912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670"/>
              </a:lnSpc>
              <a:spcBef>
                <a:spcPts val="100"/>
              </a:spcBef>
            </a:pPr>
            <a:r>
              <a:rPr dirty="0" spc="-5"/>
              <a:t>Our </a:t>
            </a:r>
            <a:r>
              <a:rPr dirty="0" spc="-10"/>
              <a:t>assumption </a:t>
            </a:r>
            <a:r>
              <a:rPr dirty="0" spc="-5"/>
              <a:t>so </a:t>
            </a:r>
            <a:r>
              <a:rPr dirty="0" spc="-25"/>
              <a:t>far </a:t>
            </a:r>
            <a:r>
              <a:rPr dirty="0" spc="-10"/>
              <a:t>has</a:t>
            </a:r>
            <a:r>
              <a:rPr dirty="0" spc="15"/>
              <a:t> </a:t>
            </a:r>
            <a:r>
              <a:rPr dirty="0" spc="-5"/>
              <a:t>been</a:t>
            </a:r>
          </a:p>
          <a:p>
            <a:pPr marL="12700" marR="5080">
              <a:lnSpc>
                <a:spcPts val="3410"/>
              </a:lnSpc>
              <a:spcBef>
                <a:spcPts val="3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C00000"/>
                </a:solidFill>
              </a:rPr>
              <a:t>Raw </a:t>
            </a:r>
            <a:r>
              <a:rPr dirty="0" spc="-5">
                <a:solidFill>
                  <a:srgbClr val="C00000"/>
                </a:solidFill>
              </a:rPr>
              <a:t>input </a:t>
            </a:r>
            <a:r>
              <a:rPr dirty="0" spc="-20">
                <a:solidFill>
                  <a:srgbClr val="C00000"/>
                </a:solidFill>
              </a:rPr>
              <a:t>graph </a:t>
            </a:r>
            <a:r>
              <a:rPr dirty="0" b="0">
                <a:solidFill>
                  <a:srgbClr val="C00000"/>
                </a:solidFill>
                <a:latin typeface="Cambria Math"/>
                <a:cs typeface="Cambria Math"/>
              </a:rPr>
              <a:t>= </a:t>
            </a:r>
            <a:r>
              <a:rPr dirty="0" spc="-10">
                <a:solidFill>
                  <a:srgbClr val="C00000"/>
                </a:solidFill>
              </a:rPr>
              <a:t>computational </a:t>
            </a:r>
            <a:r>
              <a:rPr dirty="0" spc="-20">
                <a:solidFill>
                  <a:srgbClr val="C00000"/>
                </a:solidFill>
              </a:rPr>
              <a:t>graph </a:t>
            </a:r>
            <a:r>
              <a:rPr dirty="0" spc="-20">
                <a:solidFill>
                  <a:srgbClr val="0000FF"/>
                </a:solidFill>
              </a:rPr>
              <a:t> </a:t>
            </a:r>
            <a:r>
              <a:rPr dirty="0" spc="-15">
                <a:solidFill>
                  <a:srgbClr val="0000FF"/>
                </a:solidFill>
              </a:rPr>
              <a:t>Reasons </a:t>
            </a:r>
            <a:r>
              <a:rPr dirty="0" spc="-20">
                <a:solidFill>
                  <a:srgbClr val="0000FF"/>
                </a:solidFill>
              </a:rPr>
              <a:t>for </a:t>
            </a:r>
            <a:r>
              <a:rPr dirty="0" spc="-10">
                <a:solidFill>
                  <a:srgbClr val="0000FF"/>
                </a:solidFill>
              </a:rPr>
              <a:t>breaking </a:t>
            </a:r>
            <a:r>
              <a:rPr dirty="0" spc="-5">
                <a:solidFill>
                  <a:srgbClr val="0000FF"/>
                </a:solidFill>
              </a:rPr>
              <a:t>this</a:t>
            </a:r>
            <a:r>
              <a:rPr dirty="0" spc="4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FF"/>
                </a:solidFill>
              </a:rPr>
              <a:t>assumption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654977"/>
            <a:ext cx="7404100" cy="376872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09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latin typeface="Calibri"/>
                <a:cs typeface="Calibri"/>
              </a:rPr>
              <a:t>Features: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5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The input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lacks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features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latin typeface="Calibri"/>
                <a:cs typeface="Calibri"/>
              </a:rPr>
              <a:t>Graph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structure: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2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>
                <a:latin typeface="Calibri"/>
                <a:cs typeface="Calibri"/>
              </a:rPr>
              <a:t>is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too sparse </a:t>
            </a:r>
            <a:r>
              <a:rPr dirty="0" sz="2400" spc="1010">
                <a:latin typeface="Arial"/>
                <a:cs typeface="Arial"/>
              </a:rPr>
              <a:t>à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0">
                <a:latin typeface="Calibri"/>
                <a:cs typeface="Calibri"/>
              </a:rPr>
              <a:t>inefficient message </a:t>
            </a:r>
            <a:r>
              <a:rPr dirty="0" sz="2400" spc="-5">
                <a:latin typeface="Calibri"/>
                <a:cs typeface="Calibri"/>
              </a:rPr>
              <a:t>passing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21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>
                <a:latin typeface="Calibri"/>
                <a:cs typeface="Calibri"/>
              </a:rPr>
              <a:t>is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too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dense </a:t>
            </a:r>
            <a:r>
              <a:rPr dirty="0" sz="2400" spc="1010">
                <a:latin typeface="Arial"/>
                <a:cs typeface="Arial"/>
              </a:rPr>
              <a:t>à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">
                <a:latin typeface="Calibri"/>
                <a:cs typeface="Calibri"/>
              </a:rPr>
              <a:t>message </a:t>
            </a:r>
            <a:r>
              <a:rPr dirty="0" sz="2400" spc="-5">
                <a:latin typeface="Calibri"/>
                <a:cs typeface="Calibri"/>
              </a:rPr>
              <a:t>passing is </a:t>
            </a:r>
            <a:r>
              <a:rPr dirty="0" sz="2400" spc="-15">
                <a:latin typeface="Calibri"/>
                <a:cs typeface="Calibri"/>
              </a:rPr>
              <a:t>too costly</a:t>
            </a:r>
            <a:endParaRPr sz="2400">
              <a:latin typeface="Calibri"/>
              <a:cs typeface="Calibri"/>
            </a:endParaRPr>
          </a:p>
          <a:p>
            <a:pPr lvl="1" marL="552450" marR="178435" indent="-228600">
              <a:lnSpc>
                <a:spcPts val="2590"/>
              </a:lnSpc>
              <a:spcBef>
                <a:spcPts val="66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>
                <a:latin typeface="Calibri"/>
                <a:cs typeface="Calibri"/>
              </a:rPr>
              <a:t>is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too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large </a:t>
            </a:r>
            <a:r>
              <a:rPr dirty="0" sz="2400" spc="1010">
                <a:latin typeface="Arial"/>
                <a:cs typeface="Arial"/>
              </a:rPr>
              <a:t>à</a:t>
            </a:r>
            <a:r>
              <a:rPr dirty="0" sz="2400" spc="-175">
                <a:latin typeface="Arial"/>
                <a:cs typeface="Arial"/>
              </a:rPr>
              <a:t> </a:t>
            </a:r>
            <a:r>
              <a:rPr dirty="0" sz="2400" spc="-5">
                <a:latin typeface="Calibri"/>
                <a:cs typeface="Calibri"/>
              </a:rPr>
              <a:t>cannot </a:t>
            </a:r>
            <a:r>
              <a:rPr dirty="0" sz="2400">
                <a:latin typeface="Calibri"/>
                <a:cs typeface="Calibri"/>
              </a:rPr>
              <a:t>fit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computational  </a:t>
            </a:r>
            <a:r>
              <a:rPr dirty="0" sz="2400" spc="-15">
                <a:latin typeface="Calibri"/>
                <a:cs typeface="Calibri"/>
              </a:rPr>
              <a:t>graph into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GPU</a:t>
            </a:r>
            <a:endParaRPr sz="2400">
              <a:latin typeface="Calibri"/>
              <a:cs typeface="Calibri"/>
            </a:endParaRPr>
          </a:p>
          <a:p>
            <a:pPr marL="287020" marR="145415" indent="-274320">
              <a:lnSpc>
                <a:spcPts val="3000"/>
              </a:lnSpc>
              <a:spcBef>
                <a:spcPts val="68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5">
                <a:latin typeface="Calibri"/>
                <a:cs typeface="Calibri"/>
              </a:rPr>
              <a:t>It’s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unlikely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that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input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happens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800" spc="-120" b="1">
                <a:solidFill>
                  <a:srgbClr val="C00000"/>
                </a:solidFill>
                <a:latin typeface="Calibri"/>
                <a:cs typeface="Calibri"/>
              </a:rPr>
              <a:t>be 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optimal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computation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2800" spc="-25">
                <a:latin typeface="Calibri"/>
                <a:cs typeface="Calibri"/>
              </a:rPr>
              <a:t>for</a:t>
            </a:r>
            <a:r>
              <a:rPr dirty="0" sz="2800" spc="-5">
                <a:latin typeface="Calibri"/>
                <a:cs typeface="Calibri"/>
              </a:rPr>
              <a:t> embeddings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81869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2139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/>
              <a:t>Graph Feature</a:t>
            </a:r>
            <a:r>
              <a:rPr dirty="0" spc="-25"/>
              <a:t> </a:t>
            </a:r>
            <a:r>
              <a:rPr dirty="0" spc="-15"/>
              <a:t>augmentation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932939"/>
            <a:ext cx="8292465" cy="418846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625475" marR="1682750" indent="-274320">
              <a:lnSpc>
                <a:spcPts val="3290"/>
              </a:lnSpc>
              <a:spcBef>
                <a:spcPts val="2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input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 b="1">
                <a:latin typeface="Calibri"/>
                <a:cs typeface="Calibri"/>
              </a:rPr>
              <a:t>lacks </a:t>
            </a:r>
            <a:r>
              <a:rPr dirty="0" sz="2800" spc="-15" b="1">
                <a:latin typeface="Calibri"/>
                <a:cs typeface="Calibri"/>
              </a:rPr>
              <a:t>features </a:t>
            </a:r>
            <a:r>
              <a:rPr dirty="0" baseline="1010" sz="4125" spc="1807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dirty="0" baseline="1010" sz="4125" spc="-1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105" b="1">
                <a:solidFill>
                  <a:srgbClr val="C00000"/>
                </a:solidFill>
                <a:latin typeface="Calibri"/>
                <a:cs typeface="Calibri"/>
              </a:rPr>
              <a:t>feature 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augmentation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00B050"/>
                </a:solidFill>
                <a:latin typeface="Calibri"/>
                <a:cs typeface="Calibri"/>
              </a:rPr>
              <a:t>Graph </a:t>
            </a:r>
            <a:r>
              <a:rPr dirty="0" sz="3200" spc="-10" b="1">
                <a:solidFill>
                  <a:srgbClr val="00B050"/>
                </a:solidFill>
                <a:latin typeface="Calibri"/>
                <a:cs typeface="Calibri"/>
              </a:rPr>
              <a:t>Structure</a:t>
            </a:r>
            <a:r>
              <a:rPr dirty="0" sz="3200" spc="-40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B050"/>
                </a:solidFill>
                <a:latin typeface="Calibri"/>
                <a:cs typeface="Calibri"/>
              </a:rPr>
              <a:t>augmentation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 b="1">
                <a:latin typeface="Calibri"/>
                <a:cs typeface="Calibri"/>
              </a:rPr>
              <a:t>too </a:t>
            </a:r>
            <a:r>
              <a:rPr dirty="0" sz="2800" spc="-10" b="1">
                <a:latin typeface="Calibri"/>
                <a:cs typeface="Calibri"/>
              </a:rPr>
              <a:t>sparse </a:t>
            </a:r>
            <a:r>
              <a:rPr dirty="0" baseline="1010" sz="4125" spc="1807">
                <a:solidFill>
                  <a:srgbClr val="C00000"/>
                </a:solidFill>
                <a:latin typeface="Arial"/>
                <a:cs typeface="Arial"/>
              </a:rPr>
              <a:t>à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Add virtual nodes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/  </a:t>
            </a:r>
            <a:r>
              <a:rPr dirty="0" sz="2800" spc="-90" b="1">
                <a:solidFill>
                  <a:srgbClr val="C00000"/>
                </a:solidFill>
                <a:latin typeface="Calibri"/>
                <a:cs typeface="Calibri"/>
              </a:rPr>
              <a:t>edges</a:t>
            </a:r>
            <a:endParaRPr sz="2800">
              <a:latin typeface="Calibri"/>
              <a:cs typeface="Calibri"/>
            </a:endParaRPr>
          </a:p>
          <a:p>
            <a:pPr lvl="1" marL="625475" marR="318770" indent="-274320">
              <a:lnSpc>
                <a:spcPct val="101400"/>
              </a:lnSpc>
              <a:spcBef>
                <a:spcPts val="5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 b="1">
                <a:latin typeface="Calibri"/>
                <a:cs typeface="Calibri"/>
              </a:rPr>
              <a:t>too </a:t>
            </a:r>
            <a:r>
              <a:rPr dirty="0" sz="2800" spc="-5" b="1">
                <a:latin typeface="Calibri"/>
                <a:cs typeface="Calibri"/>
              </a:rPr>
              <a:t>dense </a:t>
            </a:r>
            <a:r>
              <a:rPr dirty="0" baseline="1010" sz="4125" spc="1807">
                <a:solidFill>
                  <a:srgbClr val="C00000"/>
                </a:solidFill>
                <a:latin typeface="Arial"/>
                <a:cs typeface="Arial"/>
              </a:rPr>
              <a:t>à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Sample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neighbors  </a:t>
            </a:r>
            <a:r>
              <a:rPr dirty="0" sz="2800" spc="-114" b="1">
                <a:solidFill>
                  <a:srgbClr val="C00000"/>
                </a:solidFill>
                <a:latin typeface="Calibri"/>
                <a:cs typeface="Calibri"/>
              </a:rPr>
              <a:t>when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doing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r>
              <a:rPr dirty="0" sz="2800" spc="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passing</a:t>
            </a:r>
            <a:endParaRPr sz="2800">
              <a:latin typeface="Calibri"/>
              <a:cs typeface="Calibri"/>
            </a:endParaRPr>
          </a:p>
          <a:p>
            <a:pPr lvl="1" marL="625475" marR="935990" indent="-274320">
              <a:lnSpc>
                <a:spcPts val="3290"/>
              </a:lnSpc>
              <a:spcBef>
                <a:spcPts val="8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 b="1">
                <a:latin typeface="Calibri"/>
                <a:cs typeface="Calibri"/>
              </a:rPr>
              <a:t>too large </a:t>
            </a:r>
            <a:r>
              <a:rPr dirty="0" baseline="1010" sz="4125" spc="1807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dirty="0" baseline="1010" sz="4125" spc="-12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Sample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subgraphs </a:t>
            </a:r>
            <a:r>
              <a:rPr dirty="0" sz="2800" spc="-315" b="1">
                <a:solidFill>
                  <a:srgbClr val="C00000"/>
                </a:solidFill>
                <a:latin typeface="Calibri"/>
                <a:cs typeface="Calibri"/>
              </a:rPr>
              <a:t>to 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compute</a:t>
            </a:r>
            <a:r>
              <a:rPr dirty="0" sz="28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embeddings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Will </a:t>
            </a:r>
            <a:r>
              <a:rPr dirty="0" sz="2400" spc="-15">
                <a:latin typeface="Calibri"/>
                <a:cs typeface="Calibri"/>
              </a:rPr>
              <a:t>cover later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10">
                <a:latin typeface="Calibri"/>
                <a:cs typeface="Calibri"/>
              </a:rPr>
              <a:t>lecture: Scaling </a:t>
            </a:r>
            <a:r>
              <a:rPr dirty="0" sz="2400">
                <a:latin typeface="Calibri"/>
                <a:cs typeface="Calibri"/>
              </a:rPr>
              <a:t>up</a:t>
            </a:r>
            <a:r>
              <a:rPr dirty="0" sz="2400" spc="4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GNNs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4827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25"/>
              <a:t>Why </a:t>
            </a:r>
            <a:r>
              <a:rPr dirty="0" spc="-5"/>
              <a:t>do </a:t>
            </a:r>
            <a:r>
              <a:rPr dirty="0" spc="-15"/>
              <a:t>we </a:t>
            </a:r>
            <a:r>
              <a:rPr dirty="0" spc="-5"/>
              <a:t>need </a:t>
            </a:r>
            <a:r>
              <a:rPr dirty="0" spc="-20"/>
              <a:t>feature</a:t>
            </a:r>
            <a:r>
              <a:rPr dirty="0" spc="-25"/>
              <a:t> </a:t>
            </a:r>
            <a:r>
              <a:rPr dirty="0" spc="-10"/>
              <a:t>augmentation?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C00000"/>
                </a:solidFill>
              </a:rPr>
              <a:t>(1) </a:t>
            </a:r>
            <a:r>
              <a:rPr dirty="0" spc="-5">
                <a:solidFill>
                  <a:srgbClr val="C00000"/>
                </a:solidFill>
              </a:rPr>
              <a:t>Input </a:t>
            </a:r>
            <a:r>
              <a:rPr dirty="0" spc="-20">
                <a:solidFill>
                  <a:srgbClr val="C00000"/>
                </a:solidFill>
              </a:rPr>
              <a:t>graph </a:t>
            </a:r>
            <a:r>
              <a:rPr dirty="0" spc="-5">
                <a:solidFill>
                  <a:srgbClr val="C00000"/>
                </a:solidFill>
              </a:rPr>
              <a:t>does not </a:t>
            </a:r>
            <a:r>
              <a:rPr dirty="0" spc="-25">
                <a:solidFill>
                  <a:srgbClr val="C00000"/>
                </a:solidFill>
              </a:rPr>
              <a:t>have </a:t>
            </a:r>
            <a:r>
              <a:rPr dirty="0" spc="-5">
                <a:solidFill>
                  <a:srgbClr val="C00000"/>
                </a:solidFill>
              </a:rPr>
              <a:t>node</a:t>
            </a:r>
            <a:r>
              <a:rPr dirty="0" spc="40">
                <a:solidFill>
                  <a:srgbClr val="C00000"/>
                </a:solidFill>
              </a:rPr>
              <a:t> </a:t>
            </a:r>
            <a:r>
              <a:rPr dirty="0" spc="-20">
                <a:solidFill>
                  <a:srgbClr val="C00000"/>
                </a:solidFill>
              </a:rPr>
              <a:t>features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5"/>
              <a:t>This is </a:t>
            </a:r>
            <a:r>
              <a:rPr dirty="0" spc="-10"/>
              <a:t>common </a:t>
            </a:r>
            <a:r>
              <a:rPr dirty="0" spc="-5"/>
              <a:t>when </a:t>
            </a:r>
            <a:r>
              <a:rPr dirty="0" spc="-15"/>
              <a:t>we </a:t>
            </a:r>
            <a:r>
              <a:rPr dirty="0" spc="-5"/>
              <a:t>only </a:t>
            </a:r>
            <a:r>
              <a:rPr dirty="0" spc="-25"/>
              <a:t>have </a:t>
            </a:r>
            <a:r>
              <a:rPr dirty="0" spc="-5"/>
              <a:t>the adj.</a:t>
            </a:r>
            <a:r>
              <a:rPr dirty="0" spc="85"/>
              <a:t> </a:t>
            </a:r>
            <a:r>
              <a:rPr dirty="0" spc="-90"/>
              <a:t>matrix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Standard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approaches: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a) Assign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constant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values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32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20715" y="4649666"/>
            <a:ext cx="1881234" cy="1903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65629" y="49677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52722" y="57785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8945" y="449834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1851" y="50987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80690" y="563524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8945" y="60833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4827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25"/>
              <a:t>Why </a:t>
            </a:r>
            <a:r>
              <a:rPr dirty="0" spc="-5"/>
              <a:t>do </a:t>
            </a:r>
            <a:r>
              <a:rPr dirty="0" spc="-15"/>
              <a:t>we </a:t>
            </a:r>
            <a:r>
              <a:rPr dirty="0" spc="-5"/>
              <a:t>need </a:t>
            </a:r>
            <a:r>
              <a:rPr dirty="0" spc="-20"/>
              <a:t>feature</a:t>
            </a:r>
            <a:r>
              <a:rPr dirty="0" spc="-25"/>
              <a:t> </a:t>
            </a:r>
            <a:r>
              <a:rPr dirty="0" spc="-10"/>
              <a:t>augmentation?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C00000"/>
                </a:solidFill>
              </a:rPr>
              <a:t>(1) </a:t>
            </a:r>
            <a:r>
              <a:rPr dirty="0" spc="-5">
                <a:solidFill>
                  <a:srgbClr val="C00000"/>
                </a:solidFill>
              </a:rPr>
              <a:t>Input </a:t>
            </a:r>
            <a:r>
              <a:rPr dirty="0" spc="-20">
                <a:solidFill>
                  <a:srgbClr val="C00000"/>
                </a:solidFill>
              </a:rPr>
              <a:t>graph </a:t>
            </a:r>
            <a:r>
              <a:rPr dirty="0" spc="-5">
                <a:solidFill>
                  <a:srgbClr val="C00000"/>
                </a:solidFill>
              </a:rPr>
              <a:t>does not </a:t>
            </a:r>
            <a:r>
              <a:rPr dirty="0" spc="-25">
                <a:solidFill>
                  <a:srgbClr val="C00000"/>
                </a:solidFill>
              </a:rPr>
              <a:t>have </a:t>
            </a:r>
            <a:r>
              <a:rPr dirty="0" spc="-5">
                <a:solidFill>
                  <a:srgbClr val="C00000"/>
                </a:solidFill>
              </a:rPr>
              <a:t>node</a:t>
            </a:r>
            <a:r>
              <a:rPr dirty="0" spc="40">
                <a:solidFill>
                  <a:srgbClr val="C00000"/>
                </a:solidFill>
              </a:rPr>
              <a:t> </a:t>
            </a:r>
            <a:r>
              <a:rPr dirty="0" spc="-20">
                <a:solidFill>
                  <a:srgbClr val="C00000"/>
                </a:solidFill>
              </a:rPr>
              <a:t>features</a:t>
            </a:r>
          </a:p>
        </p:txBody>
      </p:sp>
      <p:sp>
        <p:nvSpPr>
          <p:cNvPr id="4" name="object 4"/>
          <p:cNvSpPr/>
          <p:nvPr/>
        </p:nvSpPr>
        <p:spPr>
          <a:xfrm>
            <a:off x="1413710" y="4572573"/>
            <a:ext cx="1881234" cy="19035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58624" y="48915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5717" y="56992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34846" y="50225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3685" y="55559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21941" y="60071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8587" y="5444235"/>
            <a:ext cx="2275840" cy="1033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Calibri"/>
                <a:cs typeface="Calibri"/>
              </a:rPr>
              <a:t>[0, 0, 0, 0, 1,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0]</a:t>
            </a:r>
            <a:endParaRPr sz="2800">
              <a:latin typeface="Calibri"/>
              <a:cs typeface="Calibri"/>
            </a:endParaRPr>
          </a:p>
          <a:p>
            <a:pPr marL="71120">
              <a:lnSpc>
                <a:spcPct val="100000"/>
              </a:lnSpc>
              <a:spcBef>
                <a:spcPts val="2415"/>
              </a:spcBef>
            </a:pPr>
            <a:r>
              <a:rPr dirty="0" sz="1800" spc="-40" b="1">
                <a:latin typeface="Calibri"/>
                <a:cs typeface="Calibri"/>
              </a:rPr>
              <a:t>Total </a:t>
            </a:r>
            <a:r>
              <a:rPr dirty="0" sz="1800" spc="-5" b="1">
                <a:latin typeface="Calibri"/>
                <a:cs typeface="Calibri"/>
              </a:rPr>
              <a:t>number of IDs </a:t>
            </a:r>
            <a:r>
              <a:rPr dirty="0" sz="1800" b="1">
                <a:latin typeface="Calibri"/>
                <a:cs typeface="Calibri"/>
              </a:rPr>
              <a:t>=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00030" y="6026521"/>
            <a:ext cx="1881505" cy="155575"/>
          </a:xfrm>
          <a:custGeom>
            <a:avLst/>
            <a:gdLst/>
            <a:ahLst/>
            <a:cxnLst/>
            <a:rect l="l" t="t" r="r" b="b"/>
            <a:pathLst>
              <a:path w="1881504" h="155575">
                <a:moveTo>
                  <a:pt x="1881233" y="0"/>
                </a:moveTo>
                <a:lnTo>
                  <a:pt x="1880218" y="30156"/>
                </a:lnTo>
                <a:lnTo>
                  <a:pt x="1877451" y="54782"/>
                </a:lnTo>
                <a:lnTo>
                  <a:pt x="1873347" y="71385"/>
                </a:lnTo>
                <a:lnTo>
                  <a:pt x="1868321" y="77474"/>
                </a:lnTo>
                <a:lnTo>
                  <a:pt x="953528" y="77474"/>
                </a:lnTo>
                <a:lnTo>
                  <a:pt x="948502" y="83562"/>
                </a:lnTo>
                <a:lnTo>
                  <a:pt x="944398" y="100165"/>
                </a:lnTo>
                <a:lnTo>
                  <a:pt x="941631" y="124791"/>
                </a:lnTo>
                <a:lnTo>
                  <a:pt x="940616" y="154948"/>
                </a:lnTo>
                <a:lnTo>
                  <a:pt x="939601" y="124791"/>
                </a:lnTo>
                <a:lnTo>
                  <a:pt x="936834" y="100165"/>
                </a:lnTo>
                <a:lnTo>
                  <a:pt x="932730" y="83562"/>
                </a:lnTo>
                <a:lnTo>
                  <a:pt x="927704" y="77474"/>
                </a:lnTo>
                <a:lnTo>
                  <a:pt x="12912" y="77474"/>
                </a:lnTo>
                <a:lnTo>
                  <a:pt x="7886" y="71385"/>
                </a:lnTo>
                <a:lnTo>
                  <a:pt x="3781" y="54782"/>
                </a:lnTo>
                <a:lnTo>
                  <a:pt x="1014" y="30156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684224" y="4967732"/>
            <a:ext cx="5651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00000"/>
                </a:solidFill>
                <a:latin typeface="Calibri"/>
                <a:cs typeface="Calibri"/>
              </a:rPr>
              <a:t>ID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sz="18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27465" y="5302017"/>
            <a:ext cx="85725" cy="222885"/>
          </a:xfrm>
          <a:custGeom>
            <a:avLst/>
            <a:gdLst/>
            <a:ahLst/>
            <a:cxnLst/>
            <a:rect l="l" t="t" r="r" b="b"/>
            <a:pathLst>
              <a:path w="85725" h="222885">
                <a:moveTo>
                  <a:pt x="0" y="136597"/>
                </a:moveTo>
                <a:lnTo>
                  <a:pt x="42862" y="222323"/>
                </a:lnTo>
                <a:lnTo>
                  <a:pt x="71437" y="165173"/>
                </a:lnTo>
                <a:lnTo>
                  <a:pt x="34971" y="165173"/>
                </a:lnTo>
                <a:lnTo>
                  <a:pt x="28575" y="158776"/>
                </a:lnTo>
                <a:lnTo>
                  <a:pt x="28575" y="136597"/>
                </a:lnTo>
                <a:lnTo>
                  <a:pt x="0" y="136597"/>
                </a:lnTo>
                <a:close/>
              </a:path>
              <a:path w="85725" h="222885">
                <a:moveTo>
                  <a:pt x="28575" y="136597"/>
                </a:moveTo>
                <a:lnTo>
                  <a:pt x="28575" y="158776"/>
                </a:lnTo>
                <a:lnTo>
                  <a:pt x="34971" y="165173"/>
                </a:lnTo>
                <a:lnTo>
                  <a:pt x="50753" y="165173"/>
                </a:lnTo>
                <a:lnTo>
                  <a:pt x="57150" y="158776"/>
                </a:lnTo>
                <a:lnTo>
                  <a:pt x="57150" y="136598"/>
                </a:lnTo>
                <a:lnTo>
                  <a:pt x="28575" y="136597"/>
                </a:lnTo>
                <a:close/>
              </a:path>
              <a:path w="85725" h="222885">
                <a:moveTo>
                  <a:pt x="57150" y="136598"/>
                </a:moveTo>
                <a:lnTo>
                  <a:pt x="57150" y="158776"/>
                </a:lnTo>
                <a:lnTo>
                  <a:pt x="50753" y="165173"/>
                </a:lnTo>
                <a:lnTo>
                  <a:pt x="71437" y="165173"/>
                </a:lnTo>
                <a:lnTo>
                  <a:pt x="85725" y="136598"/>
                </a:lnTo>
                <a:lnTo>
                  <a:pt x="57150" y="136598"/>
                </a:lnTo>
                <a:close/>
              </a:path>
              <a:path w="85725" h="222885">
                <a:moveTo>
                  <a:pt x="42863" y="0"/>
                </a:moveTo>
                <a:lnTo>
                  <a:pt x="34971" y="1"/>
                </a:lnTo>
                <a:lnTo>
                  <a:pt x="28576" y="6396"/>
                </a:lnTo>
                <a:lnTo>
                  <a:pt x="28575" y="136597"/>
                </a:lnTo>
                <a:lnTo>
                  <a:pt x="57150" y="136598"/>
                </a:lnTo>
                <a:lnTo>
                  <a:pt x="57151" y="6396"/>
                </a:lnTo>
                <a:lnTo>
                  <a:pt x="50754" y="1"/>
                </a:lnTo>
                <a:lnTo>
                  <a:pt x="4286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4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5"/>
              <a:t>This is </a:t>
            </a:r>
            <a:r>
              <a:rPr dirty="0" spc="-10"/>
              <a:t>common </a:t>
            </a:r>
            <a:r>
              <a:rPr dirty="0" spc="-5"/>
              <a:t>when </a:t>
            </a:r>
            <a:r>
              <a:rPr dirty="0" spc="-15"/>
              <a:t>we </a:t>
            </a:r>
            <a:r>
              <a:rPr dirty="0" spc="-5"/>
              <a:t>only </a:t>
            </a:r>
            <a:r>
              <a:rPr dirty="0" spc="-25"/>
              <a:t>have </a:t>
            </a:r>
            <a:r>
              <a:rPr dirty="0" spc="-5"/>
              <a:t>the adj.</a:t>
            </a:r>
            <a:r>
              <a:rPr dirty="0" spc="85"/>
              <a:t> </a:t>
            </a:r>
            <a:r>
              <a:rPr dirty="0" spc="-90"/>
              <a:t>matrix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Standard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approaches: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b) Assign unique IDs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These IDs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20">
                <a:latin typeface="Calibri"/>
                <a:cs typeface="Calibri"/>
              </a:rPr>
              <a:t>converted into </a:t>
            </a:r>
            <a:r>
              <a:rPr dirty="0" sz="2800" spc="-5" b="1">
                <a:latin typeface="Calibri"/>
                <a:cs typeface="Calibri"/>
              </a:rPr>
              <a:t>one-hot</a:t>
            </a:r>
            <a:r>
              <a:rPr dirty="0" sz="2800" spc="30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vectors</a:t>
            </a:r>
            <a:endParaRPr sz="2800">
              <a:latin typeface="Calibri"/>
              <a:cs typeface="Calibri"/>
            </a:endParaRPr>
          </a:p>
          <a:p>
            <a:pPr marL="2216150">
              <a:lnSpc>
                <a:spcPts val="1845"/>
              </a:lnSpc>
              <a:spcBef>
                <a:spcPts val="735"/>
              </a:spcBef>
            </a:pPr>
            <a:r>
              <a:rPr dirty="0" sz="1800" b="1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4105275">
              <a:lnSpc>
                <a:spcPts val="2085"/>
              </a:lnSpc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One-hot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vector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node with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ID=5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69492"/>
            <a:ext cx="76485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 b="0">
                <a:latin typeface="Calibri"/>
                <a:cs typeface="Calibri"/>
              </a:rPr>
              <a:t>Feature </a:t>
            </a:r>
            <a:r>
              <a:rPr dirty="0" spc="-10" b="0">
                <a:latin typeface="Calibri"/>
                <a:cs typeface="Calibri"/>
              </a:rPr>
              <a:t>augmentation: </a:t>
            </a:r>
            <a:r>
              <a:rPr dirty="0" spc="-20"/>
              <a:t>constant </a:t>
            </a:r>
            <a:r>
              <a:rPr dirty="0" spc="-5" b="0">
                <a:latin typeface="Calibri"/>
                <a:cs typeface="Calibri"/>
              </a:rPr>
              <a:t>vs.</a:t>
            </a:r>
            <a:r>
              <a:rPr dirty="0" spc="75" b="0">
                <a:latin typeface="Calibri"/>
                <a:cs typeface="Calibri"/>
              </a:rPr>
              <a:t> </a:t>
            </a:r>
            <a:r>
              <a:rPr dirty="0" spc="-5"/>
              <a:t>one-hot</a:t>
            </a:r>
          </a:p>
        </p:txBody>
      </p:sp>
      <p:sp>
        <p:nvSpPr>
          <p:cNvPr id="4" name="object 4"/>
          <p:cNvSpPr/>
          <p:nvPr/>
        </p:nvSpPr>
        <p:spPr>
          <a:xfrm>
            <a:off x="6416926" y="5507901"/>
            <a:ext cx="444500" cy="212090"/>
          </a:xfrm>
          <a:custGeom>
            <a:avLst/>
            <a:gdLst/>
            <a:ahLst/>
            <a:cxnLst/>
            <a:rect l="l" t="t" r="r" b="b"/>
            <a:pathLst>
              <a:path w="444500" h="212089">
                <a:moveTo>
                  <a:pt x="376798" y="0"/>
                </a:moveTo>
                <a:lnTo>
                  <a:pt x="373785" y="8594"/>
                </a:lnTo>
                <a:lnTo>
                  <a:pt x="386042" y="13913"/>
                </a:lnTo>
                <a:lnTo>
                  <a:pt x="396584" y="21277"/>
                </a:lnTo>
                <a:lnTo>
                  <a:pt x="417987" y="55408"/>
                </a:lnTo>
                <a:lnTo>
                  <a:pt x="425019" y="104811"/>
                </a:lnTo>
                <a:lnTo>
                  <a:pt x="424234" y="123487"/>
                </a:lnTo>
                <a:lnTo>
                  <a:pt x="412461" y="169217"/>
                </a:lnTo>
                <a:lnTo>
                  <a:pt x="386185" y="197806"/>
                </a:lnTo>
                <a:lnTo>
                  <a:pt x="374120" y="203150"/>
                </a:lnTo>
                <a:lnTo>
                  <a:pt x="376798" y="211744"/>
                </a:lnTo>
                <a:lnTo>
                  <a:pt x="417254" y="187708"/>
                </a:lnTo>
                <a:lnTo>
                  <a:pt x="439976" y="143335"/>
                </a:lnTo>
                <a:lnTo>
                  <a:pt x="444329" y="105928"/>
                </a:lnTo>
                <a:lnTo>
                  <a:pt x="443238" y="86516"/>
                </a:lnTo>
                <a:lnTo>
                  <a:pt x="426860" y="37113"/>
                </a:lnTo>
                <a:lnTo>
                  <a:pt x="392150" y="5542"/>
                </a:lnTo>
                <a:lnTo>
                  <a:pt x="376798" y="0"/>
                </a:lnTo>
                <a:close/>
              </a:path>
              <a:path w="444500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3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6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50308" y="5509907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7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27868" y="5509907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7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39003" y="2265196"/>
            <a:ext cx="1014983" cy="1028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49847" y="2265196"/>
            <a:ext cx="1021842" cy="1028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24515" y="1862405"/>
          <a:ext cx="8658225" cy="4841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7087"/>
                <a:gridCol w="3338116"/>
                <a:gridCol w="3363471"/>
              </a:tblGrid>
              <a:tr h="142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9425">
                        <a:lnSpc>
                          <a:spcPts val="2350"/>
                        </a:lnSpc>
                        <a:spcBef>
                          <a:spcPts val="175"/>
                        </a:spcBef>
                      </a:pPr>
                      <a:r>
                        <a:rPr dirty="0" sz="200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Constant </a:t>
                      </a:r>
                      <a:r>
                        <a:rPr dirty="0" sz="2000" spc="-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node</a:t>
                      </a:r>
                      <a:r>
                        <a:rPr dirty="0" sz="2000" spc="-6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 marL="23495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algn="ctr" marR="269875">
                        <a:lnSpc>
                          <a:spcPct val="100000"/>
                        </a:lnSpc>
                        <a:spcBef>
                          <a:spcPts val="860"/>
                        </a:spcBef>
                        <a:tabLst>
                          <a:tab pos="850900" algn="l"/>
                        </a:tabLst>
                      </a:pPr>
                      <a:r>
                        <a:rPr dirty="0" sz="950" spc="5" b="1">
                          <a:latin typeface="Arial"/>
                          <a:cs typeface="Arial"/>
                        </a:rPr>
                        <a:t>1	</a:t>
                      </a:r>
                      <a:r>
                        <a:rPr dirty="0" baseline="-32163" sz="1425" spc="7" b="1">
                          <a:latin typeface="Arial"/>
                          <a:cs typeface="Arial"/>
                        </a:rPr>
                        <a:t>1</a:t>
                      </a:r>
                      <a:endParaRPr baseline="-32163" sz="1425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309880">
                        <a:lnSpc>
                          <a:spcPct val="100000"/>
                        </a:lnSpc>
                        <a:tabLst>
                          <a:tab pos="1148715" algn="l"/>
                        </a:tabLst>
                      </a:pPr>
                      <a:r>
                        <a:rPr dirty="0" baseline="-35087" sz="1425" spc="7" b="1">
                          <a:latin typeface="Arial"/>
                          <a:cs typeface="Arial"/>
                        </a:rPr>
                        <a:t>1	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algn="ctr" marL="23495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1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0"/>
                        </a:lnSpc>
                        <a:spcBef>
                          <a:spcPts val="175"/>
                        </a:spcBef>
                      </a:pPr>
                      <a:r>
                        <a:rPr dirty="0" sz="2000" spc="-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One-hot node</a:t>
                      </a:r>
                      <a:r>
                        <a:rPr dirty="0" sz="2000" spc="-3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 marL="509905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2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  <a:tabLst>
                          <a:tab pos="850900" algn="l"/>
                        </a:tabLst>
                      </a:pPr>
                      <a:r>
                        <a:rPr dirty="0" sz="950" spc="5" b="1">
                          <a:latin typeface="Arial"/>
                          <a:cs typeface="Arial"/>
                        </a:rPr>
                        <a:t>1	</a:t>
                      </a:r>
                      <a:r>
                        <a:rPr dirty="0" baseline="-32163" sz="1425" spc="7" b="1">
                          <a:latin typeface="Arial"/>
                          <a:cs typeface="Arial"/>
                        </a:rPr>
                        <a:t>3</a:t>
                      </a:r>
                      <a:endParaRPr baseline="-32163" sz="1425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35560">
                        <a:lnSpc>
                          <a:spcPct val="100000"/>
                        </a:lnSpc>
                        <a:tabLst>
                          <a:tab pos="1148715" algn="l"/>
                        </a:tabLst>
                      </a:pPr>
                      <a:r>
                        <a:rPr dirty="0" baseline="-35087" sz="1425" spc="7" b="1">
                          <a:latin typeface="Arial"/>
                          <a:cs typeface="Arial"/>
                        </a:rPr>
                        <a:t>4	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6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algn="ctr" marL="50990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5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Expressive</a:t>
                      </a:r>
                      <a:r>
                        <a:rPr dirty="0" sz="1800" spc="-9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power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241935">
                        <a:lnSpc>
                          <a:spcPct val="994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Medium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. All the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nodes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are 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identical,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but </a:t>
                      </a:r>
                      <a:r>
                        <a:rPr dirty="0" sz="180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GNN </a:t>
                      </a:r>
                      <a:r>
                        <a:rPr dirty="0" sz="1800" spc="-1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can still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learn  </a:t>
                      </a:r>
                      <a:r>
                        <a:rPr dirty="0" sz="1800" spc="-1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from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800" spc="-1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graph</a:t>
                      </a:r>
                      <a:r>
                        <a:rPr dirty="0" sz="1800" spc="-1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structure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81280" marR="215265">
                        <a:lnSpc>
                          <a:spcPct val="994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.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Each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node has a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unique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ID, 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so </a:t>
                      </a:r>
                      <a:r>
                        <a:rPr dirty="0" sz="1800" spc="-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node-specific </a:t>
                      </a:r>
                      <a:r>
                        <a:rPr dirty="0" sz="1800" spc="-1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information can  </a:t>
                      </a:r>
                      <a:r>
                        <a:rPr dirty="0" sz="180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1800" spc="-8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stored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marL="81280" marR="126364">
                        <a:lnSpc>
                          <a:spcPct val="99400"/>
                        </a:lnSpc>
                        <a:spcBef>
                          <a:spcPts val="190"/>
                        </a:spcBef>
                      </a:pP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Inductive</a:t>
                      </a:r>
                      <a:r>
                        <a:rPr dirty="0" sz="1800" spc="-5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learning  </a:t>
                      </a:r>
                      <a:r>
                        <a:rPr dirty="0" sz="1800" spc="-1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(Generalize </a:t>
                      </a: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to  unseen</a:t>
                      </a:r>
                      <a:r>
                        <a:rPr dirty="0" sz="1800" spc="-6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nodes)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121285">
                        <a:lnSpc>
                          <a:spcPct val="100400"/>
                        </a:lnSpc>
                        <a:spcBef>
                          <a:spcPts val="170"/>
                        </a:spcBef>
                      </a:pPr>
                      <a:r>
                        <a:rPr dirty="0" sz="1800" spc="-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.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Simple </a:t>
                      </a:r>
                      <a:r>
                        <a:rPr dirty="0" sz="1800" spc="-1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to generalize to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new  nodes: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we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assign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constant  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feature to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them, then apply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our  GNN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 marR="163830">
                        <a:lnSpc>
                          <a:spcPct val="100400"/>
                        </a:lnSpc>
                        <a:spcBef>
                          <a:spcPts val="170"/>
                        </a:spcBef>
                      </a:pPr>
                      <a:r>
                        <a:rPr dirty="0" sz="1800" spc="-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. </a:t>
                      </a:r>
                      <a:r>
                        <a:rPr dirty="0" sz="1800" spc="-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Cannot </a:t>
                      </a:r>
                      <a:r>
                        <a:rPr dirty="0" sz="1800" spc="-1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generalize to </a:t>
                      </a:r>
                      <a:r>
                        <a:rPr dirty="0" sz="1800" spc="-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new  nodes: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new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nodes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introduce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new  IDs,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GNN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doesn’t know how 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to 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embed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unseen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IDs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81280" marR="419100">
                        <a:lnSpc>
                          <a:spcPts val="2110"/>
                        </a:lnSpc>
                        <a:spcBef>
                          <a:spcPts val="290"/>
                        </a:spcBef>
                      </a:pPr>
                      <a:r>
                        <a:rPr dirty="0" sz="1800" spc="-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800" spc="-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mpu</a:t>
                      </a:r>
                      <a:r>
                        <a:rPr dirty="0" sz="1800" spc="-2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ta</a:t>
                      </a:r>
                      <a:r>
                        <a:rPr dirty="0" sz="180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io</a:t>
                      </a:r>
                      <a:r>
                        <a:rPr dirty="0" sz="1800" spc="-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nal  </a:t>
                      </a:r>
                      <a:r>
                        <a:rPr dirty="0" sz="1800" spc="-1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. Only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1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dimensional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feature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 marR="100330">
                        <a:lnSpc>
                          <a:spcPts val="2110"/>
                        </a:lnSpc>
                        <a:spcBef>
                          <a:spcPts val="290"/>
                        </a:spcBef>
                        <a:tabLst>
                          <a:tab pos="948055" algn="l"/>
                          <a:tab pos="1317625" algn="l"/>
                        </a:tabLst>
                      </a:pPr>
                      <a:r>
                        <a:rPr dirty="0" sz="1800" spc="-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𝑂	𝑉	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dimensional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feature,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cannot apply 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large</a:t>
                      </a:r>
                      <a:r>
                        <a:rPr dirty="0" sz="18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graphs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r>
                        <a:rPr dirty="0" sz="1800" spc="-95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cases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135"/>
                        </a:lnSpc>
                        <a:spcBef>
                          <a:spcPts val="180"/>
                        </a:spcBef>
                      </a:pPr>
                      <a:r>
                        <a:rPr dirty="0" sz="1800" spc="-1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Any graph, </a:t>
                      </a:r>
                      <a:r>
                        <a:rPr dirty="0" sz="180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inductive</a:t>
                      </a:r>
                      <a:r>
                        <a:rPr dirty="0" sz="180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settings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81915">
                        <a:lnSpc>
                          <a:spcPts val="2135"/>
                        </a:lnSpc>
                      </a:pPr>
                      <a:r>
                        <a:rPr dirty="0" sz="1800" spc="-1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(generalize </a:t>
                      </a:r>
                      <a:r>
                        <a:rPr dirty="0" sz="1800" spc="-1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800" spc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nodes)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 marR="855344">
                        <a:lnSpc>
                          <a:spcPts val="2110"/>
                        </a:lnSpc>
                        <a:spcBef>
                          <a:spcPts val="290"/>
                        </a:spcBef>
                      </a:pPr>
                      <a:r>
                        <a:rPr dirty="0" sz="1800" spc="-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Small </a:t>
                      </a:r>
                      <a:r>
                        <a:rPr dirty="0" sz="1800" spc="-15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graph, </a:t>
                      </a:r>
                      <a:r>
                        <a:rPr dirty="0" sz="1800" spc="-10" b="1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transductive  settings </a:t>
                      </a:r>
                      <a:r>
                        <a:rPr dirty="0" sz="180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(no </a:t>
                      </a:r>
                      <a:r>
                        <a:rPr dirty="0" sz="1800" spc="-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800" spc="-4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nodes)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29"/>
              </a:lnSpc>
              <a:spcBef>
                <a:spcPts val="100"/>
              </a:spcBef>
            </a:pPr>
            <a:r>
              <a:rPr dirty="0" spc="-25"/>
              <a:t>Why </a:t>
            </a:r>
            <a:r>
              <a:rPr dirty="0" spc="-5"/>
              <a:t>do </a:t>
            </a:r>
            <a:r>
              <a:rPr dirty="0" spc="-15"/>
              <a:t>we </a:t>
            </a:r>
            <a:r>
              <a:rPr dirty="0" spc="-5"/>
              <a:t>need </a:t>
            </a:r>
            <a:r>
              <a:rPr dirty="0" spc="-20"/>
              <a:t>feature</a:t>
            </a:r>
            <a:r>
              <a:rPr dirty="0" spc="-25"/>
              <a:t> </a:t>
            </a:r>
            <a:r>
              <a:rPr dirty="0" spc="-10"/>
              <a:t>augmentation?</a:t>
            </a:r>
          </a:p>
          <a:p>
            <a:pPr marL="3327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C00000"/>
                </a:solidFill>
              </a:rPr>
              <a:t>(2) </a:t>
            </a:r>
            <a:r>
              <a:rPr dirty="0" spc="-5">
                <a:solidFill>
                  <a:srgbClr val="C00000"/>
                </a:solidFill>
              </a:rPr>
              <a:t>Certain </a:t>
            </a:r>
            <a:r>
              <a:rPr dirty="0" spc="-10">
                <a:solidFill>
                  <a:srgbClr val="C00000"/>
                </a:solidFill>
              </a:rPr>
              <a:t>structures </a:t>
            </a:r>
            <a:r>
              <a:rPr dirty="0" spc="-15">
                <a:solidFill>
                  <a:srgbClr val="C00000"/>
                </a:solidFill>
              </a:rPr>
              <a:t>are hard to </a:t>
            </a:r>
            <a:r>
              <a:rPr dirty="0" spc="-5">
                <a:solidFill>
                  <a:srgbClr val="C00000"/>
                </a:solidFill>
              </a:rPr>
              <a:t>learn </a:t>
            </a:r>
            <a:r>
              <a:rPr dirty="0" spc="-15">
                <a:solidFill>
                  <a:srgbClr val="C00000"/>
                </a:solidFill>
              </a:rPr>
              <a:t>by</a:t>
            </a:r>
            <a:r>
              <a:rPr dirty="0" spc="0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GNN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871" y="2200293"/>
            <a:ext cx="8463915" cy="163004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Example: </a:t>
            </a:r>
            <a:r>
              <a:rPr dirty="0" sz="3200" spc="-10">
                <a:latin typeface="Calibri"/>
                <a:cs typeface="Calibri"/>
              </a:rPr>
              <a:t>Cycle </a:t>
            </a:r>
            <a:r>
              <a:rPr dirty="0" sz="3200" spc="-15">
                <a:latin typeface="Calibri"/>
                <a:cs typeface="Calibri"/>
              </a:rPr>
              <a:t>count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feature: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Can GNN learn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length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cycle that </a:t>
            </a:r>
            <a:r>
              <a:rPr dirty="0" sz="2800" spc="24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baseline="-16666" sz="3000" spc="359">
                <a:solidFill>
                  <a:srgbClr val="C00000"/>
                </a:solidFill>
                <a:latin typeface="Cambria Math"/>
                <a:cs typeface="Cambria Math"/>
              </a:rPr>
              <a:t>!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resides</a:t>
            </a:r>
            <a:r>
              <a:rPr dirty="0" sz="2800" spc="-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95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2800" spc="-95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Unfortunately,</a:t>
            </a:r>
            <a:r>
              <a:rPr dirty="0" sz="28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7046" y="5049237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87046" y="6138510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60942" y="5587586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21134" y="5317416"/>
            <a:ext cx="0" cy="821690"/>
          </a:xfrm>
          <a:custGeom>
            <a:avLst/>
            <a:gdLst/>
            <a:ahLst/>
            <a:cxnLst/>
            <a:rect l="l" t="t" r="r" b="b"/>
            <a:pathLst>
              <a:path w="0" h="821689">
                <a:moveTo>
                  <a:pt x="0" y="0"/>
                </a:moveTo>
                <a:lnTo>
                  <a:pt x="1" y="82109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55223" y="5183327"/>
            <a:ext cx="845185" cy="443865"/>
          </a:xfrm>
          <a:custGeom>
            <a:avLst/>
            <a:gdLst/>
            <a:ahLst/>
            <a:cxnLst/>
            <a:rect l="l" t="t" r="r" b="b"/>
            <a:pathLst>
              <a:path w="845185" h="443864">
                <a:moveTo>
                  <a:pt x="0" y="0"/>
                </a:moveTo>
                <a:lnTo>
                  <a:pt x="844992" y="4435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55223" y="5816488"/>
            <a:ext cx="845185" cy="456565"/>
          </a:xfrm>
          <a:custGeom>
            <a:avLst/>
            <a:gdLst/>
            <a:ahLst/>
            <a:cxnLst/>
            <a:rect l="l" t="t" r="r" b="b"/>
            <a:pathLst>
              <a:path w="845185" h="456564">
                <a:moveTo>
                  <a:pt x="0" y="456110"/>
                </a:moveTo>
                <a:lnTo>
                  <a:pt x="84499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63248" y="5055100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63248" y="6138510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93498" y="5058072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439067" y="5020564"/>
            <a:ext cx="218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525">
                <a:latin typeface="Cambria Math"/>
                <a:cs typeface="Cambria Math"/>
              </a:rPr>
              <a:t>!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97337" y="5323277"/>
            <a:ext cx="0" cy="815340"/>
          </a:xfrm>
          <a:custGeom>
            <a:avLst/>
            <a:gdLst/>
            <a:ahLst/>
            <a:cxnLst/>
            <a:rect l="l" t="t" r="r" b="b"/>
            <a:pathLst>
              <a:path w="0" h="815339">
                <a:moveTo>
                  <a:pt x="0" y="0"/>
                </a:moveTo>
                <a:lnTo>
                  <a:pt x="1" y="8152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27587" y="5326248"/>
            <a:ext cx="0" cy="812800"/>
          </a:xfrm>
          <a:custGeom>
            <a:avLst/>
            <a:gdLst/>
            <a:ahLst/>
            <a:cxnLst/>
            <a:rect l="l" t="t" r="r" b="b"/>
            <a:pathLst>
              <a:path w="0" h="812800">
                <a:moveTo>
                  <a:pt x="0" y="812262"/>
                </a:moveTo>
                <a:lnTo>
                  <a:pt x="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393498" y="6138510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61674" y="5189189"/>
            <a:ext cx="901700" cy="3175"/>
          </a:xfrm>
          <a:custGeom>
            <a:avLst/>
            <a:gdLst/>
            <a:ahLst/>
            <a:cxnLst/>
            <a:rect l="l" t="t" r="r" b="b"/>
            <a:pathLst>
              <a:path w="901700" h="3175">
                <a:moveTo>
                  <a:pt x="901574" y="0"/>
                </a:moveTo>
                <a:lnTo>
                  <a:pt x="0" y="297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661674" y="6272598"/>
            <a:ext cx="901700" cy="0"/>
          </a:xfrm>
          <a:custGeom>
            <a:avLst/>
            <a:gdLst/>
            <a:ahLst/>
            <a:cxnLst/>
            <a:rect l="l" t="t" r="r" b="b"/>
            <a:pathLst>
              <a:path w="901700" h="0">
                <a:moveTo>
                  <a:pt x="901574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48102" y="4504816"/>
            <a:ext cx="3124835" cy="77914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spc="150">
                <a:latin typeface="Cambria Math"/>
                <a:cs typeface="Cambria Math"/>
              </a:rPr>
              <a:t>𝑣</a:t>
            </a:r>
            <a:r>
              <a:rPr dirty="0" baseline="-14957" sz="1950" spc="225">
                <a:latin typeface="Cambria Math"/>
                <a:cs typeface="Cambria Math"/>
              </a:rPr>
              <a:t>!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algn="ctr" marR="731520">
              <a:lnSpc>
                <a:spcPct val="100000"/>
              </a:lnSpc>
              <a:spcBef>
                <a:spcPts val="869"/>
              </a:spcBef>
            </a:pPr>
            <a:r>
              <a:rPr dirty="0" sz="1600" spc="150">
                <a:latin typeface="Cambria Math"/>
                <a:cs typeface="Cambria Math"/>
              </a:rPr>
              <a:t>𝑣</a:t>
            </a:r>
            <a:r>
              <a:rPr dirty="0" baseline="-13888" sz="1800" spc="225">
                <a:latin typeface="Cambria Math"/>
                <a:cs typeface="Cambria Math"/>
              </a:rPr>
              <a:t>!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4605020" y="4629403"/>
            <a:ext cx="3124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50">
                <a:latin typeface="Cambria Math"/>
                <a:cs typeface="Cambria Math"/>
              </a:rPr>
              <a:t>𝑣</a:t>
            </a:r>
            <a:r>
              <a:rPr dirty="0" baseline="-14957" sz="1950" spc="225">
                <a:latin typeface="Cambria Math"/>
                <a:cs typeface="Cambria Math"/>
              </a:rPr>
              <a:t>!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02413" y="20827"/>
            <a:ext cx="6031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</a:t>
            </a:r>
            <a:r>
              <a:rPr dirty="0" sz="12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</a:t>
            </a:r>
            <a:r>
              <a:rPr dirty="0" sz="12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Gomes-Selman,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</a:t>
            </a:r>
            <a:r>
              <a:rPr dirty="0" sz="12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10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Identity-aware</a:t>
            </a:r>
            <a:r>
              <a:rPr dirty="0" sz="1200" spc="-50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Graph Neural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</a:t>
            </a:r>
            <a:r>
              <a:rPr dirty="0" sz="12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AAAI </a:t>
            </a:r>
            <a:r>
              <a:rPr dirty="0" sz="1200" spc="-15">
                <a:solidFill>
                  <a:srgbClr val="FFFFFF"/>
                </a:solidFill>
                <a:latin typeface="Corbel"/>
                <a:cs typeface="Corbel"/>
              </a:rPr>
              <a:t>2021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42315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0">
                <a:solidFill>
                  <a:srgbClr val="E66C7D"/>
                </a:solidFill>
                <a:latin typeface="Cambria Math"/>
                <a:cs typeface="Cambria Math"/>
              </a:rPr>
              <a:t>𝒗</a:t>
            </a:r>
            <a:r>
              <a:rPr dirty="0" baseline="-16666" sz="3000" spc="-7" b="0">
                <a:solidFill>
                  <a:srgbClr val="E66C7D"/>
                </a:solidFill>
                <a:latin typeface="Cambria Math"/>
                <a:cs typeface="Cambria Math"/>
              </a:rPr>
              <a:t>𝟏 </a:t>
            </a:r>
            <a:r>
              <a:rPr dirty="0" sz="2800" spc="-10">
                <a:solidFill>
                  <a:srgbClr val="E66C7D"/>
                </a:solidFill>
              </a:rPr>
              <a:t>cannot </a:t>
            </a:r>
            <a:r>
              <a:rPr dirty="0" sz="2800" spc="-15">
                <a:solidFill>
                  <a:srgbClr val="E66C7D"/>
                </a:solidFill>
              </a:rPr>
              <a:t>differentiate </a:t>
            </a:r>
            <a:r>
              <a:rPr dirty="0" sz="2800" spc="-5">
                <a:solidFill>
                  <a:srgbClr val="E66C7D"/>
                </a:solidFill>
              </a:rPr>
              <a:t>which </a:t>
            </a:r>
            <a:r>
              <a:rPr dirty="0" sz="2800" spc="-15">
                <a:solidFill>
                  <a:srgbClr val="E66C7D"/>
                </a:solidFill>
              </a:rPr>
              <a:t>graph </a:t>
            </a:r>
            <a:r>
              <a:rPr dirty="0" sz="2800">
                <a:solidFill>
                  <a:srgbClr val="E66C7D"/>
                </a:solidFill>
              </a:rPr>
              <a:t>it </a:t>
            </a:r>
            <a:r>
              <a:rPr dirty="0" sz="2800" spc="-10">
                <a:solidFill>
                  <a:srgbClr val="E66C7D"/>
                </a:solidFill>
              </a:rPr>
              <a:t>resides</a:t>
            </a:r>
            <a:r>
              <a:rPr dirty="0" sz="2800" spc="200">
                <a:solidFill>
                  <a:srgbClr val="E66C7D"/>
                </a:solidFill>
              </a:rPr>
              <a:t> </a:t>
            </a:r>
            <a:r>
              <a:rPr dirty="0" sz="2800">
                <a:solidFill>
                  <a:srgbClr val="E66C7D"/>
                </a:solidFill>
              </a:rPr>
              <a:t>in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788667"/>
            <a:ext cx="7042150" cy="8915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 spc="-10">
                <a:latin typeface="Calibri"/>
                <a:cs typeface="Calibri"/>
              </a:rPr>
              <a:t>Because </a:t>
            </a:r>
            <a:r>
              <a:rPr dirty="0" sz="2400">
                <a:latin typeface="Calibri"/>
                <a:cs typeface="Calibri"/>
              </a:rPr>
              <a:t>all </a:t>
            </a:r>
            <a:r>
              <a:rPr dirty="0" sz="2400" spc="-5">
                <a:latin typeface="Calibri"/>
                <a:cs typeface="Calibri"/>
              </a:rPr>
              <a:t>the nodes </a:t>
            </a:r>
            <a:r>
              <a:rPr dirty="0" sz="2400">
                <a:latin typeface="Calibri"/>
                <a:cs typeface="Calibri"/>
              </a:rPr>
              <a:t>in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have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degree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computational graphs </a:t>
            </a:r>
            <a:r>
              <a:rPr dirty="0" sz="2400" spc="-5">
                <a:latin typeface="Calibri"/>
                <a:cs typeface="Calibri"/>
              </a:rPr>
              <a:t>will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the same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binary</a:t>
            </a:r>
            <a:r>
              <a:rPr dirty="0" sz="24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9997" y="3646882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9997" y="4736153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73892" y="4185230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34086" y="3915059"/>
            <a:ext cx="0" cy="821690"/>
          </a:xfrm>
          <a:custGeom>
            <a:avLst/>
            <a:gdLst/>
            <a:ahLst/>
            <a:cxnLst/>
            <a:rect l="l" t="t" r="r" b="b"/>
            <a:pathLst>
              <a:path w="0" h="821689">
                <a:moveTo>
                  <a:pt x="0" y="0"/>
                </a:moveTo>
                <a:lnTo>
                  <a:pt x="1" y="82109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68175" y="3780971"/>
            <a:ext cx="845185" cy="443865"/>
          </a:xfrm>
          <a:custGeom>
            <a:avLst/>
            <a:gdLst/>
            <a:ahLst/>
            <a:cxnLst/>
            <a:rect l="l" t="t" r="r" b="b"/>
            <a:pathLst>
              <a:path w="845185" h="443864">
                <a:moveTo>
                  <a:pt x="0" y="0"/>
                </a:moveTo>
                <a:lnTo>
                  <a:pt x="844992" y="4435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68175" y="4414132"/>
            <a:ext cx="845185" cy="456565"/>
          </a:xfrm>
          <a:custGeom>
            <a:avLst/>
            <a:gdLst/>
            <a:ahLst/>
            <a:cxnLst/>
            <a:rect l="l" t="t" r="r" b="b"/>
            <a:pathLst>
              <a:path w="845185" h="456564">
                <a:moveTo>
                  <a:pt x="0" y="456110"/>
                </a:moveTo>
                <a:lnTo>
                  <a:pt x="84499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74023" y="3652414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74023" y="4735824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04273" y="3655386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247492" y="3618484"/>
            <a:ext cx="222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6203" sz="1800" spc="322">
                <a:latin typeface="Cambria Math"/>
                <a:cs typeface="Cambria Math"/>
              </a:rPr>
              <a:t>"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08112" y="3920590"/>
            <a:ext cx="0" cy="815340"/>
          </a:xfrm>
          <a:custGeom>
            <a:avLst/>
            <a:gdLst/>
            <a:ahLst/>
            <a:cxnLst/>
            <a:rect l="l" t="t" r="r" b="b"/>
            <a:pathLst>
              <a:path w="0" h="815339">
                <a:moveTo>
                  <a:pt x="0" y="0"/>
                </a:moveTo>
                <a:lnTo>
                  <a:pt x="1" y="8152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338361" y="3923562"/>
            <a:ext cx="0" cy="812800"/>
          </a:xfrm>
          <a:custGeom>
            <a:avLst/>
            <a:gdLst/>
            <a:ahLst/>
            <a:cxnLst/>
            <a:rect l="l" t="t" r="r" b="b"/>
            <a:pathLst>
              <a:path w="0" h="812800">
                <a:moveTo>
                  <a:pt x="0" y="812263"/>
                </a:moveTo>
                <a:lnTo>
                  <a:pt x="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04273" y="4735824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472449" y="3786502"/>
            <a:ext cx="901700" cy="3175"/>
          </a:xfrm>
          <a:custGeom>
            <a:avLst/>
            <a:gdLst/>
            <a:ahLst/>
            <a:cxnLst/>
            <a:rect l="l" t="t" r="r" b="b"/>
            <a:pathLst>
              <a:path w="901700" h="3175">
                <a:moveTo>
                  <a:pt x="901574" y="0"/>
                </a:moveTo>
                <a:lnTo>
                  <a:pt x="0" y="297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72449" y="4869912"/>
            <a:ext cx="901700" cy="0"/>
          </a:xfrm>
          <a:custGeom>
            <a:avLst/>
            <a:gdLst/>
            <a:ahLst/>
            <a:cxnLst/>
            <a:rect l="l" t="t" r="r" b="b"/>
            <a:pathLst>
              <a:path w="901700" h="0">
                <a:moveTo>
                  <a:pt x="901574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93320" y="2989579"/>
            <a:ext cx="1849755" cy="88900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150">
                <a:latin typeface="Cambria Math"/>
                <a:cs typeface="Cambria Math"/>
              </a:rPr>
              <a:t>𝑣</a:t>
            </a:r>
            <a:r>
              <a:rPr dirty="0" baseline="-17094" sz="1950" spc="225">
                <a:latin typeface="Cambria Math"/>
                <a:cs typeface="Cambria Math"/>
              </a:rPr>
              <a:t>!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363855">
              <a:lnSpc>
                <a:spcPct val="100000"/>
              </a:lnSpc>
              <a:spcBef>
                <a:spcPts val="545"/>
              </a:spcBef>
            </a:pPr>
            <a:r>
              <a:rPr dirty="0" sz="1600" spc="150">
                <a:latin typeface="Cambria Math"/>
                <a:cs typeface="Cambria Math"/>
              </a:rPr>
              <a:t>𝑣</a:t>
            </a:r>
            <a:r>
              <a:rPr dirty="0" baseline="-16203" sz="1800" spc="225">
                <a:latin typeface="Cambria Math"/>
                <a:cs typeface="Cambria Math"/>
              </a:rPr>
              <a:t>!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50651" y="2983483"/>
            <a:ext cx="184975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150">
                <a:latin typeface="Cambria Math"/>
                <a:cs typeface="Cambria Math"/>
              </a:rPr>
              <a:t>𝑣</a:t>
            </a:r>
            <a:r>
              <a:rPr dirty="0" baseline="-17094" sz="1950" spc="225">
                <a:latin typeface="Cambria Math"/>
                <a:cs typeface="Cambria Math"/>
              </a:rPr>
              <a:t>!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83202" y="5966413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427977" y="5928867"/>
            <a:ext cx="218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525">
                <a:latin typeface="Cambria Math"/>
                <a:cs typeface="Cambria Math"/>
              </a:rPr>
              <a:t>!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14800" y="5966412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82977" y="6100502"/>
            <a:ext cx="600710" cy="0"/>
          </a:xfrm>
          <a:custGeom>
            <a:avLst/>
            <a:gdLst/>
            <a:ahLst/>
            <a:cxnLst/>
            <a:rect l="l" t="t" r="r" b="b"/>
            <a:pathLst>
              <a:path w="600710" h="0">
                <a:moveTo>
                  <a:pt x="600225" y="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46397" y="5966412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14575" y="6100502"/>
            <a:ext cx="600710" cy="0"/>
          </a:xfrm>
          <a:custGeom>
            <a:avLst/>
            <a:gdLst/>
            <a:ahLst/>
            <a:cxnLst/>
            <a:rect l="l" t="t" r="r" b="b"/>
            <a:pathLst>
              <a:path w="600710" h="0">
                <a:moveTo>
                  <a:pt x="600225" y="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78125" y="5981881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651379" y="6100503"/>
            <a:ext cx="615315" cy="0"/>
          </a:xfrm>
          <a:custGeom>
            <a:avLst/>
            <a:gdLst/>
            <a:ahLst/>
            <a:cxnLst/>
            <a:rect l="l" t="t" r="r" b="b"/>
            <a:pathLst>
              <a:path w="615314" h="0">
                <a:moveTo>
                  <a:pt x="615134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278298" y="5976489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546302" y="6115970"/>
            <a:ext cx="732155" cy="0"/>
          </a:xfrm>
          <a:custGeom>
            <a:avLst/>
            <a:gdLst/>
            <a:ahLst/>
            <a:cxnLst/>
            <a:rect l="l" t="t" r="r" b="b"/>
            <a:pathLst>
              <a:path w="732154" h="0">
                <a:moveTo>
                  <a:pt x="731996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79641" y="5403596"/>
            <a:ext cx="3663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50">
                <a:latin typeface="Cambria Math"/>
                <a:cs typeface="Cambria Math"/>
              </a:rPr>
              <a:t>𝑣</a:t>
            </a:r>
            <a:r>
              <a:rPr dirty="0" baseline="-14957" sz="1950" spc="225">
                <a:latin typeface="Cambria Math"/>
                <a:cs typeface="Cambria Math"/>
              </a:rPr>
              <a:t>!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infinite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1346" y="5888228"/>
            <a:ext cx="197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05330" y="5885179"/>
            <a:ext cx="197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58668" y="5327663"/>
            <a:ext cx="260985" cy="400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0">
                <a:latin typeface="Cambria Math"/>
                <a:cs typeface="Cambria Math"/>
              </a:rPr>
              <a:t>…</a:t>
            </a:r>
            <a:endParaRPr sz="245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185326" y="5236207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489115" y="5236207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341560" y="4845620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400485" y="5236207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704276" y="5236207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556720" y="4845620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792906" y="5236207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96696" y="5236207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949141" y="4845620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008064" y="5236207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311855" y="5236207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64300" y="4845620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645350" y="4489752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860510" y="4481072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252930" y="415992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853664" y="4368236"/>
            <a:ext cx="431800" cy="149860"/>
          </a:xfrm>
          <a:custGeom>
            <a:avLst/>
            <a:gdLst/>
            <a:ahLst/>
            <a:cxnLst/>
            <a:rect l="l" t="t" r="r" b="b"/>
            <a:pathLst>
              <a:path w="431800" h="149860">
                <a:moveTo>
                  <a:pt x="0" y="149623"/>
                </a:moveTo>
                <a:lnTo>
                  <a:pt x="431381" y="0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461243" y="4368236"/>
            <a:ext cx="433070" cy="147320"/>
          </a:xfrm>
          <a:custGeom>
            <a:avLst/>
            <a:gdLst/>
            <a:ahLst/>
            <a:cxnLst/>
            <a:rect l="l" t="t" r="r" b="b"/>
            <a:pathLst>
              <a:path w="433070" h="147320">
                <a:moveTo>
                  <a:pt x="0" y="0"/>
                </a:moveTo>
                <a:lnTo>
                  <a:pt x="432462" y="147280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463077" y="4698065"/>
            <a:ext cx="219075" cy="154305"/>
          </a:xfrm>
          <a:custGeom>
            <a:avLst/>
            <a:gdLst/>
            <a:ahLst/>
            <a:cxnLst/>
            <a:rect l="l" t="t" r="r" b="b"/>
            <a:pathLst>
              <a:path w="219075" h="154304">
                <a:moveTo>
                  <a:pt x="218987" y="0"/>
                </a:moveTo>
                <a:lnTo>
                  <a:pt x="0" y="153811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853664" y="4698065"/>
            <a:ext cx="214629" cy="154305"/>
          </a:xfrm>
          <a:custGeom>
            <a:avLst/>
            <a:gdLst/>
            <a:ahLst/>
            <a:cxnLst/>
            <a:rect l="l" t="t" r="r" b="b"/>
            <a:pathLst>
              <a:path w="214629" h="154304">
                <a:moveTo>
                  <a:pt x="0" y="0"/>
                </a:moveTo>
                <a:lnTo>
                  <a:pt x="214012" y="153811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678236" y="4689386"/>
            <a:ext cx="217170" cy="156210"/>
          </a:xfrm>
          <a:custGeom>
            <a:avLst/>
            <a:gdLst/>
            <a:ahLst/>
            <a:cxnLst/>
            <a:rect l="l" t="t" r="r" b="b"/>
            <a:pathLst>
              <a:path w="217170" h="156210">
                <a:moveTo>
                  <a:pt x="216833" y="0"/>
                </a:moveTo>
                <a:lnTo>
                  <a:pt x="0" y="156155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068822" y="4689386"/>
            <a:ext cx="216535" cy="156210"/>
          </a:xfrm>
          <a:custGeom>
            <a:avLst/>
            <a:gdLst/>
            <a:ahLst/>
            <a:cxnLst/>
            <a:rect l="l" t="t" r="r" b="b"/>
            <a:pathLst>
              <a:path w="216534" h="156210">
                <a:moveTo>
                  <a:pt x="0" y="0"/>
                </a:moveTo>
                <a:lnTo>
                  <a:pt x="216165" y="156155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315522" y="5053933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39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549873" y="5053933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914422" y="5053933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40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157454" y="5053933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522002" y="5053933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40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765033" y="5053933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129581" y="5053933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40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372613" y="5053933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511623" y="3073215"/>
            <a:ext cx="28575" cy="3402329"/>
          </a:xfrm>
          <a:custGeom>
            <a:avLst/>
            <a:gdLst/>
            <a:ahLst/>
            <a:cxnLst/>
            <a:rect l="l" t="t" r="r" b="b"/>
            <a:pathLst>
              <a:path w="28575" h="3402329">
                <a:moveTo>
                  <a:pt x="22178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22205"/>
                </a:lnTo>
                <a:lnTo>
                  <a:pt x="6396" y="28602"/>
                </a:lnTo>
                <a:lnTo>
                  <a:pt x="22178" y="28602"/>
                </a:lnTo>
                <a:lnTo>
                  <a:pt x="28575" y="22205"/>
                </a:lnTo>
                <a:lnTo>
                  <a:pt x="28575" y="6396"/>
                </a:lnTo>
                <a:lnTo>
                  <a:pt x="22178" y="0"/>
                </a:lnTo>
                <a:close/>
              </a:path>
              <a:path w="28575" h="3402329">
                <a:moveTo>
                  <a:pt x="22178" y="57177"/>
                </a:moveTo>
                <a:lnTo>
                  <a:pt x="6396" y="57177"/>
                </a:lnTo>
                <a:lnTo>
                  <a:pt x="0" y="63574"/>
                </a:lnTo>
                <a:lnTo>
                  <a:pt x="0" y="79385"/>
                </a:lnTo>
                <a:lnTo>
                  <a:pt x="6396" y="85782"/>
                </a:lnTo>
                <a:lnTo>
                  <a:pt x="22178" y="85782"/>
                </a:lnTo>
                <a:lnTo>
                  <a:pt x="28575" y="79385"/>
                </a:lnTo>
                <a:lnTo>
                  <a:pt x="28575" y="63574"/>
                </a:lnTo>
                <a:lnTo>
                  <a:pt x="22178" y="57177"/>
                </a:lnTo>
                <a:close/>
              </a:path>
              <a:path w="28575" h="3402329">
                <a:moveTo>
                  <a:pt x="22178" y="114357"/>
                </a:moveTo>
                <a:lnTo>
                  <a:pt x="6396" y="114357"/>
                </a:lnTo>
                <a:lnTo>
                  <a:pt x="0" y="120754"/>
                </a:lnTo>
                <a:lnTo>
                  <a:pt x="0" y="136563"/>
                </a:lnTo>
                <a:lnTo>
                  <a:pt x="6396" y="142960"/>
                </a:lnTo>
                <a:lnTo>
                  <a:pt x="22178" y="142960"/>
                </a:lnTo>
                <a:lnTo>
                  <a:pt x="28575" y="136563"/>
                </a:lnTo>
                <a:lnTo>
                  <a:pt x="28575" y="120754"/>
                </a:lnTo>
                <a:lnTo>
                  <a:pt x="22178" y="114357"/>
                </a:lnTo>
                <a:close/>
              </a:path>
              <a:path w="28575" h="3402329">
                <a:moveTo>
                  <a:pt x="22178" y="171535"/>
                </a:moveTo>
                <a:lnTo>
                  <a:pt x="6396" y="171535"/>
                </a:lnTo>
                <a:lnTo>
                  <a:pt x="0" y="177932"/>
                </a:lnTo>
                <a:lnTo>
                  <a:pt x="0" y="193742"/>
                </a:lnTo>
                <a:lnTo>
                  <a:pt x="6396" y="200139"/>
                </a:lnTo>
                <a:lnTo>
                  <a:pt x="22178" y="200139"/>
                </a:lnTo>
                <a:lnTo>
                  <a:pt x="28575" y="193742"/>
                </a:lnTo>
                <a:lnTo>
                  <a:pt x="28575" y="177932"/>
                </a:lnTo>
                <a:lnTo>
                  <a:pt x="22178" y="171535"/>
                </a:lnTo>
                <a:close/>
              </a:path>
              <a:path w="28575" h="3402329">
                <a:moveTo>
                  <a:pt x="22178" y="228714"/>
                </a:moveTo>
                <a:lnTo>
                  <a:pt x="6396" y="228714"/>
                </a:lnTo>
                <a:lnTo>
                  <a:pt x="0" y="235111"/>
                </a:lnTo>
                <a:lnTo>
                  <a:pt x="0" y="250920"/>
                </a:lnTo>
                <a:lnTo>
                  <a:pt x="6396" y="257317"/>
                </a:lnTo>
                <a:lnTo>
                  <a:pt x="22178" y="257317"/>
                </a:lnTo>
                <a:lnTo>
                  <a:pt x="28575" y="250920"/>
                </a:lnTo>
                <a:lnTo>
                  <a:pt x="28575" y="235111"/>
                </a:lnTo>
                <a:lnTo>
                  <a:pt x="22178" y="228714"/>
                </a:lnTo>
                <a:close/>
              </a:path>
              <a:path w="28575" h="3402329">
                <a:moveTo>
                  <a:pt x="22178" y="285892"/>
                </a:moveTo>
                <a:lnTo>
                  <a:pt x="6396" y="285892"/>
                </a:lnTo>
                <a:lnTo>
                  <a:pt x="0" y="292289"/>
                </a:lnTo>
                <a:lnTo>
                  <a:pt x="0" y="308099"/>
                </a:lnTo>
                <a:lnTo>
                  <a:pt x="6396" y="314496"/>
                </a:lnTo>
                <a:lnTo>
                  <a:pt x="22178" y="314496"/>
                </a:lnTo>
                <a:lnTo>
                  <a:pt x="28575" y="308099"/>
                </a:lnTo>
                <a:lnTo>
                  <a:pt x="28575" y="292289"/>
                </a:lnTo>
                <a:lnTo>
                  <a:pt x="22178" y="285892"/>
                </a:lnTo>
                <a:close/>
              </a:path>
              <a:path w="28575" h="3402329">
                <a:moveTo>
                  <a:pt x="22178" y="343071"/>
                </a:moveTo>
                <a:lnTo>
                  <a:pt x="6396" y="343071"/>
                </a:lnTo>
                <a:lnTo>
                  <a:pt x="0" y="349468"/>
                </a:lnTo>
                <a:lnTo>
                  <a:pt x="0" y="365277"/>
                </a:lnTo>
                <a:lnTo>
                  <a:pt x="6396" y="371674"/>
                </a:lnTo>
                <a:lnTo>
                  <a:pt x="22178" y="371674"/>
                </a:lnTo>
                <a:lnTo>
                  <a:pt x="28575" y="365277"/>
                </a:lnTo>
                <a:lnTo>
                  <a:pt x="28575" y="349468"/>
                </a:lnTo>
                <a:lnTo>
                  <a:pt x="22178" y="343071"/>
                </a:lnTo>
                <a:close/>
              </a:path>
              <a:path w="28575" h="3402329">
                <a:moveTo>
                  <a:pt x="22178" y="400249"/>
                </a:moveTo>
                <a:lnTo>
                  <a:pt x="6396" y="400249"/>
                </a:lnTo>
                <a:lnTo>
                  <a:pt x="0" y="406646"/>
                </a:lnTo>
                <a:lnTo>
                  <a:pt x="0" y="422456"/>
                </a:lnTo>
                <a:lnTo>
                  <a:pt x="6396" y="428853"/>
                </a:lnTo>
                <a:lnTo>
                  <a:pt x="22178" y="428853"/>
                </a:lnTo>
                <a:lnTo>
                  <a:pt x="28575" y="422456"/>
                </a:lnTo>
                <a:lnTo>
                  <a:pt x="28575" y="406646"/>
                </a:lnTo>
                <a:lnTo>
                  <a:pt x="22178" y="400249"/>
                </a:lnTo>
                <a:close/>
              </a:path>
              <a:path w="28575" h="3402329">
                <a:moveTo>
                  <a:pt x="22178" y="457428"/>
                </a:moveTo>
                <a:lnTo>
                  <a:pt x="6396" y="457428"/>
                </a:lnTo>
                <a:lnTo>
                  <a:pt x="1" y="463824"/>
                </a:lnTo>
                <a:lnTo>
                  <a:pt x="0" y="479634"/>
                </a:lnTo>
                <a:lnTo>
                  <a:pt x="6396" y="486031"/>
                </a:lnTo>
                <a:lnTo>
                  <a:pt x="22178" y="486031"/>
                </a:lnTo>
                <a:lnTo>
                  <a:pt x="28575" y="479634"/>
                </a:lnTo>
                <a:lnTo>
                  <a:pt x="28575" y="463824"/>
                </a:lnTo>
                <a:lnTo>
                  <a:pt x="22178" y="457428"/>
                </a:lnTo>
                <a:close/>
              </a:path>
              <a:path w="28575" h="3402329">
                <a:moveTo>
                  <a:pt x="22178" y="514606"/>
                </a:moveTo>
                <a:lnTo>
                  <a:pt x="6396" y="514606"/>
                </a:lnTo>
                <a:lnTo>
                  <a:pt x="0" y="521003"/>
                </a:lnTo>
                <a:lnTo>
                  <a:pt x="0" y="536813"/>
                </a:lnTo>
                <a:lnTo>
                  <a:pt x="6396" y="543210"/>
                </a:lnTo>
                <a:lnTo>
                  <a:pt x="22178" y="543210"/>
                </a:lnTo>
                <a:lnTo>
                  <a:pt x="28575" y="536813"/>
                </a:lnTo>
                <a:lnTo>
                  <a:pt x="28575" y="521003"/>
                </a:lnTo>
                <a:lnTo>
                  <a:pt x="22178" y="514606"/>
                </a:lnTo>
                <a:close/>
              </a:path>
              <a:path w="28575" h="3402329">
                <a:moveTo>
                  <a:pt x="22178" y="571785"/>
                </a:moveTo>
                <a:lnTo>
                  <a:pt x="6396" y="571785"/>
                </a:lnTo>
                <a:lnTo>
                  <a:pt x="0" y="578181"/>
                </a:lnTo>
                <a:lnTo>
                  <a:pt x="0" y="593991"/>
                </a:lnTo>
                <a:lnTo>
                  <a:pt x="6396" y="600388"/>
                </a:lnTo>
                <a:lnTo>
                  <a:pt x="22178" y="600388"/>
                </a:lnTo>
                <a:lnTo>
                  <a:pt x="28575" y="593991"/>
                </a:lnTo>
                <a:lnTo>
                  <a:pt x="28575" y="578181"/>
                </a:lnTo>
                <a:lnTo>
                  <a:pt x="22178" y="571785"/>
                </a:lnTo>
                <a:close/>
              </a:path>
              <a:path w="28575" h="3402329">
                <a:moveTo>
                  <a:pt x="22178" y="628963"/>
                </a:moveTo>
                <a:lnTo>
                  <a:pt x="6396" y="628963"/>
                </a:lnTo>
                <a:lnTo>
                  <a:pt x="0" y="635360"/>
                </a:lnTo>
                <a:lnTo>
                  <a:pt x="0" y="651170"/>
                </a:lnTo>
                <a:lnTo>
                  <a:pt x="6396" y="657567"/>
                </a:lnTo>
                <a:lnTo>
                  <a:pt x="22178" y="657567"/>
                </a:lnTo>
                <a:lnTo>
                  <a:pt x="28575" y="651170"/>
                </a:lnTo>
                <a:lnTo>
                  <a:pt x="28575" y="635360"/>
                </a:lnTo>
                <a:lnTo>
                  <a:pt x="22178" y="628963"/>
                </a:lnTo>
                <a:close/>
              </a:path>
              <a:path w="28575" h="3402329">
                <a:moveTo>
                  <a:pt x="22178" y="686142"/>
                </a:moveTo>
                <a:lnTo>
                  <a:pt x="6396" y="686142"/>
                </a:lnTo>
                <a:lnTo>
                  <a:pt x="0" y="692538"/>
                </a:lnTo>
                <a:lnTo>
                  <a:pt x="0" y="708348"/>
                </a:lnTo>
                <a:lnTo>
                  <a:pt x="6396" y="714745"/>
                </a:lnTo>
                <a:lnTo>
                  <a:pt x="22178" y="714745"/>
                </a:lnTo>
                <a:lnTo>
                  <a:pt x="28575" y="708348"/>
                </a:lnTo>
                <a:lnTo>
                  <a:pt x="28575" y="692538"/>
                </a:lnTo>
                <a:lnTo>
                  <a:pt x="22178" y="686142"/>
                </a:lnTo>
                <a:close/>
              </a:path>
              <a:path w="28575" h="3402329">
                <a:moveTo>
                  <a:pt x="22178" y="743320"/>
                </a:moveTo>
                <a:lnTo>
                  <a:pt x="6396" y="743320"/>
                </a:lnTo>
                <a:lnTo>
                  <a:pt x="0" y="749717"/>
                </a:lnTo>
                <a:lnTo>
                  <a:pt x="0" y="765528"/>
                </a:lnTo>
                <a:lnTo>
                  <a:pt x="6396" y="771925"/>
                </a:lnTo>
                <a:lnTo>
                  <a:pt x="22178" y="771925"/>
                </a:lnTo>
                <a:lnTo>
                  <a:pt x="28575" y="765528"/>
                </a:lnTo>
                <a:lnTo>
                  <a:pt x="28575" y="749717"/>
                </a:lnTo>
                <a:lnTo>
                  <a:pt x="22178" y="743320"/>
                </a:lnTo>
                <a:close/>
              </a:path>
              <a:path w="28575" h="3402329">
                <a:moveTo>
                  <a:pt x="22178" y="800500"/>
                </a:moveTo>
                <a:lnTo>
                  <a:pt x="6396" y="800500"/>
                </a:lnTo>
                <a:lnTo>
                  <a:pt x="0" y="806895"/>
                </a:lnTo>
                <a:lnTo>
                  <a:pt x="0" y="822706"/>
                </a:lnTo>
                <a:lnTo>
                  <a:pt x="6396" y="829102"/>
                </a:lnTo>
                <a:lnTo>
                  <a:pt x="22178" y="829102"/>
                </a:lnTo>
                <a:lnTo>
                  <a:pt x="28575" y="822706"/>
                </a:lnTo>
                <a:lnTo>
                  <a:pt x="28575" y="806895"/>
                </a:lnTo>
                <a:lnTo>
                  <a:pt x="22178" y="800500"/>
                </a:lnTo>
                <a:close/>
              </a:path>
              <a:path w="28575" h="3402329">
                <a:moveTo>
                  <a:pt x="22178" y="857677"/>
                </a:moveTo>
                <a:lnTo>
                  <a:pt x="6396" y="857677"/>
                </a:lnTo>
                <a:lnTo>
                  <a:pt x="0" y="864074"/>
                </a:lnTo>
                <a:lnTo>
                  <a:pt x="0" y="879885"/>
                </a:lnTo>
                <a:lnTo>
                  <a:pt x="6396" y="886282"/>
                </a:lnTo>
                <a:lnTo>
                  <a:pt x="22178" y="886282"/>
                </a:lnTo>
                <a:lnTo>
                  <a:pt x="28575" y="879885"/>
                </a:lnTo>
                <a:lnTo>
                  <a:pt x="28575" y="864074"/>
                </a:lnTo>
                <a:lnTo>
                  <a:pt x="22178" y="857677"/>
                </a:lnTo>
                <a:close/>
              </a:path>
              <a:path w="28575" h="3402329">
                <a:moveTo>
                  <a:pt x="22178" y="914857"/>
                </a:moveTo>
                <a:lnTo>
                  <a:pt x="6396" y="914857"/>
                </a:lnTo>
                <a:lnTo>
                  <a:pt x="0" y="921252"/>
                </a:lnTo>
                <a:lnTo>
                  <a:pt x="0" y="937063"/>
                </a:lnTo>
                <a:lnTo>
                  <a:pt x="6396" y="943460"/>
                </a:lnTo>
                <a:lnTo>
                  <a:pt x="22178" y="943460"/>
                </a:lnTo>
                <a:lnTo>
                  <a:pt x="28575" y="937063"/>
                </a:lnTo>
                <a:lnTo>
                  <a:pt x="28575" y="921252"/>
                </a:lnTo>
                <a:lnTo>
                  <a:pt x="22178" y="914857"/>
                </a:lnTo>
                <a:close/>
              </a:path>
              <a:path w="28575" h="3402329">
                <a:moveTo>
                  <a:pt x="22178" y="972035"/>
                </a:moveTo>
                <a:lnTo>
                  <a:pt x="6396" y="972035"/>
                </a:lnTo>
                <a:lnTo>
                  <a:pt x="0" y="978432"/>
                </a:lnTo>
                <a:lnTo>
                  <a:pt x="0" y="994242"/>
                </a:lnTo>
                <a:lnTo>
                  <a:pt x="6396" y="1000639"/>
                </a:lnTo>
                <a:lnTo>
                  <a:pt x="22178" y="1000639"/>
                </a:lnTo>
                <a:lnTo>
                  <a:pt x="28575" y="994242"/>
                </a:lnTo>
                <a:lnTo>
                  <a:pt x="28575" y="978432"/>
                </a:lnTo>
                <a:lnTo>
                  <a:pt x="22178" y="972035"/>
                </a:lnTo>
                <a:close/>
              </a:path>
              <a:path w="28575" h="3402329">
                <a:moveTo>
                  <a:pt x="22178" y="1029214"/>
                </a:moveTo>
                <a:lnTo>
                  <a:pt x="6396" y="1029214"/>
                </a:lnTo>
                <a:lnTo>
                  <a:pt x="0" y="1035610"/>
                </a:lnTo>
                <a:lnTo>
                  <a:pt x="0" y="1051420"/>
                </a:lnTo>
                <a:lnTo>
                  <a:pt x="6396" y="1057817"/>
                </a:lnTo>
                <a:lnTo>
                  <a:pt x="22178" y="1057817"/>
                </a:lnTo>
                <a:lnTo>
                  <a:pt x="28575" y="1051420"/>
                </a:lnTo>
                <a:lnTo>
                  <a:pt x="28575" y="1035610"/>
                </a:lnTo>
                <a:lnTo>
                  <a:pt x="22178" y="1029214"/>
                </a:lnTo>
                <a:close/>
              </a:path>
              <a:path w="28575" h="3402329">
                <a:moveTo>
                  <a:pt x="22178" y="1086392"/>
                </a:moveTo>
                <a:lnTo>
                  <a:pt x="6396" y="1086392"/>
                </a:lnTo>
                <a:lnTo>
                  <a:pt x="0" y="1092789"/>
                </a:lnTo>
                <a:lnTo>
                  <a:pt x="0" y="1108599"/>
                </a:lnTo>
                <a:lnTo>
                  <a:pt x="6396" y="1114996"/>
                </a:lnTo>
                <a:lnTo>
                  <a:pt x="22178" y="1114996"/>
                </a:lnTo>
                <a:lnTo>
                  <a:pt x="28575" y="1108599"/>
                </a:lnTo>
                <a:lnTo>
                  <a:pt x="28575" y="1092789"/>
                </a:lnTo>
                <a:lnTo>
                  <a:pt x="22178" y="1086392"/>
                </a:lnTo>
                <a:close/>
              </a:path>
              <a:path w="28575" h="3402329">
                <a:moveTo>
                  <a:pt x="22178" y="1143571"/>
                </a:moveTo>
                <a:lnTo>
                  <a:pt x="6396" y="1143571"/>
                </a:lnTo>
                <a:lnTo>
                  <a:pt x="0" y="1149967"/>
                </a:lnTo>
                <a:lnTo>
                  <a:pt x="0" y="1165777"/>
                </a:lnTo>
                <a:lnTo>
                  <a:pt x="6396" y="1172174"/>
                </a:lnTo>
                <a:lnTo>
                  <a:pt x="22178" y="1172174"/>
                </a:lnTo>
                <a:lnTo>
                  <a:pt x="28575" y="1165777"/>
                </a:lnTo>
                <a:lnTo>
                  <a:pt x="28575" y="1149967"/>
                </a:lnTo>
                <a:lnTo>
                  <a:pt x="22178" y="1143571"/>
                </a:lnTo>
                <a:close/>
              </a:path>
              <a:path w="28575" h="3402329">
                <a:moveTo>
                  <a:pt x="22178" y="1200749"/>
                </a:moveTo>
                <a:lnTo>
                  <a:pt x="6396" y="1200749"/>
                </a:lnTo>
                <a:lnTo>
                  <a:pt x="0" y="1207146"/>
                </a:lnTo>
                <a:lnTo>
                  <a:pt x="0" y="1222956"/>
                </a:lnTo>
                <a:lnTo>
                  <a:pt x="6396" y="1229353"/>
                </a:lnTo>
                <a:lnTo>
                  <a:pt x="22178" y="1229353"/>
                </a:lnTo>
                <a:lnTo>
                  <a:pt x="28575" y="1222956"/>
                </a:lnTo>
                <a:lnTo>
                  <a:pt x="28575" y="1207146"/>
                </a:lnTo>
                <a:lnTo>
                  <a:pt x="22178" y="1200749"/>
                </a:lnTo>
                <a:close/>
              </a:path>
              <a:path w="28575" h="3402329">
                <a:moveTo>
                  <a:pt x="22178" y="1257928"/>
                </a:moveTo>
                <a:lnTo>
                  <a:pt x="6396" y="1257928"/>
                </a:lnTo>
                <a:lnTo>
                  <a:pt x="0" y="1264324"/>
                </a:lnTo>
                <a:lnTo>
                  <a:pt x="0" y="1280134"/>
                </a:lnTo>
                <a:lnTo>
                  <a:pt x="6396" y="1286531"/>
                </a:lnTo>
                <a:lnTo>
                  <a:pt x="22178" y="1286531"/>
                </a:lnTo>
                <a:lnTo>
                  <a:pt x="28575" y="1280134"/>
                </a:lnTo>
                <a:lnTo>
                  <a:pt x="28575" y="1264324"/>
                </a:lnTo>
                <a:lnTo>
                  <a:pt x="22178" y="1257928"/>
                </a:lnTo>
                <a:close/>
              </a:path>
              <a:path w="28575" h="3402329">
                <a:moveTo>
                  <a:pt x="22178" y="1315106"/>
                </a:moveTo>
                <a:lnTo>
                  <a:pt x="6396" y="1315106"/>
                </a:lnTo>
                <a:lnTo>
                  <a:pt x="0" y="1321503"/>
                </a:lnTo>
                <a:lnTo>
                  <a:pt x="0" y="1337313"/>
                </a:lnTo>
                <a:lnTo>
                  <a:pt x="6396" y="1343710"/>
                </a:lnTo>
                <a:lnTo>
                  <a:pt x="22178" y="1343710"/>
                </a:lnTo>
                <a:lnTo>
                  <a:pt x="28575" y="1337313"/>
                </a:lnTo>
                <a:lnTo>
                  <a:pt x="28575" y="1321503"/>
                </a:lnTo>
                <a:lnTo>
                  <a:pt x="22178" y="1315106"/>
                </a:lnTo>
                <a:close/>
              </a:path>
              <a:path w="28575" h="3402329">
                <a:moveTo>
                  <a:pt x="22178" y="1372285"/>
                </a:moveTo>
                <a:lnTo>
                  <a:pt x="6396" y="1372285"/>
                </a:lnTo>
                <a:lnTo>
                  <a:pt x="0" y="1378681"/>
                </a:lnTo>
                <a:lnTo>
                  <a:pt x="0" y="1394491"/>
                </a:lnTo>
                <a:lnTo>
                  <a:pt x="6396" y="1400888"/>
                </a:lnTo>
                <a:lnTo>
                  <a:pt x="22178" y="1400888"/>
                </a:lnTo>
                <a:lnTo>
                  <a:pt x="28575" y="1394491"/>
                </a:lnTo>
                <a:lnTo>
                  <a:pt x="28575" y="1378681"/>
                </a:lnTo>
                <a:lnTo>
                  <a:pt x="22178" y="1372285"/>
                </a:lnTo>
                <a:close/>
              </a:path>
              <a:path w="28575" h="3402329">
                <a:moveTo>
                  <a:pt x="22178" y="1429463"/>
                </a:moveTo>
                <a:lnTo>
                  <a:pt x="6396" y="1429463"/>
                </a:lnTo>
                <a:lnTo>
                  <a:pt x="0" y="1435860"/>
                </a:lnTo>
                <a:lnTo>
                  <a:pt x="0" y="1451670"/>
                </a:lnTo>
                <a:lnTo>
                  <a:pt x="6396" y="1458067"/>
                </a:lnTo>
                <a:lnTo>
                  <a:pt x="22178" y="1458067"/>
                </a:lnTo>
                <a:lnTo>
                  <a:pt x="28575" y="1451670"/>
                </a:lnTo>
                <a:lnTo>
                  <a:pt x="28575" y="1435860"/>
                </a:lnTo>
                <a:lnTo>
                  <a:pt x="22178" y="1429463"/>
                </a:lnTo>
                <a:close/>
              </a:path>
              <a:path w="28575" h="3402329">
                <a:moveTo>
                  <a:pt x="22178" y="1486642"/>
                </a:moveTo>
                <a:lnTo>
                  <a:pt x="6396" y="1486642"/>
                </a:lnTo>
                <a:lnTo>
                  <a:pt x="0" y="1493039"/>
                </a:lnTo>
                <a:lnTo>
                  <a:pt x="0" y="1508848"/>
                </a:lnTo>
                <a:lnTo>
                  <a:pt x="6396" y="1515245"/>
                </a:lnTo>
                <a:lnTo>
                  <a:pt x="22178" y="1515245"/>
                </a:lnTo>
                <a:lnTo>
                  <a:pt x="28575" y="1508848"/>
                </a:lnTo>
                <a:lnTo>
                  <a:pt x="28575" y="1493039"/>
                </a:lnTo>
                <a:lnTo>
                  <a:pt x="22178" y="1486642"/>
                </a:lnTo>
                <a:close/>
              </a:path>
              <a:path w="28575" h="3402329">
                <a:moveTo>
                  <a:pt x="22178" y="1543820"/>
                </a:moveTo>
                <a:lnTo>
                  <a:pt x="6396" y="1543820"/>
                </a:lnTo>
                <a:lnTo>
                  <a:pt x="0" y="1550217"/>
                </a:lnTo>
                <a:lnTo>
                  <a:pt x="0" y="1566028"/>
                </a:lnTo>
                <a:lnTo>
                  <a:pt x="6396" y="1572425"/>
                </a:lnTo>
                <a:lnTo>
                  <a:pt x="22178" y="1572425"/>
                </a:lnTo>
                <a:lnTo>
                  <a:pt x="28575" y="1566028"/>
                </a:lnTo>
                <a:lnTo>
                  <a:pt x="28575" y="1550217"/>
                </a:lnTo>
                <a:lnTo>
                  <a:pt x="22178" y="1543820"/>
                </a:lnTo>
                <a:close/>
              </a:path>
              <a:path w="28575" h="3402329">
                <a:moveTo>
                  <a:pt x="22178" y="1601000"/>
                </a:moveTo>
                <a:lnTo>
                  <a:pt x="6396" y="1601000"/>
                </a:lnTo>
                <a:lnTo>
                  <a:pt x="0" y="1607397"/>
                </a:lnTo>
                <a:lnTo>
                  <a:pt x="0" y="1623207"/>
                </a:lnTo>
                <a:lnTo>
                  <a:pt x="6396" y="1629603"/>
                </a:lnTo>
                <a:lnTo>
                  <a:pt x="22178" y="1629603"/>
                </a:lnTo>
                <a:lnTo>
                  <a:pt x="28575" y="1623207"/>
                </a:lnTo>
                <a:lnTo>
                  <a:pt x="28575" y="1607397"/>
                </a:lnTo>
                <a:lnTo>
                  <a:pt x="22178" y="1601000"/>
                </a:lnTo>
                <a:close/>
              </a:path>
              <a:path w="28575" h="3402329">
                <a:moveTo>
                  <a:pt x="22178" y="1658178"/>
                </a:moveTo>
                <a:lnTo>
                  <a:pt x="6396" y="1658178"/>
                </a:lnTo>
                <a:lnTo>
                  <a:pt x="0" y="1664575"/>
                </a:lnTo>
                <a:lnTo>
                  <a:pt x="0" y="1680385"/>
                </a:lnTo>
                <a:lnTo>
                  <a:pt x="6396" y="1686782"/>
                </a:lnTo>
                <a:lnTo>
                  <a:pt x="22178" y="1686782"/>
                </a:lnTo>
                <a:lnTo>
                  <a:pt x="28575" y="1680385"/>
                </a:lnTo>
                <a:lnTo>
                  <a:pt x="28575" y="1664575"/>
                </a:lnTo>
                <a:lnTo>
                  <a:pt x="22178" y="1658178"/>
                </a:lnTo>
                <a:close/>
              </a:path>
              <a:path w="28575" h="3402329">
                <a:moveTo>
                  <a:pt x="22178" y="1715357"/>
                </a:moveTo>
                <a:lnTo>
                  <a:pt x="6396" y="1715357"/>
                </a:lnTo>
                <a:lnTo>
                  <a:pt x="0" y="1721754"/>
                </a:lnTo>
                <a:lnTo>
                  <a:pt x="0" y="1737564"/>
                </a:lnTo>
                <a:lnTo>
                  <a:pt x="6396" y="1743960"/>
                </a:lnTo>
                <a:lnTo>
                  <a:pt x="22178" y="1743960"/>
                </a:lnTo>
                <a:lnTo>
                  <a:pt x="28575" y="1737564"/>
                </a:lnTo>
                <a:lnTo>
                  <a:pt x="28575" y="1721754"/>
                </a:lnTo>
                <a:lnTo>
                  <a:pt x="22178" y="1715357"/>
                </a:lnTo>
                <a:close/>
              </a:path>
              <a:path w="28575" h="3402329">
                <a:moveTo>
                  <a:pt x="22178" y="1772535"/>
                </a:moveTo>
                <a:lnTo>
                  <a:pt x="6396" y="1772535"/>
                </a:lnTo>
                <a:lnTo>
                  <a:pt x="0" y="1778932"/>
                </a:lnTo>
                <a:lnTo>
                  <a:pt x="0" y="1794742"/>
                </a:lnTo>
                <a:lnTo>
                  <a:pt x="6396" y="1801139"/>
                </a:lnTo>
                <a:lnTo>
                  <a:pt x="22178" y="1801139"/>
                </a:lnTo>
                <a:lnTo>
                  <a:pt x="28575" y="1794742"/>
                </a:lnTo>
                <a:lnTo>
                  <a:pt x="28575" y="1778932"/>
                </a:lnTo>
                <a:lnTo>
                  <a:pt x="22178" y="1772535"/>
                </a:lnTo>
                <a:close/>
              </a:path>
              <a:path w="28575" h="3402329">
                <a:moveTo>
                  <a:pt x="22178" y="1829714"/>
                </a:moveTo>
                <a:lnTo>
                  <a:pt x="6396" y="1829714"/>
                </a:lnTo>
                <a:lnTo>
                  <a:pt x="0" y="1836111"/>
                </a:lnTo>
                <a:lnTo>
                  <a:pt x="0" y="1851921"/>
                </a:lnTo>
                <a:lnTo>
                  <a:pt x="6396" y="1858318"/>
                </a:lnTo>
                <a:lnTo>
                  <a:pt x="22178" y="1858318"/>
                </a:lnTo>
                <a:lnTo>
                  <a:pt x="28575" y="1851921"/>
                </a:lnTo>
                <a:lnTo>
                  <a:pt x="28575" y="1836111"/>
                </a:lnTo>
                <a:lnTo>
                  <a:pt x="22178" y="1829714"/>
                </a:lnTo>
                <a:close/>
              </a:path>
              <a:path w="28575" h="3402329">
                <a:moveTo>
                  <a:pt x="22178" y="1886892"/>
                </a:moveTo>
                <a:lnTo>
                  <a:pt x="6396" y="1886892"/>
                </a:lnTo>
                <a:lnTo>
                  <a:pt x="0" y="1893289"/>
                </a:lnTo>
                <a:lnTo>
                  <a:pt x="0" y="1909099"/>
                </a:lnTo>
                <a:lnTo>
                  <a:pt x="6396" y="1915496"/>
                </a:lnTo>
                <a:lnTo>
                  <a:pt x="22178" y="1915496"/>
                </a:lnTo>
                <a:lnTo>
                  <a:pt x="28575" y="1909099"/>
                </a:lnTo>
                <a:lnTo>
                  <a:pt x="28575" y="1893289"/>
                </a:lnTo>
                <a:lnTo>
                  <a:pt x="22178" y="1886892"/>
                </a:lnTo>
                <a:close/>
              </a:path>
              <a:path w="28575" h="3402329">
                <a:moveTo>
                  <a:pt x="22178" y="1944071"/>
                </a:moveTo>
                <a:lnTo>
                  <a:pt x="6396" y="1944071"/>
                </a:lnTo>
                <a:lnTo>
                  <a:pt x="0" y="1950468"/>
                </a:lnTo>
                <a:lnTo>
                  <a:pt x="0" y="1966278"/>
                </a:lnTo>
                <a:lnTo>
                  <a:pt x="6396" y="1972674"/>
                </a:lnTo>
                <a:lnTo>
                  <a:pt x="22178" y="1972674"/>
                </a:lnTo>
                <a:lnTo>
                  <a:pt x="28575" y="1966278"/>
                </a:lnTo>
                <a:lnTo>
                  <a:pt x="28575" y="1950468"/>
                </a:lnTo>
                <a:lnTo>
                  <a:pt x="22178" y="1944071"/>
                </a:lnTo>
                <a:close/>
              </a:path>
              <a:path w="28575" h="3402329">
                <a:moveTo>
                  <a:pt x="22179" y="2001249"/>
                </a:moveTo>
                <a:lnTo>
                  <a:pt x="6396" y="2001249"/>
                </a:lnTo>
                <a:lnTo>
                  <a:pt x="0" y="2007646"/>
                </a:lnTo>
                <a:lnTo>
                  <a:pt x="0" y="2023456"/>
                </a:lnTo>
                <a:lnTo>
                  <a:pt x="6396" y="2029853"/>
                </a:lnTo>
                <a:lnTo>
                  <a:pt x="22179" y="2029853"/>
                </a:lnTo>
                <a:lnTo>
                  <a:pt x="28575" y="2023456"/>
                </a:lnTo>
                <a:lnTo>
                  <a:pt x="28575" y="2007646"/>
                </a:lnTo>
                <a:lnTo>
                  <a:pt x="22179" y="2001249"/>
                </a:lnTo>
                <a:close/>
              </a:path>
              <a:path w="28575" h="3402329">
                <a:moveTo>
                  <a:pt x="22179" y="2058428"/>
                </a:moveTo>
                <a:lnTo>
                  <a:pt x="6396" y="2058428"/>
                </a:lnTo>
                <a:lnTo>
                  <a:pt x="0" y="2064825"/>
                </a:lnTo>
                <a:lnTo>
                  <a:pt x="0" y="2080635"/>
                </a:lnTo>
                <a:lnTo>
                  <a:pt x="6396" y="2087031"/>
                </a:lnTo>
                <a:lnTo>
                  <a:pt x="22179" y="2087031"/>
                </a:lnTo>
                <a:lnTo>
                  <a:pt x="28575" y="2080635"/>
                </a:lnTo>
                <a:lnTo>
                  <a:pt x="28575" y="2064825"/>
                </a:lnTo>
                <a:lnTo>
                  <a:pt x="22179" y="2058428"/>
                </a:lnTo>
                <a:close/>
              </a:path>
              <a:path w="28575" h="3402329">
                <a:moveTo>
                  <a:pt x="22179" y="2115606"/>
                </a:moveTo>
                <a:lnTo>
                  <a:pt x="6396" y="2115606"/>
                </a:lnTo>
                <a:lnTo>
                  <a:pt x="0" y="2122003"/>
                </a:lnTo>
                <a:lnTo>
                  <a:pt x="0" y="2137813"/>
                </a:lnTo>
                <a:lnTo>
                  <a:pt x="6396" y="2144210"/>
                </a:lnTo>
                <a:lnTo>
                  <a:pt x="22179" y="2144210"/>
                </a:lnTo>
                <a:lnTo>
                  <a:pt x="28575" y="2137813"/>
                </a:lnTo>
                <a:lnTo>
                  <a:pt x="28575" y="2122003"/>
                </a:lnTo>
                <a:lnTo>
                  <a:pt x="22179" y="2115606"/>
                </a:lnTo>
                <a:close/>
              </a:path>
              <a:path w="28575" h="3402329">
                <a:moveTo>
                  <a:pt x="22179" y="2172785"/>
                </a:moveTo>
                <a:lnTo>
                  <a:pt x="6396" y="2172785"/>
                </a:lnTo>
                <a:lnTo>
                  <a:pt x="0" y="2179182"/>
                </a:lnTo>
                <a:lnTo>
                  <a:pt x="0" y="2194991"/>
                </a:lnTo>
                <a:lnTo>
                  <a:pt x="6396" y="2201388"/>
                </a:lnTo>
                <a:lnTo>
                  <a:pt x="22179" y="2201388"/>
                </a:lnTo>
                <a:lnTo>
                  <a:pt x="28575" y="2194991"/>
                </a:lnTo>
                <a:lnTo>
                  <a:pt x="28575" y="2179182"/>
                </a:lnTo>
                <a:lnTo>
                  <a:pt x="22179" y="2172785"/>
                </a:lnTo>
                <a:close/>
              </a:path>
              <a:path w="28575" h="3402329">
                <a:moveTo>
                  <a:pt x="22179" y="2229963"/>
                </a:moveTo>
                <a:lnTo>
                  <a:pt x="6396" y="2229963"/>
                </a:lnTo>
                <a:lnTo>
                  <a:pt x="0" y="2236360"/>
                </a:lnTo>
                <a:lnTo>
                  <a:pt x="0" y="2252171"/>
                </a:lnTo>
                <a:lnTo>
                  <a:pt x="6396" y="2258568"/>
                </a:lnTo>
                <a:lnTo>
                  <a:pt x="22179" y="2258568"/>
                </a:lnTo>
                <a:lnTo>
                  <a:pt x="28575" y="2252171"/>
                </a:lnTo>
                <a:lnTo>
                  <a:pt x="28575" y="2236360"/>
                </a:lnTo>
                <a:lnTo>
                  <a:pt x="22179" y="2229963"/>
                </a:lnTo>
                <a:close/>
              </a:path>
              <a:path w="28575" h="3402329">
                <a:moveTo>
                  <a:pt x="22179" y="2287143"/>
                </a:moveTo>
                <a:lnTo>
                  <a:pt x="6396" y="2287143"/>
                </a:lnTo>
                <a:lnTo>
                  <a:pt x="0" y="2293538"/>
                </a:lnTo>
                <a:lnTo>
                  <a:pt x="0" y="2309348"/>
                </a:lnTo>
                <a:lnTo>
                  <a:pt x="6396" y="2315745"/>
                </a:lnTo>
                <a:lnTo>
                  <a:pt x="22179" y="2315745"/>
                </a:lnTo>
                <a:lnTo>
                  <a:pt x="28575" y="2309348"/>
                </a:lnTo>
                <a:lnTo>
                  <a:pt x="28575" y="2293538"/>
                </a:lnTo>
                <a:lnTo>
                  <a:pt x="22179" y="2287143"/>
                </a:lnTo>
                <a:close/>
              </a:path>
              <a:path w="28575" h="3402329">
                <a:moveTo>
                  <a:pt x="22179" y="2344320"/>
                </a:moveTo>
                <a:lnTo>
                  <a:pt x="6396" y="2344320"/>
                </a:lnTo>
                <a:lnTo>
                  <a:pt x="0" y="2350717"/>
                </a:lnTo>
                <a:lnTo>
                  <a:pt x="0" y="2366528"/>
                </a:lnTo>
                <a:lnTo>
                  <a:pt x="6396" y="2372925"/>
                </a:lnTo>
                <a:lnTo>
                  <a:pt x="22179" y="2372925"/>
                </a:lnTo>
                <a:lnTo>
                  <a:pt x="28575" y="2366528"/>
                </a:lnTo>
                <a:lnTo>
                  <a:pt x="28575" y="2350717"/>
                </a:lnTo>
                <a:lnTo>
                  <a:pt x="22179" y="2344320"/>
                </a:lnTo>
                <a:close/>
              </a:path>
              <a:path w="28575" h="3402329">
                <a:moveTo>
                  <a:pt x="22179" y="2401500"/>
                </a:moveTo>
                <a:lnTo>
                  <a:pt x="6396" y="2401500"/>
                </a:lnTo>
                <a:lnTo>
                  <a:pt x="0" y="2407895"/>
                </a:lnTo>
                <a:lnTo>
                  <a:pt x="0" y="2423706"/>
                </a:lnTo>
                <a:lnTo>
                  <a:pt x="6396" y="2430103"/>
                </a:lnTo>
                <a:lnTo>
                  <a:pt x="22179" y="2430103"/>
                </a:lnTo>
                <a:lnTo>
                  <a:pt x="28575" y="2423706"/>
                </a:lnTo>
                <a:lnTo>
                  <a:pt x="28575" y="2407895"/>
                </a:lnTo>
                <a:lnTo>
                  <a:pt x="22179" y="2401500"/>
                </a:lnTo>
                <a:close/>
              </a:path>
              <a:path w="28575" h="3402329">
                <a:moveTo>
                  <a:pt x="22179" y="2458678"/>
                </a:moveTo>
                <a:lnTo>
                  <a:pt x="6396" y="2458678"/>
                </a:lnTo>
                <a:lnTo>
                  <a:pt x="0" y="2465075"/>
                </a:lnTo>
                <a:lnTo>
                  <a:pt x="0" y="2480885"/>
                </a:lnTo>
                <a:lnTo>
                  <a:pt x="6396" y="2487281"/>
                </a:lnTo>
                <a:lnTo>
                  <a:pt x="22179" y="2487281"/>
                </a:lnTo>
                <a:lnTo>
                  <a:pt x="28575" y="2480885"/>
                </a:lnTo>
                <a:lnTo>
                  <a:pt x="28575" y="2465075"/>
                </a:lnTo>
                <a:lnTo>
                  <a:pt x="22179" y="2458678"/>
                </a:lnTo>
                <a:close/>
              </a:path>
              <a:path w="28575" h="3402329">
                <a:moveTo>
                  <a:pt x="22179" y="2515856"/>
                </a:moveTo>
                <a:lnTo>
                  <a:pt x="6396" y="2515856"/>
                </a:lnTo>
                <a:lnTo>
                  <a:pt x="0" y="2522253"/>
                </a:lnTo>
                <a:lnTo>
                  <a:pt x="0" y="2538063"/>
                </a:lnTo>
                <a:lnTo>
                  <a:pt x="6396" y="2544460"/>
                </a:lnTo>
                <a:lnTo>
                  <a:pt x="22179" y="2544460"/>
                </a:lnTo>
                <a:lnTo>
                  <a:pt x="28575" y="2538063"/>
                </a:lnTo>
                <a:lnTo>
                  <a:pt x="28575" y="2522253"/>
                </a:lnTo>
                <a:lnTo>
                  <a:pt x="22179" y="2515856"/>
                </a:lnTo>
                <a:close/>
              </a:path>
              <a:path w="28575" h="3402329">
                <a:moveTo>
                  <a:pt x="22179" y="2573035"/>
                </a:moveTo>
                <a:lnTo>
                  <a:pt x="6396" y="2573035"/>
                </a:lnTo>
                <a:lnTo>
                  <a:pt x="0" y="2579431"/>
                </a:lnTo>
                <a:lnTo>
                  <a:pt x="0" y="2595241"/>
                </a:lnTo>
                <a:lnTo>
                  <a:pt x="6396" y="2601638"/>
                </a:lnTo>
                <a:lnTo>
                  <a:pt x="22179" y="2601638"/>
                </a:lnTo>
                <a:lnTo>
                  <a:pt x="28575" y="2595241"/>
                </a:lnTo>
                <a:lnTo>
                  <a:pt x="28575" y="2579431"/>
                </a:lnTo>
                <a:lnTo>
                  <a:pt x="22179" y="2573035"/>
                </a:lnTo>
                <a:close/>
              </a:path>
              <a:path w="28575" h="3402329">
                <a:moveTo>
                  <a:pt x="22179" y="2630213"/>
                </a:moveTo>
                <a:lnTo>
                  <a:pt x="6396" y="2630213"/>
                </a:lnTo>
                <a:lnTo>
                  <a:pt x="0" y="2636610"/>
                </a:lnTo>
                <a:lnTo>
                  <a:pt x="0" y="2652420"/>
                </a:lnTo>
                <a:lnTo>
                  <a:pt x="6396" y="2658817"/>
                </a:lnTo>
                <a:lnTo>
                  <a:pt x="22179" y="2658817"/>
                </a:lnTo>
                <a:lnTo>
                  <a:pt x="28575" y="2652420"/>
                </a:lnTo>
                <a:lnTo>
                  <a:pt x="28575" y="2636610"/>
                </a:lnTo>
                <a:lnTo>
                  <a:pt x="22179" y="2630213"/>
                </a:lnTo>
                <a:close/>
              </a:path>
              <a:path w="28575" h="3402329">
                <a:moveTo>
                  <a:pt x="22179" y="2687392"/>
                </a:moveTo>
                <a:lnTo>
                  <a:pt x="6396" y="2687392"/>
                </a:lnTo>
                <a:lnTo>
                  <a:pt x="0" y="2693788"/>
                </a:lnTo>
                <a:lnTo>
                  <a:pt x="0" y="2709598"/>
                </a:lnTo>
                <a:lnTo>
                  <a:pt x="6396" y="2715995"/>
                </a:lnTo>
                <a:lnTo>
                  <a:pt x="22179" y="2715995"/>
                </a:lnTo>
                <a:lnTo>
                  <a:pt x="28575" y="2709598"/>
                </a:lnTo>
                <a:lnTo>
                  <a:pt x="28575" y="2693788"/>
                </a:lnTo>
                <a:lnTo>
                  <a:pt x="22179" y="2687392"/>
                </a:lnTo>
                <a:close/>
              </a:path>
              <a:path w="28575" h="3402329">
                <a:moveTo>
                  <a:pt x="22179" y="2744570"/>
                </a:moveTo>
                <a:lnTo>
                  <a:pt x="6396" y="2744570"/>
                </a:lnTo>
                <a:lnTo>
                  <a:pt x="0" y="2750967"/>
                </a:lnTo>
                <a:lnTo>
                  <a:pt x="0" y="2766777"/>
                </a:lnTo>
                <a:lnTo>
                  <a:pt x="6396" y="2773174"/>
                </a:lnTo>
                <a:lnTo>
                  <a:pt x="22179" y="2773174"/>
                </a:lnTo>
                <a:lnTo>
                  <a:pt x="28575" y="2766777"/>
                </a:lnTo>
                <a:lnTo>
                  <a:pt x="28575" y="2750967"/>
                </a:lnTo>
                <a:lnTo>
                  <a:pt x="22179" y="2744570"/>
                </a:lnTo>
                <a:close/>
              </a:path>
              <a:path w="28575" h="3402329">
                <a:moveTo>
                  <a:pt x="22179" y="2801749"/>
                </a:moveTo>
                <a:lnTo>
                  <a:pt x="6396" y="2801749"/>
                </a:lnTo>
                <a:lnTo>
                  <a:pt x="0" y="2808145"/>
                </a:lnTo>
                <a:lnTo>
                  <a:pt x="0" y="2823955"/>
                </a:lnTo>
                <a:lnTo>
                  <a:pt x="6396" y="2830352"/>
                </a:lnTo>
                <a:lnTo>
                  <a:pt x="22179" y="2830352"/>
                </a:lnTo>
                <a:lnTo>
                  <a:pt x="28575" y="2823955"/>
                </a:lnTo>
                <a:lnTo>
                  <a:pt x="28575" y="2808145"/>
                </a:lnTo>
                <a:lnTo>
                  <a:pt x="22179" y="2801749"/>
                </a:lnTo>
                <a:close/>
              </a:path>
              <a:path w="28575" h="3402329">
                <a:moveTo>
                  <a:pt x="22179" y="2858927"/>
                </a:moveTo>
                <a:lnTo>
                  <a:pt x="6396" y="2858927"/>
                </a:lnTo>
                <a:lnTo>
                  <a:pt x="1" y="2865324"/>
                </a:lnTo>
                <a:lnTo>
                  <a:pt x="1" y="2881134"/>
                </a:lnTo>
                <a:lnTo>
                  <a:pt x="6396" y="2887531"/>
                </a:lnTo>
                <a:lnTo>
                  <a:pt x="22179" y="2887531"/>
                </a:lnTo>
                <a:lnTo>
                  <a:pt x="28576" y="2881134"/>
                </a:lnTo>
                <a:lnTo>
                  <a:pt x="28575" y="2865324"/>
                </a:lnTo>
                <a:lnTo>
                  <a:pt x="22179" y="2858927"/>
                </a:lnTo>
                <a:close/>
              </a:path>
              <a:path w="28575" h="3402329">
                <a:moveTo>
                  <a:pt x="22179" y="2916106"/>
                </a:moveTo>
                <a:lnTo>
                  <a:pt x="6396" y="2916106"/>
                </a:lnTo>
                <a:lnTo>
                  <a:pt x="1" y="2922502"/>
                </a:lnTo>
                <a:lnTo>
                  <a:pt x="1" y="2938312"/>
                </a:lnTo>
                <a:lnTo>
                  <a:pt x="6396" y="2944709"/>
                </a:lnTo>
                <a:lnTo>
                  <a:pt x="22179" y="2944709"/>
                </a:lnTo>
                <a:lnTo>
                  <a:pt x="28576" y="2938312"/>
                </a:lnTo>
                <a:lnTo>
                  <a:pt x="28576" y="2922502"/>
                </a:lnTo>
                <a:lnTo>
                  <a:pt x="22179" y="2916106"/>
                </a:lnTo>
                <a:close/>
              </a:path>
              <a:path w="28575" h="3402329">
                <a:moveTo>
                  <a:pt x="22179" y="2973284"/>
                </a:moveTo>
                <a:lnTo>
                  <a:pt x="6396" y="2973284"/>
                </a:lnTo>
                <a:lnTo>
                  <a:pt x="1" y="2979681"/>
                </a:lnTo>
                <a:lnTo>
                  <a:pt x="1" y="2995491"/>
                </a:lnTo>
                <a:lnTo>
                  <a:pt x="6396" y="3001888"/>
                </a:lnTo>
                <a:lnTo>
                  <a:pt x="22179" y="3001888"/>
                </a:lnTo>
                <a:lnTo>
                  <a:pt x="28576" y="2995491"/>
                </a:lnTo>
                <a:lnTo>
                  <a:pt x="28576" y="2979681"/>
                </a:lnTo>
                <a:lnTo>
                  <a:pt x="22179" y="2973284"/>
                </a:lnTo>
                <a:close/>
              </a:path>
              <a:path w="28575" h="3402329">
                <a:moveTo>
                  <a:pt x="22179" y="3030463"/>
                </a:moveTo>
                <a:lnTo>
                  <a:pt x="6396" y="3030463"/>
                </a:lnTo>
                <a:lnTo>
                  <a:pt x="1" y="3036859"/>
                </a:lnTo>
                <a:lnTo>
                  <a:pt x="1" y="3052669"/>
                </a:lnTo>
                <a:lnTo>
                  <a:pt x="6396" y="3059066"/>
                </a:lnTo>
                <a:lnTo>
                  <a:pt x="22179" y="3059066"/>
                </a:lnTo>
                <a:lnTo>
                  <a:pt x="28576" y="3052669"/>
                </a:lnTo>
                <a:lnTo>
                  <a:pt x="28576" y="3036859"/>
                </a:lnTo>
                <a:lnTo>
                  <a:pt x="22179" y="3030463"/>
                </a:lnTo>
                <a:close/>
              </a:path>
              <a:path w="28575" h="3402329">
                <a:moveTo>
                  <a:pt x="22179" y="3087641"/>
                </a:moveTo>
                <a:lnTo>
                  <a:pt x="6396" y="3087641"/>
                </a:lnTo>
                <a:lnTo>
                  <a:pt x="1" y="3094038"/>
                </a:lnTo>
                <a:lnTo>
                  <a:pt x="1" y="3109848"/>
                </a:lnTo>
                <a:lnTo>
                  <a:pt x="6396" y="3116245"/>
                </a:lnTo>
                <a:lnTo>
                  <a:pt x="22179" y="3116245"/>
                </a:lnTo>
                <a:lnTo>
                  <a:pt x="28576" y="3109848"/>
                </a:lnTo>
                <a:lnTo>
                  <a:pt x="28576" y="3094038"/>
                </a:lnTo>
                <a:lnTo>
                  <a:pt x="22179" y="3087641"/>
                </a:lnTo>
                <a:close/>
              </a:path>
              <a:path w="28575" h="3402329">
                <a:moveTo>
                  <a:pt x="22179" y="3144820"/>
                </a:moveTo>
                <a:lnTo>
                  <a:pt x="6396" y="3144820"/>
                </a:lnTo>
                <a:lnTo>
                  <a:pt x="1" y="3151216"/>
                </a:lnTo>
                <a:lnTo>
                  <a:pt x="1" y="3167026"/>
                </a:lnTo>
                <a:lnTo>
                  <a:pt x="6396" y="3173423"/>
                </a:lnTo>
                <a:lnTo>
                  <a:pt x="22179" y="3173423"/>
                </a:lnTo>
                <a:lnTo>
                  <a:pt x="28576" y="3167026"/>
                </a:lnTo>
                <a:lnTo>
                  <a:pt x="28576" y="3151216"/>
                </a:lnTo>
                <a:lnTo>
                  <a:pt x="22179" y="3144820"/>
                </a:lnTo>
                <a:close/>
              </a:path>
              <a:path w="28575" h="3402329">
                <a:moveTo>
                  <a:pt x="22179" y="3201998"/>
                </a:moveTo>
                <a:lnTo>
                  <a:pt x="6396" y="3201998"/>
                </a:lnTo>
                <a:lnTo>
                  <a:pt x="1" y="3208395"/>
                </a:lnTo>
                <a:lnTo>
                  <a:pt x="1" y="3224205"/>
                </a:lnTo>
                <a:lnTo>
                  <a:pt x="6396" y="3230602"/>
                </a:lnTo>
                <a:lnTo>
                  <a:pt x="22179" y="3230602"/>
                </a:lnTo>
                <a:lnTo>
                  <a:pt x="28576" y="3224205"/>
                </a:lnTo>
                <a:lnTo>
                  <a:pt x="28576" y="3208395"/>
                </a:lnTo>
                <a:lnTo>
                  <a:pt x="22179" y="3201998"/>
                </a:lnTo>
                <a:close/>
              </a:path>
              <a:path w="28575" h="3402329">
                <a:moveTo>
                  <a:pt x="22179" y="3259177"/>
                </a:moveTo>
                <a:lnTo>
                  <a:pt x="6396" y="3259177"/>
                </a:lnTo>
                <a:lnTo>
                  <a:pt x="1" y="3265573"/>
                </a:lnTo>
                <a:lnTo>
                  <a:pt x="1" y="3281383"/>
                </a:lnTo>
                <a:lnTo>
                  <a:pt x="6396" y="3287780"/>
                </a:lnTo>
                <a:lnTo>
                  <a:pt x="22179" y="3287780"/>
                </a:lnTo>
                <a:lnTo>
                  <a:pt x="28576" y="3281383"/>
                </a:lnTo>
                <a:lnTo>
                  <a:pt x="28576" y="3265573"/>
                </a:lnTo>
                <a:lnTo>
                  <a:pt x="22179" y="3259177"/>
                </a:lnTo>
                <a:close/>
              </a:path>
              <a:path w="28575" h="3402329">
                <a:moveTo>
                  <a:pt x="22179" y="3316355"/>
                </a:moveTo>
                <a:lnTo>
                  <a:pt x="6396" y="3316355"/>
                </a:lnTo>
                <a:lnTo>
                  <a:pt x="1" y="3322752"/>
                </a:lnTo>
                <a:lnTo>
                  <a:pt x="1" y="3338562"/>
                </a:lnTo>
                <a:lnTo>
                  <a:pt x="6396" y="3344959"/>
                </a:lnTo>
                <a:lnTo>
                  <a:pt x="22179" y="3344959"/>
                </a:lnTo>
                <a:lnTo>
                  <a:pt x="28576" y="3338562"/>
                </a:lnTo>
                <a:lnTo>
                  <a:pt x="28576" y="3322752"/>
                </a:lnTo>
                <a:lnTo>
                  <a:pt x="22179" y="3316355"/>
                </a:lnTo>
                <a:close/>
              </a:path>
              <a:path w="28575" h="3402329">
                <a:moveTo>
                  <a:pt x="22179" y="3373534"/>
                </a:moveTo>
                <a:lnTo>
                  <a:pt x="6396" y="3373534"/>
                </a:lnTo>
                <a:lnTo>
                  <a:pt x="1" y="3379931"/>
                </a:lnTo>
                <a:lnTo>
                  <a:pt x="1" y="3395741"/>
                </a:lnTo>
                <a:lnTo>
                  <a:pt x="6396" y="3402138"/>
                </a:lnTo>
                <a:lnTo>
                  <a:pt x="22179" y="3402138"/>
                </a:lnTo>
                <a:lnTo>
                  <a:pt x="28576" y="3395741"/>
                </a:lnTo>
                <a:lnTo>
                  <a:pt x="28576" y="3379931"/>
                </a:lnTo>
                <a:lnTo>
                  <a:pt x="22179" y="33735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6453878" y="3169411"/>
            <a:ext cx="1907539" cy="12115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latin typeface="Calibri"/>
                <a:cs typeface="Calibri"/>
              </a:rPr>
              <a:t>The </a:t>
            </a:r>
            <a:r>
              <a:rPr dirty="0" sz="1800" spc="-10" b="1">
                <a:latin typeface="Calibri"/>
                <a:cs typeface="Calibri"/>
              </a:rPr>
              <a:t>computational  </a:t>
            </a:r>
            <a:r>
              <a:rPr dirty="0" sz="1800" spc="-15" b="1">
                <a:latin typeface="Calibri"/>
                <a:cs typeface="Calibri"/>
              </a:rPr>
              <a:t>graphs </a:t>
            </a:r>
            <a:r>
              <a:rPr dirty="0" sz="1800" spc="-10" b="1">
                <a:latin typeface="Calibri"/>
                <a:cs typeface="Calibri"/>
              </a:rPr>
              <a:t>for </a:t>
            </a:r>
            <a:r>
              <a:rPr dirty="0" sz="1800" spc="-5" b="1">
                <a:latin typeface="Calibri"/>
                <a:cs typeface="Calibri"/>
              </a:rPr>
              <a:t>node </a:t>
            </a:r>
            <a:r>
              <a:rPr dirty="0" sz="1800" spc="-5">
                <a:latin typeface="Cambria Math"/>
                <a:cs typeface="Cambria Math"/>
              </a:rPr>
              <a:t>𝒗</a:t>
            </a:r>
            <a:r>
              <a:rPr dirty="0" baseline="-17094" sz="1950" spc="-7">
                <a:latin typeface="Cambria Math"/>
                <a:cs typeface="Cambria Math"/>
              </a:rPr>
              <a:t>𝟏 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are 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always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same</a:t>
            </a:r>
            <a:endParaRPr sz="1800">
              <a:latin typeface="Calibri"/>
              <a:cs typeface="Calibri"/>
            </a:endParaRPr>
          </a:p>
          <a:p>
            <a:pPr algn="ctr" marR="39370">
              <a:lnSpc>
                <a:spcPct val="100000"/>
              </a:lnSpc>
              <a:spcBef>
                <a:spcPts val="1255"/>
              </a:spcBef>
            </a:pPr>
            <a:r>
              <a:rPr dirty="0" sz="1350" spc="300">
                <a:latin typeface="Cambria Math"/>
                <a:cs typeface="Cambria Math"/>
              </a:rPr>
              <a:t>!</a:t>
            </a:r>
            <a:r>
              <a:rPr dirty="0" baseline="-13888" sz="1500" spc="450">
                <a:latin typeface="Cambria Math"/>
                <a:cs typeface="Cambria Math"/>
              </a:rPr>
              <a:t>!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0" name="object 7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67" name="object 67"/>
          <p:cNvSpPr txBox="1"/>
          <p:nvPr/>
        </p:nvSpPr>
        <p:spPr>
          <a:xfrm>
            <a:off x="5893709" y="6204203"/>
            <a:ext cx="29349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More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about this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topic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later!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29"/>
              </a:lnSpc>
              <a:spcBef>
                <a:spcPts val="100"/>
              </a:spcBef>
            </a:pPr>
            <a:r>
              <a:rPr dirty="0" spc="-25"/>
              <a:t>Why </a:t>
            </a:r>
            <a:r>
              <a:rPr dirty="0" spc="-5"/>
              <a:t>do </a:t>
            </a:r>
            <a:r>
              <a:rPr dirty="0" spc="-15"/>
              <a:t>we </a:t>
            </a:r>
            <a:r>
              <a:rPr dirty="0" spc="-5"/>
              <a:t>need </a:t>
            </a:r>
            <a:r>
              <a:rPr dirty="0" spc="-20"/>
              <a:t>feature</a:t>
            </a:r>
            <a:r>
              <a:rPr dirty="0" spc="-25"/>
              <a:t> </a:t>
            </a:r>
            <a:r>
              <a:rPr dirty="0" spc="-10"/>
              <a:t>augmentation?</a:t>
            </a:r>
          </a:p>
          <a:p>
            <a:pPr marL="3327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000000"/>
                </a:solidFill>
              </a:rPr>
              <a:t>(2) </a:t>
            </a:r>
            <a:r>
              <a:rPr dirty="0" spc="-5">
                <a:solidFill>
                  <a:srgbClr val="000000"/>
                </a:solidFill>
              </a:rPr>
              <a:t>Certain </a:t>
            </a:r>
            <a:r>
              <a:rPr dirty="0" spc="-10">
                <a:solidFill>
                  <a:srgbClr val="000000"/>
                </a:solidFill>
              </a:rPr>
              <a:t>structures </a:t>
            </a:r>
            <a:r>
              <a:rPr dirty="0" spc="-15">
                <a:solidFill>
                  <a:srgbClr val="000000"/>
                </a:solidFill>
              </a:rPr>
              <a:t>are hard to </a:t>
            </a:r>
            <a:r>
              <a:rPr dirty="0" spc="-5">
                <a:solidFill>
                  <a:srgbClr val="000000"/>
                </a:solidFill>
              </a:rPr>
              <a:t>learn </a:t>
            </a:r>
            <a:r>
              <a:rPr dirty="0" spc="-15">
                <a:solidFill>
                  <a:srgbClr val="000000"/>
                </a:solidFill>
              </a:rPr>
              <a:t>by</a:t>
            </a:r>
            <a:r>
              <a:rPr dirty="0" spc="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GNN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871" y="2200293"/>
            <a:ext cx="8192770" cy="112077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Solution: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cycle count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as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augmented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28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85">
                <a:solidFill>
                  <a:srgbClr val="C00000"/>
                </a:solidFill>
                <a:latin typeface="Calibri"/>
                <a:cs typeface="Calibri"/>
              </a:rPr>
              <a:t>features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32766" y="5221695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32766" y="6310967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06662" y="5760042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66854" y="5489872"/>
            <a:ext cx="0" cy="821690"/>
          </a:xfrm>
          <a:custGeom>
            <a:avLst/>
            <a:gdLst/>
            <a:ahLst/>
            <a:cxnLst/>
            <a:rect l="l" t="t" r="r" b="b"/>
            <a:pathLst>
              <a:path w="0" h="821689">
                <a:moveTo>
                  <a:pt x="0" y="0"/>
                </a:moveTo>
                <a:lnTo>
                  <a:pt x="1" y="82109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00943" y="5355784"/>
            <a:ext cx="845185" cy="443865"/>
          </a:xfrm>
          <a:custGeom>
            <a:avLst/>
            <a:gdLst/>
            <a:ahLst/>
            <a:cxnLst/>
            <a:rect l="l" t="t" r="r" b="b"/>
            <a:pathLst>
              <a:path w="845185" h="443864">
                <a:moveTo>
                  <a:pt x="0" y="0"/>
                </a:moveTo>
                <a:lnTo>
                  <a:pt x="844992" y="4435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00943" y="5988946"/>
            <a:ext cx="845185" cy="456565"/>
          </a:xfrm>
          <a:custGeom>
            <a:avLst/>
            <a:gdLst/>
            <a:ahLst/>
            <a:cxnLst/>
            <a:rect l="l" t="t" r="r" b="b"/>
            <a:pathLst>
              <a:path w="845185" h="456564">
                <a:moveTo>
                  <a:pt x="0" y="456110"/>
                </a:moveTo>
                <a:lnTo>
                  <a:pt x="84499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13764" y="5227557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13764" y="6310967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44014" y="5230529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789583" y="5194300"/>
            <a:ext cx="218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525">
                <a:latin typeface="Cambria Math"/>
                <a:cs typeface="Cambria Math"/>
              </a:rPr>
              <a:t>!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047853" y="5495734"/>
            <a:ext cx="0" cy="815340"/>
          </a:xfrm>
          <a:custGeom>
            <a:avLst/>
            <a:gdLst/>
            <a:ahLst/>
            <a:cxnLst/>
            <a:rect l="l" t="t" r="r" b="b"/>
            <a:pathLst>
              <a:path w="0" h="815339">
                <a:moveTo>
                  <a:pt x="0" y="0"/>
                </a:moveTo>
                <a:lnTo>
                  <a:pt x="1" y="8152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78102" y="5498705"/>
            <a:ext cx="0" cy="812800"/>
          </a:xfrm>
          <a:custGeom>
            <a:avLst/>
            <a:gdLst/>
            <a:ahLst/>
            <a:cxnLst/>
            <a:rect l="l" t="t" r="r" b="b"/>
            <a:pathLst>
              <a:path w="0" h="812800">
                <a:moveTo>
                  <a:pt x="0" y="812263"/>
                </a:moveTo>
                <a:lnTo>
                  <a:pt x="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744014" y="6310967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12190" y="5361645"/>
            <a:ext cx="901700" cy="3175"/>
          </a:xfrm>
          <a:custGeom>
            <a:avLst/>
            <a:gdLst/>
            <a:ahLst/>
            <a:cxnLst/>
            <a:rect l="l" t="t" r="r" b="b"/>
            <a:pathLst>
              <a:path w="901700" h="3175">
                <a:moveTo>
                  <a:pt x="901574" y="0"/>
                </a:moveTo>
                <a:lnTo>
                  <a:pt x="0" y="297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12190" y="6445056"/>
            <a:ext cx="901700" cy="0"/>
          </a:xfrm>
          <a:custGeom>
            <a:avLst/>
            <a:gdLst/>
            <a:ahLst/>
            <a:cxnLst/>
            <a:rect l="l" t="t" r="r" b="b"/>
            <a:pathLst>
              <a:path w="901700" h="0">
                <a:moveTo>
                  <a:pt x="901574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43419" y="4539836"/>
            <a:ext cx="85725" cy="229870"/>
          </a:xfrm>
          <a:custGeom>
            <a:avLst/>
            <a:gdLst/>
            <a:ahLst/>
            <a:cxnLst/>
            <a:rect l="l" t="t" r="r" b="b"/>
            <a:pathLst>
              <a:path w="85725" h="229870">
                <a:moveTo>
                  <a:pt x="50753" y="57150"/>
                </a:moveTo>
                <a:lnTo>
                  <a:pt x="34970" y="57150"/>
                </a:lnTo>
                <a:lnTo>
                  <a:pt x="28575" y="63546"/>
                </a:lnTo>
                <a:lnTo>
                  <a:pt x="28573" y="222902"/>
                </a:lnTo>
                <a:lnTo>
                  <a:pt x="34970" y="229299"/>
                </a:lnTo>
                <a:lnTo>
                  <a:pt x="50751" y="229299"/>
                </a:lnTo>
                <a:lnTo>
                  <a:pt x="57148" y="222902"/>
                </a:lnTo>
                <a:lnTo>
                  <a:pt x="57150" y="63546"/>
                </a:lnTo>
                <a:lnTo>
                  <a:pt x="50753" y="57150"/>
                </a:lnTo>
                <a:close/>
              </a:path>
              <a:path w="85725" h="229870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6"/>
                </a:lnTo>
                <a:lnTo>
                  <a:pt x="34970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229870">
                <a:moveTo>
                  <a:pt x="71437" y="57150"/>
                </a:moveTo>
                <a:lnTo>
                  <a:pt x="50753" y="57150"/>
                </a:lnTo>
                <a:lnTo>
                  <a:pt x="57150" y="63546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7001" y="3918203"/>
            <a:ext cx="6394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Calibri"/>
                <a:cs typeface="Calibri"/>
              </a:rPr>
              <a:t>We</a:t>
            </a:r>
            <a:r>
              <a:rPr dirty="0" sz="1400" spc="-9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001" y="4134611"/>
            <a:ext cx="7708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alibri"/>
                <a:cs typeface="Calibri"/>
              </a:rPr>
              <a:t>from</a:t>
            </a:r>
            <a:r>
              <a:rPr dirty="0" sz="1400" spc="-105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cycle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001" y="4351020"/>
            <a:ext cx="9772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Calibri"/>
                <a:cs typeface="Calibri"/>
              </a:rPr>
              <a:t>with length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93822" y="3706948"/>
            <a:ext cx="3178810" cy="174752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259"/>
              </a:spcBef>
            </a:pPr>
            <a:r>
              <a:rPr dirty="0" sz="1800" spc="-10" b="1">
                <a:latin typeface="Calibri"/>
                <a:cs typeface="Calibri"/>
              </a:rPr>
              <a:t>Augmented </a:t>
            </a:r>
            <a:r>
              <a:rPr dirty="0" sz="1800" spc="-5" b="1">
                <a:latin typeface="Calibri"/>
                <a:cs typeface="Calibri"/>
              </a:rPr>
              <a:t>node </a:t>
            </a:r>
            <a:r>
              <a:rPr dirty="0" sz="1800" spc="-15" b="1">
                <a:latin typeface="Calibri"/>
                <a:cs typeface="Calibri"/>
              </a:rPr>
              <a:t>feature </a:t>
            </a:r>
            <a:r>
              <a:rPr dirty="0" sz="1800" spc="-10" b="1">
                <a:latin typeface="Calibri"/>
                <a:cs typeface="Calibri"/>
              </a:rPr>
              <a:t>for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5">
                <a:latin typeface="Cambria Math"/>
                <a:cs typeface="Cambria Math"/>
              </a:rPr>
              <a:t>𝒗</a:t>
            </a:r>
            <a:r>
              <a:rPr dirty="0" baseline="-17094" sz="1950" spc="-7">
                <a:latin typeface="Cambria Math"/>
                <a:cs typeface="Cambria Math"/>
              </a:rPr>
              <a:t>𝟏</a:t>
            </a:r>
            <a:endParaRPr baseline="-17094" sz="1950">
              <a:latin typeface="Cambria Math"/>
              <a:cs typeface="Cambria Math"/>
            </a:endParaRPr>
          </a:p>
          <a:p>
            <a:pPr algn="ctr" marR="133985">
              <a:lnSpc>
                <a:spcPct val="100000"/>
              </a:lnSpc>
              <a:spcBef>
                <a:spcPts val="245"/>
              </a:spcBef>
            </a:pPr>
            <a:r>
              <a:rPr dirty="0" sz="2800" b="1">
                <a:latin typeface="Calibri"/>
                <a:cs typeface="Calibri"/>
              </a:rPr>
              <a:t>[0, 0, 0, 1, 0,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0]</a:t>
            </a:r>
            <a:endParaRPr sz="2800">
              <a:latin typeface="Calibri"/>
              <a:cs typeface="Calibri"/>
            </a:endParaRPr>
          </a:p>
          <a:p>
            <a:pPr algn="ctr" marR="45720">
              <a:lnSpc>
                <a:spcPct val="100000"/>
              </a:lnSpc>
              <a:spcBef>
                <a:spcPts val="2675"/>
              </a:spcBef>
            </a:pPr>
            <a:r>
              <a:rPr dirty="0" sz="1800" spc="150">
                <a:latin typeface="Cambria Math"/>
                <a:cs typeface="Cambria Math"/>
              </a:rPr>
              <a:t>𝑣</a:t>
            </a:r>
            <a:r>
              <a:rPr dirty="0" baseline="-17094" sz="1950" spc="225">
                <a:latin typeface="Cambria Math"/>
                <a:cs typeface="Cambria Math"/>
              </a:rPr>
              <a:t>!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algn="ctr" marR="784860">
              <a:lnSpc>
                <a:spcPct val="100000"/>
              </a:lnSpc>
              <a:spcBef>
                <a:spcPts val="869"/>
              </a:spcBef>
            </a:pPr>
            <a:r>
              <a:rPr dirty="0" sz="1600" spc="150">
                <a:latin typeface="Cambria Math"/>
                <a:cs typeface="Cambria Math"/>
              </a:rPr>
              <a:t>𝑣</a:t>
            </a:r>
            <a:r>
              <a:rPr dirty="0" baseline="-16203" sz="1800" spc="225">
                <a:latin typeface="Cambria Math"/>
                <a:cs typeface="Cambria Math"/>
              </a:rPr>
              <a:t>!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225104" y="4530511"/>
            <a:ext cx="85725" cy="229870"/>
          </a:xfrm>
          <a:custGeom>
            <a:avLst/>
            <a:gdLst/>
            <a:ahLst/>
            <a:cxnLst/>
            <a:rect l="l" t="t" r="r" b="b"/>
            <a:pathLst>
              <a:path w="85725" h="229870">
                <a:moveTo>
                  <a:pt x="28575" y="85724"/>
                </a:moveTo>
                <a:lnTo>
                  <a:pt x="28576" y="222902"/>
                </a:lnTo>
                <a:lnTo>
                  <a:pt x="34970" y="229298"/>
                </a:lnTo>
                <a:lnTo>
                  <a:pt x="50753" y="229298"/>
                </a:lnTo>
                <a:lnTo>
                  <a:pt x="57150" y="222902"/>
                </a:lnTo>
                <a:lnTo>
                  <a:pt x="57150" y="85724"/>
                </a:lnTo>
                <a:lnTo>
                  <a:pt x="28575" y="85724"/>
                </a:lnTo>
                <a:close/>
              </a:path>
              <a:path w="85725" h="229870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50" y="85724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  <a:path w="85725" h="229870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5" y="85724"/>
                </a:lnTo>
                <a:lnTo>
                  <a:pt x="57150" y="85724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229870">
                <a:moveTo>
                  <a:pt x="42862" y="0"/>
                </a:moveTo>
                <a:lnTo>
                  <a:pt x="0" y="85723"/>
                </a:lnTo>
                <a:lnTo>
                  <a:pt x="28575" y="85724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955537" y="3703029"/>
            <a:ext cx="3191510" cy="139700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89230">
              <a:lnSpc>
                <a:spcPct val="100000"/>
              </a:lnSpc>
              <a:spcBef>
                <a:spcPts val="290"/>
              </a:spcBef>
            </a:pPr>
            <a:r>
              <a:rPr dirty="0" sz="1800" spc="-10" b="1">
                <a:latin typeface="Calibri"/>
                <a:cs typeface="Calibri"/>
              </a:rPr>
              <a:t>Augmented </a:t>
            </a:r>
            <a:r>
              <a:rPr dirty="0" sz="1800" spc="-5" b="1">
                <a:latin typeface="Calibri"/>
                <a:cs typeface="Calibri"/>
              </a:rPr>
              <a:t>node </a:t>
            </a:r>
            <a:r>
              <a:rPr dirty="0" sz="1800" spc="-15" b="1">
                <a:latin typeface="Calibri"/>
                <a:cs typeface="Calibri"/>
              </a:rPr>
              <a:t>feature </a:t>
            </a:r>
            <a:r>
              <a:rPr dirty="0" sz="1800" spc="-10" b="1">
                <a:latin typeface="Calibri"/>
                <a:cs typeface="Calibri"/>
              </a:rPr>
              <a:t>for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5">
                <a:latin typeface="Cambria Math"/>
                <a:cs typeface="Cambria Math"/>
              </a:rPr>
              <a:t>𝒗</a:t>
            </a:r>
            <a:r>
              <a:rPr dirty="0" baseline="-17094" sz="1950" spc="-7">
                <a:latin typeface="Cambria Math"/>
                <a:cs typeface="Cambria Math"/>
              </a:rPr>
              <a:t>𝟏</a:t>
            </a:r>
            <a:endParaRPr baseline="-17094" sz="1950">
              <a:latin typeface="Cambria Math"/>
              <a:cs typeface="Cambria Math"/>
            </a:endParaRPr>
          </a:p>
          <a:p>
            <a:pPr marL="687070">
              <a:lnSpc>
                <a:spcPct val="100000"/>
              </a:lnSpc>
              <a:spcBef>
                <a:spcPts val="295"/>
              </a:spcBef>
            </a:pPr>
            <a:r>
              <a:rPr dirty="0" sz="2800" b="1">
                <a:latin typeface="Calibri"/>
                <a:cs typeface="Calibri"/>
              </a:rPr>
              <a:t>[0, 0, 0, 0, 1,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0]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30"/>
              </a:spcBef>
            </a:pPr>
            <a:r>
              <a:rPr dirty="0" sz="1800" spc="150">
                <a:latin typeface="Cambria Math"/>
                <a:cs typeface="Cambria Math"/>
              </a:rPr>
              <a:t>𝑣</a:t>
            </a:r>
            <a:r>
              <a:rPr dirty="0" baseline="-17094" sz="1950" spc="225">
                <a:latin typeface="Cambria Math"/>
                <a:cs typeface="Cambria Math"/>
              </a:rPr>
              <a:t>!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53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29"/>
              </a:lnSpc>
              <a:spcBef>
                <a:spcPts val="100"/>
              </a:spcBef>
            </a:pPr>
            <a:r>
              <a:rPr dirty="0" spc="-25"/>
              <a:t>Why </a:t>
            </a:r>
            <a:r>
              <a:rPr dirty="0" spc="-5"/>
              <a:t>do </a:t>
            </a:r>
            <a:r>
              <a:rPr dirty="0" spc="-15"/>
              <a:t>we </a:t>
            </a:r>
            <a:r>
              <a:rPr dirty="0" spc="-5"/>
              <a:t>need </a:t>
            </a:r>
            <a:r>
              <a:rPr dirty="0" spc="-20"/>
              <a:t>feature</a:t>
            </a:r>
            <a:r>
              <a:rPr dirty="0" spc="-25"/>
              <a:t> </a:t>
            </a:r>
            <a:r>
              <a:rPr dirty="0" spc="-10"/>
              <a:t>augmentation?</a:t>
            </a:r>
          </a:p>
          <a:p>
            <a:pPr marL="3327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000000"/>
                </a:solidFill>
              </a:rPr>
              <a:t>(2) </a:t>
            </a:r>
            <a:r>
              <a:rPr dirty="0" spc="-5">
                <a:solidFill>
                  <a:srgbClr val="000000"/>
                </a:solidFill>
              </a:rPr>
              <a:t>Certain </a:t>
            </a:r>
            <a:r>
              <a:rPr dirty="0" spc="-10">
                <a:solidFill>
                  <a:srgbClr val="000000"/>
                </a:solidFill>
              </a:rPr>
              <a:t>structures </a:t>
            </a:r>
            <a:r>
              <a:rPr dirty="0" spc="-15">
                <a:solidFill>
                  <a:srgbClr val="000000"/>
                </a:solidFill>
              </a:rPr>
              <a:t>are hard to </a:t>
            </a:r>
            <a:r>
              <a:rPr dirty="0" spc="-5">
                <a:solidFill>
                  <a:srgbClr val="000000"/>
                </a:solidFill>
              </a:rPr>
              <a:t>learn </a:t>
            </a:r>
            <a:r>
              <a:rPr dirty="0" spc="-15">
                <a:solidFill>
                  <a:srgbClr val="000000"/>
                </a:solidFill>
              </a:rPr>
              <a:t>by</a:t>
            </a:r>
            <a:r>
              <a:rPr dirty="0" spc="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GNN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527871" y="2200293"/>
            <a:ext cx="7552690" cy="4142104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Other commonly used </a:t>
            </a:r>
            <a:r>
              <a:rPr dirty="0" sz="3200" spc="-10">
                <a:latin typeface="Calibri"/>
                <a:cs typeface="Calibri"/>
              </a:rPr>
              <a:t>augmented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features: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Node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degree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Clustering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coefficient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b="1">
                <a:latin typeface="Calibri"/>
                <a:cs typeface="Calibri"/>
              </a:rPr>
              <a:t>PageRank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Centrality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  <a:p>
            <a:pPr marL="332740" marR="1431290" indent="-320040">
              <a:lnSpc>
                <a:spcPts val="3820"/>
              </a:lnSpc>
              <a:spcBef>
                <a:spcPts val="17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solidFill>
                  <a:srgbClr val="E66C7D"/>
                </a:solidFill>
                <a:latin typeface="Calibri"/>
                <a:cs typeface="Calibri"/>
              </a:rPr>
              <a:t>Any </a:t>
            </a:r>
            <a:r>
              <a:rPr dirty="0" sz="3200" spc="-20" b="1">
                <a:solidFill>
                  <a:srgbClr val="E66C7D"/>
                </a:solidFill>
                <a:latin typeface="Calibri"/>
                <a:cs typeface="Calibri"/>
              </a:rPr>
              <a:t>feature </a:t>
            </a:r>
            <a:r>
              <a:rPr dirty="0" sz="3200" spc="-15" b="1">
                <a:solidFill>
                  <a:srgbClr val="E66C7D"/>
                </a:solidFill>
                <a:latin typeface="Calibri"/>
                <a:cs typeface="Calibri"/>
              </a:rPr>
              <a:t>we </a:t>
            </a:r>
            <a:r>
              <a:rPr dirty="0" sz="3200" spc="-25" b="1">
                <a:solidFill>
                  <a:srgbClr val="E66C7D"/>
                </a:solidFill>
                <a:latin typeface="Calibri"/>
                <a:cs typeface="Calibri"/>
              </a:rPr>
              <a:t>have </a:t>
            </a: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introduced </a:t>
            </a:r>
            <a:r>
              <a:rPr dirty="0" sz="3200" b="1">
                <a:solidFill>
                  <a:srgbClr val="E66C7D"/>
                </a:solidFill>
                <a:latin typeface="Calibri"/>
                <a:cs typeface="Calibri"/>
              </a:rPr>
              <a:t>in  </a:t>
            </a: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Lecture </a:t>
            </a:r>
            <a:r>
              <a:rPr dirty="0" sz="3200" b="1">
                <a:solidFill>
                  <a:srgbClr val="E66C7D"/>
                </a:solidFill>
                <a:latin typeface="Calibri"/>
                <a:cs typeface="Calibri"/>
              </a:rPr>
              <a:t>2 </a:t>
            </a: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can </a:t>
            </a:r>
            <a:r>
              <a:rPr dirty="0" sz="3200" spc="-5" b="1">
                <a:solidFill>
                  <a:srgbClr val="E66C7D"/>
                </a:solidFill>
                <a:latin typeface="Calibri"/>
                <a:cs typeface="Calibri"/>
              </a:rPr>
              <a:t>be</a:t>
            </a:r>
            <a:r>
              <a:rPr dirty="0" sz="3200" spc="-5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E66C7D"/>
                </a:solidFill>
                <a:latin typeface="Calibri"/>
                <a:cs typeface="Calibri"/>
              </a:rPr>
              <a:t>used!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3550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29793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E66C7D"/>
                </a:solidFill>
              </a:rPr>
              <a:t>Motivation: </a:t>
            </a:r>
            <a:r>
              <a:rPr dirty="0" spc="-5" b="0">
                <a:solidFill>
                  <a:srgbClr val="E66C7D"/>
                </a:solidFill>
                <a:latin typeface="Calibri"/>
                <a:cs typeface="Calibri"/>
              </a:rPr>
              <a:t>Augment </a:t>
            </a:r>
            <a:r>
              <a:rPr dirty="0" spc="-15" b="0">
                <a:solidFill>
                  <a:srgbClr val="E66C7D"/>
                </a:solidFill>
                <a:latin typeface="Calibri"/>
                <a:cs typeface="Calibri"/>
              </a:rPr>
              <a:t>sparse</a:t>
            </a:r>
            <a:r>
              <a:rPr dirty="0" spc="0" b="0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E66C7D"/>
                </a:solidFill>
                <a:latin typeface="Calibri"/>
                <a:cs typeface="Calibri"/>
              </a:rPr>
              <a:t>graphs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60B5CC"/>
                </a:solidFill>
              </a:rPr>
              <a:t>(1) </a:t>
            </a:r>
            <a:r>
              <a:rPr dirty="0" spc="-5">
                <a:solidFill>
                  <a:srgbClr val="60B5CC"/>
                </a:solidFill>
              </a:rPr>
              <a:t>Add virtual</a:t>
            </a:r>
            <a:r>
              <a:rPr dirty="0" spc="-45">
                <a:solidFill>
                  <a:srgbClr val="60B5CC"/>
                </a:solidFill>
              </a:rPr>
              <a:t> </a:t>
            </a:r>
            <a:r>
              <a:rPr dirty="0" spc="-15">
                <a:solidFill>
                  <a:srgbClr val="60B5CC"/>
                </a:solidFill>
              </a:rPr>
              <a:t>edges</a:t>
            </a:r>
          </a:p>
        </p:txBody>
      </p:sp>
      <p:sp>
        <p:nvSpPr>
          <p:cNvPr id="4" name="object 4"/>
          <p:cNvSpPr/>
          <p:nvPr/>
        </p:nvSpPr>
        <p:spPr>
          <a:xfrm>
            <a:off x="7123599" y="4835613"/>
            <a:ext cx="1252220" cy="203835"/>
          </a:xfrm>
          <a:custGeom>
            <a:avLst/>
            <a:gdLst/>
            <a:ahLst/>
            <a:cxnLst/>
            <a:rect l="l" t="t" r="r" b="b"/>
            <a:pathLst>
              <a:path w="1252220" h="203835">
                <a:moveTo>
                  <a:pt x="0" y="0"/>
                </a:moveTo>
                <a:lnTo>
                  <a:pt x="1251953" y="203569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23599" y="5039182"/>
            <a:ext cx="1238885" cy="184785"/>
          </a:xfrm>
          <a:custGeom>
            <a:avLst/>
            <a:gdLst/>
            <a:ahLst/>
            <a:cxnLst/>
            <a:rect l="l" t="t" r="r" b="b"/>
            <a:pathLst>
              <a:path w="1238884" h="184785">
                <a:moveTo>
                  <a:pt x="0" y="184485"/>
                </a:moveTo>
                <a:lnTo>
                  <a:pt x="1238571" y="0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23599" y="5429358"/>
            <a:ext cx="1238885" cy="572770"/>
          </a:xfrm>
          <a:custGeom>
            <a:avLst/>
            <a:gdLst/>
            <a:ahLst/>
            <a:cxnLst/>
            <a:rect l="l" t="t" r="r" b="b"/>
            <a:pathLst>
              <a:path w="1238884" h="572770">
                <a:moveTo>
                  <a:pt x="0" y="572539"/>
                </a:moveTo>
                <a:lnTo>
                  <a:pt x="1238571" y="0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23599" y="5039182"/>
            <a:ext cx="1252220" cy="1348740"/>
          </a:xfrm>
          <a:custGeom>
            <a:avLst/>
            <a:gdLst/>
            <a:ahLst/>
            <a:cxnLst/>
            <a:rect l="l" t="t" r="r" b="b"/>
            <a:pathLst>
              <a:path w="1252220" h="1348739">
                <a:moveTo>
                  <a:pt x="0" y="1348649"/>
                </a:moveTo>
                <a:lnTo>
                  <a:pt x="1251953" y="0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123599" y="5607481"/>
            <a:ext cx="1252220" cy="203835"/>
          </a:xfrm>
          <a:custGeom>
            <a:avLst/>
            <a:gdLst/>
            <a:ahLst/>
            <a:cxnLst/>
            <a:rect l="l" t="t" r="r" b="b"/>
            <a:pathLst>
              <a:path w="1252220" h="203835">
                <a:moveTo>
                  <a:pt x="0" y="0"/>
                </a:moveTo>
                <a:lnTo>
                  <a:pt x="1251953" y="203570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23599" y="5225788"/>
            <a:ext cx="1252220" cy="591820"/>
          </a:xfrm>
          <a:custGeom>
            <a:avLst/>
            <a:gdLst/>
            <a:ahLst/>
            <a:cxnLst/>
            <a:rect l="l" t="t" r="r" b="b"/>
            <a:pathLst>
              <a:path w="1252220" h="591820">
                <a:moveTo>
                  <a:pt x="0" y="0"/>
                </a:moveTo>
                <a:lnTo>
                  <a:pt x="1251953" y="591624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23599" y="5997656"/>
            <a:ext cx="1238885" cy="203835"/>
          </a:xfrm>
          <a:custGeom>
            <a:avLst/>
            <a:gdLst/>
            <a:ahLst/>
            <a:cxnLst/>
            <a:rect l="l" t="t" r="r" b="b"/>
            <a:pathLst>
              <a:path w="1238884" h="203835">
                <a:moveTo>
                  <a:pt x="0" y="0"/>
                </a:moveTo>
                <a:lnTo>
                  <a:pt x="1238571" y="203569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123599" y="6201226"/>
            <a:ext cx="1238885" cy="184785"/>
          </a:xfrm>
          <a:custGeom>
            <a:avLst/>
            <a:gdLst/>
            <a:ahLst/>
            <a:cxnLst/>
            <a:rect l="l" t="t" r="r" b="b"/>
            <a:pathLst>
              <a:path w="1238884" h="184785">
                <a:moveTo>
                  <a:pt x="0" y="184485"/>
                </a:moveTo>
                <a:lnTo>
                  <a:pt x="1238571" y="0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23599" y="4835613"/>
            <a:ext cx="1252220" cy="591820"/>
          </a:xfrm>
          <a:custGeom>
            <a:avLst/>
            <a:gdLst/>
            <a:ahLst/>
            <a:cxnLst/>
            <a:rect l="l" t="t" r="r" b="b"/>
            <a:pathLst>
              <a:path w="1252220" h="591820">
                <a:moveTo>
                  <a:pt x="0" y="0"/>
                </a:moveTo>
                <a:lnTo>
                  <a:pt x="1251953" y="591624"/>
                </a:lnTo>
              </a:path>
            </a:pathLst>
          </a:custGeom>
          <a:ln w="190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260196" y="4937397"/>
            <a:ext cx="237498" cy="2459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289884" y="4950120"/>
            <a:ext cx="178435" cy="186690"/>
          </a:xfrm>
          <a:custGeom>
            <a:avLst/>
            <a:gdLst/>
            <a:ahLst/>
            <a:cxnLst/>
            <a:rect l="l" t="t" r="r" b="b"/>
            <a:pathLst>
              <a:path w="178434" h="186689">
                <a:moveTo>
                  <a:pt x="89061" y="0"/>
                </a:moveTo>
                <a:lnTo>
                  <a:pt x="54394" y="7332"/>
                </a:lnTo>
                <a:lnTo>
                  <a:pt x="26085" y="27328"/>
                </a:lnTo>
                <a:lnTo>
                  <a:pt x="6998" y="56985"/>
                </a:lnTo>
                <a:lnTo>
                  <a:pt x="0" y="93303"/>
                </a:lnTo>
                <a:lnTo>
                  <a:pt x="6998" y="129620"/>
                </a:lnTo>
                <a:lnTo>
                  <a:pt x="26085" y="159278"/>
                </a:lnTo>
                <a:lnTo>
                  <a:pt x="54394" y="179273"/>
                </a:lnTo>
                <a:lnTo>
                  <a:pt x="89061" y="186606"/>
                </a:lnTo>
                <a:lnTo>
                  <a:pt x="123727" y="179273"/>
                </a:lnTo>
                <a:lnTo>
                  <a:pt x="152037" y="159278"/>
                </a:lnTo>
                <a:lnTo>
                  <a:pt x="171123" y="129620"/>
                </a:lnTo>
                <a:lnTo>
                  <a:pt x="178122" y="93303"/>
                </a:lnTo>
                <a:lnTo>
                  <a:pt x="171123" y="56985"/>
                </a:lnTo>
                <a:lnTo>
                  <a:pt x="152037" y="27328"/>
                </a:lnTo>
                <a:lnTo>
                  <a:pt x="123727" y="7332"/>
                </a:lnTo>
                <a:lnTo>
                  <a:pt x="8906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289884" y="4950120"/>
            <a:ext cx="178435" cy="186690"/>
          </a:xfrm>
          <a:custGeom>
            <a:avLst/>
            <a:gdLst/>
            <a:ahLst/>
            <a:cxnLst/>
            <a:rect l="l" t="t" r="r" b="b"/>
            <a:pathLst>
              <a:path w="178434" h="186689">
                <a:moveTo>
                  <a:pt x="0" y="93302"/>
                </a:moveTo>
                <a:lnTo>
                  <a:pt x="6998" y="56985"/>
                </a:lnTo>
                <a:lnTo>
                  <a:pt x="26085" y="27327"/>
                </a:lnTo>
                <a:lnTo>
                  <a:pt x="54394" y="7332"/>
                </a:lnTo>
                <a:lnTo>
                  <a:pt x="89061" y="0"/>
                </a:lnTo>
                <a:lnTo>
                  <a:pt x="123728" y="7332"/>
                </a:lnTo>
                <a:lnTo>
                  <a:pt x="152037" y="27327"/>
                </a:lnTo>
                <a:lnTo>
                  <a:pt x="171124" y="56985"/>
                </a:lnTo>
                <a:lnTo>
                  <a:pt x="178123" y="93302"/>
                </a:lnTo>
                <a:lnTo>
                  <a:pt x="171124" y="129620"/>
                </a:lnTo>
                <a:lnTo>
                  <a:pt x="152037" y="159277"/>
                </a:lnTo>
                <a:lnTo>
                  <a:pt x="123728" y="179273"/>
                </a:lnTo>
                <a:lnTo>
                  <a:pt x="89061" y="186605"/>
                </a:lnTo>
                <a:lnTo>
                  <a:pt x="54394" y="179273"/>
                </a:lnTo>
                <a:lnTo>
                  <a:pt x="26085" y="159277"/>
                </a:lnTo>
                <a:lnTo>
                  <a:pt x="6998" y="129620"/>
                </a:lnTo>
                <a:lnTo>
                  <a:pt x="0" y="93302"/>
                </a:lnTo>
                <a:close/>
              </a:path>
            </a:pathLst>
          </a:custGeom>
          <a:ln w="4241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260196" y="5327573"/>
            <a:ext cx="237498" cy="2374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289884" y="5340296"/>
            <a:ext cx="178435" cy="178435"/>
          </a:xfrm>
          <a:custGeom>
            <a:avLst/>
            <a:gdLst/>
            <a:ahLst/>
            <a:cxnLst/>
            <a:rect l="l" t="t" r="r" b="b"/>
            <a:pathLst>
              <a:path w="178434" h="178435">
                <a:moveTo>
                  <a:pt x="89061" y="0"/>
                </a:moveTo>
                <a:lnTo>
                  <a:pt x="54394" y="6998"/>
                </a:lnTo>
                <a:lnTo>
                  <a:pt x="26085" y="26085"/>
                </a:lnTo>
                <a:lnTo>
                  <a:pt x="6998" y="54394"/>
                </a:lnTo>
                <a:lnTo>
                  <a:pt x="0" y="89061"/>
                </a:lnTo>
                <a:lnTo>
                  <a:pt x="6998" y="123728"/>
                </a:lnTo>
                <a:lnTo>
                  <a:pt x="26085" y="152038"/>
                </a:lnTo>
                <a:lnTo>
                  <a:pt x="54394" y="171124"/>
                </a:lnTo>
                <a:lnTo>
                  <a:pt x="89061" y="178123"/>
                </a:lnTo>
                <a:lnTo>
                  <a:pt x="123727" y="171124"/>
                </a:lnTo>
                <a:lnTo>
                  <a:pt x="152037" y="152038"/>
                </a:lnTo>
                <a:lnTo>
                  <a:pt x="171123" y="123728"/>
                </a:lnTo>
                <a:lnTo>
                  <a:pt x="178122" y="89061"/>
                </a:lnTo>
                <a:lnTo>
                  <a:pt x="171123" y="54394"/>
                </a:lnTo>
                <a:lnTo>
                  <a:pt x="152037" y="26085"/>
                </a:lnTo>
                <a:lnTo>
                  <a:pt x="123727" y="6998"/>
                </a:lnTo>
                <a:lnTo>
                  <a:pt x="8906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289884" y="5340296"/>
            <a:ext cx="178435" cy="178435"/>
          </a:xfrm>
          <a:custGeom>
            <a:avLst/>
            <a:gdLst/>
            <a:ahLst/>
            <a:cxnLst/>
            <a:rect l="l" t="t" r="r" b="b"/>
            <a:pathLst>
              <a:path w="178434" h="178435">
                <a:moveTo>
                  <a:pt x="0" y="89061"/>
                </a:moveTo>
                <a:lnTo>
                  <a:pt x="6998" y="54394"/>
                </a:lnTo>
                <a:lnTo>
                  <a:pt x="26085" y="26085"/>
                </a:lnTo>
                <a:lnTo>
                  <a:pt x="54394" y="6998"/>
                </a:lnTo>
                <a:lnTo>
                  <a:pt x="89061" y="0"/>
                </a:lnTo>
                <a:lnTo>
                  <a:pt x="123728" y="6998"/>
                </a:lnTo>
                <a:lnTo>
                  <a:pt x="152037" y="26085"/>
                </a:lnTo>
                <a:lnTo>
                  <a:pt x="171124" y="54394"/>
                </a:lnTo>
                <a:lnTo>
                  <a:pt x="178123" y="89061"/>
                </a:lnTo>
                <a:lnTo>
                  <a:pt x="171124" y="123728"/>
                </a:lnTo>
                <a:lnTo>
                  <a:pt x="152037" y="152037"/>
                </a:lnTo>
                <a:lnTo>
                  <a:pt x="123728" y="171124"/>
                </a:lnTo>
                <a:lnTo>
                  <a:pt x="89061" y="178123"/>
                </a:lnTo>
                <a:lnTo>
                  <a:pt x="54394" y="171124"/>
                </a:lnTo>
                <a:lnTo>
                  <a:pt x="26085" y="152037"/>
                </a:lnTo>
                <a:lnTo>
                  <a:pt x="6998" y="123728"/>
                </a:lnTo>
                <a:lnTo>
                  <a:pt x="0" y="89061"/>
                </a:lnTo>
                <a:close/>
              </a:path>
            </a:pathLst>
          </a:custGeom>
          <a:ln w="4241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260196" y="5717748"/>
            <a:ext cx="237498" cy="237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289884" y="5730471"/>
            <a:ext cx="178435" cy="178435"/>
          </a:xfrm>
          <a:custGeom>
            <a:avLst/>
            <a:gdLst/>
            <a:ahLst/>
            <a:cxnLst/>
            <a:rect l="l" t="t" r="r" b="b"/>
            <a:pathLst>
              <a:path w="178434" h="178435">
                <a:moveTo>
                  <a:pt x="89061" y="0"/>
                </a:moveTo>
                <a:lnTo>
                  <a:pt x="54394" y="6998"/>
                </a:lnTo>
                <a:lnTo>
                  <a:pt x="26085" y="26085"/>
                </a:lnTo>
                <a:lnTo>
                  <a:pt x="6998" y="54394"/>
                </a:lnTo>
                <a:lnTo>
                  <a:pt x="0" y="89061"/>
                </a:lnTo>
                <a:lnTo>
                  <a:pt x="6998" y="123728"/>
                </a:lnTo>
                <a:lnTo>
                  <a:pt x="26085" y="152037"/>
                </a:lnTo>
                <a:lnTo>
                  <a:pt x="54394" y="171124"/>
                </a:lnTo>
                <a:lnTo>
                  <a:pt x="89061" y="178123"/>
                </a:lnTo>
                <a:lnTo>
                  <a:pt x="123727" y="171124"/>
                </a:lnTo>
                <a:lnTo>
                  <a:pt x="152037" y="152037"/>
                </a:lnTo>
                <a:lnTo>
                  <a:pt x="171123" y="123728"/>
                </a:lnTo>
                <a:lnTo>
                  <a:pt x="178122" y="89061"/>
                </a:lnTo>
                <a:lnTo>
                  <a:pt x="171123" y="54394"/>
                </a:lnTo>
                <a:lnTo>
                  <a:pt x="152037" y="26085"/>
                </a:lnTo>
                <a:lnTo>
                  <a:pt x="123727" y="6998"/>
                </a:lnTo>
                <a:lnTo>
                  <a:pt x="8906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289884" y="5730471"/>
            <a:ext cx="178435" cy="178435"/>
          </a:xfrm>
          <a:custGeom>
            <a:avLst/>
            <a:gdLst/>
            <a:ahLst/>
            <a:cxnLst/>
            <a:rect l="l" t="t" r="r" b="b"/>
            <a:pathLst>
              <a:path w="178434" h="178435">
                <a:moveTo>
                  <a:pt x="0" y="89061"/>
                </a:moveTo>
                <a:lnTo>
                  <a:pt x="6998" y="54394"/>
                </a:lnTo>
                <a:lnTo>
                  <a:pt x="26085" y="26085"/>
                </a:lnTo>
                <a:lnTo>
                  <a:pt x="54394" y="6998"/>
                </a:lnTo>
                <a:lnTo>
                  <a:pt x="89061" y="0"/>
                </a:lnTo>
                <a:lnTo>
                  <a:pt x="123728" y="6998"/>
                </a:lnTo>
                <a:lnTo>
                  <a:pt x="152037" y="26085"/>
                </a:lnTo>
                <a:lnTo>
                  <a:pt x="171124" y="54394"/>
                </a:lnTo>
                <a:lnTo>
                  <a:pt x="178123" y="89061"/>
                </a:lnTo>
                <a:lnTo>
                  <a:pt x="171124" y="123728"/>
                </a:lnTo>
                <a:lnTo>
                  <a:pt x="152037" y="152037"/>
                </a:lnTo>
                <a:lnTo>
                  <a:pt x="123728" y="171124"/>
                </a:lnTo>
                <a:lnTo>
                  <a:pt x="89061" y="178123"/>
                </a:lnTo>
                <a:lnTo>
                  <a:pt x="54394" y="171124"/>
                </a:lnTo>
                <a:lnTo>
                  <a:pt x="26085" y="152037"/>
                </a:lnTo>
                <a:lnTo>
                  <a:pt x="6998" y="123728"/>
                </a:lnTo>
                <a:lnTo>
                  <a:pt x="0" y="89061"/>
                </a:lnTo>
                <a:close/>
              </a:path>
            </a:pathLst>
          </a:custGeom>
          <a:ln w="4241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260196" y="6099441"/>
            <a:ext cx="237498" cy="2459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289884" y="6112164"/>
            <a:ext cx="178435" cy="186690"/>
          </a:xfrm>
          <a:custGeom>
            <a:avLst/>
            <a:gdLst/>
            <a:ahLst/>
            <a:cxnLst/>
            <a:rect l="l" t="t" r="r" b="b"/>
            <a:pathLst>
              <a:path w="178434" h="186689">
                <a:moveTo>
                  <a:pt x="89061" y="0"/>
                </a:moveTo>
                <a:lnTo>
                  <a:pt x="54394" y="7332"/>
                </a:lnTo>
                <a:lnTo>
                  <a:pt x="26085" y="27327"/>
                </a:lnTo>
                <a:lnTo>
                  <a:pt x="6998" y="56985"/>
                </a:lnTo>
                <a:lnTo>
                  <a:pt x="0" y="93302"/>
                </a:lnTo>
                <a:lnTo>
                  <a:pt x="6998" y="129620"/>
                </a:lnTo>
                <a:lnTo>
                  <a:pt x="26085" y="159277"/>
                </a:lnTo>
                <a:lnTo>
                  <a:pt x="54394" y="179273"/>
                </a:lnTo>
                <a:lnTo>
                  <a:pt x="89061" y="186605"/>
                </a:lnTo>
                <a:lnTo>
                  <a:pt x="123727" y="179273"/>
                </a:lnTo>
                <a:lnTo>
                  <a:pt x="152037" y="159277"/>
                </a:lnTo>
                <a:lnTo>
                  <a:pt x="171123" y="129620"/>
                </a:lnTo>
                <a:lnTo>
                  <a:pt x="178122" y="93302"/>
                </a:lnTo>
                <a:lnTo>
                  <a:pt x="171123" y="56985"/>
                </a:lnTo>
                <a:lnTo>
                  <a:pt x="152037" y="27327"/>
                </a:lnTo>
                <a:lnTo>
                  <a:pt x="123727" y="7332"/>
                </a:lnTo>
                <a:lnTo>
                  <a:pt x="8906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289884" y="6112164"/>
            <a:ext cx="178435" cy="186690"/>
          </a:xfrm>
          <a:custGeom>
            <a:avLst/>
            <a:gdLst/>
            <a:ahLst/>
            <a:cxnLst/>
            <a:rect l="l" t="t" r="r" b="b"/>
            <a:pathLst>
              <a:path w="178434" h="186689">
                <a:moveTo>
                  <a:pt x="0" y="93302"/>
                </a:moveTo>
                <a:lnTo>
                  <a:pt x="6998" y="56985"/>
                </a:lnTo>
                <a:lnTo>
                  <a:pt x="26085" y="27327"/>
                </a:lnTo>
                <a:lnTo>
                  <a:pt x="54394" y="7332"/>
                </a:lnTo>
                <a:lnTo>
                  <a:pt x="89061" y="0"/>
                </a:lnTo>
                <a:lnTo>
                  <a:pt x="123728" y="7332"/>
                </a:lnTo>
                <a:lnTo>
                  <a:pt x="152037" y="27327"/>
                </a:lnTo>
                <a:lnTo>
                  <a:pt x="171124" y="56985"/>
                </a:lnTo>
                <a:lnTo>
                  <a:pt x="178123" y="93302"/>
                </a:lnTo>
                <a:lnTo>
                  <a:pt x="171124" y="129620"/>
                </a:lnTo>
                <a:lnTo>
                  <a:pt x="152037" y="159277"/>
                </a:lnTo>
                <a:lnTo>
                  <a:pt x="123728" y="179273"/>
                </a:lnTo>
                <a:lnTo>
                  <a:pt x="89061" y="186605"/>
                </a:lnTo>
                <a:lnTo>
                  <a:pt x="54394" y="179273"/>
                </a:lnTo>
                <a:lnTo>
                  <a:pt x="26085" y="159277"/>
                </a:lnTo>
                <a:lnTo>
                  <a:pt x="6998" y="129620"/>
                </a:lnTo>
                <a:lnTo>
                  <a:pt x="0" y="93302"/>
                </a:lnTo>
                <a:close/>
              </a:path>
            </a:pathLst>
          </a:custGeom>
          <a:ln w="4241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04849" y="4733828"/>
            <a:ext cx="245980" cy="2459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53957" y="4682936"/>
            <a:ext cx="347764" cy="3901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34537" y="4746551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93303" y="0"/>
                </a:moveTo>
                <a:lnTo>
                  <a:pt x="56985" y="7332"/>
                </a:lnTo>
                <a:lnTo>
                  <a:pt x="27327" y="27328"/>
                </a:lnTo>
                <a:lnTo>
                  <a:pt x="7332" y="56985"/>
                </a:lnTo>
                <a:lnTo>
                  <a:pt x="0" y="93303"/>
                </a:lnTo>
                <a:lnTo>
                  <a:pt x="7332" y="129620"/>
                </a:lnTo>
                <a:lnTo>
                  <a:pt x="27327" y="159278"/>
                </a:lnTo>
                <a:lnTo>
                  <a:pt x="56985" y="179273"/>
                </a:lnTo>
                <a:lnTo>
                  <a:pt x="93303" y="186606"/>
                </a:lnTo>
                <a:lnTo>
                  <a:pt x="129620" y="179273"/>
                </a:lnTo>
                <a:lnTo>
                  <a:pt x="159277" y="159278"/>
                </a:lnTo>
                <a:lnTo>
                  <a:pt x="179272" y="129620"/>
                </a:lnTo>
                <a:lnTo>
                  <a:pt x="186604" y="93303"/>
                </a:lnTo>
                <a:lnTo>
                  <a:pt x="179272" y="56985"/>
                </a:lnTo>
                <a:lnTo>
                  <a:pt x="159277" y="27328"/>
                </a:lnTo>
                <a:lnTo>
                  <a:pt x="129620" y="7332"/>
                </a:lnTo>
                <a:lnTo>
                  <a:pt x="933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34537" y="4746551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0" y="93302"/>
                </a:moveTo>
                <a:lnTo>
                  <a:pt x="7332" y="56985"/>
                </a:lnTo>
                <a:lnTo>
                  <a:pt x="27327" y="27327"/>
                </a:lnTo>
                <a:lnTo>
                  <a:pt x="56985" y="7332"/>
                </a:lnTo>
                <a:lnTo>
                  <a:pt x="93302" y="0"/>
                </a:lnTo>
                <a:lnTo>
                  <a:pt x="129620" y="7332"/>
                </a:lnTo>
                <a:lnTo>
                  <a:pt x="159277" y="27327"/>
                </a:lnTo>
                <a:lnTo>
                  <a:pt x="179273" y="56985"/>
                </a:lnTo>
                <a:lnTo>
                  <a:pt x="186605" y="93302"/>
                </a:lnTo>
                <a:lnTo>
                  <a:pt x="179273" y="129620"/>
                </a:lnTo>
                <a:lnTo>
                  <a:pt x="159277" y="159277"/>
                </a:lnTo>
                <a:lnTo>
                  <a:pt x="129620" y="179273"/>
                </a:lnTo>
                <a:lnTo>
                  <a:pt x="93302" y="186605"/>
                </a:lnTo>
                <a:lnTo>
                  <a:pt x="56985" y="179273"/>
                </a:lnTo>
                <a:lnTo>
                  <a:pt x="27327" y="159277"/>
                </a:lnTo>
                <a:lnTo>
                  <a:pt x="7332" y="129620"/>
                </a:lnTo>
                <a:lnTo>
                  <a:pt x="0" y="93302"/>
                </a:lnTo>
                <a:close/>
              </a:path>
            </a:pathLst>
          </a:custGeom>
          <a:ln w="424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061056" y="4721128"/>
            <a:ext cx="12636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orbel"/>
                <a:cs typeface="Corbel"/>
              </a:rPr>
              <a:t>A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004849" y="5124003"/>
            <a:ext cx="245980" cy="2374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53957" y="5073111"/>
            <a:ext cx="339282" cy="3816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034537" y="5136727"/>
            <a:ext cx="186690" cy="178435"/>
          </a:xfrm>
          <a:custGeom>
            <a:avLst/>
            <a:gdLst/>
            <a:ahLst/>
            <a:cxnLst/>
            <a:rect l="l" t="t" r="r" b="b"/>
            <a:pathLst>
              <a:path w="186690" h="178435">
                <a:moveTo>
                  <a:pt x="93303" y="0"/>
                </a:moveTo>
                <a:lnTo>
                  <a:pt x="56985" y="6998"/>
                </a:lnTo>
                <a:lnTo>
                  <a:pt x="27327" y="26085"/>
                </a:lnTo>
                <a:lnTo>
                  <a:pt x="7332" y="54394"/>
                </a:lnTo>
                <a:lnTo>
                  <a:pt x="0" y="89061"/>
                </a:lnTo>
                <a:lnTo>
                  <a:pt x="7332" y="123727"/>
                </a:lnTo>
                <a:lnTo>
                  <a:pt x="27327" y="152037"/>
                </a:lnTo>
                <a:lnTo>
                  <a:pt x="56985" y="171123"/>
                </a:lnTo>
                <a:lnTo>
                  <a:pt x="93303" y="178122"/>
                </a:lnTo>
                <a:lnTo>
                  <a:pt x="129620" y="171123"/>
                </a:lnTo>
                <a:lnTo>
                  <a:pt x="159277" y="152037"/>
                </a:lnTo>
                <a:lnTo>
                  <a:pt x="179272" y="123727"/>
                </a:lnTo>
                <a:lnTo>
                  <a:pt x="186604" y="89061"/>
                </a:lnTo>
                <a:lnTo>
                  <a:pt x="179272" y="54394"/>
                </a:lnTo>
                <a:lnTo>
                  <a:pt x="159277" y="26085"/>
                </a:lnTo>
                <a:lnTo>
                  <a:pt x="129620" y="6998"/>
                </a:lnTo>
                <a:lnTo>
                  <a:pt x="933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034537" y="5136727"/>
            <a:ext cx="186690" cy="178435"/>
          </a:xfrm>
          <a:custGeom>
            <a:avLst/>
            <a:gdLst/>
            <a:ahLst/>
            <a:cxnLst/>
            <a:rect l="l" t="t" r="r" b="b"/>
            <a:pathLst>
              <a:path w="186690" h="178435">
                <a:moveTo>
                  <a:pt x="0" y="89061"/>
                </a:moveTo>
                <a:lnTo>
                  <a:pt x="7332" y="54394"/>
                </a:lnTo>
                <a:lnTo>
                  <a:pt x="27327" y="26085"/>
                </a:lnTo>
                <a:lnTo>
                  <a:pt x="56985" y="6998"/>
                </a:lnTo>
                <a:lnTo>
                  <a:pt x="93302" y="0"/>
                </a:lnTo>
                <a:lnTo>
                  <a:pt x="129620" y="6998"/>
                </a:lnTo>
                <a:lnTo>
                  <a:pt x="159277" y="26085"/>
                </a:lnTo>
                <a:lnTo>
                  <a:pt x="179273" y="54394"/>
                </a:lnTo>
                <a:lnTo>
                  <a:pt x="186605" y="89061"/>
                </a:lnTo>
                <a:lnTo>
                  <a:pt x="179273" y="123728"/>
                </a:lnTo>
                <a:lnTo>
                  <a:pt x="159277" y="152037"/>
                </a:lnTo>
                <a:lnTo>
                  <a:pt x="129620" y="171124"/>
                </a:lnTo>
                <a:lnTo>
                  <a:pt x="93302" y="178123"/>
                </a:lnTo>
                <a:lnTo>
                  <a:pt x="56985" y="171124"/>
                </a:lnTo>
                <a:lnTo>
                  <a:pt x="27327" y="152037"/>
                </a:lnTo>
                <a:lnTo>
                  <a:pt x="7332" y="123728"/>
                </a:lnTo>
                <a:lnTo>
                  <a:pt x="0" y="89061"/>
                </a:lnTo>
                <a:close/>
              </a:path>
            </a:pathLst>
          </a:custGeom>
          <a:ln w="424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063706" y="5111303"/>
            <a:ext cx="12065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orbel"/>
                <a:cs typeface="Corbel"/>
              </a:rPr>
              <a:t>B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004849" y="5514178"/>
            <a:ext cx="245980" cy="23749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53957" y="5454804"/>
            <a:ext cx="339282" cy="3901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034537" y="5526901"/>
            <a:ext cx="186690" cy="178435"/>
          </a:xfrm>
          <a:custGeom>
            <a:avLst/>
            <a:gdLst/>
            <a:ahLst/>
            <a:cxnLst/>
            <a:rect l="l" t="t" r="r" b="b"/>
            <a:pathLst>
              <a:path w="186690" h="178435">
                <a:moveTo>
                  <a:pt x="93303" y="0"/>
                </a:moveTo>
                <a:lnTo>
                  <a:pt x="56985" y="6998"/>
                </a:lnTo>
                <a:lnTo>
                  <a:pt x="27327" y="26085"/>
                </a:lnTo>
                <a:lnTo>
                  <a:pt x="7332" y="54395"/>
                </a:lnTo>
                <a:lnTo>
                  <a:pt x="0" y="89062"/>
                </a:lnTo>
                <a:lnTo>
                  <a:pt x="7332" y="123729"/>
                </a:lnTo>
                <a:lnTo>
                  <a:pt x="27327" y="152038"/>
                </a:lnTo>
                <a:lnTo>
                  <a:pt x="56985" y="171124"/>
                </a:lnTo>
                <a:lnTo>
                  <a:pt x="93303" y="178123"/>
                </a:lnTo>
                <a:lnTo>
                  <a:pt x="129620" y="171124"/>
                </a:lnTo>
                <a:lnTo>
                  <a:pt x="159277" y="152038"/>
                </a:lnTo>
                <a:lnTo>
                  <a:pt x="179272" y="123729"/>
                </a:lnTo>
                <a:lnTo>
                  <a:pt x="186604" y="89062"/>
                </a:lnTo>
                <a:lnTo>
                  <a:pt x="179272" y="54395"/>
                </a:lnTo>
                <a:lnTo>
                  <a:pt x="159277" y="26085"/>
                </a:lnTo>
                <a:lnTo>
                  <a:pt x="129620" y="6998"/>
                </a:lnTo>
                <a:lnTo>
                  <a:pt x="933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034537" y="5526901"/>
            <a:ext cx="186690" cy="178435"/>
          </a:xfrm>
          <a:custGeom>
            <a:avLst/>
            <a:gdLst/>
            <a:ahLst/>
            <a:cxnLst/>
            <a:rect l="l" t="t" r="r" b="b"/>
            <a:pathLst>
              <a:path w="186690" h="178435">
                <a:moveTo>
                  <a:pt x="0" y="89061"/>
                </a:moveTo>
                <a:lnTo>
                  <a:pt x="7332" y="54394"/>
                </a:lnTo>
                <a:lnTo>
                  <a:pt x="27327" y="26085"/>
                </a:lnTo>
                <a:lnTo>
                  <a:pt x="56985" y="6998"/>
                </a:lnTo>
                <a:lnTo>
                  <a:pt x="93302" y="0"/>
                </a:lnTo>
                <a:lnTo>
                  <a:pt x="129620" y="6998"/>
                </a:lnTo>
                <a:lnTo>
                  <a:pt x="159277" y="26085"/>
                </a:lnTo>
                <a:lnTo>
                  <a:pt x="179273" y="54394"/>
                </a:lnTo>
                <a:lnTo>
                  <a:pt x="186605" y="89061"/>
                </a:lnTo>
                <a:lnTo>
                  <a:pt x="179273" y="123728"/>
                </a:lnTo>
                <a:lnTo>
                  <a:pt x="159277" y="152037"/>
                </a:lnTo>
                <a:lnTo>
                  <a:pt x="129620" y="171124"/>
                </a:lnTo>
                <a:lnTo>
                  <a:pt x="93302" y="178123"/>
                </a:lnTo>
                <a:lnTo>
                  <a:pt x="56985" y="171124"/>
                </a:lnTo>
                <a:lnTo>
                  <a:pt x="27327" y="152037"/>
                </a:lnTo>
                <a:lnTo>
                  <a:pt x="7332" y="123728"/>
                </a:lnTo>
                <a:lnTo>
                  <a:pt x="0" y="89061"/>
                </a:lnTo>
                <a:close/>
              </a:path>
            </a:pathLst>
          </a:custGeom>
          <a:ln w="424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066887" y="5492996"/>
            <a:ext cx="1149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orbel"/>
                <a:cs typeface="Corbel"/>
              </a:rPr>
              <a:t>C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004849" y="5895871"/>
            <a:ext cx="245980" cy="2459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945476" y="5844979"/>
            <a:ext cx="356246" cy="39017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034537" y="5908595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93303" y="0"/>
                </a:moveTo>
                <a:lnTo>
                  <a:pt x="56985" y="7332"/>
                </a:lnTo>
                <a:lnTo>
                  <a:pt x="27327" y="27327"/>
                </a:lnTo>
                <a:lnTo>
                  <a:pt x="7332" y="56985"/>
                </a:lnTo>
                <a:lnTo>
                  <a:pt x="0" y="93302"/>
                </a:lnTo>
                <a:lnTo>
                  <a:pt x="7332" y="129620"/>
                </a:lnTo>
                <a:lnTo>
                  <a:pt x="27327" y="159277"/>
                </a:lnTo>
                <a:lnTo>
                  <a:pt x="56985" y="179273"/>
                </a:lnTo>
                <a:lnTo>
                  <a:pt x="93303" y="186605"/>
                </a:lnTo>
                <a:lnTo>
                  <a:pt x="129620" y="179273"/>
                </a:lnTo>
                <a:lnTo>
                  <a:pt x="159277" y="159277"/>
                </a:lnTo>
                <a:lnTo>
                  <a:pt x="179272" y="129620"/>
                </a:lnTo>
                <a:lnTo>
                  <a:pt x="186604" y="93302"/>
                </a:lnTo>
                <a:lnTo>
                  <a:pt x="179272" y="56985"/>
                </a:lnTo>
                <a:lnTo>
                  <a:pt x="159277" y="27327"/>
                </a:lnTo>
                <a:lnTo>
                  <a:pt x="129620" y="7332"/>
                </a:lnTo>
                <a:lnTo>
                  <a:pt x="933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34537" y="5908595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0" y="93302"/>
                </a:moveTo>
                <a:lnTo>
                  <a:pt x="7332" y="56985"/>
                </a:lnTo>
                <a:lnTo>
                  <a:pt x="27327" y="27327"/>
                </a:lnTo>
                <a:lnTo>
                  <a:pt x="56985" y="7332"/>
                </a:lnTo>
                <a:lnTo>
                  <a:pt x="93302" y="0"/>
                </a:lnTo>
                <a:lnTo>
                  <a:pt x="129620" y="7332"/>
                </a:lnTo>
                <a:lnTo>
                  <a:pt x="159277" y="27327"/>
                </a:lnTo>
                <a:lnTo>
                  <a:pt x="179273" y="56985"/>
                </a:lnTo>
                <a:lnTo>
                  <a:pt x="186605" y="93302"/>
                </a:lnTo>
                <a:lnTo>
                  <a:pt x="179273" y="129620"/>
                </a:lnTo>
                <a:lnTo>
                  <a:pt x="159277" y="159277"/>
                </a:lnTo>
                <a:lnTo>
                  <a:pt x="129620" y="179273"/>
                </a:lnTo>
                <a:lnTo>
                  <a:pt x="93302" y="186605"/>
                </a:lnTo>
                <a:lnTo>
                  <a:pt x="56985" y="179273"/>
                </a:lnTo>
                <a:lnTo>
                  <a:pt x="27327" y="159277"/>
                </a:lnTo>
                <a:lnTo>
                  <a:pt x="7332" y="129620"/>
                </a:lnTo>
                <a:lnTo>
                  <a:pt x="0" y="93302"/>
                </a:lnTo>
                <a:close/>
              </a:path>
            </a:pathLst>
          </a:custGeom>
          <a:ln w="424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058935" y="5883171"/>
            <a:ext cx="1308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orbel"/>
                <a:cs typeface="Corbel"/>
              </a:rPr>
              <a:t>D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004849" y="6286047"/>
            <a:ext cx="245980" cy="24598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953957" y="6235154"/>
            <a:ext cx="339282" cy="39017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034537" y="6298770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93303" y="0"/>
                </a:moveTo>
                <a:lnTo>
                  <a:pt x="56985" y="7332"/>
                </a:lnTo>
                <a:lnTo>
                  <a:pt x="27327" y="27327"/>
                </a:lnTo>
                <a:lnTo>
                  <a:pt x="7332" y="56985"/>
                </a:lnTo>
                <a:lnTo>
                  <a:pt x="0" y="93302"/>
                </a:lnTo>
                <a:lnTo>
                  <a:pt x="7332" y="129620"/>
                </a:lnTo>
                <a:lnTo>
                  <a:pt x="27327" y="159277"/>
                </a:lnTo>
                <a:lnTo>
                  <a:pt x="56985" y="179273"/>
                </a:lnTo>
                <a:lnTo>
                  <a:pt x="93303" y="186605"/>
                </a:lnTo>
                <a:lnTo>
                  <a:pt x="129620" y="179273"/>
                </a:lnTo>
                <a:lnTo>
                  <a:pt x="159277" y="159277"/>
                </a:lnTo>
                <a:lnTo>
                  <a:pt x="179272" y="129620"/>
                </a:lnTo>
                <a:lnTo>
                  <a:pt x="186604" y="93302"/>
                </a:lnTo>
                <a:lnTo>
                  <a:pt x="179272" y="56985"/>
                </a:lnTo>
                <a:lnTo>
                  <a:pt x="159277" y="27327"/>
                </a:lnTo>
                <a:lnTo>
                  <a:pt x="129620" y="7332"/>
                </a:lnTo>
                <a:lnTo>
                  <a:pt x="933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034537" y="6298770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0" y="93302"/>
                </a:moveTo>
                <a:lnTo>
                  <a:pt x="7332" y="56985"/>
                </a:lnTo>
                <a:lnTo>
                  <a:pt x="27327" y="27327"/>
                </a:lnTo>
                <a:lnTo>
                  <a:pt x="56985" y="7332"/>
                </a:lnTo>
                <a:lnTo>
                  <a:pt x="93302" y="0"/>
                </a:lnTo>
                <a:lnTo>
                  <a:pt x="129620" y="7332"/>
                </a:lnTo>
                <a:lnTo>
                  <a:pt x="159277" y="27327"/>
                </a:lnTo>
                <a:lnTo>
                  <a:pt x="179273" y="56985"/>
                </a:lnTo>
                <a:lnTo>
                  <a:pt x="186605" y="93302"/>
                </a:lnTo>
                <a:lnTo>
                  <a:pt x="179273" y="129620"/>
                </a:lnTo>
                <a:lnTo>
                  <a:pt x="159277" y="159277"/>
                </a:lnTo>
                <a:lnTo>
                  <a:pt x="129620" y="179273"/>
                </a:lnTo>
                <a:lnTo>
                  <a:pt x="93302" y="186605"/>
                </a:lnTo>
                <a:lnTo>
                  <a:pt x="56985" y="179273"/>
                </a:lnTo>
                <a:lnTo>
                  <a:pt x="27327" y="159277"/>
                </a:lnTo>
                <a:lnTo>
                  <a:pt x="7332" y="129620"/>
                </a:lnTo>
                <a:lnTo>
                  <a:pt x="0" y="93302"/>
                </a:lnTo>
                <a:close/>
              </a:path>
            </a:pathLst>
          </a:custGeom>
          <a:ln w="424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067948" y="6273347"/>
            <a:ext cx="1123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orbel"/>
                <a:cs typeface="Corbel"/>
              </a:rPr>
              <a:t>E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7"/>
              </a:rPr>
              <a:t>http://cs224w.stanford.edu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50" name="object 50"/>
          <p:cNvSpPr txBox="1"/>
          <p:nvPr/>
        </p:nvSpPr>
        <p:spPr>
          <a:xfrm>
            <a:off x="956563" y="2414523"/>
            <a:ext cx="7729220" cy="21463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314325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Common </a:t>
            </a:r>
            <a:r>
              <a:rPr dirty="0" sz="2800" spc="-10" b="1">
                <a:latin typeface="Calibri"/>
                <a:cs typeface="Calibri"/>
              </a:rPr>
              <a:t>approach: </a:t>
            </a:r>
            <a:r>
              <a:rPr dirty="0" sz="2800" spc="-5">
                <a:latin typeface="Calibri"/>
                <a:cs typeface="Calibri"/>
              </a:rPr>
              <a:t>Connect 2-hop </a:t>
            </a:r>
            <a:r>
              <a:rPr dirty="0" sz="2800" spc="-10">
                <a:latin typeface="Calibri"/>
                <a:cs typeface="Calibri"/>
              </a:rPr>
              <a:t>neighbors </a:t>
            </a:r>
            <a:r>
              <a:rPr dirty="0" sz="2800" spc="-204">
                <a:latin typeface="Calibri"/>
                <a:cs typeface="Calibri"/>
              </a:rPr>
              <a:t>via  </a:t>
            </a:r>
            <a:r>
              <a:rPr dirty="0" sz="2800" spc="-5">
                <a:latin typeface="Calibri"/>
                <a:cs typeface="Calibri"/>
              </a:rPr>
              <a:t>virtual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edges</a:t>
            </a:r>
            <a:endParaRPr sz="2800">
              <a:latin typeface="Calibri"/>
              <a:cs typeface="Calibri"/>
            </a:endParaRPr>
          </a:p>
          <a:p>
            <a:pPr marL="287020" marR="507365" indent="-274320">
              <a:lnSpc>
                <a:spcPts val="3290"/>
              </a:lnSpc>
              <a:spcBef>
                <a:spcPts val="8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Intuition: </a:t>
            </a:r>
            <a:r>
              <a:rPr dirty="0" sz="2800" spc="-15">
                <a:latin typeface="Calibri"/>
                <a:cs typeface="Calibri"/>
              </a:rPr>
              <a:t>Instead </a:t>
            </a:r>
            <a:r>
              <a:rPr dirty="0" sz="2800" spc="-5">
                <a:latin typeface="Calibri"/>
                <a:cs typeface="Calibri"/>
              </a:rPr>
              <a:t>of using adj. </a:t>
            </a:r>
            <a:r>
              <a:rPr dirty="0" sz="2800" spc="-10">
                <a:latin typeface="Calibri"/>
                <a:cs typeface="Calibri"/>
              </a:rPr>
              <a:t>matrix </a:t>
            </a:r>
            <a:r>
              <a:rPr dirty="0" sz="2800">
                <a:latin typeface="Cambria Math"/>
                <a:cs typeface="Cambria Math"/>
              </a:rPr>
              <a:t>𝐴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200">
                <a:latin typeface="Calibri"/>
                <a:cs typeface="Calibri"/>
              </a:rPr>
              <a:t>GNN  </a:t>
            </a:r>
            <a:r>
              <a:rPr dirty="0" sz="2800" spc="-10">
                <a:latin typeface="Calibri"/>
                <a:cs typeface="Calibri"/>
              </a:rPr>
              <a:t>computation,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>
                <a:solidFill>
                  <a:srgbClr val="60B5CC"/>
                </a:solidFill>
                <a:latin typeface="Cambria Math"/>
                <a:cs typeface="Cambria Math"/>
              </a:rPr>
              <a:t>𝐴 +</a:t>
            </a:r>
            <a:r>
              <a:rPr dirty="0" sz="2800" spc="-40">
                <a:solidFill>
                  <a:srgbClr val="60B5CC"/>
                </a:solidFill>
                <a:latin typeface="Cambria Math"/>
                <a:cs typeface="Cambria Math"/>
              </a:rPr>
              <a:t> </a:t>
            </a:r>
            <a:r>
              <a:rPr dirty="0" sz="2800" spc="-60">
                <a:solidFill>
                  <a:srgbClr val="60B5CC"/>
                </a:solidFill>
                <a:latin typeface="Cambria Math"/>
                <a:cs typeface="Cambria Math"/>
              </a:rPr>
              <a:t>𝐴</a:t>
            </a:r>
            <a:r>
              <a:rPr dirty="0" baseline="29166" sz="3000" spc="-89">
                <a:solidFill>
                  <a:srgbClr val="60B5CC"/>
                </a:solidFill>
                <a:latin typeface="Cambria Math"/>
                <a:cs typeface="Cambria Math"/>
              </a:rPr>
              <a:t>#</a:t>
            </a:r>
            <a:endParaRPr baseline="29166" sz="300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370"/>
              </a:spcBef>
              <a:tabLst>
                <a:tab pos="1269365" algn="l"/>
              </a:tabLst>
            </a:pPr>
            <a:r>
              <a:rPr dirty="0" sz="1800" b="1">
                <a:latin typeface="Corbel"/>
                <a:cs typeface="Corbel"/>
              </a:rPr>
              <a:t>A</a:t>
            </a:r>
            <a:r>
              <a:rPr dirty="0" sz="1800" spc="-10" b="1">
                <a:latin typeface="Corbel"/>
                <a:cs typeface="Corbel"/>
              </a:rPr>
              <a:t>u</a:t>
            </a:r>
            <a:r>
              <a:rPr dirty="0" sz="1800" b="1">
                <a:latin typeface="Corbel"/>
                <a:cs typeface="Corbel"/>
              </a:rPr>
              <a:t>tho</a:t>
            </a:r>
            <a:r>
              <a:rPr dirty="0" sz="1800" spc="-10" b="1">
                <a:latin typeface="Corbel"/>
                <a:cs typeface="Corbel"/>
              </a:rPr>
              <a:t>r</a:t>
            </a:r>
            <a:r>
              <a:rPr dirty="0" sz="1800" b="1">
                <a:latin typeface="Corbel"/>
                <a:cs typeface="Corbel"/>
              </a:rPr>
              <a:t>s	</a:t>
            </a:r>
            <a:r>
              <a:rPr dirty="0" sz="1800" spc="-10" b="1">
                <a:latin typeface="Corbel"/>
                <a:cs typeface="Corbel"/>
              </a:rPr>
              <a:t>P</a:t>
            </a:r>
            <a:r>
              <a:rPr dirty="0" sz="1800" spc="-5" b="1">
                <a:latin typeface="Corbel"/>
                <a:cs typeface="Corbel"/>
              </a:rPr>
              <a:t>ap</a:t>
            </a:r>
            <a:r>
              <a:rPr dirty="0" sz="1800" b="1">
                <a:latin typeface="Corbel"/>
                <a:cs typeface="Corbel"/>
              </a:rPr>
              <a:t>e</a:t>
            </a:r>
            <a:r>
              <a:rPr dirty="0" sz="1800" spc="-5" b="1">
                <a:latin typeface="Corbel"/>
                <a:cs typeface="Corbel"/>
              </a:rPr>
              <a:t>r</a:t>
            </a:r>
            <a:r>
              <a:rPr dirty="0" sz="1800" b="1">
                <a:latin typeface="Corbel"/>
                <a:cs typeface="Corbel"/>
              </a:rPr>
              <a:t>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18079" y="4651417"/>
            <a:ext cx="5882640" cy="179578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Use </a:t>
            </a:r>
            <a:r>
              <a:rPr dirty="0" sz="2800" spc="-10" b="1">
                <a:latin typeface="Calibri"/>
                <a:cs typeface="Calibri"/>
              </a:rPr>
              <a:t>cases: </a:t>
            </a:r>
            <a:r>
              <a:rPr dirty="0" sz="2800" spc="-10">
                <a:latin typeface="Calibri"/>
                <a:cs typeface="Calibri"/>
              </a:rPr>
              <a:t>Bipartite </a:t>
            </a:r>
            <a:r>
              <a:rPr dirty="0" sz="2800" spc="-15"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Author-to-papers </a:t>
            </a:r>
            <a:r>
              <a:rPr dirty="0" sz="2400" spc="-5">
                <a:latin typeface="Calibri"/>
                <a:cs typeface="Calibri"/>
              </a:rPr>
              <a:t>(they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authored)</a:t>
            </a:r>
            <a:endParaRPr sz="24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50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2-hop virtual edges </a:t>
            </a:r>
            <a:r>
              <a:rPr dirty="0" sz="2400" spc="-25">
                <a:latin typeface="Calibri"/>
                <a:cs typeface="Calibri"/>
              </a:rPr>
              <a:t>make </a:t>
            </a:r>
            <a:r>
              <a:rPr dirty="0" sz="2400">
                <a:latin typeface="Calibri"/>
                <a:cs typeface="Calibri"/>
              </a:rPr>
              <a:t>an </a:t>
            </a:r>
            <a:r>
              <a:rPr dirty="0" sz="2400" spc="-10">
                <a:latin typeface="Calibri"/>
                <a:cs typeface="Calibri"/>
              </a:rPr>
              <a:t>author-author  collaboration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3550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5701" y="1354836"/>
            <a:ext cx="629793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E66C7D"/>
                </a:solidFill>
              </a:rPr>
              <a:t>Motivation: </a:t>
            </a:r>
            <a:r>
              <a:rPr dirty="0" spc="-5" b="0">
                <a:solidFill>
                  <a:srgbClr val="E66C7D"/>
                </a:solidFill>
                <a:latin typeface="Calibri"/>
                <a:cs typeface="Calibri"/>
              </a:rPr>
              <a:t>Augment </a:t>
            </a:r>
            <a:r>
              <a:rPr dirty="0" spc="-15" b="0">
                <a:solidFill>
                  <a:srgbClr val="E66C7D"/>
                </a:solidFill>
                <a:latin typeface="Calibri"/>
                <a:cs typeface="Calibri"/>
              </a:rPr>
              <a:t>sparse</a:t>
            </a:r>
            <a:r>
              <a:rPr dirty="0" spc="0" b="0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E66C7D"/>
                </a:solidFill>
                <a:latin typeface="Calibri"/>
                <a:cs typeface="Calibri"/>
              </a:rPr>
              <a:t>graphs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6BB76D"/>
                </a:solidFill>
              </a:rPr>
              <a:t>(2) </a:t>
            </a:r>
            <a:r>
              <a:rPr dirty="0" spc="-5">
                <a:solidFill>
                  <a:srgbClr val="6BB76D"/>
                </a:solidFill>
              </a:rPr>
              <a:t>Add virtual</a:t>
            </a:r>
            <a:r>
              <a:rPr dirty="0" spc="-45">
                <a:solidFill>
                  <a:srgbClr val="6BB76D"/>
                </a:solidFill>
              </a:rPr>
              <a:t> </a:t>
            </a:r>
            <a:r>
              <a:rPr dirty="0" spc="-5">
                <a:solidFill>
                  <a:srgbClr val="6BB76D"/>
                </a:solidFill>
              </a:rPr>
              <a:t>nodes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4155" y="2420619"/>
            <a:ext cx="5916295" cy="3792854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86995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The virtual node will </a:t>
            </a:r>
            <a:r>
              <a:rPr dirty="0" sz="2800" spc="-10">
                <a:latin typeface="Calibri"/>
                <a:cs typeface="Calibri"/>
              </a:rPr>
              <a:t>connect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all  </a:t>
            </a:r>
            <a:r>
              <a:rPr dirty="0" sz="2800" spc="-135">
                <a:latin typeface="Calibri"/>
                <a:cs typeface="Calibri"/>
              </a:rPr>
              <a:t>the </a:t>
            </a:r>
            <a:r>
              <a:rPr dirty="0" sz="2800" spc="-5">
                <a:latin typeface="Calibri"/>
                <a:cs typeface="Calibri"/>
              </a:rPr>
              <a:t>nodes in the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lvl="1" marL="552450" marR="47625" indent="-228600">
              <a:lnSpc>
                <a:spcPct val="100000"/>
              </a:lnSpc>
              <a:spcBef>
                <a:spcPts val="53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Suppose in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>
                <a:latin typeface="Calibri"/>
                <a:cs typeface="Calibri"/>
              </a:rPr>
              <a:t>sparse graph, </a:t>
            </a:r>
            <a:r>
              <a:rPr dirty="0" sz="2400" spc="-15">
                <a:latin typeface="Calibri"/>
                <a:cs typeface="Calibri"/>
              </a:rPr>
              <a:t>two </a:t>
            </a:r>
            <a:r>
              <a:rPr dirty="0" sz="2400" spc="-5">
                <a:latin typeface="Calibri"/>
                <a:cs typeface="Calibri"/>
              </a:rPr>
              <a:t>nodes </a:t>
            </a:r>
            <a:r>
              <a:rPr dirty="0" sz="2400" spc="-20">
                <a:latin typeface="Calibri"/>
                <a:cs typeface="Calibri"/>
              </a:rPr>
              <a:t>have  </a:t>
            </a:r>
            <a:r>
              <a:rPr dirty="0" sz="2400" spc="-10">
                <a:latin typeface="Calibri"/>
                <a:cs typeface="Calibri"/>
              </a:rPr>
              <a:t>shortest path distance </a:t>
            </a:r>
            <a:r>
              <a:rPr dirty="0" sz="2400" spc="-5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10</a:t>
            </a:r>
            <a:endParaRPr sz="24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50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After </a:t>
            </a:r>
            <a:r>
              <a:rPr dirty="0" sz="2400" spc="-5">
                <a:latin typeface="Calibri"/>
                <a:cs typeface="Calibri"/>
              </a:rPr>
              <a:t>adding the virtual node,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nodes  will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have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distance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two</a:t>
            </a:r>
            <a:endParaRPr sz="2400">
              <a:latin typeface="Calibri"/>
              <a:cs typeface="Calibri"/>
            </a:endParaRPr>
          </a:p>
          <a:p>
            <a:pPr lvl="2" marL="771525" indent="-182880">
              <a:lnSpc>
                <a:spcPct val="100000"/>
              </a:lnSpc>
              <a:spcBef>
                <a:spcPts val="515"/>
              </a:spcBef>
              <a:buClr>
                <a:srgbClr val="6BB76D"/>
              </a:buClr>
              <a:buFont typeface="Malgun Gothic"/>
              <a:buChar char="▪"/>
              <a:tabLst>
                <a:tab pos="771525" algn="l"/>
              </a:tabLst>
            </a:pPr>
            <a:r>
              <a:rPr dirty="0" sz="2000" spc="-5" b="1">
                <a:latin typeface="Calibri"/>
                <a:cs typeface="Calibri"/>
              </a:rPr>
              <a:t>Node </a:t>
            </a:r>
            <a:r>
              <a:rPr dirty="0" sz="2000" b="1">
                <a:latin typeface="Calibri"/>
                <a:cs typeface="Calibri"/>
              </a:rPr>
              <a:t>A – </a:t>
            </a:r>
            <a:r>
              <a:rPr dirty="0" sz="2000" spc="-5" b="1">
                <a:latin typeface="Calibri"/>
                <a:cs typeface="Calibri"/>
              </a:rPr>
              <a:t>Virtual </a:t>
            </a:r>
            <a:r>
              <a:rPr dirty="0" sz="2000" b="1">
                <a:latin typeface="Calibri"/>
                <a:cs typeface="Calibri"/>
              </a:rPr>
              <a:t>node – </a:t>
            </a:r>
            <a:r>
              <a:rPr dirty="0" sz="2000" spc="-5" b="1">
                <a:latin typeface="Calibri"/>
                <a:cs typeface="Calibri"/>
              </a:rPr>
              <a:t>Node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  <a:p>
            <a:pPr marL="287020" marR="386715" indent="-274320">
              <a:lnSpc>
                <a:spcPct val="101400"/>
              </a:lnSpc>
              <a:spcBef>
                <a:spcPts val="5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Benefits: </a:t>
            </a:r>
            <a:r>
              <a:rPr dirty="0" sz="2800" spc="-15">
                <a:latin typeface="Calibri"/>
                <a:cs typeface="Calibri"/>
              </a:rPr>
              <a:t>Greatly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improves </a:t>
            </a:r>
            <a:r>
              <a:rPr dirty="0" sz="2800" spc="-100" b="1">
                <a:solidFill>
                  <a:srgbClr val="C00000"/>
                </a:solidFill>
                <a:latin typeface="Calibri"/>
                <a:cs typeface="Calibri"/>
              </a:rPr>
              <a:t>message 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passing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sparse</a:t>
            </a:r>
            <a:r>
              <a:rPr dirty="0" sz="28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50761" y="3967294"/>
            <a:ext cx="1881233" cy="1903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06943" y="3035395"/>
            <a:ext cx="1309963" cy="20315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13321" y="3296484"/>
            <a:ext cx="197485" cy="2103755"/>
          </a:xfrm>
          <a:custGeom>
            <a:avLst/>
            <a:gdLst/>
            <a:ahLst/>
            <a:cxnLst/>
            <a:rect l="l" t="t" r="r" b="b"/>
            <a:pathLst>
              <a:path w="197484" h="2103754">
                <a:moveTo>
                  <a:pt x="177746" y="0"/>
                </a:moveTo>
                <a:lnTo>
                  <a:pt x="171613" y="5201"/>
                </a:lnTo>
                <a:lnTo>
                  <a:pt x="170464" y="19208"/>
                </a:lnTo>
                <a:lnTo>
                  <a:pt x="175666" y="25340"/>
                </a:lnTo>
                <a:lnTo>
                  <a:pt x="189646" y="26488"/>
                </a:lnTo>
                <a:lnTo>
                  <a:pt x="195779" y="21286"/>
                </a:lnTo>
                <a:lnTo>
                  <a:pt x="196928" y="7279"/>
                </a:lnTo>
                <a:lnTo>
                  <a:pt x="191726" y="1148"/>
                </a:lnTo>
                <a:lnTo>
                  <a:pt x="177746" y="0"/>
                </a:lnTo>
                <a:close/>
              </a:path>
              <a:path w="197484" h="2103754">
                <a:moveTo>
                  <a:pt x="173588" y="50655"/>
                </a:moveTo>
                <a:lnTo>
                  <a:pt x="167455" y="55857"/>
                </a:lnTo>
                <a:lnTo>
                  <a:pt x="166306" y="69863"/>
                </a:lnTo>
                <a:lnTo>
                  <a:pt x="171508" y="75995"/>
                </a:lnTo>
                <a:lnTo>
                  <a:pt x="185489" y="77143"/>
                </a:lnTo>
                <a:lnTo>
                  <a:pt x="191621" y="71941"/>
                </a:lnTo>
                <a:lnTo>
                  <a:pt x="192770" y="57934"/>
                </a:lnTo>
                <a:lnTo>
                  <a:pt x="187568" y="51803"/>
                </a:lnTo>
                <a:lnTo>
                  <a:pt x="173588" y="50655"/>
                </a:lnTo>
                <a:close/>
              </a:path>
              <a:path w="197484" h="2103754">
                <a:moveTo>
                  <a:pt x="169430" y="101310"/>
                </a:moveTo>
                <a:lnTo>
                  <a:pt x="163299" y="106512"/>
                </a:lnTo>
                <a:lnTo>
                  <a:pt x="162148" y="120517"/>
                </a:lnTo>
                <a:lnTo>
                  <a:pt x="167350" y="126650"/>
                </a:lnTo>
                <a:lnTo>
                  <a:pt x="181331" y="127798"/>
                </a:lnTo>
                <a:lnTo>
                  <a:pt x="187463" y="122596"/>
                </a:lnTo>
                <a:lnTo>
                  <a:pt x="188614" y="108590"/>
                </a:lnTo>
                <a:lnTo>
                  <a:pt x="183412" y="102458"/>
                </a:lnTo>
                <a:lnTo>
                  <a:pt x="169430" y="101310"/>
                </a:lnTo>
                <a:close/>
              </a:path>
              <a:path w="197484" h="2103754">
                <a:moveTo>
                  <a:pt x="165272" y="151965"/>
                </a:moveTo>
                <a:lnTo>
                  <a:pt x="159141" y="157167"/>
                </a:lnTo>
                <a:lnTo>
                  <a:pt x="157990" y="171173"/>
                </a:lnTo>
                <a:lnTo>
                  <a:pt x="163192" y="177305"/>
                </a:lnTo>
                <a:lnTo>
                  <a:pt x="177173" y="178454"/>
                </a:lnTo>
                <a:lnTo>
                  <a:pt x="183305" y="173252"/>
                </a:lnTo>
                <a:lnTo>
                  <a:pt x="184456" y="159245"/>
                </a:lnTo>
                <a:lnTo>
                  <a:pt x="179254" y="153113"/>
                </a:lnTo>
                <a:lnTo>
                  <a:pt x="165272" y="151965"/>
                </a:lnTo>
                <a:close/>
              </a:path>
              <a:path w="197484" h="2103754">
                <a:moveTo>
                  <a:pt x="161116" y="202620"/>
                </a:moveTo>
                <a:lnTo>
                  <a:pt x="154983" y="207822"/>
                </a:lnTo>
                <a:lnTo>
                  <a:pt x="153833" y="221828"/>
                </a:lnTo>
                <a:lnTo>
                  <a:pt x="159034" y="227961"/>
                </a:lnTo>
                <a:lnTo>
                  <a:pt x="173015" y="229108"/>
                </a:lnTo>
                <a:lnTo>
                  <a:pt x="179148" y="223907"/>
                </a:lnTo>
                <a:lnTo>
                  <a:pt x="180298" y="209900"/>
                </a:lnTo>
                <a:lnTo>
                  <a:pt x="175096" y="203768"/>
                </a:lnTo>
                <a:lnTo>
                  <a:pt x="161116" y="202620"/>
                </a:lnTo>
                <a:close/>
              </a:path>
              <a:path w="197484" h="2103754">
                <a:moveTo>
                  <a:pt x="156958" y="253276"/>
                </a:moveTo>
                <a:lnTo>
                  <a:pt x="150825" y="258476"/>
                </a:lnTo>
                <a:lnTo>
                  <a:pt x="149675" y="272483"/>
                </a:lnTo>
                <a:lnTo>
                  <a:pt x="154877" y="278615"/>
                </a:lnTo>
                <a:lnTo>
                  <a:pt x="168857" y="279763"/>
                </a:lnTo>
                <a:lnTo>
                  <a:pt x="174990" y="274561"/>
                </a:lnTo>
                <a:lnTo>
                  <a:pt x="176140" y="260555"/>
                </a:lnTo>
                <a:lnTo>
                  <a:pt x="170938" y="254422"/>
                </a:lnTo>
                <a:lnTo>
                  <a:pt x="156958" y="253276"/>
                </a:lnTo>
                <a:close/>
              </a:path>
              <a:path w="197484" h="2103754">
                <a:moveTo>
                  <a:pt x="152800" y="303931"/>
                </a:moveTo>
                <a:lnTo>
                  <a:pt x="146668" y="309131"/>
                </a:lnTo>
                <a:lnTo>
                  <a:pt x="145517" y="323138"/>
                </a:lnTo>
                <a:lnTo>
                  <a:pt x="150719" y="329270"/>
                </a:lnTo>
                <a:lnTo>
                  <a:pt x="164701" y="330418"/>
                </a:lnTo>
                <a:lnTo>
                  <a:pt x="170832" y="325216"/>
                </a:lnTo>
                <a:lnTo>
                  <a:pt x="171982" y="311210"/>
                </a:lnTo>
                <a:lnTo>
                  <a:pt x="166781" y="305078"/>
                </a:lnTo>
                <a:lnTo>
                  <a:pt x="152800" y="303931"/>
                </a:lnTo>
                <a:close/>
              </a:path>
              <a:path w="197484" h="2103754">
                <a:moveTo>
                  <a:pt x="148642" y="354585"/>
                </a:moveTo>
                <a:lnTo>
                  <a:pt x="142510" y="359787"/>
                </a:lnTo>
                <a:lnTo>
                  <a:pt x="141359" y="373794"/>
                </a:lnTo>
                <a:lnTo>
                  <a:pt x="146561" y="379925"/>
                </a:lnTo>
                <a:lnTo>
                  <a:pt x="160543" y="381073"/>
                </a:lnTo>
                <a:lnTo>
                  <a:pt x="166674" y="375871"/>
                </a:lnTo>
                <a:lnTo>
                  <a:pt x="167825" y="361866"/>
                </a:lnTo>
                <a:lnTo>
                  <a:pt x="162623" y="355733"/>
                </a:lnTo>
                <a:lnTo>
                  <a:pt x="148642" y="354585"/>
                </a:lnTo>
                <a:close/>
              </a:path>
              <a:path w="197484" h="2103754">
                <a:moveTo>
                  <a:pt x="144484" y="405240"/>
                </a:moveTo>
                <a:lnTo>
                  <a:pt x="138352" y="410442"/>
                </a:lnTo>
                <a:lnTo>
                  <a:pt x="137203" y="424449"/>
                </a:lnTo>
                <a:lnTo>
                  <a:pt x="142403" y="430580"/>
                </a:lnTo>
                <a:lnTo>
                  <a:pt x="156385" y="431728"/>
                </a:lnTo>
                <a:lnTo>
                  <a:pt x="162516" y="426526"/>
                </a:lnTo>
                <a:lnTo>
                  <a:pt x="163667" y="412521"/>
                </a:lnTo>
                <a:lnTo>
                  <a:pt x="158465" y="406388"/>
                </a:lnTo>
                <a:lnTo>
                  <a:pt x="144484" y="405240"/>
                </a:lnTo>
                <a:close/>
              </a:path>
              <a:path w="197484" h="2103754">
                <a:moveTo>
                  <a:pt x="140327" y="455895"/>
                </a:moveTo>
                <a:lnTo>
                  <a:pt x="134194" y="461097"/>
                </a:lnTo>
                <a:lnTo>
                  <a:pt x="133045" y="475104"/>
                </a:lnTo>
                <a:lnTo>
                  <a:pt x="138247" y="481236"/>
                </a:lnTo>
                <a:lnTo>
                  <a:pt x="152227" y="482384"/>
                </a:lnTo>
                <a:lnTo>
                  <a:pt x="158360" y="477182"/>
                </a:lnTo>
                <a:lnTo>
                  <a:pt x="159509" y="463175"/>
                </a:lnTo>
                <a:lnTo>
                  <a:pt x="154307" y="457043"/>
                </a:lnTo>
                <a:lnTo>
                  <a:pt x="140327" y="455895"/>
                </a:lnTo>
                <a:close/>
              </a:path>
              <a:path w="197484" h="2103754">
                <a:moveTo>
                  <a:pt x="136169" y="506550"/>
                </a:moveTo>
                <a:lnTo>
                  <a:pt x="130036" y="511752"/>
                </a:lnTo>
                <a:lnTo>
                  <a:pt x="128887" y="525758"/>
                </a:lnTo>
                <a:lnTo>
                  <a:pt x="134089" y="531891"/>
                </a:lnTo>
                <a:lnTo>
                  <a:pt x="148069" y="533039"/>
                </a:lnTo>
                <a:lnTo>
                  <a:pt x="154202" y="527837"/>
                </a:lnTo>
                <a:lnTo>
                  <a:pt x="155351" y="513830"/>
                </a:lnTo>
                <a:lnTo>
                  <a:pt x="150150" y="507699"/>
                </a:lnTo>
                <a:lnTo>
                  <a:pt x="136169" y="506550"/>
                </a:lnTo>
                <a:close/>
              </a:path>
              <a:path w="197484" h="2103754">
                <a:moveTo>
                  <a:pt x="132011" y="557206"/>
                </a:moveTo>
                <a:lnTo>
                  <a:pt x="125879" y="562408"/>
                </a:lnTo>
                <a:lnTo>
                  <a:pt x="124729" y="576413"/>
                </a:lnTo>
                <a:lnTo>
                  <a:pt x="129931" y="582546"/>
                </a:lnTo>
                <a:lnTo>
                  <a:pt x="143912" y="583694"/>
                </a:lnTo>
                <a:lnTo>
                  <a:pt x="150044" y="578492"/>
                </a:lnTo>
                <a:lnTo>
                  <a:pt x="151194" y="564485"/>
                </a:lnTo>
                <a:lnTo>
                  <a:pt x="145992" y="558354"/>
                </a:lnTo>
                <a:lnTo>
                  <a:pt x="132011" y="557206"/>
                </a:lnTo>
                <a:close/>
              </a:path>
              <a:path w="197484" h="2103754">
                <a:moveTo>
                  <a:pt x="127853" y="607861"/>
                </a:moveTo>
                <a:lnTo>
                  <a:pt x="121721" y="613063"/>
                </a:lnTo>
                <a:lnTo>
                  <a:pt x="120571" y="627068"/>
                </a:lnTo>
                <a:lnTo>
                  <a:pt x="125773" y="633201"/>
                </a:lnTo>
                <a:lnTo>
                  <a:pt x="139754" y="634348"/>
                </a:lnTo>
                <a:lnTo>
                  <a:pt x="145886" y="629147"/>
                </a:lnTo>
                <a:lnTo>
                  <a:pt x="147036" y="615141"/>
                </a:lnTo>
                <a:lnTo>
                  <a:pt x="141834" y="609009"/>
                </a:lnTo>
                <a:lnTo>
                  <a:pt x="127853" y="607861"/>
                </a:lnTo>
                <a:close/>
              </a:path>
              <a:path w="197484" h="2103754">
                <a:moveTo>
                  <a:pt x="123695" y="658516"/>
                </a:moveTo>
                <a:lnTo>
                  <a:pt x="117563" y="663717"/>
                </a:lnTo>
                <a:lnTo>
                  <a:pt x="116414" y="677724"/>
                </a:lnTo>
                <a:lnTo>
                  <a:pt x="121615" y="683855"/>
                </a:lnTo>
                <a:lnTo>
                  <a:pt x="135596" y="685003"/>
                </a:lnTo>
                <a:lnTo>
                  <a:pt x="141729" y="679801"/>
                </a:lnTo>
                <a:lnTo>
                  <a:pt x="142878" y="665796"/>
                </a:lnTo>
                <a:lnTo>
                  <a:pt x="137676" y="659663"/>
                </a:lnTo>
                <a:lnTo>
                  <a:pt x="123695" y="658516"/>
                </a:lnTo>
                <a:close/>
              </a:path>
              <a:path w="197484" h="2103754">
                <a:moveTo>
                  <a:pt x="119538" y="709171"/>
                </a:moveTo>
                <a:lnTo>
                  <a:pt x="113405" y="714372"/>
                </a:lnTo>
                <a:lnTo>
                  <a:pt x="112256" y="728379"/>
                </a:lnTo>
                <a:lnTo>
                  <a:pt x="117458" y="734510"/>
                </a:lnTo>
                <a:lnTo>
                  <a:pt x="131438" y="735658"/>
                </a:lnTo>
                <a:lnTo>
                  <a:pt x="137571" y="730457"/>
                </a:lnTo>
                <a:lnTo>
                  <a:pt x="138720" y="716451"/>
                </a:lnTo>
                <a:lnTo>
                  <a:pt x="133518" y="710318"/>
                </a:lnTo>
                <a:lnTo>
                  <a:pt x="119538" y="709171"/>
                </a:lnTo>
                <a:close/>
              </a:path>
              <a:path w="197484" h="2103754">
                <a:moveTo>
                  <a:pt x="115380" y="759825"/>
                </a:moveTo>
                <a:lnTo>
                  <a:pt x="109247" y="765027"/>
                </a:lnTo>
                <a:lnTo>
                  <a:pt x="108098" y="779034"/>
                </a:lnTo>
                <a:lnTo>
                  <a:pt x="113300" y="785166"/>
                </a:lnTo>
                <a:lnTo>
                  <a:pt x="127280" y="786314"/>
                </a:lnTo>
                <a:lnTo>
                  <a:pt x="133413" y="781112"/>
                </a:lnTo>
                <a:lnTo>
                  <a:pt x="134562" y="767106"/>
                </a:lnTo>
                <a:lnTo>
                  <a:pt x="129362" y="760973"/>
                </a:lnTo>
                <a:lnTo>
                  <a:pt x="115380" y="759825"/>
                </a:lnTo>
                <a:close/>
              </a:path>
              <a:path w="197484" h="2103754">
                <a:moveTo>
                  <a:pt x="111222" y="810480"/>
                </a:moveTo>
                <a:lnTo>
                  <a:pt x="105091" y="815682"/>
                </a:lnTo>
                <a:lnTo>
                  <a:pt x="103940" y="829689"/>
                </a:lnTo>
                <a:lnTo>
                  <a:pt x="109142" y="835821"/>
                </a:lnTo>
                <a:lnTo>
                  <a:pt x="123123" y="836969"/>
                </a:lnTo>
                <a:lnTo>
                  <a:pt x="129255" y="831767"/>
                </a:lnTo>
                <a:lnTo>
                  <a:pt x="130406" y="817761"/>
                </a:lnTo>
                <a:lnTo>
                  <a:pt x="125204" y="811629"/>
                </a:lnTo>
                <a:lnTo>
                  <a:pt x="111222" y="810480"/>
                </a:lnTo>
                <a:close/>
              </a:path>
              <a:path w="197484" h="2103754">
                <a:moveTo>
                  <a:pt x="107064" y="861136"/>
                </a:moveTo>
                <a:lnTo>
                  <a:pt x="100933" y="866338"/>
                </a:lnTo>
                <a:lnTo>
                  <a:pt x="99782" y="880344"/>
                </a:lnTo>
                <a:lnTo>
                  <a:pt x="104984" y="886476"/>
                </a:lnTo>
                <a:lnTo>
                  <a:pt x="118965" y="887624"/>
                </a:lnTo>
                <a:lnTo>
                  <a:pt x="125097" y="882422"/>
                </a:lnTo>
                <a:lnTo>
                  <a:pt x="126248" y="868415"/>
                </a:lnTo>
                <a:lnTo>
                  <a:pt x="121046" y="862284"/>
                </a:lnTo>
                <a:lnTo>
                  <a:pt x="107064" y="861136"/>
                </a:lnTo>
                <a:close/>
              </a:path>
              <a:path w="197484" h="2103754">
                <a:moveTo>
                  <a:pt x="102908" y="911791"/>
                </a:moveTo>
                <a:lnTo>
                  <a:pt x="96775" y="916993"/>
                </a:lnTo>
                <a:lnTo>
                  <a:pt x="95625" y="930998"/>
                </a:lnTo>
                <a:lnTo>
                  <a:pt x="100826" y="937131"/>
                </a:lnTo>
                <a:lnTo>
                  <a:pt x="114807" y="938279"/>
                </a:lnTo>
                <a:lnTo>
                  <a:pt x="120940" y="933077"/>
                </a:lnTo>
                <a:lnTo>
                  <a:pt x="122090" y="919071"/>
                </a:lnTo>
                <a:lnTo>
                  <a:pt x="116888" y="912939"/>
                </a:lnTo>
                <a:lnTo>
                  <a:pt x="102908" y="911791"/>
                </a:lnTo>
                <a:close/>
              </a:path>
              <a:path w="197484" h="2103754">
                <a:moveTo>
                  <a:pt x="98750" y="962446"/>
                </a:moveTo>
                <a:lnTo>
                  <a:pt x="92617" y="967648"/>
                </a:lnTo>
                <a:lnTo>
                  <a:pt x="91467" y="981654"/>
                </a:lnTo>
                <a:lnTo>
                  <a:pt x="96669" y="987786"/>
                </a:lnTo>
                <a:lnTo>
                  <a:pt x="110650" y="988935"/>
                </a:lnTo>
                <a:lnTo>
                  <a:pt x="116782" y="983733"/>
                </a:lnTo>
                <a:lnTo>
                  <a:pt x="117932" y="969726"/>
                </a:lnTo>
                <a:lnTo>
                  <a:pt x="112730" y="963594"/>
                </a:lnTo>
                <a:lnTo>
                  <a:pt x="98750" y="962446"/>
                </a:lnTo>
                <a:close/>
              </a:path>
              <a:path w="197484" h="2103754">
                <a:moveTo>
                  <a:pt x="94592" y="1013101"/>
                </a:moveTo>
                <a:lnTo>
                  <a:pt x="88460" y="1018303"/>
                </a:lnTo>
                <a:lnTo>
                  <a:pt x="87309" y="1032309"/>
                </a:lnTo>
                <a:lnTo>
                  <a:pt x="92511" y="1038442"/>
                </a:lnTo>
                <a:lnTo>
                  <a:pt x="106493" y="1039588"/>
                </a:lnTo>
                <a:lnTo>
                  <a:pt x="112624" y="1034388"/>
                </a:lnTo>
                <a:lnTo>
                  <a:pt x="113774" y="1020381"/>
                </a:lnTo>
                <a:lnTo>
                  <a:pt x="108573" y="1014249"/>
                </a:lnTo>
                <a:lnTo>
                  <a:pt x="94592" y="1013101"/>
                </a:lnTo>
                <a:close/>
              </a:path>
              <a:path w="197484" h="2103754">
                <a:moveTo>
                  <a:pt x="90431" y="1063758"/>
                </a:moveTo>
                <a:lnTo>
                  <a:pt x="84300" y="1068960"/>
                </a:lnTo>
                <a:lnTo>
                  <a:pt x="83153" y="1082967"/>
                </a:lnTo>
                <a:lnTo>
                  <a:pt x="88356" y="1089098"/>
                </a:lnTo>
                <a:lnTo>
                  <a:pt x="102337" y="1090242"/>
                </a:lnTo>
                <a:lnTo>
                  <a:pt x="108468" y="1085041"/>
                </a:lnTo>
                <a:lnTo>
                  <a:pt x="109616" y="1071034"/>
                </a:lnTo>
                <a:lnTo>
                  <a:pt x="104413" y="1064902"/>
                </a:lnTo>
                <a:lnTo>
                  <a:pt x="90431" y="1063758"/>
                </a:lnTo>
                <a:close/>
              </a:path>
              <a:path w="197484" h="2103754">
                <a:moveTo>
                  <a:pt x="86273" y="1114412"/>
                </a:moveTo>
                <a:lnTo>
                  <a:pt x="80143" y="1119615"/>
                </a:lnTo>
                <a:lnTo>
                  <a:pt x="78995" y="1133622"/>
                </a:lnTo>
                <a:lnTo>
                  <a:pt x="84198" y="1139753"/>
                </a:lnTo>
                <a:lnTo>
                  <a:pt x="98179" y="1140898"/>
                </a:lnTo>
                <a:lnTo>
                  <a:pt x="104311" y="1135696"/>
                </a:lnTo>
                <a:lnTo>
                  <a:pt x="105458" y="1121689"/>
                </a:lnTo>
                <a:lnTo>
                  <a:pt x="100255" y="1115557"/>
                </a:lnTo>
                <a:lnTo>
                  <a:pt x="86273" y="1114412"/>
                </a:lnTo>
                <a:close/>
              </a:path>
              <a:path w="197484" h="2103754">
                <a:moveTo>
                  <a:pt x="82116" y="1165067"/>
                </a:moveTo>
                <a:lnTo>
                  <a:pt x="75985" y="1170270"/>
                </a:lnTo>
                <a:lnTo>
                  <a:pt x="74838" y="1184277"/>
                </a:lnTo>
                <a:lnTo>
                  <a:pt x="80040" y="1190409"/>
                </a:lnTo>
                <a:lnTo>
                  <a:pt x="94021" y="1191553"/>
                </a:lnTo>
                <a:lnTo>
                  <a:pt x="100153" y="1186350"/>
                </a:lnTo>
                <a:lnTo>
                  <a:pt x="101300" y="1172344"/>
                </a:lnTo>
                <a:lnTo>
                  <a:pt x="96097" y="1166213"/>
                </a:lnTo>
                <a:lnTo>
                  <a:pt x="82116" y="1165067"/>
                </a:lnTo>
                <a:close/>
              </a:path>
              <a:path w="197484" h="2103754">
                <a:moveTo>
                  <a:pt x="77958" y="1215722"/>
                </a:moveTo>
                <a:lnTo>
                  <a:pt x="71827" y="1220925"/>
                </a:lnTo>
                <a:lnTo>
                  <a:pt x="70680" y="1234932"/>
                </a:lnTo>
                <a:lnTo>
                  <a:pt x="75883" y="1241064"/>
                </a:lnTo>
                <a:lnTo>
                  <a:pt x="89863" y="1242208"/>
                </a:lnTo>
                <a:lnTo>
                  <a:pt x="95995" y="1237005"/>
                </a:lnTo>
                <a:lnTo>
                  <a:pt x="97142" y="1222999"/>
                </a:lnTo>
                <a:lnTo>
                  <a:pt x="91940" y="1216868"/>
                </a:lnTo>
                <a:lnTo>
                  <a:pt x="77958" y="1215722"/>
                </a:lnTo>
                <a:close/>
              </a:path>
              <a:path w="197484" h="2103754">
                <a:moveTo>
                  <a:pt x="73800" y="1266377"/>
                </a:moveTo>
                <a:lnTo>
                  <a:pt x="67669" y="1271581"/>
                </a:lnTo>
                <a:lnTo>
                  <a:pt x="66522" y="1285587"/>
                </a:lnTo>
                <a:lnTo>
                  <a:pt x="71725" y="1291718"/>
                </a:lnTo>
                <a:lnTo>
                  <a:pt x="85707" y="1292863"/>
                </a:lnTo>
                <a:lnTo>
                  <a:pt x="91837" y="1287660"/>
                </a:lnTo>
                <a:lnTo>
                  <a:pt x="92985" y="1273653"/>
                </a:lnTo>
                <a:lnTo>
                  <a:pt x="87782" y="1267523"/>
                </a:lnTo>
                <a:lnTo>
                  <a:pt x="73800" y="1266377"/>
                </a:lnTo>
                <a:close/>
              </a:path>
              <a:path w="197484" h="2103754">
                <a:moveTo>
                  <a:pt x="69642" y="1317033"/>
                </a:moveTo>
                <a:lnTo>
                  <a:pt x="63512" y="1322236"/>
                </a:lnTo>
                <a:lnTo>
                  <a:pt x="62364" y="1336243"/>
                </a:lnTo>
                <a:lnTo>
                  <a:pt x="67567" y="1342373"/>
                </a:lnTo>
                <a:lnTo>
                  <a:pt x="81549" y="1343519"/>
                </a:lnTo>
                <a:lnTo>
                  <a:pt x="87680" y="1338315"/>
                </a:lnTo>
                <a:lnTo>
                  <a:pt x="88827" y="1324309"/>
                </a:lnTo>
                <a:lnTo>
                  <a:pt x="83624" y="1318178"/>
                </a:lnTo>
                <a:lnTo>
                  <a:pt x="69642" y="1317033"/>
                </a:lnTo>
                <a:close/>
              </a:path>
              <a:path w="197484" h="2103754">
                <a:moveTo>
                  <a:pt x="65485" y="1367688"/>
                </a:moveTo>
                <a:lnTo>
                  <a:pt x="59354" y="1372891"/>
                </a:lnTo>
                <a:lnTo>
                  <a:pt x="58207" y="1386898"/>
                </a:lnTo>
                <a:lnTo>
                  <a:pt x="63409" y="1393028"/>
                </a:lnTo>
                <a:lnTo>
                  <a:pt x="77391" y="1394174"/>
                </a:lnTo>
                <a:lnTo>
                  <a:pt x="83522" y="1388971"/>
                </a:lnTo>
                <a:lnTo>
                  <a:pt x="84669" y="1374964"/>
                </a:lnTo>
                <a:lnTo>
                  <a:pt x="79466" y="1368833"/>
                </a:lnTo>
                <a:lnTo>
                  <a:pt x="65485" y="1367688"/>
                </a:lnTo>
                <a:close/>
              </a:path>
              <a:path w="197484" h="2103754">
                <a:moveTo>
                  <a:pt x="61328" y="1418343"/>
                </a:moveTo>
                <a:lnTo>
                  <a:pt x="55196" y="1423546"/>
                </a:lnTo>
                <a:lnTo>
                  <a:pt x="54049" y="1437552"/>
                </a:lnTo>
                <a:lnTo>
                  <a:pt x="59251" y="1443683"/>
                </a:lnTo>
                <a:lnTo>
                  <a:pt x="73233" y="1444829"/>
                </a:lnTo>
                <a:lnTo>
                  <a:pt x="79364" y="1439626"/>
                </a:lnTo>
                <a:lnTo>
                  <a:pt x="80511" y="1425619"/>
                </a:lnTo>
                <a:lnTo>
                  <a:pt x="75308" y="1419487"/>
                </a:lnTo>
                <a:lnTo>
                  <a:pt x="61328" y="1418343"/>
                </a:lnTo>
                <a:close/>
              </a:path>
              <a:path w="197484" h="2103754">
                <a:moveTo>
                  <a:pt x="57170" y="1468998"/>
                </a:moveTo>
                <a:lnTo>
                  <a:pt x="51038" y="1474200"/>
                </a:lnTo>
                <a:lnTo>
                  <a:pt x="49891" y="1488207"/>
                </a:lnTo>
                <a:lnTo>
                  <a:pt x="55095" y="1494339"/>
                </a:lnTo>
                <a:lnTo>
                  <a:pt x="69076" y="1495483"/>
                </a:lnTo>
                <a:lnTo>
                  <a:pt x="75206" y="1490281"/>
                </a:lnTo>
                <a:lnTo>
                  <a:pt x="76353" y="1476274"/>
                </a:lnTo>
                <a:lnTo>
                  <a:pt x="71151" y="1470143"/>
                </a:lnTo>
                <a:lnTo>
                  <a:pt x="57170" y="1468998"/>
                </a:lnTo>
                <a:close/>
              </a:path>
              <a:path w="197484" h="2103754">
                <a:moveTo>
                  <a:pt x="53012" y="1519652"/>
                </a:moveTo>
                <a:lnTo>
                  <a:pt x="46880" y="1524855"/>
                </a:lnTo>
                <a:lnTo>
                  <a:pt x="45733" y="1538862"/>
                </a:lnTo>
                <a:lnTo>
                  <a:pt x="50937" y="1544994"/>
                </a:lnTo>
                <a:lnTo>
                  <a:pt x="64918" y="1546138"/>
                </a:lnTo>
                <a:lnTo>
                  <a:pt x="71048" y="1540936"/>
                </a:lnTo>
                <a:lnTo>
                  <a:pt x="72196" y="1526929"/>
                </a:lnTo>
                <a:lnTo>
                  <a:pt x="66993" y="1520798"/>
                </a:lnTo>
                <a:lnTo>
                  <a:pt x="53012" y="1519652"/>
                </a:lnTo>
                <a:close/>
              </a:path>
              <a:path w="197484" h="2103754">
                <a:moveTo>
                  <a:pt x="48854" y="1570308"/>
                </a:moveTo>
                <a:lnTo>
                  <a:pt x="42724" y="1575511"/>
                </a:lnTo>
                <a:lnTo>
                  <a:pt x="41575" y="1589518"/>
                </a:lnTo>
                <a:lnTo>
                  <a:pt x="46779" y="1595649"/>
                </a:lnTo>
                <a:lnTo>
                  <a:pt x="60760" y="1596793"/>
                </a:lnTo>
                <a:lnTo>
                  <a:pt x="66892" y="1591590"/>
                </a:lnTo>
                <a:lnTo>
                  <a:pt x="68038" y="1577585"/>
                </a:lnTo>
                <a:lnTo>
                  <a:pt x="62835" y="1571453"/>
                </a:lnTo>
                <a:lnTo>
                  <a:pt x="48854" y="1570308"/>
                </a:lnTo>
                <a:close/>
              </a:path>
              <a:path w="197484" h="2103754">
                <a:moveTo>
                  <a:pt x="44696" y="1620963"/>
                </a:moveTo>
                <a:lnTo>
                  <a:pt x="38566" y="1626166"/>
                </a:lnTo>
                <a:lnTo>
                  <a:pt x="37419" y="1640173"/>
                </a:lnTo>
                <a:lnTo>
                  <a:pt x="42621" y="1646303"/>
                </a:lnTo>
                <a:lnTo>
                  <a:pt x="56602" y="1647449"/>
                </a:lnTo>
                <a:lnTo>
                  <a:pt x="62734" y="1642245"/>
                </a:lnTo>
                <a:lnTo>
                  <a:pt x="63880" y="1628239"/>
                </a:lnTo>
                <a:lnTo>
                  <a:pt x="58677" y="1622108"/>
                </a:lnTo>
                <a:lnTo>
                  <a:pt x="44696" y="1620963"/>
                </a:lnTo>
                <a:close/>
              </a:path>
              <a:path w="197484" h="2103754">
                <a:moveTo>
                  <a:pt x="40539" y="1671618"/>
                </a:moveTo>
                <a:lnTo>
                  <a:pt x="34408" y="1676821"/>
                </a:lnTo>
                <a:lnTo>
                  <a:pt x="33261" y="1690828"/>
                </a:lnTo>
                <a:lnTo>
                  <a:pt x="38464" y="1696958"/>
                </a:lnTo>
                <a:lnTo>
                  <a:pt x="52444" y="1698104"/>
                </a:lnTo>
                <a:lnTo>
                  <a:pt x="58576" y="1692901"/>
                </a:lnTo>
                <a:lnTo>
                  <a:pt x="59723" y="1678894"/>
                </a:lnTo>
                <a:lnTo>
                  <a:pt x="54521" y="1672763"/>
                </a:lnTo>
                <a:lnTo>
                  <a:pt x="40539" y="1671618"/>
                </a:lnTo>
                <a:close/>
              </a:path>
              <a:path w="197484" h="2103754">
                <a:moveTo>
                  <a:pt x="36381" y="1722273"/>
                </a:moveTo>
                <a:lnTo>
                  <a:pt x="30250" y="1727476"/>
                </a:lnTo>
                <a:lnTo>
                  <a:pt x="29103" y="1741482"/>
                </a:lnTo>
                <a:lnTo>
                  <a:pt x="34306" y="1747613"/>
                </a:lnTo>
                <a:lnTo>
                  <a:pt x="48287" y="1748759"/>
                </a:lnTo>
                <a:lnTo>
                  <a:pt x="54418" y="1743556"/>
                </a:lnTo>
                <a:lnTo>
                  <a:pt x="55566" y="1729549"/>
                </a:lnTo>
                <a:lnTo>
                  <a:pt x="50363" y="1723417"/>
                </a:lnTo>
                <a:lnTo>
                  <a:pt x="36381" y="1722273"/>
                </a:lnTo>
                <a:close/>
              </a:path>
              <a:path w="197484" h="2103754">
                <a:moveTo>
                  <a:pt x="32223" y="1772928"/>
                </a:moveTo>
                <a:lnTo>
                  <a:pt x="26092" y="1778130"/>
                </a:lnTo>
                <a:lnTo>
                  <a:pt x="24945" y="1792137"/>
                </a:lnTo>
                <a:lnTo>
                  <a:pt x="30148" y="1798269"/>
                </a:lnTo>
                <a:lnTo>
                  <a:pt x="44129" y="1799413"/>
                </a:lnTo>
                <a:lnTo>
                  <a:pt x="50260" y="1794211"/>
                </a:lnTo>
                <a:lnTo>
                  <a:pt x="51408" y="1780204"/>
                </a:lnTo>
                <a:lnTo>
                  <a:pt x="46205" y="1774073"/>
                </a:lnTo>
                <a:lnTo>
                  <a:pt x="32223" y="1772928"/>
                </a:lnTo>
                <a:close/>
              </a:path>
              <a:path w="197484" h="2103754">
                <a:moveTo>
                  <a:pt x="28065" y="1823582"/>
                </a:moveTo>
                <a:lnTo>
                  <a:pt x="21935" y="1828786"/>
                </a:lnTo>
                <a:lnTo>
                  <a:pt x="20787" y="1842792"/>
                </a:lnTo>
                <a:lnTo>
                  <a:pt x="25990" y="1848924"/>
                </a:lnTo>
                <a:lnTo>
                  <a:pt x="39971" y="1850068"/>
                </a:lnTo>
                <a:lnTo>
                  <a:pt x="46103" y="1844865"/>
                </a:lnTo>
                <a:lnTo>
                  <a:pt x="47250" y="1830859"/>
                </a:lnTo>
                <a:lnTo>
                  <a:pt x="42047" y="1824728"/>
                </a:lnTo>
                <a:lnTo>
                  <a:pt x="28065" y="1823582"/>
                </a:lnTo>
                <a:close/>
              </a:path>
              <a:path w="197484" h="2103754">
                <a:moveTo>
                  <a:pt x="23909" y="1874238"/>
                </a:moveTo>
                <a:lnTo>
                  <a:pt x="17777" y="1879441"/>
                </a:lnTo>
                <a:lnTo>
                  <a:pt x="16630" y="1893448"/>
                </a:lnTo>
                <a:lnTo>
                  <a:pt x="21832" y="1899578"/>
                </a:lnTo>
                <a:lnTo>
                  <a:pt x="35813" y="1900723"/>
                </a:lnTo>
                <a:lnTo>
                  <a:pt x="41945" y="1895520"/>
                </a:lnTo>
                <a:lnTo>
                  <a:pt x="43092" y="1881513"/>
                </a:lnTo>
                <a:lnTo>
                  <a:pt x="37889" y="1875383"/>
                </a:lnTo>
                <a:lnTo>
                  <a:pt x="23909" y="1874238"/>
                </a:lnTo>
                <a:close/>
              </a:path>
              <a:path w="197484" h="2103754">
                <a:moveTo>
                  <a:pt x="19751" y="1924893"/>
                </a:moveTo>
                <a:lnTo>
                  <a:pt x="13619" y="1930096"/>
                </a:lnTo>
                <a:lnTo>
                  <a:pt x="12472" y="1944103"/>
                </a:lnTo>
                <a:lnTo>
                  <a:pt x="17675" y="1950233"/>
                </a:lnTo>
                <a:lnTo>
                  <a:pt x="31656" y="1951379"/>
                </a:lnTo>
                <a:lnTo>
                  <a:pt x="37787" y="1946175"/>
                </a:lnTo>
                <a:lnTo>
                  <a:pt x="38934" y="1932169"/>
                </a:lnTo>
                <a:lnTo>
                  <a:pt x="33732" y="1926038"/>
                </a:lnTo>
                <a:lnTo>
                  <a:pt x="19751" y="1924893"/>
                </a:lnTo>
                <a:close/>
              </a:path>
              <a:path w="197484" h="2103754">
                <a:moveTo>
                  <a:pt x="15593" y="1975548"/>
                </a:moveTo>
                <a:lnTo>
                  <a:pt x="9461" y="1980751"/>
                </a:lnTo>
                <a:lnTo>
                  <a:pt x="8314" y="1994757"/>
                </a:lnTo>
                <a:lnTo>
                  <a:pt x="13517" y="2000888"/>
                </a:lnTo>
                <a:lnTo>
                  <a:pt x="27499" y="2002034"/>
                </a:lnTo>
                <a:lnTo>
                  <a:pt x="33629" y="1996831"/>
                </a:lnTo>
                <a:lnTo>
                  <a:pt x="34777" y="1982824"/>
                </a:lnTo>
                <a:lnTo>
                  <a:pt x="29574" y="1976692"/>
                </a:lnTo>
                <a:lnTo>
                  <a:pt x="15593" y="1975548"/>
                </a:lnTo>
                <a:close/>
              </a:path>
              <a:path w="197484" h="2103754">
                <a:moveTo>
                  <a:pt x="11435" y="2026203"/>
                </a:moveTo>
                <a:lnTo>
                  <a:pt x="5304" y="2031405"/>
                </a:lnTo>
                <a:lnTo>
                  <a:pt x="4156" y="2045412"/>
                </a:lnTo>
                <a:lnTo>
                  <a:pt x="9359" y="2051544"/>
                </a:lnTo>
                <a:lnTo>
                  <a:pt x="23341" y="2052689"/>
                </a:lnTo>
                <a:lnTo>
                  <a:pt x="29472" y="2047486"/>
                </a:lnTo>
                <a:lnTo>
                  <a:pt x="30619" y="2033479"/>
                </a:lnTo>
                <a:lnTo>
                  <a:pt x="25416" y="2027347"/>
                </a:lnTo>
                <a:lnTo>
                  <a:pt x="11435" y="2026203"/>
                </a:lnTo>
                <a:close/>
              </a:path>
              <a:path w="197484" h="2103754">
                <a:moveTo>
                  <a:pt x="7277" y="2076858"/>
                </a:moveTo>
                <a:lnTo>
                  <a:pt x="1146" y="2082060"/>
                </a:lnTo>
                <a:lnTo>
                  <a:pt x="0" y="2096067"/>
                </a:lnTo>
                <a:lnTo>
                  <a:pt x="5201" y="2102199"/>
                </a:lnTo>
                <a:lnTo>
                  <a:pt x="19183" y="2103343"/>
                </a:lnTo>
                <a:lnTo>
                  <a:pt x="25314" y="2098141"/>
                </a:lnTo>
                <a:lnTo>
                  <a:pt x="26461" y="2084134"/>
                </a:lnTo>
                <a:lnTo>
                  <a:pt x="21258" y="2078003"/>
                </a:lnTo>
                <a:lnTo>
                  <a:pt x="7277" y="2076858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430973" y="3255083"/>
            <a:ext cx="883919" cy="1929764"/>
          </a:xfrm>
          <a:custGeom>
            <a:avLst/>
            <a:gdLst/>
            <a:ahLst/>
            <a:cxnLst/>
            <a:rect l="l" t="t" r="r" b="b"/>
            <a:pathLst>
              <a:path w="883920" h="1929764">
                <a:moveTo>
                  <a:pt x="867869" y="0"/>
                </a:moveTo>
                <a:lnTo>
                  <a:pt x="860352" y="2853"/>
                </a:lnTo>
                <a:lnTo>
                  <a:pt x="854589" y="15670"/>
                </a:lnTo>
                <a:lnTo>
                  <a:pt x="857443" y="23188"/>
                </a:lnTo>
                <a:lnTo>
                  <a:pt x="870237" y="28942"/>
                </a:lnTo>
                <a:lnTo>
                  <a:pt x="877755" y="26088"/>
                </a:lnTo>
                <a:lnTo>
                  <a:pt x="883518" y="13270"/>
                </a:lnTo>
                <a:lnTo>
                  <a:pt x="880663" y="5753"/>
                </a:lnTo>
                <a:lnTo>
                  <a:pt x="867869" y="0"/>
                </a:lnTo>
                <a:close/>
              </a:path>
              <a:path w="883920" h="1929764">
                <a:moveTo>
                  <a:pt x="847026" y="46355"/>
                </a:moveTo>
                <a:lnTo>
                  <a:pt x="839509" y="49208"/>
                </a:lnTo>
                <a:lnTo>
                  <a:pt x="833744" y="62025"/>
                </a:lnTo>
                <a:lnTo>
                  <a:pt x="836599" y="69543"/>
                </a:lnTo>
                <a:lnTo>
                  <a:pt x="849393" y="75297"/>
                </a:lnTo>
                <a:lnTo>
                  <a:pt x="856910" y="72442"/>
                </a:lnTo>
                <a:lnTo>
                  <a:pt x="862674" y="59625"/>
                </a:lnTo>
                <a:lnTo>
                  <a:pt x="859820" y="52108"/>
                </a:lnTo>
                <a:lnTo>
                  <a:pt x="847026" y="46355"/>
                </a:lnTo>
                <a:close/>
              </a:path>
              <a:path w="883920" h="1929764">
                <a:moveTo>
                  <a:pt x="826184" y="92708"/>
                </a:moveTo>
                <a:lnTo>
                  <a:pt x="818666" y="95562"/>
                </a:lnTo>
                <a:lnTo>
                  <a:pt x="812901" y="108379"/>
                </a:lnTo>
                <a:lnTo>
                  <a:pt x="815755" y="115897"/>
                </a:lnTo>
                <a:lnTo>
                  <a:pt x="828549" y="121652"/>
                </a:lnTo>
                <a:lnTo>
                  <a:pt x="836066" y="118798"/>
                </a:lnTo>
                <a:lnTo>
                  <a:pt x="841830" y="105981"/>
                </a:lnTo>
                <a:lnTo>
                  <a:pt x="838977" y="98463"/>
                </a:lnTo>
                <a:lnTo>
                  <a:pt x="826184" y="92708"/>
                </a:lnTo>
                <a:close/>
              </a:path>
              <a:path w="883920" h="1929764">
                <a:moveTo>
                  <a:pt x="805338" y="139063"/>
                </a:moveTo>
                <a:lnTo>
                  <a:pt x="797821" y="141918"/>
                </a:lnTo>
                <a:lnTo>
                  <a:pt x="792058" y="154736"/>
                </a:lnTo>
                <a:lnTo>
                  <a:pt x="794912" y="162253"/>
                </a:lnTo>
                <a:lnTo>
                  <a:pt x="807707" y="168005"/>
                </a:lnTo>
                <a:lnTo>
                  <a:pt x="815224" y="165152"/>
                </a:lnTo>
                <a:lnTo>
                  <a:pt x="820987" y="152333"/>
                </a:lnTo>
                <a:lnTo>
                  <a:pt x="818132" y="144816"/>
                </a:lnTo>
                <a:lnTo>
                  <a:pt x="805338" y="139063"/>
                </a:lnTo>
                <a:close/>
              </a:path>
              <a:path w="883920" h="1929764">
                <a:moveTo>
                  <a:pt x="784492" y="185418"/>
                </a:moveTo>
                <a:lnTo>
                  <a:pt x="776975" y="188274"/>
                </a:lnTo>
                <a:lnTo>
                  <a:pt x="771215" y="201093"/>
                </a:lnTo>
                <a:lnTo>
                  <a:pt x="774070" y="208610"/>
                </a:lnTo>
                <a:lnTo>
                  <a:pt x="786865" y="214360"/>
                </a:lnTo>
                <a:lnTo>
                  <a:pt x="794382" y="211505"/>
                </a:lnTo>
                <a:lnTo>
                  <a:pt x="800143" y="198686"/>
                </a:lnTo>
                <a:lnTo>
                  <a:pt x="797288" y="191169"/>
                </a:lnTo>
                <a:lnTo>
                  <a:pt x="784492" y="185418"/>
                </a:lnTo>
                <a:close/>
              </a:path>
              <a:path w="883920" h="1929764">
                <a:moveTo>
                  <a:pt x="763649" y="231773"/>
                </a:moveTo>
                <a:lnTo>
                  <a:pt x="756132" y="234629"/>
                </a:lnTo>
                <a:lnTo>
                  <a:pt x="750371" y="247448"/>
                </a:lnTo>
                <a:lnTo>
                  <a:pt x="753226" y="254965"/>
                </a:lnTo>
                <a:lnTo>
                  <a:pt x="766022" y="260715"/>
                </a:lnTo>
                <a:lnTo>
                  <a:pt x="773539" y="257859"/>
                </a:lnTo>
                <a:lnTo>
                  <a:pt x="779299" y="245041"/>
                </a:lnTo>
                <a:lnTo>
                  <a:pt x="776444" y="237524"/>
                </a:lnTo>
                <a:lnTo>
                  <a:pt x="763649" y="231773"/>
                </a:lnTo>
                <a:close/>
              </a:path>
              <a:path w="883920" h="1929764">
                <a:moveTo>
                  <a:pt x="742809" y="278128"/>
                </a:moveTo>
                <a:lnTo>
                  <a:pt x="735291" y="280982"/>
                </a:lnTo>
                <a:lnTo>
                  <a:pt x="729527" y="293799"/>
                </a:lnTo>
                <a:lnTo>
                  <a:pt x="732381" y="301316"/>
                </a:lnTo>
                <a:lnTo>
                  <a:pt x="745175" y="307070"/>
                </a:lnTo>
                <a:lnTo>
                  <a:pt x="752692" y="304217"/>
                </a:lnTo>
                <a:lnTo>
                  <a:pt x="758456" y="291400"/>
                </a:lnTo>
                <a:lnTo>
                  <a:pt x="755603" y="283881"/>
                </a:lnTo>
                <a:lnTo>
                  <a:pt x="742809" y="278128"/>
                </a:lnTo>
                <a:close/>
              </a:path>
              <a:path w="883920" h="1929764">
                <a:moveTo>
                  <a:pt x="721969" y="324482"/>
                </a:moveTo>
                <a:lnTo>
                  <a:pt x="714451" y="327334"/>
                </a:lnTo>
                <a:lnTo>
                  <a:pt x="708682" y="340149"/>
                </a:lnTo>
                <a:lnTo>
                  <a:pt x="711535" y="347668"/>
                </a:lnTo>
                <a:lnTo>
                  <a:pt x="724326" y="353425"/>
                </a:lnTo>
                <a:lnTo>
                  <a:pt x="731845" y="350574"/>
                </a:lnTo>
                <a:lnTo>
                  <a:pt x="737613" y="337759"/>
                </a:lnTo>
                <a:lnTo>
                  <a:pt x="734762" y="330240"/>
                </a:lnTo>
                <a:lnTo>
                  <a:pt x="721969" y="324482"/>
                </a:lnTo>
                <a:close/>
              </a:path>
              <a:path w="883920" h="1929764">
                <a:moveTo>
                  <a:pt x="701126" y="370837"/>
                </a:moveTo>
                <a:lnTo>
                  <a:pt x="693607" y="373688"/>
                </a:lnTo>
                <a:lnTo>
                  <a:pt x="687839" y="386504"/>
                </a:lnTo>
                <a:lnTo>
                  <a:pt x="690690" y="394022"/>
                </a:lnTo>
                <a:lnTo>
                  <a:pt x="703483" y="399780"/>
                </a:lnTo>
                <a:lnTo>
                  <a:pt x="711001" y="396929"/>
                </a:lnTo>
                <a:lnTo>
                  <a:pt x="716770" y="384114"/>
                </a:lnTo>
                <a:lnTo>
                  <a:pt x="713919" y="376595"/>
                </a:lnTo>
                <a:lnTo>
                  <a:pt x="701126" y="370837"/>
                </a:lnTo>
                <a:close/>
              </a:path>
              <a:path w="883920" h="1929764">
                <a:moveTo>
                  <a:pt x="680283" y="417192"/>
                </a:moveTo>
                <a:lnTo>
                  <a:pt x="672763" y="420043"/>
                </a:lnTo>
                <a:lnTo>
                  <a:pt x="666996" y="432859"/>
                </a:lnTo>
                <a:lnTo>
                  <a:pt x="669847" y="440377"/>
                </a:lnTo>
                <a:lnTo>
                  <a:pt x="682640" y="446135"/>
                </a:lnTo>
                <a:lnTo>
                  <a:pt x="690158" y="443283"/>
                </a:lnTo>
                <a:lnTo>
                  <a:pt x="695925" y="430469"/>
                </a:lnTo>
                <a:lnTo>
                  <a:pt x="693074" y="422949"/>
                </a:lnTo>
                <a:lnTo>
                  <a:pt x="680283" y="417192"/>
                </a:lnTo>
                <a:close/>
              </a:path>
              <a:path w="883920" h="1929764">
                <a:moveTo>
                  <a:pt x="659438" y="463547"/>
                </a:moveTo>
                <a:lnTo>
                  <a:pt x="651920" y="466398"/>
                </a:lnTo>
                <a:lnTo>
                  <a:pt x="646153" y="479214"/>
                </a:lnTo>
                <a:lnTo>
                  <a:pt x="649004" y="486732"/>
                </a:lnTo>
                <a:lnTo>
                  <a:pt x="661795" y="492489"/>
                </a:lnTo>
                <a:lnTo>
                  <a:pt x="669315" y="489638"/>
                </a:lnTo>
                <a:lnTo>
                  <a:pt x="675082" y="476822"/>
                </a:lnTo>
                <a:lnTo>
                  <a:pt x="672231" y="469304"/>
                </a:lnTo>
                <a:lnTo>
                  <a:pt x="659438" y="463547"/>
                </a:lnTo>
                <a:close/>
              </a:path>
              <a:path w="883920" h="1929764">
                <a:moveTo>
                  <a:pt x="638595" y="509902"/>
                </a:moveTo>
                <a:lnTo>
                  <a:pt x="631076" y="512753"/>
                </a:lnTo>
                <a:lnTo>
                  <a:pt x="625308" y="525569"/>
                </a:lnTo>
                <a:lnTo>
                  <a:pt x="628161" y="533087"/>
                </a:lnTo>
                <a:lnTo>
                  <a:pt x="640952" y="538844"/>
                </a:lnTo>
                <a:lnTo>
                  <a:pt x="648470" y="535993"/>
                </a:lnTo>
                <a:lnTo>
                  <a:pt x="654239" y="523177"/>
                </a:lnTo>
                <a:lnTo>
                  <a:pt x="651388" y="515659"/>
                </a:lnTo>
                <a:lnTo>
                  <a:pt x="638595" y="509902"/>
                </a:lnTo>
                <a:close/>
              </a:path>
              <a:path w="883920" h="1929764">
                <a:moveTo>
                  <a:pt x="617744" y="556257"/>
                </a:moveTo>
                <a:lnTo>
                  <a:pt x="610227" y="559112"/>
                </a:lnTo>
                <a:lnTo>
                  <a:pt x="604466" y="571930"/>
                </a:lnTo>
                <a:lnTo>
                  <a:pt x="607321" y="579447"/>
                </a:lnTo>
                <a:lnTo>
                  <a:pt x="620116" y="585199"/>
                </a:lnTo>
                <a:lnTo>
                  <a:pt x="627633" y="582343"/>
                </a:lnTo>
                <a:lnTo>
                  <a:pt x="633394" y="569525"/>
                </a:lnTo>
                <a:lnTo>
                  <a:pt x="630539" y="562008"/>
                </a:lnTo>
                <a:lnTo>
                  <a:pt x="617744" y="556257"/>
                </a:lnTo>
                <a:close/>
              </a:path>
              <a:path w="883920" h="1929764">
                <a:moveTo>
                  <a:pt x="596892" y="602612"/>
                </a:moveTo>
                <a:lnTo>
                  <a:pt x="589377" y="605472"/>
                </a:lnTo>
                <a:lnTo>
                  <a:pt x="583623" y="618294"/>
                </a:lnTo>
                <a:lnTo>
                  <a:pt x="586482" y="625809"/>
                </a:lnTo>
                <a:lnTo>
                  <a:pt x="599281" y="631553"/>
                </a:lnTo>
                <a:lnTo>
                  <a:pt x="606797" y="628693"/>
                </a:lnTo>
                <a:lnTo>
                  <a:pt x="612550" y="615872"/>
                </a:lnTo>
                <a:lnTo>
                  <a:pt x="609691" y="608356"/>
                </a:lnTo>
                <a:lnTo>
                  <a:pt x="596892" y="602612"/>
                </a:lnTo>
                <a:close/>
              </a:path>
              <a:path w="883920" h="1929764">
                <a:moveTo>
                  <a:pt x="576049" y="648967"/>
                </a:moveTo>
                <a:lnTo>
                  <a:pt x="568533" y="651827"/>
                </a:lnTo>
                <a:lnTo>
                  <a:pt x="562780" y="664648"/>
                </a:lnTo>
                <a:lnTo>
                  <a:pt x="565638" y="672164"/>
                </a:lnTo>
                <a:lnTo>
                  <a:pt x="578436" y="677908"/>
                </a:lnTo>
                <a:lnTo>
                  <a:pt x="585952" y="675048"/>
                </a:lnTo>
                <a:lnTo>
                  <a:pt x="591706" y="662227"/>
                </a:lnTo>
                <a:lnTo>
                  <a:pt x="588848" y="654711"/>
                </a:lnTo>
                <a:lnTo>
                  <a:pt x="576049" y="648967"/>
                </a:lnTo>
                <a:close/>
              </a:path>
              <a:path w="883920" h="1929764">
                <a:moveTo>
                  <a:pt x="555205" y="695322"/>
                </a:moveTo>
                <a:lnTo>
                  <a:pt x="547690" y="698182"/>
                </a:lnTo>
                <a:lnTo>
                  <a:pt x="541935" y="711003"/>
                </a:lnTo>
                <a:lnTo>
                  <a:pt x="544795" y="718519"/>
                </a:lnTo>
                <a:lnTo>
                  <a:pt x="557593" y="724263"/>
                </a:lnTo>
                <a:lnTo>
                  <a:pt x="565109" y="721403"/>
                </a:lnTo>
                <a:lnTo>
                  <a:pt x="570863" y="708581"/>
                </a:lnTo>
                <a:lnTo>
                  <a:pt x="568003" y="701066"/>
                </a:lnTo>
                <a:lnTo>
                  <a:pt x="555205" y="695322"/>
                </a:lnTo>
                <a:close/>
              </a:path>
              <a:path w="883920" h="1929764">
                <a:moveTo>
                  <a:pt x="534362" y="741677"/>
                </a:moveTo>
                <a:lnTo>
                  <a:pt x="526846" y="744536"/>
                </a:lnTo>
                <a:lnTo>
                  <a:pt x="521092" y="757358"/>
                </a:lnTo>
                <a:lnTo>
                  <a:pt x="523952" y="764874"/>
                </a:lnTo>
                <a:lnTo>
                  <a:pt x="536750" y="770616"/>
                </a:lnTo>
                <a:lnTo>
                  <a:pt x="544266" y="767758"/>
                </a:lnTo>
                <a:lnTo>
                  <a:pt x="550020" y="754936"/>
                </a:lnTo>
                <a:lnTo>
                  <a:pt x="547160" y="747421"/>
                </a:lnTo>
                <a:lnTo>
                  <a:pt x="534362" y="741677"/>
                </a:lnTo>
                <a:close/>
              </a:path>
              <a:path w="883920" h="1929764">
                <a:moveTo>
                  <a:pt x="513518" y="788032"/>
                </a:moveTo>
                <a:lnTo>
                  <a:pt x="506003" y="790891"/>
                </a:lnTo>
                <a:lnTo>
                  <a:pt x="500249" y="803713"/>
                </a:lnTo>
                <a:lnTo>
                  <a:pt x="503107" y="811229"/>
                </a:lnTo>
                <a:lnTo>
                  <a:pt x="515907" y="816971"/>
                </a:lnTo>
                <a:lnTo>
                  <a:pt x="523422" y="814113"/>
                </a:lnTo>
                <a:lnTo>
                  <a:pt x="529175" y="801291"/>
                </a:lnTo>
                <a:lnTo>
                  <a:pt x="526317" y="793775"/>
                </a:lnTo>
                <a:lnTo>
                  <a:pt x="513518" y="788032"/>
                </a:lnTo>
                <a:close/>
              </a:path>
              <a:path w="883920" h="1929764">
                <a:moveTo>
                  <a:pt x="492674" y="834387"/>
                </a:moveTo>
                <a:lnTo>
                  <a:pt x="485159" y="837246"/>
                </a:lnTo>
                <a:lnTo>
                  <a:pt x="479405" y="850068"/>
                </a:lnTo>
                <a:lnTo>
                  <a:pt x="482264" y="857584"/>
                </a:lnTo>
                <a:lnTo>
                  <a:pt x="495062" y="863326"/>
                </a:lnTo>
                <a:lnTo>
                  <a:pt x="502578" y="860468"/>
                </a:lnTo>
                <a:lnTo>
                  <a:pt x="508332" y="847646"/>
                </a:lnTo>
                <a:lnTo>
                  <a:pt x="505473" y="840130"/>
                </a:lnTo>
                <a:lnTo>
                  <a:pt x="492674" y="834387"/>
                </a:lnTo>
                <a:close/>
              </a:path>
              <a:path w="883920" h="1929764">
                <a:moveTo>
                  <a:pt x="471831" y="880741"/>
                </a:moveTo>
                <a:lnTo>
                  <a:pt x="464315" y="883601"/>
                </a:lnTo>
                <a:lnTo>
                  <a:pt x="458561" y="896423"/>
                </a:lnTo>
                <a:lnTo>
                  <a:pt x="461421" y="903937"/>
                </a:lnTo>
                <a:lnTo>
                  <a:pt x="474219" y="909681"/>
                </a:lnTo>
                <a:lnTo>
                  <a:pt x="481735" y="906823"/>
                </a:lnTo>
                <a:lnTo>
                  <a:pt x="487489" y="894001"/>
                </a:lnTo>
                <a:lnTo>
                  <a:pt x="484629" y="886485"/>
                </a:lnTo>
                <a:lnTo>
                  <a:pt x="471831" y="880741"/>
                </a:lnTo>
                <a:close/>
              </a:path>
              <a:path w="883920" h="1929764">
                <a:moveTo>
                  <a:pt x="450988" y="927096"/>
                </a:moveTo>
                <a:lnTo>
                  <a:pt x="443472" y="929956"/>
                </a:lnTo>
                <a:lnTo>
                  <a:pt x="437718" y="942776"/>
                </a:lnTo>
                <a:lnTo>
                  <a:pt x="440578" y="950292"/>
                </a:lnTo>
                <a:lnTo>
                  <a:pt x="453376" y="956036"/>
                </a:lnTo>
                <a:lnTo>
                  <a:pt x="460891" y="953176"/>
                </a:lnTo>
                <a:lnTo>
                  <a:pt x="466646" y="940356"/>
                </a:lnTo>
                <a:lnTo>
                  <a:pt x="463786" y="932840"/>
                </a:lnTo>
                <a:lnTo>
                  <a:pt x="450988" y="927096"/>
                </a:lnTo>
                <a:close/>
              </a:path>
              <a:path w="883920" h="1929764">
                <a:moveTo>
                  <a:pt x="430143" y="973451"/>
                </a:moveTo>
                <a:lnTo>
                  <a:pt x="422629" y="976311"/>
                </a:lnTo>
                <a:lnTo>
                  <a:pt x="416874" y="989131"/>
                </a:lnTo>
                <a:lnTo>
                  <a:pt x="419733" y="996647"/>
                </a:lnTo>
                <a:lnTo>
                  <a:pt x="432532" y="1002391"/>
                </a:lnTo>
                <a:lnTo>
                  <a:pt x="440048" y="999531"/>
                </a:lnTo>
                <a:lnTo>
                  <a:pt x="445801" y="986711"/>
                </a:lnTo>
                <a:lnTo>
                  <a:pt x="442942" y="979195"/>
                </a:lnTo>
                <a:lnTo>
                  <a:pt x="430143" y="973451"/>
                </a:lnTo>
                <a:close/>
              </a:path>
              <a:path w="883920" h="1929764">
                <a:moveTo>
                  <a:pt x="409300" y="1019806"/>
                </a:moveTo>
                <a:lnTo>
                  <a:pt x="401784" y="1022666"/>
                </a:lnTo>
                <a:lnTo>
                  <a:pt x="396031" y="1035486"/>
                </a:lnTo>
                <a:lnTo>
                  <a:pt x="398890" y="1043002"/>
                </a:lnTo>
                <a:lnTo>
                  <a:pt x="411688" y="1048746"/>
                </a:lnTo>
                <a:lnTo>
                  <a:pt x="419204" y="1045886"/>
                </a:lnTo>
                <a:lnTo>
                  <a:pt x="424958" y="1033064"/>
                </a:lnTo>
                <a:lnTo>
                  <a:pt x="422099" y="1025550"/>
                </a:lnTo>
                <a:lnTo>
                  <a:pt x="409300" y="1019806"/>
                </a:lnTo>
                <a:close/>
              </a:path>
              <a:path w="883920" h="1929764">
                <a:moveTo>
                  <a:pt x="388471" y="1066159"/>
                </a:moveTo>
                <a:lnTo>
                  <a:pt x="380953" y="1069011"/>
                </a:lnTo>
                <a:lnTo>
                  <a:pt x="375185" y="1081826"/>
                </a:lnTo>
                <a:lnTo>
                  <a:pt x="378038" y="1089346"/>
                </a:lnTo>
                <a:lnTo>
                  <a:pt x="390831" y="1095101"/>
                </a:lnTo>
                <a:lnTo>
                  <a:pt x="398349" y="1092250"/>
                </a:lnTo>
                <a:lnTo>
                  <a:pt x="404116" y="1079435"/>
                </a:lnTo>
                <a:lnTo>
                  <a:pt x="401264" y="1071916"/>
                </a:lnTo>
                <a:lnTo>
                  <a:pt x="388471" y="1066159"/>
                </a:lnTo>
                <a:close/>
              </a:path>
              <a:path w="883920" h="1929764">
                <a:moveTo>
                  <a:pt x="367628" y="1112514"/>
                </a:moveTo>
                <a:lnTo>
                  <a:pt x="360109" y="1115366"/>
                </a:lnTo>
                <a:lnTo>
                  <a:pt x="354342" y="1128181"/>
                </a:lnTo>
                <a:lnTo>
                  <a:pt x="357195" y="1135700"/>
                </a:lnTo>
                <a:lnTo>
                  <a:pt x="369986" y="1141456"/>
                </a:lnTo>
                <a:lnTo>
                  <a:pt x="377506" y="1138605"/>
                </a:lnTo>
                <a:lnTo>
                  <a:pt x="383273" y="1125788"/>
                </a:lnTo>
                <a:lnTo>
                  <a:pt x="380420" y="1118270"/>
                </a:lnTo>
                <a:lnTo>
                  <a:pt x="367628" y="1112514"/>
                </a:lnTo>
                <a:close/>
              </a:path>
              <a:path w="883920" h="1929764">
                <a:moveTo>
                  <a:pt x="346784" y="1158868"/>
                </a:moveTo>
                <a:lnTo>
                  <a:pt x="339266" y="1161721"/>
                </a:lnTo>
                <a:lnTo>
                  <a:pt x="333499" y="1174536"/>
                </a:lnTo>
                <a:lnTo>
                  <a:pt x="336350" y="1182055"/>
                </a:lnTo>
                <a:lnTo>
                  <a:pt x="349143" y="1187811"/>
                </a:lnTo>
                <a:lnTo>
                  <a:pt x="356661" y="1184959"/>
                </a:lnTo>
                <a:lnTo>
                  <a:pt x="362428" y="1172143"/>
                </a:lnTo>
                <a:lnTo>
                  <a:pt x="359577" y="1164625"/>
                </a:lnTo>
                <a:lnTo>
                  <a:pt x="346784" y="1158868"/>
                </a:lnTo>
                <a:close/>
              </a:path>
              <a:path w="883920" h="1929764">
                <a:moveTo>
                  <a:pt x="325956" y="1205222"/>
                </a:moveTo>
                <a:lnTo>
                  <a:pt x="318435" y="1208065"/>
                </a:lnTo>
                <a:lnTo>
                  <a:pt x="312654" y="1220875"/>
                </a:lnTo>
                <a:lnTo>
                  <a:pt x="315497" y="1228397"/>
                </a:lnTo>
                <a:lnTo>
                  <a:pt x="328283" y="1234168"/>
                </a:lnTo>
                <a:lnTo>
                  <a:pt x="335805" y="1231324"/>
                </a:lnTo>
                <a:lnTo>
                  <a:pt x="341586" y="1218515"/>
                </a:lnTo>
                <a:lnTo>
                  <a:pt x="338743" y="1210993"/>
                </a:lnTo>
                <a:lnTo>
                  <a:pt x="325956" y="1205222"/>
                </a:lnTo>
                <a:close/>
              </a:path>
              <a:path w="883920" h="1929764">
                <a:moveTo>
                  <a:pt x="305113" y="1251577"/>
                </a:moveTo>
                <a:lnTo>
                  <a:pt x="297591" y="1254420"/>
                </a:lnTo>
                <a:lnTo>
                  <a:pt x="291810" y="1267230"/>
                </a:lnTo>
                <a:lnTo>
                  <a:pt x="294653" y="1274751"/>
                </a:lnTo>
                <a:lnTo>
                  <a:pt x="307440" y="1280521"/>
                </a:lnTo>
                <a:lnTo>
                  <a:pt x="314961" y="1277679"/>
                </a:lnTo>
                <a:lnTo>
                  <a:pt x="320743" y="1264870"/>
                </a:lnTo>
                <a:lnTo>
                  <a:pt x="317900" y="1257348"/>
                </a:lnTo>
                <a:lnTo>
                  <a:pt x="305113" y="1251577"/>
                </a:lnTo>
                <a:close/>
              </a:path>
              <a:path w="883920" h="1929764">
                <a:moveTo>
                  <a:pt x="284270" y="1297932"/>
                </a:moveTo>
                <a:lnTo>
                  <a:pt x="276748" y="1300775"/>
                </a:lnTo>
                <a:lnTo>
                  <a:pt x="270967" y="1313585"/>
                </a:lnTo>
                <a:lnTo>
                  <a:pt x="273810" y="1321106"/>
                </a:lnTo>
                <a:lnTo>
                  <a:pt x="286597" y="1326876"/>
                </a:lnTo>
                <a:lnTo>
                  <a:pt x="294118" y="1324033"/>
                </a:lnTo>
                <a:lnTo>
                  <a:pt x="299899" y="1311224"/>
                </a:lnTo>
                <a:lnTo>
                  <a:pt x="297055" y="1303703"/>
                </a:lnTo>
                <a:lnTo>
                  <a:pt x="284270" y="1297932"/>
                </a:lnTo>
                <a:close/>
              </a:path>
              <a:path w="883920" h="1929764">
                <a:moveTo>
                  <a:pt x="263425" y="1344287"/>
                </a:moveTo>
                <a:lnTo>
                  <a:pt x="255904" y="1347130"/>
                </a:lnTo>
                <a:lnTo>
                  <a:pt x="250123" y="1359938"/>
                </a:lnTo>
                <a:lnTo>
                  <a:pt x="252967" y="1367461"/>
                </a:lnTo>
                <a:lnTo>
                  <a:pt x="265752" y="1373231"/>
                </a:lnTo>
                <a:lnTo>
                  <a:pt x="273274" y="1370388"/>
                </a:lnTo>
                <a:lnTo>
                  <a:pt x="279055" y="1357579"/>
                </a:lnTo>
                <a:lnTo>
                  <a:pt x="276212" y="1350058"/>
                </a:lnTo>
                <a:lnTo>
                  <a:pt x="263425" y="1344287"/>
                </a:lnTo>
                <a:close/>
              </a:path>
              <a:path w="883920" h="1929764">
                <a:moveTo>
                  <a:pt x="242582" y="1390641"/>
                </a:moveTo>
                <a:lnTo>
                  <a:pt x="235061" y="1393484"/>
                </a:lnTo>
                <a:lnTo>
                  <a:pt x="229279" y="1406293"/>
                </a:lnTo>
                <a:lnTo>
                  <a:pt x="232122" y="1413816"/>
                </a:lnTo>
                <a:lnTo>
                  <a:pt x="244909" y="1419586"/>
                </a:lnTo>
                <a:lnTo>
                  <a:pt x="252431" y="1416743"/>
                </a:lnTo>
                <a:lnTo>
                  <a:pt x="258212" y="1403934"/>
                </a:lnTo>
                <a:lnTo>
                  <a:pt x="255369" y="1396413"/>
                </a:lnTo>
                <a:lnTo>
                  <a:pt x="242582" y="1390641"/>
                </a:lnTo>
                <a:close/>
              </a:path>
              <a:path w="883920" h="1929764">
                <a:moveTo>
                  <a:pt x="221739" y="1436996"/>
                </a:moveTo>
                <a:lnTo>
                  <a:pt x="214217" y="1439839"/>
                </a:lnTo>
                <a:lnTo>
                  <a:pt x="208436" y="1452648"/>
                </a:lnTo>
                <a:lnTo>
                  <a:pt x="211279" y="1460171"/>
                </a:lnTo>
                <a:lnTo>
                  <a:pt x="224066" y="1465941"/>
                </a:lnTo>
                <a:lnTo>
                  <a:pt x="231587" y="1463098"/>
                </a:lnTo>
                <a:lnTo>
                  <a:pt x="237369" y="1450289"/>
                </a:lnTo>
                <a:lnTo>
                  <a:pt x="234525" y="1442766"/>
                </a:lnTo>
                <a:lnTo>
                  <a:pt x="221739" y="1436996"/>
                </a:lnTo>
                <a:close/>
              </a:path>
              <a:path w="883920" h="1929764">
                <a:moveTo>
                  <a:pt x="200896" y="1483351"/>
                </a:moveTo>
                <a:lnTo>
                  <a:pt x="193374" y="1486194"/>
                </a:lnTo>
                <a:lnTo>
                  <a:pt x="187592" y="1499003"/>
                </a:lnTo>
                <a:lnTo>
                  <a:pt x="190436" y="1506524"/>
                </a:lnTo>
                <a:lnTo>
                  <a:pt x="203221" y="1512295"/>
                </a:lnTo>
                <a:lnTo>
                  <a:pt x="210743" y="1509453"/>
                </a:lnTo>
                <a:lnTo>
                  <a:pt x="216524" y="1496644"/>
                </a:lnTo>
                <a:lnTo>
                  <a:pt x="213681" y="1489121"/>
                </a:lnTo>
                <a:lnTo>
                  <a:pt x="200896" y="1483351"/>
                </a:lnTo>
                <a:close/>
              </a:path>
              <a:path w="883920" h="1929764">
                <a:moveTo>
                  <a:pt x="180051" y="1529706"/>
                </a:moveTo>
                <a:lnTo>
                  <a:pt x="172530" y="1532549"/>
                </a:lnTo>
                <a:lnTo>
                  <a:pt x="166749" y="1545358"/>
                </a:lnTo>
                <a:lnTo>
                  <a:pt x="169591" y="1552879"/>
                </a:lnTo>
                <a:lnTo>
                  <a:pt x="182378" y="1558650"/>
                </a:lnTo>
                <a:lnTo>
                  <a:pt x="189900" y="1555807"/>
                </a:lnTo>
                <a:lnTo>
                  <a:pt x="195681" y="1542997"/>
                </a:lnTo>
                <a:lnTo>
                  <a:pt x="192838" y="1535476"/>
                </a:lnTo>
                <a:lnTo>
                  <a:pt x="180051" y="1529706"/>
                </a:lnTo>
                <a:close/>
              </a:path>
              <a:path w="883920" h="1929764">
                <a:moveTo>
                  <a:pt x="159208" y="1576061"/>
                </a:moveTo>
                <a:lnTo>
                  <a:pt x="151687" y="1578904"/>
                </a:lnTo>
                <a:lnTo>
                  <a:pt x="145905" y="1591712"/>
                </a:lnTo>
                <a:lnTo>
                  <a:pt x="148748" y="1599234"/>
                </a:lnTo>
                <a:lnTo>
                  <a:pt x="161535" y="1605005"/>
                </a:lnTo>
                <a:lnTo>
                  <a:pt x="169056" y="1602162"/>
                </a:lnTo>
                <a:lnTo>
                  <a:pt x="174838" y="1589352"/>
                </a:lnTo>
                <a:lnTo>
                  <a:pt x="171994" y="1581831"/>
                </a:lnTo>
                <a:lnTo>
                  <a:pt x="159208" y="1576061"/>
                </a:lnTo>
                <a:close/>
              </a:path>
              <a:path w="883920" h="1929764">
                <a:moveTo>
                  <a:pt x="138365" y="1622414"/>
                </a:moveTo>
                <a:lnTo>
                  <a:pt x="130843" y="1625258"/>
                </a:lnTo>
                <a:lnTo>
                  <a:pt x="125061" y="1638067"/>
                </a:lnTo>
                <a:lnTo>
                  <a:pt x="127905" y="1645589"/>
                </a:lnTo>
                <a:lnTo>
                  <a:pt x="140691" y="1651360"/>
                </a:lnTo>
                <a:lnTo>
                  <a:pt x="148212" y="1648517"/>
                </a:lnTo>
                <a:lnTo>
                  <a:pt x="153995" y="1635707"/>
                </a:lnTo>
                <a:lnTo>
                  <a:pt x="151151" y="1628186"/>
                </a:lnTo>
                <a:lnTo>
                  <a:pt x="138365" y="1622414"/>
                </a:lnTo>
                <a:close/>
              </a:path>
              <a:path w="883920" h="1929764">
                <a:moveTo>
                  <a:pt x="117521" y="1668769"/>
                </a:moveTo>
                <a:lnTo>
                  <a:pt x="109999" y="1671613"/>
                </a:lnTo>
                <a:lnTo>
                  <a:pt x="104218" y="1684422"/>
                </a:lnTo>
                <a:lnTo>
                  <a:pt x="107062" y="1691944"/>
                </a:lnTo>
                <a:lnTo>
                  <a:pt x="119847" y="1697715"/>
                </a:lnTo>
                <a:lnTo>
                  <a:pt x="127369" y="1694872"/>
                </a:lnTo>
                <a:lnTo>
                  <a:pt x="133150" y="1682062"/>
                </a:lnTo>
                <a:lnTo>
                  <a:pt x="130307" y="1674540"/>
                </a:lnTo>
                <a:lnTo>
                  <a:pt x="117521" y="1668769"/>
                </a:lnTo>
                <a:close/>
              </a:path>
              <a:path w="883920" h="1929764">
                <a:moveTo>
                  <a:pt x="96677" y="1715124"/>
                </a:moveTo>
                <a:lnTo>
                  <a:pt x="89156" y="1717968"/>
                </a:lnTo>
                <a:lnTo>
                  <a:pt x="83375" y="1730777"/>
                </a:lnTo>
                <a:lnTo>
                  <a:pt x="86217" y="1738298"/>
                </a:lnTo>
                <a:lnTo>
                  <a:pt x="99004" y="1744069"/>
                </a:lnTo>
                <a:lnTo>
                  <a:pt x="106526" y="1741227"/>
                </a:lnTo>
                <a:lnTo>
                  <a:pt x="112307" y="1728417"/>
                </a:lnTo>
                <a:lnTo>
                  <a:pt x="109463" y="1720895"/>
                </a:lnTo>
                <a:lnTo>
                  <a:pt x="96677" y="1715124"/>
                </a:lnTo>
                <a:close/>
              </a:path>
              <a:path w="883920" h="1929764">
                <a:moveTo>
                  <a:pt x="75834" y="1761479"/>
                </a:moveTo>
                <a:lnTo>
                  <a:pt x="68313" y="1764323"/>
                </a:lnTo>
                <a:lnTo>
                  <a:pt x="62530" y="1777132"/>
                </a:lnTo>
                <a:lnTo>
                  <a:pt x="65374" y="1784653"/>
                </a:lnTo>
                <a:lnTo>
                  <a:pt x="78160" y="1790424"/>
                </a:lnTo>
                <a:lnTo>
                  <a:pt x="85681" y="1787580"/>
                </a:lnTo>
                <a:lnTo>
                  <a:pt x="91464" y="1774771"/>
                </a:lnTo>
                <a:lnTo>
                  <a:pt x="88620" y="1767250"/>
                </a:lnTo>
                <a:lnTo>
                  <a:pt x="75834" y="1761479"/>
                </a:lnTo>
                <a:close/>
              </a:path>
              <a:path w="883920" h="1929764">
                <a:moveTo>
                  <a:pt x="54991" y="1807834"/>
                </a:moveTo>
                <a:lnTo>
                  <a:pt x="47468" y="1810678"/>
                </a:lnTo>
                <a:lnTo>
                  <a:pt x="41687" y="1823486"/>
                </a:lnTo>
                <a:lnTo>
                  <a:pt x="44531" y="1831008"/>
                </a:lnTo>
                <a:lnTo>
                  <a:pt x="57317" y="1836779"/>
                </a:lnTo>
                <a:lnTo>
                  <a:pt x="64838" y="1833935"/>
                </a:lnTo>
                <a:lnTo>
                  <a:pt x="70619" y="1821126"/>
                </a:lnTo>
                <a:lnTo>
                  <a:pt x="67777" y="1813605"/>
                </a:lnTo>
                <a:lnTo>
                  <a:pt x="54991" y="1807834"/>
                </a:lnTo>
                <a:close/>
              </a:path>
              <a:path w="883920" h="1929764">
                <a:moveTo>
                  <a:pt x="34147" y="1854188"/>
                </a:moveTo>
                <a:lnTo>
                  <a:pt x="26625" y="1857032"/>
                </a:lnTo>
                <a:lnTo>
                  <a:pt x="20844" y="1869841"/>
                </a:lnTo>
                <a:lnTo>
                  <a:pt x="23688" y="1877363"/>
                </a:lnTo>
                <a:lnTo>
                  <a:pt x="36473" y="1883134"/>
                </a:lnTo>
                <a:lnTo>
                  <a:pt x="43995" y="1880290"/>
                </a:lnTo>
                <a:lnTo>
                  <a:pt x="49776" y="1867481"/>
                </a:lnTo>
                <a:lnTo>
                  <a:pt x="46932" y="1859960"/>
                </a:lnTo>
                <a:lnTo>
                  <a:pt x="34147" y="1854188"/>
                </a:lnTo>
                <a:close/>
              </a:path>
              <a:path w="883920" h="1929764">
                <a:moveTo>
                  <a:pt x="13303" y="1900543"/>
                </a:moveTo>
                <a:lnTo>
                  <a:pt x="5782" y="1903387"/>
                </a:lnTo>
                <a:lnTo>
                  <a:pt x="0" y="1916196"/>
                </a:lnTo>
                <a:lnTo>
                  <a:pt x="2843" y="1923718"/>
                </a:lnTo>
                <a:lnTo>
                  <a:pt x="15629" y="1929489"/>
                </a:lnTo>
                <a:lnTo>
                  <a:pt x="23152" y="1926645"/>
                </a:lnTo>
                <a:lnTo>
                  <a:pt x="28933" y="1913836"/>
                </a:lnTo>
                <a:lnTo>
                  <a:pt x="26089" y="1906314"/>
                </a:lnTo>
                <a:lnTo>
                  <a:pt x="13303" y="1900543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055940" y="2830067"/>
            <a:ext cx="115824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0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virtual  node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4340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219900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6BB76D"/>
                </a:solidFill>
              </a:rPr>
              <a:t>Previously: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5286755"/>
            <a:ext cx="6790055" cy="94297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332740" marR="5080" indent="-320040">
              <a:lnSpc>
                <a:spcPts val="3379"/>
              </a:lnSpc>
              <a:spcBef>
                <a:spcPts val="59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New idea: </a:t>
            </a:r>
            <a:r>
              <a:rPr dirty="0" sz="3200" spc="-5">
                <a:latin typeface="Calibri"/>
                <a:cs typeface="Calibri"/>
              </a:rPr>
              <a:t>(Randomly) sample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35">
                <a:latin typeface="Calibri"/>
                <a:cs typeface="Calibri"/>
              </a:rPr>
              <a:t>node’s  </a:t>
            </a:r>
            <a:r>
              <a:rPr dirty="0" sz="3200" spc="-5">
                <a:latin typeface="Calibri"/>
                <a:cs typeface="Calibri"/>
              </a:rPr>
              <a:t>neighborhood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 spc="-10">
                <a:latin typeface="Calibri"/>
                <a:cs typeface="Calibri"/>
              </a:rPr>
              <a:t>message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passing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23947" y="3844873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 h="0">
                <a:moveTo>
                  <a:pt x="0" y="0"/>
                </a:moveTo>
                <a:lnTo>
                  <a:pt x="45713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31827" y="3793458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4"/>
                </a:lnTo>
                <a:lnTo>
                  <a:pt x="102830" y="102830"/>
                </a:lnTo>
                <a:lnTo>
                  <a:pt x="1028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69660" y="3522397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634890"/>
                </a:moveTo>
                <a:lnTo>
                  <a:pt x="698762" y="634890"/>
                </a:lnTo>
                <a:lnTo>
                  <a:pt x="698762" y="0"/>
                </a:lnTo>
                <a:lnTo>
                  <a:pt x="0" y="0"/>
                </a:lnTo>
                <a:lnTo>
                  <a:pt x="0" y="63489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69660" y="3522397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0"/>
                </a:moveTo>
                <a:lnTo>
                  <a:pt x="698763" y="0"/>
                </a:lnTo>
                <a:lnTo>
                  <a:pt x="698763" y="634890"/>
                </a:lnTo>
                <a:lnTo>
                  <a:pt x="0" y="63489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89140" y="4076325"/>
            <a:ext cx="560705" cy="360045"/>
          </a:xfrm>
          <a:custGeom>
            <a:avLst/>
            <a:gdLst/>
            <a:ahLst/>
            <a:cxnLst/>
            <a:rect l="l" t="t" r="r" b="b"/>
            <a:pathLst>
              <a:path w="560705" h="360045">
                <a:moveTo>
                  <a:pt x="0" y="350678"/>
                </a:moveTo>
                <a:lnTo>
                  <a:pt x="554859" y="0"/>
                </a:lnTo>
                <a:lnTo>
                  <a:pt x="560581" y="9054"/>
                </a:lnTo>
                <a:lnTo>
                  <a:pt x="5722" y="359733"/>
                </a:lnTo>
                <a:lnTo>
                  <a:pt x="0" y="35067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45722" y="3796304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4"/>
                </a:lnTo>
                <a:lnTo>
                  <a:pt x="102830" y="102830"/>
                </a:lnTo>
                <a:lnTo>
                  <a:pt x="10283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29159" y="4015825"/>
            <a:ext cx="690245" cy="581025"/>
          </a:xfrm>
          <a:custGeom>
            <a:avLst/>
            <a:gdLst/>
            <a:ahLst/>
            <a:cxnLst/>
            <a:rect l="l" t="t" r="r" b="b"/>
            <a:pathLst>
              <a:path w="690245" h="581025">
                <a:moveTo>
                  <a:pt x="0" y="0"/>
                </a:moveTo>
                <a:lnTo>
                  <a:pt x="8192" y="6900"/>
                </a:lnTo>
                <a:lnTo>
                  <a:pt x="689746" y="581017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58705" y="3956477"/>
            <a:ext cx="112395" cy="106045"/>
          </a:xfrm>
          <a:custGeom>
            <a:avLst/>
            <a:gdLst/>
            <a:ahLst/>
            <a:cxnLst/>
            <a:rect l="l" t="t" r="r" b="b"/>
            <a:pathLst>
              <a:path w="112395" h="106045">
                <a:moveTo>
                  <a:pt x="0" y="0"/>
                </a:moveTo>
                <a:lnTo>
                  <a:pt x="45520" y="105571"/>
                </a:lnTo>
                <a:lnTo>
                  <a:pt x="111770" y="2692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31036" y="3052359"/>
            <a:ext cx="768985" cy="606425"/>
          </a:xfrm>
          <a:custGeom>
            <a:avLst/>
            <a:gdLst/>
            <a:ahLst/>
            <a:cxnLst/>
            <a:rect l="l" t="t" r="r" b="b"/>
            <a:pathLst>
              <a:path w="768985" h="606425">
                <a:moveTo>
                  <a:pt x="0" y="606064"/>
                </a:moveTo>
                <a:lnTo>
                  <a:pt x="8410" y="599431"/>
                </a:lnTo>
                <a:lnTo>
                  <a:pt x="768465" y="0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58705" y="3611421"/>
            <a:ext cx="113030" cy="104139"/>
          </a:xfrm>
          <a:custGeom>
            <a:avLst/>
            <a:gdLst/>
            <a:ahLst/>
            <a:cxnLst/>
            <a:rect l="l" t="t" r="r" b="b"/>
            <a:pathLst>
              <a:path w="113029" h="104139">
                <a:moveTo>
                  <a:pt x="48901" y="0"/>
                </a:moveTo>
                <a:lnTo>
                  <a:pt x="0" y="104047"/>
                </a:lnTo>
                <a:lnTo>
                  <a:pt x="112580" y="80740"/>
                </a:lnTo>
                <a:lnTo>
                  <a:pt x="4890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483238" y="2679801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238434" y="0"/>
                </a:moveTo>
                <a:lnTo>
                  <a:pt x="0" y="68369"/>
                </a:lnTo>
                <a:lnTo>
                  <a:pt x="74999" y="329921"/>
                </a:lnTo>
                <a:lnTo>
                  <a:pt x="313433" y="261552"/>
                </a:lnTo>
                <a:lnTo>
                  <a:pt x="23843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483238" y="2679800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0" y="68369"/>
                </a:moveTo>
                <a:lnTo>
                  <a:pt x="238434" y="0"/>
                </a:lnTo>
                <a:lnTo>
                  <a:pt x="313433" y="261551"/>
                </a:lnTo>
                <a:lnTo>
                  <a:pt x="74998" y="329921"/>
                </a:lnTo>
                <a:lnTo>
                  <a:pt x="0" y="68369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28034" y="2525864"/>
            <a:ext cx="599440" cy="231775"/>
          </a:xfrm>
          <a:custGeom>
            <a:avLst/>
            <a:gdLst/>
            <a:ahLst/>
            <a:cxnLst/>
            <a:rect l="l" t="t" r="r" b="b"/>
            <a:pathLst>
              <a:path w="599440" h="231775">
                <a:moveTo>
                  <a:pt x="0" y="231763"/>
                </a:moveTo>
                <a:lnTo>
                  <a:pt x="4995" y="229831"/>
                </a:lnTo>
                <a:lnTo>
                  <a:pt x="599425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773085" y="2725723"/>
            <a:ext cx="71755" cy="60325"/>
          </a:xfrm>
          <a:custGeom>
            <a:avLst/>
            <a:gdLst/>
            <a:ahLst/>
            <a:cxnLst/>
            <a:rect l="l" t="t" r="r" b="b"/>
            <a:pathLst>
              <a:path w="71754" h="60325">
                <a:moveTo>
                  <a:pt x="48356" y="0"/>
                </a:moveTo>
                <a:lnTo>
                  <a:pt x="0" y="53149"/>
                </a:lnTo>
                <a:lnTo>
                  <a:pt x="71534" y="59944"/>
                </a:lnTo>
                <a:lnTo>
                  <a:pt x="4835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459956" y="2884117"/>
            <a:ext cx="62865" cy="20320"/>
          </a:xfrm>
          <a:custGeom>
            <a:avLst/>
            <a:gdLst/>
            <a:ahLst/>
            <a:cxnLst/>
            <a:rect l="l" t="t" r="r" b="b"/>
            <a:pathLst>
              <a:path w="62865" h="20319">
                <a:moveTo>
                  <a:pt x="62264" y="0"/>
                </a:moveTo>
                <a:lnTo>
                  <a:pt x="10193" y="16811"/>
                </a:lnTo>
                <a:lnTo>
                  <a:pt x="0" y="2010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372293" y="2852002"/>
            <a:ext cx="113664" cy="98425"/>
          </a:xfrm>
          <a:custGeom>
            <a:avLst/>
            <a:gdLst/>
            <a:ahLst/>
            <a:cxnLst/>
            <a:rect l="l" t="t" r="r" b="b"/>
            <a:pathLst>
              <a:path w="113664" h="98425">
                <a:moveTo>
                  <a:pt x="82059" y="0"/>
                </a:moveTo>
                <a:lnTo>
                  <a:pt x="0" y="80521"/>
                </a:lnTo>
                <a:lnTo>
                  <a:pt x="113653" y="97857"/>
                </a:lnTo>
                <a:lnTo>
                  <a:pt x="820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506890" y="3645977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247891" y="0"/>
                </a:moveTo>
                <a:lnTo>
                  <a:pt x="0" y="8657"/>
                </a:lnTo>
                <a:lnTo>
                  <a:pt x="9495" y="280584"/>
                </a:lnTo>
                <a:lnTo>
                  <a:pt x="257387" y="271927"/>
                </a:lnTo>
                <a:lnTo>
                  <a:pt x="24789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06890" y="3645977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0" y="8656"/>
                </a:moveTo>
                <a:lnTo>
                  <a:pt x="247891" y="0"/>
                </a:lnTo>
                <a:lnTo>
                  <a:pt x="257387" y="271926"/>
                </a:lnTo>
                <a:lnTo>
                  <a:pt x="9495" y="280583"/>
                </a:lnTo>
                <a:lnTo>
                  <a:pt x="0" y="8656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46549" y="3795974"/>
            <a:ext cx="65405" cy="4445"/>
          </a:xfrm>
          <a:custGeom>
            <a:avLst/>
            <a:gdLst/>
            <a:ahLst/>
            <a:cxnLst/>
            <a:rect l="l" t="t" r="r" b="b"/>
            <a:pathLst>
              <a:path w="65404" h="4445">
                <a:moveTo>
                  <a:pt x="65277" y="0"/>
                </a:moveTo>
                <a:lnTo>
                  <a:pt x="10686" y="3715"/>
                </a:lnTo>
                <a:lnTo>
                  <a:pt x="0" y="444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354643" y="3748393"/>
            <a:ext cx="106680" cy="102870"/>
          </a:xfrm>
          <a:custGeom>
            <a:avLst/>
            <a:gdLst/>
            <a:ahLst/>
            <a:cxnLst/>
            <a:rect l="l" t="t" r="r" b="b"/>
            <a:pathLst>
              <a:path w="106679" h="102870">
                <a:moveTo>
                  <a:pt x="99101" y="0"/>
                </a:moveTo>
                <a:lnTo>
                  <a:pt x="0" y="58279"/>
                </a:lnTo>
                <a:lnTo>
                  <a:pt x="106084" y="102593"/>
                </a:lnTo>
                <a:lnTo>
                  <a:pt x="99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422355" y="4535225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0" y="264577"/>
                </a:lnTo>
                <a:lnTo>
                  <a:pt x="241192" y="322469"/>
                </a:lnTo>
                <a:lnTo>
                  <a:pt x="304697" y="57892"/>
                </a:lnTo>
                <a:lnTo>
                  <a:pt x="6350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422355" y="4535225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304697" y="57892"/>
                </a:lnTo>
                <a:lnTo>
                  <a:pt x="241192" y="322469"/>
                </a:lnTo>
                <a:lnTo>
                  <a:pt x="0" y="264577"/>
                </a:lnTo>
                <a:lnTo>
                  <a:pt x="63505" y="0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754783" y="4747470"/>
            <a:ext cx="521334" cy="125730"/>
          </a:xfrm>
          <a:custGeom>
            <a:avLst/>
            <a:gdLst/>
            <a:ahLst/>
            <a:cxnLst/>
            <a:rect l="l" t="t" r="r" b="b"/>
            <a:pathLst>
              <a:path w="521334" h="125729">
                <a:moveTo>
                  <a:pt x="0" y="0"/>
                </a:moveTo>
                <a:lnTo>
                  <a:pt x="5207" y="1251"/>
                </a:lnTo>
                <a:lnTo>
                  <a:pt x="520988" y="125259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697503" y="4717478"/>
            <a:ext cx="70485" cy="62865"/>
          </a:xfrm>
          <a:custGeom>
            <a:avLst/>
            <a:gdLst/>
            <a:ahLst/>
            <a:cxnLst/>
            <a:rect l="l" t="t" r="r" b="b"/>
            <a:pathLst>
              <a:path w="70484" h="62864">
                <a:moveTo>
                  <a:pt x="69999" y="0"/>
                </a:moveTo>
                <a:lnTo>
                  <a:pt x="0" y="16220"/>
                </a:lnTo>
                <a:lnTo>
                  <a:pt x="54975" y="62489"/>
                </a:lnTo>
                <a:lnTo>
                  <a:pt x="6999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388761" y="4659584"/>
            <a:ext cx="64135" cy="13335"/>
          </a:xfrm>
          <a:custGeom>
            <a:avLst/>
            <a:gdLst/>
            <a:ahLst/>
            <a:cxnLst/>
            <a:rect l="l" t="t" r="r" b="b"/>
            <a:pathLst>
              <a:path w="64135" h="13335">
                <a:moveTo>
                  <a:pt x="64091" y="13160"/>
                </a:moveTo>
                <a:lnTo>
                  <a:pt x="10492" y="2154"/>
                </a:lnTo>
                <a:lnTo>
                  <a:pt x="0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298525" y="4611375"/>
            <a:ext cx="111125" cy="100965"/>
          </a:xfrm>
          <a:custGeom>
            <a:avLst/>
            <a:gdLst/>
            <a:ahLst/>
            <a:cxnLst/>
            <a:rect l="l" t="t" r="r" b="b"/>
            <a:pathLst>
              <a:path w="111125" h="100964">
                <a:moveTo>
                  <a:pt x="111070" y="0"/>
                </a:moveTo>
                <a:lnTo>
                  <a:pt x="0" y="29681"/>
                </a:lnTo>
                <a:lnTo>
                  <a:pt x="90385" y="100728"/>
                </a:lnTo>
                <a:lnTo>
                  <a:pt x="111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821185" y="3913201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0"/>
                </a:moveTo>
                <a:lnTo>
                  <a:pt x="4375" y="3088"/>
                </a:lnTo>
                <a:lnTo>
                  <a:pt x="465926" y="32884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773053" y="3879230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0" y="0"/>
                </a:moveTo>
                <a:lnTo>
                  <a:pt x="33978" y="63313"/>
                </a:lnTo>
                <a:lnTo>
                  <a:pt x="71038" y="10806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844573" y="3831595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0"/>
                </a:moveTo>
                <a:lnTo>
                  <a:pt x="5130" y="1534"/>
                </a:lnTo>
                <a:lnTo>
                  <a:pt x="546369" y="16342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788130" y="3802344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70782" y="0"/>
                </a:moveTo>
                <a:lnTo>
                  <a:pt x="0" y="12368"/>
                </a:lnTo>
                <a:lnTo>
                  <a:pt x="52364" y="61573"/>
                </a:lnTo>
                <a:lnTo>
                  <a:pt x="70782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823247" y="3358568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328846"/>
                </a:moveTo>
                <a:lnTo>
                  <a:pt x="4375" y="325758"/>
                </a:lnTo>
                <a:lnTo>
                  <a:pt x="465926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775114" y="3658072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33977" y="0"/>
                </a:moveTo>
                <a:lnTo>
                  <a:pt x="0" y="63313"/>
                </a:lnTo>
                <a:lnTo>
                  <a:pt x="71037" y="52508"/>
                </a:lnTo>
                <a:lnTo>
                  <a:pt x="3397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846635" y="3605593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163426"/>
                </a:moveTo>
                <a:lnTo>
                  <a:pt x="5130" y="161891"/>
                </a:lnTo>
                <a:lnTo>
                  <a:pt x="546369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790193" y="3736699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52363" y="0"/>
                </a:moveTo>
                <a:lnTo>
                  <a:pt x="0" y="49203"/>
                </a:lnTo>
                <a:lnTo>
                  <a:pt x="70782" y="61572"/>
                </a:lnTo>
                <a:lnTo>
                  <a:pt x="523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10495" y="3596168"/>
            <a:ext cx="548005" cy="823594"/>
          </a:xfrm>
          <a:custGeom>
            <a:avLst/>
            <a:gdLst/>
            <a:ahLst/>
            <a:cxnLst/>
            <a:rect l="l" t="t" r="r" b="b"/>
            <a:pathLst>
              <a:path w="548005" h="823595">
                <a:moveTo>
                  <a:pt x="0" y="817674"/>
                </a:moveTo>
                <a:lnTo>
                  <a:pt x="538911" y="0"/>
                </a:lnTo>
                <a:lnTo>
                  <a:pt x="547854" y="5894"/>
                </a:lnTo>
                <a:lnTo>
                  <a:pt x="8943" y="823568"/>
                </a:lnTo>
                <a:lnTo>
                  <a:pt x="0" y="817674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557784" y="3518525"/>
            <a:ext cx="1208405" cy="109220"/>
          </a:xfrm>
          <a:custGeom>
            <a:avLst/>
            <a:gdLst/>
            <a:ahLst/>
            <a:cxnLst/>
            <a:rect l="l" t="t" r="r" b="b"/>
            <a:pathLst>
              <a:path w="1208405" h="109220">
                <a:moveTo>
                  <a:pt x="869" y="0"/>
                </a:moveTo>
                <a:lnTo>
                  <a:pt x="1208045" y="98282"/>
                </a:lnTo>
                <a:lnTo>
                  <a:pt x="1207176" y="108958"/>
                </a:lnTo>
                <a:lnTo>
                  <a:pt x="0" y="10676"/>
                </a:lnTo>
                <a:lnTo>
                  <a:pt x="86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452285" y="3004422"/>
            <a:ext cx="268605" cy="620395"/>
          </a:xfrm>
          <a:custGeom>
            <a:avLst/>
            <a:gdLst/>
            <a:ahLst/>
            <a:cxnLst/>
            <a:rect l="l" t="t" r="r" b="b"/>
            <a:pathLst>
              <a:path w="268605" h="620395">
                <a:moveTo>
                  <a:pt x="9876" y="0"/>
                </a:moveTo>
                <a:lnTo>
                  <a:pt x="268416" y="616049"/>
                </a:lnTo>
                <a:lnTo>
                  <a:pt x="258540" y="620194"/>
                </a:lnTo>
                <a:lnTo>
                  <a:pt x="0" y="4145"/>
                </a:lnTo>
                <a:lnTo>
                  <a:pt x="987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628608" y="4766331"/>
            <a:ext cx="86042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" b="1">
                <a:latin typeface="Arial"/>
                <a:cs typeface="Arial"/>
              </a:rPr>
              <a:t>INPUT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spc="-5" b="1">
                <a:latin typeface="Arial"/>
                <a:cs typeface="Arial"/>
              </a:rPr>
              <a:t>GRAPH</a:t>
            </a:r>
            <a:endParaRPr sz="9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513937" y="3024603"/>
            <a:ext cx="1270" cy="274955"/>
          </a:xfrm>
          <a:custGeom>
            <a:avLst/>
            <a:gdLst/>
            <a:ahLst/>
            <a:cxnLst/>
            <a:rect l="l" t="t" r="r" b="b"/>
            <a:pathLst>
              <a:path w="1269" h="274954">
                <a:moveTo>
                  <a:pt x="0" y="0"/>
                </a:moveTo>
                <a:lnTo>
                  <a:pt x="914" y="269532"/>
                </a:lnTo>
                <a:lnTo>
                  <a:pt x="932" y="274888"/>
                </a:lnTo>
              </a:path>
            </a:pathLst>
          </a:custGeom>
          <a:ln w="107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482718" y="3294028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69" h="64770">
                <a:moveTo>
                  <a:pt x="64268" y="0"/>
                </a:moveTo>
                <a:lnTo>
                  <a:pt x="0" y="217"/>
                </a:lnTo>
                <a:lnTo>
                  <a:pt x="32351" y="64377"/>
                </a:lnTo>
                <a:lnTo>
                  <a:pt x="64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071611" y="2838265"/>
            <a:ext cx="8566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5">
                <a:latin typeface="Arial"/>
                <a:cs typeface="Arial"/>
              </a:rPr>
              <a:t>TARGET</a:t>
            </a:r>
            <a:r>
              <a:rPr dirty="0" sz="950" spc="-20">
                <a:latin typeface="Arial"/>
                <a:cs typeface="Arial"/>
              </a:rPr>
              <a:t> NODE</a:t>
            </a:r>
            <a:endParaRPr sz="9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40607" y="2989562"/>
            <a:ext cx="883919" cy="520065"/>
          </a:xfrm>
          <a:custGeom>
            <a:avLst/>
            <a:gdLst/>
            <a:ahLst/>
            <a:cxnLst/>
            <a:rect l="l" t="t" r="r" b="b"/>
            <a:pathLst>
              <a:path w="883919" h="520064">
                <a:moveTo>
                  <a:pt x="883776" y="9260"/>
                </a:moveTo>
                <a:lnTo>
                  <a:pt x="5383" y="519880"/>
                </a:lnTo>
                <a:lnTo>
                  <a:pt x="0" y="510619"/>
                </a:lnTo>
                <a:lnTo>
                  <a:pt x="878392" y="0"/>
                </a:lnTo>
                <a:lnTo>
                  <a:pt x="883776" y="926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318055" y="2852612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18754" y="3569535"/>
            <a:ext cx="327025" cy="704850"/>
          </a:xfrm>
          <a:custGeom>
            <a:avLst/>
            <a:gdLst/>
            <a:ahLst/>
            <a:cxnLst/>
            <a:rect l="l" t="t" r="r" b="b"/>
            <a:pathLst>
              <a:path w="327025" h="704850">
                <a:moveTo>
                  <a:pt x="326584" y="4415"/>
                </a:moveTo>
                <a:lnTo>
                  <a:pt x="9759" y="704679"/>
                </a:lnTo>
                <a:lnTo>
                  <a:pt x="0" y="700264"/>
                </a:lnTo>
                <a:lnTo>
                  <a:pt x="316825" y="0"/>
                </a:lnTo>
                <a:lnTo>
                  <a:pt x="326584" y="44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173336" y="4112922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3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232283" y="409365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098369" y="433183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153470" y="431859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762004" y="3669369"/>
            <a:ext cx="171450" cy="341630"/>
          </a:xfrm>
          <a:custGeom>
            <a:avLst/>
            <a:gdLst/>
            <a:ahLst/>
            <a:cxnLst/>
            <a:rect l="l" t="t" r="r" b="b"/>
            <a:pathLst>
              <a:path w="171450" h="341629">
                <a:moveTo>
                  <a:pt x="9657" y="0"/>
                </a:moveTo>
                <a:lnTo>
                  <a:pt x="171247" y="336816"/>
                </a:lnTo>
                <a:lnTo>
                  <a:pt x="161590" y="341449"/>
                </a:lnTo>
                <a:lnTo>
                  <a:pt x="0" y="4633"/>
                </a:lnTo>
                <a:lnTo>
                  <a:pt x="965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810910" y="3917612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860428" y="3900844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617658" y="3500713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3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667622" y="3483096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058406" y="375497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3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3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113672" y="372945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146130" y="284196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4"/>
                </a:lnTo>
                <a:lnTo>
                  <a:pt x="8042" y="68323"/>
                </a:lnTo>
                <a:lnTo>
                  <a:pt x="0" y="109546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2" y="187008"/>
                </a:lnTo>
                <a:lnTo>
                  <a:pt x="211643" y="150769"/>
                </a:lnTo>
                <a:lnTo>
                  <a:pt x="219686" y="109546"/>
                </a:lnTo>
                <a:lnTo>
                  <a:pt x="211643" y="68323"/>
                </a:lnTo>
                <a:lnTo>
                  <a:pt x="187512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378411" y="2829695"/>
            <a:ext cx="393954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836035" algn="l"/>
              </a:tabLst>
            </a:pPr>
            <a:r>
              <a:rPr dirty="0" sz="1150" spc="10" b="1">
                <a:latin typeface="Courier New"/>
                <a:cs typeface="Courier New"/>
              </a:rPr>
              <a:t>B</a:t>
            </a:r>
            <a:r>
              <a:rPr dirty="0" sz="1150" spc="10" b="1">
                <a:latin typeface="Courier New"/>
                <a:cs typeface="Courier New"/>
              </a:rPr>
              <a:t>	</a:t>
            </a:r>
            <a:r>
              <a:rPr dirty="0" baseline="4830" sz="1725" spc="15" b="1">
                <a:latin typeface="Courier New"/>
                <a:cs typeface="Courier New"/>
              </a:rPr>
              <a:t>B</a:t>
            </a:r>
            <a:endParaRPr baseline="4830" sz="1725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114327" y="3702497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4" y="0"/>
                </a:moveTo>
                <a:lnTo>
                  <a:pt x="68510" y="8021"/>
                </a:lnTo>
                <a:lnTo>
                  <a:pt x="32173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3" y="187008"/>
                </a:lnTo>
                <a:lnTo>
                  <a:pt x="68510" y="211072"/>
                </a:lnTo>
                <a:lnTo>
                  <a:pt x="109844" y="219094"/>
                </a:lnTo>
                <a:lnTo>
                  <a:pt x="151178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4"/>
                </a:lnTo>
                <a:lnTo>
                  <a:pt x="151178" y="8021"/>
                </a:lnTo>
                <a:lnTo>
                  <a:pt x="109844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5325141" y="3686614"/>
            <a:ext cx="94996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86130" algn="l"/>
              </a:tabLst>
            </a:pPr>
            <a:r>
              <a:rPr dirty="0" sz="1150" spc="0" u="heavy">
                <a:latin typeface="Times New Roman"/>
                <a:cs typeface="Times New Roman"/>
              </a:rPr>
              <a:t> </a:t>
            </a:r>
            <a:r>
              <a:rPr dirty="0" sz="1150" spc="0" u="heavy">
                <a:latin typeface="Times New Roman"/>
                <a:cs typeface="Times New Roman"/>
              </a:rPr>
              <a:t>	</a:t>
            </a:r>
            <a:r>
              <a:rPr dirty="0" sz="1150" spc="0">
                <a:latin typeface="Times New Roman"/>
                <a:cs typeface="Times New Roman"/>
              </a:rPr>
              <a:t> 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058236" y="450284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116718" y="4489975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420293" y="341407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9" y="211073"/>
                </a:lnTo>
                <a:lnTo>
                  <a:pt x="109843" y="219095"/>
                </a:lnTo>
                <a:lnTo>
                  <a:pt x="151177" y="211073"/>
                </a:lnTo>
                <a:lnTo>
                  <a:pt x="187513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467935" y="3386693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844858" y="2859479"/>
            <a:ext cx="635635" cy="59055"/>
          </a:xfrm>
          <a:custGeom>
            <a:avLst/>
            <a:gdLst/>
            <a:ahLst/>
            <a:cxnLst/>
            <a:rect l="l" t="t" r="r" b="b"/>
            <a:pathLst>
              <a:path w="635634" h="59055">
                <a:moveTo>
                  <a:pt x="0" y="0"/>
                </a:moveTo>
                <a:lnTo>
                  <a:pt x="5332" y="493"/>
                </a:lnTo>
                <a:lnTo>
                  <a:pt x="635165" y="58733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786195" y="2827973"/>
            <a:ext cx="67310" cy="64135"/>
          </a:xfrm>
          <a:custGeom>
            <a:avLst/>
            <a:gdLst/>
            <a:ahLst/>
            <a:cxnLst/>
            <a:rect l="l" t="t" r="r" b="b"/>
            <a:pathLst>
              <a:path w="67309" h="64135">
                <a:moveTo>
                  <a:pt x="66954" y="0"/>
                </a:moveTo>
                <a:lnTo>
                  <a:pt x="0" y="26080"/>
                </a:lnTo>
                <a:lnTo>
                  <a:pt x="61036" y="63996"/>
                </a:lnTo>
                <a:lnTo>
                  <a:pt x="6695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201510" y="476103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7252135" y="4736338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320503" y="245702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956563" y="1832355"/>
            <a:ext cx="6529070" cy="806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287020" marR="5080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All the nodes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5">
                <a:latin typeface="Calibri"/>
                <a:cs typeface="Calibri"/>
              </a:rPr>
              <a:t>used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10">
                <a:latin typeface="Calibri"/>
                <a:cs typeface="Calibri"/>
              </a:rPr>
              <a:t>message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 spc="-70">
                <a:latin typeface="Calibri"/>
                <a:cs typeface="Calibri"/>
              </a:rPr>
              <a:t>passing</a:t>
            </a:r>
            <a:endParaRPr sz="28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40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325735" y="280644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3" y="0"/>
                </a:moveTo>
                <a:lnTo>
                  <a:pt x="68509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7369962" y="278684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178012" y="412687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3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7230712" y="4115072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290106" y="350503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4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4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276580" y="385725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4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4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7327116" y="3836574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216987" y="3234983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7273559" y="3106052"/>
            <a:ext cx="190500" cy="58293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  <a:p>
            <a:pPr marL="87630">
              <a:lnSpc>
                <a:spcPct val="100000"/>
              </a:lnSpc>
              <a:spcBef>
                <a:spcPts val="81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4" name="object 8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5" name="object 8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6" name="object 8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83" name="object 83"/>
          <p:cNvSpPr txBox="1"/>
          <p:nvPr/>
        </p:nvSpPr>
        <p:spPr>
          <a:xfrm>
            <a:off x="3952650" y="20827"/>
            <a:ext cx="5111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Hamilton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Inductive Representation Learning on Large Graphs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Corbel"/>
                <a:cs typeface="Corbel"/>
              </a:rPr>
              <a:t>2017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253983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21905" cy="151828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000000"/>
                </a:solidFill>
              </a:rPr>
              <a:t>For example, we </a:t>
            </a:r>
            <a:r>
              <a:rPr dirty="0" spc="-10">
                <a:solidFill>
                  <a:srgbClr val="000000"/>
                </a:solidFill>
              </a:rPr>
              <a:t>can </a:t>
            </a:r>
            <a:r>
              <a:rPr dirty="0" spc="-15">
                <a:solidFill>
                  <a:srgbClr val="000000"/>
                </a:solidFill>
              </a:rPr>
              <a:t>randomly </a:t>
            </a:r>
            <a:r>
              <a:rPr dirty="0" spc="-5">
                <a:solidFill>
                  <a:srgbClr val="000000"/>
                </a:solidFill>
              </a:rPr>
              <a:t>choose </a:t>
            </a:r>
            <a:r>
              <a:rPr dirty="0">
                <a:solidFill>
                  <a:srgbClr val="000000"/>
                </a:solidFill>
              </a:rPr>
              <a:t>2  </a:t>
            </a:r>
            <a:r>
              <a:rPr dirty="0" spc="-10">
                <a:solidFill>
                  <a:srgbClr val="000000"/>
                </a:solidFill>
              </a:rPr>
              <a:t>neighbors </a:t>
            </a:r>
            <a:r>
              <a:rPr dirty="0" spc="-15">
                <a:solidFill>
                  <a:srgbClr val="000000"/>
                </a:solidFill>
              </a:rPr>
              <a:t>to </a:t>
            </a:r>
            <a:r>
              <a:rPr dirty="0" spc="-5">
                <a:solidFill>
                  <a:srgbClr val="000000"/>
                </a:solidFill>
              </a:rPr>
              <a:t>pass </a:t>
            </a:r>
            <a:r>
              <a:rPr dirty="0" spc="-10">
                <a:solidFill>
                  <a:srgbClr val="000000"/>
                </a:solidFill>
              </a:rPr>
              <a:t>messages </a:t>
            </a:r>
            <a:r>
              <a:rPr dirty="0">
                <a:solidFill>
                  <a:srgbClr val="000000"/>
                </a:solidFill>
              </a:rPr>
              <a:t>in a </a:t>
            </a:r>
            <a:r>
              <a:rPr dirty="0" spc="-10">
                <a:solidFill>
                  <a:srgbClr val="000000"/>
                </a:solidFill>
              </a:rPr>
              <a:t>given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layer</a:t>
            </a: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Only nodes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𝐵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𝐷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will pass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messages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2800" spc="2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𝐴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6345" y="5239543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 h="0">
                <a:moveTo>
                  <a:pt x="0" y="0"/>
                </a:moveTo>
                <a:lnTo>
                  <a:pt x="45715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84227" y="5188127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5"/>
                </a:lnTo>
                <a:lnTo>
                  <a:pt x="102830" y="102830"/>
                </a:lnTo>
                <a:lnTo>
                  <a:pt x="1028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22060" y="4917067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634890"/>
                </a:moveTo>
                <a:lnTo>
                  <a:pt x="698762" y="634890"/>
                </a:lnTo>
                <a:lnTo>
                  <a:pt x="698762" y="0"/>
                </a:lnTo>
                <a:lnTo>
                  <a:pt x="0" y="0"/>
                </a:lnTo>
                <a:lnTo>
                  <a:pt x="0" y="63489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22060" y="4917066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0"/>
                </a:moveTo>
                <a:lnTo>
                  <a:pt x="698763" y="0"/>
                </a:lnTo>
                <a:lnTo>
                  <a:pt x="698763" y="634890"/>
                </a:lnTo>
                <a:lnTo>
                  <a:pt x="0" y="63489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41540" y="5470995"/>
            <a:ext cx="560705" cy="360045"/>
          </a:xfrm>
          <a:custGeom>
            <a:avLst/>
            <a:gdLst/>
            <a:ahLst/>
            <a:cxnLst/>
            <a:rect l="l" t="t" r="r" b="b"/>
            <a:pathLst>
              <a:path w="560705" h="360045">
                <a:moveTo>
                  <a:pt x="0" y="350678"/>
                </a:moveTo>
                <a:lnTo>
                  <a:pt x="554859" y="0"/>
                </a:lnTo>
                <a:lnTo>
                  <a:pt x="560581" y="9054"/>
                </a:lnTo>
                <a:lnTo>
                  <a:pt x="5722" y="359733"/>
                </a:lnTo>
                <a:lnTo>
                  <a:pt x="0" y="35067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98122" y="5190973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5"/>
                </a:lnTo>
                <a:lnTo>
                  <a:pt x="102830" y="102830"/>
                </a:lnTo>
                <a:lnTo>
                  <a:pt x="10283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81559" y="5410495"/>
            <a:ext cx="690245" cy="581025"/>
          </a:xfrm>
          <a:custGeom>
            <a:avLst/>
            <a:gdLst/>
            <a:ahLst/>
            <a:cxnLst/>
            <a:rect l="l" t="t" r="r" b="b"/>
            <a:pathLst>
              <a:path w="690245" h="581025">
                <a:moveTo>
                  <a:pt x="0" y="0"/>
                </a:moveTo>
                <a:lnTo>
                  <a:pt x="8192" y="6900"/>
                </a:lnTo>
                <a:lnTo>
                  <a:pt x="689746" y="581017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11105" y="5351147"/>
            <a:ext cx="112395" cy="106045"/>
          </a:xfrm>
          <a:custGeom>
            <a:avLst/>
            <a:gdLst/>
            <a:ahLst/>
            <a:cxnLst/>
            <a:rect l="l" t="t" r="r" b="b"/>
            <a:pathLst>
              <a:path w="112395" h="106045">
                <a:moveTo>
                  <a:pt x="0" y="0"/>
                </a:moveTo>
                <a:lnTo>
                  <a:pt x="45520" y="105571"/>
                </a:lnTo>
                <a:lnTo>
                  <a:pt x="111770" y="2692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83436" y="4447030"/>
            <a:ext cx="768985" cy="606425"/>
          </a:xfrm>
          <a:custGeom>
            <a:avLst/>
            <a:gdLst/>
            <a:ahLst/>
            <a:cxnLst/>
            <a:rect l="l" t="t" r="r" b="b"/>
            <a:pathLst>
              <a:path w="768985" h="606425">
                <a:moveTo>
                  <a:pt x="0" y="606064"/>
                </a:moveTo>
                <a:lnTo>
                  <a:pt x="8410" y="599431"/>
                </a:lnTo>
                <a:lnTo>
                  <a:pt x="768465" y="0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11105" y="5006090"/>
            <a:ext cx="113030" cy="104139"/>
          </a:xfrm>
          <a:custGeom>
            <a:avLst/>
            <a:gdLst/>
            <a:ahLst/>
            <a:cxnLst/>
            <a:rect l="l" t="t" r="r" b="b"/>
            <a:pathLst>
              <a:path w="113029" h="104139">
                <a:moveTo>
                  <a:pt x="48901" y="0"/>
                </a:moveTo>
                <a:lnTo>
                  <a:pt x="0" y="104048"/>
                </a:lnTo>
                <a:lnTo>
                  <a:pt x="112580" y="80741"/>
                </a:lnTo>
                <a:lnTo>
                  <a:pt x="4890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35638" y="4074471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238434" y="0"/>
                </a:moveTo>
                <a:lnTo>
                  <a:pt x="0" y="68370"/>
                </a:lnTo>
                <a:lnTo>
                  <a:pt x="74999" y="329921"/>
                </a:lnTo>
                <a:lnTo>
                  <a:pt x="313433" y="261552"/>
                </a:lnTo>
                <a:lnTo>
                  <a:pt x="23843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35638" y="4074471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0" y="68369"/>
                </a:moveTo>
                <a:lnTo>
                  <a:pt x="238434" y="0"/>
                </a:lnTo>
                <a:lnTo>
                  <a:pt x="313433" y="261551"/>
                </a:lnTo>
                <a:lnTo>
                  <a:pt x="74998" y="329921"/>
                </a:lnTo>
                <a:lnTo>
                  <a:pt x="0" y="68369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80434" y="3920533"/>
            <a:ext cx="599440" cy="231775"/>
          </a:xfrm>
          <a:custGeom>
            <a:avLst/>
            <a:gdLst/>
            <a:ahLst/>
            <a:cxnLst/>
            <a:rect l="l" t="t" r="r" b="b"/>
            <a:pathLst>
              <a:path w="599440" h="231775">
                <a:moveTo>
                  <a:pt x="0" y="231763"/>
                </a:moveTo>
                <a:lnTo>
                  <a:pt x="4995" y="229831"/>
                </a:lnTo>
                <a:lnTo>
                  <a:pt x="599425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25485" y="4120393"/>
            <a:ext cx="71755" cy="60325"/>
          </a:xfrm>
          <a:custGeom>
            <a:avLst/>
            <a:gdLst/>
            <a:ahLst/>
            <a:cxnLst/>
            <a:rect l="l" t="t" r="r" b="b"/>
            <a:pathLst>
              <a:path w="71754" h="60325">
                <a:moveTo>
                  <a:pt x="48356" y="0"/>
                </a:moveTo>
                <a:lnTo>
                  <a:pt x="0" y="53149"/>
                </a:lnTo>
                <a:lnTo>
                  <a:pt x="71534" y="59945"/>
                </a:lnTo>
                <a:lnTo>
                  <a:pt x="4835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12356" y="4278788"/>
            <a:ext cx="62865" cy="20320"/>
          </a:xfrm>
          <a:custGeom>
            <a:avLst/>
            <a:gdLst/>
            <a:ahLst/>
            <a:cxnLst/>
            <a:rect l="l" t="t" r="r" b="b"/>
            <a:pathLst>
              <a:path w="62865" h="20320">
                <a:moveTo>
                  <a:pt x="62264" y="0"/>
                </a:moveTo>
                <a:lnTo>
                  <a:pt x="10193" y="16811"/>
                </a:lnTo>
                <a:lnTo>
                  <a:pt x="0" y="2010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24693" y="4246671"/>
            <a:ext cx="113664" cy="98425"/>
          </a:xfrm>
          <a:custGeom>
            <a:avLst/>
            <a:gdLst/>
            <a:ahLst/>
            <a:cxnLst/>
            <a:rect l="l" t="t" r="r" b="b"/>
            <a:pathLst>
              <a:path w="113665" h="98425">
                <a:moveTo>
                  <a:pt x="82059" y="0"/>
                </a:moveTo>
                <a:lnTo>
                  <a:pt x="0" y="80523"/>
                </a:lnTo>
                <a:lnTo>
                  <a:pt x="113653" y="97857"/>
                </a:lnTo>
                <a:lnTo>
                  <a:pt x="820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59290" y="5040647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247891" y="0"/>
                </a:moveTo>
                <a:lnTo>
                  <a:pt x="0" y="8656"/>
                </a:lnTo>
                <a:lnTo>
                  <a:pt x="9495" y="280583"/>
                </a:lnTo>
                <a:lnTo>
                  <a:pt x="257387" y="271926"/>
                </a:lnTo>
                <a:lnTo>
                  <a:pt x="24789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59290" y="5040647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0" y="8656"/>
                </a:moveTo>
                <a:lnTo>
                  <a:pt x="247891" y="0"/>
                </a:lnTo>
                <a:lnTo>
                  <a:pt x="257387" y="271926"/>
                </a:lnTo>
                <a:lnTo>
                  <a:pt x="9495" y="280583"/>
                </a:lnTo>
                <a:lnTo>
                  <a:pt x="0" y="8656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98949" y="5190644"/>
            <a:ext cx="65405" cy="4445"/>
          </a:xfrm>
          <a:custGeom>
            <a:avLst/>
            <a:gdLst/>
            <a:ahLst/>
            <a:cxnLst/>
            <a:rect l="l" t="t" r="r" b="b"/>
            <a:pathLst>
              <a:path w="65404" h="4445">
                <a:moveTo>
                  <a:pt x="65277" y="0"/>
                </a:moveTo>
                <a:lnTo>
                  <a:pt x="10686" y="3715"/>
                </a:lnTo>
                <a:lnTo>
                  <a:pt x="0" y="444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07043" y="5143063"/>
            <a:ext cx="106680" cy="102870"/>
          </a:xfrm>
          <a:custGeom>
            <a:avLst/>
            <a:gdLst/>
            <a:ahLst/>
            <a:cxnLst/>
            <a:rect l="l" t="t" r="r" b="b"/>
            <a:pathLst>
              <a:path w="106679" h="102870">
                <a:moveTo>
                  <a:pt x="99101" y="0"/>
                </a:moveTo>
                <a:lnTo>
                  <a:pt x="0" y="58279"/>
                </a:lnTo>
                <a:lnTo>
                  <a:pt x="106084" y="102593"/>
                </a:lnTo>
                <a:lnTo>
                  <a:pt x="99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74756" y="5929896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0" y="264577"/>
                </a:lnTo>
                <a:lnTo>
                  <a:pt x="241192" y="322469"/>
                </a:lnTo>
                <a:lnTo>
                  <a:pt x="304697" y="57892"/>
                </a:lnTo>
                <a:lnTo>
                  <a:pt x="6350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74755" y="5929896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304697" y="57892"/>
                </a:lnTo>
                <a:lnTo>
                  <a:pt x="241192" y="322469"/>
                </a:lnTo>
                <a:lnTo>
                  <a:pt x="0" y="264577"/>
                </a:lnTo>
                <a:lnTo>
                  <a:pt x="63505" y="0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07183" y="6142140"/>
            <a:ext cx="521334" cy="125730"/>
          </a:xfrm>
          <a:custGeom>
            <a:avLst/>
            <a:gdLst/>
            <a:ahLst/>
            <a:cxnLst/>
            <a:rect l="l" t="t" r="r" b="b"/>
            <a:pathLst>
              <a:path w="521334" h="125729">
                <a:moveTo>
                  <a:pt x="0" y="0"/>
                </a:moveTo>
                <a:lnTo>
                  <a:pt x="5207" y="1251"/>
                </a:lnTo>
                <a:lnTo>
                  <a:pt x="520988" y="125259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49903" y="6112149"/>
            <a:ext cx="70485" cy="62865"/>
          </a:xfrm>
          <a:custGeom>
            <a:avLst/>
            <a:gdLst/>
            <a:ahLst/>
            <a:cxnLst/>
            <a:rect l="l" t="t" r="r" b="b"/>
            <a:pathLst>
              <a:path w="70484" h="62864">
                <a:moveTo>
                  <a:pt x="69999" y="0"/>
                </a:moveTo>
                <a:lnTo>
                  <a:pt x="0" y="16220"/>
                </a:lnTo>
                <a:lnTo>
                  <a:pt x="54975" y="62488"/>
                </a:lnTo>
                <a:lnTo>
                  <a:pt x="6999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41161" y="6054255"/>
            <a:ext cx="64135" cy="13335"/>
          </a:xfrm>
          <a:custGeom>
            <a:avLst/>
            <a:gdLst/>
            <a:ahLst/>
            <a:cxnLst/>
            <a:rect l="l" t="t" r="r" b="b"/>
            <a:pathLst>
              <a:path w="64134" h="13335">
                <a:moveTo>
                  <a:pt x="64091" y="13160"/>
                </a:moveTo>
                <a:lnTo>
                  <a:pt x="10492" y="2154"/>
                </a:lnTo>
                <a:lnTo>
                  <a:pt x="0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450925" y="6006045"/>
            <a:ext cx="111125" cy="100965"/>
          </a:xfrm>
          <a:custGeom>
            <a:avLst/>
            <a:gdLst/>
            <a:ahLst/>
            <a:cxnLst/>
            <a:rect l="l" t="t" r="r" b="b"/>
            <a:pathLst>
              <a:path w="111125" h="100964">
                <a:moveTo>
                  <a:pt x="111070" y="0"/>
                </a:moveTo>
                <a:lnTo>
                  <a:pt x="0" y="29680"/>
                </a:lnTo>
                <a:lnTo>
                  <a:pt x="90385" y="100728"/>
                </a:lnTo>
                <a:lnTo>
                  <a:pt x="111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973585" y="5307872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0"/>
                </a:moveTo>
                <a:lnTo>
                  <a:pt x="4375" y="3088"/>
                </a:lnTo>
                <a:lnTo>
                  <a:pt x="465926" y="32884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25453" y="5273900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0" y="0"/>
                </a:moveTo>
                <a:lnTo>
                  <a:pt x="33978" y="63313"/>
                </a:lnTo>
                <a:lnTo>
                  <a:pt x="71038" y="1080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996973" y="5226266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0"/>
                </a:moveTo>
                <a:lnTo>
                  <a:pt x="5130" y="1534"/>
                </a:lnTo>
                <a:lnTo>
                  <a:pt x="546369" y="16342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40530" y="5197015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70782" y="0"/>
                </a:moveTo>
                <a:lnTo>
                  <a:pt x="0" y="12368"/>
                </a:lnTo>
                <a:lnTo>
                  <a:pt x="52364" y="61572"/>
                </a:lnTo>
                <a:lnTo>
                  <a:pt x="70782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975647" y="4753238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328846"/>
                </a:moveTo>
                <a:lnTo>
                  <a:pt x="4375" y="325758"/>
                </a:lnTo>
                <a:lnTo>
                  <a:pt x="465926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27514" y="5052743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33977" y="0"/>
                </a:moveTo>
                <a:lnTo>
                  <a:pt x="0" y="63313"/>
                </a:lnTo>
                <a:lnTo>
                  <a:pt x="71037" y="52506"/>
                </a:lnTo>
                <a:lnTo>
                  <a:pt x="3397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99035" y="5000264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163426"/>
                </a:moveTo>
                <a:lnTo>
                  <a:pt x="5130" y="161891"/>
                </a:lnTo>
                <a:lnTo>
                  <a:pt x="546369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942593" y="5131368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52363" y="0"/>
                </a:moveTo>
                <a:lnTo>
                  <a:pt x="0" y="49204"/>
                </a:lnTo>
                <a:lnTo>
                  <a:pt x="70782" y="61573"/>
                </a:lnTo>
                <a:lnTo>
                  <a:pt x="523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62895" y="4990837"/>
            <a:ext cx="548005" cy="823594"/>
          </a:xfrm>
          <a:custGeom>
            <a:avLst/>
            <a:gdLst/>
            <a:ahLst/>
            <a:cxnLst/>
            <a:rect l="l" t="t" r="r" b="b"/>
            <a:pathLst>
              <a:path w="548005" h="823595">
                <a:moveTo>
                  <a:pt x="0" y="817674"/>
                </a:moveTo>
                <a:lnTo>
                  <a:pt x="538911" y="0"/>
                </a:lnTo>
                <a:lnTo>
                  <a:pt x="547854" y="5894"/>
                </a:lnTo>
                <a:lnTo>
                  <a:pt x="8943" y="823568"/>
                </a:lnTo>
                <a:lnTo>
                  <a:pt x="0" y="817674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0184" y="4913196"/>
            <a:ext cx="1208405" cy="109220"/>
          </a:xfrm>
          <a:custGeom>
            <a:avLst/>
            <a:gdLst/>
            <a:ahLst/>
            <a:cxnLst/>
            <a:rect l="l" t="t" r="r" b="b"/>
            <a:pathLst>
              <a:path w="1208405" h="109220">
                <a:moveTo>
                  <a:pt x="869" y="0"/>
                </a:moveTo>
                <a:lnTo>
                  <a:pt x="1208045" y="98282"/>
                </a:lnTo>
                <a:lnTo>
                  <a:pt x="1207176" y="108958"/>
                </a:lnTo>
                <a:lnTo>
                  <a:pt x="0" y="10676"/>
                </a:lnTo>
                <a:lnTo>
                  <a:pt x="86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04685" y="4399092"/>
            <a:ext cx="268605" cy="620395"/>
          </a:xfrm>
          <a:custGeom>
            <a:avLst/>
            <a:gdLst/>
            <a:ahLst/>
            <a:cxnLst/>
            <a:rect l="l" t="t" r="r" b="b"/>
            <a:pathLst>
              <a:path w="268605" h="620395">
                <a:moveTo>
                  <a:pt x="9876" y="0"/>
                </a:moveTo>
                <a:lnTo>
                  <a:pt x="268416" y="616049"/>
                </a:lnTo>
                <a:lnTo>
                  <a:pt x="258540" y="620194"/>
                </a:lnTo>
                <a:lnTo>
                  <a:pt x="0" y="4145"/>
                </a:lnTo>
                <a:lnTo>
                  <a:pt x="987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781008" y="6161001"/>
            <a:ext cx="86042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" b="1">
                <a:latin typeface="Arial"/>
                <a:cs typeface="Arial"/>
              </a:rPr>
              <a:t>INPUT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spc="-5" b="1">
                <a:latin typeface="Arial"/>
                <a:cs typeface="Arial"/>
              </a:rPr>
              <a:t>GRAPH</a:t>
            </a:r>
            <a:endParaRPr sz="9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666337" y="4419274"/>
            <a:ext cx="1270" cy="274955"/>
          </a:xfrm>
          <a:custGeom>
            <a:avLst/>
            <a:gdLst/>
            <a:ahLst/>
            <a:cxnLst/>
            <a:rect l="l" t="t" r="r" b="b"/>
            <a:pathLst>
              <a:path w="1269" h="274954">
                <a:moveTo>
                  <a:pt x="0" y="0"/>
                </a:moveTo>
                <a:lnTo>
                  <a:pt x="914" y="269532"/>
                </a:lnTo>
                <a:lnTo>
                  <a:pt x="932" y="274888"/>
                </a:lnTo>
              </a:path>
            </a:pathLst>
          </a:custGeom>
          <a:ln w="107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635118" y="4688697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69" h="64770">
                <a:moveTo>
                  <a:pt x="64268" y="0"/>
                </a:moveTo>
                <a:lnTo>
                  <a:pt x="0" y="218"/>
                </a:lnTo>
                <a:lnTo>
                  <a:pt x="32351" y="64377"/>
                </a:lnTo>
                <a:lnTo>
                  <a:pt x="64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224011" y="4232935"/>
            <a:ext cx="8566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5">
                <a:latin typeface="Arial"/>
                <a:cs typeface="Arial"/>
              </a:rPr>
              <a:t>TARGET</a:t>
            </a:r>
            <a:r>
              <a:rPr dirty="0" sz="950" spc="-20">
                <a:latin typeface="Arial"/>
                <a:cs typeface="Arial"/>
              </a:rPr>
              <a:t> NODE</a:t>
            </a:r>
            <a:endParaRPr sz="9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693007" y="4384232"/>
            <a:ext cx="883919" cy="520065"/>
          </a:xfrm>
          <a:custGeom>
            <a:avLst/>
            <a:gdLst/>
            <a:ahLst/>
            <a:cxnLst/>
            <a:rect l="l" t="t" r="r" b="b"/>
            <a:pathLst>
              <a:path w="883919" h="520064">
                <a:moveTo>
                  <a:pt x="883776" y="9260"/>
                </a:moveTo>
                <a:lnTo>
                  <a:pt x="5383" y="519880"/>
                </a:lnTo>
                <a:lnTo>
                  <a:pt x="0" y="510619"/>
                </a:lnTo>
                <a:lnTo>
                  <a:pt x="878392" y="0"/>
                </a:lnTo>
                <a:lnTo>
                  <a:pt x="883776" y="926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470455" y="424728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530811" y="4224366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371154" y="4964204"/>
            <a:ext cx="327025" cy="704850"/>
          </a:xfrm>
          <a:custGeom>
            <a:avLst/>
            <a:gdLst/>
            <a:ahLst/>
            <a:cxnLst/>
            <a:rect l="l" t="t" r="r" b="b"/>
            <a:pathLst>
              <a:path w="327025" h="704850">
                <a:moveTo>
                  <a:pt x="326584" y="4415"/>
                </a:moveTo>
                <a:lnTo>
                  <a:pt x="9759" y="704679"/>
                </a:lnTo>
                <a:lnTo>
                  <a:pt x="0" y="700264"/>
                </a:lnTo>
                <a:lnTo>
                  <a:pt x="316825" y="0"/>
                </a:lnTo>
                <a:lnTo>
                  <a:pt x="326584" y="44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25736" y="550759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384683" y="548832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250769" y="572650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305870" y="571326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914404" y="5064038"/>
            <a:ext cx="171450" cy="341630"/>
          </a:xfrm>
          <a:custGeom>
            <a:avLst/>
            <a:gdLst/>
            <a:ahLst/>
            <a:cxnLst/>
            <a:rect l="l" t="t" r="r" b="b"/>
            <a:pathLst>
              <a:path w="171450" h="341629">
                <a:moveTo>
                  <a:pt x="9657" y="0"/>
                </a:moveTo>
                <a:lnTo>
                  <a:pt x="171247" y="336816"/>
                </a:lnTo>
                <a:lnTo>
                  <a:pt x="161590" y="341449"/>
                </a:lnTo>
                <a:lnTo>
                  <a:pt x="0" y="4633"/>
                </a:lnTo>
                <a:lnTo>
                  <a:pt x="965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63310" y="5312282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012828" y="5295513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770058" y="4895383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820022" y="4877766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210806" y="514963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3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3" y="187008"/>
                </a:lnTo>
                <a:lnTo>
                  <a:pt x="68509" y="211073"/>
                </a:lnTo>
                <a:lnTo>
                  <a:pt x="109843" y="219095"/>
                </a:lnTo>
                <a:lnTo>
                  <a:pt x="151177" y="211073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266072" y="512412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298530" y="423663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4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8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2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354810" y="4213654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266727" y="5097167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4" y="0"/>
                </a:moveTo>
                <a:lnTo>
                  <a:pt x="68510" y="8021"/>
                </a:lnTo>
                <a:lnTo>
                  <a:pt x="32173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3" y="187009"/>
                </a:lnTo>
                <a:lnTo>
                  <a:pt x="68510" y="211073"/>
                </a:lnTo>
                <a:lnTo>
                  <a:pt x="109844" y="219094"/>
                </a:lnTo>
                <a:lnTo>
                  <a:pt x="151178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8" y="8021"/>
                </a:lnTo>
                <a:lnTo>
                  <a:pt x="109844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5477541" y="5081283"/>
            <a:ext cx="94996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86130" algn="l"/>
              </a:tabLst>
            </a:pPr>
            <a:r>
              <a:rPr dirty="0" sz="1150" spc="0" u="heavy">
                <a:latin typeface="Times New Roman"/>
                <a:cs typeface="Times New Roman"/>
              </a:rPr>
              <a:t> </a:t>
            </a:r>
            <a:r>
              <a:rPr dirty="0" sz="1150" spc="0" u="heavy">
                <a:latin typeface="Times New Roman"/>
                <a:cs typeface="Times New Roman"/>
              </a:rPr>
              <a:t>	</a:t>
            </a:r>
            <a:r>
              <a:rPr dirty="0" sz="1150" spc="0">
                <a:latin typeface="Times New Roman"/>
                <a:cs typeface="Times New Roman"/>
              </a:rPr>
              <a:t> 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210636" y="589751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2" y="187008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269118" y="5884645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572693" y="480874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9" y="211073"/>
                </a:lnTo>
                <a:lnTo>
                  <a:pt x="109843" y="219095"/>
                </a:lnTo>
                <a:lnTo>
                  <a:pt x="151177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620335" y="4781362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997258" y="4254148"/>
            <a:ext cx="635635" cy="59055"/>
          </a:xfrm>
          <a:custGeom>
            <a:avLst/>
            <a:gdLst/>
            <a:ahLst/>
            <a:cxnLst/>
            <a:rect l="l" t="t" r="r" b="b"/>
            <a:pathLst>
              <a:path w="635634" h="59054">
                <a:moveTo>
                  <a:pt x="0" y="0"/>
                </a:moveTo>
                <a:lnTo>
                  <a:pt x="5332" y="493"/>
                </a:lnTo>
                <a:lnTo>
                  <a:pt x="635165" y="58733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938595" y="4222644"/>
            <a:ext cx="67310" cy="64135"/>
          </a:xfrm>
          <a:custGeom>
            <a:avLst/>
            <a:gdLst/>
            <a:ahLst/>
            <a:cxnLst/>
            <a:rect l="l" t="t" r="r" b="b"/>
            <a:pathLst>
              <a:path w="67309" h="64135">
                <a:moveTo>
                  <a:pt x="66954" y="0"/>
                </a:moveTo>
                <a:lnTo>
                  <a:pt x="0" y="26079"/>
                </a:lnTo>
                <a:lnTo>
                  <a:pt x="61036" y="63995"/>
                </a:lnTo>
                <a:lnTo>
                  <a:pt x="6695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353910" y="615570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7404535" y="613100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472903" y="385169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7522362" y="382804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478135" y="420111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3" y="0"/>
                </a:moveTo>
                <a:lnTo>
                  <a:pt x="68509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7522362" y="418152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330412" y="552154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3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7383112" y="5509743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442506" y="489970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428980" y="525192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7479516" y="5231245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369387" y="462965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2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7425959" y="4500722"/>
            <a:ext cx="190500" cy="58293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  <a:p>
            <a:pPr marL="87630">
              <a:lnSpc>
                <a:spcPct val="100000"/>
              </a:lnSpc>
              <a:spcBef>
                <a:spcPts val="81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2127444" y="4846435"/>
            <a:ext cx="249554" cy="256540"/>
          </a:xfrm>
          <a:custGeom>
            <a:avLst/>
            <a:gdLst/>
            <a:ahLst/>
            <a:cxnLst/>
            <a:rect l="l" t="t" r="r" b="b"/>
            <a:pathLst>
              <a:path w="249555" h="256539">
                <a:moveTo>
                  <a:pt x="61657" y="0"/>
                </a:moveTo>
                <a:lnTo>
                  <a:pt x="0" y="58459"/>
                </a:lnTo>
                <a:lnTo>
                  <a:pt x="66146" y="128223"/>
                </a:lnTo>
                <a:lnTo>
                  <a:pt x="0" y="197986"/>
                </a:lnTo>
                <a:lnTo>
                  <a:pt x="61657" y="256446"/>
                </a:lnTo>
                <a:lnTo>
                  <a:pt x="124688" y="189966"/>
                </a:lnTo>
                <a:lnTo>
                  <a:pt x="241772" y="189966"/>
                </a:lnTo>
                <a:lnTo>
                  <a:pt x="183230" y="128223"/>
                </a:lnTo>
                <a:lnTo>
                  <a:pt x="241772" y="66479"/>
                </a:lnTo>
                <a:lnTo>
                  <a:pt x="124688" y="66479"/>
                </a:lnTo>
                <a:lnTo>
                  <a:pt x="61657" y="0"/>
                </a:lnTo>
                <a:close/>
              </a:path>
              <a:path w="249555" h="256539">
                <a:moveTo>
                  <a:pt x="241772" y="189966"/>
                </a:moveTo>
                <a:lnTo>
                  <a:pt x="124688" y="189966"/>
                </a:lnTo>
                <a:lnTo>
                  <a:pt x="187719" y="256446"/>
                </a:lnTo>
                <a:lnTo>
                  <a:pt x="249377" y="197986"/>
                </a:lnTo>
                <a:lnTo>
                  <a:pt x="241772" y="189966"/>
                </a:lnTo>
                <a:close/>
              </a:path>
              <a:path w="249555" h="256539">
                <a:moveTo>
                  <a:pt x="187719" y="0"/>
                </a:moveTo>
                <a:lnTo>
                  <a:pt x="124688" y="66479"/>
                </a:lnTo>
                <a:lnTo>
                  <a:pt x="241772" y="66479"/>
                </a:lnTo>
                <a:lnTo>
                  <a:pt x="249377" y="58459"/>
                </a:lnTo>
                <a:lnTo>
                  <a:pt x="18771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881000" y="5123013"/>
            <a:ext cx="249554" cy="256540"/>
          </a:xfrm>
          <a:custGeom>
            <a:avLst/>
            <a:gdLst/>
            <a:ahLst/>
            <a:cxnLst/>
            <a:rect l="l" t="t" r="r" b="b"/>
            <a:pathLst>
              <a:path w="249554" h="256539">
                <a:moveTo>
                  <a:pt x="61655" y="0"/>
                </a:moveTo>
                <a:lnTo>
                  <a:pt x="0" y="58459"/>
                </a:lnTo>
                <a:lnTo>
                  <a:pt x="66146" y="128223"/>
                </a:lnTo>
                <a:lnTo>
                  <a:pt x="0" y="197986"/>
                </a:lnTo>
                <a:lnTo>
                  <a:pt x="61655" y="256446"/>
                </a:lnTo>
                <a:lnTo>
                  <a:pt x="124688" y="189966"/>
                </a:lnTo>
                <a:lnTo>
                  <a:pt x="241772" y="189966"/>
                </a:lnTo>
                <a:lnTo>
                  <a:pt x="183230" y="128223"/>
                </a:lnTo>
                <a:lnTo>
                  <a:pt x="241772" y="66479"/>
                </a:lnTo>
                <a:lnTo>
                  <a:pt x="124688" y="66479"/>
                </a:lnTo>
                <a:lnTo>
                  <a:pt x="61655" y="0"/>
                </a:lnTo>
                <a:close/>
              </a:path>
              <a:path w="249554" h="256539">
                <a:moveTo>
                  <a:pt x="241772" y="189966"/>
                </a:moveTo>
                <a:lnTo>
                  <a:pt x="124688" y="189966"/>
                </a:lnTo>
                <a:lnTo>
                  <a:pt x="187719" y="256446"/>
                </a:lnTo>
                <a:lnTo>
                  <a:pt x="249377" y="197986"/>
                </a:lnTo>
                <a:lnTo>
                  <a:pt x="241772" y="189966"/>
                </a:lnTo>
                <a:close/>
              </a:path>
              <a:path w="249554" h="256539">
                <a:moveTo>
                  <a:pt x="187719" y="0"/>
                </a:moveTo>
                <a:lnTo>
                  <a:pt x="124688" y="66479"/>
                </a:lnTo>
                <a:lnTo>
                  <a:pt x="241772" y="66479"/>
                </a:lnTo>
                <a:lnTo>
                  <a:pt x="249377" y="58459"/>
                </a:lnTo>
                <a:lnTo>
                  <a:pt x="18771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452886" y="5118592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529217" y="5197749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30" h="27939">
                <a:moveTo>
                  <a:pt x="21449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7"/>
                </a:lnTo>
                <a:lnTo>
                  <a:pt x="6186" y="27633"/>
                </a:lnTo>
                <a:lnTo>
                  <a:pt x="21449" y="27633"/>
                </a:lnTo>
                <a:lnTo>
                  <a:pt x="27635" y="21447"/>
                </a:lnTo>
                <a:lnTo>
                  <a:pt x="27635" y="6186"/>
                </a:lnTo>
                <a:lnTo>
                  <a:pt x="21449" y="0"/>
                </a:lnTo>
                <a:close/>
              </a:path>
              <a:path w="113030" h="27939">
                <a:moveTo>
                  <a:pt x="106438" y="0"/>
                </a:moveTo>
                <a:lnTo>
                  <a:pt x="91177" y="0"/>
                </a:lnTo>
                <a:lnTo>
                  <a:pt x="84990" y="6186"/>
                </a:lnTo>
                <a:lnTo>
                  <a:pt x="84990" y="21447"/>
                </a:lnTo>
                <a:lnTo>
                  <a:pt x="91177" y="27633"/>
                </a:lnTo>
                <a:lnTo>
                  <a:pt x="106438" y="27633"/>
                </a:lnTo>
                <a:lnTo>
                  <a:pt x="112624" y="21447"/>
                </a:lnTo>
                <a:lnTo>
                  <a:pt x="112624" y="6186"/>
                </a:lnTo>
                <a:lnTo>
                  <a:pt x="106438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529218" y="5197749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614208" y="5197749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513636" y="5309083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4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452886" y="5118592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986845" y="4485003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063177" y="4564160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30" h="27939">
                <a:moveTo>
                  <a:pt x="21447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7"/>
                </a:lnTo>
                <a:lnTo>
                  <a:pt x="6186" y="27633"/>
                </a:lnTo>
                <a:lnTo>
                  <a:pt x="21447" y="27633"/>
                </a:lnTo>
                <a:lnTo>
                  <a:pt x="27633" y="21447"/>
                </a:lnTo>
                <a:lnTo>
                  <a:pt x="27633" y="6186"/>
                </a:lnTo>
                <a:lnTo>
                  <a:pt x="21447" y="0"/>
                </a:lnTo>
                <a:close/>
              </a:path>
              <a:path w="113030" h="27939">
                <a:moveTo>
                  <a:pt x="106437" y="0"/>
                </a:moveTo>
                <a:lnTo>
                  <a:pt x="91175" y="0"/>
                </a:lnTo>
                <a:lnTo>
                  <a:pt x="84989" y="6186"/>
                </a:lnTo>
                <a:lnTo>
                  <a:pt x="84989" y="21447"/>
                </a:lnTo>
                <a:lnTo>
                  <a:pt x="91175" y="27633"/>
                </a:lnTo>
                <a:lnTo>
                  <a:pt x="106437" y="27633"/>
                </a:lnTo>
                <a:lnTo>
                  <a:pt x="112623" y="21447"/>
                </a:lnTo>
                <a:lnTo>
                  <a:pt x="112623" y="6186"/>
                </a:lnTo>
                <a:lnTo>
                  <a:pt x="106437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063176" y="4564160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148167" y="4564160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047595" y="4675494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4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986845" y="4485003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351928" y="4539726"/>
            <a:ext cx="2517775" cy="1403985"/>
          </a:xfrm>
          <a:custGeom>
            <a:avLst/>
            <a:gdLst/>
            <a:ahLst/>
            <a:cxnLst/>
            <a:rect l="l" t="t" r="r" b="b"/>
            <a:pathLst>
              <a:path w="2517775" h="1403985">
                <a:moveTo>
                  <a:pt x="2517289" y="0"/>
                </a:moveTo>
                <a:lnTo>
                  <a:pt x="1930998" y="26893"/>
                </a:lnTo>
                <a:lnTo>
                  <a:pt x="285078" y="602428"/>
                </a:lnTo>
                <a:lnTo>
                  <a:pt x="48409" y="634701"/>
                </a:lnTo>
                <a:lnTo>
                  <a:pt x="0" y="731520"/>
                </a:lnTo>
                <a:lnTo>
                  <a:pt x="1629784" y="1118795"/>
                </a:lnTo>
                <a:lnTo>
                  <a:pt x="2415091" y="1403873"/>
                </a:lnTo>
                <a:lnTo>
                  <a:pt x="25172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9" name="object 9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0" name="object 10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253983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988809" cy="2002789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33655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In the </a:t>
            </a:r>
            <a:r>
              <a:rPr dirty="0" spc="-15">
                <a:solidFill>
                  <a:srgbClr val="000000"/>
                </a:solidFill>
              </a:rPr>
              <a:t>next </a:t>
            </a:r>
            <a:r>
              <a:rPr dirty="0" spc="-25">
                <a:solidFill>
                  <a:srgbClr val="000000"/>
                </a:solidFill>
              </a:rPr>
              <a:t>layer </a:t>
            </a:r>
            <a:r>
              <a:rPr dirty="0" spc="-5">
                <a:solidFill>
                  <a:srgbClr val="000000"/>
                </a:solidFill>
              </a:rPr>
              <a:t>when </a:t>
            </a:r>
            <a:r>
              <a:rPr dirty="0" spc="-15">
                <a:solidFill>
                  <a:srgbClr val="000000"/>
                </a:solidFill>
              </a:rPr>
              <a:t>we compute </a:t>
            </a:r>
            <a:r>
              <a:rPr dirty="0" spc="-5">
                <a:solidFill>
                  <a:srgbClr val="000000"/>
                </a:solidFill>
              </a:rPr>
              <a:t>the  embeddings, </a:t>
            </a:r>
            <a:r>
              <a:rPr dirty="0" spc="-15">
                <a:solidFill>
                  <a:srgbClr val="000000"/>
                </a:solidFill>
              </a:rPr>
              <a:t>we can </a:t>
            </a:r>
            <a:r>
              <a:rPr dirty="0" spc="-5">
                <a:solidFill>
                  <a:srgbClr val="000000"/>
                </a:solidFill>
              </a:rPr>
              <a:t>sample </a:t>
            </a:r>
            <a:r>
              <a:rPr dirty="0" spc="-20">
                <a:solidFill>
                  <a:srgbClr val="000000"/>
                </a:solidFill>
              </a:rPr>
              <a:t>different  </a:t>
            </a:r>
            <a:r>
              <a:rPr dirty="0" spc="-10">
                <a:solidFill>
                  <a:srgbClr val="000000"/>
                </a:solidFill>
              </a:rPr>
              <a:t>neighbors</a:t>
            </a: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Only nodes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𝐶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𝐷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will pass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messages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to  </a:t>
            </a:r>
            <a:r>
              <a:rPr dirty="0" sz="2800" spc="-260">
                <a:solidFill>
                  <a:srgbClr val="C00000"/>
                </a:solidFill>
                <a:latin typeface="Cambria Math"/>
                <a:cs typeface="Cambria Math"/>
              </a:rPr>
              <a:t>𝐴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6345" y="5239543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 h="0">
                <a:moveTo>
                  <a:pt x="0" y="0"/>
                </a:moveTo>
                <a:lnTo>
                  <a:pt x="45715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84227" y="5188127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5"/>
                </a:lnTo>
                <a:lnTo>
                  <a:pt x="102830" y="102830"/>
                </a:lnTo>
                <a:lnTo>
                  <a:pt x="1028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22060" y="4917067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634890"/>
                </a:moveTo>
                <a:lnTo>
                  <a:pt x="698762" y="634890"/>
                </a:lnTo>
                <a:lnTo>
                  <a:pt x="698762" y="0"/>
                </a:lnTo>
                <a:lnTo>
                  <a:pt x="0" y="0"/>
                </a:lnTo>
                <a:lnTo>
                  <a:pt x="0" y="63489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22060" y="4917066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0"/>
                </a:moveTo>
                <a:lnTo>
                  <a:pt x="698763" y="0"/>
                </a:lnTo>
                <a:lnTo>
                  <a:pt x="698763" y="634890"/>
                </a:lnTo>
                <a:lnTo>
                  <a:pt x="0" y="63489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41540" y="5470995"/>
            <a:ext cx="560705" cy="360045"/>
          </a:xfrm>
          <a:custGeom>
            <a:avLst/>
            <a:gdLst/>
            <a:ahLst/>
            <a:cxnLst/>
            <a:rect l="l" t="t" r="r" b="b"/>
            <a:pathLst>
              <a:path w="560705" h="360045">
                <a:moveTo>
                  <a:pt x="0" y="350678"/>
                </a:moveTo>
                <a:lnTo>
                  <a:pt x="554859" y="0"/>
                </a:lnTo>
                <a:lnTo>
                  <a:pt x="560581" y="9054"/>
                </a:lnTo>
                <a:lnTo>
                  <a:pt x="5722" y="359733"/>
                </a:lnTo>
                <a:lnTo>
                  <a:pt x="0" y="35067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98122" y="5190973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5"/>
                </a:lnTo>
                <a:lnTo>
                  <a:pt x="102830" y="102830"/>
                </a:lnTo>
                <a:lnTo>
                  <a:pt x="10283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81559" y="5410495"/>
            <a:ext cx="690245" cy="581025"/>
          </a:xfrm>
          <a:custGeom>
            <a:avLst/>
            <a:gdLst/>
            <a:ahLst/>
            <a:cxnLst/>
            <a:rect l="l" t="t" r="r" b="b"/>
            <a:pathLst>
              <a:path w="690245" h="581025">
                <a:moveTo>
                  <a:pt x="0" y="0"/>
                </a:moveTo>
                <a:lnTo>
                  <a:pt x="8192" y="6900"/>
                </a:lnTo>
                <a:lnTo>
                  <a:pt x="689746" y="581017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11105" y="5351147"/>
            <a:ext cx="112395" cy="106045"/>
          </a:xfrm>
          <a:custGeom>
            <a:avLst/>
            <a:gdLst/>
            <a:ahLst/>
            <a:cxnLst/>
            <a:rect l="l" t="t" r="r" b="b"/>
            <a:pathLst>
              <a:path w="112395" h="106045">
                <a:moveTo>
                  <a:pt x="0" y="0"/>
                </a:moveTo>
                <a:lnTo>
                  <a:pt x="45520" y="105571"/>
                </a:lnTo>
                <a:lnTo>
                  <a:pt x="111770" y="2692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83436" y="4447030"/>
            <a:ext cx="768985" cy="606425"/>
          </a:xfrm>
          <a:custGeom>
            <a:avLst/>
            <a:gdLst/>
            <a:ahLst/>
            <a:cxnLst/>
            <a:rect l="l" t="t" r="r" b="b"/>
            <a:pathLst>
              <a:path w="768985" h="606425">
                <a:moveTo>
                  <a:pt x="0" y="606064"/>
                </a:moveTo>
                <a:lnTo>
                  <a:pt x="8410" y="599431"/>
                </a:lnTo>
                <a:lnTo>
                  <a:pt x="768465" y="0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11105" y="5006090"/>
            <a:ext cx="113030" cy="104139"/>
          </a:xfrm>
          <a:custGeom>
            <a:avLst/>
            <a:gdLst/>
            <a:ahLst/>
            <a:cxnLst/>
            <a:rect l="l" t="t" r="r" b="b"/>
            <a:pathLst>
              <a:path w="113029" h="104139">
                <a:moveTo>
                  <a:pt x="48901" y="0"/>
                </a:moveTo>
                <a:lnTo>
                  <a:pt x="0" y="104048"/>
                </a:lnTo>
                <a:lnTo>
                  <a:pt x="112580" y="80741"/>
                </a:lnTo>
                <a:lnTo>
                  <a:pt x="4890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35638" y="4074471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238434" y="0"/>
                </a:moveTo>
                <a:lnTo>
                  <a:pt x="0" y="68370"/>
                </a:lnTo>
                <a:lnTo>
                  <a:pt x="74999" y="329921"/>
                </a:lnTo>
                <a:lnTo>
                  <a:pt x="313433" y="261552"/>
                </a:lnTo>
                <a:lnTo>
                  <a:pt x="23843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35638" y="4074471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0" y="68369"/>
                </a:moveTo>
                <a:lnTo>
                  <a:pt x="238434" y="0"/>
                </a:lnTo>
                <a:lnTo>
                  <a:pt x="313433" y="261551"/>
                </a:lnTo>
                <a:lnTo>
                  <a:pt x="74998" y="329921"/>
                </a:lnTo>
                <a:lnTo>
                  <a:pt x="0" y="68369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80434" y="3920533"/>
            <a:ext cx="599440" cy="231775"/>
          </a:xfrm>
          <a:custGeom>
            <a:avLst/>
            <a:gdLst/>
            <a:ahLst/>
            <a:cxnLst/>
            <a:rect l="l" t="t" r="r" b="b"/>
            <a:pathLst>
              <a:path w="599440" h="231775">
                <a:moveTo>
                  <a:pt x="0" y="231763"/>
                </a:moveTo>
                <a:lnTo>
                  <a:pt x="4995" y="229831"/>
                </a:lnTo>
                <a:lnTo>
                  <a:pt x="599425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25485" y="4120393"/>
            <a:ext cx="71755" cy="60325"/>
          </a:xfrm>
          <a:custGeom>
            <a:avLst/>
            <a:gdLst/>
            <a:ahLst/>
            <a:cxnLst/>
            <a:rect l="l" t="t" r="r" b="b"/>
            <a:pathLst>
              <a:path w="71754" h="60325">
                <a:moveTo>
                  <a:pt x="48356" y="0"/>
                </a:moveTo>
                <a:lnTo>
                  <a:pt x="0" y="53149"/>
                </a:lnTo>
                <a:lnTo>
                  <a:pt x="71534" y="59945"/>
                </a:lnTo>
                <a:lnTo>
                  <a:pt x="4835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12356" y="4278788"/>
            <a:ext cx="62865" cy="20320"/>
          </a:xfrm>
          <a:custGeom>
            <a:avLst/>
            <a:gdLst/>
            <a:ahLst/>
            <a:cxnLst/>
            <a:rect l="l" t="t" r="r" b="b"/>
            <a:pathLst>
              <a:path w="62865" h="20320">
                <a:moveTo>
                  <a:pt x="62264" y="0"/>
                </a:moveTo>
                <a:lnTo>
                  <a:pt x="10193" y="16811"/>
                </a:lnTo>
                <a:lnTo>
                  <a:pt x="0" y="2010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24693" y="4246671"/>
            <a:ext cx="113664" cy="98425"/>
          </a:xfrm>
          <a:custGeom>
            <a:avLst/>
            <a:gdLst/>
            <a:ahLst/>
            <a:cxnLst/>
            <a:rect l="l" t="t" r="r" b="b"/>
            <a:pathLst>
              <a:path w="113665" h="98425">
                <a:moveTo>
                  <a:pt x="82059" y="0"/>
                </a:moveTo>
                <a:lnTo>
                  <a:pt x="0" y="80523"/>
                </a:lnTo>
                <a:lnTo>
                  <a:pt x="113653" y="97857"/>
                </a:lnTo>
                <a:lnTo>
                  <a:pt x="820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59290" y="5040647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247891" y="0"/>
                </a:moveTo>
                <a:lnTo>
                  <a:pt x="0" y="8656"/>
                </a:lnTo>
                <a:lnTo>
                  <a:pt x="9495" y="280583"/>
                </a:lnTo>
                <a:lnTo>
                  <a:pt x="257387" y="271926"/>
                </a:lnTo>
                <a:lnTo>
                  <a:pt x="24789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59290" y="5040647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0" y="8656"/>
                </a:moveTo>
                <a:lnTo>
                  <a:pt x="247891" y="0"/>
                </a:lnTo>
                <a:lnTo>
                  <a:pt x="257387" y="271926"/>
                </a:lnTo>
                <a:lnTo>
                  <a:pt x="9495" y="280583"/>
                </a:lnTo>
                <a:lnTo>
                  <a:pt x="0" y="8656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98949" y="5190644"/>
            <a:ext cx="65405" cy="4445"/>
          </a:xfrm>
          <a:custGeom>
            <a:avLst/>
            <a:gdLst/>
            <a:ahLst/>
            <a:cxnLst/>
            <a:rect l="l" t="t" r="r" b="b"/>
            <a:pathLst>
              <a:path w="65404" h="4445">
                <a:moveTo>
                  <a:pt x="65277" y="0"/>
                </a:moveTo>
                <a:lnTo>
                  <a:pt x="10686" y="3715"/>
                </a:lnTo>
                <a:lnTo>
                  <a:pt x="0" y="444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07043" y="5143063"/>
            <a:ext cx="106680" cy="102870"/>
          </a:xfrm>
          <a:custGeom>
            <a:avLst/>
            <a:gdLst/>
            <a:ahLst/>
            <a:cxnLst/>
            <a:rect l="l" t="t" r="r" b="b"/>
            <a:pathLst>
              <a:path w="106679" h="102870">
                <a:moveTo>
                  <a:pt x="99101" y="0"/>
                </a:moveTo>
                <a:lnTo>
                  <a:pt x="0" y="58279"/>
                </a:lnTo>
                <a:lnTo>
                  <a:pt x="106084" y="102593"/>
                </a:lnTo>
                <a:lnTo>
                  <a:pt x="99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74756" y="5929896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0" y="264577"/>
                </a:lnTo>
                <a:lnTo>
                  <a:pt x="241192" y="322469"/>
                </a:lnTo>
                <a:lnTo>
                  <a:pt x="304697" y="57892"/>
                </a:lnTo>
                <a:lnTo>
                  <a:pt x="6350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74755" y="5929896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304697" y="57892"/>
                </a:lnTo>
                <a:lnTo>
                  <a:pt x="241192" y="322469"/>
                </a:lnTo>
                <a:lnTo>
                  <a:pt x="0" y="264577"/>
                </a:lnTo>
                <a:lnTo>
                  <a:pt x="63505" y="0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07183" y="6142140"/>
            <a:ext cx="521334" cy="125730"/>
          </a:xfrm>
          <a:custGeom>
            <a:avLst/>
            <a:gdLst/>
            <a:ahLst/>
            <a:cxnLst/>
            <a:rect l="l" t="t" r="r" b="b"/>
            <a:pathLst>
              <a:path w="521334" h="125729">
                <a:moveTo>
                  <a:pt x="0" y="0"/>
                </a:moveTo>
                <a:lnTo>
                  <a:pt x="5207" y="1251"/>
                </a:lnTo>
                <a:lnTo>
                  <a:pt x="520988" y="125259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49903" y="6112149"/>
            <a:ext cx="70485" cy="62865"/>
          </a:xfrm>
          <a:custGeom>
            <a:avLst/>
            <a:gdLst/>
            <a:ahLst/>
            <a:cxnLst/>
            <a:rect l="l" t="t" r="r" b="b"/>
            <a:pathLst>
              <a:path w="70484" h="62864">
                <a:moveTo>
                  <a:pt x="69999" y="0"/>
                </a:moveTo>
                <a:lnTo>
                  <a:pt x="0" y="16220"/>
                </a:lnTo>
                <a:lnTo>
                  <a:pt x="54975" y="62488"/>
                </a:lnTo>
                <a:lnTo>
                  <a:pt x="6999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41161" y="6054255"/>
            <a:ext cx="64135" cy="13335"/>
          </a:xfrm>
          <a:custGeom>
            <a:avLst/>
            <a:gdLst/>
            <a:ahLst/>
            <a:cxnLst/>
            <a:rect l="l" t="t" r="r" b="b"/>
            <a:pathLst>
              <a:path w="64134" h="13335">
                <a:moveTo>
                  <a:pt x="64091" y="13160"/>
                </a:moveTo>
                <a:lnTo>
                  <a:pt x="10492" y="2154"/>
                </a:lnTo>
                <a:lnTo>
                  <a:pt x="0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450925" y="6006045"/>
            <a:ext cx="111125" cy="100965"/>
          </a:xfrm>
          <a:custGeom>
            <a:avLst/>
            <a:gdLst/>
            <a:ahLst/>
            <a:cxnLst/>
            <a:rect l="l" t="t" r="r" b="b"/>
            <a:pathLst>
              <a:path w="111125" h="100964">
                <a:moveTo>
                  <a:pt x="111070" y="0"/>
                </a:moveTo>
                <a:lnTo>
                  <a:pt x="0" y="29680"/>
                </a:lnTo>
                <a:lnTo>
                  <a:pt x="90385" y="100728"/>
                </a:lnTo>
                <a:lnTo>
                  <a:pt x="111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973585" y="5307872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0"/>
                </a:moveTo>
                <a:lnTo>
                  <a:pt x="4375" y="3088"/>
                </a:lnTo>
                <a:lnTo>
                  <a:pt x="465926" y="32884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25453" y="5273900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0" y="0"/>
                </a:moveTo>
                <a:lnTo>
                  <a:pt x="33978" y="63313"/>
                </a:lnTo>
                <a:lnTo>
                  <a:pt x="71038" y="1080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996973" y="5226266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0"/>
                </a:moveTo>
                <a:lnTo>
                  <a:pt x="5130" y="1534"/>
                </a:lnTo>
                <a:lnTo>
                  <a:pt x="546369" y="16342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40530" y="5197015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70782" y="0"/>
                </a:moveTo>
                <a:lnTo>
                  <a:pt x="0" y="12368"/>
                </a:lnTo>
                <a:lnTo>
                  <a:pt x="52364" y="61572"/>
                </a:lnTo>
                <a:lnTo>
                  <a:pt x="70782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975647" y="4753238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328846"/>
                </a:moveTo>
                <a:lnTo>
                  <a:pt x="4375" y="325758"/>
                </a:lnTo>
                <a:lnTo>
                  <a:pt x="465926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27514" y="5052743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33977" y="0"/>
                </a:moveTo>
                <a:lnTo>
                  <a:pt x="0" y="63313"/>
                </a:lnTo>
                <a:lnTo>
                  <a:pt x="71037" y="52506"/>
                </a:lnTo>
                <a:lnTo>
                  <a:pt x="3397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99035" y="5000264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163426"/>
                </a:moveTo>
                <a:lnTo>
                  <a:pt x="5130" y="161891"/>
                </a:lnTo>
                <a:lnTo>
                  <a:pt x="546369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942593" y="5131368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52363" y="0"/>
                </a:moveTo>
                <a:lnTo>
                  <a:pt x="0" y="49204"/>
                </a:lnTo>
                <a:lnTo>
                  <a:pt x="70782" y="61573"/>
                </a:lnTo>
                <a:lnTo>
                  <a:pt x="523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62895" y="4990837"/>
            <a:ext cx="548005" cy="823594"/>
          </a:xfrm>
          <a:custGeom>
            <a:avLst/>
            <a:gdLst/>
            <a:ahLst/>
            <a:cxnLst/>
            <a:rect l="l" t="t" r="r" b="b"/>
            <a:pathLst>
              <a:path w="548005" h="823595">
                <a:moveTo>
                  <a:pt x="0" y="817674"/>
                </a:moveTo>
                <a:lnTo>
                  <a:pt x="538911" y="0"/>
                </a:lnTo>
                <a:lnTo>
                  <a:pt x="547854" y="5894"/>
                </a:lnTo>
                <a:lnTo>
                  <a:pt x="8943" y="823568"/>
                </a:lnTo>
                <a:lnTo>
                  <a:pt x="0" y="817674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0184" y="4913196"/>
            <a:ext cx="1208405" cy="109220"/>
          </a:xfrm>
          <a:custGeom>
            <a:avLst/>
            <a:gdLst/>
            <a:ahLst/>
            <a:cxnLst/>
            <a:rect l="l" t="t" r="r" b="b"/>
            <a:pathLst>
              <a:path w="1208405" h="109220">
                <a:moveTo>
                  <a:pt x="869" y="0"/>
                </a:moveTo>
                <a:lnTo>
                  <a:pt x="1208045" y="98282"/>
                </a:lnTo>
                <a:lnTo>
                  <a:pt x="1207176" y="108958"/>
                </a:lnTo>
                <a:lnTo>
                  <a:pt x="0" y="10676"/>
                </a:lnTo>
                <a:lnTo>
                  <a:pt x="86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04685" y="4399092"/>
            <a:ext cx="268605" cy="620395"/>
          </a:xfrm>
          <a:custGeom>
            <a:avLst/>
            <a:gdLst/>
            <a:ahLst/>
            <a:cxnLst/>
            <a:rect l="l" t="t" r="r" b="b"/>
            <a:pathLst>
              <a:path w="268605" h="620395">
                <a:moveTo>
                  <a:pt x="9876" y="0"/>
                </a:moveTo>
                <a:lnTo>
                  <a:pt x="268416" y="616049"/>
                </a:lnTo>
                <a:lnTo>
                  <a:pt x="258540" y="620194"/>
                </a:lnTo>
                <a:lnTo>
                  <a:pt x="0" y="4145"/>
                </a:lnTo>
                <a:lnTo>
                  <a:pt x="987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781008" y="6161001"/>
            <a:ext cx="86042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" b="1">
                <a:latin typeface="Arial"/>
                <a:cs typeface="Arial"/>
              </a:rPr>
              <a:t>INPUT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spc="-5" b="1">
                <a:latin typeface="Arial"/>
                <a:cs typeface="Arial"/>
              </a:rPr>
              <a:t>GRAPH</a:t>
            </a:r>
            <a:endParaRPr sz="9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666337" y="4419274"/>
            <a:ext cx="1270" cy="274955"/>
          </a:xfrm>
          <a:custGeom>
            <a:avLst/>
            <a:gdLst/>
            <a:ahLst/>
            <a:cxnLst/>
            <a:rect l="l" t="t" r="r" b="b"/>
            <a:pathLst>
              <a:path w="1269" h="274954">
                <a:moveTo>
                  <a:pt x="0" y="0"/>
                </a:moveTo>
                <a:lnTo>
                  <a:pt x="914" y="269532"/>
                </a:lnTo>
                <a:lnTo>
                  <a:pt x="932" y="274888"/>
                </a:lnTo>
              </a:path>
            </a:pathLst>
          </a:custGeom>
          <a:ln w="107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635118" y="4688697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69" h="64770">
                <a:moveTo>
                  <a:pt x="64268" y="0"/>
                </a:moveTo>
                <a:lnTo>
                  <a:pt x="0" y="218"/>
                </a:lnTo>
                <a:lnTo>
                  <a:pt x="32351" y="64377"/>
                </a:lnTo>
                <a:lnTo>
                  <a:pt x="64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224011" y="4232935"/>
            <a:ext cx="8566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5">
                <a:latin typeface="Arial"/>
                <a:cs typeface="Arial"/>
              </a:rPr>
              <a:t>TARGET</a:t>
            </a:r>
            <a:r>
              <a:rPr dirty="0" sz="950" spc="-20">
                <a:latin typeface="Arial"/>
                <a:cs typeface="Arial"/>
              </a:rPr>
              <a:t> NODE</a:t>
            </a:r>
            <a:endParaRPr sz="9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693007" y="4384232"/>
            <a:ext cx="883919" cy="520065"/>
          </a:xfrm>
          <a:custGeom>
            <a:avLst/>
            <a:gdLst/>
            <a:ahLst/>
            <a:cxnLst/>
            <a:rect l="l" t="t" r="r" b="b"/>
            <a:pathLst>
              <a:path w="883919" h="520064">
                <a:moveTo>
                  <a:pt x="883776" y="9260"/>
                </a:moveTo>
                <a:lnTo>
                  <a:pt x="5383" y="519880"/>
                </a:lnTo>
                <a:lnTo>
                  <a:pt x="0" y="510619"/>
                </a:lnTo>
                <a:lnTo>
                  <a:pt x="878392" y="0"/>
                </a:lnTo>
                <a:lnTo>
                  <a:pt x="883776" y="926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470455" y="424728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530811" y="4224366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371154" y="4964204"/>
            <a:ext cx="327025" cy="704850"/>
          </a:xfrm>
          <a:custGeom>
            <a:avLst/>
            <a:gdLst/>
            <a:ahLst/>
            <a:cxnLst/>
            <a:rect l="l" t="t" r="r" b="b"/>
            <a:pathLst>
              <a:path w="327025" h="704850">
                <a:moveTo>
                  <a:pt x="326584" y="4415"/>
                </a:moveTo>
                <a:lnTo>
                  <a:pt x="9759" y="704679"/>
                </a:lnTo>
                <a:lnTo>
                  <a:pt x="0" y="700264"/>
                </a:lnTo>
                <a:lnTo>
                  <a:pt x="316825" y="0"/>
                </a:lnTo>
                <a:lnTo>
                  <a:pt x="326584" y="44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25736" y="550759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384683" y="548832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250769" y="572650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305870" y="571326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914404" y="5064038"/>
            <a:ext cx="171450" cy="341630"/>
          </a:xfrm>
          <a:custGeom>
            <a:avLst/>
            <a:gdLst/>
            <a:ahLst/>
            <a:cxnLst/>
            <a:rect l="l" t="t" r="r" b="b"/>
            <a:pathLst>
              <a:path w="171450" h="341629">
                <a:moveTo>
                  <a:pt x="9657" y="0"/>
                </a:moveTo>
                <a:lnTo>
                  <a:pt x="171247" y="336816"/>
                </a:lnTo>
                <a:lnTo>
                  <a:pt x="161590" y="341449"/>
                </a:lnTo>
                <a:lnTo>
                  <a:pt x="0" y="4633"/>
                </a:lnTo>
                <a:lnTo>
                  <a:pt x="965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63310" y="5312282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012828" y="5295513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770058" y="4895383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9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820022" y="4877766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210806" y="514963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3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3" y="187008"/>
                </a:lnTo>
                <a:lnTo>
                  <a:pt x="68509" y="211073"/>
                </a:lnTo>
                <a:lnTo>
                  <a:pt x="109843" y="219095"/>
                </a:lnTo>
                <a:lnTo>
                  <a:pt x="151177" y="211073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266072" y="512412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298530" y="423663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4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8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2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354810" y="4213654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266727" y="5097167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4" y="0"/>
                </a:moveTo>
                <a:lnTo>
                  <a:pt x="68510" y="8021"/>
                </a:lnTo>
                <a:lnTo>
                  <a:pt x="32173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3" y="187009"/>
                </a:lnTo>
                <a:lnTo>
                  <a:pt x="68510" y="211073"/>
                </a:lnTo>
                <a:lnTo>
                  <a:pt x="109844" y="219094"/>
                </a:lnTo>
                <a:lnTo>
                  <a:pt x="151178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8" y="8021"/>
                </a:lnTo>
                <a:lnTo>
                  <a:pt x="109844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5477541" y="5081283"/>
            <a:ext cx="94996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86130" algn="l"/>
              </a:tabLst>
            </a:pPr>
            <a:r>
              <a:rPr dirty="0" sz="1150" spc="0" u="heavy">
                <a:latin typeface="Times New Roman"/>
                <a:cs typeface="Times New Roman"/>
              </a:rPr>
              <a:t> </a:t>
            </a:r>
            <a:r>
              <a:rPr dirty="0" sz="1150" spc="0" u="heavy">
                <a:latin typeface="Times New Roman"/>
                <a:cs typeface="Times New Roman"/>
              </a:rPr>
              <a:t>	</a:t>
            </a:r>
            <a:r>
              <a:rPr dirty="0" sz="1150" spc="0">
                <a:latin typeface="Times New Roman"/>
                <a:cs typeface="Times New Roman"/>
              </a:rPr>
              <a:t> 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210636" y="589751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2" y="187008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269118" y="5884645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572693" y="480874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9" y="211073"/>
                </a:lnTo>
                <a:lnTo>
                  <a:pt x="109843" y="219095"/>
                </a:lnTo>
                <a:lnTo>
                  <a:pt x="151177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620335" y="4781362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997258" y="4254148"/>
            <a:ext cx="635635" cy="59055"/>
          </a:xfrm>
          <a:custGeom>
            <a:avLst/>
            <a:gdLst/>
            <a:ahLst/>
            <a:cxnLst/>
            <a:rect l="l" t="t" r="r" b="b"/>
            <a:pathLst>
              <a:path w="635634" h="59054">
                <a:moveTo>
                  <a:pt x="0" y="0"/>
                </a:moveTo>
                <a:lnTo>
                  <a:pt x="5332" y="493"/>
                </a:lnTo>
                <a:lnTo>
                  <a:pt x="635165" y="58733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938595" y="4222644"/>
            <a:ext cx="67310" cy="64135"/>
          </a:xfrm>
          <a:custGeom>
            <a:avLst/>
            <a:gdLst/>
            <a:ahLst/>
            <a:cxnLst/>
            <a:rect l="l" t="t" r="r" b="b"/>
            <a:pathLst>
              <a:path w="67309" h="64135">
                <a:moveTo>
                  <a:pt x="66954" y="0"/>
                </a:moveTo>
                <a:lnTo>
                  <a:pt x="0" y="26079"/>
                </a:lnTo>
                <a:lnTo>
                  <a:pt x="61036" y="63995"/>
                </a:lnTo>
                <a:lnTo>
                  <a:pt x="6695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353910" y="615570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7404535" y="613100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472903" y="385169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3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7522362" y="382804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478135" y="420111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3" y="0"/>
                </a:moveTo>
                <a:lnTo>
                  <a:pt x="68509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7522362" y="418152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330412" y="552154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3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7383112" y="5509743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442506" y="489970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428980" y="525192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7479516" y="5231245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369387" y="462965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2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7425959" y="4500722"/>
            <a:ext cx="190500" cy="58293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  <a:p>
            <a:pPr marL="87630">
              <a:lnSpc>
                <a:spcPct val="100000"/>
              </a:lnSpc>
              <a:spcBef>
                <a:spcPts val="81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2042778" y="4480436"/>
            <a:ext cx="249554" cy="256540"/>
          </a:xfrm>
          <a:custGeom>
            <a:avLst/>
            <a:gdLst/>
            <a:ahLst/>
            <a:cxnLst/>
            <a:rect l="l" t="t" r="r" b="b"/>
            <a:pathLst>
              <a:path w="249555" h="256539">
                <a:moveTo>
                  <a:pt x="61655" y="0"/>
                </a:moveTo>
                <a:lnTo>
                  <a:pt x="0" y="58459"/>
                </a:lnTo>
                <a:lnTo>
                  <a:pt x="66146" y="128223"/>
                </a:lnTo>
                <a:lnTo>
                  <a:pt x="0" y="197986"/>
                </a:lnTo>
                <a:lnTo>
                  <a:pt x="61655" y="256446"/>
                </a:lnTo>
                <a:lnTo>
                  <a:pt x="124688" y="189966"/>
                </a:lnTo>
                <a:lnTo>
                  <a:pt x="241772" y="189966"/>
                </a:lnTo>
                <a:lnTo>
                  <a:pt x="183230" y="128223"/>
                </a:lnTo>
                <a:lnTo>
                  <a:pt x="241772" y="66479"/>
                </a:lnTo>
                <a:lnTo>
                  <a:pt x="124688" y="66479"/>
                </a:lnTo>
                <a:lnTo>
                  <a:pt x="61655" y="0"/>
                </a:lnTo>
                <a:close/>
              </a:path>
              <a:path w="249555" h="256539">
                <a:moveTo>
                  <a:pt x="241772" y="189966"/>
                </a:moveTo>
                <a:lnTo>
                  <a:pt x="124688" y="189966"/>
                </a:lnTo>
                <a:lnTo>
                  <a:pt x="187719" y="256446"/>
                </a:lnTo>
                <a:lnTo>
                  <a:pt x="249377" y="197986"/>
                </a:lnTo>
                <a:lnTo>
                  <a:pt x="241772" y="189966"/>
                </a:lnTo>
                <a:close/>
              </a:path>
              <a:path w="249555" h="256539">
                <a:moveTo>
                  <a:pt x="187719" y="0"/>
                </a:moveTo>
                <a:lnTo>
                  <a:pt x="124688" y="66479"/>
                </a:lnTo>
                <a:lnTo>
                  <a:pt x="241772" y="66479"/>
                </a:lnTo>
                <a:lnTo>
                  <a:pt x="249377" y="58459"/>
                </a:lnTo>
                <a:lnTo>
                  <a:pt x="18771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765117" y="4601643"/>
            <a:ext cx="249554" cy="256540"/>
          </a:xfrm>
          <a:custGeom>
            <a:avLst/>
            <a:gdLst/>
            <a:ahLst/>
            <a:cxnLst/>
            <a:rect l="l" t="t" r="r" b="b"/>
            <a:pathLst>
              <a:path w="249554" h="256539">
                <a:moveTo>
                  <a:pt x="61657" y="0"/>
                </a:moveTo>
                <a:lnTo>
                  <a:pt x="0" y="58459"/>
                </a:lnTo>
                <a:lnTo>
                  <a:pt x="66146" y="128223"/>
                </a:lnTo>
                <a:lnTo>
                  <a:pt x="0" y="197986"/>
                </a:lnTo>
                <a:lnTo>
                  <a:pt x="61657" y="256446"/>
                </a:lnTo>
                <a:lnTo>
                  <a:pt x="124688" y="189966"/>
                </a:lnTo>
                <a:lnTo>
                  <a:pt x="241772" y="189966"/>
                </a:lnTo>
                <a:lnTo>
                  <a:pt x="183230" y="128223"/>
                </a:lnTo>
                <a:lnTo>
                  <a:pt x="241772" y="66479"/>
                </a:lnTo>
                <a:lnTo>
                  <a:pt x="124688" y="66479"/>
                </a:lnTo>
                <a:lnTo>
                  <a:pt x="61657" y="0"/>
                </a:lnTo>
                <a:close/>
              </a:path>
              <a:path w="249554" h="256539">
                <a:moveTo>
                  <a:pt x="241772" y="189966"/>
                </a:moveTo>
                <a:lnTo>
                  <a:pt x="124688" y="189966"/>
                </a:lnTo>
                <a:lnTo>
                  <a:pt x="187721" y="256446"/>
                </a:lnTo>
                <a:lnTo>
                  <a:pt x="249377" y="197986"/>
                </a:lnTo>
                <a:lnTo>
                  <a:pt x="241772" y="189966"/>
                </a:lnTo>
                <a:close/>
              </a:path>
              <a:path w="249554" h="256539">
                <a:moveTo>
                  <a:pt x="187721" y="0"/>
                </a:moveTo>
                <a:lnTo>
                  <a:pt x="124688" y="66479"/>
                </a:lnTo>
                <a:lnTo>
                  <a:pt x="241772" y="66479"/>
                </a:lnTo>
                <a:lnTo>
                  <a:pt x="249377" y="58459"/>
                </a:lnTo>
                <a:lnTo>
                  <a:pt x="18772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452886" y="5118592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529217" y="5197749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30" h="27939">
                <a:moveTo>
                  <a:pt x="21449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7"/>
                </a:lnTo>
                <a:lnTo>
                  <a:pt x="6186" y="27633"/>
                </a:lnTo>
                <a:lnTo>
                  <a:pt x="21449" y="27633"/>
                </a:lnTo>
                <a:lnTo>
                  <a:pt x="27635" y="21447"/>
                </a:lnTo>
                <a:lnTo>
                  <a:pt x="27635" y="6186"/>
                </a:lnTo>
                <a:lnTo>
                  <a:pt x="21449" y="0"/>
                </a:lnTo>
                <a:close/>
              </a:path>
              <a:path w="113030" h="27939">
                <a:moveTo>
                  <a:pt x="106438" y="0"/>
                </a:moveTo>
                <a:lnTo>
                  <a:pt x="91177" y="0"/>
                </a:lnTo>
                <a:lnTo>
                  <a:pt x="84990" y="6186"/>
                </a:lnTo>
                <a:lnTo>
                  <a:pt x="84990" y="21447"/>
                </a:lnTo>
                <a:lnTo>
                  <a:pt x="91177" y="27633"/>
                </a:lnTo>
                <a:lnTo>
                  <a:pt x="106438" y="27633"/>
                </a:lnTo>
                <a:lnTo>
                  <a:pt x="112624" y="21447"/>
                </a:lnTo>
                <a:lnTo>
                  <a:pt x="112624" y="6186"/>
                </a:lnTo>
                <a:lnTo>
                  <a:pt x="106438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529218" y="5197749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614208" y="5197749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513636" y="5309083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4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452886" y="5118592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986845" y="4829638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063177" y="4908794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30" h="27939">
                <a:moveTo>
                  <a:pt x="21447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7"/>
                </a:lnTo>
                <a:lnTo>
                  <a:pt x="6186" y="27633"/>
                </a:lnTo>
                <a:lnTo>
                  <a:pt x="21447" y="27633"/>
                </a:lnTo>
                <a:lnTo>
                  <a:pt x="27633" y="21447"/>
                </a:lnTo>
                <a:lnTo>
                  <a:pt x="27633" y="6186"/>
                </a:lnTo>
                <a:lnTo>
                  <a:pt x="21447" y="0"/>
                </a:lnTo>
                <a:close/>
              </a:path>
              <a:path w="113030" h="27939">
                <a:moveTo>
                  <a:pt x="106437" y="0"/>
                </a:moveTo>
                <a:lnTo>
                  <a:pt x="91175" y="0"/>
                </a:lnTo>
                <a:lnTo>
                  <a:pt x="84989" y="6186"/>
                </a:lnTo>
                <a:lnTo>
                  <a:pt x="84989" y="21447"/>
                </a:lnTo>
                <a:lnTo>
                  <a:pt x="91175" y="27633"/>
                </a:lnTo>
                <a:lnTo>
                  <a:pt x="106437" y="27633"/>
                </a:lnTo>
                <a:lnTo>
                  <a:pt x="112623" y="21447"/>
                </a:lnTo>
                <a:lnTo>
                  <a:pt x="112623" y="6186"/>
                </a:lnTo>
                <a:lnTo>
                  <a:pt x="106437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063176" y="4908794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148167" y="4908794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047595" y="5020129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4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986845" y="4829638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373444" y="3711388"/>
            <a:ext cx="2463800" cy="1414780"/>
          </a:xfrm>
          <a:custGeom>
            <a:avLst/>
            <a:gdLst/>
            <a:ahLst/>
            <a:cxnLst/>
            <a:rect l="l" t="t" r="r" b="b"/>
            <a:pathLst>
              <a:path w="2463800" h="1414779">
                <a:moveTo>
                  <a:pt x="2393575" y="0"/>
                </a:moveTo>
                <a:lnTo>
                  <a:pt x="865990" y="392653"/>
                </a:lnTo>
                <a:lnTo>
                  <a:pt x="102196" y="1194098"/>
                </a:lnTo>
                <a:lnTo>
                  <a:pt x="0" y="1414630"/>
                </a:lnTo>
                <a:lnTo>
                  <a:pt x="274319" y="1376978"/>
                </a:lnTo>
                <a:lnTo>
                  <a:pt x="1409250" y="871369"/>
                </a:lnTo>
                <a:lnTo>
                  <a:pt x="2463501" y="731519"/>
                </a:lnTo>
                <a:lnTo>
                  <a:pt x="23935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6211002" y="3320387"/>
            <a:ext cx="952500" cy="731520"/>
          </a:xfrm>
          <a:custGeom>
            <a:avLst/>
            <a:gdLst/>
            <a:ahLst/>
            <a:cxnLst/>
            <a:rect l="l" t="t" r="r" b="b"/>
            <a:pathLst>
              <a:path w="952500" h="731520">
                <a:moveTo>
                  <a:pt x="952052" y="0"/>
                </a:moveTo>
                <a:lnTo>
                  <a:pt x="10758" y="306591"/>
                </a:lnTo>
                <a:lnTo>
                  <a:pt x="0" y="726141"/>
                </a:lnTo>
                <a:lnTo>
                  <a:pt x="726142" y="731520"/>
                </a:lnTo>
                <a:lnTo>
                  <a:pt x="9520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191827" y="3300069"/>
            <a:ext cx="991869" cy="771525"/>
          </a:xfrm>
          <a:custGeom>
            <a:avLst/>
            <a:gdLst/>
            <a:ahLst/>
            <a:cxnLst/>
            <a:rect l="l" t="t" r="r" b="b"/>
            <a:pathLst>
              <a:path w="991870" h="771525">
                <a:moveTo>
                  <a:pt x="972093" y="0"/>
                </a:moveTo>
                <a:lnTo>
                  <a:pt x="16361" y="311294"/>
                </a:lnTo>
                <a:lnTo>
                  <a:pt x="11095" y="318355"/>
                </a:lnTo>
                <a:lnTo>
                  <a:pt x="0" y="751080"/>
                </a:lnTo>
                <a:lnTo>
                  <a:pt x="1929" y="756029"/>
                </a:lnTo>
                <a:lnTo>
                  <a:pt x="9038" y="763379"/>
                </a:lnTo>
                <a:lnTo>
                  <a:pt x="13921" y="765469"/>
                </a:lnTo>
                <a:lnTo>
                  <a:pt x="753583" y="770949"/>
                </a:lnTo>
                <a:lnTo>
                  <a:pt x="761037" y="765492"/>
                </a:lnTo>
                <a:lnTo>
                  <a:pt x="766437" y="748007"/>
                </a:lnTo>
                <a:lnTo>
                  <a:pt x="742511" y="748007"/>
                </a:lnTo>
                <a:lnTo>
                  <a:pt x="23083" y="742676"/>
                </a:lnTo>
                <a:lnTo>
                  <a:pt x="33672" y="329698"/>
                </a:lnTo>
                <a:lnTo>
                  <a:pt x="965417" y="26216"/>
                </a:lnTo>
                <a:lnTo>
                  <a:pt x="989342" y="26216"/>
                </a:lnTo>
                <a:lnTo>
                  <a:pt x="991528" y="19138"/>
                </a:lnTo>
                <a:lnTo>
                  <a:pt x="989664" y="11737"/>
                </a:lnTo>
                <a:lnTo>
                  <a:pt x="979523" y="1751"/>
                </a:lnTo>
                <a:lnTo>
                  <a:pt x="972093" y="0"/>
                </a:lnTo>
                <a:close/>
              </a:path>
              <a:path w="991870" h="771525">
                <a:moveTo>
                  <a:pt x="989342" y="26216"/>
                </a:moveTo>
                <a:lnTo>
                  <a:pt x="965417" y="26216"/>
                </a:lnTo>
                <a:lnTo>
                  <a:pt x="742511" y="748007"/>
                </a:lnTo>
                <a:lnTo>
                  <a:pt x="766437" y="748007"/>
                </a:lnTo>
                <a:lnTo>
                  <a:pt x="989342" y="26216"/>
                </a:lnTo>
                <a:close/>
              </a:path>
              <a:path w="991870" h="771525">
                <a:moveTo>
                  <a:pt x="953799" y="38014"/>
                </a:moveTo>
                <a:lnTo>
                  <a:pt x="41151" y="335276"/>
                </a:lnTo>
                <a:lnTo>
                  <a:pt x="30899" y="735115"/>
                </a:lnTo>
                <a:lnTo>
                  <a:pt x="736903" y="740345"/>
                </a:lnTo>
                <a:lnTo>
                  <a:pt x="739269" y="732683"/>
                </a:lnTo>
                <a:lnTo>
                  <a:pt x="731293" y="732683"/>
                </a:lnTo>
                <a:lnTo>
                  <a:pt x="38715" y="727552"/>
                </a:lnTo>
                <a:lnTo>
                  <a:pt x="48632" y="340854"/>
                </a:lnTo>
                <a:lnTo>
                  <a:pt x="942179" y="49813"/>
                </a:lnTo>
                <a:lnTo>
                  <a:pt x="950155" y="49813"/>
                </a:lnTo>
                <a:lnTo>
                  <a:pt x="953799" y="38014"/>
                </a:lnTo>
                <a:close/>
              </a:path>
              <a:path w="991870" h="771525">
                <a:moveTo>
                  <a:pt x="950155" y="49813"/>
                </a:moveTo>
                <a:lnTo>
                  <a:pt x="942179" y="49813"/>
                </a:lnTo>
                <a:lnTo>
                  <a:pt x="731293" y="732683"/>
                </a:lnTo>
                <a:lnTo>
                  <a:pt x="739269" y="732683"/>
                </a:lnTo>
                <a:lnTo>
                  <a:pt x="950155" y="498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01" name="object 10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2" name="object 10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525511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0955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In </a:t>
            </a:r>
            <a:r>
              <a:rPr dirty="0" spc="-15">
                <a:solidFill>
                  <a:srgbClr val="000000"/>
                </a:solidFill>
              </a:rPr>
              <a:t>expectation, we </a:t>
            </a:r>
            <a:r>
              <a:rPr dirty="0" spc="-25">
                <a:solidFill>
                  <a:srgbClr val="000000"/>
                </a:solidFill>
              </a:rPr>
              <a:t>get </a:t>
            </a:r>
            <a:r>
              <a:rPr dirty="0" spc="-5">
                <a:solidFill>
                  <a:srgbClr val="000000"/>
                </a:solidFill>
              </a:rPr>
              <a:t>embeddings similar </a:t>
            </a:r>
            <a:r>
              <a:rPr dirty="0" spc="-15">
                <a:solidFill>
                  <a:srgbClr val="000000"/>
                </a:solidFill>
              </a:rPr>
              <a:t>to  </a:t>
            </a:r>
            <a:r>
              <a:rPr dirty="0" spc="-5">
                <a:solidFill>
                  <a:srgbClr val="000000"/>
                </a:solidFill>
              </a:rPr>
              <a:t>the </a:t>
            </a:r>
            <a:r>
              <a:rPr dirty="0" spc="-10">
                <a:solidFill>
                  <a:srgbClr val="000000"/>
                </a:solidFill>
              </a:rPr>
              <a:t>case where </a:t>
            </a:r>
            <a:r>
              <a:rPr dirty="0" spc="-5">
                <a:solidFill>
                  <a:srgbClr val="000000"/>
                </a:solidFill>
              </a:rPr>
              <a:t>all the </a:t>
            </a:r>
            <a:r>
              <a:rPr dirty="0" spc="-10">
                <a:solidFill>
                  <a:srgbClr val="000000"/>
                </a:solidFill>
              </a:rPr>
              <a:t>neighbors </a:t>
            </a:r>
            <a:r>
              <a:rPr dirty="0" spc="-20">
                <a:solidFill>
                  <a:srgbClr val="000000"/>
                </a:solidFill>
              </a:rPr>
              <a:t>are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used</a:t>
            </a:r>
          </a:p>
        </p:txBody>
      </p:sp>
      <p:sp>
        <p:nvSpPr>
          <p:cNvPr id="4" name="object 4"/>
          <p:cNvSpPr/>
          <p:nvPr/>
        </p:nvSpPr>
        <p:spPr>
          <a:xfrm>
            <a:off x="4576345" y="5451490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 h="0">
                <a:moveTo>
                  <a:pt x="0" y="0"/>
                </a:moveTo>
                <a:lnTo>
                  <a:pt x="45715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84227" y="5400075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4"/>
                </a:lnTo>
                <a:lnTo>
                  <a:pt x="102830" y="102829"/>
                </a:lnTo>
                <a:lnTo>
                  <a:pt x="1028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22060" y="5129014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634890"/>
                </a:moveTo>
                <a:lnTo>
                  <a:pt x="698762" y="634890"/>
                </a:lnTo>
                <a:lnTo>
                  <a:pt x="698762" y="0"/>
                </a:lnTo>
                <a:lnTo>
                  <a:pt x="0" y="0"/>
                </a:lnTo>
                <a:lnTo>
                  <a:pt x="0" y="63489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22060" y="5129014"/>
            <a:ext cx="699135" cy="635000"/>
          </a:xfrm>
          <a:custGeom>
            <a:avLst/>
            <a:gdLst/>
            <a:ahLst/>
            <a:cxnLst/>
            <a:rect l="l" t="t" r="r" b="b"/>
            <a:pathLst>
              <a:path w="699135" h="635000">
                <a:moveTo>
                  <a:pt x="0" y="0"/>
                </a:moveTo>
                <a:lnTo>
                  <a:pt x="698763" y="0"/>
                </a:lnTo>
                <a:lnTo>
                  <a:pt x="698763" y="634890"/>
                </a:lnTo>
                <a:lnTo>
                  <a:pt x="0" y="63489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41540" y="5682942"/>
            <a:ext cx="560705" cy="360045"/>
          </a:xfrm>
          <a:custGeom>
            <a:avLst/>
            <a:gdLst/>
            <a:ahLst/>
            <a:cxnLst/>
            <a:rect l="l" t="t" r="r" b="b"/>
            <a:pathLst>
              <a:path w="560705" h="360045">
                <a:moveTo>
                  <a:pt x="0" y="350678"/>
                </a:moveTo>
                <a:lnTo>
                  <a:pt x="554859" y="0"/>
                </a:lnTo>
                <a:lnTo>
                  <a:pt x="560581" y="9054"/>
                </a:lnTo>
                <a:lnTo>
                  <a:pt x="5722" y="359733"/>
                </a:lnTo>
                <a:lnTo>
                  <a:pt x="0" y="35067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98122" y="5402921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102830" y="0"/>
                </a:moveTo>
                <a:lnTo>
                  <a:pt x="0" y="51414"/>
                </a:lnTo>
                <a:lnTo>
                  <a:pt x="102830" y="102829"/>
                </a:lnTo>
                <a:lnTo>
                  <a:pt x="10283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81559" y="5622441"/>
            <a:ext cx="690245" cy="581025"/>
          </a:xfrm>
          <a:custGeom>
            <a:avLst/>
            <a:gdLst/>
            <a:ahLst/>
            <a:cxnLst/>
            <a:rect l="l" t="t" r="r" b="b"/>
            <a:pathLst>
              <a:path w="690245" h="581025">
                <a:moveTo>
                  <a:pt x="0" y="0"/>
                </a:moveTo>
                <a:lnTo>
                  <a:pt x="8192" y="6900"/>
                </a:lnTo>
                <a:lnTo>
                  <a:pt x="689746" y="581017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11105" y="5563094"/>
            <a:ext cx="112395" cy="106045"/>
          </a:xfrm>
          <a:custGeom>
            <a:avLst/>
            <a:gdLst/>
            <a:ahLst/>
            <a:cxnLst/>
            <a:rect l="l" t="t" r="r" b="b"/>
            <a:pathLst>
              <a:path w="112395" h="106045">
                <a:moveTo>
                  <a:pt x="0" y="0"/>
                </a:moveTo>
                <a:lnTo>
                  <a:pt x="45520" y="105572"/>
                </a:lnTo>
                <a:lnTo>
                  <a:pt x="111770" y="26926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83436" y="4658976"/>
            <a:ext cx="768985" cy="606425"/>
          </a:xfrm>
          <a:custGeom>
            <a:avLst/>
            <a:gdLst/>
            <a:ahLst/>
            <a:cxnLst/>
            <a:rect l="l" t="t" r="r" b="b"/>
            <a:pathLst>
              <a:path w="768985" h="606425">
                <a:moveTo>
                  <a:pt x="0" y="606064"/>
                </a:moveTo>
                <a:lnTo>
                  <a:pt x="8410" y="599431"/>
                </a:lnTo>
                <a:lnTo>
                  <a:pt x="768465" y="0"/>
                </a:lnTo>
              </a:path>
            </a:pathLst>
          </a:custGeom>
          <a:ln w="21422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11105" y="5218037"/>
            <a:ext cx="113030" cy="104139"/>
          </a:xfrm>
          <a:custGeom>
            <a:avLst/>
            <a:gdLst/>
            <a:ahLst/>
            <a:cxnLst/>
            <a:rect l="l" t="t" r="r" b="b"/>
            <a:pathLst>
              <a:path w="113029" h="104139">
                <a:moveTo>
                  <a:pt x="48901" y="0"/>
                </a:moveTo>
                <a:lnTo>
                  <a:pt x="0" y="104048"/>
                </a:lnTo>
                <a:lnTo>
                  <a:pt x="112580" y="80741"/>
                </a:lnTo>
                <a:lnTo>
                  <a:pt x="4890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35638" y="4286417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238434" y="0"/>
                </a:moveTo>
                <a:lnTo>
                  <a:pt x="0" y="68370"/>
                </a:lnTo>
                <a:lnTo>
                  <a:pt x="74999" y="329921"/>
                </a:lnTo>
                <a:lnTo>
                  <a:pt x="313433" y="261552"/>
                </a:lnTo>
                <a:lnTo>
                  <a:pt x="23843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35638" y="4286418"/>
            <a:ext cx="313690" cy="330200"/>
          </a:xfrm>
          <a:custGeom>
            <a:avLst/>
            <a:gdLst/>
            <a:ahLst/>
            <a:cxnLst/>
            <a:rect l="l" t="t" r="r" b="b"/>
            <a:pathLst>
              <a:path w="313690" h="330200">
                <a:moveTo>
                  <a:pt x="0" y="68369"/>
                </a:moveTo>
                <a:lnTo>
                  <a:pt x="238434" y="0"/>
                </a:lnTo>
                <a:lnTo>
                  <a:pt x="313433" y="261551"/>
                </a:lnTo>
                <a:lnTo>
                  <a:pt x="74998" y="329921"/>
                </a:lnTo>
                <a:lnTo>
                  <a:pt x="0" y="68369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80434" y="4132480"/>
            <a:ext cx="599440" cy="231775"/>
          </a:xfrm>
          <a:custGeom>
            <a:avLst/>
            <a:gdLst/>
            <a:ahLst/>
            <a:cxnLst/>
            <a:rect l="l" t="t" r="r" b="b"/>
            <a:pathLst>
              <a:path w="599440" h="231775">
                <a:moveTo>
                  <a:pt x="0" y="231763"/>
                </a:moveTo>
                <a:lnTo>
                  <a:pt x="4995" y="229831"/>
                </a:lnTo>
                <a:lnTo>
                  <a:pt x="599425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25485" y="4332340"/>
            <a:ext cx="71755" cy="60325"/>
          </a:xfrm>
          <a:custGeom>
            <a:avLst/>
            <a:gdLst/>
            <a:ahLst/>
            <a:cxnLst/>
            <a:rect l="l" t="t" r="r" b="b"/>
            <a:pathLst>
              <a:path w="71754" h="60325">
                <a:moveTo>
                  <a:pt x="48356" y="0"/>
                </a:moveTo>
                <a:lnTo>
                  <a:pt x="0" y="53148"/>
                </a:lnTo>
                <a:lnTo>
                  <a:pt x="71534" y="59944"/>
                </a:lnTo>
                <a:lnTo>
                  <a:pt x="4835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12356" y="4490735"/>
            <a:ext cx="62865" cy="20320"/>
          </a:xfrm>
          <a:custGeom>
            <a:avLst/>
            <a:gdLst/>
            <a:ahLst/>
            <a:cxnLst/>
            <a:rect l="l" t="t" r="r" b="b"/>
            <a:pathLst>
              <a:path w="62865" h="20320">
                <a:moveTo>
                  <a:pt x="62264" y="0"/>
                </a:moveTo>
                <a:lnTo>
                  <a:pt x="10193" y="16811"/>
                </a:lnTo>
                <a:lnTo>
                  <a:pt x="0" y="2010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24693" y="4458619"/>
            <a:ext cx="113664" cy="98425"/>
          </a:xfrm>
          <a:custGeom>
            <a:avLst/>
            <a:gdLst/>
            <a:ahLst/>
            <a:cxnLst/>
            <a:rect l="l" t="t" r="r" b="b"/>
            <a:pathLst>
              <a:path w="113665" h="98425">
                <a:moveTo>
                  <a:pt x="82059" y="0"/>
                </a:moveTo>
                <a:lnTo>
                  <a:pt x="0" y="80521"/>
                </a:lnTo>
                <a:lnTo>
                  <a:pt x="113653" y="97856"/>
                </a:lnTo>
                <a:lnTo>
                  <a:pt x="820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59290" y="5252594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247891" y="0"/>
                </a:moveTo>
                <a:lnTo>
                  <a:pt x="0" y="8657"/>
                </a:lnTo>
                <a:lnTo>
                  <a:pt x="9495" y="280583"/>
                </a:lnTo>
                <a:lnTo>
                  <a:pt x="257387" y="271927"/>
                </a:lnTo>
                <a:lnTo>
                  <a:pt x="24789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59290" y="5252595"/>
            <a:ext cx="257810" cy="280670"/>
          </a:xfrm>
          <a:custGeom>
            <a:avLst/>
            <a:gdLst/>
            <a:ahLst/>
            <a:cxnLst/>
            <a:rect l="l" t="t" r="r" b="b"/>
            <a:pathLst>
              <a:path w="257809" h="280670">
                <a:moveTo>
                  <a:pt x="0" y="8656"/>
                </a:moveTo>
                <a:lnTo>
                  <a:pt x="247891" y="0"/>
                </a:lnTo>
                <a:lnTo>
                  <a:pt x="257387" y="271926"/>
                </a:lnTo>
                <a:lnTo>
                  <a:pt x="9495" y="280583"/>
                </a:lnTo>
                <a:lnTo>
                  <a:pt x="0" y="8656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98949" y="5402591"/>
            <a:ext cx="65405" cy="4445"/>
          </a:xfrm>
          <a:custGeom>
            <a:avLst/>
            <a:gdLst/>
            <a:ahLst/>
            <a:cxnLst/>
            <a:rect l="l" t="t" r="r" b="b"/>
            <a:pathLst>
              <a:path w="65404" h="4445">
                <a:moveTo>
                  <a:pt x="65277" y="0"/>
                </a:moveTo>
                <a:lnTo>
                  <a:pt x="10686" y="3715"/>
                </a:lnTo>
                <a:lnTo>
                  <a:pt x="0" y="4442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07043" y="5355009"/>
            <a:ext cx="106680" cy="102870"/>
          </a:xfrm>
          <a:custGeom>
            <a:avLst/>
            <a:gdLst/>
            <a:ahLst/>
            <a:cxnLst/>
            <a:rect l="l" t="t" r="r" b="b"/>
            <a:pathLst>
              <a:path w="106679" h="102870">
                <a:moveTo>
                  <a:pt x="99101" y="0"/>
                </a:moveTo>
                <a:lnTo>
                  <a:pt x="0" y="58279"/>
                </a:lnTo>
                <a:lnTo>
                  <a:pt x="106084" y="102594"/>
                </a:lnTo>
                <a:lnTo>
                  <a:pt x="99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74756" y="6141843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0" y="264577"/>
                </a:lnTo>
                <a:lnTo>
                  <a:pt x="241192" y="322469"/>
                </a:lnTo>
                <a:lnTo>
                  <a:pt x="304697" y="57892"/>
                </a:lnTo>
                <a:lnTo>
                  <a:pt x="6350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74755" y="6141843"/>
            <a:ext cx="304800" cy="322580"/>
          </a:xfrm>
          <a:custGeom>
            <a:avLst/>
            <a:gdLst/>
            <a:ahLst/>
            <a:cxnLst/>
            <a:rect l="l" t="t" r="r" b="b"/>
            <a:pathLst>
              <a:path w="304800" h="322579">
                <a:moveTo>
                  <a:pt x="63505" y="0"/>
                </a:moveTo>
                <a:lnTo>
                  <a:pt x="304697" y="57892"/>
                </a:lnTo>
                <a:lnTo>
                  <a:pt x="241192" y="322469"/>
                </a:lnTo>
                <a:lnTo>
                  <a:pt x="0" y="264577"/>
                </a:lnTo>
                <a:lnTo>
                  <a:pt x="63505" y="0"/>
                </a:lnTo>
              </a:path>
            </a:pathLst>
          </a:custGeom>
          <a:ln w="3175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07183" y="6354087"/>
            <a:ext cx="521334" cy="125730"/>
          </a:xfrm>
          <a:custGeom>
            <a:avLst/>
            <a:gdLst/>
            <a:ahLst/>
            <a:cxnLst/>
            <a:rect l="l" t="t" r="r" b="b"/>
            <a:pathLst>
              <a:path w="521334" h="125729">
                <a:moveTo>
                  <a:pt x="0" y="0"/>
                </a:moveTo>
                <a:lnTo>
                  <a:pt x="5207" y="1251"/>
                </a:lnTo>
                <a:lnTo>
                  <a:pt x="520988" y="125259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49903" y="6324095"/>
            <a:ext cx="70485" cy="62865"/>
          </a:xfrm>
          <a:custGeom>
            <a:avLst/>
            <a:gdLst/>
            <a:ahLst/>
            <a:cxnLst/>
            <a:rect l="l" t="t" r="r" b="b"/>
            <a:pathLst>
              <a:path w="70484" h="62864">
                <a:moveTo>
                  <a:pt x="69999" y="0"/>
                </a:moveTo>
                <a:lnTo>
                  <a:pt x="0" y="16220"/>
                </a:lnTo>
                <a:lnTo>
                  <a:pt x="54975" y="62488"/>
                </a:lnTo>
                <a:lnTo>
                  <a:pt x="6999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41161" y="6266202"/>
            <a:ext cx="64135" cy="13335"/>
          </a:xfrm>
          <a:custGeom>
            <a:avLst/>
            <a:gdLst/>
            <a:ahLst/>
            <a:cxnLst/>
            <a:rect l="l" t="t" r="r" b="b"/>
            <a:pathLst>
              <a:path w="64134" h="13335">
                <a:moveTo>
                  <a:pt x="64091" y="13160"/>
                </a:moveTo>
                <a:lnTo>
                  <a:pt x="10492" y="2154"/>
                </a:lnTo>
                <a:lnTo>
                  <a:pt x="0" y="0"/>
                </a:lnTo>
              </a:path>
            </a:pathLst>
          </a:custGeom>
          <a:ln w="21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450925" y="6217992"/>
            <a:ext cx="111125" cy="100965"/>
          </a:xfrm>
          <a:custGeom>
            <a:avLst/>
            <a:gdLst/>
            <a:ahLst/>
            <a:cxnLst/>
            <a:rect l="l" t="t" r="r" b="b"/>
            <a:pathLst>
              <a:path w="111125" h="100964">
                <a:moveTo>
                  <a:pt x="111070" y="0"/>
                </a:moveTo>
                <a:lnTo>
                  <a:pt x="0" y="29680"/>
                </a:lnTo>
                <a:lnTo>
                  <a:pt x="90385" y="100728"/>
                </a:lnTo>
                <a:lnTo>
                  <a:pt x="111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973585" y="5519818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0"/>
                </a:moveTo>
                <a:lnTo>
                  <a:pt x="4375" y="3088"/>
                </a:lnTo>
                <a:lnTo>
                  <a:pt x="465926" y="32884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25453" y="5485847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0" y="0"/>
                </a:moveTo>
                <a:lnTo>
                  <a:pt x="33978" y="63313"/>
                </a:lnTo>
                <a:lnTo>
                  <a:pt x="71038" y="1080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996973" y="5438213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0"/>
                </a:moveTo>
                <a:lnTo>
                  <a:pt x="5130" y="1534"/>
                </a:lnTo>
                <a:lnTo>
                  <a:pt x="546369" y="163426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40530" y="5408961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70782" y="0"/>
                </a:moveTo>
                <a:lnTo>
                  <a:pt x="0" y="12368"/>
                </a:lnTo>
                <a:lnTo>
                  <a:pt x="52364" y="61572"/>
                </a:lnTo>
                <a:lnTo>
                  <a:pt x="70782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975647" y="4965185"/>
            <a:ext cx="466090" cy="328930"/>
          </a:xfrm>
          <a:custGeom>
            <a:avLst/>
            <a:gdLst/>
            <a:ahLst/>
            <a:cxnLst/>
            <a:rect l="l" t="t" r="r" b="b"/>
            <a:pathLst>
              <a:path w="466090" h="328929">
                <a:moveTo>
                  <a:pt x="0" y="328846"/>
                </a:moveTo>
                <a:lnTo>
                  <a:pt x="4375" y="325758"/>
                </a:lnTo>
                <a:lnTo>
                  <a:pt x="465926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27514" y="5264689"/>
            <a:ext cx="71120" cy="63500"/>
          </a:xfrm>
          <a:custGeom>
            <a:avLst/>
            <a:gdLst/>
            <a:ahLst/>
            <a:cxnLst/>
            <a:rect l="l" t="t" r="r" b="b"/>
            <a:pathLst>
              <a:path w="71120" h="63500">
                <a:moveTo>
                  <a:pt x="33977" y="0"/>
                </a:moveTo>
                <a:lnTo>
                  <a:pt x="0" y="63313"/>
                </a:lnTo>
                <a:lnTo>
                  <a:pt x="71037" y="52508"/>
                </a:lnTo>
                <a:lnTo>
                  <a:pt x="3397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99035" y="5212210"/>
            <a:ext cx="546735" cy="163830"/>
          </a:xfrm>
          <a:custGeom>
            <a:avLst/>
            <a:gdLst/>
            <a:ahLst/>
            <a:cxnLst/>
            <a:rect l="l" t="t" r="r" b="b"/>
            <a:pathLst>
              <a:path w="546734" h="163829">
                <a:moveTo>
                  <a:pt x="0" y="163426"/>
                </a:moveTo>
                <a:lnTo>
                  <a:pt x="5130" y="161891"/>
                </a:lnTo>
                <a:lnTo>
                  <a:pt x="546369" y="0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942593" y="5343316"/>
            <a:ext cx="71120" cy="61594"/>
          </a:xfrm>
          <a:custGeom>
            <a:avLst/>
            <a:gdLst/>
            <a:ahLst/>
            <a:cxnLst/>
            <a:rect l="l" t="t" r="r" b="b"/>
            <a:pathLst>
              <a:path w="71120" h="61595">
                <a:moveTo>
                  <a:pt x="52363" y="0"/>
                </a:moveTo>
                <a:lnTo>
                  <a:pt x="0" y="49203"/>
                </a:lnTo>
                <a:lnTo>
                  <a:pt x="70782" y="61572"/>
                </a:lnTo>
                <a:lnTo>
                  <a:pt x="523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62895" y="5202784"/>
            <a:ext cx="548005" cy="823594"/>
          </a:xfrm>
          <a:custGeom>
            <a:avLst/>
            <a:gdLst/>
            <a:ahLst/>
            <a:cxnLst/>
            <a:rect l="l" t="t" r="r" b="b"/>
            <a:pathLst>
              <a:path w="548005" h="823595">
                <a:moveTo>
                  <a:pt x="0" y="817674"/>
                </a:moveTo>
                <a:lnTo>
                  <a:pt x="538911" y="0"/>
                </a:lnTo>
                <a:lnTo>
                  <a:pt x="547854" y="5894"/>
                </a:lnTo>
                <a:lnTo>
                  <a:pt x="8943" y="823568"/>
                </a:lnTo>
                <a:lnTo>
                  <a:pt x="0" y="817674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0184" y="5125142"/>
            <a:ext cx="1208405" cy="109220"/>
          </a:xfrm>
          <a:custGeom>
            <a:avLst/>
            <a:gdLst/>
            <a:ahLst/>
            <a:cxnLst/>
            <a:rect l="l" t="t" r="r" b="b"/>
            <a:pathLst>
              <a:path w="1208405" h="109220">
                <a:moveTo>
                  <a:pt x="869" y="0"/>
                </a:moveTo>
                <a:lnTo>
                  <a:pt x="1208045" y="98282"/>
                </a:lnTo>
                <a:lnTo>
                  <a:pt x="1207176" y="108958"/>
                </a:lnTo>
                <a:lnTo>
                  <a:pt x="0" y="10676"/>
                </a:lnTo>
                <a:lnTo>
                  <a:pt x="86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04685" y="4611038"/>
            <a:ext cx="268605" cy="620395"/>
          </a:xfrm>
          <a:custGeom>
            <a:avLst/>
            <a:gdLst/>
            <a:ahLst/>
            <a:cxnLst/>
            <a:rect l="l" t="t" r="r" b="b"/>
            <a:pathLst>
              <a:path w="268605" h="620395">
                <a:moveTo>
                  <a:pt x="9876" y="0"/>
                </a:moveTo>
                <a:lnTo>
                  <a:pt x="268416" y="616049"/>
                </a:lnTo>
                <a:lnTo>
                  <a:pt x="258540" y="620194"/>
                </a:lnTo>
                <a:lnTo>
                  <a:pt x="0" y="4145"/>
                </a:lnTo>
                <a:lnTo>
                  <a:pt x="987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781008" y="6372947"/>
            <a:ext cx="86042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" b="1">
                <a:latin typeface="Arial"/>
                <a:cs typeface="Arial"/>
              </a:rPr>
              <a:t>INPUT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spc="-5" b="1">
                <a:latin typeface="Arial"/>
                <a:cs typeface="Arial"/>
              </a:rPr>
              <a:t>GRAPH</a:t>
            </a:r>
            <a:endParaRPr sz="9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666337" y="4631221"/>
            <a:ext cx="1270" cy="274955"/>
          </a:xfrm>
          <a:custGeom>
            <a:avLst/>
            <a:gdLst/>
            <a:ahLst/>
            <a:cxnLst/>
            <a:rect l="l" t="t" r="r" b="b"/>
            <a:pathLst>
              <a:path w="1269" h="274954">
                <a:moveTo>
                  <a:pt x="0" y="0"/>
                </a:moveTo>
                <a:lnTo>
                  <a:pt x="914" y="269532"/>
                </a:lnTo>
                <a:lnTo>
                  <a:pt x="932" y="274888"/>
                </a:lnTo>
              </a:path>
            </a:pathLst>
          </a:custGeom>
          <a:ln w="107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635118" y="4900645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69" h="64770">
                <a:moveTo>
                  <a:pt x="64268" y="0"/>
                </a:moveTo>
                <a:lnTo>
                  <a:pt x="0" y="217"/>
                </a:lnTo>
                <a:lnTo>
                  <a:pt x="32351" y="64376"/>
                </a:lnTo>
                <a:lnTo>
                  <a:pt x="64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224011" y="4444882"/>
            <a:ext cx="8566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5">
                <a:latin typeface="Arial"/>
                <a:cs typeface="Arial"/>
              </a:rPr>
              <a:t>TARGET</a:t>
            </a:r>
            <a:r>
              <a:rPr dirty="0" sz="950" spc="-20">
                <a:latin typeface="Arial"/>
                <a:cs typeface="Arial"/>
              </a:rPr>
              <a:t> NODE</a:t>
            </a:r>
            <a:endParaRPr sz="9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693007" y="4596179"/>
            <a:ext cx="883919" cy="520065"/>
          </a:xfrm>
          <a:custGeom>
            <a:avLst/>
            <a:gdLst/>
            <a:ahLst/>
            <a:cxnLst/>
            <a:rect l="l" t="t" r="r" b="b"/>
            <a:pathLst>
              <a:path w="883919" h="520064">
                <a:moveTo>
                  <a:pt x="883776" y="9260"/>
                </a:moveTo>
                <a:lnTo>
                  <a:pt x="5383" y="519880"/>
                </a:lnTo>
                <a:lnTo>
                  <a:pt x="0" y="510619"/>
                </a:lnTo>
                <a:lnTo>
                  <a:pt x="878392" y="0"/>
                </a:lnTo>
                <a:lnTo>
                  <a:pt x="883776" y="926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470455" y="445922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371154" y="5176151"/>
            <a:ext cx="327025" cy="704850"/>
          </a:xfrm>
          <a:custGeom>
            <a:avLst/>
            <a:gdLst/>
            <a:ahLst/>
            <a:cxnLst/>
            <a:rect l="l" t="t" r="r" b="b"/>
            <a:pathLst>
              <a:path w="327025" h="704850">
                <a:moveTo>
                  <a:pt x="326584" y="4415"/>
                </a:moveTo>
                <a:lnTo>
                  <a:pt x="9759" y="704679"/>
                </a:lnTo>
                <a:lnTo>
                  <a:pt x="0" y="700264"/>
                </a:lnTo>
                <a:lnTo>
                  <a:pt x="316825" y="0"/>
                </a:lnTo>
                <a:lnTo>
                  <a:pt x="326584" y="44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325736" y="571953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7" y="211073"/>
                </a:lnTo>
                <a:lnTo>
                  <a:pt x="187514" y="187008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384683" y="5700267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250769" y="5938456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9" y="211073"/>
                </a:lnTo>
                <a:lnTo>
                  <a:pt x="109843" y="219094"/>
                </a:lnTo>
                <a:lnTo>
                  <a:pt x="151177" y="211073"/>
                </a:lnTo>
                <a:lnTo>
                  <a:pt x="187513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2305870" y="5925208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914404" y="5275984"/>
            <a:ext cx="171450" cy="341630"/>
          </a:xfrm>
          <a:custGeom>
            <a:avLst/>
            <a:gdLst/>
            <a:ahLst/>
            <a:cxnLst/>
            <a:rect l="l" t="t" r="r" b="b"/>
            <a:pathLst>
              <a:path w="171450" h="341629">
                <a:moveTo>
                  <a:pt x="9657" y="0"/>
                </a:moveTo>
                <a:lnTo>
                  <a:pt x="171247" y="336816"/>
                </a:lnTo>
                <a:lnTo>
                  <a:pt x="161590" y="341449"/>
                </a:lnTo>
                <a:lnTo>
                  <a:pt x="0" y="4633"/>
                </a:lnTo>
                <a:lnTo>
                  <a:pt x="965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963310" y="552423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2" y="187008"/>
                </a:lnTo>
                <a:lnTo>
                  <a:pt x="211642" y="150769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3012828" y="550746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770058" y="510733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4"/>
                </a:lnTo>
                <a:lnTo>
                  <a:pt x="8043" y="68323"/>
                </a:lnTo>
                <a:lnTo>
                  <a:pt x="0" y="109546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9" y="211072"/>
                </a:lnTo>
                <a:lnTo>
                  <a:pt x="109843" y="219093"/>
                </a:lnTo>
                <a:lnTo>
                  <a:pt x="151177" y="211072"/>
                </a:lnTo>
                <a:lnTo>
                  <a:pt x="187513" y="187008"/>
                </a:lnTo>
                <a:lnTo>
                  <a:pt x="211642" y="150769"/>
                </a:lnTo>
                <a:lnTo>
                  <a:pt x="219685" y="109546"/>
                </a:lnTo>
                <a:lnTo>
                  <a:pt x="211642" y="68323"/>
                </a:lnTo>
                <a:lnTo>
                  <a:pt x="187513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2820022" y="5089712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210806" y="5361586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3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3" y="187009"/>
                </a:lnTo>
                <a:lnTo>
                  <a:pt x="68509" y="211073"/>
                </a:lnTo>
                <a:lnTo>
                  <a:pt x="109843" y="219095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4266072" y="5336077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298530" y="444858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2530811" y="4436312"/>
            <a:ext cx="393954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836035" algn="l"/>
              </a:tabLst>
            </a:pPr>
            <a:r>
              <a:rPr dirty="0" sz="1150" spc="10" b="1">
                <a:latin typeface="Courier New"/>
                <a:cs typeface="Courier New"/>
              </a:rPr>
              <a:t>B</a:t>
            </a:r>
            <a:r>
              <a:rPr dirty="0" sz="1150" spc="10" b="1">
                <a:latin typeface="Courier New"/>
                <a:cs typeface="Courier New"/>
              </a:rPr>
              <a:t>	</a:t>
            </a:r>
            <a:r>
              <a:rPr dirty="0" baseline="4830" sz="1725" spc="15" b="1">
                <a:latin typeface="Courier New"/>
                <a:cs typeface="Courier New"/>
              </a:rPr>
              <a:t>B</a:t>
            </a:r>
            <a:endParaRPr baseline="4830" sz="1725">
              <a:latin typeface="Courier New"/>
              <a:cs typeface="Courier New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266727" y="5309114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4" y="0"/>
                </a:moveTo>
                <a:lnTo>
                  <a:pt x="68510" y="8021"/>
                </a:lnTo>
                <a:lnTo>
                  <a:pt x="32173" y="32084"/>
                </a:lnTo>
                <a:lnTo>
                  <a:pt x="8043" y="68323"/>
                </a:lnTo>
                <a:lnTo>
                  <a:pt x="0" y="109546"/>
                </a:lnTo>
                <a:lnTo>
                  <a:pt x="8043" y="150769"/>
                </a:lnTo>
                <a:lnTo>
                  <a:pt x="32173" y="187008"/>
                </a:lnTo>
                <a:lnTo>
                  <a:pt x="68510" y="211072"/>
                </a:lnTo>
                <a:lnTo>
                  <a:pt x="109844" y="219093"/>
                </a:lnTo>
                <a:lnTo>
                  <a:pt x="151178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6"/>
                </a:lnTo>
                <a:lnTo>
                  <a:pt x="211643" y="68323"/>
                </a:lnTo>
                <a:lnTo>
                  <a:pt x="187514" y="32084"/>
                </a:lnTo>
                <a:lnTo>
                  <a:pt x="151178" y="8021"/>
                </a:lnTo>
                <a:lnTo>
                  <a:pt x="109844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5477541" y="5293231"/>
            <a:ext cx="94996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86130" algn="l"/>
              </a:tabLst>
            </a:pPr>
            <a:r>
              <a:rPr dirty="0" sz="1150" spc="0" u="heavy">
                <a:latin typeface="Times New Roman"/>
                <a:cs typeface="Times New Roman"/>
              </a:rPr>
              <a:t> </a:t>
            </a:r>
            <a:r>
              <a:rPr dirty="0" sz="1150" spc="0" u="heavy">
                <a:latin typeface="Times New Roman"/>
                <a:cs typeface="Times New Roman"/>
              </a:rPr>
              <a:t>	</a:t>
            </a:r>
            <a:r>
              <a:rPr dirty="0" sz="1150" spc="0">
                <a:latin typeface="Times New Roman"/>
                <a:cs typeface="Times New Roman"/>
              </a:rPr>
              <a:t> 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210636" y="610945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2" y="187008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6269118" y="609659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D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572693" y="502068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109843" y="0"/>
                </a:moveTo>
                <a:lnTo>
                  <a:pt x="68509" y="8021"/>
                </a:lnTo>
                <a:lnTo>
                  <a:pt x="32172" y="32084"/>
                </a:lnTo>
                <a:lnTo>
                  <a:pt x="8043" y="68323"/>
                </a:lnTo>
                <a:lnTo>
                  <a:pt x="0" y="109546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6"/>
                </a:lnTo>
                <a:lnTo>
                  <a:pt x="211643" y="68323"/>
                </a:lnTo>
                <a:lnTo>
                  <a:pt x="187513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1620335" y="4993309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997258" y="4466096"/>
            <a:ext cx="635635" cy="59055"/>
          </a:xfrm>
          <a:custGeom>
            <a:avLst/>
            <a:gdLst/>
            <a:ahLst/>
            <a:cxnLst/>
            <a:rect l="l" t="t" r="r" b="b"/>
            <a:pathLst>
              <a:path w="635634" h="59054">
                <a:moveTo>
                  <a:pt x="0" y="0"/>
                </a:moveTo>
                <a:lnTo>
                  <a:pt x="5332" y="493"/>
                </a:lnTo>
                <a:lnTo>
                  <a:pt x="635165" y="58733"/>
                </a:lnTo>
              </a:path>
            </a:pathLst>
          </a:custGeom>
          <a:ln w="10711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938595" y="4434590"/>
            <a:ext cx="67310" cy="64135"/>
          </a:xfrm>
          <a:custGeom>
            <a:avLst/>
            <a:gdLst/>
            <a:ahLst/>
            <a:cxnLst/>
            <a:rect l="l" t="t" r="r" b="b"/>
            <a:pathLst>
              <a:path w="67309" h="64135">
                <a:moveTo>
                  <a:pt x="66954" y="0"/>
                </a:moveTo>
                <a:lnTo>
                  <a:pt x="0" y="26080"/>
                </a:lnTo>
                <a:lnTo>
                  <a:pt x="61036" y="63995"/>
                </a:lnTo>
                <a:lnTo>
                  <a:pt x="66954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353910" y="636765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09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3" y="187008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7404535" y="6342955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472903" y="4063638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69"/>
                </a:lnTo>
                <a:lnTo>
                  <a:pt x="32172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6" y="211072"/>
                </a:lnTo>
                <a:lnTo>
                  <a:pt x="187513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3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956563" y="2333921"/>
            <a:ext cx="7642225" cy="191198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3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Benefits: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Greatly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reduces computational</a:t>
            </a:r>
            <a:r>
              <a:rPr dirty="0" sz="2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cost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4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Allows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scaling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large graphs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(more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about this</a:t>
            </a:r>
            <a:r>
              <a:rPr dirty="0" sz="2400" spc="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later)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And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5">
                <a:latin typeface="Calibri"/>
                <a:cs typeface="Calibri"/>
              </a:rPr>
              <a:t>practice </a:t>
            </a:r>
            <a:r>
              <a:rPr dirty="0" sz="2800" spc="-5">
                <a:latin typeface="Calibri"/>
                <a:cs typeface="Calibri"/>
              </a:rPr>
              <a:t>it </a:t>
            </a:r>
            <a:r>
              <a:rPr dirty="0" sz="2800" spc="-15">
                <a:latin typeface="Calibri"/>
                <a:cs typeface="Calibri"/>
              </a:rPr>
              <a:t>works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great!</a:t>
            </a:r>
            <a:endParaRPr sz="2800">
              <a:latin typeface="Calibri"/>
              <a:cs typeface="Calibri"/>
            </a:endParaRPr>
          </a:p>
          <a:p>
            <a:pPr algn="r" marR="965200">
              <a:lnSpc>
                <a:spcPct val="100000"/>
              </a:lnSpc>
              <a:spcBef>
                <a:spcPts val="1955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478135" y="4413066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3" y="0"/>
                </a:moveTo>
                <a:lnTo>
                  <a:pt x="68509" y="8021"/>
                </a:lnTo>
                <a:lnTo>
                  <a:pt x="32171" y="32084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9" y="211072"/>
                </a:lnTo>
                <a:lnTo>
                  <a:pt x="109843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4"/>
                </a:lnTo>
                <a:lnTo>
                  <a:pt x="151177" y="8021"/>
                </a:lnTo>
                <a:lnTo>
                  <a:pt x="109843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7522362" y="4393466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C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330412" y="5733491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5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6" y="211073"/>
                </a:lnTo>
                <a:lnTo>
                  <a:pt x="187513" y="187008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3" y="32085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7383112" y="5721690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F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7442506" y="5111655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5"/>
                </a:lnTo>
                <a:lnTo>
                  <a:pt x="8042" y="68324"/>
                </a:lnTo>
                <a:lnTo>
                  <a:pt x="0" y="109547"/>
                </a:lnTo>
                <a:lnTo>
                  <a:pt x="8042" y="150770"/>
                </a:lnTo>
                <a:lnTo>
                  <a:pt x="32171" y="187009"/>
                </a:lnTo>
                <a:lnTo>
                  <a:pt x="68508" y="211073"/>
                </a:lnTo>
                <a:lnTo>
                  <a:pt x="109842" y="219094"/>
                </a:lnTo>
                <a:lnTo>
                  <a:pt x="151177" y="211073"/>
                </a:lnTo>
                <a:lnTo>
                  <a:pt x="187514" y="187009"/>
                </a:lnTo>
                <a:lnTo>
                  <a:pt x="211643" y="150770"/>
                </a:lnTo>
                <a:lnTo>
                  <a:pt x="219686" y="109547"/>
                </a:lnTo>
                <a:lnTo>
                  <a:pt x="211643" y="68324"/>
                </a:lnTo>
                <a:lnTo>
                  <a:pt x="187514" y="32085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428980" y="5463873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1" y="32084"/>
                </a:lnTo>
                <a:lnTo>
                  <a:pt x="8042" y="68323"/>
                </a:lnTo>
                <a:lnTo>
                  <a:pt x="0" y="109546"/>
                </a:lnTo>
                <a:lnTo>
                  <a:pt x="8042" y="150769"/>
                </a:lnTo>
                <a:lnTo>
                  <a:pt x="32171" y="187008"/>
                </a:lnTo>
                <a:lnTo>
                  <a:pt x="68508" y="211072"/>
                </a:lnTo>
                <a:lnTo>
                  <a:pt x="109842" y="219094"/>
                </a:lnTo>
                <a:lnTo>
                  <a:pt x="151177" y="211072"/>
                </a:lnTo>
                <a:lnTo>
                  <a:pt x="187514" y="187008"/>
                </a:lnTo>
                <a:lnTo>
                  <a:pt x="211643" y="150769"/>
                </a:lnTo>
                <a:lnTo>
                  <a:pt x="219686" y="109546"/>
                </a:lnTo>
                <a:lnTo>
                  <a:pt x="211643" y="68323"/>
                </a:lnTo>
                <a:lnTo>
                  <a:pt x="187514" y="32084"/>
                </a:lnTo>
                <a:lnTo>
                  <a:pt x="151177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7479516" y="5443191"/>
            <a:ext cx="1155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10" b="1">
                <a:latin typeface="Courier New"/>
                <a:cs typeface="Courier New"/>
              </a:rPr>
              <a:t>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7369387" y="484160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09" h="219710">
                <a:moveTo>
                  <a:pt x="109842" y="0"/>
                </a:moveTo>
                <a:lnTo>
                  <a:pt x="68508" y="8021"/>
                </a:lnTo>
                <a:lnTo>
                  <a:pt x="32172" y="32084"/>
                </a:lnTo>
                <a:lnTo>
                  <a:pt x="8043" y="68324"/>
                </a:lnTo>
                <a:lnTo>
                  <a:pt x="0" y="109547"/>
                </a:lnTo>
                <a:lnTo>
                  <a:pt x="8043" y="150770"/>
                </a:lnTo>
                <a:lnTo>
                  <a:pt x="32172" y="187008"/>
                </a:lnTo>
                <a:lnTo>
                  <a:pt x="68508" y="211073"/>
                </a:lnTo>
                <a:lnTo>
                  <a:pt x="109842" y="219095"/>
                </a:lnTo>
                <a:lnTo>
                  <a:pt x="151176" y="211073"/>
                </a:lnTo>
                <a:lnTo>
                  <a:pt x="187512" y="187008"/>
                </a:lnTo>
                <a:lnTo>
                  <a:pt x="211642" y="150770"/>
                </a:lnTo>
                <a:lnTo>
                  <a:pt x="219685" y="109547"/>
                </a:lnTo>
                <a:lnTo>
                  <a:pt x="211642" y="68324"/>
                </a:lnTo>
                <a:lnTo>
                  <a:pt x="187512" y="32084"/>
                </a:lnTo>
                <a:lnTo>
                  <a:pt x="151176" y="8021"/>
                </a:lnTo>
                <a:lnTo>
                  <a:pt x="109842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7425959" y="4712668"/>
            <a:ext cx="190500" cy="58293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150" spc="10" b="1">
                <a:latin typeface="Courier New"/>
                <a:cs typeface="Courier New"/>
              </a:rPr>
              <a:t>A</a:t>
            </a:r>
            <a:endParaRPr sz="1150">
              <a:latin typeface="Courier New"/>
              <a:cs typeface="Courier New"/>
            </a:endParaRPr>
          </a:p>
          <a:p>
            <a:pPr marL="87630">
              <a:lnSpc>
                <a:spcPct val="100000"/>
              </a:lnSpc>
              <a:spcBef>
                <a:spcPts val="810"/>
              </a:spcBef>
            </a:pPr>
            <a:r>
              <a:rPr dirty="0" sz="1150" spc="10" b="1">
                <a:latin typeface="Courier New"/>
                <a:cs typeface="Courier New"/>
              </a:rPr>
              <a:t>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1424114" y="5355864"/>
            <a:ext cx="249554" cy="256540"/>
          </a:xfrm>
          <a:custGeom>
            <a:avLst/>
            <a:gdLst/>
            <a:ahLst/>
            <a:cxnLst/>
            <a:rect l="l" t="t" r="r" b="b"/>
            <a:pathLst>
              <a:path w="249555" h="256539">
                <a:moveTo>
                  <a:pt x="61655" y="0"/>
                </a:moveTo>
                <a:lnTo>
                  <a:pt x="0" y="58458"/>
                </a:lnTo>
                <a:lnTo>
                  <a:pt x="66146" y="128223"/>
                </a:lnTo>
                <a:lnTo>
                  <a:pt x="0" y="197986"/>
                </a:lnTo>
                <a:lnTo>
                  <a:pt x="61655" y="256445"/>
                </a:lnTo>
                <a:lnTo>
                  <a:pt x="124688" y="189966"/>
                </a:lnTo>
                <a:lnTo>
                  <a:pt x="241772" y="189966"/>
                </a:lnTo>
                <a:lnTo>
                  <a:pt x="183230" y="128223"/>
                </a:lnTo>
                <a:lnTo>
                  <a:pt x="241773" y="66478"/>
                </a:lnTo>
                <a:lnTo>
                  <a:pt x="124688" y="66478"/>
                </a:lnTo>
                <a:lnTo>
                  <a:pt x="61655" y="0"/>
                </a:lnTo>
                <a:close/>
              </a:path>
              <a:path w="249555" h="256539">
                <a:moveTo>
                  <a:pt x="241772" y="189966"/>
                </a:moveTo>
                <a:lnTo>
                  <a:pt x="124688" y="189966"/>
                </a:lnTo>
                <a:lnTo>
                  <a:pt x="187719" y="256445"/>
                </a:lnTo>
                <a:lnTo>
                  <a:pt x="249377" y="197986"/>
                </a:lnTo>
                <a:lnTo>
                  <a:pt x="241772" y="189966"/>
                </a:lnTo>
                <a:close/>
              </a:path>
              <a:path w="249555" h="256539">
                <a:moveTo>
                  <a:pt x="187719" y="0"/>
                </a:moveTo>
                <a:lnTo>
                  <a:pt x="124688" y="66478"/>
                </a:lnTo>
                <a:lnTo>
                  <a:pt x="241773" y="66478"/>
                </a:lnTo>
                <a:lnTo>
                  <a:pt x="249377" y="58458"/>
                </a:lnTo>
                <a:lnTo>
                  <a:pt x="18771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813095" y="5852799"/>
            <a:ext cx="249554" cy="256540"/>
          </a:xfrm>
          <a:custGeom>
            <a:avLst/>
            <a:gdLst/>
            <a:ahLst/>
            <a:cxnLst/>
            <a:rect l="l" t="t" r="r" b="b"/>
            <a:pathLst>
              <a:path w="249554" h="256539">
                <a:moveTo>
                  <a:pt x="61657" y="0"/>
                </a:moveTo>
                <a:lnTo>
                  <a:pt x="0" y="58459"/>
                </a:lnTo>
                <a:lnTo>
                  <a:pt x="66146" y="128222"/>
                </a:lnTo>
                <a:lnTo>
                  <a:pt x="0" y="197986"/>
                </a:lnTo>
                <a:lnTo>
                  <a:pt x="61657" y="256445"/>
                </a:lnTo>
                <a:lnTo>
                  <a:pt x="124688" y="189966"/>
                </a:lnTo>
                <a:lnTo>
                  <a:pt x="241772" y="189966"/>
                </a:lnTo>
                <a:lnTo>
                  <a:pt x="183230" y="128222"/>
                </a:lnTo>
                <a:lnTo>
                  <a:pt x="241772" y="66479"/>
                </a:lnTo>
                <a:lnTo>
                  <a:pt x="124688" y="66479"/>
                </a:lnTo>
                <a:lnTo>
                  <a:pt x="61657" y="0"/>
                </a:lnTo>
                <a:close/>
              </a:path>
              <a:path w="249554" h="256539">
                <a:moveTo>
                  <a:pt x="241772" y="189966"/>
                </a:moveTo>
                <a:lnTo>
                  <a:pt x="124688" y="189966"/>
                </a:lnTo>
                <a:lnTo>
                  <a:pt x="187721" y="256445"/>
                </a:lnTo>
                <a:lnTo>
                  <a:pt x="249377" y="197986"/>
                </a:lnTo>
                <a:lnTo>
                  <a:pt x="241772" y="189966"/>
                </a:lnTo>
                <a:close/>
              </a:path>
              <a:path w="249554" h="256539">
                <a:moveTo>
                  <a:pt x="187721" y="0"/>
                </a:moveTo>
                <a:lnTo>
                  <a:pt x="124688" y="66479"/>
                </a:lnTo>
                <a:lnTo>
                  <a:pt x="241772" y="66479"/>
                </a:lnTo>
                <a:lnTo>
                  <a:pt x="249377" y="58459"/>
                </a:lnTo>
                <a:lnTo>
                  <a:pt x="18772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034823" y="4669656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111155" y="4748813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30" h="27939">
                <a:moveTo>
                  <a:pt x="21447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7"/>
                </a:lnTo>
                <a:lnTo>
                  <a:pt x="6186" y="27633"/>
                </a:lnTo>
                <a:lnTo>
                  <a:pt x="21447" y="27633"/>
                </a:lnTo>
                <a:lnTo>
                  <a:pt x="27633" y="21447"/>
                </a:lnTo>
                <a:lnTo>
                  <a:pt x="27633" y="6186"/>
                </a:lnTo>
                <a:lnTo>
                  <a:pt x="21447" y="0"/>
                </a:lnTo>
                <a:close/>
              </a:path>
              <a:path w="113030" h="27939">
                <a:moveTo>
                  <a:pt x="106437" y="0"/>
                </a:moveTo>
                <a:lnTo>
                  <a:pt x="91175" y="0"/>
                </a:lnTo>
                <a:lnTo>
                  <a:pt x="84989" y="6186"/>
                </a:lnTo>
                <a:lnTo>
                  <a:pt x="84989" y="21447"/>
                </a:lnTo>
                <a:lnTo>
                  <a:pt x="91175" y="27633"/>
                </a:lnTo>
                <a:lnTo>
                  <a:pt x="106437" y="27633"/>
                </a:lnTo>
                <a:lnTo>
                  <a:pt x="112623" y="21447"/>
                </a:lnTo>
                <a:lnTo>
                  <a:pt x="112623" y="6186"/>
                </a:lnTo>
                <a:lnTo>
                  <a:pt x="106437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111155" y="4748813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196145" y="4748813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095573" y="4860147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4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034823" y="4669656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986845" y="5041586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063177" y="5120741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30" h="27939">
                <a:moveTo>
                  <a:pt x="21447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9"/>
                </a:lnTo>
                <a:lnTo>
                  <a:pt x="6186" y="27635"/>
                </a:lnTo>
                <a:lnTo>
                  <a:pt x="21447" y="27635"/>
                </a:lnTo>
                <a:lnTo>
                  <a:pt x="27633" y="21449"/>
                </a:lnTo>
                <a:lnTo>
                  <a:pt x="27633" y="6186"/>
                </a:lnTo>
                <a:lnTo>
                  <a:pt x="21447" y="0"/>
                </a:lnTo>
                <a:close/>
              </a:path>
              <a:path w="113030" h="27939">
                <a:moveTo>
                  <a:pt x="106437" y="0"/>
                </a:moveTo>
                <a:lnTo>
                  <a:pt x="91175" y="0"/>
                </a:lnTo>
                <a:lnTo>
                  <a:pt x="84989" y="6186"/>
                </a:lnTo>
                <a:lnTo>
                  <a:pt x="84989" y="21449"/>
                </a:lnTo>
                <a:lnTo>
                  <a:pt x="91175" y="27635"/>
                </a:lnTo>
                <a:lnTo>
                  <a:pt x="106437" y="27635"/>
                </a:lnTo>
                <a:lnTo>
                  <a:pt x="112623" y="21449"/>
                </a:lnTo>
                <a:lnTo>
                  <a:pt x="112623" y="6186"/>
                </a:lnTo>
                <a:lnTo>
                  <a:pt x="106437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063176" y="5120742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148167" y="5120742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047595" y="5232077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4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986845" y="5041586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30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805140" y="5293587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4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4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881472" y="5372742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29" h="27939">
                <a:moveTo>
                  <a:pt x="21447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9"/>
                </a:lnTo>
                <a:lnTo>
                  <a:pt x="6186" y="27635"/>
                </a:lnTo>
                <a:lnTo>
                  <a:pt x="21447" y="27635"/>
                </a:lnTo>
                <a:lnTo>
                  <a:pt x="27633" y="21449"/>
                </a:lnTo>
                <a:lnTo>
                  <a:pt x="27633" y="6186"/>
                </a:lnTo>
                <a:lnTo>
                  <a:pt x="21447" y="0"/>
                </a:lnTo>
                <a:close/>
              </a:path>
              <a:path w="113029" h="27939">
                <a:moveTo>
                  <a:pt x="106438" y="0"/>
                </a:moveTo>
                <a:lnTo>
                  <a:pt x="91175" y="0"/>
                </a:lnTo>
                <a:lnTo>
                  <a:pt x="84989" y="6186"/>
                </a:lnTo>
                <a:lnTo>
                  <a:pt x="84989" y="21449"/>
                </a:lnTo>
                <a:lnTo>
                  <a:pt x="91175" y="27635"/>
                </a:lnTo>
                <a:lnTo>
                  <a:pt x="106438" y="27635"/>
                </a:lnTo>
                <a:lnTo>
                  <a:pt x="112624" y="21449"/>
                </a:lnTo>
                <a:lnTo>
                  <a:pt x="112624" y="6186"/>
                </a:lnTo>
                <a:lnTo>
                  <a:pt x="106438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881472" y="5372743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966462" y="5372743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865891" y="5484078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5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805140" y="5293587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805140" y="4730668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132643" y="0"/>
                </a:moveTo>
                <a:lnTo>
                  <a:pt x="90718" y="6762"/>
                </a:lnTo>
                <a:lnTo>
                  <a:pt x="54306" y="25592"/>
                </a:lnTo>
                <a:lnTo>
                  <a:pt x="25592" y="54306"/>
                </a:lnTo>
                <a:lnTo>
                  <a:pt x="6762" y="90718"/>
                </a:lnTo>
                <a:lnTo>
                  <a:pt x="0" y="132643"/>
                </a:lnTo>
                <a:lnTo>
                  <a:pt x="6762" y="174569"/>
                </a:lnTo>
                <a:lnTo>
                  <a:pt x="25592" y="210981"/>
                </a:lnTo>
                <a:lnTo>
                  <a:pt x="54306" y="239695"/>
                </a:lnTo>
                <a:lnTo>
                  <a:pt x="90718" y="258525"/>
                </a:lnTo>
                <a:lnTo>
                  <a:pt x="132643" y="265287"/>
                </a:lnTo>
                <a:lnTo>
                  <a:pt x="174569" y="258525"/>
                </a:lnTo>
                <a:lnTo>
                  <a:pt x="210981" y="239695"/>
                </a:lnTo>
                <a:lnTo>
                  <a:pt x="239695" y="210981"/>
                </a:lnTo>
                <a:lnTo>
                  <a:pt x="258525" y="174569"/>
                </a:lnTo>
                <a:lnTo>
                  <a:pt x="265287" y="132643"/>
                </a:lnTo>
                <a:lnTo>
                  <a:pt x="258525" y="90718"/>
                </a:lnTo>
                <a:lnTo>
                  <a:pt x="239695" y="54306"/>
                </a:lnTo>
                <a:lnTo>
                  <a:pt x="210981" y="25592"/>
                </a:lnTo>
                <a:lnTo>
                  <a:pt x="174569" y="6762"/>
                </a:lnTo>
                <a:lnTo>
                  <a:pt x="1326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881472" y="4809825"/>
            <a:ext cx="113030" cy="27940"/>
          </a:xfrm>
          <a:custGeom>
            <a:avLst/>
            <a:gdLst/>
            <a:ahLst/>
            <a:cxnLst/>
            <a:rect l="l" t="t" r="r" b="b"/>
            <a:pathLst>
              <a:path w="113029" h="27939">
                <a:moveTo>
                  <a:pt x="21447" y="0"/>
                </a:moveTo>
                <a:lnTo>
                  <a:pt x="6186" y="0"/>
                </a:lnTo>
                <a:lnTo>
                  <a:pt x="0" y="6186"/>
                </a:lnTo>
                <a:lnTo>
                  <a:pt x="0" y="21447"/>
                </a:lnTo>
                <a:lnTo>
                  <a:pt x="6186" y="27633"/>
                </a:lnTo>
                <a:lnTo>
                  <a:pt x="21447" y="27633"/>
                </a:lnTo>
                <a:lnTo>
                  <a:pt x="27633" y="21447"/>
                </a:lnTo>
                <a:lnTo>
                  <a:pt x="27633" y="6186"/>
                </a:lnTo>
                <a:lnTo>
                  <a:pt x="21447" y="0"/>
                </a:lnTo>
                <a:close/>
              </a:path>
              <a:path w="113029" h="27939">
                <a:moveTo>
                  <a:pt x="106438" y="0"/>
                </a:moveTo>
                <a:lnTo>
                  <a:pt x="91175" y="0"/>
                </a:lnTo>
                <a:lnTo>
                  <a:pt x="84989" y="6186"/>
                </a:lnTo>
                <a:lnTo>
                  <a:pt x="84989" y="21447"/>
                </a:lnTo>
                <a:lnTo>
                  <a:pt x="91175" y="27633"/>
                </a:lnTo>
                <a:lnTo>
                  <a:pt x="106438" y="27633"/>
                </a:lnTo>
                <a:lnTo>
                  <a:pt x="112624" y="21447"/>
                </a:lnTo>
                <a:lnTo>
                  <a:pt x="112624" y="6186"/>
                </a:lnTo>
                <a:lnTo>
                  <a:pt x="106438" y="0"/>
                </a:lnTo>
                <a:close/>
              </a:path>
            </a:pathLst>
          </a:custGeom>
          <a:solidFill>
            <a:srgbClr val="C18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881472" y="4809825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5966462" y="4809825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13817"/>
                </a:moveTo>
                <a:lnTo>
                  <a:pt x="0" y="6186"/>
                </a:lnTo>
                <a:lnTo>
                  <a:pt x="6186" y="0"/>
                </a:lnTo>
                <a:lnTo>
                  <a:pt x="13817" y="0"/>
                </a:lnTo>
                <a:lnTo>
                  <a:pt x="21448" y="0"/>
                </a:lnTo>
                <a:lnTo>
                  <a:pt x="27634" y="6186"/>
                </a:lnTo>
                <a:lnTo>
                  <a:pt x="27634" y="13817"/>
                </a:lnTo>
                <a:lnTo>
                  <a:pt x="27634" y="21448"/>
                </a:lnTo>
                <a:lnTo>
                  <a:pt x="21448" y="27634"/>
                </a:lnTo>
                <a:lnTo>
                  <a:pt x="13817" y="27634"/>
                </a:lnTo>
                <a:lnTo>
                  <a:pt x="6186" y="27634"/>
                </a:lnTo>
                <a:lnTo>
                  <a:pt x="0" y="21448"/>
                </a:lnTo>
                <a:lnTo>
                  <a:pt x="0" y="13817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865891" y="4921159"/>
            <a:ext cx="144145" cy="24765"/>
          </a:xfrm>
          <a:custGeom>
            <a:avLst/>
            <a:gdLst/>
            <a:ahLst/>
            <a:cxnLst/>
            <a:rect l="l" t="t" r="r" b="b"/>
            <a:pathLst>
              <a:path w="144145" h="24764">
                <a:moveTo>
                  <a:pt x="0" y="0"/>
                </a:moveTo>
                <a:lnTo>
                  <a:pt x="35936" y="18515"/>
                </a:lnTo>
                <a:lnTo>
                  <a:pt x="71851" y="24687"/>
                </a:lnTo>
                <a:lnTo>
                  <a:pt x="107746" y="18515"/>
                </a:lnTo>
                <a:lnTo>
                  <a:pt x="143619" y="0"/>
                </a:lnTo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805140" y="4730668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0" y="132644"/>
                </a:moveTo>
                <a:lnTo>
                  <a:pt x="6762" y="90718"/>
                </a:lnTo>
                <a:lnTo>
                  <a:pt x="25592" y="54306"/>
                </a:lnTo>
                <a:lnTo>
                  <a:pt x="54306" y="25592"/>
                </a:lnTo>
                <a:lnTo>
                  <a:pt x="90718" y="6762"/>
                </a:lnTo>
                <a:lnTo>
                  <a:pt x="132644" y="0"/>
                </a:lnTo>
                <a:lnTo>
                  <a:pt x="174569" y="6762"/>
                </a:lnTo>
                <a:lnTo>
                  <a:pt x="210981" y="25592"/>
                </a:lnTo>
                <a:lnTo>
                  <a:pt x="239695" y="54306"/>
                </a:lnTo>
                <a:lnTo>
                  <a:pt x="258525" y="90718"/>
                </a:lnTo>
                <a:lnTo>
                  <a:pt x="265288" y="132644"/>
                </a:lnTo>
                <a:lnTo>
                  <a:pt x="258525" y="174569"/>
                </a:lnTo>
                <a:lnTo>
                  <a:pt x="239695" y="210981"/>
                </a:lnTo>
                <a:lnTo>
                  <a:pt x="210981" y="239695"/>
                </a:lnTo>
                <a:lnTo>
                  <a:pt x="174569" y="258525"/>
                </a:lnTo>
                <a:lnTo>
                  <a:pt x="132644" y="265288"/>
                </a:lnTo>
                <a:lnTo>
                  <a:pt x="90718" y="258525"/>
                </a:lnTo>
                <a:lnTo>
                  <a:pt x="54306" y="239695"/>
                </a:lnTo>
                <a:lnTo>
                  <a:pt x="25592" y="210981"/>
                </a:lnTo>
                <a:lnTo>
                  <a:pt x="6762" y="174569"/>
                </a:lnTo>
                <a:lnTo>
                  <a:pt x="0" y="132644"/>
                </a:lnTo>
                <a:close/>
              </a:path>
            </a:pathLst>
          </a:custGeom>
          <a:ln w="34925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 txBox="1"/>
          <p:nvPr/>
        </p:nvSpPr>
        <p:spPr>
          <a:xfrm>
            <a:off x="2880158" y="36067"/>
            <a:ext cx="61810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Ying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Graph Convolutional Neural Networks for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Web-Scale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Recommender Systems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KDD</a:t>
            </a:r>
            <a:r>
              <a:rPr dirty="0" sz="1200" spc="-1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2018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09" name="object 10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10" name="object 1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11" name="object 111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0831" y="3541776"/>
            <a:ext cx="5516880" cy="11643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388352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1345" y="2516037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6219" y="2118419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5704" y="2054125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5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26446" y="1628394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4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9395" y="1645108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70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3542" y="1868218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53221" y="0"/>
                </a:moveTo>
                <a:lnTo>
                  <a:pt x="0" y="179"/>
                </a:lnTo>
                <a:lnTo>
                  <a:pt x="26791" y="53310"/>
                </a:lnTo>
                <a:lnTo>
                  <a:pt x="5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0918" y="1488617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1480" y="1616090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30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15290" y="150268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63088" y="148152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4951" y="2096364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09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7340" y="25463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33366" y="272762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3972" y="2490946"/>
            <a:ext cx="1045210" cy="7391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  <a:p>
            <a:pPr marL="775335">
              <a:lnSpc>
                <a:spcPct val="100000"/>
              </a:lnSpc>
              <a:spcBef>
                <a:spcPts val="3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 marL="340360">
              <a:lnSpc>
                <a:spcPct val="100000"/>
              </a:lnSpc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82927" y="2179035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40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23426" y="238460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90"/>
                </a:lnTo>
                <a:lnTo>
                  <a:pt x="90961" y="181432"/>
                </a:lnTo>
                <a:lnTo>
                  <a:pt x="125190" y="174790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2" y="90716"/>
                </a:lnTo>
                <a:lnTo>
                  <a:pt x="175262" y="56579"/>
                </a:lnTo>
                <a:lnTo>
                  <a:pt x="155280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62249" y="2368538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63392" y="203937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402585" y="202260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1847" y="1967625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09117" y="194277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17636" y="2155510"/>
            <a:ext cx="3449642" cy="397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618782" y="1721611"/>
            <a:ext cx="2755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0B5CC"/>
                </a:solidFill>
                <a:latin typeface="Calibri"/>
                <a:cs typeface="Calibri"/>
              </a:rPr>
              <a:t>(5) Learning</a:t>
            </a:r>
            <a:r>
              <a:rPr dirty="0" sz="2400" spc="-4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60B5CC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26" name="object 26"/>
          <p:cNvSpPr txBox="1"/>
          <p:nvPr/>
        </p:nvSpPr>
        <p:spPr>
          <a:xfrm>
            <a:off x="3830389" y="20827"/>
            <a:ext cx="516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1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8694" y="3931411"/>
            <a:ext cx="38849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Next: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How do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train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GNN?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3766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2185" y="3566053"/>
            <a:ext cx="1145986" cy="1063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33760" y="374035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33761" y="374035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44492" y="3408503"/>
            <a:ext cx="130492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375920" marR="93345" indent="-275590">
              <a:lnSpc>
                <a:spcPct val="100000"/>
              </a:lnSpc>
              <a:spcBef>
                <a:spcPts val="7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Prediction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head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5045" y="340379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383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290"/>
              </a:spcBef>
            </a:pPr>
            <a:r>
              <a:rPr dirty="0" sz="2000" spc="-5" b="1">
                <a:latin typeface="Calibri"/>
                <a:cs typeface="Calibri"/>
              </a:rPr>
              <a:t>Predictions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9740" y="3408503"/>
            <a:ext cx="84645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192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27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4602" y="459234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48285" marR="241300" indent="217170">
              <a:lnSpc>
                <a:spcPct val="100000"/>
              </a:lnSpc>
              <a:spcBef>
                <a:spcPts val="9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Loss  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24602" y="2129477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99085" marR="130810" indent="-161290">
              <a:lnSpc>
                <a:spcPct val="100000"/>
              </a:lnSpc>
              <a:spcBef>
                <a:spcPts val="90"/>
              </a:spcBef>
            </a:pP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Evaluation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metrics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60268" y="3638903"/>
            <a:ext cx="956356" cy="11017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27797" y="256629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40970" marR="129539">
              <a:lnSpc>
                <a:spcPct val="100000"/>
              </a:lnSpc>
              <a:spcBef>
                <a:spcPts val="610"/>
              </a:spcBef>
            </a:pPr>
            <a:r>
              <a:rPr dirty="0" sz="2000" spc="-10" b="1">
                <a:latin typeface="Calibri"/>
                <a:cs typeface="Calibri"/>
              </a:rPr>
              <a:t>Graph  Neural  Network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1717" y="374136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51717" y="374136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18217" y="2566291"/>
            <a:ext cx="140589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9060" rIns="0" bIns="0" rtlCol="0" vert="horz">
            <a:spAutoFit/>
          </a:bodyPr>
          <a:lstStyle/>
          <a:p>
            <a:pPr marL="55244" marR="24130" indent="362585">
              <a:lnSpc>
                <a:spcPct val="100000"/>
              </a:lnSpc>
              <a:spcBef>
                <a:spcPts val="780"/>
              </a:spcBef>
            </a:pPr>
            <a:r>
              <a:rPr dirty="0" sz="2000" spc="-5" b="1">
                <a:latin typeface="Calibri"/>
                <a:cs typeface="Calibri"/>
              </a:rPr>
              <a:t>Node  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03065" y="434158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03064" y="434158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31728" y="437467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31728" y="4374669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41554" y="4395882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41553" y="4395882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73933" y="342399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73932" y="3423989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34808" y="3707080"/>
            <a:ext cx="283845" cy="85725"/>
          </a:xfrm>
          <a:custGeom>
            <a:avLst/>
            <a:gdLst/>
            <a:ahLst/>
            <a:cxnLst/>
            <a:rect l="l" t="t" r="r" b="b"/>
            <a:pathLst>
              <a:path w="283844" h="85725">
                <a:moveTo>
                  <a:pt x="197683" y="57149"/>
                </a:moveTo>
                <a:lnTo>
                  <a:pt x="197683" y="85725"/>
                </a:lnTo>
                <a:lnTo>
                  <a:pt x="254833" y="57150"/>
                </a:lnTo>
                <a:lnTo>
                  <a:pt x="197683" y="57149"/>
                </a:lnTo>
                <a:close/>
              </a:path>
              <a:path w="283844" h="85725">
                <a:moveTo>
                  <a:pt x="197683" y="28574"/>
                </a:moveTo>
                <a:lnTo>
                  <a:pt x="197683" y="57149"/>
                </a:lnTo>
                <a:lnTo>
                  <a:pt x="219862" y="57148"/>
                </a:lnTo>
                <a:lnTo>
                  <a:pt x="226258" y="50753"/>
                </a:lnTo>
                <a:lnTo>
                  <a:pt x="226256" y="34970"/>
                </a:lnTo>
                <a:lnTo>
                  <a:pt x="219861" y="28575"/>
                </a:lnTo>
                <a:lnTo>
                  <a:pt x="197683" y="28574"/>
                </a:lnTo>
                <a:close/>
              </a:path>
              <a:path w="283844" h="85725">
                <a:moveTo>
                  <a:pt x="197683" y="0"/>
                </a:moveTo>
                <a:lnTo>
                  <a:pt x="197683" y="28574"/>
                </a:lnTo>
                <a:lnTo>
                  <a:pt x="211970" y="28575"/>
                </a:lnTo>
                <a:lnTo>
                  <a:pt x="219861" y="28575"/>
                </a:lnTo>
                <a:lnTo>
                  <a:pt x="226256" y="34970"/>
                </a:lnTo>
                <a:lnTo>
                  <a:pt x="226258" y="50753"/>
                </a:lnTo>
                <a:lnTo>
                  <a:pt x="219861" y="57150"/>
                </a:lnTo>
                <a:lnTo>
                  <a:pt x="254835" y="57148"/>
                </a:lnTo>
                <a:lnTo>
                  <a:pt x="283408" y="42862"/>
                </a:lnTo>
                <a:lnTo>
                  <a:pt x="197683" y="0"/>
                </a:lnTo>
                <a:close/>
              </a:path>
              <a:path w="283844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97683" y="57149"/>
                </a:lnTo>
                <a:lnTo>
                  <a:pt x="19768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09615" y="3706943"/>
            <a:ext cx="335280" cy="85725"/>
          </a:xfrm>
          <a:custGeom>
            <a:avLst/>
            <a:gdLst/>
            <a:ahLst/>
            <a:cxnLst/>
            <a:rect l="l" t="t" r="r" b="b"/>
            <a:pathLst>
              <a:path w="335279" h="85725">
                <a:moveTo>
                  <a:pt x="306335" y="28562"/>
                </a:moveTo>
                <a:lnTo>
                  <a:pt x="271322" y="28562"/>
                </a:lnTo>
                <a:lnTo>
                  <a:pt x="277723" y="34955"/>
                </a:lnTo>
                <a:lnTo>
                  <a:pt x="277732" y="50737"/>
                </a:lnTo>
                <a:lnTo>
                  <a:pt x="271339" y="57137"/>
                </a:lnTo>
                <a:lnTo>
                  <a:pt x="249161" y="57150"/>
                </a:lnTo>
                <a:lnTo>
                  <a:pt x="249177" y="85724"/>
                </a:lnTo>
                <a:lnTo>
                  <a:pt x="334877" y="42812"/>
                </a:lnTo>
                <a:lnTo>
                  <a:pt x="306335" y="28562"/>
                </a:lnTo>
                <a:close/>
              </a:path>
              <a:path w="335279" h="85725">
                <a:moveTo>
                  <a:pt x="249144" y="28575"/>
                </a:moveTo>
                <a:lnTo>
                  <a:pt x="6393" y="28715"/>
                </a:lnTo>
                <a:lnTo>
                  <a:pt x="0" y="35115"/>
                </a:lnTo>
                <a:lnTo>
                  <a:pt x="8" y="50897"/>
                </a:lnTo>
                <a:lnTo>
                  <a:pt x="6409" y="57290"/>
                </a:lnTo>
                <a:lnTo>
                  <a:pt x="249161" y="57150"/>
                </a:lnTo>
                <a:lnTo>
                  <a:pt x="249144" y="28575"/>
                </a:lnTo>
                <a:close/>
              </a:path>
              <a:path w="335279" h="85725">
                <a:moveTo>
                  <a:pt x="271322" y="28562"/>
                </a:moveTo>
                <a:lnTo>
                  <a:pt x="249144" y="28575"/>
                </a:lnTo>
                <a:lnTo>
                  <a:pt x="249161" y="57150"/>
                </a:lnTo>
                <a:lnTo>
                  <a:pt x="271339" y="57137"/>
                </a:lnTo>
                <a:lnTo>
                  <a:pt x="277732" y="50737"/>
                </a:lnTo>
                <a:lnTo>
                  <a:pt x="277723" y="34955"/>
                </a:lnTo>
                <a:lnTo>
                  <a:pt x="271322" y="28562"/>
                </a:lnTo>
                <a:close/>
              </a:path>
              <a:path w="335279" h="85725">
                <a:moveTo>
                  <a:pt x="249128" y="0"/>
                </a:moveTo>
                <a:lnTo>
                  <a:pt x="249144" y="28575"/>
                </a:lnTo>
                <a:lnTo>
                  <a:pt x="306335" y="28562"/>
                </a:lnTo>
                <a:lnTo>
                  <a:pt x="249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34710" y="3703551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318" y="50292"/>
                </a:lnTo>
                <a:lnTo>
                  <a:pt x="247023" y="56789"/>
                </a:lnTo>
                <a:lnTo>
                  <a:pt x="224847" y="57142"/>
                </a:lnTo>
                <a:lnTo>
                  <a:pt x="225303" y="85714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251" y="54322"/>
                </a:lnTo>
                <a:lnTo>
                  <a:pt x="6748" y="60617"/>
                </a:lnTo>
                <a:lnTo>
                  <a:pt x="224847" y="5714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847" y="57142"/>
                </a:lnTo>
                <a:lnTo>
                  <a:pt x="247023" y="56789"/>
                </a:lnTo>
                <a:lnTo>
                  <a:pt x="253318" y="50292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32162" y="2811983"/>
            <a:ext cx="595630" cy="607695"/>
          </a:xfrm>
          <a:custGeom>
            <a:avLst/>
            <a:gdLst/>
            <a:ahLst/>
            <a:cxnLst/>
            <a:rect l="l" t="t" r="r" b="b"/>
            <a:pathLst>
              <a:path w="595629" h="607695">
                <a:moveTo>
                  <a:pt x="525097" y="51249"/>
                </a:moveTo>
                <a:lnTo>
                  <a:pt x="0" y="587447"/>
                </a:lnTo>
                <a:lnTo>
                  <a:pt x="93" y="596493"/>
                </a:lnTo>
                <a:lnTo>
                  <a:pt x="11369" y="607534"/>
                </a:lnTo>
                <a:lnTo>
                  <a:pt x="20415" y="607440"/>
                </a:lnTo>
                <a:lnTo>
                  <a:pt x="545514" y="71243"/>
                </a:lnTo>
                <a:lnTo>
                  <a:pt x="525097" y="51249"/>
                </a:lnTo>
                <a:close/>
              </a:path>
              <a:path w="595629" h="607695">
                <a:moveTo>
                  <a:pt x="583924" y="35311"/>
                </a:moveTo>
                <a:lnTo>
                  <a:pt x="549661" y="35311"/>
                </a:lnTo>
                <a:lnTo>
                  <a:pt x="560936" y="46352"/>
                </a:lnTo>
                <a:lnTo>
                  <a:pt x="561031" y="55398"/>
                </a:lnTo>
                <a:lnTo>
                  <a:pt x="545514" y="71243"/>
                </a:lnTo>
                <a:lnTo>
                  <a:pt x="565929" y="91236"/>
                </a:lnTo>
                <a:lnTo>
                  <a:pt x="583924" y="35311"/>
                </a:lnTo>
                <a:close/>
              </a:path>
              <a:path w="595629" h="607695">
                <a:moveTo>
                  <a:pt x="549661" y="35311"/>
                </a:moveTo>
                <a:lnTo>
                  <a:pt x="540614" y="35405"/>
                </a:lnTo>
                <a:lnTo>
                  <a:pt x="525097" y="51249"/>
                </a:lnTo>
                <a:lnTo>
                  <a:pt x="545514" y="71243"/>
                </a:lnTo>
                <a:lnTo>
                  <a:pt x="561031" y="55398"/>
                </a:lnTo>
                <a:lnTo>
                  <a:pt x="560936" y="46352"/>
                </a:lnTo>
                <a:lnTo>
                  <a:pt x="549661" y="35311"/>
                </a:lnTo>
                <a:close/>
              </a:path>
              <a:path w="595629" h="607695">
                <a:moveTo>
                  <a:pt x="595285" y="0"/>
                </a:moveTo>
                <a:lnTo>
                  <a:pt x="504682" y="31257"/>
                </a:lnTo>
                <a:lnTo>
                  <a:pt x="525097" y="51249"/>
                </a:lnTo>
                <a:lnTo>
                  <a:pt x="540614" y="35405"/>
                </a:lnTo>
                <a:lnTo>
                  <a:pt x="549661" y="35311"/>
                </a:lnTo>
                <a:lnTo>
                  <a:pt x="583924" y="35311"/>
                </a:lnTo>
                <a:lnTo>
                  <a:pt x="5952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27448" y="2811983"/>
            <a:ext cx="842010" cy="612775"/>
          </a:xfrm>
          <a:custGeom>
            <a:avLst/>
            <a:gdLst/>
            <a:ahLst/>
            <a:cxnLst/>
            <a:rect l="l" t="t" r="r" b="b"/>
            <a:pathLst>
              <a:path w="842009" h="612775">
                <a:moveTo>
                  <a:pt x="77845" y="38637"/>
                </a:moveTo>
                <a:lnTo>
                  <a:pt x="61106" y="61795"/>
                </a:lnTo>
                <a:lnTo>
                  <a:pt x="823328" y="612722"/>
                </a:lnTo>
                <a:lnTo>
                  <a:pt x="832260" y="611285"/>
                </a:lnTo>
                <a:lnTo>
                  <a:pt x="841504" y="598495"/>
                </a:lnTo>
                <a:lnTo>
                  <a:pt x="840066" y="589563"/>
                </a:lnTo>
                <a:lnTo>
                  <a:pt x="77845" y="38637"/>
                </a:lnTo>
                <a:close/>
              </a:path>
              <a:path w="842009" h="612775">
                <a:moveTo>
                  <a:pt x="0" y="0"/>
                </a:moveTo>
                <a:lnTo>
                  <a:pt x="44367" y="84955"/>
                </a:lnTo>
                <a:lnTo>
                  <a:pt x="61106" y="61795"/>
                </a:lnTo>
                <a:lnTo>
                  <a:pt x="43131" y="48803"/>
                </a:lnTo>
                <a:lnTo>
                  <a:pt x="41694" y="39872"/>
                </a:lnTo>
                <a:lnTo>
                  <a:pt x="50939" y="27082"/>
                </a:lnTo>
                <a:lnTo>
                  <a:pt x="59870" y="25645"/>
                </a:lnTo>
                <a:lnTo>
                  <a:pt x="87236" y="25645"/>
                </a:lnTo>
                <a:lnTo>
                  <a:pt x="94584" y="15478"/>
                </a:lnTo>
                <a:lnTo>
                  <a:pt x="0" y="0"/>
                </a:lnTo>
                <a:close/>
              </a:path>
              <a:path w="842009" h="612775">
                <a:moveTo>
                  <a:pt x="59870" y="25645"/>
                </a:moveTo>
                <a:lnTo>
                  <a:pt x="50939" y="27082"/>
                </a:lnTo>
                <a:lnTo>
                  <a:pt x="41694" y="39872"/>
                </a:lnTo>
                <a:lnTo>
                  <a:pt x="43131" y="48803"/>
                </a:lnTo>
                <a:lnTo>
                  <a:pt x="61106" y="61795"/>
                </a:lnTo>
                <a:lnTo>
                  <a:pt x="77845" y="38637"/>
                </a:lnTo>
                <a:lnTo>
                  <a:pt x="59870" y="25645"/>
                </a:lnTo>
                <a:close/>
              </a:path>
              <a:path w="842009" h="612775">
                <a:moveTo>
                  <a:pt x="87236" y="25645"/>
                </a:moveTo>
                <a:lnTo>
                  <a:pt x="59870" y="25645"/>
                </a:lnTo>
                <a:lnTo>
                  <a:pt x="77845" y="38637"/>
                </a:lnTo>
                <a:lnTo>
                  <a:pt x="87236" y="25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27448" y="4074700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51013" y="436500"/>
                </a:moveTo>
                <a:lnTo>
                  <a:pt x="0" y="517639"/>
                </a:lnTo>
                <a:lnTo>
                  <a:pt x="95519" y="509766"/>
                </a:lnTo>
                <a:lnTo>
                  <a:pt x="87678" y="496858"/>
                </a:lnTo>
                <a:lnTo>
                  <a:pt x="61729" y="496858"/>
                </a:lnTo>
                <a:lnTo>
                  <a:pt x="52941" y="494711"/>
                </a:lnTo>
                <a:lnTo>
                  <a:pt x="44748" y="481224"/>
                </a:lnTo>
                <a:lnTo>
                  <a:pt x="46893" y="472436"/>
                </a:lnTo>
                <a:lnTo>
                  <a:pt x="65848" y="460921"/>
                </a:lnTo>
                <a:lnTo>
                  <a:pt x="51013" y="436500"/>
                </a:lnTo>
                <a:close/>
              </a:path>
              <a:path w="842009" h="518160">
                <a:moveTo>
                  <a:pt x="65848" y="460921"/>
                </a:moveTo>
                <a:lnTo>
                  <a:pt x="46893" y="472436"/>
                </a:lnTo>
                <a:lnTo>
                  <a:pt x="44748" y="481224"/>
                </a:lnTo>
                <a:lnTo>
                  <a:pt x="52941" y="494711"/>
                </a:lnTo>
                <a:lnTo>
                  <a:pt x="61729" y="496858"/>
                </a:lnTo>
                <a:lnTo>
                  <a:pt x="80683" y="485344"/>
                </a:lnTo>
                <a:lnTo>
                  <a:pt x="65848" y="460921"/>
                </a:lnTo>
                <a:close/>
              </a:path>
              <a:path w="842009" h="518160">
                <a:moveTo>
                  <a:pt x="80683" y="485344"/>
                </a:moveTo>
                <a:lnTo>
                  <a:pt x="61729" y="496858"/>
                </a:lnTo>
                <a:lnTo>
                  <a:pt x="87678" y="496858"/>
                </a:lnTo>
                <a:lnTo>
                  <a:pt x="80683" y="485344"/>
                </a:lnTo>
                <a:close/>
              </a:path>
              <a:path w="842009" h="518160">
                <a:moveTo>
                  <a:pt x="824628" y="0"/>
                </a:moveTo>
                <a:lnTo>
                  <a:pt x="65848" y="460921"/>
                </a:lnTo>
                <a:lnTo>
                  <a:pt x="80683" y="485344"/>
                </a:lnTo>
                <a:lnTo>
                  <a:pt x="839464" y="24422"/>
                </a:lnTo>
                <a:lnTo>
                  <a:pt x="841609" y="15633"/>
                </a:lnTo>
                <a:lnTo>
                  <a:pt x="833417" y="2146"/>
                </a:lnTo>
                <a:lnTo>
                  <a:pt x="824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31939" y="4070342"/>
            <a:ext cx="595630" cy="522605"/>
          </a:xfrm>
          <a:custGeom>
            <a:avLst/>
            <a:gdLst/>
            <a:ahLst/>
            <a:cxnLst/>
            <a:rect l="l" t="t" r="r" b="b"/>
            <a:pathLst>
              <a:path w="595629" h="522604">
                <a:moveTo>
                  <a:pt x="521537" y="476376"/>
                </a:moveTo>
                <a:lnTo>
                  <a:pt x="502743" y="497900"/>
                </a:lnTo>
                <a:lnTo>
                  <a:pt x="595509" y="521997"/>
                </a:lnTo>
                <a:lnTo>
                  <a:pt x="582775" y="490964"/>
                </a:lnTo>
                <a:lnTo>
                  <a:pt x="538245" y="490964"/>
                </a:lnTo>
                <a:lnTo>
                  <a:pt x="521537" y="476376"/>
                </a:lnTo>
                <a:close/>
              </a:path>
              <a:path w="595629" h="522604">
                <a:moveTo>
                  <a:pt x="540332" y="454851"/>
                </a:moveTo>
                <a:lnTo>
                  <a:pt x="521537" y="476376"/>
                </a:lnTo>
                <a:lnTo>
                  <a:pt x="538245" y="490964"/>
                </a:lnTo>
                <a:lnTo>
                  <a:pt x="547269" y="490353"/>
                </a:lnTo>
                <a:lnTo>
                  <a:pt x="557649" y="478464"/>
                </a:lnTo>
                <a:lnTo>
                  <a:pt x="557038" y="469438"/>
                </a:lnTo>
                <a:lnTo>
                  <a:pt x="540332" y="454851"/>
                </a:lnTo>
                <a:close/>
              </a:path>
              <a:path w="595629" h="522604">
                <a:moveTo>
                  <a:pt x="559126" y="433327"/>
                </a:moveTo>
                <a:lnTo>
                  <a:pt x="540332" y="454851"/>
                </a:lnTo>
                <a:lnTo>
                  <a:pt x="557038" y="469438"/>
                </a:lnTo>
                <a:lnTo>
                  <a:pt x="557649" y="478464"/>
                </a:lnTo>
                <a:lnTo>
                  <a:pt x="547269" y="490353"/>
                </a:lnTo>
                <a:lnTo>
                  <a:pt x="538245" y="490964"/>
                </a:lnTo>
                <a:lnTo>
                  <a:pt x="582775" y="490964"/>
                </a:lnTo>
                <a:lnTo>
                  <a:pt x="559126" y="433327"/>
                </a:lnTo>
                <a:close/>
              </a:path>
              <a:path w="595629" h="522604">
                <a:moveTo>
                  <a:pt x="19405" y="0"/>
                </a:moveTo>
                <a:lnTo>
                  <a:pt x="10379" y="610"/>
                </a:lnTo>
                <a:lnTo>
                  <a:pt x="0" y="12499"/>
                </a:lnTo>
                <a:lnTo>
                  <a:pt x="610" y="21525"/>
                </a:lnTo>
                <a:lnTo>
                  <a:pt x="521537" y="476376"/>
                </a:lnTo>
                <a:lnTo>
                  <a:pt x="540332" y="454851"/>
                </a:lnTo>
                <a:lnTo>
                  <a:pt x="1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8603" y="3721533"/>
            <a:ext cx="1035141" cy="10474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55488" y="256629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86995" rIns="0" bIns="0" rtlCol="0" vert="horz">
            <a:spAutoFit/>
          </a:bodyPr>
          <a:lstStyle/>
          <a:p>
            <a:pPr marL="250825" marR="291465" indent="40005">
              <a:lnSpc>
                <a:spcPct val="100000"/>
              </a:lnSpc>
              <a:spcBef>
                <a:spcPts val="685"/>
              </a:spcBef>
            </a:pPr>
            <a:r>
              <a:rPr dirty="0" sz="2000" b="1">
                <a:latin typeface="Calibri"/>
                <a:cs typeface="Calibri"/>
              </a:rPr>
              <a:t>Input  </a:t>
            </a:r>
            <a:r>
              <a:rPr dirty="0" sz="2000" spc="-10" b="1">
                <a:latin typeface="Calibri"/>
                <a:cs typeface="Calibri"/>
              </a:rPr>
              <a:t>Graph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10628" y="3707080"/>
            <a:ext cx="217170" cy="85725"/>
          </a:xfrm>
          <a:custGeom>
            <a:avLst/>
            <a:gdLst/>
            <a:ahLst/>
            <a:cxnLst/>
            <a:rect l="l" t="t" r="r" b="b"/>
            <a:pathLst>
              <a:path w="217169" h="85725">
                <a:moveTo>
                  <a:pt x="131443" y="57149"/>
                </a:moveTo>
                <a:lnTo>
                  <a:pt x="131443" y="85725"/>
                </a:lnTo>
                <a:lnTo>
                  <a:pt x="188593" y="57150"/>
                </a:lnTo>
                <a:lnTo>
                  <a:pt x="131443" y="57149"/>
                </a:lnTo>
                <a:close/>
              </a:path>
              <a:path w="217169" h="85725">
                <a:moveTo>
                  <a:pt x="131443" y="28574"/>
                </a:moveTo>
                <a:lnTo>
                  <a:pt x="131443" y="57149"/>
                </a:lnTo>
                <a:lnTo>
                  <a:pt x="153623" y="57148"/>
                </a:lnTo>
                <a:lnTo>
                  <a:pt x="160018" y="50753"/>
                </a:lnTo>
                <a:lnTo>
                  <a:pt x="160018" y="34970"/>
                </a:lnTo>
                <a:lnTo>
                  <a:pt x="153621" y="28575"/>
                </a:lnTo>
                <a:lnTo>
                  <a:pt x="131443" y="28574"/>
                </a:lnTo>
                <a:close/>
              </a:path>
              <a:path w="217169" h="85725">
                <a:moveTo>
                  <a:pt x="131443" y="0"/>
                </a:moveTo>
                <a:lnTo>
                  <a:pt x="131443" y="28574"/>
                </a:lnTo>
                <a:lnTo>
                  <a:pt x="145731" y="28575"/>
                </a:lnTo>
                <a:lnTo>
                  <a:pt x="153621" y="28575"/>
                </a:lnTo>
                <a:lnTo>
                  <a:pt x="160018" y="34970"/>
                </a:lnTo>
                <a:lnTo>
                  <a:pt x="160018" y="50753"/>
                </a:lnTo>
                <a:lnTo>
                  <a:pt x="153621" y="57150"/>
                </a:lnTo>
                <a:lnTo>
                  <a:pt x="188596" y="57148"/>
                </a:lnTo>
                <a:lnTo>
                  <a:pt x="217168" y="42862"/>
                </a:lnTo>
                <a:lnTo>
                  <a:pt x="131443" y="0"/>
                </a:lnTo>
                <a:close/>
              </a:path>
              <a:path w="217169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31443" y="57149"/>
                </a:lnTo>
                <a:lnTo>
                  <a:pt x="13144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172" y="2372585"/>
            <a:ext cx="4590415" cy="2734945"/>
          </a:xfrm>
          <a:custGeom>
            <a:avLst/>
            <a:gdLst/>
            <a:ahLst/>
            <a:cxnLst/>
            <a:rect l="l" t="t" r="r" b="b"/>
            <a:pathLst>
              <a:path w="4590415" h="2734945">
                <a:moveTo>
                  <a:pt x="0" y="0"/>
                </a:moveTo>
                <a:lnTo>
                  <a:pt x="4590047" y="0"/>
                </a:lnTo>
                <a:lnTo>
                  <a:pt x="4590047" y="2734819"/>
                </a:lnTo>
                <a:lnTo>
                  <a:pt x="0" y="273481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262092" y="1640331"/>
            <a:ext cx="427418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C00000"/>
                </a:solidFill>
              </a:rPr>
              <a:t>So </a:t>
            </a:r>
            <a:r>
              <a:rPr dirty="0" sz="2800" spc="-15">
                <a:solidFill>
                  <a:srgbClr val="C00000"/>
                </a:solidFill>
              </a:rPr>
              <a:t>far </a:t>
            </a:r>
            <a:r>
              <a:rPr dirty="0" sz="2800" spc="-10">
                <a:solidFill>
                  <a:srgbClr val="C00000"/>
                </a:solidFill>
              </a:rPr>
              <a:t>what </a:t>
            </a:r>
            <a:r>
              <a:rPr dirty="0" sz="2800" spc="-15">
                <a:solidFill>
                  <a:srgbClr val="C00000"/>
                </a:solidFill>
              </a:rPr>
              <a:t>we </a:t>
            </a:r>
            <a:r>
              <a:rPr dirty="0" sz="2800" spc="-20">
                <a:solidFill>
                  <a:srgbClr val="C00000"/>
                </a:solidFill>
              </a:rPr>
              <a:t>have</a:t>
            </a:r>
            <a:r>
              <a:rPr dirty="0" sz="2800" spc="0">
                <a:solidFill>
                  <a:srgbClr val="C00000"/>
                </a:solidFill>
              </a:rPr>
              <a:t> </a:t>
            </a:r>
            <a:r>
              <a:rPr dirty="0" sz="2800" spc="-15">
                <a:solidFill>
                  <a:srgbClr val="C00000"/>
                </a:solidFill>
              </a:rPr>
              <a:t>covered</a:t>
            </a:r>
            <a:endParaRPr sz="2800"/>
          </a:p>
        </p:txBody>
      </p:sp>
      <p:sp>
        <p:nvSpPr>
          <p:cNvPr id="36" name="object 36"/>
          <p:cNvSpPr txBox="1"/>
          <p:nvPr/>
        </p:nvSpPr>
        <p:spPr>
          <a:xfrm>
            <a:off x="198831" y="5388355"/>
            <a:ext cx="53384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Output of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GNN: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set of node</a:t>
            </a:r>
            <a:r>
              <a:rPr dirty="0" sz="24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embeddings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00872" y="5979667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20">
                <a:latin typeface="Cambria Math"/>
                <a:cs typeface="Cambria Math"/>
              </a:rPr>
              <a:t>&amp;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333664" y="5824846"/>
            <a:ext cx="275590" cy="212090"/>
          </a:xfrm>
          <a:custGeom>
            <a:avLst/>
            <a:gdLst/>
            <a:ahLst/>
            <a:cxnLst/>
            <a:rect l="l" t="t" r="r" b="b"/>
            <a:pathLst>
              <a:path w="275589" h="212089">
                <a:moveTo>
                  <a:pt x="207698" y="0"/>
                </a:moveTo>
                <a:lnTo>
                  <a:pt x="204684" y="8594"/>
                </a:lnTo>
                <a:lnTo>
                  <a:pt x="216942" y="13914"/>
                </a:lnTo>
                <a:lnTo>
                  <a:pt x="227483" y="21277"/>
                </a:lnTo>
                <a:lnTo>
                  <a:pt x="248886" y="55409"/>
                </a:lnTo>
                <a:lnTo>
                  <a:pt x="255918" y="104812"/>
                </a:lnTo>
                <a:lnTo>
                  <a:pt x="255134" y="123487"/>
                </a:lnTo>
                <a:lnTo>
                  <a:pt x="243361" y="169217"/>
                </a:lnTo>
                <a:lnTo>
                  <a:pt x="217085" y="197806"/>
                </a:lnTo>
                <a:lnTo>
                  <a:pt x="205019" y="203150"/>
                </a:lnTo>
                <a:lnTo>
                  <a:pt x="207698" y="211745"/>
                </a:lnTo>
                <a:lnTo>
                  <a:pt x="248154" y="187708"/>
                </a:lnTo>
                <a:lnTo>
                  <a:pt x="270876" y="143335"/>
                </a:lnTo>
                <a:lnTo>
                  <a:pt x="275229" y="105928"/>
                </a:lnTo>
                <a:lnTo>
                  <a:pt x="274137" y="86516"/>
                </a:lnTo>
                <a:lnTo>
                  <a:pt x="257760" y="37113"/>
                </a:lnTo>
                <a:lnTo>
                  <a:pt x="223050" y="5542"/>
                </a:lnTo>
                <a:lnTo>
                  <a:pt x="207698" y="0"/>
                </a:lnTo>
                <a:close/>
              </a:path>
              <a:path w="27558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8" y="42136"/>
                </a:lnTo>
                <a:lnTo>
                  <a:pt x="58332" y="13914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997660" y="5830315"/>
            <a:ext cx="18167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mbria Math"/>
                <a:cs typeface="Cambria Math"/>
              </a:rPr>
              <a:t>{𝐡 </a:t>
            </a:r>
            <a:r>
              <a:rPr dirty="0" baseline="37037" sz="2700" spc="825">
                <a:latin typeface="Cambria Math"/>
                <a:cs typeface="Cambria Math"/>
              </a:rPr>
              <a:t>' </a:t>
            </a:r>
            <a:r>
              <a:rPr dirty="0" sz="2400">
                <a:latin typeface="Cambria Math"/>
                <a:cs typeface="Cambria Math"/>
              </a:rPr>
              <a:t>, ∀𝑣 ∈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50">
                <a:latin typeface="Cambria Math"/>
                <a:cs typeface="Cambria Math"/>
              </a:rPr>
              <a:t>𝐺}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6"/>
              </a:rPr>
              <a:t>http://cs224w.stanford.edu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1234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2185" y="3566053"/>
            <a:ext cx="1145986" cy="1063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33760" y="374035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33761" y="374035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44492" y="3408503"/>
            <a:ext cx="130492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375920" marR="93345" indent="-275590">
              <a:lnSpc>
                <a:spcPct val="100000"/>
              </a:lnSpc>
              <a:spcBef>
                <a:spcPts val="7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Prediction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head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5045" y="340379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383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290"/>
              </a:spcBef>
            </a:pPr>
            <a:r>
              <a:rPr dirty="0" sz="2000" spc="-5" b="1">
                <a:latin typeface="Calibri"/>
                <a:cs typeface="Calibri"/>
              </a:rPr>
              <a:t>Predictions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9740" y="3408503"/>
            <a:ext cx="84645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192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27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4602" y="459234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48285" marR="241300" indent="217170">
              <a:lnSpc>
                <a:spcPct val="100000"/>
              </a:lnSpc>
              <a:spcBef>
                <a:spcPts val="9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Loss  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024602" y="2129477"/>
            <a:ext cx="1405890" cy="682625"/>
          </a:xfrm>
          <a:prstGeom prst="rect"/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99085" marR="130810" indent="-161290">
              <a:lnSpc>
                <a:spcPct val="100000"/>
              </a:lnSpc>
              <a:spcBef>
                <a:spcPts val="90"/>
              </a:spcBef>
            </a:pPr>
            <a:r>
              <a:rPr dirty="0" sz="2000" spc="-15">
                <a:solidFill>
                  <a:srgbClr val="C00000"/>
                </a:solidFill>
              </a:rPr>
              <a:t>Evaluation  </a:t>
            </a:r>
            <a:r>
              <a:rPr dirty="0" sz="2000" spc="-5">
                <a:solidFill>
                  <a:srgbClr val="C00000"/>
                </a:solidFill>
              </a:rPr>
              <a:t>metrics</a:t>
            </a:r>
            <a:endParaRPr sz="2000"/>
          </a:p>
        </p:txBody>
      </p:sp>
      <p:sp>
        <p:nvSpPr>
          <p:cNvPr id="11" name="object 11"/>
          <p:cNvSpPr/>
          <p:nvPr/>
        </p:nvSpPr>
        <p:spPr>
          <a:xfrm>
            <a:off x="1760268" y="3638903"/>
            <a:ext cx="956356" cy="11017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27797" y="256629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40970" marR="129539">
              <a:lnSpc>
                <a:spcPct val="100000"/>
              </a:lnSpc>
              <a:spcBef>
                <a:spcPts val="610"/>
              </a:spcBef>
            </a:pPr>
            <a:r>
              <a:rPr dirty="0" sz="2000" spc="-10" b="1">
                <a:latin typeface="Calibri"/>
                <a:cs typeface="Calibri"/>
              </a:rPr>
              <a:t>Graph  Neural  Network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1717" y="374136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51717" y="374136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18217" y="2566291"/>
            <a:ext cx="140589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9060" rIns="0" bIns="0" rtlCol="0" vert="horz">
            <a:spAutoFit/>
          </a:bodyPr>
          <a:lstStyle/>
          <a:p>
            <a:pPr marL="55244" marR="24130" indent="362585">
              <a:lnSpc>
                <a:spcPct val="100000"/>
              </a:lnSpc>
              <a:spcBef>
                <a:spcPts val="780"/>
              </a:spcBef>
            </a:pPr>
            <a:r>
              <a:rPr dirty="0" sz="2000" spc="-5" b="1">
                <a:latin typeface="Calibri"/>
                <a:cs typeface="Calibri"/>
              </a:rPr>
              <a:t>Node  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03065" y="434158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03064" y="434158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31728" y="437467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31728" y="4374669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41554" y="4395882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41553" y="4395882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73933" y="342399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73932" y="3423989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34808" y="3707080"/>
            <a:ext cx="283845" cy="85725"/>
          </a:xfrm>
          <a:custGeom>
            <a:avLst/>
            <a:gdLst/>
            <a:ahLst/>
            <a:cxnLst/>
            <a:rect l="l" t="t" r="r" b="b"/>
            <a:pathLst>
              <a:path w="283844" h="85725">
                <a:moveTo>
                  <a:pt x="197683" y="57149"/>
                </a:moveTo>
                <a:lnTo>
                  <a:pt x="197683" y="85725"/>
                </a:lnTo>
                <a:lnTo>
                  <a:pt x="254833" y="57150"/>
                </a:lnTo>
                <a:lnTo>
                  <a:pt x="197683" y="57149"/>
                </a:lnTo>
                <a:close/>
              </a:path>
              <a:path w="283844" h="85725">
                <a:moveTo>
                  <a:pt x="197683" y="28574"/>
                </a:moveTo>
                <a:lnTo>
                  <a:pt x="197683" y="57149"/>
                </a:lnTo>
                <a:lnTo>
                  <a:pt x="219862" y="57148"/>
                </a:lnTo>
                <a:lnTo>
                  <a:pt x="226258" y="50753"/>
                </a:lnTo>
                <a:lnTo>
                  <a:pt x="226256" y="34970"/>
                </a:lnTo>
                <a:lnTo>
                  <a:pt x="219861" y="28575"/>
                </a:lnTo>
                <a:lnTo>
                  <a:pt x="197683" y="28574"/>
                </a:lnTo>
                <a:close/>
              </a:path>
              <a:path w="283844" h="85725">
                <a:moveTo>
                  <a:pt x="197683" y="0"/>
                </a:moveTo>
                <a:lnTo>
                  <a:pt x="197683" y="28574"/>
                </a:lnTo>
                <a:lnTo>
                  <a:pt x="211970" y="28575"/>
                </a:lnTo>
                <a:lnTo>
                  <a:pt x="219861" y="28575"/>
                </a:lnTo>
                <a:lnTo>
                  <a:pt x="226256" y="34970"/>
                </a:lnTo>
                <a:lnTo>
                  <a:pt x="226258" y="50753"/>
                </a:lnTo>
                <a:lnTo>
                  <a:pt x="219861" y="57150"/>
                </a:lnTo>
                <a:lnTo>
                  <a:pt x="254835" y="57148"/>
                </a:lnTo>
                <a:lnTo>
                  <a:pt x="283408" y="42862"/>
                </a:lnTo>
                <a:lnTo>
                  <a:pt x="197683" y="0"/>
                </a:lnTo>
                <a:close/>
              </a:path>
              <a:path w="283844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97683" y="57149"/>
                </a:lnTo>
                <a:lnTo>
                  <a:pt x="19768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09615" y="3706943"/>
            <a:ext cx="335280" cy="85725"/>
          </a:xfrm>
          <a:custGeom>
            <a:avLst/>
            <a:gdLst/>
            <a:ahLst/>
            <a:cxnLst/>
            <a:rect l="l" t="t" r="r" b="b"/>
            <a:pathLst>
              <a:path w="335279" h="85725">
                <a:moveTo>
                  <a:pt x="306335" y="28562"/>
                </a:moveTo>
                <a:lnTo>
                  <a:pt x="271322" y="28562"/>
                </a:lnTo>
                <a:lnTo>
                  <a:pt x="277723" y="34955"/>
                </a:lnTo>
                <a:lnTo>
                  <a:pt x="277732" y="50737"/>
                </a:lnTo>
                <a:lnTo>
                  <a:pt x="271339" y="57137"/>
                </a:lnTo>
                <a:lnTo>
                  <a:pt x="249161" y="57150"/>
                </a:lnTo>
                <a:lnTo>
                  <a:pt x="249177" y="85724"/>
                </a:lnTo>
                <a:lnTo>
                  <a:pt x="334877" y="42812"/>
                </a:lnTo>
                <a:lnTo>
                  <a:pt x="306335" y="28562"/>
                </a:lnTo>
                <a:close/>
              </a:path>
              <a:path w="335279" h="85725">
                <a:moveTo>
                  <a:pt x="249144" y="28575"/>
                </a:moveTo>
                <a:lnTo>
                  <a:pt x="6393" y="28715"/>
                </a:lnTo>
                <a:lnTo>
                  <a:pt x="0" y="35115"/>
                </a:lnTo>
                <a:lnTo>
                  <a:pt x="8" y="50897"/>
                </a:lnTo>
                <a:lnTo>
                  <a:pt x="6409" y="57290"/>
                </a:lnTo>
                <a:lnTo>
                  <a:pt x="249161" y="57150"/>
                </a:lnTo>
                <a:lnTo>
                  <a:pt x="249144" y="28575"/>
                </a:lnTo>
                <a:close/>
              </a:path>
              <a:path w="335279" h="85725">
                <a:moveTo>
                  <a:pt x="271322" y="28562"/>
                </a:moveTo>
                <a:lnTo>
                  <a:pt x="249144" y="28575"/>
                </a:lnTo>
                <a:lnTo>
                  <a:pt x="249161" y="57150"/>
                </a:lnTo>
                <a:lnTo>
                  <a:pt x="271339" y="57137"/>
                </a:lnTo>
                <a:lnTo>
                  <a:pt x="277732" y="50737"/>
                </a:lnTo>
                <a:lnTo>
                  <a:pt x="277723" y="34955"/>
                </a:lnTo>
                <a:lnTo>
                  <a:pt x="271322" y="28562"/>
                </a:lnTo>
                <a:close/>
              </a:path>
              <a:path w="335279" h="85725">
                <a:moveTo>
                  <a:pt x="249128" y="0"/>
                </a:moveTo>
                <a:lnTo>
                  <a:pt x="249144" y="28575"/>
                </a:lnTo>
                <a:lnTo>
                  <a:pt x="306335" y="28562"/>
                </a:lnTo>
                <a:lnTo>
                  <a:pt x="249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34710" y="3703551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318" y="50292"/>
                </a:lnTo>
                <a:lnTo>
                  <a:pt x="247023" y="56789"/>
                </a:lnTo>
                <a:lnTo>
                  <a:pt x="224847" y="57142"/>
                </a:lnTo>
                <a:lnTo>
                  <a:pt x="225303" y="85714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251" y="54322"/>
                </a:lnTo>
                <a:lnTo>
                  <a:pt x="6748" y="60617"/>
                </a:lnTo>
                <a:lnTo>
                  <a:pt x="224847" y="5714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847" y="57142"/>
                </a:lnTo>
                <a:lnTo>
                  <a:pt x="247023" y="56789"/>
                </a:lnTo>
                <a:lnTo>
                  <a:pt x="253318" y="50292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32162" y="2811983"/>
            <a:ext cx="595630" cy="607695"/>
          </a:xfrm>
          <a:custGeom>
            <a:avLst/>
            <a:gdLst/>
            <a:ahLst/>
            <a:cxnLst/>
            <a:rect l="l" t="t" r="r" b="b"/>
            <a:pathLst>
              <a:path w="595629" h="607695">
                <a:moveTo>
                  <a:pt x="525097" y="51249"/>
                </a:moveTo>
                <a:lnTo>
                  <a:pt x="0" y="587447"/>
                </a:lnTo>
                <a:lnTo>
                  <a:pt x="93" y="596493"/>
                </a:lnTo>
                <a:lnTo>
                  <a:pt x="11369" y="607534"/>
                </a:lnTo>
                <a:lnTo>
                  <a:pt x="20415" y="607440"/>
                </a:lnTo>
                <a:lnTo>
                  <a:pt x="545514" y="71243"/>
                </a:lnTo>
                <a:lnTo>
                  <a:pt x="525097" y="51249"/>
                </a:lnTo>
                <a:close/>
              </a:path>
              <a:path w="595629" h="607695">
                <a:moveTo>
                  <a:pt x="583924" y="35311"/>
                </a:moveTo>
                <a:lnTo>
                  <a:pt x="549661" y="35311"/>
                </a:lnTo>
                <a:lnTo>
                  <a:pt x="560936" y="46352"/>
                </a:lnTo>
                <a:lnTo>
                  <a:pt x="561031" y="55398"/>
                </a:lnTo>
                <a:lnTo>
                  <a:pt x="545514" y="71243"/>
                </a:lnTo>
                <a:lnTo>
                  <a:pt x="565929" y="91236"/>
                </a:lnTo>
                <a:lnTo>
                  <a:pt x="583924" y="35311"/>
                </a:lnTo>
                <a:close/>
              </a:path>
              <a:path w="595629" h="607695">
                <a:moveTo>
                  <a:pt x="549661" y="35311"/>
                </a:moveTo>
                <a:lnTo>
                  <a:pt x="540614" y="35405"/>
                </a:lnTo>
                <a:lnTo>
                  <a:pt x="525097" y="51249"/>
                </a:lnTo>
                <a:lnTo>
                  <a:pt x="545514" y="71243"/>
                </a:lnTo>
                <a:lnTo>
                  <a:pt x="561031" y="55398"/>
                </a:lnTo>
                <a:lnTo>
                  <a:pt x="560936" y="46352"/>
                </a:lnTo>
                <a:lnTo>
                  <a:pt x="549661" y="35311"/>
                </a:lnTo>
                <a:close/>
              </a:path>
              <a:path w="595629" h="607695">
                <a:moveTo>
                  <a:pt x="595285" y="0"/>
                </a:moveTo>
                <a:lnTo>
                  <a:pt x="504682" y="31257"/>
                </a:lnTo>
                <a:lnTo>
                  <a:pt x="525097" y="51249"/>
                </a:lnTo>
                <a:lnTo>
                  <a:pt x="540614" y="35405"/>
                </a:lnTo>
                <a:lnTo>
                  <a:pt x="549661" y="35311"/>
                </a:lnTo>
                <a:lnTo>
                  <a:pt x="583924" y="35311"/>
                </a:lnTo>
                <a:lnTo>
                  <a:pt x="5952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27448" y="2811983"/>
            <a:ext cx="842010" cy="612775"/>
          </a:xfrm>
          <a:custGeom>
            <a:avLst/>
            <a:gdLst/>
            <a:ahLst/>
            <a:cxnLst/>
            <a:rect l="l" t="t" r="r" b="b"/>
            <a:pathLst>
              <a:path w="842009" h="612775">
                <a:moveTo>
                  <a:pt x="77845" y="38637"/>
                </a:moveTo>
                <a:lnTo>
                  <a:pt x="61106" y="61795"/>
                </a:lnTo>
                <a:lnTo>
                  <a:pt x="823328" y="612722"/>
                </a:lnTo>
                <a:lnTo>
                  <a:pt x="832260" y="611285"/>
                </a:lnTo>
                <a:lnTo>
                  <a:pt x="841504" y="598495"/>
                </a:lnTo>
                <a:lnTo>
                  <a:pt x="840066" y="589563"/>
                </a:lnTo>
                <a:lnTo>
                  <a:pt x="77845" y="38637"/>
                </a:lnTo>
                <a:close/>
              </a:path>
              <a:path w="842009" h="612775">
                <a:moveTo>
                  <a:pt x="0" y="0"/>
                </a:moveTo>
                <a:lnTo>
                  <a:pt x="44367" y="84955"/>
                </a:lnTo>
                <a:lnTo>
                  <a:pt x="61106" y="61795"/>
                </a:lnTo>
                <a:lnTo>
                  <a:pt x="43131" y="48803"/>
                </a:lnTo>
                <a:lnTo>
                  <a:pt x="41694" y="39872"/>
                </a:lnTo>
                <a:lnTo>
                  <a:pt x="50939" y="27082"/>
                </a:lnTo>
                <a:lnTo>
                  <a:pt x="59870" y="25645"/>
                </a:lnTo>
                <a:lnTo>
                  <a:pt x="87236" y="25645"/>
                </a:lnTo>
                <a:lnTo>
                  <a:pt x="94584" y="15478"/>
                </a:lnTo>
                <a:lnTo>
                  <a:pt x="0" y="0"/>
                </a:lnTo>
                <a:close/>
              </a:path>
              <a:path w="842009" h="612775">
                <a:moveTo>
                  <a:pt x="59870" y="25645"/>
                </a:moveTo>
                <a:lnTo>
                  <a:pt x="50939" y="27082"/>
                </a:lnTo>
                <a:lnTo>
                  <a:pt x="41694" y="39872"/>
                </a:lnTo>
                <a:lnTo>
                  <a:pt x="43131" y="48803"/>
                </a:lnTo>
                <a:lnTo>
                  <a:pt x="61106" y="61795"/>
                </a:lnTo>
                <a:lnTo>
                  <a:pt x="77845" y="38637"/>
                </a:lnTo>
                <a:lnTo>
                  <a:pt x="59870" y="25645"/>
                </a:lnTo>
                <a:close/>
              </a:path>
              <a:path w="842009" h="612775">
                <a:moveTo>
                  <a:pt x="87236" y="25645"/>
                </a:moveTo>
                <a:lnTo>
                  <a:pt x="59870" y="25645"/>
                </a:lnTo>
                <a:lnTo>
                  <a:pt x="77845" y="38637"/>
                </a:lnTo>
                <a:lnTo>
                  <a:pt x="87236" y="25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27448" y="4074700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51013" y="436500"/>
                </a:moveTo>
                <a:lnTo>
                  <a:pt x="0" y="517639"/>
                </a:lnTo>
                <a:lnTo>
                  <a:pt x="95519" y="509766"/>
                </a:lnTo>
                <a:lnTo>
                  <a:pt x="87678" y="496858"/>
                </a:lnTo>
                <a:lnTo>
                  <a:pt x="61729" y="496858"/>
                </a:lnTo>
                <a:lnTo>
                  <a:pt x="52941" y="494711"/>
                </a:lnTo>
                <a:lnTo>
                  <a:pt x="44748" y="481224"/>
                </a:lnTo>
                <a:lnTo>
                  <a:pt x="46893" y="472436"/>
                </a:lnTo>
                <a:lnTo>
                  <a:pt x="65848" y="460921"/>
                </a:lnTo>
                <a:lnTo>
                  <a:pt x="51013" y="436500"/>
                </a:lnTo>
                <a:close/>
              </a:path>
              <a:path w="842009" h="518160">
                <a:moveTo>
                  <a:pt x="65848" y="460921"/>
                </a:moveTo>
                <a:lnTo>
                  <a:pt x="46893" y="472436"/>
                </a:lnTo>
                <a:lnTo>
                  <a:pt x="44748" y="481224"/>
                </a:lnTo>
                <a:lnTo>
                  <a:pt x="52941" y="494711"/>
                </a:lnTo>
                <a:lnTo>
                  <a:pt x="61729" y="496858"/>
                </a:lnTo>
                <a:lnTo>
                  <a:pt x="80683" y="485344"/>
                </a:lnTo>
                <a:lnTo>
                  <a:pt x="65848" y="460921"/>
                </a:lnTo>
                <a:close/>
              </a:path>
              <a:path w="842009" h="518160">
                <a:moveTo>
                  <a:pt x="80683" y="485344"/>
                </a:moveTo>
                <a:lnTo>
                  <a:pt x="61729" y="496858"/>
                </a:lnTo>
                <a:lnTo>
                  <a:pt x="87678" y="496858"/>
                </a:lnTo>
                <a:lnTo>
                  <a:pt x="80683" y="485344"/>
                </a:lnTo>
                <a:close/>
              </a:path>
              <a:path w="842009" h="518160">
                <a:moveTo>
                  <a:pt x="824628" y="0"/>
                </a:moveTo>
                <a:lnTo>
                  <a:pt x="65848" y="460921"/>
                </a:lnTo>
                <a:lnTo>
                  <a:pt x="80683" y="485344"/>
                </a:lnTo>
                <a:lnTo>
                  <a:pt x="839464" y="24422"/>
                </a:lnTo>
                <a:lnTo>
                  <a:pt x="841609" y="15633"/>
                </a:lnTo>
                <a:lnTo>
                  <a:pt x="833417" y="2146"/>
                </a:lnTo>
                <a:lnTo>
                  <a:pt x="824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31939" y="4070342"/>
            <a:ext cx="595630" cy="522605"/>
          </a:xfrm>
          <a:custGeom>
            <a:avLst/>
            <a:gdLst/>
            <a:ahLst/>
            <a:cxnLst/>
            <a:rect l="l" t="t" r="r" b="b"/>
            <a:pathLst>
              <a:path w="595629" h="522604">
                <a:moveTo>
                  <a:pt x="521537" y="476376"/>
                </a:moveTo>
                <a:lnTo>
                  <a:pt x="502743" y="497900"/>
                </a:lnTo>
                <a:lnTo>
                  <a:pt x="595509" y="521997"/>
                </a:lnTo>
                <a:lnTo>
                  <a:pt x="582775" y="490964"/>
                </a:lnTo>
                <a:lnTo>
                  <a:pt x="538245" y="490964"/>
                </a:lnTo>
                <a:lnTo>
                  <a:pt x="521537" y="476376"/>
                </a:lnTo>
                <a:close/>
              </a:path>
              <a:path w="595629" h="522604">
                <a:moveTo>
                  <a:pt x="540332" y="454851"/>
                </a:moveTo>
                <a:lnTo>
                  <a:pt x="521537" y="476376"/>
                </a:lnTo>
                <a:lnTo>
                  <a:pt x="538245" y="490964"/>
                </a:lnTo>
                <a:lnTo>
                  <a:pt x="547269" y="490353"/>
                </a:lnTo>
                <a:lnTo>
                  <a:pt x="557649" y="478464"/>
                </a:lnTo>
                <a:lnTo>
                  <a:pt x="557038" y="469438"/>
                </a:lnTo>
                <a:lnTo>
                  <a:pt x="540332" y="454851"/>
                </a:lnTo>
                <a:close/>
              </a:path>
              <a:path w="595629" h="522604">
                <a:moveTo>
                  <a:pt x="559126" y="433327"/>
                </a:moveTo>
                <a:lnTo>
                  <a:pt x="540332" y="454851"/>
                </a:lnTo>
                <a:lnTo>
                  <a:pt x="557038" y="469438"/>
                </a:lnTo>
                <a:lnTo>
                  <a:pt x="557649" y="478464"/>
                </a:lnTo>
                <a:lnTo>
                  <a:pt x="547269" y="490353"/>
                </a:lnTo>
                <a:lnTo>
                  <a:pt x="538245" y="490964"/>
                </a:lnTo>
                <a:lnTo>
                  <a:pt x="582775" y="490964"/>
                </a:lnTo>
                <a:lnTo>
                  <a:pt x="559126" y="433327"/>
                </a:lnTo>
                <a:close/>
              </a:path>
              <a:path w="595629" h="522604">
                <a:moveTo>
                  <a:pt x="19405" y="0"/>
                </a:moveTo>
                <a:lnTo>
                  <a:pt x="10379" y="610"/>
                </a:lnTo>
                <a:lnTo>
                  <a:pt x="0" y="12499"/>
                </a:lnTo>
                <a:lnTo>
                  <a:pt x="610" y="21525"/>
                </a:lnTo>
                <a:lnTo>
                  <a:pt x="521537" y="476376"/>
                </a:lnTo>
                <a:lnTo>
                  <a:pt x="540332" y="454851"/>
                </a:lnTo>
                <a:lnTo>
                  <a:pt x="1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8603" y="3721533"/>
            <a:ext cx="1035141" cy="10474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55488" y="256629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86995" rIns="0" bIns="0" rtlCol="0" vert="horz">
            <a:spAutoFit/>
          </a:bodyPr>
          <a:lstStyle/>
          <a:p>
            <a:pPr marL="250825" marR="291465" indent="40005">
              <a:lnSpc>
                <a:spcPct val="100000"/>
              </a:lnSpc>
              <a:spcBef>
                <a:spcPts val="685"/>
              </a:spcBef>
            </a:pPr>
            <a:r>
              <a:rPr dirty="0" sz="2000" b="1">
                <a:latin typeface="Calibri"/>
                <a:cs typeface="Calibri"/>
              </a:rPr>
              <a:t>Input  </a:t>
            </a:r>
            <a:r>
              <a:rPr dirty="0" sz="2000" spc="-10" b="1">
                <a:latin typeface="Calibri"/>
                <a:cs typeface="Calibri"/>
              </a:rPr>
              <a:t>Graph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10628" y="3707080"/>
            <a:ext cx="217170" cy="85725"/>
          </a:xfrm>
          <a:custGeom>
            <a:avLst/>
            <a:gdLst/>
            <a:ahLst/>
            <a:cxnLst/>
            <a:rect l="l" t="t" r="r" b="b"/>
            <a:pathLst>
              <a:path w="217169" h="85725">
                <a:moveTo>
                  <a:pt x="131443" y="57149"/>
                </a:moveTo>
                <a:lnTo>
                  <a:pt x="131443" y="85725"/>
                </a:lnTo>
                <a:lnTo>
                  <a:pt x="188593" y="57150"/>
                </a:lnTo>
                <a:lnTo>
                  <a:pt x="131443" y="57149"/>
                </a:lnTo>
                <a:close/>
              </a:path>
              <a:path w="217169" h="85725">
                <a:moveTo>
                  <a:pt x="131443" y="28574"/>
                </a:moveTo>
                <a:lnTo>
                  <a:pt x="131443" y="57149"/>
                </a:lnTo>
                <a:lnTo>
                  <a:pt x="153623" y="57148"/>
                </a:lnTo>
                <a:lnTo>
                  <a:pt x="160018" y="50753"/>
                </a:lnTo>
                <a:lnTo>
                  <a:pt x="160018" y="34970"/>
                </a:lnTo>
                <a:lnTo>
                  <a:pt x="153621" y="28575"/>
                </a:lnTo>
                <a:lnTo>
                  <a:pt x="131443" y="28574"/>
                </a:lnTo>
                <a:close/>
              </a:path>
              <a:path w="217169" h="85725">
                <a:moveTo>
                  <a:pt x="131443" y="0"/>
                </a:moveTo>
                <a:lnTo>
                  <a:pt x="131443" y="28574"/>
                </a:lnTo>
                <a:lnTo>
                  <a:pt x="145731" y="28575"/>
                </a:lnTo>
                <a:lnTo>
                  <a:pt x="153621" y="28575"/>
                </a:lnTo>
                <a:lnTo>
                  <a:pt x="160018" y="34970"/>
                </a:lnTo>
                <a:lnTo>
                  <a:pt x="160018" y="50753"/>
                </a:lnTo>
                <a:lnTo>
                  <a:pt x="153621" y="57150"/>
                </a:lnTo>
                <a:lnTo>
                  <a:pt x="188596" y="57148"/>
                </a:lnTo>
                <a:lnTo>
                  <a:pt x="217168" y="42862"/>
                </a:lnTo>
                <a:lnTo>
                  <a:pt x="131443" y="0"/>
                </a:lnTo>
                <a:close/>
              </a:path>
              <a:path w="217169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31443" y="57149"/>
                </a:lnTo>
                <a:lnTo>
                  <a:pt x="13144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74401" y="3108243"/>
            <a:ext cx="1642745" cy="1233170"/>
          </a:xfrm>
          <a:custGeom>
            <a:avLst/>
            <a:gdLst/>
            <a:ahLst/>
            <a:cxnLst/>
            <a:rect l="l" t="t" r="r" b="b"/>
            <a:pathLst>
              <a:path w="1642745" h="1233170">
                <a:moveTo>
                  <a:pt x="0" y="0"/>
                </a:moveTo>
                <a:lnTo>
                  <a:pt x="1642433" y="0"/>
                </a:lnTo>
                <a:lnTo>
                  <a:pt x="1642433" y="1232786"/>
                </a:lnTo>
                <a:lnTo>
                  <a:pt x="0" y="123278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986805" y="5065267"/>
            <a:ext cx="3843020" cy="1497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(1)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Different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prediction</a:t>
            </a:r>
            <a:r>
              <a:rPr dirty="0" sz="2400" spc="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heads: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Calibri"/>
              <a:buChar char="-"/>
              <a:tabLst>
                <a:tab pos="354965" algn="l"/>
                <a:tab pos="355600" algn="l"/>
              </a:tabLst>
            </a:pPr>
            <a:r>
              <a:rPr dirty="0" sz="2400" spc="-10" b="1">
                <a:latin typeface="Calibri"/>
                <a:cs typeface="Calibri"/>
              </a:rPr>
              <a:t>Node-level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Calibri"/>
              <a:buChar char="-"/>
              <a:tabLst>
                <a:tab pos="354965" algn="l"/>
                <a:tab pos="355600" algn="l"/>
              </a:tabLst>
            </a:pPr>
            <a:r>
              <a:rPr dirty="0" sz="2400" spc="-10" b="1">
                <a:latin typeface="Calibri"/>
                <a:cs typeface="Calibri"/>
              </a:rPr>
              <a:t>Edge-level</a:t>
            </a:r>
            <a:r>
              <a:rPr dirty="0" sz="2400" spc="-10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Calibri"/>
              <a:buChar char="-"/>
              <a:tabLst>
                <a:tab pos="354965" algn="l"/>
                <a:tab pos="355600" algn="l"/>
              </a:tabLst>
            </a:pPr>
            <a:r>
              <a:rPr dirty="0" sz="2400" spc="-10" b="1">
                <a:latin typeface="Calibri"/>
                <a:cs typeface="Calibri"/>
              </a:rPr>
              <a:t>Graph-level</a:t>
            </a:r>
            <a:r>
              <a:rPr dirty="0" sz="2400" spc="-10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6"/>
              </a:rPr>
              <a:t>http://cs224w.stanford.edu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504688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3425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Idea: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Different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task levels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require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different 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prediction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heads</a:t>
            </a:r>
          </a:p>
        </p:txBody>
      </p:sp>
      <p:sp>
        <p:nvSpPr>
          <p:cNvPr id="4" name="object 4"/>
          <p:cNvSpPr/>
          <p:nvPr/>
        </p:nvSpPr>
        <p:spPr>
          <a:xfrm>
            <a:off x="3586473" y="2823616"/>
            <a:ext cx="2019063" cy="3524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323555" y="3049523"/>
            <a:ext cx="131064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0" b="1">
                <a:latin typeface="Arial"/>
                <a:cs typeface="Arial"/>
              </a:rPr>
              <a:t>N</a:t>
            </a:r>
            <a:r>
              <a:rPr dirty="0" sz="2000" b="1">
                <a:latin typeface="Arial"/>
                <a:cs typeface="Arial"/>
              </a:rPr>
              <a:t>ode</a:t>
            </a:r>
            <a:r>
              <a:rPr dirty="0" sz="2000" spc="-5" b="1">
                <a:latin typeface="Arial"/>
                <a:cs typeface="Arial"/>
              </a:rPr>
              <a:t>-</a:t>
            </a:r>
            <a:r>
              <a:rPr dirty="0" sz="2000" spc="-10" b="1">
                <a:latin typeface="Arial"/>
                <a:cs typeface="Arial"/>
              </a:rPr>
              <a:t>l</a:t>
            </a:r>
            <a:r>
              <a:rPr dirty="0" sz="2000" b="1">
                <a:latin typeface="Arial"/>
                <a:cs typeface="Arial"/>
              </a:rPr>
              <a:t>e</a:t>
            </a:r>
            <a:r>
              <a:rPr dirty="0" sz="2000" spc="-5" b="1">
                <a:latin typeface="Arial"/>
                <a:cs typeface="Arial"/>
              </a:rPr>
              <a:t>ve</a:t>
            </a:r>
            <a:r>
              <a:rPr dirty="0" sz="2000" b="1">
                <a:latin typeface="Arial"/>
                <a:cs typeface="Arial"/>
              </a:rPr>
              <a:t>l  </a:t>
            </a:r>
            <a:r>
              <a:rPr dirty="0" sz="2000" spc="-5" b="1">
                <a:latin typeface="Arial"/>
                <a:cs typeface="Arial"/>
              </a:rPr>
              <a:t>prediction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23555" y="5658611"/>
            <a:ext cx="129603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Edg</a:t>
            </a:r>
            <a:r>
              <a:rPr dirty="0" sz="2000" spc="-5" b="1">
                <a:latin typeface="Arial"/>
                <a:cs typeface="Arial"/>
              </a:rPr>
              <a:t>e-</a:t>
            </a:r>
            <a:r>
              <a:rPr dirty="0" sz="2000" spc="-10" b="1">
                <a:latin typeface="Arial"/>
                <a:cs typeface="Arial"/>
              </a:rPr>
              <a:t>l</a:t>
            </a:r>
            <a:r>
              <a:rPr dirty="0" sz="2000" b="1">
                <a:latin typeface="Arial"/>
                <a:cs typeface="Arial"/>
              </a:rPr>
              <a:t>e</a:t>
            </a:r>
            <a:r>
              <a:rPr dirty="0" sz="2000" spc="-5" b="1">
                <a:latin typeface="Arial"/>
                <a:cs typeface="Arial"/>
              </a:rPr>
              <a:t>ve</a:t>
            </a:r>
            <a:r>
              <a:rPr dirty="0" sz="2000" b="1">
                <a:latin typeface="Arial"/>
                <a:cs typeface="Arial"/>
              </a:rPr>
              <a:t>l  </a:t>
            </a:r>
            <a:r>
              <a:rPr dirty="0" sz="2000" spc="-5" b="1">
                <a:latin typeface="Arial"/>
                <a:cs typeface="Arial"/>
              </a:rPr>
              <a:t>prediction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01265" y="3319257"/>
            <a:ext cx="663575" cy="127000"/>
          </a:xfrm>
          <a:custGeom>
            <a:avLst/>
            <a:gdLst/>
            <a:ahLst/>
            <a:cxnLst/>
            <a:rect l="l" t="t" r="r" b="b"/>
            <a:pathLst>
              <a:path w="663575" h="127000">
                <a:moveTo>
                  <a:pt x="536076" y="76199"/>
                </a:moveTo>
                <a:lnTo>
                  <a:pt x="536075" y="127000"/>
                </a:lnTo>
                <a:lnTo>
                  <a:pt x="637675" y="76200"/>
                </a:lnTo>
                <a:lnTo>
                  <a:pt x="536076" y="76199"/>
                </a:lnTo>
                <a:close/>
              </a:path>
              <a:path w="663575" h="127000">
                <a:moveTo>
                  <a:pt x="536076" y="50799"/>
                </a:moveTo>
                <a:lnTo>
                  <a:pt x="536076" y="76199"/>
                </a:lnTo>
                <a:lnTo>
                  <a:pt x="555791" y="76198"/>
                </a:lnTo>
                <a:lnTo>
                  <a:pt x="561475" y="70514"/>
                </a:lnTo>
                <a:lnTo>
                  <a:pt x="561474" y="56484"/>
                </a:lnTo>
                <a:lnTo>
                  <a:pt x="555790" y="50800"/>
                </a:lnTo>
                <a:lnTo>
                  <a:pt x="536076" y="50799"/>
                </a:lnTo>
                <a:close/>
              </a:path>
              <a:path w="663575" h="127000">
                <a:moveTo>
                  <a:pt x="536077" y="0"/>
                </a:moveTo>
                <a:lnTo>
                  <a:pt x="536076" y="50799"/>
                </a:lnTo>
                <a:lnTo>
                  <a:pt x="548775" y="50800"/>
                </a:lnTo>
                <a:lnTo>
                  <a:pt x="555790" y="50800"/>
                </a:lnTo>
                <a:lnTo>
                  <a:pt x="561474" y="56484"/>
                </a:lnTo>
                <a:lnTo>
                  <a:pt x="561475" y="70514"/>
                </a:lnTo>
                <a:lnTo>
                  <a:pt x="555790" y="76200"/>
                </a:lnTo>
                <a:lnTo>
                  <a:pt x="637678" y="76198"/>
                </a:lnTo>
                <a:lnTo>
                  <a:pt x="663075" y="63500"/>
                </a:lnTo>
                <a:lnTo>
                  <a:pt x="536077" y="0"/>
                </a:lnTo>
                <a:close/>
              </a:path>
              <a:path w="663575" h="127000">
                <a:moveTo>
                  <a:pt x="12700" y="50798"/>
                </a:moveTo>
                <a:lnTo>
                  <a:pt x="5685" y="50800"/>
                </a:lnTo>
                <a:lnTo>
                  <a:pt x="0" y="56484"/>
                </a:lnTo>
                <a:lnTo>
                  <a:pt x="1" y="70514"/>
                </a:lnTo>
                <a:lnTo>
                  <a:pt x="5687" y="76198"/>
                </a:lnTo>
                <a:lnTo>
                  <a:pt x="536076" y="76199"/>
                </a:lnTo>
                <a:lnTo>
                  <a:pt x="536076" y="50799"/>
                </a:lnTo>
                <a:lnTo>
                  <a:pt x="12700" y="5079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91835" y="5885741"/>
            <a:ext cx="815975" cy="127000"/>
          </a:xfrm>
          <a:custGeom>
            <a:avLst/>
            <a:gdLst/>
            <a:ahLst/>
            <a:cxnLst/>
            <a:rect l="l" t="t" r="r" b="b"/>
            <a:pathLst>
              <a:path w="815975" h="127000">
                <a:moveTo>
                  <a:pt x="688856" y="76199"/>
                </a:moveTo>
                <a:lnTo>
                  <a:pt x="688856" y="127000"/>
                </a:lnTo>
                <a:lnTo>
                  <a:pt x="790457" y="76200"/>
                </a:lnTo>
                <a:lnTo>
                  <a:pt x="688856" y="76199"/>
                </a:lnTo>
                <a:close/>
              </a:path>
              <a:path w="815975" h="127000">
                <a:moveTo>
                  <a:pt x="688856" y="50799"/>
                </a:moveTo>
                <a:lnTo>
                  <a:pt x="688856" y="76199"/>
                </a:lnTo>
                <a:lnTo>
                  <a:pt x="708571" y="76199"/>
                </a:lnTo>
                <a:lnTo>
                  <a:pt x="714256" y="70513"/>
                </a:lnTo>
                <a:lnTo>
                  <a:pt x="714256" y="56485"/>
                </a:lnTo>
                <a:lnTo>
                  <a:pt x="708571" y="50800"/>
                </a:lnTo>
                <a:lnTo>
                  <a:pt x="688856" y="50799"/>
                </a:lnTo>
                <a:close/>
              </a:path>
              <a:path w="815975" h="127000">
                <a:moveTo>
                  <a:pt x="688856" y="0"/>
                </a:moveTo>
                <a:lnTo>
                  <a:pt x="688856" y="50799"/>
                </a:lnTo>
                <a:lnTo>
                  <a:pt x="701556" y="50800"/>
                </a:lnTo>
                <a:lnTo>
                  <a:pt x="708571" y="50800"/>
                </a:lnTo>
                <a:lnTo>
                  <a:pt x="714256" y="56485"/>
                </a:lnTo>
                <a:lnTo>
                  <a:pt x="714256" y="70513"/>
                </a:lnTo>
                <a:lnTo>
                  <a:pt x="708571" y="76200"/>
                </a:lnTo>
                <a:lnTo>
                  <a:pt x="790458" y="76199"/>
                </a:lnTo>
                <a:lnTo>
                  <a:pt x="815856" y="63500"/>
                </a:lnTo>
                <a:lnTo>
                  <a:pt x="688856" y="0"/>
                </a:lnTo>
                <a:close/>
              </a:path>
              <a:path w="815975" h="127000">
                <a:moveTo>
                  <a:pt x="12700" y="50799"/>
                </a:moveTo>
                <a:lnTo>
                  <a:pt x="5684" y="50800"/>
                </a:lnTo>
                <a:lnTo>
                  <a:pt x="0" y="56485"/>
                </a:lnTo>
                <a:lnTo>
                  <a:pt x="0" y="70513"/>
                </a:lnTo>
                <a:lnTo>
                  <a:pt x="5685" y="76199"/>
                </a:lnTo>
                <a:lnTo>
                  <a:pt x="688856" y="76199"/>
                </a:lnTo>
                <a:lnTo>
                  <a:pt x="688856" y="50799"/>
                </a:lnTo>
                <a:lnTo>
                  <a:pt x="12700" y="5079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39050" y="2701089"/>
            <a:ext cx="2496185" cy="3750310"/>
          </a:xfrm>
          <a:custGeom>
            <a:avLst/>
            <a:gdLst/>
            <a:ahLst/>
            <a:cxnLst/>
            <a:rect l="l" t="t" r="r" b="b"/>
            <a:pathLst>
              <a:path w="2496185" h="3750310">
                <a:moveTo>
                  <a:pt x="0" y="0"/>
                </a:moveTo>
                <a:lnTo>
                  <a:pt x="2495844" y="0"/>
                </a:lnTo>
                <a:lnTo>
                  <a:pt x="2495844" y="3750243"/>
                </a:lnTo>
                <a:lnTo>
                  <a:pt x="0" y="3750243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84812" y="4459560"/>
            <a:ext cx="467359" cy="127000"/>
          </a:xfrm>
          <a:custGeom>
            <a:avLst/>
            <a:gdLst/>
            <a:ahLst/>
            <a:cxnLst/>
            <a:rect l="l" t="t" r="r" b="b"/>
            <a:pathLst>
              <a:path w="467360" h="127000">
                <a:moveTo>
                  <a:pt x="127000" y="0"/>
                </a:moveTo>
                <a:lnTo>
                  <a:pt x="0" y="63500"/>
                </a:lnTo>
                <a:lnTo>
                  <a:pt x="127000" y="127000"/>
                </a:lnTo>
                <a:lnTo>
                  <a:pt x="127000" y="76200"/>
                </a:lnTo>
                <a:lnTo>
                  <a:pt x="107285" y="76200"/>
                </a:lnTo>
                <a:lnTo>
                  <a:pt x="101600" y="70514"/>
                </a:lnTo>
                <a:lnTo>
                  <a:pt x="101600" y="56485"/>
                </a:lnTo>
                <a:lnTo>
                  <a:pt x="107285" y="50800"/>
                </a:lnTo>
                <a:lnTo>
                  <a:pt x="127000" y="50800"/>
                </a:lnTo>
                <a:lnTo>
                  <a:pt x="127000" y="0"/>
                </a:lnTo>
                <a:close/>
              </a:path>
              <a:path w="467360" h="127000">
                <a:moveTo>
                  <a:pt x="127000" y="50800"/>
                </a:moveTo>
                <a:lnTo>
                  <a:pt x="107285" y="50800"/>
                </a:lnTo>
                <a:lnTo>
                  <a:pt x="101600" y="56485"/>
                </a:lnTo>
                <a:lnTo>
                  <a:pt x="101600" y="70514"/>
                </a:lnTo>
                <a:lnTo>
                  <a:pt x="107285" y="76200"/>
                </a:lnTo>
                <a:lnTo>
                  <a:pt x="127000" y="76200"/>
                </a:lnTo>
                <a:lnTo>
                  <a:pt x="127000" y="50800"/>
                </a:lnTo>
                <a:close/>
              </a:path>
              <a:path w="467360" h="127000">
                <a:moveTo>
                  <a:pt x="461253" y="50800"/>
                </a:moveTo>
                <a:lnTo>
                  <a:pt x="127000" y="50800"/>
                </a:lnTo>
                <a:lnTo>
                  <a:pt x="127000" y="76200"/>
                </a:lnTo>
                <a:lnTo>
                  <a:pt x="461253" y="76200"/>
                </a:lnTo>
                <a:lnTo>
                  <a:pt x="466938" y="70514"/>
                </a:lnTo>
                <a:lnTo>
                  <a:pt x="466939" y="56485"/>
                </a:lnTo>
                <a:lnTo>
                  <a:pt x="461253" y="508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26658" y="4189476"/>
            <a:ext cx="142176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Arial"/>
                <a:cs typeface="Arial"/>
              </a:rPr>
              <a:t>G</a:t>
            </a:r>
            <a:r>
              <a:rPr dirty="0" sz="2000" spc="-5" b="1">
                <a:latin typeface="Arial"/>
                <a:cs typeface="Arial"/>
              </a:rPr>
              <a:t>ra</a:t>
            </a:r>
            <a:r>
              <a:rPr dirty="0" sz="2000" b="1">
                <a:latin typeface="Arial"/>
                <a:cs typeface="Arial"/>
              </a:rPr>
              <a:t>ph</a:t>
            </a:r>
            <a:r>
              <a:rPr dirty="0" sz="2000" spc="-5" b="1">
                <a:latin typeface="Arial"/>
                <a:cs typeface="Arial"/>
              </a:rPr>
              <a:t>-</a:t>
            </a:r>
            <a:r>
              <a:rPr dirty="0" sz="2000" spc="-10" b="1">
                <a:latin typeface="Arial"/>
                <a:cs typeface="Arial"/>
              </a:rPr>
              <a:t>l</a:t>
            </a:r>
            <a:r>
              <a:rPr dirty="0" sz="2000" b="1">
                <a:latin typeface="Arial"/>
                <a:cs typeface="Arial"/>
              </a:rPr>
              <a:t>e</a:t>
            </a:r>
            <a:r>
              <a:rPr dirty="0" sz="2000" spc="-5" b="1">
                <a:latin typeface="Arial"/>
                <a:cs typeface="Arial"/>
              </a:rPr>
              <a:t>ve</a:t>
            </a:r>
            <a:r>
              <a:rPr dirty="0" sz="2000" b="1">
                <a:latin typeface="Arial"/>
                <a:cs typeface="Arial"/>
              </a:rPr>
              <a:t>l  </a:t>
            </a:r>
            <a:r>
              <a:rPr dirty="0" sz="2000" spc="-5" b="1">
                <a:latin typeface="Arial"/>
                <a:cs typeface="Arial"/>
              </a:rPr>
              <a:t>prediction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10983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857490" cy="139128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332740" marR="138430" indent="-320040">
              <a:lnSpc>
                <a:spcPts val="35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C00000"/>
                </a:solidFill>
              </a:rPr>
              <a:t>Node-level prediction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can directly 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make 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prediction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using node</a:t>
            </a:r>
            <a:r>
              <a:rPr dirty="0" spc="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embeddings!</a:t>
            </a:r>
          </a:p>
          <a:p>
            <a:pPr marL="332740" indent="-320040">
              <a:lnSpc>
                <a:spcPts val="33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After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GNN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computation,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have </a:t>
            </a:r>
            <a:r>
              <a:rPr dirty="0" spc="10" b="0">
                <a:solidFill>
                  <a:srgbClr val="C00000"/>
                </a:solidFill>
                <a:latin typeface="Cambria Math"/>
                <a:cs typeface="Cambria Math"/>
              </a:rPr>
              <a:t>𝑑</a:t>
            </a:r>
            <a:r>
              <a:rPr dirty="0" spc="10" b="0">
                <a:solidFill>
                  <a:srgbClr val="C00000"/>
                </a:solidFill>
                <a:latin typeface="Calibri"/>
                <a:cs typeface="Calibri"/>
              </a:rPr>
              <a:t>-dim</a:t>
            </a:r>
            <a:r>
              <a:rPr dirty="0" spc="50" b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C00000"/>
                </a:solidFill>
                <a:latin typeface="Calibri"/>
                <a:cs typeface="Calibri"/>
              </a:rPr>
              <a:t>node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76573" y="2919983"/>
            <a:ext cx="19113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63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14947" y="27032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4">
                <a:moveTo>
                  <a:pt x="276586" y="0"/>
                </a:moveTo>
                <a:lnTo>
                  <a:pt x="272735" y="10981"/>
                </a:lnTo>
                <a:lnTo>
                  <a:pt x="288397" y="17778"/>
                </a:lnTo>
                <a:lnTo>
                  <a:pt x="301867" y="27187"/>
                </a:lnTo>
                <a:lnTo>
                  <a:pt x="329215" y="70800"/>
                </a:lnTo>
                <a:lnTo>
                  <a:pt x="337202" y="110843"/>
                </a:lnTo>
                <a:lnTo>
                  <a:pt x="338200" y="133926"/>
                </a:lnTo>
                <a:lnTo>
                  <a:pt x="337198" y="157789"/>
                </a:lnTo>
                <a:lnTo>
                  <a:pt x="329175" y="198937"/>
                </a:lnTo>
                <a:lnTo>
                  <a:pt x="301884" y="243249"/>
                </a:lnTo>
                <a:lnTo>
                  <a:pt x="273163" y="259580"/>
                </a:lnTo>
                <a:lnTo>
                  <a:pt x="276586" y="270563"/>
                </a:lnTo>
                <a:lnTo>
                  <a:pt x="313491" y="253251"/>
                </a:lnTo>
                <a:lnTo>
                  <a:pt x="340625" y="223282"/>
                </a:lnTo>
                <a:lnTo>
                  <a:pt x="357313" y="183150"/>
                </a:lnTo>
                <a:lnTo>
                  <a:pt x="362875" y="135352"/>
                </a:lnTo>
                <a:lnTo>
                  <a:pt x="361480" y="110548"/>
                </a:lnTo>
                <a:lnTo>
                  <a:pt x="350319" y="66584"/>
                </a:lnTo>
                <a:lnTo>
                  <a:pt x="328185" y="30793"/>
                </a:lnTo>
                <a:lnTo>
                  <a:pt x="296201" y="7082"/>
                </a:lnTo>
                <a:lnTo>
                  <a:pt x="276586" y="0"/>
                </a:lnTo>
                <a:close/>
              </a:path>
              <a:path w="363220" h="271144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4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3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38149" y="2708148"/>
            <a:ext cx="56457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96590" algn="l"/>
              </a:tabLst>
            </a:pP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embeddings</a:t>
            </a:r>
            <a:r>
              <a:rPr dirty="0" sz="3200" spc="-5">
                <a:latin typeface="Calibri"/>
                <a:cs typeface="Calibri"/>
              </a:rPr>
              <a:t>: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{𝐡</a:t>
            </a:r>
            <a:r>
              <a:rPr dirty="0" sz="3200" spc="285">
                <a:latin typeface="Cambria Math"/>
                <a:cs typeface="Cambria Math"/>
              </a:rPr>
              <a:t> </a:t>
            </a:r>
            <a:r>
              <a:rPr dirty="0" baseline="38647" sz="3450" spc="525">
                <a:latin typeface="Cambria Math"/>
                <a:cs typeface="Cambria Math"/>
              </a:rPr>
              <a:t>"	</a:t>
            </a:r>
            <a:r>
              <a:rPr dirty="0" sz="3200">
                <a:latin typeface="Cambria Math"/>
                <a:cs typeface="Cambria Math"/>
              </a:rPr>
              <a:t>∈ </a:t>
            </a:r>
            <a:r>
              <a:rPr dirty="0" sz="3200" spc="60">
                <a:latin typeface="Cambria Math"/>
                <a:cs typeface="Cambria Math"/>
              </a:rPr>
              <a:t>ℝ</a:t>
            </a:r>
            <a:r>
              <a:rPr dirty="0" baseline="28985" sz="3450" spc="89">
                <a:latin typeface="Cambria Math"/>
                <a:cs typeface="Cambria Math"/>
              </a:rPr>
              <a:t>#</a:t>
            </a:r>
            <a:r>
              <a:rPr dirty="0" sz="3200" spc="60">
                <a:latin typeface="Cambria Math"/>
                <a:cs typeface="Cambria Math"/>
              </a:rPr>
              <a:t>, </a:t>
            </a:r>
            <a:r>
              <a:rPr dirty="0" sz="3200">
                <a:latin typeface="Cambria Math"/>
                <a:cs typeface="Cambria Math"/>
              </a:rPr>
              <a:t>∀𝑣  ∈</a:t>
            </a:r>
            <a:r>
              <a:rPr dirty="0" sz="3200" spc="-365">
                <a:latin typeface="Cambria Math"/>
                <a:cs typeface="Cambria Math"/>
              </a:rPr>
              <a:t> </a:t>
            </a:r>
            <a:r>
              <a:rPr dirty="0" sz="3200" spc="60">
                <a:latin typeface="Cambria Math"/>
                <a:cs typeface="Cambria Math"/>
              </a:rPr>
              <a:t>𝐺}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3083342"/>
            <a:ext cx="7567295" cy="151193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5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Suppose </a:t>
            </a:r>
            <a:r>
              <a:rPr dirty="0" sz="3200" spc="-15">
                <a:latin typeface="Calibri"/>
                <a:cs typeface="Calibri"/>
              </a:rPr>
              <a:t>we </a:t>
            </a:r>
            <a:r>
              <a:rPr dirty="0" sz="3200" spc="-20">
                <a:latin typeface="Calibri"/>
                <a:cs typeface="Calibri"/>
              </a:rPr>
              <a:t>want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30">
                <a:latin typeface="Calibri"/>
                <a:cs typeface="Calibri"/>
              </a:rPr>
              <a:t>make </a:t>
            </a:r>
            <a:r>
              <a:rPr dirty="0" sz="3200" spc="-5">
                <a:solidFill>
                  <a:srgbClr val="3792AA"/>
                </a:solidFill>
                <a:latin typeface="Cambria Math"/>
                <a:cs typeface="Cambria Math"/>
              </a:rPr>
              <a:t>𝑘</a:t>
            </a:r>
            <a:r>
              <a:rPr dirty="0" sz="3200" spc="-5">
                <a:solidFill>
                  <a:srgbClr val="3792AA"/>
                </a:solidFill>
                <a:latin typeface="Calibri"/>
                <a:cs typeface="Calibri"/>
              </a:rPr>
              <a:t>-way</a:t>
            </a:r>
            <a:r>
              <a:rPr dirty="0" sz="3200" spc="100">
                <a:solidFill>
                  <a:srgbClr val="3792AA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3792AA"/>
                </a:solidFill>
                <a:latin typeface="Calibri"/>
                <a:cs typeface="Calibri"/>
              </a:rPr>
              <a:t>prediction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Classification: </a:t>
            </a:r>
            <a:r>
              <a:rPr dirty="0" sz="2800" spc="-5">
                <a:latin typeface="Calibri"/>
                <a:cs typeface="Calibri"/>
              </a:rPr>
              <a:t>classify among </a:t>
            </a:r>
            <a:r>
              <a:rPr dirty="0" sz="2800">
                <a:latin typeface="Cambria Math"/>
                <a:cs typeface="Cambria Math"/>
              </a:rPr>
              <a:t>𝑘</a:t>
            </a:r>
            <a:r>
              <a:rPr dirty="0" sz="2800" spc="125">
                <a:latin typeface="Cambria Math"/>
                <a:cs typeface="Cambria Math"/>
              </a:rPr>
              <a:t> </a:t>
            </a:r>
            <a:r>
              <a:rPr dirty="0" sz="2800" spc="-15">
                <a:latin typeface="Calibri"/>
                <a:cs typeface="Calibri"/>
              </a:rPr>
              <a:t>categories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3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Regression: regress </a:t>
            </a:r>
            <a:r>
              <a:rPr dirty="0" sz="2800" spc="-5">
                <a:latin typeface="Calibri"/>
                <a:cs typeface="Calibri"/>
              </a:rPr>
              <a:t>on </a:t>
            </a:r>
            <a:r>
              <a:rPr dirty="0" sz="2800">
                <a:latin typeface="Cambria Math"/>
                <a:cs typeface="Cambria Math"/>
              </a:rPr>
              <a:t>𝑘</a:t>
            </a:r>
            <a:r>
              <a:rPr dirty="0" sz="2800" spc="125">
                <a:latin typeface="Cambria Math"/>
                <a:cs typeface="Cambria Math"/>
              </a:rPr>
              <a:t> </a:t>
            </a:r>
            <a:r>
              <a:rPr dirty="0" sz="2800" spc="-20">
                <a:latin typeface="Calibri"/>
                <a:cs typeface="Calibri"/>
              </a:rPr>
              <a:t>targets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92010" y="46717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5">
                <a:moveTo>
                  <a:pt x="276586" y="0"/>
                </a:moveTo>
                <a:lnTo>
                  <a:pt x="272735" y="10981"/>
                </a:lnTo>
                <a:lnTo>
                  <a:pt x="288397" y="17778"/>
                </a:lnTo>
                <a:lnTo>
                  <a:pt x="301867" y="27187"/>
                </a:lnTo>
                <a:lnTo>
                  <a:pt x="329215" y="70800"/>
                </a:lnTo>
                <a:lnTo>
                  <a:pt x="337202" y="110843"/>
                </a:lnTo>
                <a:lnTo>
                  <a:pt x="338200" y="133926"/>
                </a:lnTo>
                <a:lnTo>
                  <a:pt x="337198" y="157789"/>
                </a:lnTo>
                <a:lnTo>
                  <a:pt x="329175" y="198937"/>
                </a:lnTo>
                <a:lnTo>
                  <a:pt x="301884" y="243249"/>
                </a:lnTo>
                <a:lnTo>
                  <a:pt x="273163" y="259580"/>
                </a:lnTo>
                <a:lnTo>
                  <a:pt x="276586" y="270563"/>
                </a:lnTo>
                <a:lnTo>
                  <a:pt x="313491" y="253251"/>
                </a:lnTo>
                <a:lnTo>
                  <a:pt x="340625" y="223282"/>
                </a:lnTo>
                <a:lnTo>
                  <a:pt x="357313" y="183150"/>
                </a:lnTo>
                <a:lnTo>
                  <a:pt x="362875" y="135352"/>
                </a:lnTo>
                <a:lnTo>
                  <a:pt x="361480" y="110548"/>
                </a:lnTo>
                <a:lnTo>
                  <a:pt x="350319" y="66584"/>
                </a:lnTo>
                <a:lnTo>
                  <a:pt x="328185" y="30793"/>
                </a:lnTo>
                <a:lnTo>
                  <a:pt x="296201" y="7082"/>
                </a:lnTo>
                <a:lnTo>
                  <a:pt x="276586" y="0"/>
                </a:lnTo>
                <a:close/>
              </a:path>
              <a:path w="363220" h="271145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4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3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953636" y="4895088"/>
            <a:ext cx="247650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98065" algn="l"/>
              </a:tabLst>
            </a:pPr>
            <a:r>
              <a:rPr dirty="0" baseline="1207" sz="3450" spc="952">
                <a:latin typeface="Cambria Math"/>
                <a:cs typeface="Cambria Math"/>
              </a:rPr>
              <a:t>!</a:t>
            </a:r>
            <a:r>
              <a:rPr dirty="0" baseline="1207" sz="3450" spc="952">
                <a:latin typeface="Cambria Math"/>
                <a:cs typeface="Cambria Math"/>
              </a:rPr>
              <a:t>	</a:t>
            </a:r>
            <a:r>
              <a:rPr dirty="0" sz="2300" spc="63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618108" y="4677155"/>
            <a:ext cx="606171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60">
                <a:latin typeface="Cambria Math"/>
                <a:cs typeface="Cambria Math"/>
              </a:rPr>
              <a:t>𝒚</a:t>
            </a:r>
            <a:r>
              <a:rPr dirty="0" sz="3200" spc="-360">
                <a:latin typeface="Cambria Math"/>
                <a:cs typeface="Cambria Math"/>
              </a:rPr>
              <a:t>-</a:t>
            </a:r>
            <a:r>
              <a:rPr dirty="0" baseline="-15700" sz="3450" spc="-540">
                <a:latin typeface="Cambria Math"/>
                <a:cs typeface="Cambria Math"/>
              </a:rPr>
              <a:t>𝒗     </a:t>
            </a: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50">
                <a:latin typeface="Cambria Math"/>
                <a:cs typeface="Cambria Math"/>
              </a:rPr>
              <a:t>Head</a:t>
            </a:r>
            <a:r>
              <a:rPr dirty="0" baseline="-15700" sz="3450" spc="75">
                <a:latin typeface="Cambria Math"/>
                <a:cs typeface="Cambria Math"/>
              </a:rPr>
              <a:t>%&amp;'(</a:t>
            </a:r>
            <a:r>
              <a:rPr dirty="0" sz="3200" spc="50">
                <a:latin typeface="Cambria Math"/>
                <a:cs typeface="Cambria Math"/>
              </a:rPr>
              <a:t>(𝐡 </a:t>
            </a:r>
            <a:r>
              <a:rPr dirty="0" baseline="38647" sz="3450" spc="525">
                <a:latin typeface="Cambria Math"/>
                <a:cs typeface="Cambria Math"/>
              </a:rPr>
              <a:t>" </a:t>
            </a:r>
            <a:r>
              <a:rPr dirty="0" sz="3200">
                <a:latin typeface="Cambria Math"/>
                <a:cs typeface="Cambria Math"/>
              </a:rPr>
              <a:t>) = </a:t>
            </a:r>
            <a:r>
              <a:rPr dirty="0" sz="3200" spc="75">
                <a:latin typeface="Cambria Math"/>
                <a:cs typeface="Cambria Math"/>
              </a:rPr>
              <a:t> </a:t>
            </a:r>
            <a:r>
              <a:rPr dirty="0" sz="3200" spc="180">
                <a:latin typeface="Cambria Math"/>
                <a:cs typeface="Cambria Math"/>
              </a:rPr>
              <a:t>𝐖</a:t>
            </a:r>
            <a:r>
              <a:rPr dirty="0" baseline="28985" sz="3450" spc="270">
                <a:latin typeface="Cambria Math"/>
                <a:cs typeface="Cambria Math"/>
              </a:rPr>
              <a:t>(*)</a:t>
            </a:r>
            <a:r>
              <a:rPr dirty="0" sz="3200" spc="180">
                <a:latin typeface="Cambria Math"/>
                <a:cs typeface="Cambria Math"/>
              </a:rPr>
              <a:t>𝐡</a:t>
            </a:r>
            <a:r>
              <a:rPr dirty="0" baseline="42270" sz="3450" spc="270">
                <a:latin typeface="Cambria Math"/>
                <a:cs typeface="Cambria Math"/>
              </a:rPr>
              <a:t>(")</a:t>
            </a:r>
            <a:endParaRPr baseline="42270" sz="34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6563" y="5233923"/>
            <a:ext cx="71481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𝐖</a:t>
            </a:r>
            <a:r>
              <a:rPr dirty="0" baseline="27777" sz="3000" spc="-37">
                <a:solidFill>
                  <a:srgbClr val="C00000"/>
                </a:solidFill>
                <a:latin typeface="Cambria Math"/>
                <a:cs typeface="Cambria Math"/>
              </a:rPr>
              <a:t>(%) 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∈ </a:t>
            </a:r>
            <a:r>
              <a:rPr dirty="0" sz="2800" spc="310">
                <a:solidFill>
                  <a:srgbClr val="C00000"/>
                </a:solidFill>
                <a:latin typeface="Cambria Math"/>
                <a:cs typeface="Cambria Math"/>
              </a:rPr>
              <a:t>ℝ</a:t>
            </a:r>
            <a:r>
              <a:rPr dirty="0" baseline="27777" sz="3000" spc="465">
                <a:solidFill>
                  <a:srgbClr val="C00000"/>
                </a:solidFill>
                <a:latin typeface="Cambria Math"/>
                <a:cs typeface="Cambria Math"/>
              </a:rPr>
              <a:t>'∗) </a:t>
            </a:r>
            <a:r>
              <a:rPr dirty="0" sz="2800">
                <a:latin typeface="Calibri"/>
                <a:cs typeface="Calibri"/>
              </a:rPr>
              <a:t>: </a:t>
            </a: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map node embeddings</a:t>
            </a:r>
            <a:r>
              <a:rPr dirty="0" sz="2800" spc="-2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Calibri"/>
                <a:cs typeface="Calibri"/>
              </a:rPr>
              <a:t>from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8371" y="5884164"/>
            <a:ext cx="1695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75">
                <a:solidFill>
                  <a:srgbClr val="C00000"/>
                </a:solidFill>
                <a:latin typeface="Cambria Math"/>
                <a:cs typeface="Cambria Math"/>
              </a:rPr>
              <a:t>*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30883" y="5691123"/>
            <a:ext cx="73101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85">
                <a:solidFill>
                  <a:srgbClr val="C00000"/>
                </a:solidFill>
                <a:latin typeface="Cambria Math"/>
                <a:cs typeface="Cambria Math"/>
              </a:rPr>
              <a:t>𝐡</a:t>
            </a:r>
            <a:r>
              <a:rPr dirty="0" baseline="41666" sz="3000" spc="-127">
                <a:solidFill>
                  <a:srgbClr val="C00000"/>
                </a:solidFill>
                <a:latin typeface="Cambria Math"/>
                <a:cs typeface="Cambria Math"/>
              </a:rPr>
              <a:t>(+) 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∈ </a:t>
            </a:r>
            <a:r>
              <a:rPr dirty="0" sz="2800" spc="215">
                <a:solidFill>
                  <a:srgbClr val="C00000"/>
                </a:solidFill>
                <a:latin typeface="Cambria Math"/>
                <a:cs typeface="Cambria Math"/>
              </a:rPr>
              <a:t>ℝ</a:t>
            </a:r>
            <a:r>
              <a:rPr dirty="0" baseline="27777" sz="3000" spc="322">
                <a:solidFill>
                  <a:srgbClr val="C00000"/>
                </a:solidFill>
                <a:latin typeface="Cambria Math"/>
                <a:cs typeface="Cambria Math"/>
              </a:rPr>
              <a:t>)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25">
                <a:solidFill>
                  <a:srgbClr val="3792AA"/>
                </a:solidFill>
                <a:latin typeface="Cambria Math"/>
                <a:cs typeface="Cambria Math"/>
              </a:rPr>
              <a:t>𝒚-</a:t>
            </a:r>
            <a:r>
              <a:rPr dirty="0" baseline="-16666" sz="3000" spc="-337">
                <a:solidFill>
                  <a:srgbClr val="3792AA"/>
                </a:solidFill>
                <a:latin typeface="Cambria Math"/>
                <a:cs typeface="Cambria Math"/>
              </a:rPr>
              <a:t>*   </a:t>
            </a:r>
            <a:r>
              <a:rPr dirty="0" sz="2800">
                <a:solidFill>
                  <a:srgbClr val="3792AA"/>
                </a:solidFill>
                <a:latin typeface="Cambria Math"/>
                <a:cs typeface="Cambria Math"/>
              </a:rPr>
              <a:t>∈ </a:t>
            </a:r>
            <a:r>
              <a:rPr dirty="0" sz="2800" spc="360">
                <a:solidFill>
                  <a:srgbClr val="3792AA"/>
                </a:solidFill>
                <a:latin typeface="Cambria Math"/>
                <a:cs typeface="Cambria Math"/>
              </a:rPr>
              <a:t>ℝ</a:t>
            </a:r>
            <a:r>
              <a:rPr dirty="0" baseline="27777" sz="3000" spc="540">
                <a:solidFill>
                  <a:srgbClr val="3792AA"/>
                </a:solidFill>
                <a:latin typeface="Cambria Math"/>
                <a:cs typeface="Cambria Math"/>
              </a:rPr>
              <a:t>' </a:t>
            </a:r>
            <a:r>
              <a:rPr dirty="0" sz="2800">
                <a:latin typeface="Calibri"/>
                <a:cs typeface="Calibri"/>
              </a:rPr>
              <a:t>so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compute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0883" y="6072123"/>
            <a:ext cx="5727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Calibri"/>
                <a:cs typeface="Calibri"/>
              </a:rPr>
              <a:t>l</a:t>
            </a:r>
            <a:r>
              <a:rPr dirty="0" sz="2800" spc="-5">
                <a:latin typeface="Calibri"/>
                <a:cs typeface="Calibri"/>
              </a:rPr>
              <a:t>o</a:t>
            </a:r>
            <a:r>
              <a:rPr dirty="0" sz="2800">
                <a:latin typeface="Calibri"/>
                <a:cs typeface="Calibri"/>
              </a:rPr>
              <a:t>ss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195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50809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C00000"/>
                </a:solidFill>
              </a:rPr>
              <a:t>Edge-level </a:t>
            </a:r>
            <a:r>
              <a:rPr dirty="0" spc="-10">
                <a:solidFill>
                  <a:srgbClr val="C00000"/>
                </a:solidFill>
              </a:rPr>
              <a:t>prediction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Make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prediction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using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pairs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of node</a:t>
            </a:r>
            <a:r>
              <a:rPr dirty="0" spc="1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embeddings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Suppose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want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make </a:t>
            </a:r>
            <a:r>
              <a:rPr dirty="0" spc="-5" b="0">
                <a:solidFill>
                  <a:srgbClr val="3792AA"/>
                </a:solidFill>
                <a:latin typeface="Cambria Math"/>
                <a:cs typeface="Cambria Math"/>
              </a:rPr>
              <a:t>𝑘</a:t>
            </a:r>
            <a:r>
              <a:rPr dirty="0" spc="-5" b="0">
                <a:solidFill>
                  <a:srgbClr val="3792AA"/>
                </a:solidFill>
                <a:latin typeface="Calibri"/>
                <a:cs typeface="Calibri"/>
              </a:rPr>
              <a:t>-way</a:t>
            </a:r>
            <a:r>
              <a:rPr dirty="0" spc="100" b="0">
                <a:solidFill>
                  <a:srgbClr val="3792AA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3792AA"/>
                </a:solidFill>
                <a:latin typeface="Calibri"/>
                <a:cs typeface="Calibri"/>
              </a:rPr>
              <a:t>prediction</a:t>
            </a:r>
          </a:p>
        </p:txBody>
      </p:sp>
      <p:sp>
        <p:nvSpPr>
          <p:cNvPr id="4" name="object 4"/>
          <p:cNvSpPr/>
          <p:nvPr/>
        </p:nvSpPr>
        <p:spPr>
          <a:xfrm>
            <a:off x="4243849" y="29064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4">
                <a:moveTo>
                  <a:pt x="276586" y="0"/>
                </a:moveTo>
                <a:lnTo>
                  <a:pt x="272735" y="10981"/>
                </a:lnTo>
                <a:lnTo>
                  <a:pt x="288397" y="17778"/>
                </a:lnTo>
                <a:lnTo>
                  <a:pt x="301867" y="27187"/>
                </a:lnTo>
                <a:lnTo>
                  <a:pt x="329215" y="70800"/>
                </a:lnTo>
                <a:lnTo>
                  <a:pt x="337202" y="110843"/>
                </a:lnTo>
                <a:lnTo>
                  <a:pt x="338200" y="133926"/>
                </a:lnTo>
                <a:lnTo>
                  <a:pt x="337198" y="157789"/>
                </a:lnTo>
                <a:lnTo>
                  <a:pt x="329175" y="198937"/>
                </a:lnTo>
                <a:lnTo>
                  <a:pt x="301884" y="243249"/>
                </a:lnTo>
                <a:lnTo>
                  <a:pt x="273163" y="259580"/>
                </a:lnTo>
                <a:lnTo>
                  <a:pt x="276586" y="270563"/>
                </a:lnTo>
                <a:lnTo>
                  <a:pt x="313491" y="253251"/>
                </a:lnTo>
                <a:lnTo>
                  <a:pt x="340625" y="223282"/>
                </a:lnTo>
                <a:lnTo>
                  <a:pt x="357313" y="183150"/>
                </a:lnTo>
                <a:lnTo>
                  <a:pt x="362875" y="135352"/>
                </a:lnTo>
                <a:lnTo>
                  <a:pt x="361480" y="110548"/>
                </a:lnTo>
                <a:lnTo>
                  <a:pt x="350320" y="66584"/>
                </a:lnTo>
                <a:lnTo>
                  <a:pt x="328186" y="30793"/>
                </a:lnTo>
                <a:lnTo>
                  <a:pt x="296202" y="7082"/>
                </a:lnTo>
                <a:lnTo>
                  <a:pt x="276586" y="0"/>
                </a:lnTo>
                <a:close/>
              </a:path>
              <a:path w="363220" h="271144">
                <a:moveTo>
                  <a:pt x="86288" y="0"/>
                </a:moveTo>
                <a:lnTo>
                  <a:pt x="49473" y="17346"/>
                </a:lnTo>
                <a:lnTo>
                  <a:pt x="22321" y="47423"/>
                </a:lnTo>
                <a:lnTo>
                  <a:pt x="5580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2" y="259580"/>
                </a:lnTo>
                <a:lnTo>
                  <a:pt x="74295" y="252752"/>
                </a:lnTo>
                <a:lnTo>
                  <a:pt x="60991" y="243249"/>
                </a:lnTo>
                <a:lnTo>
                  <a:pt x="33700" y="198937"/>
                </a:lnTo>
                <a:lnTo>
                  <a:pt x="25677" y="157789"/>
                </a:lnTo>
                <a:lnTo>
                  <a:pt x="24674" y="133926"/>
                </a:lnTo>
                <a:lnTo>
                  <a:pt x="25677" y="110843"/>
                </a:lnTo>
                <a:lnTo>
                  <a:pt x="33700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077985" y="29064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4">
                <a:moveTo>
                  <a:pt x="276586" y="0"/>
                </a:moveTo>
                <a:lnTo>
                  <a:pt x="272735" y="10981"/>
                </a:lnTo>
                <a:lnTo>
                  <a:pt x="288397" y="17778"/>
                </a:lnTo>
                <a:lnTo>
                  <a:pt x="301867" y="27187"/>
                </a:lnTo>
                <a:lnTo>
                  <a:pt x="329215" y="70800"/>
                </a:lnTo>
                <a:lnTo>
                  <a:pt x="337202" y="110843"/>
                </a:lnTo>
                <a:lnTo>
                  <a:pt x="338200" y="133926"/>
                </a:lnTo>
                <a:lnTo>
                  <a:pt x="337198" y="157789"/>
                </a:lnTo>
                <a:lnTo>
                  <a:pt x="329175" y="198937"/>
                </a:lnTo>
                <a:lnTo>
                  <a:pt x="301884" y="243249"/>
                </a:lnTo>
                <a:lnTo>
                  <a:pt x="273163" y="259580"/>
                </a:lnTo>
                <a:lnTo>
                  <a:pt x="276586" y="270563"/>
                </a:lnTo>
                <a:lnTo>
                  <a:pt x="313491" y="253251"/>
                </a:lnTo>
                <a:lnTo>
                  <a:pt x="340625" y="223282"/>
                </a:lnTo>
                <a:lnTo>
                  <a:pt x="357313" y="183150"/>
                </a:lnTo>
                <a:lnTo>
                  <a:pt x="362875" y="135352"/>
                </a:lnTo>
                <a:lnTo>
                  <a:pt x="361480" y="110548"/>
                </a:lnTo>
                <a:lnTo>
                  <a:pt x="350319" y="66584"/>
                </a:lnTo>
                <a:lnTo>
                  <a:pt x="328186" y="30793"/>
                </a:lnTo>
                <a:lnTo>
                  <a:pt x="296202" y="7082"/>
                </a:lnTo>
                <a:lnTo>
                  <a:pt x="276586" y="0"/>
                </a:lnTo>
                <a:close/>
              </a:path>
              <a:path w="363220" h="271144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5" y="252752"/>
                </a:lnTo>
                <a:lnTo>
                  <a:pt x="60990" y="243249"/>
                </a:lnTo>
                <a:lnTo>
                  <a:pt x="33700" y="198937"/>
                </a:lnTo>
                <a:lnTo>
                  <a:pt x="25677" y="157789"/>
                </a:lnTo>
                <a:lnTo>
                  <a:pt x="24674" y="133926"/>
                </a:lnTo>
                <a:lnTo>
                  <a:pt x="25677" y="110843"/>
                </a:lnTo>
                <a:lnTo>
                  <a:pt x="33700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8108" y="2909315"/>
            <a:ext cx="5048885" cy="588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275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1579880" algn="l"/>
              </a:tabLst>
            </a:pPr>
            <a:r>
              <a:rPr dirty="0" sz="3200" spc="-270">
                <a:latin typeface="Cambria Math"/>
                <a:cs typeface="Cambria Math"/>
              </a:rPr>
              <a:t>𝒚</a:t>
            </a:r>
            <a:r>
              <a:rPr dirty="0" sz="3200" spc="-270">
                <a:latin typeface="Cambria Math"/>
                <a:cs typeface="Cambria Math"/>
              </a:rPr>
              <a:t>-</a:t>
            </a:r>
            <a:r>
              <a:rPr dirty="0" baseline="-15700" sz="3450" spc="-405">
                <a:latin typeface="Cambria Math"/>
                <a:cs typeface="Cambria Math"/>
              </a:rPr>
              <a:t>𝒖𝒗  </a:t>
            </a:r>
            <a:r>
              <a:rPr dirty="0" baseline="-15700" sz="3450" spc="-352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	</a:t>
            </a:r>
            <a:r>
              <a:rPr dirty="0" sz="3200" spc="260">
                <a:latin typeface="Cambria Math"/>
                <a:cs typeface="Cambria Math"/>
              </a:rPr>
              <a:t>Head</a:t>
            </a:r>
            <a:r>
              <a:rPr dirty="0" baseline="-15700" sz="3450" spc="390">
                <a:latin typeface="Cambria Math"/>
                <a:cs typeface="Cambria Math"/>
              </a:rPr>
              <a:t>('-.</a:t>
            </a:r>
            <a:r>
              <a:rPr dirty="0" sz="3200" spc="260">
                <a:latin typeface="Cambria Math"/>
                <a:cs typeface="Cambria Math"/>
              </a:rPr>
              <a:t>(𝐡 </a:t>
            </a:r>
            <a:r>
              <a:rPr dirty="0" baseline="38647" sz="3450" spc="525">
                <a:latin typeface="Cambria Math"/>
                <a:cs typeface="Cambria Math"/>
              </a:rPr>
              <a:t>" </a:t>
            </a:r>
            <a:r>
              <a:rPr dirty="0" sz="3200">
                <a:latin typeface="Cambria Math"/>
                <a:cs typeface="Cambria Math"/>
              </a:rPr>
              <a:t>, 𝐡 </a:t>
            </a:r>
            <a:r>
              <a:rPr dirty="0" baseline="38647" sz="3450" spc="525">
                <a:latin typeface="Cambria Math"/>
                <a:cs typeface="Cambria Math"/>
              </a:rPr>
              <a:t>"</a:t>
            </a:r>
            <a:r>
              <a:rPr dirty="0" baseline="38647" sz="3450" spc="58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  <a:p>
            <a:pPr algn="r" marR="441325">
              <a:lnSpc>
                <a:spcPts val="1675"/>
              </a:lnSpc>
              <a:tabLst>
                <a:tab pos="833755" algn="l"/>
              </a:tabLst>
            </a:pPr>
            <a:r>
              <a:rPr dirty="0" sz="2300" spc="360">
                <a:latin typeface="Cambria Math"/>
                <a:cs typeface="Cambria Math"/>
              </a:rPr>
              <a:t>/</a:t>
            </a:r>
            <a:r>
              <a:rPr dirty="0" sz="2300" spc="360">
                <a:latin typeface="Cambria Math"/>
                <a:cs typeface="Cambria Math"/>
              </a:rPr>
              <a:t>	</a:t>
            </a:r>
            <a:r>
              <a:rPr dirty="0" sz="2300" spc="63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61548" y="54972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5">
                <a:moveTo>
                  <a:pt x="276586" y="0"/>
                </a:moveTo>
                <a:lnTo>
                  <a:pt x="272735" y="10981"/>
                </a:lnTo>
                <a:lnTo>
                  <a:pt x="288397" y="17778"/>
                </a:lnTo>
                <a:lnTo>
                  <a:pt x="301866" y="27187"/>
                </a:lnTo>
                <a:lnTo>
                  <a:pt x="329215" y="70800"/>
                </a:lnTo>
                <a:lnTo>
                  <a:pt x="337202" y="110842"/>
                </a:lnTo>
                <a:lnTo>
                  <a:pt x="338200" y="133926"/>
                </a:lnTo>
                <a:lnTo>
                  <a:pt x="337198" y="157789"/>
                </a:lnTo>
                <a:lnTo>
                  <a:pt x="329175" y="198937"/>
                </a:lnTo>
                <a:lnTo>
                  <a:pt x="301884" y="243249"/>
                </a:lnTo>
                <a:lnTo>
                  <a:pt x="273163" y="259580"/>
                </a:lnTo>
                <a:lnTo>
                  <a:pt x="276586" y="270562"/>
                </a:lnTo>
                <a:lnTo>
                  <a:pt x="313491" y="253251"/>
                </a:lnTo>
                <a:lnTo>
                  <a:pt x="340626" y="223281"/>
                </a:lnTo>
                <a:lnTo>
                  <a:pt x="357313" y="183150"/>
                </a:lnTo>
                <a:lnTo>
                  <a:pt x="362875" y="135352"/>
                </a:lnTo>
                <a:lnTo>
                  <a:pt x="361480" y="110548"/>
                </a:lnTo>
                <a:lnTo>
                  <a:pt x="350319" y="66583"/>
                </a:lnTo>
                <a:lnTo>
                  <a:pt x="328185" y="30793"/>
                </a:lnTo>
                <a:lnTo>
                  <a:pt x="296201" y="7082"/>
                </a:lnTo>
                <a:lnTo>
                  <a:pt x="276586" y="0"/>
                </a:lnTo>
                <a:close/>
              </a:path>
              <a:path w="363220" h="271145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5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8"/>
                </a:lnTo>
                <a:lnTo>
                  <a:pt x="66615" y="263489"/>
                </a:lnTo>
                <a:lnTo>
                  <a:pt x="86288" y="270562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2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995684" y="54972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5">
                <a:moveTo>
                  <a:pt x="276586" y="0"/>
                </a:moveTo>
                <a:lnTo>
                  <a:pt x="272735" y="10981"/>
                </a:lnTo>
                <a:lnTo>
                  <a:pt x="288396" y="17778"/>
                </a:lnTo>
                <a:lnTo>
                  <a:pt x="301866" y="27187"/>
                </a:lnTo>
                <a:lnTo>
                  <a:pt x="329215" y="70800"/>
                </a:lnTo>
                <a:lnTo>
                  <a:pt x="337202" y="110842"/>
                </a:lnTo>
                <a:lnTo>
                  <a:pt x="338200" y="133926"/>
                </a:lnTo>
                <a:lnTo>
                  <a:pt x="337198" y="157789"/>
                </a:lnTo>
                <a:lnTo>
                  <a:pt x="329175" y="198937"/>
                </a:lnTo>
                <a:lnTo>
                  <a:pt x="301884" y="243249"/>
                </a:lnTo>
                <a:lnTo>
                  <a:pt x="273163" y="259580"/>
                </a:lnTo>
                <a:lnTo>
                  <a:pt x="276586" y="270562"/>
                </a:lnTo>
                <a:lnTo>
                  <a:pt x="313491" y="253251"/>
                </a:lnTo>
                <a:lnTo>
                  <a:pt x="340625" y="223281"/>
                </a:lnTo>
                <a:lnTo>
                  <a:pt x="357313" y="183150"/>
                </a:lnTo>
                <a:lnTo>
                  <a:pt x="362875" y="135352"/>
                </a:lnTo>
                <a:lnTo>
                  <a:pt x="361480" y="110548"/>
                </a:lnTo>
                <a:lnTo>
                  <a:pt x="350319" y="66583"/>
                </a:lnTo>
                <a:lnTo>
                  <a:pt x="328185" y="30793"/>
                </a:lnTo>
                <a:lnTo>
                  <a:pt x="296201" y="7082"/>
                </a:lnTo>
                <a:lnTo>
                  <a:pt x="276586" y="0"/>
                </a:lnTo>
                <a:close/>
              </a:path>
              <a:path w="363220" h="271145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5"/>
                </a:lnTo>
                <a:lnTo>
                  <a:pt x="0" y="135352"/>
                </a:lnTo>
                <a:lnTo>
                  <a:pt x="1390" y="160209"/>
                </a:lnTo>
                <a:lnTo>
                  <a:pt x="12514" y="204174"/>
                </a:lnTo>
                <a:lnTo>
                  <a:pt x="34595" y="239848"/>
                </a:lnTo>
                <a:lnTo>
                  <a:pt x="66615" y="263489"/>
                </a:lnTo>
                <a:lnTo>
                  <a:pt x="86288" y="270562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2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8108" y="5500116"/>
            <a:ext cx="8154670" cy="588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275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What </a:t>
            </a:r>
            <a:r>
              <a:rPr dirty="0" sz="3200" spc="-15">
                <a:latin typeface="Calibri"/>
                <a:cs typeface="Calibri"/>
              </a:rPr>
              <a:t>are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options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 spc="260">
                <a:latin typeface="Cambria Math"/>
                <a:cs typeface="Cambria Math"/>
              </a:rPr>
              <a:t>Head</a:t>
            </a:r>
            <a:r>
              <a:rPr dirty="0" baseline="-15700" sz="3450" spc="390">
                <a:latin typeface="Cambria Math"/>
                <a:cs typeface="Cambria Math"/>
              </a:rPr>
              <a:t>('-.</a:t>
            </a:r>
            <a:r>
              <a:rPr dirty="0" sz="3200" spc="260">
                <a:latin typeface="Cambria Math"/>
                <a:cs typeface="Cambria Math"/>
              </a:rPr>
              <a:t>(𝐡 </a:t>
            </a:r>
            <a:r>
              <a:rPr dirty="0" baseline="38647" sz="3450" spc="525">
                <a:latin typeface="Cambria Math"/>
                <a:cs typeface="Cambria Math"/>
              </a:rPr>
              <a:t>" </a:t>
            </a:r>
            <a:r>
              <a:rPr dirty="0" sz="3200">
                <a:latin typeface="Cambria Math"/>
                <a:cs typeface="Cambria Math"/>
              </a:rPr>
              <a:t>, 𝐡  </a:t>
            </a:r>
            <a:r>
              <a:rPr dirty="0" baseline="38647" sz="3450" spc="525">
                <a:latin typeface="Cambria Math"/>
                <a:cs typeface="Cambria Math"/>
              </a:rPr>
              <a:t>"</a:t>
            </a:r>
            <a:r>
              <a:rPr dirty="0" baseline="38647" sz="3450" spc="-300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)</a:t>
            </a:r>
            <a:r>
              <a:rPr dirty="0" sz="3200" spc="-5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algn="r" marR="629285">
              <a:lnSpc>
                <a:spcPts val="1675"/>
              </a:lnSpc>
              <a:tabLst>
                <a:tab pos="833755" algn="l"/>
              </a:tabLst>
            </a:pPr>
            <a:r>
              <a:rPr dirty="0" sz="2300" spc="360">
                <a:latin typeface="Cambria Math"/>
                <a:cs typeface="Cambria Math"/>
              </a:rPr>
              <a:t>/</a:t>
            </a:r>
            <a:r>
              <a:rPr dirty="0" sz="2300" spc="360">
                <a:latin typeface="Cambria Math"/>
                <a:cs typeface="Cambria Math"/>
              </a:rPr>
              <a:t>	</a:t>
            </a:r>
            <a:r>
              <a:rPr dirty="0" sz="2300" spc="63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71587" y="3691449"/>
            <a:ext cx="1714277" cy="1524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40644" y="5054648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40644" y="5054648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29381" y="481682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29381" y="481682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45766" y="4872126"/>
            <a:ext cx="636905" cy="153035"/>
          </a:xfrm>
          <a:custGeom>
            <a:avLst/>
            <a:gdLst/>
            <a:ahLst/>
            <a:cxnLst/>
            <a:rect l="l" t="t" r="r" b="b"/>
            <a:pathLst>
              <a:path w="636904" h="153035">
                <a:moveTo>
                  <a:pt x="22242" y="0"/>
                </a:moveTo>
                <a:lnTo>
                  <a:pt x="0" y="22667"/>
                </a:lnTo>
                <a:lnTo>
                  <a:pt x="2863" y="29385"/>
                </a:lnTo>
                <a:lnTo>
                  <a:pt x="8037" y="34540"/>
                </a:lnTo>
                <a:lnTo>
                  <a:pt x="15035" y="37412"/>
                </a:lnTo>
                <a:lnTo>
                  <a:pt x="22637" y="37351"/>
                </a:lnTo>
                <a:lnTo>
                  <a:pt x="29355" y="34488"/>
                </a:lnTo>
                <a:lnTo>
                  <a:pt x="34509" y="29314"/>
                </a:lnTo>
                <a:lnTo>
                  <a:pt x="37382" y="22316"/>
                </a:lnTo>
                <a:lnTo>
                  <a:pt x="37314" y="14752"/>
                </a:lnTo>
                <a:lnTo>
                  <a:pt x="34451" y="8034"/>
                </a:lnTo>
                <a:lnTo>
                  <a:pt x="29277" y="2880"/>
                </a:lnTo>
                <a:lnTo>
                  <a:pt x="22242" y="0"/>
                </a:lnTo>
                <a:close/>
              </a:path>
              <a:path w="636904" h="153035">
                <a:moveTo>
                  <a:pt x="97104" y="14420"/>
                </a:moveTo>
                <a:lnTo>
                  <a:pt x="74862" y="37088"/>
                </a:lnTo>
                <a:lnTo>
                  <a:pt x="77725" y="43806"/>
                </a:lnTo>
                <a:lnTo>
                  <a:pt x="82899" y="48960"/>
                </a:lnTo>
                <a:lnTo>
                  <a:pt x="89898" y="51832"/>
                </a:lnTo>
                <a:lnTo>
                  <a:pt x="97499" y="51772"/>
                </a:lnTo>
                <a:lnTo>
                  <a:pt x="104217" y="48908"/>
                </a:lnTo>
                <a:lnTo>
                  <a:pt x="109371" y="43735"/>
                </a:lnTo>
                <a:lnTo>
                  <a:pt x="112243" y="36737"/>
                </a:lnTo>
                <a:lnTo>
                  <a:pt x="112176" y="29172"/>
                </a:lnTo>
                <a:lnTo>
                  <a:pt x="109312" y="22454"/>
                </a:lnTo>
                <a:lnTo>
                  <a:pt x="104139" y="17299"/>
                </a:lnTo>
                <a:lnTo>
                  <a:pt x="97104" y="14420"/>
                </a:lnTo>
                <a:close/>
              </a:path>
              <a:path w="636904" h="153035">
                <a:moveTo>
                  <a:pt x="171966" y="28840"/>
                </a:moveTo>
                <a:lnTo>
                  <a:pt x="149724" y="51507"/>
                </a:lnTo>
                <a:lnTo>
                  <a:pt x="152587" y="58225"/>
                </a:lnTo>
                <a:lnTo>
                  <a:pt x="157760" y="63379"/>
                </a:lnTo>
                <a:lnTo>
                  <a:pt x="164758" y="66253"/>
                </a:lnTo>
                <a:lnTo>
                  <a:pt x="172360" y="66192"/>
                </a:lnTo>
                <a:lnTo>
                  <a:pt x="179078" y="63329"/>
                </a:lnTo>
                <a:lnTo>
                  <a:pt x="184233" y="58156"/>
                </a:lnTo>
                <a:lnTo>
                  <a:pt x="187106" y="51158"/>
                </a:lnTo>
                <a:lnTo>
                  <a:pt x="187039" y="43593"/>
                </a:lnTo>
                <a:lnTo>
                  <a:pt x="184175" y="36875"/>
                </a:lnTo>
                <a:lnTo>
                  <a:pt x="179001" y="31720"/>
                </a:lnTo>
                <a:lnTo>
                  <a:pt x="171966" y="28840"/>
                </a:lnTo>
                <a:close/>
              </a:path>
              <a:path w="636904" h="153035">
                <a:moveTo>
                  <a:pt x="246828" y="43261"/>
                </a:moveTo>
                <a:lnTo>
                  <a:pt x="224585" y="65927"/>
                </a:lnTo>
                <a:lnTo>
                  <a:pt x="227448" y="72645"/>
                </a:lnTo>
                <a:lnTo>
                  <a:pt x="232622" y="77800"/>
                </a:lnTo>
                <a:lnTo>
                  <a:pt x="239620" y="80672"/>
                </a:lnTo>
                <a:lnTo>
                  <a:pt x="247222" y="80613"/>
                </a:lnTo>
                <a:lnTo>
                  <a:pt x="253940" y="77749"/>
                </a:lnTo>
                <a:lnTo>
                  <a:pt x="259095" y="72575"/>
                </a:lnTo>
                <a:lnTo>
                  <a:pt x="261967" y="65577"/>
                </a:lnTo>
                <a:lnTo>
                  <a:pt x="261900" y="58013"/>
                </a:lnTo>
                <a:lnTo>
                  <a:pt x="259037" y="51295"/>
                </a:lnTo>
                <a:lnTo>
                  <a:pt x="253863" y="46141"/>
                </a:lnTo>
                <a:lnTo>
                  <a:pt x="246828" y="43261"/>
                </a:lnTo>
                <a:close/>
              </a:path>
              <a:path w="636904" h="153035">
                <a:moveTo>
                  <a:pt x="321690" y="57680"/>
                </a:moveTo>
                <a:lnTo>
                  <a:pt x="299447" y="80347"/>
                </a:lnTo>
                <a:lnTo>
                  <a:pt x="302310" y="87065"/>
                </a:lnTo>
                <a:lnTo>
                  <a:pt x="307484" y="92219"/>
                </a:lnTo>
                <a:lnTo>
                  <a:pt x="314482" y="95092"/>
                </a:lnTo>
                <a:lnTo>
                  <a:pt x="322084" y="95032"/>
                </a:lnTo>
                <a:lnTo>
                  <a:pt x="328802" y="92169"/>
                </a:lnTo>
                <a:lnTo>
                  <a:pt x="333956" y="86996"/>
                </a:lnTo>
                <a:lnTo>
                  <a:pt x="336829" y="79998"/>
                </a:lnTo>
                <a:lnTo>
                  <a:pt x="336762" y="72433"/>
                </a:lnTo>
                <a:lnTo>
                  <a:pt x="333899" y="65715"/>
                </a:lnTo>
                <a:lnTo>
                  <a:pt x="328725" y="60561"/>
                </a:lnTo>
                <a:lnTo>
                  <a:pt x="321690" y="57680"/>
                </a:lnTo>
                <a:close/>
              </a:path>
              <a:path w="636904" h="153035">
                <a:moveTo>
                  <a:pt x="396551" y="72100"/>
                </a:moveTo>
                <a:lnTo>
                  <a:pt x="374309" y="94769"/>
                </a:lnTo>
                <a:lnTo>
                  <a:pt x="377173" y="101487"/>
                </a:lnTo>
                <a:lnTo>
                  <a:pt x="382347" y="106641"/>
                </a:lnTo>
                <a:lnTo>
                  <a:pt x="389346" y="109513"/>
                </a:lnTo>
                <a:lnTo>
                  <a:pt x="396947" y="109452"/>
                </a:lnTo>
                <a:lnTo>
                  <a:pt x="403666" y="106589"/>
                </a:lnTo>
                <a:lnTo>
                  <a:pt x="408820" y="101415"/>
                </a:lnTo>
                <a:lnTo>
                  <a:pt x="411692" y="94416"/>
                </a:lnTo>
                <a:lnTo>
                  <a:pt x="411624" y="86852"/>
                </a:lnTo>
                <a:lnTo>
                  <a:pt x="408760" y="80134"/>
                </a:lnTo>
                <a:lnTo>
                  <a:pt x="403586" y="74980"/>
                </a:lnTo>
                <a:lnTo>
                  <a:pt x="396551" y="72100"/>
                </a:lnTo>
                <a:close/>
              </a:path>
              <a:path w="636904" h="153035">
                <a:moveTo>
                  <a:pt x="471412" y="86521"/>
                </a:moveTo>
                <a:lnTo>
                  <a:pt x="449171" y="109189"/>
                </a:lnTo>
                <a:lnTo>
                  <a:pt x="452035" y="115907"/>
                </a:lnTo>
                <a:lnTo>
                  <a:pt x="457209" y="121061"/>
                </a:lnTo>
                <a:lnTo>
                  <a:pt x="464207" y="123934"/>
                </a:lnTo>
                <a:lnTo>
                  <a:pt x="471810" y="123872"/>
                </a:lnTo>
                <a:lnTo>
                  <a:pt x="478528" y="121009"/>
                </a:lnTo>
                <a:lnTo>
                  <a:pt x="483682" y="115834"/>
                </a:lnTo>
                <a:lnTo>
                  <a:pt x="486554" y="108836"/>
                </a:lnTo>
                <a:lnTo>
                  <a:pt x="486486" y="101271"/>
                </a:lnTo>
                <a:lnTo>
                  <a:pt x="483622" y="94554"/>
                </a:lnTo>
                <a:lnTo>
                  <a:pt x="478447" y="89400"/>
                </a:lnTo>
                <a:lnTo>
                  <a:pt x="471412" y="86521"/>
                </a:lnTo>
                <a:close/>
              </a:path>
              <a:path w="636904" h="153035">
                <a:moveTo>
                  <a:pt x="546273" y="100940"/>
                </a:moveTo>
                <a:lnTo>
                  <a:pt x="524033" y="123609"/>
                </a:lnTo>
                <a:lnTo>
                  <a:pt x="526897" y="130327"/>
                </a:lnTo>
                <a:lnTo>
                  <a:pt x="532072" y="135481"/>
                </a:lnTo>
                <a:lnTo>
                  <a:pt x="539070" y="138353"/>
                </a:lnTo>
                <a:lnTo>
                  <a:pt x="546671" y="138293"/>
                </a:lnTo>
                <a:lnTo>
                  <a:pt x="553389" y="135429"/>
                </a:lnTo>
                <a:lnTo>
                  <a:pt x="558543" y="130255"/>
                </a:lnTo>
                <a:lnTo>
                  <a:pt x="561416" y="123257"/>
                </a:lnTo>
                <a:lnTo>
                  <a:pt x="561347" y="115692"/>
                </a:lnTo>
                <a:lnTo>
                  <a:pt x="558484" y="108974"/>
                </a:lnTo>
                <a:lnTo>
                  <a:pt x="553310" y="103820"/>
                </a:lnTo>
                <a:lnTo>
                  <a:pt x="546273" y="100940"/>
                </a:lnTo>
                <a:close/>
              </a:path>
              <a:path w="636904" h="153035">
                <a:moveTo>
                  <a:pt x="621134" y="115360"/>
                </a:moveTo>
                <a:lnTo>
                  <a:pt x="598896" y="138032"/>
                </a:lnTo>
                <a:lnTo>
                  <a:pt x="601761" y="144750"/>
                </a:lnTo>
                <a:lnTo>
                  <a:pt x="606935" y="149903"/>
                </a:lnTo>
                <a:lnTo>
                  <a:pt x="613934" y="152774"/>
                </a:lnTo>
                <a:lnTo>
                  <a:pt x="621536" y="152713"/>
                </a:lnTo>
                <a:lnTo>
                  <a:pt x="628254" y="149847"/>
                </a:lnTo>
                <a:lnTo>
                  <a:pt x="633407" y="144673"/>
                </a:lnTo>
                <a:lnTo>
                  <a:pt x="636278" y="137674"/>
                </a:lnTo>
                <a:lnTo>
                  <a:pt x="636209" y="130109"/>
                </a:lnTo>
                <a:lnTo>
                  <a:pt x="633344" y="123392"/>
                </a:lnTo>
                <a:lnTo>
                  <a:pt x="628169" y="118239"/>
                </a:lnTo>
                <a:lnTo>
                  <a:pt x="621134" y="11536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183377" y="4970779"/>
            <a:ext cx="1282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Corbel"/>
                <a:cs typeface="Corbel"/>
              </a:rPr>
              <a:t>?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44217" y="4854955"/>
            <a:ext cx="173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15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77010" y="4699801"/>
            <a:ext cx="275590" cy="212090"/>
          </a:xfrm>
          <a:custGeom>
            <a:avLst/>
            <a:gdLst/>
            <a:ahLst/>
            <a:cxnLst/>
            <a:rect l="l" t="t" r="r" b="b"/>
            <a:pathLst>
              <a:path w="275589" h="212089">
                <a:moveTo>
                  <a:pt x="207698" y="0"/>
                </a:moveTo>
                <a:lnTo>
                  <a:pt x="204684" y="8594"/>
                </a:lnTo>
                <a:lnTo>
                  <a:pt x="216942" y="13913"/>
                </a:lnTo>
                <a:lnTo>
                  <a:pt x="227483" y="21277"/>
                </a:lnTo>
                <a:lnTo>
                  <a:pt x="248886" y="55408"/>
                </a:lnTo>
                <a:lnTo>
                  <a:pt x="255918" y="104811"/>
                </a:lnTo>
                <a:lnTo>
                  <a:pt x="255134" y="123487"/>
                </a:lnTo>
                <a:lnTo>
                  <a:pt x="243361" y="169217"/>
                </a:lnTo>
                <a:lnTo>
                  <a:pt x="217085" y="197805"/>
                </a:lnTo>
                <a:lnTo>
                  <a:pt x="205019" y="203149"/>
                </a:lnTo>
                <a:lnTo>
                  <a:pt x="207698" y="211744"/>
                </a:lnTo>
                <a:lnTo>
                  <a:pt x="248154" y="187707"/>
                </a:lnTo>
                <a:lnTo>
                  <a:pt x="270876" y="143334"/>
                </a:lnTo>
                <a:lnTo>
                  <a:pt x="275229" y="105928"/>
                </a:lnTo>
                <a:lnTo>
                  <a:pt x="274137" y="86516"/>
                </a:lnTo>
                <a:lnTo>
                  <a:pt x="257760" y="37113"/>
                </a:lnTo>
                <a:lnTo>
                  <a:pt x="223050" y="5542"/>
                </a:lnTo>
                <a:lnTo>
                  <a:pt x="207698" y="0"/>
                </a:lnTo>
                <a:close/>
              </a:path>
              <a:path w="275589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1"/>
                </a:lnTo>
                <a:lnTo>
                  <a:pt x="52134" y="206208"/>
                </a:lnTo>
                <a:lnTo>
                  <a:pt x="67530" y="211744"/>
                </a:lnTo>
                <a:lnTo>
                  <a:pt x="70209" y="203149"/>
                </a:lnTo>
                <a:lnTo>
                  <a:pt x="58143" y="197805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958481" y="4553203"/>
            <a:ext cx="4286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7777" sz="3600">
                <a:solidFill>
                  <a:srgbClr val="C00000"/>
                </a:solidFill>
                <a:latin typeface="Cambria Math"/>
                <a:cs typeface="Cambria Math"/>
              </a:rPr>
              <a:t>𝐡</a:t>
            </a:r>
            <a:r>
              <a:rPr dirty="0" baseline="-27777" sz="3600" spc="12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 spc="550">
                <a:solidFill>
                  <a:srgbClr val="C00000"/>
                </a:solidFill>
                <a:latin typeface="Cambria Math"/>
                <a:cs typeface="Cambria Math"/>
              </a:rPr>
              <a:t>'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82534" y="5123179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20">
                <a:solidFill>
                  <a:srgbClr val="C00000"/>
                </a:solidFill>
                <a:latin typeface="Cambria Math"/>
                <a:cs typeface="Cambria Math"/>
              </a:rPr>
              <a:t>&amp;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415325" y="4967856"/>
            <a:ext cx="275590" cy="212090"/>
          </a:xfrm>
          <a:custGeom>
            <a:avLst/>
            <a:gdLst/>
            <a:ahLst/>
            <a:cxnLst/>
            <a:rect l="l" t="t" r="r" b="b"/>
            <a:pathLst>
              <a:path w="275589" h="212089">
                <a:moveTo>
                  <a:pt x="207699" y="0"/>
                </a:moveTo>
                <a:lnTo>
                  <a:pt x="204685" y="8594"/>
                </a:lnTo>
                <a:lnTo>
                  <a:pt x="216942" y="13913"/>
                </a:lnTo>
                <a:lnTo>
                  <a:pt x="227483" y="21277"/>
                </a:lnTo>
                <a:lnTo>
                  <a:pt x="248887" y="55408"/>
                </a:lnTo>
                <a:lnTo>
                  <a:pt x="255920" y="104811"/>
                </a:lnTo>
                <a:lnTo>
                  <a:pt x="255135" y="123487"/>
                </a:lnTo>
                <a:lnTo>
                  <a:pt x="243362" y="169217"/>
                </a:lnTo>
                <a:lnTo>
                  <a:pt x="217085" y="197805"/>
                </a:lnTo>
                <a:lnTo>
                  <a:pt x="205019" y="203149"/>
                </a:lnTo>
                <a:lnTo>
                  <a:pt x="207699" y="211744"/>
                </a:lnTo>
                <a:lnTo>
                  <a:pt x="248155" y="187707"/>
                </a:lnTo>
                <a:lnTo>
                  <a:pt x="270877" y="143334"/>
                </a:lnTo>
                <a:lnTo>
                  <a:pt x="275230" y="105928"/>
                </a:lnTo>
                <a:lnTo>
                  <a:pt x="274138" y="86516"/>
                </a:lnTo>
                <a:lnTo>
                  <a:pt x="257761" y="37113"/>
                </a:lnTo>
                <a:lnTo>
                  <a:pt x="223050" y="5542"/>
                </a:lnTo>
                <a:lnTo>
                  <a:pt x="207699" y="0"/>
                </a:lnTo>
                <a:close/>
              </a:path>
              <a:path w="275589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1"/>
                </a:lnTo>
                <a:lnTo>
                  <a:pt x="52134" y="206208"/>
                </a:lnTo>
                <a:lnTo>
                  <a:pt x="67530" y="211744"/>
                </a:lnTo>
                <a:lnTo>
                  <a:pt x="70209" y="203149"/>
                </a:lnTo>
                <a:lnTo>
                  <a:pt x="58144" y="197805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196796" y="4821428"/>
            <a:ext cx="4286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7777" sz="3600">
                <a:solidFill>
                  <a:srgbClr val="C00000"/>
                </a:solidFill>
                <a:latin typeface="Cambria Math"/>
                <a:cs typeface="Cambria Math"/>
              </a:rPr>
              <a:t>𝐡</a:t>
            </a:r>
            <a:r>
              <a:rPr dirty="0" baseline="-27777" sz="3600" spc="12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 spc="550">
                <a:solidFill>
                  <a:srgbClr val="C00000"/>
                </a:solidFill>
                <a:latin typeface="Cambria Math"/>
                <a:cs typeface="Cambria Math"/>
              </a:rPr>
              <a:t>'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195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996707" y="14459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4">
                <a:moveTo>
                  <a:pt x="276585" y="0"/>
                </a:moveTo>
                <a:lnTo>
                  <a:pt x="272735" y="10981"/>
                </a:lnTo>
                <a:lnTo>
                  <a:pt x="288397" y="17778"/>
                </a:lnTo>
                <a:lnTo>
                  <a:pt x="301867" y="27187"/>
                </a:lnTo>
                <a:lnTo>
                  <a:pt x="329215" y="70800"/>
                </a:lnTo>
                <a:lnTo>
                  <a:pt x="337202" y="110843"/>
                </a:lnTo>
                <a:lnTo>
                  <a:pt x="338200" y="133926"/>
                </a:lnTo>
                <a:lnTo>
                  <a:pt x="337198" y="157789"/>
                </a:lnTo>
                <a:lnTo>
                  <a:pt x="329175" y="198937"/>
                </a:lnTo>
                <a:lnTo>
                  <a:pt x="301884" y="243249"/>
                </a:lnTo>
                <a:lnTo>
                  <a:pt x="273163" y="259580"/>
                </a:lnTo>
                <a:lnTo>
                  <a:pt x="276585" y="270563"/>
                </a:lnTo>
                <a:lnTo>
                  <a:pt x="313490" y="253251"/>
                </a:lnTo>
                <a:lnTo>
                  <a:pt x="340625" y="223282"/>
                </a:lnTo>
                <a:lnTo>
                  <a:pt x="357313" y="183150"/>
                </a:lnTo>
                <a:lnTo>
                  <a:pt x="362875" y="135352"/>
                </a:lnTo>
                <a:lnTo>
                  <a:pt x="361480" y="110548"/>
                </a:lnTo>
                <a:lnTo>
                  <a:pt x="350319" y="66584"/>
                </a:lnTo>
                <a:lnTo>
                  <a:pt x="328186" y="30793"/>
                </a:lnTo>
                <a:lnTo>
                  <a:pt x="296201" y="7082"/>
                </a:lnTo>
                <a:lnTo>
                  <a:pt x="276585" y="0"/>
                </a:lnTo>
                <a:close/>
              </a:path>
              <a:path w="363220" h="271144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3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958334" y="1661160"/>
            <a:ext cx="102489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6455" algn="l"/>
              </a:tabLst>
            </a:pPr>
            <a:r>
              <a:rPr dirty="0" sz="2300" spc="360">
                <a:latin typeface="Cambria Math"/>
                <a:cs typeface="Cambria Math"/>
              </a:rPr>
              <a:t>/</a:t>
            </a:r>
            <a:r>
              <a:rPr dirty="0" sz="2300" spc="360">
                <a:latin typeface="Cambria Math"/>
                <a:cs typeface="Cambria Math"/>
              </a:rPr>
              <a:t>	</a:t>
            </a:r>
            <a:r>
              <a:rPr dirty="0" sz="2300" spc="63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30842" y="14459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4">
                <a:moveTo>
                  <a:pt x="276585" y="0"/>
                </a:moveTo>
                <a:lnTo>
                  <a:pt x="272735" y="10981"/>
                </a:lnTo>
                <a:lnTo>
                  <a:pt x="288397" y="17778"/>
                </a:lnTo>
                <a:lnTo>
                  <a:pt x="301866" y="27187"/>
                </a:lnTo>
                <a:lnTo>
                  <a:pt x="329215" y="70800"/>
                </a:lnTo>
                <a:lnTo>
                  <a:pt x="337202" y="110843"/>
                </a:lnTo>
                <a:lnTo>
                  <a:pt x="338200" y="133926"/>
                </a:lnTo>
                <a:lnTo>
                  <a:pt x="337198" y="157789"/>
                </a:lnTo>
                <a:lnTo>
                  <a:pt x="329175" y="198937"/>
                </a:lnTo>
                <a:lnTo>
                  <a:pt x="301884" y="243249"/>
                </a:lnTo>
                <a:lnTo>
                  <a:pt x="273163" y="259580"/>
                </a:lnTo>
                <a:lnTo>
                  <a:pt x="276585" y="270563"/>
                </a:lnTo>
                <a:lnTo>
                  <a:pt x="313490" y="253251"/>
                </a:lnTo>
                <a:lnTo>
                  <a:pt x="340625" y="223282"/>
                </a:lnTo>
                <a:lnTo>
                  <a:pt x="357313" y="183150"/>
                </a:lnTo>
                <a:lnTo>
                  <a:pt x="362875" y="135352"/>
                </a:lnTo>
                <a:lnTo>
                  <a:pt x="361480" y="110548"/>
                </a:lnTo>
                <a:lnTo>
                  <a:pt x="350319" y="66584"/>
                </a:lnTo>
                <a:lnTo>
                  <a:pt x="328185" y="30793"/>
                </a:lnTo>
                <a:lnTo>
                  <a:pt x="296201" y="7082"/>
                </a:lnTo>
                <a:lnTo>
                  <a:pt x="276585" y="0"/>
                </a:lnTo>
                <a:close/>
              </a:path>
              <a:path w="363220" h="271144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4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3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8108" y="1449324"/>
            <a:ext cx="59099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00"/>
                </a:solidFill>
              </a:rPr>
              <a:t>Options </a:t>
            </a:r>
            <a:r>
              <a:rPr dirty="0" spc="-20">
                <a:solidFill>
                  <a:srgbClr val="000000"/>
                </a:solidFill>
              </a:rPr>
              <a:t>for </a:t>
            </a:r>
            <a:r>
              <a:rPr dirty="0" spc="260" b="0">
                <a:solidFill>
                  <a:srgbClr val="000000"/>
                </a:solidFill>
                <a:latin typeface="Cambria Math"/>
                <a:cs typeface="Cambria Math"/>
              </a:rPr>
              <a:t>Head</a:t>
            </a:r>
            <a:r>
              <a:rPr dirty="0" baseline="-15700" sz="3450" spc="390" b="0">
                <a:solidFill>
                  <a:srgbClr val="000000"/>
                </a:solidFill>
                <a:latin typeface="Cambria Math"/>
                <a:cs typeface="Cambria Math"/>
              </a:rPr>
              <a:t>('-.</a:t>
            </a:r>
            <a:r>
              <a:rPr dirty="0" sz="3200" spc="260" b="0">
                <a:solidFill>
                  <a:srgbClr val="000000"/>
                </a:solidFill>
                <a:latin typeface="Cambria Math"/>
                <a:cs typeface="Cambria Math"/>
              </a:rPr>
              <a:t>(𝐡 </a:t>
            </a:r>
            <a:r>
              <a:rPr dirty="0" baseline="38647" sz="3450" spc="525" b="0">
                <a:solidFill>
                  <a:srgbClr val="000000"/>
                </a:solidFill>
                <a:latin typeface="Cambria Math"/>
                <a:cs typeface="Cambria Math"/>
              </a:rPr>
              <a:t>"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, 𝐡  </a:t>
            </a:r>
            <a:r>
              <a:rPr dirty="0" baseline="38647" sz="3450" spc="525" b="0">
                <a:solidFill>
                  <a:srgbClr val="000000"/>
                </a:solidFill>
                <a:latin typeface="Cambria Math"/>
                <a:cs typeface="Cambria Math"/>
              </a:rPr>
              <a:t>"</a:t>
            </a:r>
            <a:r>
              <a:rPr dirty="0" baseline="38647" sz="3450" spc="-34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spc="-5" b="0">
                <a:solidFill>
                  <a:srgbClr val="000000"/>
                </a:solidFill>
                <a:latin typeface="Cambria Math"/>
                <a:cs typeface="Cambria Math"/>
              </a:rPr>
              <a:t>)</a:t>
            </a:r>
            <a:r>
              <a:rPr dirty="0" sz="3200" spc="-5" b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1886349"/>
            <a:ext cx="5921375" cy="112077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(1)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Concatenation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+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Linear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 spc="-5">
                <a:latin typeface="Calibri"/>
                <a:cs typeface="Calibri"/>
              </a:rPr>
              <a:t>seen this in </a:t>
            </a:r>
            <a:r>
              <a:rPr dirty="0" sz="2800" spc="-15">
                <a:latin typeface="Calibri"/>
                <a:cs typeface="Calibri"/>
              </a:rPr>
              <a:t>graph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 spc="-80">
                <a:latin typeface="Calibri"/>
                <a:cs typeface="Calibri"/>
              </a:rPr>
              <a:t>attention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12002" y="4713144"/>
            <a:ext cx="316865" cy="235585"/>
          </a:xfrm>
          <a:custGeom>
            <a:avLst/>
            <a:gdLst/>
            <a:ahLst/>
            <a:cxnLst/>
            <a:rect l="l" t="t" r="r" b="b"/>
            <a:pathLst>
              <a:path w="316864" h="235585">
                <a:moveTo>
                  <a:pt x="241768" y="0"/>
                </a:moveTo>
                <a:lnTo>
                  <a:pt x="238420" y="9549"/>
                </a:lnTo>
                <a:lnTo>
                  <a:pt x="252039" y="15459"/>
                </a:lnTo>
                <a:lnTo>
                  <a:pt x="263752" y="23641"/>
                </a:lnTo>
                <a:lnTo>
                  <a:pt x="287533" y="61565"/>
                </a:lnTo>
                <a:lnTo>
                  <a:pt x="295347" y="116457"/>
                </a:lnTo>
                <a:lnTo>
                  <a:pt x="294475" y="137208"/>
                </a:lnTo>
                <a:lnTo>
                  <a:pt x="281393" y="188018"/>
                </a:lnTo>
                <a:lnTo>
                  <a:pt x="252198" y="219784"/>
                </a:lnTo>
                <a:lnTo>
                  <a:pt x="238791" y="225722"/>
                </a:lnTo>
                <a:lnTo>
                  <a:pt x="241768" y="235271"/>
                </a:lnTo>
                <a:lnTo>
                  <a:pt x="286719" y="208563"/>
                </a:lnTo>
                <a:lnTo>
                  <a:pt x="311965" y="159260"/>
                </a:lnTo>
                <a:lnTo>
                  <a:pt x="316802" y="117697"/>
                </a:lnTo>
                <a:lnTo>
                  <a:pt x="315589" y="96129"/>
                </a:lnTo>
                <a:lnTo>
                  <a:pt x="305885" y="57898"/>
                </a:lnTo>
                <a:lnTo>
                  <a:pt x="273782" y="15083"/>
                </a:lnTo>
                <a:lnTo>
                  <a:pt x="258826" y="6158"/>
                </a:lnTo>
                <a:lnTo>
                  <a:pt x="241768" y="0"/>
                </a:lnTo>
                <a:close/>
              </a:path>
              <a:path w="316864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2" y="220218"/>
                </a:lnTo>
                <a:lnTo>
                  <a:pt x="75034" y="235271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40283" y="4713144"/>
            <a:ext cx="316865" cy="235585"/>
          </a:xfrm>
          <a:custGeom>
            <a:avLst/>
            <a:gdLst/>
            <a:ahLst/>
            <a:cxnLst/>
            <a:rect l="l" t="t" r="r" b="b"/>
            <a:pathLst>
              <a:path w="316864" h="235585">
                <a:moveTo>
                  <a:pt x="241768" y="0"/>
                </a:moveTo>
                <a:lnTo>
                  <a:pt x="238419" y="9549"/>
                </a:lnTo>
                <a:lnTo>
                  <a:pt x="252039" y="15459"/>
                </a:lnTo>
                <a:lnTo>
                  <a:pt x="263752" y="23641"/>
                </a:lnTo>
                <a:lnTo>
                  <a:pt x="287533" y="61565"/>
                </a:lnTo>
                <a:lnTo>
                  <a:pt x="295347" y="116457"/>
                </a:lnTo>
                <a:lnTo>
                  <a:pt x="294475" y="137208"/>
                </a:lnTo>
                <a:lnTo>
                  <a:pt x="281393" y="188018"/>
                </a:lnTo>
                <a:lnTo>
                  <a:pt x="252198" y="219784"/>
                </a:lnTo>
                <a:lnTo>
                  <a:pt x="238791" y="225722"/>
                </a:lnTo>
                <a:lnTo>
                  <a:pt x="241768" y="235271"/>
                </a:lnTo>
                <a:lnTo>
                  <a:pt x="286719" y="208563"/>
                </a:lnTo>
                <a:lnTo>
                  <a:pt x="311965" y="159260"/>
                </a:lnTo>
                <a:lnTo>
                  <a:pt x="316802" y="117697"/>
                </a:lnTo>
                <a:lnTo>
                  <a:pt x="315589" y="96129"/>
                </a:lnTo>
                <a:lnTo>
                  <a:pt x="305885" y="57898"/>
                </a:lnTo>
                <a:lnTo>
                  <a:pt x="273782" y="15083"/>
                </a:lnTo>
                <a:lnTo>
                  <a:pt x="258826" y="6158"/>
                </a:lnTo>
                <a:lnTo>
                  <a:pt x="241768" y="0"/>
                </a:lnTo>
                <a:close/>
              </a:path>
              <a:path w="316864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2" y="220218"/>
                </a:lnTo>
                <a:lnTo>
                  <a:pt x="75034" y="235271"/>
                </a:lnTo>
                <a:lnTo>
                  <a:pt x="78009" y="225722"/>
                </a:lnTo>
                <a:lnTo>
                  <a:pt x="64603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1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56563" y="4712715"/>
            <a:ext cx="7509509" cy="181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ts val="2415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35">
                <a:latin typeface="Cambria Math"/>
                <a:cs typeface="Cambria Math"/>
              </a:rPr>
              <a:t>𝒚-</a:t>
            </a:r>
            <a:r>
              <a:rPr dirty="0" baseline="-16666" sz="3000" spc="-352">
                <a:latin typeface="Cambria Math"/>
                <a:cs typeface="Cambria Math"/>
              </a:rPr>
              <a:t>𝒖𝒗 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5">
                <a:latin typeface="Cambria Math"/>
                <a:cs typeface="Cambria Math"/>
              </a:rPr>
              <a:t>Linear(Concat(𝐡  </a:t>
            </a:r>
            <a:r>
              <a:rPr dirty="0" baseline="38888" sz="3000" spc="-607">
                <a:latin typeface="Cambria Math"/>
                <a:cs typeface="Cambria Math"/>
              </a:rPr>
              <a:t>+                     </a:t>
            </a:r>
            <a:r>
              <a:rPr dirty="0" sz="2800">
                <a:latin typeface="Cambria Math"/>
                <a:cs typeface="Cambria Math"/>
              </a:rPr>
              <a:t>, 𝐡 </a:t>
            </a:r>
            <a:r>
              <a:rPr dirty="0" baseline="38888" sz="3000" spc="-607">
                <a:latin typeface="Cambria Math"/>
                <a:cs typeface="Cambria Math"/>
              </a:rPr>
              <a:t>+               </a:t>
            </a:r>
            <a:r>
              <a:rPr dirty="0" baseline="38888" sz="3000" spc="-5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))</a:t>
            </a:r>
            <a:endParaRPr sz="2800">
              <a:latin typeface="Cambria Math"/>
              <a:cs typeface="Cambria Math"/>
            </a:endParaRPr>
          </a:p>
          <a:p>
            <a:pPr algn="ctr" marL="1028700">
              <a:lnSpc>
                <a:spcPts val="1455"/>
              </a:lnSpc>
              <a:tabLst>
                <a:tab pos="1757045" algn="l"/>
              </a:tabLst>
            </a:pPr>
            <a:r>
              <a:rPr dirty="0" sz="2000" spc="880">
                <a:latin typeface="Cambria Math"/>
                <a:cs typeface="Cambria Math"/>
              </a:rPr>
              <a:t>.	</a:t>
            </a:r>
            <a:r>
              <a:rPr dirty="0" sz="2000" spc="275">
                <a:latin typeface="Cambria Math"/>
                <a:cs typeface="Cambria Math"/>
              </a:rPr>
              <a:t>*</a:t>
            </a:r>
            <a:endParaRPr sz="2000">
              <a:latin typeface="Cambria Math"/>
              <a:cs typeface="Cambria Math"/>
            </a:endParaRPr>
          </a:p>
          <a:p>
            <a:pPr marL="287020" marR="5080" indent="-274320">
              <a:lnSpc>
                <a:spcPct val="99600"/>
              </a:lnSpc>
              <a:spcBef>
                <a:spcPts val="1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Here </a:t>
            </a:r>
            <a:r>
              <a:rPr dirty="0" sz="2800" spc="-5">
                <a:latin typeface="Cambria Math"/>
                <a:cs typeface="Cambria Math"/>
              </a:rPr>
              <a:t>Linear(⋅) </a:t>
            </a:r>
            <a:r>
              <a:rPr dirty="0" sz="2800" spc="-5">
                <a:latin typeface="Calibri"/>
                <a:cs typeface="Calibri"/>
              </a:rPr>
              <a:t>will map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2𝑑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-dimensional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embeddings (since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20">
                <a:latin typeface="Calibri"/>
                <a:cs typeface="Calibri"/>
              </a:rPr>
              <a:t>concatenated </a:t>
            </a:r>
            <a:r>
              <a:rPr dirty="0" sz="2800" spc="-5">
                <a:latin typeface="Calibri"/>
                <a:cs typeface="Calibri"/>
              </a:rPr>
              <a:t>embeddings) 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10">
                <a:solidFill>
                  <a:srgbClr val="0070C0"/>
                </a:solidFill>
                <a:latin typeface="Cambria Math"/>
                <a:cs typeface="Cambria Math"/>
              </a:rPr>
              <a:t>𝑘</a:t>
            </a:r>
            <a:r>
              <a:rPr dirty="0" sz="2800" spc="10">
                <a:solidFill>
                  <a:srgbClr val="0070C0"/>
                </a:solidFill>
                <a:latin typeface="Calibri"/>
                <a:cs typeface="Calibri"/>
              </a:rPr>
              <a:t>-dim </a:t>
            </a:r>
            <a:r>
              <a:rPr dirty="0" sz="2800" spc="-5">
                <a:latin typeface="Calibri"/>
                <a:cs typeface="Calibri"/>
              </a:rPr>
              <a:t>embeddings (</a:t>
            </a:r>
            <a:r>
              <a:rPr dirty="0" sz="2800" spc="-5">
                <a:latin typeface="Cambria Math"/>
                <a:cs typeface="Cambria Math"/>
              </a:rPr>
              <a:t>𝑘</a:t>
            </a:r>
            <a:r>
              <a:rPr dirty="0" sz="2800" spc="-5">
                <a:latin typeface="Calibri"/>
                <a:cs typeface="Calibri"/>
              </a:rPr>
              <a:t>-way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prediction)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72654" y="3287285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72654" y="3287285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72654" y="3683669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2"/>
                </a:lnTo>
                <a:lnTo>
                  <a:pt x="0" y="396382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72654" y="3683669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5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67562" y="3690405"/>
            <a:ext cx="1062990" cy="85725"/>
          </a:xfrm>
          <a:custGeom>
            <a:avLst/>
            <a:gdLst/>
            <a:ahLst/>
            <a:cxnLst/>
            <a:rect l="l" t="t" r="r" b="b"/>
            <a:pathLst>
              <a:path w="1062989" h="85725">
                <a:moveTo>
                  <a:pt x="22205" y="28573"/>
                </a:moveTo>
                <a:lnTo>
                  <a:pt x="6396" y="28573"/>
                </a:lnTo>
                <a:lnTo>
                  <a:pt x="0" y="34970"/>
                </a:lnTo>
                <a:lnTo>
                  <a:pt x="0" y="50751"/>
                </a:lnTo>
                <a:lnTo>
                  <a:pt x="6395" y="57148"/>
                </a:lnTo>
                <a:lnTo>
                  <a:pt x="22205" y="57148"/>
                </a:lnTo>
                <a:lnTo>
                  <a:pt x="28602" y="50751"/>
                </a:lnTo>
                <a:lnTo>
                  <a:pt x="28602" y="34970"/>
                </a:lnTo>
                <a:lnTo>
                  <a:pt x="22205" y="28573"/>
                </a:lnTo>
                <a:close/>
              </a:path>
              <a:path w="1062989" h="85725">
                <a:moveTo>
                  <a:pt x="79385" y="28573"/>
                </a:moveTo>
                <a:lnTo>
                  <a:pt x="63574" y="28573"/>
                </a:lnTo>
                <a:lnTo>
                  <a:pt x="57177" y="34970"/>
                </a:lnTo>
                <a:lnTo>
                  <a:pt x="57177" y="50751"/>
                </a:lnTo>
                <a:lnTo>
                  <a:pt x="63574" y="57148"/>
                </a:lnTo>
                <a:lnTo>
                  <a:pt x="79385" y="57148"/>
                </a:lnTo>
                <a:lnTo>
                  <a:pt x="85782" y="50751"/>
                </a:lnTo>
                <a:lnTo>
                  <a:pt x="85782" y="34970"/>
                </a:lnTo>
                <a:lnTo>
                  <a:pt x="79385" y="28573"/>
                </a:lnTo>
                <a:close/>
              </a:path>
              <a:path w="1062989" h="85725">
                <a:moveTo>
                  <a:pt x="136563" y="28573"/>
                </a:moveTo>
                <a:lnTo>
                  <a:pt x="120752" y="28573"/>
                </a:lnTo>
                <a:lnTo>
                  <a:pt x="114357" y="34970"/>
                </a:lnTo>
                <a:lnTo>
                  <a:pt x="114357" y="50751"/>
                </a:lnTo>
                <a:lnTo>
                  <a:pt x="120752" y="57148"/>
                </a:lnTo>
                <a:lnTo>
                  <a:pt x="136563" y="57148"/>
                </a:lnTo>
                <a:lnTo>
                  <a:pt x="142960" y="50751"/>
                </a:lnTo>
                <a:lnTo>
                  <a:pt x="142960" y="34970"/>
                </a:lnTo>
                <a:lnTo>
                  <a:pt x="136563" y="28573"/>
                </a:lnTo>
                <a:close/>
              </a:path>
              <a:path w="1062989" h="85725">
                <a:moveTo>
                  <a:pt x="193742" y="28573"/>
                </a:moveTo>
                <a:lnTo>
                  <a:pt x="177932" y="28573"/>
                </a:lnTo>
                <a:lnTo>
                  <a:pt x="171535" y="34970"/>
                </a:lnTo>
                <a:lnTo>
                  <a:pt x="171535" y="50751"/>
                </a:lnTo>
                <a:lnTo>
                  <a:pt x="177932" y="57148"/>
                </a:lnTo>
                <a:lnTo>
                  <a:pt x="193742" y="57148"/>
                </a:lnTo>
                <a:lnTo>
                  <a:pt x="200139" y="50751"/>
                </a:lnTo>
                <a:lnTo>
                  <a:pt x="200139" y="34970"/>
                </a:lnTo>
                <a:lnTo>
                  <a:pt x="193742" y="28573"/>
                </a:lnTo>
                <a:close/>
              </a:path>
              <a:path w="1062989" h="85725">
                <a:moveTo>
                  <a:pt x="250920" y="28573"/>
                </a:moveTo>
                <a:lnTo>
                  <a:pt x="235110" y="28573"/>
                </a:lnTo>
                <a:lnTo>
                  <a:pt x="228714" y="34970"/>
                </a:lnTo>
                <a:lnTo>
                  <a:pt x="228714" y="50751"/>
                </a:lnTo>
                <a:lnTo>
                  <a:pt x="235110" y="57148"/>
                </a:lnTo>
                <a:lnTo>
                  <a:pt x="250920" y="57148"/>
                </a:lnTo>
                <a:lnTo>
                  <a:pt x="257317" y="50751"/>
                </a:lnTo>
                <a:lnTo>
                  <a:pt x="257317" y="34970"/>
                </a:lnTo>
                <a:lnTo>
                  <a:pt x="250920" y="28573"/>
                </a:lnTo>
                <a:close/>
              </a:path>
              <a:path w="1062989" h="85725">
                <a:moveTo>
                  <a:pt x="308099" y="28573"/>
                </a:moveTo>
                <a:lnTo>
                  <a:pt x="292289" y="28573"/>
                </a:lnTo>
                <a:lnTo>
                  <a:pt x="285892" y="34970"/>
                </a:lnTo>
                <a:lnTo>
                  <a:pt x="285892" y="50753"/>
                </a:lnTo>
                <a:lnTo>
                  <a:pt x="292289" y="57148"/>
                </a:lnTo>
                <a:lnTo>
                  <a:pt x="308099" y="57148"/>
                </a:lnTo>
                <a:lnTo>
                  <a:pt x="314496" y="50753"/>
                </a:lnTo>
                <a:lnTo>
                  <a:pt x="314496" y="34970"/>
                </a:lnTo>
                <a:lnTo>
                  <a:pt x="308099" y="28573"/>
                </a:lnTo>
                <a:close/>
              </a:path>
              <a:path w="1062989" h="85725">
                <a:moveTo>
                  <a:pt x="365277" y="28573"/>
                </a:moveTo>
                <a:lnTo>
                  <a:pt x="349467" y="28573"/>
                </a:lnTo>
                <a:lnTo>
                  <a:pt x="343071" y="34970"/>
                </a:lnTo>
                <a:lnTo>
                  <a:pt x="343071" y="50753"/>
                </a:lnTo>
                <a:lnTo>
                  <a:pt x="349467" y="57148"/>
                </a:lnTo>
                <a:lnTo>
                  <a:pt x="365277" y="57148"/>
                </a:lnTo>
                <a:lnTo>
                  <a:pt x="371674" y="50753"/>
                </a:lnTo>
                <a:lnTo>
                  <a:pt x="371674" y="34970"/>
                </a:lnTo>
                <a:lnTo>
                  <a:pt x="365277" y="28573"/>
                </a:lnTo>
                <a:close/>
              </a:path>
              <a:path w="1062989" h="85725">
                <a:moveTo>
                  <a:pt x="422456" y="28573"/>
                </a:moveTo>
                <a:lnTo>
                  <a:pt x="406646" y="28573"/>
                </a:lnTo>
                <a:lnTo>
                  <a:pt x="400249" y="34970"/>
                </a:lnTo>
                <a:lnTo>
                  <a:pt x="400249" y="50753"/>
                </a:lnTo>
                <a:lnTo>
                  <a:pt x="406646" y="57148"/>
                </a:lnTo>
                <a:lnTo>
                  <a:pt x="422456" y="57148"/>
                </a:lnTo>
                <a:lnTo>
                  <a:pt x="428853" y="50753"/>
                </a:lnTo>
                <a:lnTo>
                  <a:pt x="428853" y="34970"/>
                </a:lnTo>
                <a:lnTo>
                  <a:pt x="422456" y="28573"/>
                </a:lnTo>
                <a:close/>
              </a:path>
              <a:path w="1062989" h="85725">
                <a:moveTo>
                  <a:pt x="479634" y="28573"/>
                </a:moveTo>
                <a:lnTo>
                  <a:pt x="463824" y="28573"/>
                </a:lnTo>
                <a:lnTo>
                  <a:pt x="457428" y="34970"/>
                </a:lnTo>
                <a:lnTo>
                  <a:pt x="457428" y="50753"/>
                </a:lnTo>
                <a:lnTo>
                  <a:pt x="463824" y="57148"/>
                </a:lnTo>
                <a:lnTo>
                  <a:pt x="479634" y="57148"/>
                </a:lnTo>
                <a:lnTo>
                  <a:pt x="486031" y="50753"/>
                </a:lnTo>
                <a:lnTo>
                  <a:pt x="486031" y="34970"/>
                </a:lnTo>
                <a:lnTo>
                  <a:pt x="479634" y="28573"/>
                </a:lnTo>
                <a:close/>
              </a:path>
              <a:path w="1062989" h="85725">
                <a:moveTo>
                  <a:pt x="528894" y="28573"/>
                </a:moveTo>
                <a:lnTo>
                  <a:pt x="521002" y="28575"/>
                </a:lnTo>
                <a:lnTo>
                  <a:pt x="514606" y="34970"/>
                </a:lnTo>
                <a:lnTo>
                  <a:pt x="514606" y="50753"/>
                </a:lnTo>
                <a:lnTo>
                  <a:pt x="521003" y="57148"/>
                </a:lnTo>
                <a:lnTo>
                  <a:pt x="536815" y="57148"/>
                </a:lnTo>
                <a:lnTo>
                  <a:pt x="543210" y="50753"/>
                </a:lnTo>
                <a:lnTo>
                  <a:pt x="543210" y="34970"/>
                </a:lnTo>
                <a:lnTo>
                  <a:pt x="536813" y="28575"/>
                </a:lnTo>
                <a:lnTo>
                  <a:pt x="528894" y="28573"/>
                </a:lnTo>
                <a:close/>
              </a:path>
              <a:path w="1062989" h="85725">
                <a:moveTo>
                  <a:pt x="593991" y="28575"/>
                </a:moveTo>
                <a:lnTo>
                  <a:pt x="578181" y="28575"/>
                </a:lnTo>
                <a:lnTo>
                  <a:pt x="571785" y="34970"/>
                </a:lnTo>
                <a:lnTo>
                  <a:pt x="571785" y="50753"/>
                </a:lnTo>
                <a:lnTo>
                  <a:pt x="578181" y="57150"/>
                </a:lnTo>
                <a:lnTo>
                  <a:pt x="593991" y="57150"/>
                </a:lnTo>
                <a:lnTo>
                  <a:pt x="600388" y="50753"/>
                </a:lnTo>
                <a:lnTo>
                  <a:pt x="600388" y="34970"/>
                </a:lnTo>
                <a:lnTo>
                  <a:pt x="593991" y="28575"/>
                </a:lnTo>
                <a:close/>
              </a:path>
              <a:path w="1062989" h="85725">
                <a:moveTo>
                  <a:pt x="651170" y="28575"/>
                </a:moveTo>
                <a:lnTo>
                  <a:pt x="635360" y="28575"/>
                </a:lnTo>
                <a:lnTo>
                  <a:pt x="628963" y="34970"/>
                </a:lnTo>
                <a:lnTo>
                  <a:pt x="628963" y="50753"/>
                </a:lnTo>
                <a:lnTo>
                  <a:pt x="635360" y="57150"/>
                </a:lnTo>
                <a:lnTo>
                  <a:pt x="651170" y="57150"/>
                </a:lnTo>
                <a:lnTo>
                  <a:pt x="657567" y="50753"/>
                </a:lnTo>
                <a:lnTo>
                  <a:pt x="657567" y="34970"/>
                </a:lnTo>
                <a:lnTo>
                  <a:pt x="651170" y="28575"/>
                </a:lnTo>
                <a:close/>
              </a:path>
              <a:path w="1062989" h="85725">
                <a:moveTo>
                  <a:pt x="708348" y="28575"/>
                </a:moveTo>
                <a:lnTo>
                  <a:pt x="692538" y="28575"/>
                </a:lnTo>
                <a:lnTo>
                  <a:pt x="686142" y="34970"/>
                </a:lnTo>
                <a:lnTo>
                  <a:pt x="686142" y="50753"/>
                </a:lnTo>
                <a:lnTo>
                  <a:pt x="692538" y="57150"/>
                </a:lnTo>
                <a:lnTo>
                  <a:pt x="708348" y="57150"/>
                </a:lnTo>
                <a:lnTo>
                  <a:pt x="714745" y="50753"/>
                </a:lnTo>
                <a:lnTo>
                  <a:pt x="714745" y="34970"/>
                </a:lnTo>
                <a:lnTo>
                  <a:pt x="708348" y="28575"/>
                </a:lnTo>
                <a:close/>
              </a:path>
              <a:path w="1062989" h="85725">
                <a:moveTo>
                  <a:pt x="765528" y="28575"/>
                </a:moveTo>
                <a:lnTo>
                  <a:pt x="749717" y="28575"/>
                </a:lnTo>
                <a:lnTo>
                  <a:pt x="743320" y="34970"/>
                </a:lnTo>
                <a:lnTo>
                  <a:pt x="743320" y="50753"/>
                </a:lnTo>
                <a:lnTo>
                  <a:pt x="749717" y="57150"/>
                </a:lnTo>
                <a:lnTo>
                  <a:pt x="765528" y="57150"/>
                </a:lnTo>
                <a:lnTo>
                  <a:pt x="771925" y="50753"/>
                </a:lnTo>
                <a:lnTo>
                  <a:pt x="771925" y="34970"/>
                </a:lnTo>
                <a:lnTo>
                  <a:pt x="765528" y="28575"/>
                </a:lnTo>
                <a:close/>
              </a:path>
              <a:path w="1062989" h="85725">
                <a:moveTo>
                  <a:pt x="822705" y="28575"/>
                </a:moveTo>
                <a:lnTo>
                  <a:pt x="806895" y="28575"/>
                </a:lnTo>
                <a:lnTo>
                  <a:pt x="800500" y="34970"/>
                </a:lnTo>
                <a:lnTo>
                  <a:pt x="800500" y="50753"/>
                </a:lnTo>
                <a:lnTo>
                  <a:pt x="806895" y="57150"/>
                </a:lnTo>
                <a:lnTo>
                  <a:pt x="822705" y="57150"/>
                </a:lnTo>
                <a:lnTo>
                  <a:pt x="829102" y="50753"/>
                </a:lnTo>
                <a:lnTo>
                  <a:pt x="829101" y="34970"/>
                </a:lnTo>
                <a:lnTo>
                  <a:pt x="822705" y="28575"/>
                </a:lnTo>
                <a:close/>
              </a:path>
              <a:path w="1062989" h="85725">
                <a:moveTo>
                  <a:pt x="879885" y="28575"/>
                </a:moveTo>
                <a:lnTo>
                  <a:pt x="864074" y="28575"/>
                </a:lnTo>
                <a:lnTo>
                  <a:pt x="857677" y="34971"/>
                </a:lnTo>
                <a:lnTo>
                  <a:pt x="857677" y="50753"/>
                </a:lnTo>
                <a:lnTo>
                  <a:pt x="864074" y="57150"/>
                </a:lnTo>
                <a:lnTo>
                  <a:pt x="879885" y="57150"/>
                </a:lnTo>
                <a:lnTo>
                  <a:pt x="886282" y="50753"/>
                </a:lnTo>
                <a:lnTo>
                  <a:pt x="886282" y="34971"/>
                </a:lnTo>
                <a:lnTo>
                  <a:pt x="879885" y="28575"/>
                </a:lnTo>
                <a:close/>
              </a:path>
              <a:path w="1062989" h="85725">
                <a:moveTo>
                  <a:pt x="937063" y="28575"/>
                </a:moveTo>
                <a:lnTo>
                  <a:pt x="921252" y="28575"/>
                </a:lnTo>
                <a:lnTo>
                  <a:pt x="914857" y="34971"/>
                </a:lnTo>
                <a:lnTo>
                  <a:pt x="914857" y="50753"/>
                </a:lnTo>
                <a:lnTo>
                  <a:pt x="921252" y="57150"/>
                </a:lnTo>
                <a:lnTo>
                  <a:pt x="937063" y="57150"/>
                </a:lnTo>
                <a:lnTo>
                  <a:pt x="943460" y="50753"/>
                </a:lnTo>
                <a:lnTo>
                  <a:pt x="943460" y="34971"/>
                </a:lnTo>
                <a:lnTo>
                  <a:pt x="937063" y="28575"/>
                </a:lnTo>
                <a:close/>
              </a:path>
              <a:path w="1062989" h="85725">
                <a:moveTo>
                  <a:pt x="976933" y="55651"/>
                </a:moveTo>
                <a:lnTo>
                  <a:pt x="976933" y="85725"/>
                </a:lnTo>
                <a:lnTo>
                  <a:pt x="1034083" y="57150"/>
                </a:lnTo>
                <a:lnTo>
                  <a:pt x="978432" y="57150"/>
                </a:lnTo>
                <a:lnTo>
                  <a:pt x="976933" y="55651"/>
                </a:lnTo>
                <a:close/>
              </a:path>
              <a:path w="1062989" h="85725">
                <a:moveTo>
                  <a:pt x="994242" y="28575"/>
                </a:moveTo>
                <a:lnTo>
                  <a:pt x="978432" y="28575"/>
                </a:lnTo>
                <a:lnTo>
                  <a:pt x="976933" y="30073"/>
                </a:lnTo>
                <a:lnTo>
                  <a:pt x="976933" y="55651"/>
                </a:lnTo>
                <a:lnTo>
                  <a:pt x="978432" y="57150"/>
                </a:lnTo>
                <a:lnTo>
                  <a:pt x="994242" y="57150"/>
                </a:lnTo>
                <a:lnTo>
                  <a:pt x="1000639" y="50753"/>
                </a:lnTo>
                <a:lnTo>
                  <a:pt x="1000639" y="34971"/>
                </a:lnTo>
                <a:lnTo>
                  <a:pt x="994242" y="28575"/>
                </a:lnTo>
                <a:close/>
              </a:path>
              <a:path w="1062989" h="85725">
                <a:moveTo>
                  <a:pt x="1034083" y="28575"/>
                </a:moveTo>
                <a:lnTo>
                  <a:pt x="994242" y="28575"/>
                </a:lnTo>
                <a:lnTo>
                  <a:pt x="1000639" y="34971"/>
                </a:lnTo>
                <a:lnTo>
                  <a:pt x="1000639" y="50753"/>
                </a:lnTo>
                <a:lnTo>
                  <a:pt x="994242" y="57150"/>
                </a:lnTo>
                <a:lnTo>
                  <a:pt x="1034083" y="57150"/>
                </a:lnTo>
                <a:lnTo>
                  <a:pt x="1062658" y="42862"/>
                </a:lnTo>
                <a:lnTo>
                  <a:pt x="1034083" y="28575"/>
                </a:lnTo>
                <a:close/>
              </a:path>
              <a:path w="1062989" h="85725">
                <a:moveTo>
                  <a:pt x="976933" y="30073"/>
                </a:moveTo>
                <a:lnTo>
                  <a:pt x="972035" y="34971"/>
                </a:lnTo>
                <a:lnTo>
                  <a:pt x="972035" y="50753"/>
                </a:lnTo>
                <a:lnTo>
                  <a:pt x="976933" y="55651"/>
                </a:lnTo>
                <a:lnTo>
                  <a:pt x="976933" y="30073"/>
                </a:lnTo>
                <a:close/>
              </a:path>
              <a:path w="1062989" h="85725">
                <a:moveTo>
                  <a:pt x="976933" y="0"/>
                </a:moveTo>
                <a:lnTo>
                  <a:pt x="976933" y="30073"/>
                </a:lnTo>
                <a:lnTo>
                  <a:pt x="978432" y="28575"/>
                </a:lnTo>
                <a:lnTo>
                  <a:pt x="1034083" y="28575"/>
                </a:lnTo>
                <a:lnTo>
                  <a:pt x="9769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37517" y="3514392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4" h="396875">
                <a:moveTo>
                  <a:pt x="0" y="0"/>
                </a:moveTo>
                <a:lnTo>
                  <a:pt x="105702" y="0"/>
                </a:lnTo>
                <a:lnTo>
                  <a:pt x="105702" y="396382"/>
                </a:lnTo>
                <a:lnTo>
                  <a:pt x="0" y="39638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37517" y="3514392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4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37568" y="3523043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4" h="396875">
                <a:moveTo>
                  <a:pt x="0" y="0"/>
                </a:moveTo>
                <a:lnTo>
                  <a:pt x="105702" y="0"/>
                </a:lnTo>
                <a:lnTo>
                  <a:pt x="105702" y="396382"/>
                </a:lnTo>
                <a:lnTo>
                  <a:pt x="0" y="396382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37568" y="3523043"/>
            <a:ext cx="106045" cy="396875"/>
          </a:xfrm>
          <a:custGeom>
            <a:avLst/>
            <a:gdLst/>
            <a:ahLst/>
            <a:cxnLst/>
            <a:rect l="l" t="t" r="r" b="b"/>
            <a:pathLst>
              <a:path w="106044" h="396875">
                <a:moveTo>
                  <a:pt x="0" y="0"/>
                </a:moveTo>
                <a:lnTo>
                  <a:pt x="105702" y="0"/>
                </a:lnTo>
                <a:lnTo>
                  <a:pt x="105702" y="396383"/>
                </a:lnTo>
                <a:lnTo>
                  <a:pt x="0" y="39638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204407" y="3939540"/>
            <a:ext cx="1313815" cy="515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30"/>
              </a:lnSpc>
              <a:spcBef>
                <a:spcPts val="100"/>
              </a:spcBef>
            </a:pPr>
            <a:r>
              <a:rPr dirty="0" baseline="-29166" sz="3000" spc="-150">
                <a:latin typeface="Cambria Math"/>
                <a:cs typeface="Cambria Math"/>
              </a:rPr>
              <a:t>𝐡</a:t>
            </a:r>
            <a:r>
              <a:rPr dirty="0" sz="1500" spc="-100">
                <a:latin typeface="Cambria Math"/>
                <a:cs typeface="Cambria Math"/>
              </a:rPr>
              <a:t>(#$%)</a:t>
            </a:r>
            <a:r>
              <a:rPr dirty="0" sz="1500" spc="-170">
                <a:latin typeface="Cambria Math"/>
                <a:cs typeface="Cambria Math"/>
              </a:rPr>
              <a:t> </a:t>
            </a:r>
            <a:r>
              <a:rPr dirty="0" baseline="-29166" sz="3000" spc="-150">
                <a:latin typeface="Cambria Math"/>
                <a:cs typeface="Cambria Math"/>
              </a:rPr>
              <a:t>𝐡</a:t>
            </a:r>
            <a:r>
              <a:rPr dirty="0" sz="1500" spc="-100">
                <a:latin typeface="Cambria Math"/>
                <a:cs typeface="Cambria Math"/>
              </a:rPr>
              <a:t>(#$%)</a:t>
            </a:r>
            <a:endParaRPr sz="1500">
              <a:latin typeface="Cambria Math"/>
              <a:cs typeface="Cambria Math"/>
            </a:endParaRPr>
          </a:p>
          <a:p>
            <a:pPr marL="168275">
              <a:lnSpc>
                <a:spcPts val="1630"/>
              </a:lnSpc>
              <a:tabLst>
                <a:tab pos="830580" algn="l"/>
              </a:tabLst>
            </a:pPr>
            <a:r>
              <a:rPr dirty="0" sz="1500" spc="540">
                <a:latin typeface="Cambria Math"/>
                <a:cs typeface="Cambria Math"/>
              </a:rPr>
              <a:t>!	</a:t>
            </a:r>
            <a:r>
              <a:rPr dirty="0" sz="1500" spc="484">
                <a:latin typeface="Cambria Math"/>
                <a:cs typeface="Cambria Math"/>
              </a:rPr>
              <a:t>'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60665" y="3365500"/>
            <a:ext cx="11461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Corbel"/>
                <a:cs typeface="Corbel"/>
              </a:rPr>
              <a:t>Concatenate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606625" y="3682560"/>
            <a:ext cx="652780" cy="85725"/>
          </a:xfrm>
          <a:custGeom>
            <a:avLst/>
            <a:gdLst/>
            <a:ahLst/>
            <a:cxnLst/>
            <a:rect l="l" t="t" r="r" b="b"/>
            <a:pathLst>
              <a:path w="652779" h="85725">
                <a:moveTo>
                  <a:pt x="22207" y="28575"/>
                </a:moveTo>
                <a:lnTo>
                  <a:pt x="6396" y="28575"/>
                </a:lnTo>
                <a:lnTo>
                  <a:pt x="0" y="34971"/>
                </a:lnTo>
                <a:lnTo>
                  <a:pt x="0" y="50753"/>
                </a:lnTo>
                <a:lnTo>
                  <a:pt x="6396" y="57150"/>
                </a:lnTo>
                <a:lnTo>
                  <a:pt x="22207" y="57150"/>
                </a:lnTo>
                <a:lnTo>
                  <a:pt x="28604" y="50753"/>
                </a:lnTo>
                <a:lnTo>
                  <a:pt x="28604" y="34971"/>
                </a:lnTo>
                <a:lnTo>
                  <a:pt x="22207" y="28575"/>
                </a:lnTo>
                <a:close/>
              </a:path>
              <a:path w="652779" h="85725">
                <a:moveTo>
                  <a:pt x="79385" y="28575"/>
                </a:moveTo>
                <a:lnTo>
                  <a:pt x="63574" y="28575"/>
                </a:lnTo>
                <a:lnTo>
                  <a:pt x="57179" y="34971"/>
                </a:lnTo>
                <a:lnTo>
                  <a:pt x="57179" y="50753"/>
                </a:lnTo>
                <a:lnTo>
                  <a:pt x="63574" y="57150"/>
                </a:lnTo>
                <a:lnTo>
                  <a:pt x="79385" y="57150"/>
                </a:lnTo>
                <a:lnTo>
                  <a:pt x="85782" y="50753"/>
                </a:lnTo>
                <a:lnTo>
                  <a:pt x="85782" y="34971"/>
                </a:lnTo>
                <a:lnTo>
                  <a:pt x="79385" y="28575"/>
                </a:lnTo>
                <a:close/>
              </a:path>
              <a:path w="652779" h="85725">
                <a:moveTo>
                  <a:pt x="136564" y="28575"/>
                </a:moveTo>
                <a:lnTo>
                  <a:pt x="120754" y="28575"/>
                </a:lnTo>
                <a:lnTo>
                  <a:pt x="114357" y="34971"/>
                </a:lnTo>
                <a:lnTo>
                  <a:pt x="114357" y="50753"/>
                </a:lnTo>
                <a:lnTo>
                  <a:pt x="120754" y="57150"/>
                </a:lnTo>
                <a:lnTo>
                  <a:pt x="136564" y="57150"/>
                </a:lnTo>
                <a:lnTo>
                  <a:pt x="142961" y="50753"/>
                </a:lnTo>
                <a:lnTo>
                  <a:pt x="142961" y="34971"/>
                </a:lnTo>
                <a:lnTo>
                  <a:pt x="136564" y="28575"/>
                </a:lnTo>
                <a:close/>
              </a:path>
              <a:path w="652779" h="85725">
                <a:moveTo>
                  <a:pt x="193742" y="28575"/>
                </a:moveTo>
                <a:lnTo>
                  <a:pt x="177932" y="28575"/>
                </a:lnTo>
                <a:lnTo>
                  <a:pt x="171536" y="34971"/>
                </a:lnTo>
                <a:lnTo>
                  <a:pt x="171536" y="50753"/>
                </a:lnTo>
                <a:lnTo>
                  <a:pt x="177932" y="57150"/>
                </a:lnTo>
                <a:lnTo>
                  <a:pt x="193742" y="57150"/>
                </a:lnTo>
                <a:lnTo>
                  <a:pt x="200139" y="50753"/>
                </a:lnTo>
                <a:lnTo>
                  <a:pt x="200139" y="34971"/>
                </a:lnTo>
                <a:lnTo>
                  <a:pt x="193742" y="28575"/>
                </a:lnTo>
                <a:close/>
              </a:path>
              <a:path w="652779" h="85725">
                <a:moveTo>
                  <a:pt x="250921" y="28575"/>
                </a:moveTo>
                <a:lnTo>
                  <a:pt x="235111" y="28575"/>
                </a:lnTo>
                <a:lnTo>
                  <a:pt x="228714" y="34971"/>
                </a:lnTo>
                <a:lnTo>
                  <a:pt x="228714" y="50753"/>
                </a:lnTo>
                <a:lnTo>
                  <a:pt x="235111" y="57150"/>
                </a:lnTo>
                <a:lnTo>
                  <a:pt x="250921" y="57150"/>
                </a:lnTo>
                <a:lnTo>
                  <a:pt x="257318" y="50753"/>
                </a:lnTo>
                <a:lnTo>
                  <a:pt x="257318" y="34971"/>
                </a:lnTo>
                <a:lnTo>
                  <a:pt x="250921" y="28575"/>
                </a:lnTo>
                <a:close/>
              </a:path>
              <a:path w="652779" h="85725">
                <a:moveTo>
                  <a:pt x="308099" y="28575"/>
                </a:moveTo>
                <a:lnTo>
                  <a:pt x="292289" y="28575"/>
                </a:lnTo>
                <a:lnTo>
                  <a:pt x="285893" y="34971"/>
                </a:lnTo>
                <a:lnTo>
                  <a:pt x="285893" y="50753"/>
                </a:lnTo>
                <a:lnTo>
                  <a:pt x="292289" y="57150"/>
                </a:lnTo>
                <a:lnTo>
                  <a:pt x="308099" y="57150"/>
                </a:lnTo>
                <a:lnTo>
                  <a:pt x="314496" y="50753"/>
                </a:lnTo>
                <a:lnTo>
                  <a:pt x="314496" y="34971"/>
                </a:lnTo>
                <a:lnTo>
                  <a:pt x="308099" y="28575"/>
                </a:lnTo>
                <a:close/>
              </a:path>
              <a:path w="652779" h="85725">
                <a:moveTo>
                  <a:pt x="365278" y="28575"/>
                </a:moveTo>
                <a:lnTo>
                  <a:pt x="349468" y="28575"/>
                </a:lnTo>
                <a:lnTo>
                  <a:pt x="343071" y="34971"/>
                </a:lnTo>
                <a:lnTo>
                  <a:pt x="343071" y="50753"/>
                </a:lnTo>
                <a:lnTo>
                  <a:pt x="349468" y="57150"/>
                </a:lnTo>
                <a:lnTo>
                  <a:pt x="365278" y="57150"/>
                </a:lnTo>
                <a:lnTo>
                  <a:pt x="371675" y="50753"/>
                </a:lnTo>
                <a:lnTo>
                  <a:pt x="371675" y="34971"/>
                </a:lnTo>
                <a:lnTo>
                  <a:pt x="365278" y="28575"/>
                </a:lnTo>
                <a:close/>
              </a:path>
              <a:path w="652779" h="85725">
                <a:moveTo>
                  <a:pt x="422456" y="28575"/>
                </a:moveTo>
                <a:lnTo>
                  <a:pt x="406646" y="28575"/>
                </a:lnTo>
                <a:lnTo>
                  <a:pt x="400250" y="34971"/>
                </a:lnTo>
                <a:lnTo>
                  <a:pt x="400250" y="50753"/>
                </a:lnTo>
                <a:lnTo>
                  <a:pt x="406646" y="57150"/>
                </a:lnTo>
                <a:lnTo>
                  <a:pt x="422456" y="57150"/>
                </a:lnTo>
                <a:lnTo>
                  <a:pt x="428853" y="50753"/>
                </a:lnTo>
                <a:lnTo>
                  <a:pt x="428853" y="34971"/>
                </a:lnTo>
                <a:lnTo>
                  <a:pt x="422456" y="28575"/>
                </a:lnTo>
                <a:close/>
              </a:path>
              <a:path w="652779" h="85725">
                <a:moveTo>
                  <a:pt x="479635" y="28575"/>
                </a:moveTo>
                <a:lnTo>
                  <a:pt x="463825" y="28575"/>
                </a:lnTo>
                <a:lnTo>
                  <a:pt x="457428" y="34971"/>
                </a:lnTo>
                <a:lnTo>
                  <a:pt x="457429" y="50754"/>
                </a:lnTo>
                <a:lnTo>
                  <a:pt x="463825" y="57150"/>
                </a:lnTo>
                <a:lnTo>
                  <a:pt x="479635" y="57150"/>
                </a:lnTo>
                <a:lnTo>
                  <a:pt x="486032" y="50754"/>
                </a:lnTo>
                <a:lnTo>
                  <a:pt x="486032" y="34971"/>
                </a:lnTo>
                <a:lnTo>
                  <a:pt x="479635" y="28575"/>
                </a:lnTo>
                <a:close/>
              </a:path>
              <a:path w="652779" h="85725">
                <a:moveTo>
                  <a:pt x="536813" y="28575"/>
                </a:moveTo>
                <a:lnTo>
                  <a:pt x="521003" y="28575"/>
                </a:lnTo>
                <a:lnTo>
                  <a:pt x="514607" y="34971"/>
                </a:lnTo>
                <a:lnTo>
                  <a:pt x="514607" y="50754"/>
                </a:lnTo>
                <a:lnTo>
                  <a:pt x="521003" y="57150"/>
                </a:lnTo>
                <a:lnTo>
                  <a:pt x="536813" y="57150"/>
                </a:lnTo>
                <a:lnTo>
                  <a:pt x="543210" y="50754"/>
                </a:lnTo>
                <a:lnTo>
                  <a:pt x="543210" y="34971"/>
                </a:lnTo>
                <a:lnTo>
                  <a:pt x="536813" y="28575"/>
                </a:lnTo>
                <a:close/>
              </a:path>
              <a:path w="652779" h="85725">
                <a:moveTo>
                  <a:pt x="566572" y="0"/>
                </a:moveTo>
                <a:lnTo>
                  <a:pt x="566571" y="85725"/>
                </a:lnTo>
                <a:lnTo>
                  <a:pt x="652296" y="42863"/>
                </a:lnTo>
                <a:lnTo>
                  <a:pt x="566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676291" y="3368547"/>
            <a:ext cx="5797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Corbel"/>
                <a:cs typeface="Corbel"/>
              </a:rPr>
              <a:t>Lin</a:t>
            </a:r>
            <a:r>
              <a:rPr dirty="0" sz="1600" spc="0" b="1">
                <a:latin typeface="Corbel"/>
                <a:cs typeface="Corbel"/>
              </a:rPr>
              <a:t>e</a:t>
            </a:r>
            <a:r>
              <a:rPr dirty="0" sz="1600" b="1">
                <a:latin typeface="Corbel"/>
                <a:cs typeface="Corbel"/>
              </a:rPr>
              <a:t>ar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24" name="object 24"/>
          <p:cNvSpPr txBox="1"/>
          <p:nvPr/>
        </p:nvSpPr>
        <p:spPr>
          <a:xfrm>
            <a:off x="5563225" y="3532123"/>
            <a:ext cx="4781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-1072">
                <a:latin typeface="Cambria Math"/>
                <a:cs typeface="Cambria Math"/>
              </a:rPr>
              <a:t>𝒚</a:t>
            </a:r>
            <a:r>
              <a:rPr dirty="0" baseline="12731" sz="3600" spc="-465">
                <a:latin typeface="Cambria Math"/>
                <a:cs typeface="Cambria Math"/>
              </a:rPr>
              <a:t>*</a:t>
            </a:r>
            <a:r>
              <a:rPr dirty="0" sz="1800" spc="65">
                <a:latin typeface="Cambria Math"/>
                <a:cs typeface="Cambria Math"/>
              </a:rPr>
              <a:t>(&amp;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195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745273" y="1443196"/>
            <a:ext cx="342265" cy="259079"/>
          </a:xfrm>
          <a:custGeom>
            <a:avLst/>
            <a:gdLst/>
            <a:ahLst/>
            <a:cxnLst/>
            <a:rect l="l" t="t" r="r" b="b"/>
            <a:pathLst>
              <a:path w="342264" h="259080">
                <a:moveTo>
                  <a:pt x="259646" y="0"/>
                </a:moveTo>
                <a:lnTo>
                  <a:pt x="255963" y="10505"/>
                </a:lnTo>
                <a:lnTo>
                  <a:pt x="270944" y="17006"/>
                </a:lnTo>
                <a:lnTo>
                  <a:pt x="283827" y="26006"/>
                </a:lnTo>
                <a:lnTo>
                  <a:pt x="309987" y="67723"/>
                </a:lnTo>
                <a:lnTo>
                  <a:pt x="317628" y="106024"/>
                </a:lnTo>
                <a:lnTo>
                  <a:pt x="318583" y="128103"/>
                </a:lnTo>
                <a:lnTo>
                  <a:pt x="317623" y="150929"/>
                </a:lnTo>
                <a:lnTo>
                  <a:pt x="309949" y="190288"/>
                </a:lnTo>
                <a:lnTo>
                  <a:pt x="283845" y="232674"/>
                </a:lnTo>
                <a:lnTo>
                  <a:pt x="256372" y="248295"/>
                </a:lnTo>
                <a:lnTo>
                  <a:pt x="259646" y="258800"/>
                </a:lnTo>
                <a:lnTo>
                  <a:pt x="294946" y="242241"/>
                </a:lnTo>
                <a:lnTo>
                  <a:pt x="320902" y="213574"/>
                </a:lnTo>
                <a:lnTo>
                  <a:pt x="336864" y="175187"/>
                </a:lnTo>
                <a:lnTo>
                  <a:pt x="342184" y="129468"/>
                </a:lnTo>
                <a:lnTo>
                  <a:pt x="340850" y="105743"/>
                </a:lnTo>
                <a:lnTo>
                  <a:pt x="330174" y="63690"/>
                </a:lnTo>
                <a:lnTo>
                  <a:pt x="309002" y="29455"/>
                </a:lnTo>
                <a:lnTo>
                  <a:pt x="278409" y="6774"/>
                </a:lnTo>
                <a:lnTo>
                  <a:pt x="259646" y="0"/>
                </a:lnTo>
                <a:close/>
              </a:path>
              <a:path w="342264" h="259080">
                <a:moveTo>
                  <a:pt x="82537" y="0"/>
                </a:moveTo>
                <a:lnTo>
                  <a:pt x="47322" y="16593"/>
                </a:lnTo>
                <a:lnTo>
                  <a:pt x="21349" y="45361"/>
                </a:lnTo>
                <a:lnTo>
                  <a:pt x="5337" y="83817"/>
                </a:lnTo>
                <a:lnTo>
                  <a:pt x="0" y="129468"/>
                </a:lnTo>
                <a:lnTo>
                  <a:pt x="1330" y="153244"/>
                </a:lnTo>
                <a:lnTo>
                  <a:pt x="11970" y="195297"/>
                </a:lnTo>
                <a:lnTo>
                  <a:pt x="33090" y="229421"/>
                </a:lnTo>
                <a:lnTo>
                  <a:pt x="82537" y="258800"/>
                </a:lnTo>
                <a:lnTo>
                  <a:pt x="85811" y="248295"/>
                </a:lnTo>
                <a:lnTo>
                  <a:pt x="71064" y="241763"/>
                </a:lnTo>
                <a:lnTo>
                  <a:pt x="58338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3"/>
                </a:lnTo>
                <a:lnTo>
                  <a:pt x="58440" y="26006"/>
                </a:lnTo>
                <a:lnTo>
                  <a:pt x="86220" y="10505"/>
                </a:lnTo>
                <a:lnTo>
                  <a:pt x="82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08016" y="1643380"/>
            <a:ext cx="9652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3750" algn="l"/>
              </a:tabLst>
            </a:pPr>
            <a:r>
              <a:rPr dirty="0" sz="2200" spc="-530">
                <a:latin typeface="Cambria Math"/>
                <a:cs typeface="Cambria Math"/>
              </a:rPr>
              <a:t>%</a:t>
            </a:r>
            <a:r>
              <a:rPr dirty="0" sz="2200" spc="-530">
                <a:latin typeface="Cambria Math"/>
                <a:cs typeface="Cambria Math"/>
              </a:rPr>
              <a:t>	</a:t>
            </a:r>
            <a:r>
              <a:rPr dirty="0" sz="2200" spc="715">
                <a:latin typeface="Cambria Math"/>
                <a:cs typeface="Cambria Math"/>
              </a:rPr>
              <a:t>'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26514" y="1443196"/>
            <a:ext cx="342265" cy="259079"/>
          </a:xfrm>
          <a:custGeom>
            <a:avLst/>
            <a:gdLst/>
            <a:ahLst/>
            <a:cxnLst/>
            <a:rect l="l" t="t" r="r" b="b"/>
            <a:pathLst>
              <a:path w="342264" h="259080">
                <a:moveTo>
                  <a:pt x="259646" y="0"/>
                </a:moveTo>
                <a:lnTo>
                  <a:pt x="255963" y="10505"/>
                </a:lnTo>
                <a:lnTo>
                  <a:pt x="270944" y="17006"/>
                </a:lnTo>
                <a:lnTo>
                  <a:pt x="283827" y="26006"/>
                </a:lnTo>
                <a:lnTo>
                  <a:pt x="309987" y="67723"/>
                </a:lnTo>
                <a:lnTo>
                  <a:pt x="317627" y="106024"/>
                </a:lnTo>
                <a:lnTo>
                  <a:pt x="318582" y="128103"/>
                </a:lnTo>
                <a:lnTo>
                  <a:pt x="317622" y="150929"/>
                </a:lnTo>
                <a:lnTo>
                  <a:pt x="309948" y="190288"/>
                </a:lnTo>
                <a:lnTo>
                  <a:pt x="283845" y="232674"/>
                </a:lnTo>
                <a:lnTo>
                  <a:pt x="256372" y="248295"/>
                </a:lnTo>
                <a:lnTo>
                  <a:pt x="259646" y="258800"/>
                </a:lnTo>
                <a:lnTo>
                  <a:pt x="294946" y="242241"/>
                </a:lnTo>
                <a:lnTo>
                  <a:pt x="320901" y="213574"/>
                </a:lnTo>
                <a:lnTo>
                  <a:pt x="336863" y="175187"/>
                </a:lnTo>
                <a:lnTo>
                  <a:pt x="342183" y="129468"/>
                </a:lnTo>
                <a:lnTo>
                  <a:pt x="340849" y="105743"/>
                </a:lnTo>
                <a:lnTo>
                  <a:pt x="330174" y="63690"/>
                </a:lnTo>
                <a:lnTo>
                  <a:pt x="309002" y="29455"/>
                </a:lnTo>
                <a:lnTo>
                  <a:pt x="278409" y="6774"/>
                </a:lnTo>
                <a:lnTo>
                  <a:pt x="259646" y="0"/>
                </a:lnTo>
                <a:close/>
              </a:path>
              <a:path w="342264" h="259080">
                <a:moveTo>
                  <a:pt x="82537" y="0"/>
                </a:moveTo>
                <a:lnTo>
                  <a:pt x="47322" y="16593"/>
                </a:lnTo>
                <a:lnTo>
                  <a:pt x="21349" y="45361"/>
                </a:lnTo>
                <a:lnTo>
                  <a:pt x="5337" y="83817"/>
                </a:lnTo>
                <a:lnTo>
                  <a:pt x="0" y="129468"/>
                </a:lnTo>
                <a:lnTo>
                  <a:pt x="1330" y="153244"/>
                </a:lnTo>
                <a:lnTo>
                  <a:pt x="11970" y="195297"/>
                </a:lnTo>
                <a:lnTo>
                  <a:pt x="33090" y="229421"/>
                </a:lnTo>
                <a:lnTo>
                  <a:pt x="82537" y="258800"/>
                </a:lnTo>
                <a:lnTo>
                  <a:pt x="85811" y="248295"/>
                </a:lnTo>
                <a:lnTo>
                  <a:pt x="71064" y="241763"/>
                </a:lnTo>
                <a:lnTo>
                  <a:pt x="58338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3"/>
                </a:lnTo>
                <a:lnTo>
                  <a:pt x="58440" y="26006"/>
                </a:lnTo>
                <a:lnTo>
                  <a:pt x="86220" y="10505"/>
                </a:lnTo>
                <a:lnTo>
                  <a:pt x="82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8108" y="1450339"/>
            <a:ext cx="55638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solidFill>
                  <a:srgbClr val="000000"/>
                </a:solidFill>
              </a:rPr>
              <a:t>Options </a:t>
            </a:r>
            <a:r>
              <a:rPr dirty="0" sz="3000" spc="-20">
                <a:solidFill>
                  <a:srgbClr val="000000"/>
                </a:solidFill>
              </a:rPr>
              <a:t>for </a:t>
            </a:r>
            <a:r>
              <a:rPr dirty="0" sz="3000" spc="105" b="0">
                <a:solidFill>
                  <a:srgbClr val="000000"/>
                </a:solidFill>
                <a:latin typeface="Cambria Math"/>
                <a:cs typeface="Cambria Math"/>
              </a:rPr>
              <a:t>Head</a:t>
            </a:r>
            <a:r>
              <a:rPr dirty="0" baseline="-15151" sz="3300" spc="157" b="0">
                <a:solidFill>
                  <a:srgbClr val="000000"/>
                </a:solidFill>
                <a:latin typeface="Cambria Math"/>
                <a:cs typeface="Cambria Math"/>
              </a:rPr>
              <a:t>!"#$</a:t>
            </a:r>
            <a:r>
              <a:rPr dirty="0" sz="3000" spc="105" b="0">
                <a:solidFill>
                  <a:srgbClr val="000000"/>
                </a:solidFill>
                <a:latin typeface="Cambria Math"/>
                <a:cs typeface="Cambria Math"/>
              </a:rPr>
              <a:t>(𝐡 </a:t>
            </a:r>
            <a:r>
              <a:rPr dirty="0" baseline="37878" sz="3300" spc="-465" b="0">
                <a:solidFill>
                  <a:srgbClr val="000000"/>
                </a:solidFill>
                <a:latin typeface="Cambria Math"/>
                <a:cs typeface="Cambria Math"/>
              </a:rPr>
              <a:t>&amp;     </a:t>
            </a:r>
            <a:r>
              <a:rPr dirty="0" sz="3000" b="0">
                <a:solidFill>
                  <a:srgbClr val="000000"/>
                </a:solidFill>
                <a:latin typeface="Cambria Math"/>
                <a:cs typeface="Cambria Math"/>
              </a:rPr>
              <a:t>, 𝐡  </a:t>
            </a:r>
            <a:r>
              <a:rPr dirty="0" baseline="37878" sz="3300" spc="-465" b="0">
                <a:solidFill>
                  <a:srgbClr val="000000"/>
                </a:solidFill>
                <a:latin typeface="Cambria Math"/>
                <a:cs typeface="Cambria Math"/>
              </a:rPr>
              <a:t>&amp;</a:t>
            </a:r>
            <a:r>
              <a:rPr dirty="0" baseline="37878" sz="3300" spc="-322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000" b="0">
                <a:solidFill>
                  <a:srgbClr val="000000"/>
                </a:solidFill>
                <a:latin typeface="Cambria Math"/>
                <a:cs typeface="Cambria Math"/>
              </a:rPr>
              <a:t>)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42983" y="2576756"/>
            <a:ext cx="296545" cy="223520"/>
          </a:xfrm>
          <a:custGeom>
            <a:avLst/>
            <a:gdLst/>
            <a:ahLst/>
            <a:cxnLst/>
            <a:rect l="l" t="t" r="r" b="b"/>
            <a:pathLst>
              <a:path w="296544" h="223519">
                <a:moveTo>
                  <a:pt x="224702" y="0"/>
                </a:moveTo>
                <a:lnTo>
                  <a:pt x="221521" y="9072"/>
                </a:lnTo>
                <a:lnTo>
                  <a:pt x="234459" y="14687"/>
                </a:lnTo>
                <a:lnTo>
                  <a:pt x="245586" y="22460"/>
                </a:lnTo>
                <a:lnTo>
                  <a:pt x="268179" y="58487"/>
                </a:lnTo>
                <a:lnTo>
                  <a:pt x="275601" y="110636"/>
                </a:lnTo>
                <a:lnTo>
                  <a:pt x="274772" y="130349"/>
                </a:lnTo>
                <a:lnTo>
                  <a:pt x="262346" y="178619"/>
                </a:lnTo>
                <a:lnTo>
                  <a:pt x="234610" y="208796"/>
                </a:lnTo>
                <a:lnTo>
                  <a:pt x="221874" y="214436"/>
                </a:lnTo>
                <a:lnTo>
                  <a:pt x="224702" y="223508"/>
                </a:lnTo>
                <a:lnTo>
                  <a:pt x="267405" y="198137"/>
                </a:lnTo>
                <a:lnTo>
                  <a:pt x="291389" y="151299"/>
                </a:lnTo>
                <a:lnTo>
                  <a:pt x="295984" y="111813"/>
                </a:lnTo>
                <a:lnTo>
                  <a:pt x="294832" y="91323"/>
                </a:lnTo>
                <a:lnTo>
                  <a:pt x="277545" y="39175"/>
                </a:lnTo>
                <a:lnTo>
                  <a:pt x="240906" y="5850"/>
                </a:lnTo>
                <a:lnTo>
                  <a:pt x="224702" y="0"/>
                </a:lnTo>
                <a:close/>
              </a:path>
              <a:path w="296544" h="223519">
                <a:moveTo>
                  <a:pt x="71282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0" y="217665"/>
                </a:lnTo>
                <a:lnTo>
                  <a:pt x="71282" y="223508"/>
                </a:lnTo>
                <a:lnTo>
                  <a:pt x="74110" y="214436"/>
                </a:lnTo>
                <a:lnTo>
                  <a:pt x="61374" y="208796"/>
                </a:lnTo>
                <a:lnTo>
                  <a:pt x="50383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01757" y="2576756"/>
            <a:ext cx="296545" cy="223520"/>
          </a:xfrm>
          <a:custGeom>
            <a:avLst/>
            <a:gdLst/>
            <a:ahLst/>
            <a:cxnLst/>
            <a:rect l="l" t="t" r="r" b="b"/>
            <a:pathLst>
              <a:path w="296545" h="223519">
                <a:moveTo>
                  <a:pt x="224702" y="0"/>
                </a:moveTo>
                <a:lnTo>
                  <a:pt x="221521" y="9072"/>
                </a:lnTo>
                <a:lnTo>
                  <a:pt x="234459" y="14687"/>
                </a:lnTo>
                <a:lnTo>
                  <a:pt x="245586" y="22460"/>
                </a:lnTo>
                <a:lnTo>
                  <a:pt x="268179" y="58487"/>
                </a:lnTo>
                <a:lnTo>
                  <a:pt x="275601" y="110636"/>
                </a:lnTo>
                <a:lnTo>
                  <a:pt x="274772" y="130349"/>
                </a:lnTo>
                <a:lnTo>
                  <a:pt x="262346" y="178619"/>
                </a:lnTo>
                <a:lnTo>
                  <a:pt x="234611" y="208796"/>
                </a:lnTo>
                <a:lnTo>
                  <a:pt x="221875" y="214436"/>
                </a:lnTo>
                <a:lnTo>
                  <a:pt x="224702" y="223508"/>
                </a:lnTo>
                <a:lnTo>
                  <a:pt x="267405" y="198137"/>
                </a:lnTo>
                <a:lnTo>
                  <a:pt x="291389" y="151299"/>
                </a:lnTo>
                <a:lnTo>
                  <a:pt x="295984" y="111813"/>
                </a:lnTo>
                <a:lnTo>
                  <a:pt x="294832" y="91323"/>
                </a:lnTo>
                <a:lnTo>
                  <a:pt x="277545" y="39175"/>
                </a:lnTo>
                <a:lnTo>
                  <a:pt x="240906" y="5850"/>
                </a:lnTo>
                <a:lnTo>
                  <a:pt x="224702" y="0"/>
                </a:lnTo>
                <a:close/>
              </a:path>
              <a:path w="296545" h="223519">
                <a:moveTo>
                  <a:pt x="71282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0" y="217665"/>
                </a:lnTo>
                <a:lnTo>
                  <a:pt x="71282" y="223508"/>
                </a:lnTo>
                <a:lnTo>
                  <a:pt x="74109" y="214436"/>
                </a:lnTo>
                <a:lnTo>
                  <a:pt x="61373" y="208796"/>
                </a:lnTo>
                <a:lnTo>
                  <a:pt x="50383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8108" y="1737789"/>
            <a:ext cx="7801609" cy="3030855"/>
          </a:xfrm>
          <a:prstGeom prst="rect">
            <a:avLst/>
          </a:prstGeom>
        </p:spPr>
        <p:txBody>
          <a:bodyPr wrap="square" lIns="0" tIns="21907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72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(2)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Dot</a:t>
            </a:r>
            <a:r>
              <a:rPr dirty="0" sz="3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product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ts val="2220"/>
              </a:lnSpc>
              <a:spcBef>
                <a:spcPts val="140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195">
                <a:latin typeface="Cambria Math"/>
                <a:cs typeface="Cambria Math"/>
              </a:rPr>
              <a:t>𝒚</a:t>
            </a:r>
            <a:r>
              <a:rPr dirty="0" baseline="1068" sz="3900" spc="-292">
                <a:latin typeface="Cambria Math"/>
                <a:cs typeface="Cambria Math"/>
              </a:rPr>
              <a:t>!</a:t>
            </a:r>
            <a:r>
              <a:rPr dirty="0" baseline="-16081" sz="2850" spc="-292">
                <a:latin typeface="Cambria Math"/>
                <a:cs typeface="Cambria Math"/>
              </a:rPr>
              <a:t>𝒖𝒗   </a:t>
            </a:r>
            <a:r>
              <a:rPr dirty="0" sz="2600">
                <a:latin typeface="Cambria Math"/>
                <a:cs typeface="Cambria Math"/>
              </a:rPr>
              <a:t>= </a:t>
            </a:r>
            <a:r>
              <a:rPr dirty="0" sz="2600" spc="-5">
                <a:latin typeface="Cambria Math"/>
                <a:cs typeface="Cambria Math"/>
              </a:rPr>
              <a:t>(𝐡 </a:t>
            </a:r>
            <a:r>
              <a:rPr dirty="0" baseline="38011" sz="2850" spc="112">
                <a:latin typeface="Cambria Math"/>
                <a:cs typeface="Cambria Math"/>
              </a:rPr>
              <a:t>$ </a:t>
            </a:r>
            <a:r>
              <a:rPr dirty="0" sz="2600" spc="-140">
                <a:latin typeface="Cambria Math"/>
                <a:cs typeface="Cambria Math"/>
              </a:rPr>
              <a:t>)</a:t>
            </a:r>
            <a:r>
              <a:rPr dirty="0" baseline="27777" sz="2850" spc="-209">
                <a:latin typeface="Cambria Math"/>
                <a:cs typeface="Cambria Math"/>
              </a:rPr>
              <a:t>%</a:t>
            </a:r>
            <a:r>
              <a:rPr dirty="0" sz="2600" spc="-140">
                <a:latin typeface="Cambria Math"/>
                <a:cs typeface="Cambria Math"/>
              </a:rPr>
              <a:t>𝐡 </a:t>
            </a:r>
            <a:r>
              <a:rPr dirty="0" sz="2600" spc="190">
                <a:latin typeface="Cambria Math"/>
                <a:cs typeface="Cambria Math"/>
              </a:rPr>
              <a:t> </a:t>
            </a:r>
            <a:r>
              <a:rPr dirty="0" baseline="38011" sz="2850" spc="112">
                <a:latin typeface="Cambria Math"/>
                <a:cs typeface="Cambria Math"/>
              </a:rPr>
              <a:t>$</a:t>
            </a:r>
            <a:endParaRPr baseline="38011" sz="2850">
              <a:latin typeface="Cambria Math"/>
              <a:cs typeface="Cambria Math"/>
            </a:endParaRPr>
          </a:p>
          <a:p>
            <a:pPr marL="1903095">
              <a:lnSpc>
                <a:spcPts val="1380"/>
              </a:lnSpc>
              <a:tabLst>
                <a:tab pos="2762250" algn="l"/>
              </a:tabLst>
            </a:pPr>
            <a:r>
              <a:rPr dirty="0" sz="1900" spc="50">
                <a:latin typeface="Cambria Math"/>
                <a:cs typeface="Cambria Math"/>
              </a:rPr>
              <a:t>#	</a:t>
            </a:r>
            <a:r>
              <a:rPr dirty="0" sz="1900" spc="-235">
                <a:latin typeface="Cambria Math"/>
                <a:cs typeface="Cambria Math"/>
              </a:rPr>
              <a:t>&amp;</a:t>
            </a:r>
            <a:endParaRPr sz="1900">
              <a:latin typeface="Cambria Math"/>
              <a:cs typeface="Cambria Math"/>
            </a:endParaRPr>
          </a:p>
          <a:p>
            <a:pPr lvl="1" marL="625475" marR="5080" indent="-274320">
              <a:lnSpc>
                <a:spcPts val="3220"/>
              </a:lnSpc>
              <a:spcBef>
                <a:spcPts val="12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5" b="1">
                <a:solidFill>
                  <a:srgbClr val="3792AA"/>
                </a:solidFill>
                <a:latin typeface="Calibri"/>
                <a:cs typeface="Calibri"/>
              </a:rPr>
              <a:t>This approach only applies </a:t>
            </a:r>
            <a:r>
              <a:rPr dirty="0" sz="2600" spc="-15" b="1">
                <a:solidFill>
                  <a:srgbClr val="3792AA"/>
                </a:solidFill>
                <a:latin typeface="Calibri"/>
                <a:cs typeface="Calibri"/>
              </a:rPr>
              <a:t>to </a:t>
            </a:r>
            <a:r>
              <a:rPr dirty="0" sz="2600" spc="-20">
                <a:solidFill>
                  <a:srgbClr val="3792AA"/>
                </a:solidFill>
                <a:latin typeface="Cambria Math"/>
                <a:cs typeface="Cambria Math"/>
              </a:rPr>
              <a:t>𝟏</a:t>
            </a:r>
            <a:r>
              <a:rPr dirty="0" sz="2600" spc="-20" b="1">
                <a:solidFill>
                  <a:srgbClr val="3792AA"/>
                </a:solidFill>
                <a:latin typeface="Calibri"/>
                <a:cs typeface="Calibri"/>
              </a:rPr>
              <a:t>-way </a:t>
            </a:r>
            <a:r>
              <a:rPr dirty="0" sz="2600" spc="-5" b="1">
                <a:solidFill>
                  <a:srgbClr val="3792AA"/>
                </a:solidFill>
                <a:latin typeface="Calibri"/>
                <a:cs typeface="Calibri"/>
              </a:rPr>
              <a:t>prediction </a:t>
            </a:r>
            <a:r>
              <a:rPr dirty="0" sz="2600">
                <a:latin typeface="Calibri"/>
                <a:cs typeface="Calibri"/>
              </a:rPr>
              <a:t>(e.g.,  </a:t>
            </a:r>
            <a:r>
              <a:rPr dirty="0" sz="2600" spc="-5">
                <a:latin typeface="Calibri"/>
                <a:cs typeface="Calibri"/>
              </a:rPr>
              <a:t>link prediction: </a:t>
            </a:r>
            <a:r>
              <a:rPr dirty="0" sz="2600" spc="-10">
                <a:latin typeface="Calibri"/>
                <a:cs typeface="Calibri"/>
              </a:rPr>
              <a:t>predict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5">
                <a:latin typeface="Calibri"/>
                <a:cs typeface="Calibri"/>
              </a:rPr>
              <a:t>existence </a:t>
            </a:r>
            <a:r>
              <a:rPr dirty="0" sz="2600">
                <a:latin typeface="Calibri"/>
                <a:cs typeface="Calibri"/>
              </a:rPr>
              <a:t>of an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edge)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45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5" b="1">
                <a:latin typeface="Calibri"/>
                <a:cs typeface="Calibri"/>
              </a:rPr>
              <a:t>Applying </a:t>
            </a:r>
            <a:r>
              <a:rPr dirty="0" sz="2600" spc="-15" b="1">
                <a:latin typeface="Calibri"/>
                <a:cs typeface="Calibri"/>
              </a:rPr>
              <a:t>to </a:t>
            </a:r>
            <a:r>
              <a:rPr dirty="0" sz="2600" spc="-20">
                <a:latin typeface="Cambria Math"/>
                <a:cs typeface="Cambria Math"/>
              </a:rPr>
              <a:t>𝒌</a:t>
            </a:r>
            <a:r>
              <a:rPr dirty="0" sz="2600" spc="-20" b="1">
                <a:latin typeface="Calibri"/>
                <a:cs typeface="Calibri"/>
              </a:rPr>
              <a:t>-way </a:t>
            </a:r>
            <a:r>
              <a:rPr dirty="0" sz="2600" spc="-5" b="1">
                <a:latin typeface="Calibri"/>
                <a:cs typeface="Calibri"/>
              </a:rPr>
              <a:t>prediction:</a:t>
            </a:r>
            <a:endParaRPr sz="26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66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 spc="-5">
                <a:latin typeface="Calibri"/>
                <a:cs typeface="Calibri"/>
              </a:rPr>
              <a:t>Similar </a:t>
            </a:r>
            <a:r>
              <a:rPr dirty="0" sz="2200" spc="-15">
                <a:latin typeface="Calibri"/>
                <a:cs typeface="Calibri"/>
              </a:rPr>
              <a:t>to </a:t>
            </a:r>
            <a:r>
              <a:rPr dirty="0" sz="2200" spc="-5" b="1">
                <a:solidFill>
                  <a:srgbClr val="3792AA"/>
                </a:solidFill>
                <a:latin typeface="Calibri"/>
                <a:cs typeface="Calibri"/>
              </a:rPr>
              <a:t>multi-head </a:t>
            </a:r>
            <a:r>
              <a:rPr dirty="0" sz="2200" spc="-15" b="1">
                <a:solidFill>
                  <a:srgbClr val="3792AA"/>
                </a:solidFill>
                <a:latin typeface="Calibri"/>
                <a:cs typeface="Calibri"/>
              </a:rPr>
              <a:t>attention</a:t>
            </a:r>
            <a:r>
              <a:rPr dirty="0" sz="2200" spc="-15">
                <a:latin typeface="Calibri"/>
                <a:cs typeface="Calibri"/>
              </a:rPr>
              <a:t>: </a:t>
            </a:r>
            <a:r>
              <a:rPr dirty="0" sz="2200" spc="5">
                <a:latin typeface="Cambria Math"/>
                <a:cs typeface="Cambria Math"/>
              </a:rPr>
              <a:t>𝐖</a:t>
            </a:r>
            <a:r>
              <a:rPr dirty="0" baseline="27777" sz="2400" spc="7">
                <a:latin typeface="Cambria Math"/>
                <a:cs typeface="Cambria Math"/>
              </a:rPr>
              <a:t>(#)</a:t>
            </a:r>
            <a:r>
              <a:rPr dirty="0" sz="2200" spc="5">
                <a:latin typeface="Cambria Math"/>
                <a:cs typeface="Cambria Math"/>
              </a:rPr>
              <a:t>, </a:t>
            </a:r>
            <a:r>
              <a:rPr dirty="0" sz="2200">
                <a:latin typeface="Cambria Math"/>
                <a:cs typeface="Cambria Math"/>
              </a:rPr>
              <a:t>… ,</a:t>
            </a:r>
            <a:r>
              <a:rPr dirty="0" sz="2200" spc="-160">
                <a:latin typeface="Cambria Math"/>
                <a:cs typeface="Cambria Math"/>
              </a:rPr>
              <a:t> </a:t>
            </a:r>
            <a:r>
              <a:rPr dirty="0" sz="2200" spc="-85">
                <a:latin typeface="Cambria Math"/>
                <a:cs typeface="Cambria Math"/>
              </a:rPr>
              <a:t>𝐖</a:t>
            </a:r>
            <a:r>
              <a:rPr dirty="0" baseline="27777" sz="2400" spc="-127">
                <a:latin typeface="Cambria Math"/>
                <a:cs typeface="Cambria Math"/>
              </a:rPr>
              <a:t>(%) </a:t>
            </a:r>
            <a:r>
              <a:rPr dirty="0" sz="2200" spc="-15">
                <a:latin typeface="Calibri"/>
                <a:cs typeface="Calibri"/>
              </a:rPr>
              <a:t>trainable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43746" y="4815152"/>
            <a:ext cx="250190" cy="188595"/>
          </a:xfrm>
          <a:custGeom>
            <a:avLst/>
            <a:gdLst/>
            <a:ahLst/>
            <a:cxnLst/>
            <a:rect l="l" t="t" r="r" b="b"/>
            <a:pathLst>
              <a:path w="250189" h="188595">
                <a:moveTo>
                  <a:pt x="189821" y="0"/>
                </a:moveTo>
                <a:lnTo>
                  <a:pt x="187143" y="7640"/>
                </a:lnTo>
                <a:lnTo>
                  <a:pt x="198038" y="12368"/>
                </a:lnTo>
                <a:lnTo>
                  <a:pt x="207407" y="18913"/>
                </a:lnTo>
                <a:lnTo>
                  <a:pt x="229906" y="62470"/>
                </a:lnTo>
                <a:lnTo>
                  <a:pt x="232684" y="93167"/>
                </a:lnTo>
                <a:lnTo>
                  <a:pt x="231986" y="109767"/>
                </a:lnTo>
                <a:lnTo>
                  <a:pt x="221522" y="150416"/>
                </a:lnTo>
                <a:lnTo>
                  <a:pt x="187440" y="180578"/>
                </a:lnTo>
                <a:lnTo>
                  <a:pt x="189821" y="188217"/>
                </a:lnTo>
                <a:lnTo>
                  <a:pt x="225782" y="166852"/>
                </a:lnTo>
                <a:lnTo>
                  <a:pt x="245979" y="127409"/>
                </a:lnTo>
                <a:lnTo>
                  <a:pt x="249849" y="94159"/>
                </a:lnTo>
                <a:lnTo>
                  <a:pt x="248879" y="76904"/>
                </a:lnTo>
                <a:lnTo>
                  <a:pt x="234321" y="32990"/>
                </a:lnTo>
                <a:lnTo>
                  <a:pt x="203467" y="4927"/>
                </a:lnTo>
                <a:lnTo>
                  <a:pt x="189821" y="0"/>
                </a:lnTo>
                <a:close/>
              </a:path>
              <a:path w="250189" h="188595">
                <a:moveTo>
                  <a:pt x="60027" y="0"/>
                </a:moveTo>
                <a:lnTo>
                  <a:pt x="24132" y="21422"/>
                </a:lnTo>
                <a:lnTo>
                  <a:pt x="3882" y="60957"/>
                </a:lnTo>
                <a:lnTo>
                  <a:pt x="0" y="94159"/>
                </a:lnTo>
                <a:lnTo>
                  <a:pt x="967" y="111450"/>
                </a:lnTo>
                <a:lnTo>
                  <a:pt x="15478" y="155327"/>
                </a:lnTo>
                <a:lnTo>
                  <a:pt x="46342" y="183297"/>
                </a:lnTo>
                <a:lnTo>
                  <a:pt x="60027" y="188217"/>
                </a:lnTo>
                <a:lnTo>
                  <a:pt x="62409" y="180578"/>
                </a:lnTo>
                <a:lnTo>
                  <a:pt x="51684" y="175828"/>
                </a:lnTo>
                <a:lnTo>
                  <a:pt x="42428" y="169217"/>
                </a:lnTo>
                <a:lnTo>
                  <a:pt x="19955" y="124842"/>
                </a:lnTo>
                <a:lnTo>
                  <a:pt x="17165" y="93167"/>
                </a:lnTo>
                <a:lnTo>
                  <a:pt x="17863" y="77108"/>
                </a:lnTo>
                <a:lnTo>
                  <a:pt x="28327" y="37454"/>
                </a:lnTo>
                <a:lnTo>
                  <a:pt x="62706" y="7640"/>
                </a:lnTo>
                <a:lnTo>
                  <a:pt x="60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960560" y="4962651"/>
            <a:ext cx="24009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200" algn="l"/>
                <a:tab pos="2272665" algn="l"/>
              </a:tabLst>
            </a:pPr>
            <a:r>
              <a:rPr dirty="0" sz="1600">
                <a:solidFill>
                  <a:srgbClr val="C64847"/>
                </a:solidFill>
                <a:latin typeface="Cambria Math"/>
                <a:cs typeface="Cambria Math"/>
              </a:rPr>
              <a:t>𝒖𝒗	</a:t>
            </a:r>
            <a:r>
              <a:rPr dirty="0" sz="1600" spc="375">
                <a:latin typeface="Cambria Math"/>
                <a:cs typeface="Cambria Math"/>
              </a:rPr>
              <a:t>)</a:t>
            </a:r>
            <a:r>
              <a:rPr dirty="0" sz="1600" spc="375">
                <a:latin typeface="Cambria Math"/>
                <a:cs typeface="Cambria Math"/>
              </a:rPr>
              <a:t>	</a:t>
            </a:r>
            <a:r>
              <a:rPr dirty="0" sz="1600" spc="575">
                <a:latin typeface="Cambria Math"/>
                <a:cs typeface="Cambria Math"/>
              </a:rPr>
              <a:t>,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51528" y="4815152"/>
            <a:ext cx="250190" cy="188595"/>
          </a:xfrm>
          <a:custGeom>
            <a:avLst/>
            <a:gdLst/>
            <a:ahLst/>
            <a:cxnLst/>
            <a:rect l="l" t="t" r="r" b="b"/>
            <a:pathLst>
              <a:path w="250189" h="188595">
                <a:moveTo>
                  <a:pt x="189821" y="0"/>
                </a:moveTo>
                <a:lnTo>
                  <a:pt x="187143" y="7640"/>
                </a:lnTo>
                <a:lnTo>
                  <a:pt x="198038" y="12368"/>
                </a:lnTo>
                <a:lnTo>
                  <a:pt x="207407" y="18913"/>
                </a:lnTo>
                <a:lnTo>
                  <a:pt x="229906" y="62470"/>
                </a:lnTo>
                <a:lnTo>
                  <a:pt x="232684" y="93167"/>
                </a:lnTo>
                <a:lnTo>
                  <a:pt x="231986" y="109767"/>
                </a:lnTo>
                <a:lnTo>
                  <a:pt x="221522" y="150416"/>
                </a:lnTo>
                <a:lnTo>
                  <a:pt x="187440" y="180578"/>
                </a:lnTo>
                <a:lnTo>
                  <a:pt x="189821" y="188217"/>
                </a:lnTo>
                <a:lnTo>
                  <a:pt x="225782" y="166852"/>
                </a:lnTo>
                <a:lnTo>
                  <a:pt x="245979" y="127409"/>
                </a:lnTo>
                <a:lnTo>
                  <a:pt x="249849" y="94159"/>
                </a:lnTo>
                <a:lnTo>
                  <a:pt x="248879" y="76904"/>
                </a:lnTo>
                <a:lnTo>
                  <a:pt x="234321" y="32990"/>
                </a:lnTo>
                <a:lnTo>
                  <a:pt x="203467" y="4927"/>
                </a:lnTo>
                <a:lnTo>
                  <a:pt x="189821" y="0"/>
                </a:lnTo>
                <a:close/>
              </a:path>
              <a:path w="250189" h="188595">
                <a:moveTo>
                  <a:pt x="60027" y="0"/>
                </a:moveTo>
                <a:lnTo>
                  <a:pt x="24132" y="21422"/>
                </a:lnTo>
                <a:lnTo>
                  <a:pt x="3882" y="60957"/>
                </a:lnTo>
                <a:lnTo>
                  <a:pt x="0" y="94159"/>
                </a:lnTo>
                <a:lnTo>
                  <a:pt x="967" y="111450"/>
                </a:lnTo>
                <a:lnTo>
                  <a:pt x="15478" y="155327"/>
                </a:lnTo>
                <a:lnTo>
                  <a:pt x="46341" y="183297"/>
                </a:lnTo>
                <a:lnTo>
                  <a:pt x="60027" y="188217"/>
                </a:lnTo>
                <a:lnTo>
                  <a:pt x="62409" y="180578"/>
                </a:lnTo>
                <a:lnTo>
                  <a:pt x="51684" y="175828"/>
                </a:lnTo>
                <a:lnTo>
                  <a:pt x="42428" y="169217"/>
                </a:lnTo>
                <a:lnTo>
                  <a:pt x="19955" y="124842"/>
                </a:lnTo>
                <a:lnTo>
                  <a:pt x="17165" y="93167"/>
                </a:lnTo>
                <a:lnTo>
                  <a:pt x="17863" y="77108"/>
                </a:lnTo>
                <a:lnTo>
                  <a:pt x="28327" y="37454"/>
                </a:lnTo>
                <a:lnTo>
                  <a:pt x="62706" y="7640"/>
                </a:lnTo>
                <a:lnTo>
                  <a:pt x="60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793873" y="4816347"/>
            <a:ext cx="26485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335">
                <a:solidFill>
                  <a:srgbClr val="C64847"/>
                </a:solidFill>
                <a:latin typeface="Cambria Math"/>
                <a:cs typeface="Cambria Math"/>
              </a:rPr>
              <a:t>𝒚</a:t>
            </a:r>
            <a:r>
              <a:rPr dirty="0" baseline="1262" sz="3300" spc="-502">
                <a:solidFill>
                  <a:srgbClr val="C64847"/>
                </a:solidFill>
                <a:latin typeface="Cambria Math"/>
                <a:cs typeface="Cambria Math"/>
              </a:rPr>
              <a:t>+</a:t>
            </a:r>
            <a:r>
              <a:rPr dirty="0" baseline="41666" sz="2400" spc="-502">
                <a:solidFill>
                  <a:srgbClr val="C64847"/>
                </a:solidFill>
                <a:latin typeface="Cambria Math"/>
                <a:cs typeface="Cambria Math"/>
              </a:rPr>
              <a:t>(𝟏)                             </a:t>
            </a:r>
            <a:r>
              <a:rPr dirty="0" sz="2200">
                <a:latin typeface="Cambria Math"/>
                <a:cs typeface="Cambria Math"/>
              </a:rPr>
              <a:t>= </a:t>
            </a:r>
            <a:r>
              <a:rPr dirty="0" sz="2200" spc="-5">
                <a:latin typeface="Cambria Math"/>
                <a:cs typeface="Cambria Math"/>
              </a:rPr>
              <a:t>(𝐡  </a:t>
            </a:r>
            <a:r>
              <a:rPr dirty="0" baseline="38194" sz="2400" spc="277">
                <a:latin typeface="Cambria Math"/>
                <a:cs typeface="Cambria Math"/>
              </a:rPr>
              <a:t>* </a:t>
            </a:r>
            <a:r>
              <a:rPr dirty="0" sz="2200" spc="-10">
                <a:latin typeface="Cambria Math"/>
                <a:cs typeface="Cambria Math"/>
              </a:rPr>
              <a:t>)</a:t>
            </a:r>
            <a:r>
              <a:rPr dirty="0" baseline="27777" sz="2400" spc="-15">
                <a:latin typeface="Cambria Math"/>
                <a:cs typeface="Cambria Math"/>
              </a:rPr>
              <a:t>+</a:t>
            </a:r>
            <a:r>
              <a:rPr dirty="0" sz="2200" spc="-10">
                <a:solidFill>
                  <a:srgbClr val="C00000"/>
                </a:solidFill>
                <a:latin typeface="Cambria Math"/>
                <a:cs typeface="Cambria Math"/>
              </a:rPr>
              <a:t>𝐖</a:t>
            </a:r>
            <a:r>
              <a:rPr dirty="0" baseline="27777" sz="2400" spc="-15">
                <a:solidFill>
                  <a:srgbClr val="C00000"/>
                </a:solidFill>
                <a:latin typeface="Cambria Math"/>
                <a:cs typeface="Cambria Math"/>
              </a:rPr>
              <a:t>(#)</a:t>
            </a:r>
            <a:r>
              <a:rPr dirty="0" sz="2200" spc="-10">
                <a:latin typeface="Cambria Math"/>
                <a:cs typeface="Cambria Math"/>
              </a:rPr>
              <a:t>𝐡</a:t>
            </a:r>
            <a:r>
              <a:rPr dirty="0" sz="2200" spc="10">
                <a:latin typeface="Cambria Math"/>
                <a:cs typeface="Cambria Math"/>
              </a:rPr>
              <a:t> </a:t>
            </a:r>
            <a:r>
              <a:rPr dirty="0" baseline="38194" sz="2400" spc="277">
                <a:latin typeface="Cambria Math"/>
                <a:cs typeface="Cambria Math"/>
              </a:rPr>
              <a:t>*</a:t>
            </a:r>
            <a:endParaRPr baseline="38194"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39174" y="5551752"/>
            <a:ext cx="250190" cy="188595"/>
          </a:xfrm>
          <a:custGeom>
            <a:avLst/>
            <a:gdLst/>
            <a:ahLst/>
            <a:cxnLst/>
            <a:rect l="l" t="t" r="r" b="b"/>
            <a:pathLst>
              <a:path w="250189" h="188595">
                <a:moveTo>
                  <a:pt x="189821" y="0"/>
                </a:moveTo>
                <a:lnTo>
                  <a:pt x="187143" y="7640"/>
                </a:lnTo>
                <a:lnTo>
                  <a:pt x="198038" y="12368"/>
                </a:lnTo>
                <a:lnTo>
                  <a:pt x="207408" y="18913"/>
                </a:lnTo>
                <a:lnTo>
                  <a:pt x="229906" y="62470"/>
                </a:lnTo>
                <a:lnTo>
                  <a:pt x="232684" y="93166"/>
                </a:lnTo>
                <a:lnTo>
                  <a:pt x="231986" y="109767"/>
                </a:lnTo>
                <a:lnTo>
                  <a:pt x="221522" y="150415"/>
                </a:lnTo>
                <a:lnTo>
                  <a:pt x="187440" y="180578"/>
                </a:lnTo>
                <a:lnTo>
                  <a:pt x="189821" y="188218"/>
                </a:lnTo>
                <a:lnTo>
                  <a:pt x="225782" y="166852"/>
                </a:lnTo>
                <a:lnTo>
                  <a:pt x="245979" y="127409"/>
                </a:lnTo>
                <a:lnTo>
                  <a:pt x="249849" y="94158"/>
                </a:lnTo>
                <a:lnTo>
                  <a:pt x="248879" y="76904"/>
                </a:lnTo>
                <a:lnTo>
                  <a:pt x="234321" y="32990"/>
                </a:lnTo>
                <a:lnTo>
                  <a:pt x="203467" y="4927"/>
                </a:lnTo>
                <a:lnTo>
                  <a:pt x="189821" y="0"/>
                </a:lnTo>
                <a:close/>
              </a:path>
              <a:path w="250189" h="188595">
                <a:moveTo>
                  <a:pt x="60027" y="0"/>
                </a:moveTo>
                <a:lnTo>
                  <a:pt x="24132" y="21422"/>
                </a:lnTo>
                <a:lnTo>
                  <a:pt x="3882" y="60957"/>
                </a:lnTo>
                <a:lnTo>
                  <a:pt x="0" y="94158"/>
                </a:lnTo>
                <a:lnTo>
                  <a:pt x="967" y="111450"/>
                </a:lnTo>
                <a:lnTo>
                  <a:pt x="15478" y="155327"/>
                </a:lnTo>
                <a:lnTo>
                  <a:pt x="46341" y="183297"/>
                </a:lnTo>
                <a:lnTo>
                  <a:pt x="60027" y="188218"/>
                </a:lnTo>
                <a:lnTo>
                  <a:pt x="62409" y="180578"/>
                </a:lnTo>
                <a:lnTo>
                  <a:pt x="51684" y="175828"/>
                </a:lnTo>
                <a:lnTo>
                  <a:pt x="42428" y="169217"/>
                </a:lnTo>
                <a:lnTo>
                  <a:pt x="19955" y="124842"/>
                </a:lnTo>
                <a:lnTo>
                  <a:pt x="17165" y="93166"/>
                </a:lnTo>
                <a:lnTo>
                  <a:pt x="17863" y="77108"/>
                </a:lnTo>
                <a:lnTo>
                  <a:pt x="28327" y="37455"/>
                </a:lnTo>
                <a:lnTo>
                  <a:pt x="62706" y="7640"/>
                </a:lnTo>
                <a:lnTo>
                  <a:pt x="60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59275" y="5551752"/>
            <a:ext cx="250190" cy="188595"/>
          </a:xfrm>
          <a:custGeom>
            <a:avLst/>
            <a:gdLst/>
            <a:ahLst/>
            <a:cxnLst/>
            <a:rect l="l" t="t" r="r" b="b"/>
            <a:pathLst>
              <a:path w="250189" h="188595">
                <a:moveTo>
                  <a:pt x="189821" y="0"/>
                </a:moveTo>
                <a:lnTo>
                  <a:pt x="187142" y="7640"/>
                </a:lnTo>
                <a:lnTo>
                  <a:pt x="198037" y="12368"/>
                </a:lnTo>
                <a:lnTo>
                  <a:pt x="207408" y="18913"/>
                </a:lnTo>
                <a:lnTo>
                  <a:pt x="229906" y="62470"/>
                </a:lnTo>
                <a:lnTo>
                  <a:pt x="232684" y="93166"/>
                </a:lnTo>
                <a:lnTo>
                  <a:pt x="231986" y="109767"/>
                </a:lnTo>
                <a:lnTo>
                  <a:pt x="221522" y="150415"/>
                </a:lnTo>
                <a:lnTo>
                  <a:pt x="187440" y="180578"/>
                </a:lnTo>
                <a:lnTo>
                  <a:pt x="189821" y="188218"/>
                </a:lnTo>
                <a:lnTo>
                  <a:pt x="225782" y="166852"/>
                </a:lnTo>
                <a:lnTo>
                  <a:pt x="245979" y="127409"/>
                </a:lnTo>
                <a:lnTo>
                  <a:pt x="249848" y="94158"/>
                </a:lnTo>
                <a:lnTo>
                  <a:pt x="248877" y="76904"/>
                </a:lnTo>
                <a:lnTo>
                  <a:pt x="234321" y="32990"/>
                </a:lnTo>
                <a:lnTo>
                  <a:pt x="203467" y="4927"/>
                </a:lnTo>
                <a:lnTo>
                  <a:pt x="189821" y="0"/>
                </a:lnTo>
                <a:close/>
              </a:path>
              <a:path w="250189" h="188595">
                <a:moveTo>
                  <a:pt x="60027" y="0"/>
                </a:moveTo>
                <a:lnTo>
                  <a:pt x="24132" y="21422"/>
                </a:lnTo>
                <a:lnTo>
                  <a:pt x="3882" y="60957"/>
                </a:lnTo>
                <a:lnTo>
                  <a:pt x="0" y="94158"/>
                </a:lnTo>
                <a:lnTo>
                  <a:pt x="967" y="111450"/>
                </a:lnTo>
                <a:lnTo>
                  <a:pt x="15478" y="155327"/>
                </a:lnTo>
                <a:lnTo>
                  <a:pt x="46341" y="183297"/>
                </a:lnTo>
                <a:lnTo>
                  <a:pt x="60027" y="188218"/>
                </a:lnTo>
                <a:lnTo>
                  <a:pt x="62409" y="180578"/>
                </a:lnTo>
                <a:lnTo>
                  <a:pt x="51683" y="175828"/>
                </a:lnTo>
                <a:lnTo>
                  <a:pt x="42428" y="169217"/>
                </a:lnTo>
                <a:lnTo>
                  <a:pt x="19955" y="124842"/>
                </a:lnTo>
                <a:lnTo>
                  <a:pt x="17165" y="93166"/>
                </a:lnTo>
                <a:lnTo>
                  <a:pt x="17862" y="77108"/>
                </a:lnTo>
                <a:lnTo>
                  <a:pt x="28327" y="37455"/>
                </a:lnTo>
                <a:lnTo>
                  <a:pt x="62706" y="7640"/>
                </a:lnTo>
                <a:lnTo>
                  <a:pt x="60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786126" y="5075428"/>
            <a:ext cx="2663825" cy="89408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ctr" marL="101600">
              <a:lnSpc>
                <a:spcPct val="100000"/>
              </a:lnSpc>
              <a:spcBef>
                <a:spcPts val="650"/>
              </a:spcBef>
            </a:pPr>
            <a:r>
              <a:rPr dirty="0" sz="2200">
                <a:latin typeface="Cambria Math"/>
                <a:cs typeface="Cambria Math"/>
              </a:rPr>
              <a:t>…</a:t>
            </a:r>
            <a:endParaRPr sz="2200">
              <a:latin typeface="Cambria Math"/>
              <a:cs typeface="Cambria Math"/>
            </a:endParaRPr>
          </a:p>
          <a:p>
            <a:pPr algn="ctr">
              <a:lnSpc>
                <a:spcPts val="1910"/>
              </a:lnSpc>
              <a:spcBef>
                <a:spcPts val="550"/>
              </a:spcBef>
            </a:pPr>
            <a:r>
              <a:rPr dirty="0" sz="2200" spc="-335">
                <a:solidFill>
                  <a:srgbClr val="C64847"/>
                </a:solidFill>
                <a:latin typeface="Cambria Math"/>
                <a:cs typeface="Cambria Math"/>
              </a:rPr>
              <a:t>𝒚+</a:t>
            </a:r>
            <a:r>
              <a:rPr dirty="0" baseline="41666" sz="2400" spc="-502">
                <a:solidFill>
                  <a:srgbClr val="C64847"/>
                </a:solidFill>
                <a:latin typeface="Cambria Math"/>
                <a:cs typeface="Cambria Math"/>
              </a:rPr>
              <a:t>(𝒌)                             </a:t>
            </a:r>
            <a:r>
              <a:rPr dirty="0" sz="2200">
                <a:latin typeface="Cambria Math"/>
                <a:cs typeface="Cambria Math"/>
              </a:rPr>
              <a:t>= </a:t>
            </a:r>
            <a:r>
              <a:rPr dirty="0" sz="2200" spc="-5">
                <a:latin typeface="Cambria Math"/>
                <a:cs typeface="Cambria Math"/>
              </a:rPr>
              <a:t>(𝐡  </a:t>
            </a:r>
            <a:r>
              <a:rPr dirty="0" baseline="38194" sz="2400" spc="277">
                <a:latin typeface="Cambria Math"/>
                <a:cs typeface="Cambria Math"/>
              </a:rPr>
              <a:t>* </a:t>
            </a:r>
            <a:r>
              <a:rPr dirty="0" sz="2200" spc="-60">
                <a:latin typeface="Cambria Math"/>
                <a:cs typeface="Cambria Math"/>
              </a:rPr>
              <a:t>)</a:t>
            </a:r>
            <a:r>
              <a:rPr dirty="0" baseline="27777" sz="2400" spc="-89">
                <a:latin typeface="Cambria Math"/>
                <a:cs typeface="Cambria Math"/>
              </a:rPr>
              <a:t>+</a:t>
            </a:r>
            <a:r>
              <a:rPr dirty="0" sz="2200" spc="-60">
                <a:solidFill>
                  <a:srgbClr val="C00000"/>
                </a:solidFill>
                <a:latin typeface="Cambria Math"/>
                <a:cs typeface="Cambria Math"/>
              </a:rPr>
              <a:t>𝐖</a:t>
            </a:r>
            <a:r>
              <a:rPr dirty="0" baseline="27777" sz="2400" spc="-89">
                <a:solidFill>
                  <a:srgbClr val="C00000"/>
                </a:solidFill>
                <a:latin typeface="Cambria Math"/>
                <a:cs typeface="Cambria Math"/>
              </a:rPr>
              <a:t>(%)</a:t>
            </a:r>
            <a:r>
              <a:rPr dirty="0" sz="2200" spc="-60">
                <a:latin typeface="Cambria Math"/>
                <a:cs typeface="Cambria Math"/>
              </a:rPr>
              <a:t>𝐡</a:t>
            </a:r>
            <a:r>
              <a:rPr dirty="0" sz="2200" spc="25">
                <a:latin typeface="Cambria Math"/>
                <a:cs typeface="Cambria Math"/>
              </a:rPr>
              <a:t> </a:t>
            </a:r>
            <a:r>
              <a:rPr dirty="0" baseline="38194" sz="2400" spc="277">
                <a:latin typeface="Cambria Math"/>
                <a:cs typeface="Cambria Math"/>
              </a:rPr>
              <a:t>*</a:t>
            </a:r>
            <a:endParaRPr baseline="38194" sz="2400">
              <a:latin typeface="Cambria Math"/>
              <a:cs typeface="Cambria Math"/>
            </a:endParaRPr>
          </a:p>
          <a:p>
            <a:pPr algn="ctr" marL="85725">
              <a:lnSpc>
                <a:spcPts val="1190"/>
              </a:lnSpc>
              <a:tabLst>
                <a:tab pos="1041400" algn="l"/>
                <a:tab pos="2361565" algn="l"/>
              </a:tabLst>
            </a:pPr>
            <a:r>
              <a:rPr dirty="0" sz="1600">
                <a:solidFill>
                  <a:srgbClr val="C64847"/>
                </a:solidFill>
                <a:latin typeface="Cambria Math"/>
                <a:cs typeface="Cambria Math"/>
              </a:rPr>
              <a:t>𝒖𝒗	</a:t>
            </a:r>
            <a:r>
              <a:rPr dirty="0" baseline="1736" sz="2400" spc="562">
                <a:latin typeface="Cambria Math"/>
                <a:cs typeface="Cambria Math"/>
              </a:rPr>
              <a:t>)	</a:t>
            </a:r>
            <a:r>
              <a:rPr dirty="0" baseline="1736" sz="2400" spc="862">
                <a:latin typeface="Cambria Math"/>
                <a:cs typeface="Cambria Math"/>
              </a:rPr>
              <a:t>,</a:t>
            </a:r>
            <a:endParaRPr baseline="1736"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2328164" y="6047740"/>
            <a:ext cx="3918585" cy="415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895"/>
              </a:lnSpc>
              <a:spcBef>
                <a:spcPts val="100"/>
              </a:spcBef>
            </a:pPr>
            <a:r>
              <a:rPr dirty="0" sz="2200" spc="-180">
                <a:latin typeface="Cambria Math"/>
                <a:cs typeface="Cambria Math"/>
              </a:rPr>
              <a:t>𝒚+</a:t>
            </a:r>
            <a:r>
              <a:rPr dirty="0" baseline="-15625" sz="2400" spc="-270">
                <a:latin typeface="Cambria Math"/>
                <a:cs typeface="Cambria Math"/>
              </a:rPr>
              <a:t>),   </a:t>
            </a:r>
            <a:r>
              <a:rPr dirty="0" sz="2200">
                <a:latin typeface="Cambria Math"/>
                <a:cs typeface="Cambria Math"/>
              </a:rPr>
              <a:t>= </a:t>
            </a:r>
            <a:r>
              <a:rPr dirty="0" sz="2200" spc="-125">
                <a:latin typeface="Cambria Math"/>
                <a:cs typeface="Cambria Math"/>
              </a:rPr>
              <a:t>Concat(</a:t>
            </a:r>
            <a:r>
              <a:rPr dirty="0" sz="2200" spc="-125">
                <a:solidFill>
                  <a:srgbClr val="C64847"/>
                </a:solidFill>
                <a:latin typeface="Cambria Math"/>
                <a:cs typeface="Cambria Math"/>
              </a:rPr>
              <a:t>𝒚+</a:t>
            </a:r>
            <a:r>
              <a:rPr dirty="0" baseline="41666" sz="2400" spc="-187">
                <a:solidFill>
                  <a:srgbClr val="C64847"/>
                </a:solidFill>
                <a:latin typeface="Cambria Math"/>
                <a:cs typeface="Cambria Math"/>
              </a:rPr>
              <a:t>(𝟏)</a:t>
            </a:r>
            <a:r>
              <a:rPr dirty="0" sz="2200" spc="-125">
                <a:latin typeface="Cambria Math"/>
                <a:cs typeface="Cambria Math"/>
              </a:rPr>
              <a:t>, </a:t>
            </a:r>
            <a:r>
              <a:rPr dirty="0" sz="2200">
                <a:latin typeface="Cambria Math"/>
                <a:cs typeface="Cambria Math"/>
              </a:rPr>
              <a:t>… , </a:t>
            </a:r>
            <a:r>
              <a:rPr dirty="0" sz="2200" spc="-270">
                <a:solidFill>
                  <a:srgbClr val="C64847"/>
                </a:solidFill>
                <a:latin typeface="Cambria Math"/>
                <a:cs typeface="Cambria Math"/>
              </a:rPr>
              <a:t>𝒚+</a:t>
            </a:r>
            <a:r>
              <a:rPr dirty="0" baseline="41666" sz="2400" spc="-405">
                <a:solidFill>
                  <a:srgbClr val="C64847"/>
                </a:solidFill>
                <a:latin typeface="Cambria Math"/>
                <a:cs typeface="Cambria Math"/>
              </a:rPr>
              <a:t>(𝒌)</a:t>
            </a:r>
            <a:r>
              <a:rPr dirty="0" sz="2200" spc="-270">
                <a:latin typeface="Cambria Math"/>
                <a:cs typeface="Cambria Math"/>
              </a:rPr>
              <a:t>)  </a:t>
            </a:r>
            <a:r>
              <a:rPr dirty="0" sz="2200">
                <a:solidFill>
                  <a:srgbClr val="3792AA"/>
                </a:solidFill>
                <a:latin typeface="Cambria Math"/>
                <a:cs typeface="Cambria Math"/>
              </a:rPr>
              <a:t>∈</a:t>
            </a:r>
            <a:r>
              <a:rPr dirty="0" sz="2200" spc="90">
                <a:solidFill>
                  <a:srgbClr val="3792AA"/>
                </a:solidFill>
                <a:latin typeface="Cambria Math"/>
                <a:cs typeface="Cambria Math"/>
              </a:rPr>
              <a:t> </a:t>
            </a:r>
            <a:r>
              <a:rPr dirty="0" sz="2200" spc="-235">
                <a:solidFill>
                  <a:srgbClr val="3792AA"/>
                </a:solidFill>
                <a:latin typeface="Cambria Math"/>
                <a:cs typeface="Cambria Math"/>
              </a:rPr>
              <a:t>ℝ</a:t>
            </a:r>
            <a:r>
              <a:rPr dirty="0" baseline="27777" sz="2400" spc="-352">
                <a:solidFill>
                  <a:srgbClr val="3792AA"/>
                </a:solidFill>
                <a:latin typeface="Cambria Math"/>
                <a:cs typeface="Cambria Math"/>
              </a:rPr>
              <a:t>%</a:t>
            </a:r>
            <a:endParaRPr baseline="27777" sz="2400">
              <a:latin typeface="Cambria Math"/>
              <a:cs typeface="Cambria Math"/>
            </a:endParaRPr>
          </a:p>
          <a:p>
            <a:pPr marL="1905000">
              <a:lnSpc>
                <a:spcPts val="1175"/>
              </a:lnSpc>
              <a:tabLst>
                <a:tab pos="2837815" algn="l"/>
              </a:tabLst>
            </a:pPr>
            <a:r>
              <a:rPr dirty="0" sz="1600">
                <a:solidFill>
                  <a:srgbClr val="C64847"/>
                </a:solidFill>
                <a:latin typeface="Cambria Math"/>
                <a:cs typeface="Cambria Math"/>
              </a:rPr>
              <a:t>𝒖𝒗	𝒖𝒗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2572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78140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C00000"/>
                </a:solidFill>
              </a:rPr>
              <a:t>Graph-level </a:t>
            </a:r>
            <a:r>
              <a:rPr dirty="0" spc="-10">
                <a:solidFill>
                  <a:srgbClr val="C00000"/>
                </a:solidFill>
              </a:rPr>
              <a:t>prediction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Make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prediction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using 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all the node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embeddings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 our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Suppose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want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make </a:t>
            </a:r>
            <a:r>
              <a:rPr dirty="0" spc="-5" b="0">
                <a:solidFill>
                  <a:srgbClr val="3792AA"/>
                </a:solidFill>
                <a:latin typeface="Cambria Math"/>
                <a:cs typeface="Cambria Math"/>
              </a:rPr>
              <a:t>𝑘</a:t>
            </a:r>
            <a:r>
              <a:rPr dirty="0" spc="-5" b="0">
                <a:solidFill>
                  <a:srgbClr val="3792AA"/>
                </a:solidFill>
                <a:latin typeface="Calibri"/>
                <a:cs typeface="Calibri"/>
              </a:rPr>
              <a:t>-way</a:t>
            </a:r>
            <a:r>
              <a:rPr dirty="0" spc="100" b="0">
                <a:solidFill>
                  <a:srgbClr val="3792AA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3792AA"/>
                </a:solidFill>
                <a:latin typeface="Calibri"/>
                <a:cs typeface="Calibri"/>
              </a:rPr>
              <a:t>prediction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54003" y="3121151"/>
            <a:ext cx="19113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63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92376" y="29064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4">
                <a:moveTo>
                  <a:pt x="276586" y="0"/>
                </a:moveTo>
                <a:lnTo>
                  <a:pt x="272735" y="10981"/>
                </a:lnTo>
                <a:lnTo>
                  <a:pt x="288397" y="17778"/>
                </a:lnTo>
                <a:lnTo>
                  <a:pt x="301867" y="27187"/>
                </a:lnTo>
                <a:lnTo>
                  <a:pt x="329215" y="70800"/>
                </a:lnTo>
                <a:lnTo>
                  <a:pt x="337202" y="110843"/>
                </a:lnTo>
                <a:lnTo>
                  <a:pt x="338200" y="133926"/>
                </a:lnTo>
                <a:lnTo>
                  <a:pt x="337198" y="157789"/>
                </a:lnTo>
                <a:lnTo>
                  <a:pt x="329175" y="198937"/>
                </a:lnTo>
                <a:lnTo>
                  <a:pt x="301884" y="243249"/>
                </a:lnTo>
                <a:lnTo>
                  <a:pt x="273163" y="259580"/>
                </a:lnTo>
                <a:lnTo>
                  <a:pt x="276586" y="270563"/>
                </a:lnTo>
                <a:lnTo>
                  <a:pt x="313491" y="253251"/>
                </a:lnTo>
                <a:lnTo>
                  <a:pt x="340626" y="223282"/>
                </a:lnTo>
                <a:lnTo>
                  <a:pt x="357313" y="183150"/>
                </a:lnTo>
                <a:lnTo>
                  <a:pt x="362875" y="135352"/>
                </a:lnTo>
                <a:lnTo>
                  <a:pt x="361480" y="110548"/>
                </a:lnTo>
                <a:lnTo>
                  <a:pt x="350320" y="66584"/>
                </a:lnTo>
                <a:lnTo>
                  <a:pt x="328186" y="30793"/>
                </a:lnTo>
                <a:lnTo>
                  <a:pt x="296202" y="7082"/>
                </a:lnTo>
                <a:lnTo>
                  <a:pt x="276586" y="0"/>
                </a:lnTo>
                <a:close/>
              </a:path>
              <a:path w="363220" h="271144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3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8108" y="2909315"/>
            <a:ext cx="69119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1416685" algn="l"/>
                <a:tab pos="4293870" algn="l"/>
              </a:tabLst>
            </a:pPr>
            <a:r>
              <a:rPr dirty="0" sz="3200" spc="-285">
                <a:latin typeface="Cambria Math"/>
                <a:cs typeface="Cambria Math"/>
              </a:rPr>
              <a:t>𝒚</a:t>
            </a:r>
            <a:r>
              <a:rPr dirty="0" sz="3200" spc="-285">
                <a:latin typeface="Cambria Math"/>
                <a:cs typeface="Cambria Math"/>
              </a:rPr>
              <a:t>-</a:t>
            </a:r>
            <a:r>
              <a:rPr dirty="0" baseline="-15700" sz="3450" spc="-427">
                <a:latin typeface="Cambria Math"/>
                <a:cs typeface="Cambria Math"/>
              </a:rPr>
              <a:t>0  </a:t>
            </a:r>
            <a:r>
              <a:rPr dirty="0" baseline="-15700" sz="3450" spc="-187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	</a:t>
            </a:r>
            <a:r>
              <a:rPr dirty="0" sz="3200" spc="60">
                <a:latin typeface="Cambria Math"/>
                <a:cs typeface="Cambria Math"/>
              </a:rPr>
              <a:t>Head</a:t>
            </a:r>
            <a:r>
              <a:rPr dirty="0" baseline="-15700" sz="3450" spc="89">
                <a:latin typeface="Cambria Math"/>
                <a:cs typeface="Cambria Math"/>
              </a:rPr>
              <a:t>-1234</a:t>
            </a:r>
            <a:r>
              <a:rPr dirty="0" sz="3200" spc="60">
                <a:latin typeface="Cambria Math"/>
                <a:cs typeface="Cambria Math"/>
              </a:rPr>
              <a:t>({𝐡</a:t>
            </a:r>
            <a:r>
              <a:rPr dirty="0" sz="3200" spc="275">
                <a:latin typeface="Cambria Math"/>
                <a:cs typeface="Cambria Math"/>
              </a:rPr>
              <a:t> </a:t>
            </a:r>
            <a:r>
              <a:rPr dirty="0" baseline="38647" sz="3450" spc="525">
                <a:latin typeface="Cambria Math"/>
                <a:cs typeface="Cambria Math"/>
              </a:rPr>
              <a:t>"	</a:t>
            </a:r>
            <a:r>
              <a:rPr dirty="0" sz="3200">
                <a:latin typeface="Cambria Math"/>
                <a:cs typeface="Cambria Math"/>
              </a:rPr>
              <a:t>∈ </a:t>
            </a:r>
            <a:r>
              <a:rPr dirty="0" sz="3200" spc="60">
                <a:latin typeface="Cambria Math"/>
                <a:cs typeface="Cambria Math"/>
              </a:rPr>
              <a:t>ℝ</a:t>
            </a:r>
            <a:r>
              <a:rPr dirty="0" baseline="27777" sz="3450" spc="89">
                <a:latin typeface="Cambria Math"/>
                <a:cs typeface="Cambria Math"/>
              </a:rPr>
              <a:t>#</a:t>
            </a:r>
            <a:r>
              <a:rPr dirty="0" sz="3200" spc="60">
                <a:latin typeface="Cambria Math"/>
                <a:cs typeface="Cambria Math"/>
              </a:rPr>
              <a:t>, </a:t>
            </a:r>
            <a:r>
              <a:rPr dirty="0" sz="3200">
                <a:latin typeface="Cambria Math"/>
                <a:cs typeface="Cambria Math"/>
              </a:rPr>
              <a:t>∀𝑣  ∈</a:t>
            </a:r>
            <a:r>
              <a:rPr dirty="0" sz="3200" spc="-360">
                <a:latin typeface="Cambria Math"/>
                <a:cs typeface="Cambria Math"/>
              </a:rPr>
              <a:t> </a:t>
            </a:r>
            <a:r>
              <a:rPr dirty="0" sz="3200" spc="35">
                <a:latin typeface="Cambria Math"/>
                <a:cs typeface="Cambria Math"/>
              </a:rPr>
              <a:t>𝐺})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95291" y="3721527"/>
            <a:ext cx="1714277" cy="15242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64348" y="5084728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64347" y="5084728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53085" y="484690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5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53086" y="484690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5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41580" y="408490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5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41581" y="408490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5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66280" y="364588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166280" y="364588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467363" y="4134625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467364" y="413462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13318" y="460911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613317" y="460911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930188" y="4386767"/>
            <a:ext cx="1062990" cy="85725"/>
          </a:xfrm>
          <a:custGeom>
            <a:avLst/>
            <a:gdLst/>
            <a:ahLst/>
            <a:cxnLst/>
            <a:rect l="l" t="t" r="r" b="b"/>
            <a:pathLst>
              <a:path w="1062989" h="85725">
                <a:moveTo>
                  <a:pt x="22207" y="28573"/>
                </a:moveTo>
                <a:lnTo>
                  <a:pt x="6396" y="28573"/>
                </a:lnTo>
                <a:lnTo>
                  <a:pt x="0" y="34970"/>
                </a:lnTo>
                <a:lnTo>
                  <a:pt x="0" y="50753"/>
                </a:lnTo>
                <a:lnTo>
                  <a:pt x="6396" y="57148"/>
                </a:lnTo>
                <a:lnTo>
                  <a:pt x="22207" y="57148"/>
                </a:lnTo>
                <a:lnTo>
                  <a:pt x="28602" y="50753"/>
                </a:lnTo>
                <a:lnTo>
                  <a:pt x="28604" y="34970"/>
                </a:lnTo>
                <a:lnTo>
                  <a:pt x="22207" y="28573"/>
                </a:lnTo>
                <a:close/>
              </a:path>
              <a:path w="1062989" h="85725">
                <a:moveTo>
                  <a:pt x="79385" y="28575"/>
                </a:moveTo>
                <a:lnTo>
                  <a:pt x="63574" y="28575"/>
                </a:lnTo>
                <a:lnTo>
                  <a:pt x="57179" y="34970"/>
                </a:lnTo>
                <a:lnTo>
                  <a:pt x="57177" y="50753"/>
                </a:lnTo>
                <a:lnTo>
                  <a:pt x="63574" y="57150"/>
                </a:lnTo>
                <a:lnTo>
                  <a:pt x="79385" y="57150"/>
                </a:lnTo>
                <a:lnTo>
                  <a:pt x="85782" y="50753"/>
                </a:lnTo>
                <a:lnTo>
                  <a:pt x="85782" y="34970"/>
                </a:lnTo>
                <a:lnTo>
                  <a:pt x="79385" y="28575"/>
                </a:lnTo>
                <a:close/>
              </a:path>
              <a:path w="1062989" h="85725">
                <a:moveTo>
                  <a:pt x="136564" y="28575"/>
                </a:moveTo>
                <a:lnTo>
                  <a:pt x="120754" y="28575"/>
                </a:lnTo>
                <a:lnTo>
                  <a:pt x="114357" y="34970"/>
                </a:lnTo>
                <a:lnTo>
                  <a:pt x="114357" y="50753"/>
                </a:lnTo>
                <a:lnTo>
                  <a:pt x="120754" y="57150"/>
                </a:lnTo>
                <a:lnTo>
                  <a:pt x="136564" y="57150"/>
                </a:lnTo>
                <a:lnTo>
                  <a:pt x="142960" y="50753"/>
                </a:lnTo>
                <a:lnTo>
                  <a:pt x="142961" y="34970"/>
                </a:lnTo>
                <a:lnTo>
                  <a:pt x="136564" y="28575"/>
                </a:lnTo>
                <a:close/>
              </a:path>
              <a:path w="1062989" h="85725">
                <a:moveTo>
                  <a:pt x="193742" y="28575"/>
                </a:moveTo>
                <a:lnTo>
                  <a:pt x="177932" y="28575"/>
                </a:lnTo>
                <a:lnTo>
                  <a:pt x="171535" y="34970"/>
                </a:lnTo>
                <a:lnTo>
                  <a:pt x="171535" y="50753"/>
                </a:lnTo>
                <a:lnTo>
                  <a:pt x="177932" y="57150"/>
                </a:lnTo>
                <a:lnTo>
                  <a:pt x="193742" y="57150"/>
                </a:lnTo>
                <a:lnTo>
                  <a:pt x="200139" y="50753"/>
                </a:lnTo>
                <a:lnTo>
                  <a:pt x="200139" y="34970"/>
                </a:lnTo>
                <a:lnTo>
                  <a:pt x="193742" y="28575"/>
                </a:lnTo>
                <a:close/>
              </a:path>
              <a:path w="1062989" h="85725">
                <a:moveTo>
                  <a:pt x="250921" y="28575"/>
                </a:moveTo>
                <a:lnTo>
                  <a:pt x="235111" y="28575"/>
                </a:lnTo>
                <a:lnTo>
                  <a:pt x="228714" y="34970"/>
                </a:lnTo>
                <a:lnTo>
                  <a:pt x="228714" y="50753"/>
                </a:lnTo>
                <a:lnTo>
                  <a:pt x="235111" y="57150"/>
                </a:lnTo>
                <a:lnTo>
                  <a:pt x="250921" y="57150"/>
                </a:lnTo>
                <a:lnTo>
                  <a:pt x="257317" y="50753"/>
                </a:lnTo>
                <a:lnTo>
                  <a:pt x="257317" y="34970"/>
                </a:lnTo>
                <a:lnTo>
                  <a:pt x="250921" y="28575"/>
                </a:lnTo>
                <a:close/>
              </a:path>
              <a:path w="1062989" h="85725">
                <a:moveTo>
                  <a:pt x="308099" y="28575"/>
                </a:moveTo>
                <a:lnTo>
                  <a:pt x="292289" y="28575"/>
                </a:lnTo>
                <a:lnTo>
                  <a:pt x="285892" y="34970"/>
                </a:lnTo>
                <a:lnTo>
                  <a:pt x="285892" y="50753"/>
                </a:lnTo>
                <a:lnTo>
                  <a:pt x="292289" y="57150"/>
                </a:lnTo>
                <a:lnTo>
                  <a:pt x="308099" y="57150"/>
                </a:lnTo>
                <a:lnTo>
                  <a:pt x="314496" y="50753"/>
                </a:lnTo>
                <a:lnTo>
                  <a:pt x="314495" y="34970"/>
                </a:lnTo>
                <a:lnTo>
                  <a:pt x="308099" y="28575"/>
                </a:lnTo>
                <a:close/>
              </a:path>
              <a:path w="1062989" h="85725">
                <a:moveTo>
                  <a:pt x="365278" y="28575"/>
                </a:moveTo>
                <a:lnTo>
                  <a:pt x="349468" y="28575"/>
                </a:lnTo>
                <a:lnTo>
                  <a:pt x="343071" y="34971"/>
                </a:lnTo>
                <a:lnTo>
                  <a:pt x="343071" y="50753"/>
                </a:lnTo>
                <a:lnTo>
                  <a:pt x="349468" y="57150"/>
                </a:lnTo>
                <a:lnTo>
                  <a:pt x="365278" y="57150"/>
                </a:lnTo>
                <a:lnTo>
                  <a:pt x="371674" y="50753"/>
                </a:lnTo>
                <a:lnTo>
                  <a:pt x="371674" y="34971"/>
                </a:lnTo>
                <a:lnTo>
                  <a:pt x="365278" y="28575"/>
                </a:lnTo>
                <a:close/>
              </a:path>
              <a:path w="1062989" h="85725">
                <a:moveTo>
                  <a:pt x="422456" y="28575"/>
                </a:moveTo>
                <a:lnTo>
                  <a:pt x="406646" y="28575"/>
                </a:lnTo>
                <a:lnTo>
                  <a:pt x="400249" y="34971"/>
                </a:lnTo>
                <a:lnTo>
                  <a:pt x="400249" y="50753"/>
                </a:lnTo>
                <a:lnTo>
                  <a:pt x="406646" y="57150"/>
                </a:lnTo>
                <a:lnTo>
                  <a:pt x="422456" y="57150"/>
                </a:lnTo>
                <a:lnTo>
                  <a:pt x="428853" y="50753"/>
                </a:lnTo>
                <a:lnTo>
                  <a:pt x="428853" y="34971"/>
                </a:lnTo>
                <a:lnTo>
                  <a:pt x="422456" y="28575"/>
                </a:lnTo>
                <a:close/>
              </a:path>
              <a:path w="1062989" h="85725">
                <a:moveTo>
                  <a:pt x="479635" y="28575"/>
                </a:moveTo>
                <a:lnTo>
                  <a:pt x="463825" y="28575"/>
                </a:lnTo>
                <a:lnTo>
                  <a:pt x="457428" y="34971"/>
                </a:lnTo>
                <a:lnTo>
                  <a:pt x="457428" y="50753"/>
                </a:lnTo>
                <a:lnTo>
                  <a:pt x="463825" y="57150"/>
                </a:lnTo>
                <a:lnTo>
                  <a:pt x="479635" y="57150"/>
                </a:lnTo>
                <a:lnTo>
                  <a:pt x="486031" y="50753"/>
                </a:lnTo>
                <a:lnTo>
                  <a:pt x="486031" y="34971"/>
                </a:lnTo>
                <a:lnTo>
                  <a:pt x="479635" y="28575"/>
                </a:lnTo>
                <a:close/>
              </a:path>
              <a:path w="1062989" h="85725">
                <a:moveTo>
                  <a:pt x="536813" y="28575"/>
                </a:moveTo>
                <a:lnTo>
                  <a:pt x="521003" y="28575"/>
                </a:lnTo>
                <a:lnTo>
                  <a:pt x="514606" y="34971"/>
                </a:lnTo>
                <a:lnTo>
                  <a:pt x="514606" y="50753"/>
                </a:lnTo>
                <a:lnTo>
                  <a:pt x="521003" y="57150"/>
                </a:lnTo>
                <a:lnTo>
                  <a:pt x="536813" y="57150"/>
                </a:lnTo>
                <a:lnTo>
                  <a:pt x="543210" y="50753"/>
                </a:lnTo>
                <a:lnTo>
                  <a:pt x="543210" y="34971"/>
                </a:lnTo>
                <a:lnTo>
                  <a:pt x="536813" y="28575"/>
                </a:lnTo>
                <a:close/>
              </a:path>
              <a:path w="1062989" h="85725">
                <a:moveTo>
                  <a:pt x="593992" y="28575"/>
                </a:moveTo>
                <a:lnTo>
                  <a:pt x="578182" y="28575"/>
                </a:lnTo>
                <a:lnTo>
                  <a:pt x="571785" y="34971"/>
                </a:lnTo>
                <a:lnTo>
                  <a:pt x="571785" y="50753"/>
                </a:lnTo>
                <a:lnTo>
                  <a:pt x="578182" y="57150"/>
                </a:lnTo>
                <a:lnTo>
                  <a:pt x="593992" y="57150"/>
                </a:lnTo>
                <a:lnTo>
                  <a:pt x="600388" y="50753"/>
                </a:lnTo>
                <a:lnTo>
                  <a:pt x="600388" y="34971"/>
                </a:lnTo>
                <a:lnTo>
                  <a:pt x="593992" y="28575"/>
                </a:lnTo>
                <a:close/>
              </a:path>
              <a:path w="1062989" h="85725">
                <a:moveTo>
                  <a:pt x="651170" y="28575"/>
                </a:moveTo>
                <a:lnTo>
                  <a:pt x="635360" y="28575"/>
                </a:lnTo>
                <a:lnTo>
                  <a:pt x="628963" y="34971"/>
                </a:lnTo>
                <a:lnTo>
                  <a:pt x="628963" y="50753"/>
                </a:lnTo>
                <a:lnTo>
                  <a:pt x="635360" y="57150"/>
                </a:lnTo>
                <a:lnTo>
                  <a:pt x="651170" y="57150"/>
                </a:lnTo>
                <a:lnTo>
                  <a:pt x="657567" y="50753"/>
                </a:lnTo>
                <a:lnTo>
                  <a:pt x="657567" y="34971"/>
                </a:lnTo>
                <a:lnTo>
                  <a:pt x="651170" y="28575"/>
                </a:lnTo>
                <a:close/>
              </a:path>
              <a:path w="1062989" h="85725">
                <a:moveTo>
                  <a:pt x="708350" y="28575"/>
                </a:moveTo>
                <a:lnTo>
                  <a:pt x="692539" y="28575"/>
                </a:lnTo>
                <a:lnTo>
                  <a:pt x="686142" y="34971"/>
                </a:lnTo>
                <a:lnTo>
                  <a:pt x="686142" y="50753"/>
                </a:lnTo>
                <a:lnTo>
                  <a:pt x="692539" y="57150"/>
                </a:lnTo>
                <a:lnTo>
                  <a:pt x="708350" y="57150"/>
                </a:lnTo>
                <a:lnTo>
                  <a:pt x="714745" y="50753"/>
                </a:lnTo>
                <a:lnTo>
                  <a:pt x="714745" y="34971"/>
                </a:lnTo>
                <a:lnTo>
                  <a:pt x="708350" y="28575"/>
                </a:lnTo>
                <a:close/>
              </a:path>
              <a:path w="1062989" h="85725">
                <a:moveTo>
                  <a:pt x="765528" y="28575"/>
                </a:moveTo>
                <a:lnTo>
                  <a:pt x="749717" y="28575"/>
                </a:lnTo>
                <a:lnTo>
                  <a:pt x="743320" y="34971"/>
                </a:lnTo>
                <a:lnTo>
                  <a:pt x="743320" y="50753"/>
                </a:lnTo>
                <a:lnTo>
                  <a:pt x="749717" y="57150"/>
                </a:lnTo>
                <a:lnTo>
                  <a:pt x="765528" y="57150"/>
                </a:lnTo>
                <a:lnTo>
                  <a:pt x="771925" y="50753"/>
                </a:lnTo>
                <a:lnTo>
                  <a:pt x="771925" y="34971"/>
                </a:lnTo>
                <a:lnTo>
                  <a:pt x="765528" y="28575"/>
                </a:lnTo>
                <a:close/>
              </a:path>
              <a:path w="1062989" h="85725">
                <a:moveTo>
                  <a:pt x="822707" y="28575"/>
                </a:moveTo>
                <a:lnTo>
                  <a:pt x="806897" y="28575"/>
                </a:lnTo>
                <a:lnTo>
                  <a:pt x="800500" y="34971"/>
                </a:lnTo>
                <a:lnTo>
                  <a:pt x="800500" y="50753"/>
                </a:lnTo>
                <a:lnTo>
                  <a:pt x="806897" y="57150"/>
                </a:lnTo>
                <a:lnTo>
                  <a:pt x="822707" y="57150"/>
                </a:lnTo>
                <a:lnTo>
                  <a:pt x="829102" y="50753"/>
                </a:lnTo>
                <a:lnTo>
                  <a:pt x="829102" y="34971"/>
                </a:lnTo>
                <a:lnTo>
                  <a:pt x="822707" y="28575"/>
                </a:lnTo>
                <a:close/>
              </a:path>
              <a:path w="1062989" h="85725">
                <a:moveTo>
                  <a:pt x="879885" y="28575"/>
                </a:moveTo>
                <a:lnTo>
                  <a:pt x="864074" y="28575"/>
                </a:lnTo>
                <a:lnTo>
                  <a:pt x="857677" y="34971"/>
                </a:lnTo>
                <a:lnTo>
                  <a:pt x="857677" y="50753"/>
                </a:lnTo>
                <a:lnTo>
                  <a:pt x="864074" y="57150"/>
                </a:lnTo>
                <a:lnTo>
                  <a:pt x="879885" y="57150"/>
                </a:lnTo>
                <a:lnTo>
                  <a:pt x="886282" y="50753"/>
                </a:lnTo>
                <a:lnTo>
                  <a:pt x="886282" y="34971"/>
                </a:lnTo>
                <a:lnTo>
                  <a:pt x="879885" y="28575"/>
                </a:lnTo>
                <a:close/>
              </a:path>
              <a:path w="1062989" h="85725">
                <a:moveTo>
                  <a:pt x="937064" y="28575"/>
                </a:moveTo>
                <a:lnTo>
                  <a:pt x="921254" y="28575"/>
                </a:lnTo>
                <a:lnTo>
                  <a:pt x="914857" y="34971"/>
                </a:lnTo>
                <a:lnTo>
                  <a:pt x="914857" y="50753"/>
                </a:lnTo>
                <a:lnTo>
                  <a:pt x="921254" y="57150"/>
                </a:lnTo>
                <a:lnTo>
                  <a:pt x="937064" y="57150"/>
                </a:lnTo>
                <a:lnTo>
                  <a:pt x="943460" y="50753"/>
                </a:lnTo>
                <a:lnTo>
                  <a:pt x="943460" y="34971"/>
                </a:lnTo>
                <a:lnTo>
                  <a:pt x="937064" y="28575"/>
                </a:lnTo>
                <a:close/>
              </a:path>
              <a:path w="1062989" h="85725">
                <a:moveTo>
                  <a:pt x="976934" y="55652"/>
                </a:moveTo>
                <a:lnTo>
                  <a:pt x="976934" y="85725"/>
                </a:lnTo>
                <a:lnTo>
                  <a:pt x="1034084" y="57150"/>
                </a:lnTo>
                <a:lnTo>
                  <a:pt x="978432" y="57150"/>
                </a:lnTo>
                <a:lnTo>
                  <a:pt x="976934" y="55652"/>
                </a:lnTo>
                <a:close/>
              </a:path>
              <a:path w="1062989" h="85725">
                <a:moveTo>
                  <a:pt x="994242" y="28575"/>
                </a:moveTo>
                <a:lnTo>
                  <a:pt x="978432" y="28575"/>
                </a:lnTo>
                <a:lnTo>
                  <a:pt x="976934" y="30072"/>
                </a:lnTo>
                <a:lnTo>
                  <a:pt x="976934" y="55652"/>
                </a:lnTo>
                <a:lnTo>
                  <a:pt x="978432" y="57150"/>
                </a:lnTo>
                <a:lnTo>
                  <a:pt x="994242" y="57150"/>
                </a:lnTo>
                <a:lnTo>
                  <a:pt x="1000639" y="50753"/>
                </a:lnTo>
                <a:lnTo>
                  <a:pt x="1000639" y="34971"/>
                </a:lnTo>
                <a:lnTo>
                  <a:pt x="994242" y="28575"/>
                </a:lnTo>
                <a:close/>
              </a:path>
              <a:path w="1062989" h="85725">
                <a:moveTo>
                  <a:pt x="1034084" y="28575"/>
                </a:moveTo>
                <a:lnTo>
                  <a:pt x="994242" y="28575"/>
                </a:lnTo>
                <a:lnTo>
                  <a:pt x="1000639" y="34971"/>
                </a:lnTo>
                <a:lnTo>
                  <a:pt x="1000639" y="50753"/>
                </a:lnTo>
                <a:lnTo>
                  <a:pt x="994242" y="57150"/>
                </a:lnTo>
                <a:lnTo>
                  <a:pt x="1034084" y="57150"/>
                </a:lnTo>
                <a:lnTo>
                  <a:pt x="1062659" y="42862"/>
                </a:lnTo>
                <a:lnTo>
                  <a:pt x="1034084" y="28575"/>
                </a:lnTo>
                <a:close/>
              </a:path>
              <a:path w="1062989" h="85725">
                <a:moveTo>
                  <a:pt x="976934" y="30072"/>
                </a:moveTo>
                <a:lnTo>
                  <a:pt x="972035" y="34971"/>
                </a:lnTo>
                <a:lnTo>
                  <a:pt x="972035" y="50753"/>
                </a:lnTo>
                <a:lnTo>
                  <a:pt x="976934" y="55652"/>
                </a:lnTo>
                <a:lnTo>
                  <a:pt x="976934" y="30072"/>
                </a:lnTo>
                <a:close/>
              </a:path>
              <a:path w="1062989" h="85725">
                <a:moveTo>
                  <a:pt x="976934" y="0"/>
                </a:moveTo>
                <a:lnTo>
                  <a:pt x="976934" y="30072"/>
                </a:lnTo>
                <a:lnTo>
                  <a:pt x="978432" y="28575"/>
                </a:lnTo>
                <a:lnTo>
                  <a:pt x="1034084" y="28575"/>
                </a:lnTo>
                <a:lnTo>
                  <a:pt x="9769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28376" y="4199587"/>
            <a:ext cx="141605" cy="499109"/>
          </a:xfrm>
          <a:custGeom>
            <a:avLst/>
            <a:gdLst/>
            <a:ahLst/>
            <a:cxnLst/>
            <a:rect l="l" t="t" r="r" b="b"/>
            <a:pathLst>
              <a:path w="141604" h="499110">
                <a:moveTo>
                  <a:pt x="0" y="499067"/>
                </a:moveTo>
                <a:lnTo>
                  <a:pt x="141582" y="499067"/>
                </a:lnTo>
                <a:lnTo>
                  <a:pt x="141582" y="0"/>
                </a:lnTo>
                <a:lnTo>
                  <a:pt x="0" y="0"/>
                </a:lnTo>
                <a:lnTo>
                  <a:pt x="0" y="499067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328377" y="4199587"/>
            <a:ext cx="141605" cy="499109"/>
          </a:xfrm>
          <a:custGeom>
            <a:avLst/>
            <a:gdLst/>
            <a:ahLst/>
            <a:cxnLst/>
            <a:rect l="l" t="t" r="r" b="b"/>
            <a:pathLst>
              <a:path w="141604" h="499110">
                <a:moveTo>
                  <a:pt x="141582" y="0"/>
                </a:moveTo>
                <a:lnTo>
                  <a:pt x="0" y="0"/>
                </a:lnTo>
                <a:lnTo>
                  <a:pt x="0" y="499068"/>
                </a:lnTo>
                <a:lnTo>
                  <a:pt x="141582" y="499068"/>
                </a:lnTo>
                <a:lnTo>
                  <a:pt x="141582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437404" y="3769867"/>
            <a:ext cx="21393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solidFill>
                  <a:srgbClr val="C00000"/>
                </a:solidFill>
                <a:latin typeface="Calibri"/>
                <a:cs typeface="Calibri"/>
              </a:rPr>
              <a:t>Graph-level</a:t>
            </a:r>
            <a:r>
              <a:rPr dirty="0" sz="18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25269" y="5128816"/>
            <a:ext cx="912510" cy="14279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22490" y="6446886"/>
            <a:ext cx="304800" cy="236854"/>
          </a:xfrm>
          <a:custGeom>
            <a:avLst/>
            <a:gdLst/>
            <a:ahLst/>
            <a:cxnLst/>
            <a:rect l="l" t="t" r="r" b="b"/>
            <a:pathLst>
              <a:path w="304800" h="236854">
                <a:moveTo>
                  <a:pt x="0" y="236576"/>
                </a:moveTo>
                <a:lnTo>
                  <a:pt x="304170" y="236576"/>
                </a:lnTo>
                <a:lnTo>
                  <a:pt x="304170" y="0"/>
                </a:lnTo>
                <a:lnTo>
                  <a:pt x="0" y="0"/>
                </a:lnTo>
                <a:lnTo>
                  <a:pt x="0" y="2365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888596" y="5589270"/>
            <a:ext cx="110299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0" b="1">
                <a:solidFill>
                  <a:srgbClr val="C00000"/>
                </a:solidFill>
                <a:latin typeface="Calibri"/>
                <a:cs typeface="Calibri"/>
              </a:rPr>
              <a:t>(2)</a:t>
            </a:r>
            <a:r>
              <a:rPr dirty="0" sz="13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300" spc="0" b="1">
                <a:solidFill>
                  <a:srgbClr val="C00000"/>
                </a:solidFill>
                <a:latin typeface="Calibri"/>
                <a:cs typeface="Calibri"/>
              </a:rPr>
              <a:t>Aggregation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88596" y="6011728"/>
            <a:ext cx="87058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0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1300" spc="-6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300" spc="5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126660" y="5551275"/>
            <a:ext cx="709930" cy="372110"/>
          </a:xfrm>
          <a:custGeom>
            <a:avLst/>
            <a:gdLst/>
            <a:ahLst/>
            <a:cxnLst/>
            <a:rect l="l" t="t" r="r" b="b"/>
            <a:pathLst>
              <a:path w="709929" h="372110">
                <a:moveTo>
                  <a:pt x="0" y="0"/>
                </a:moveTo>
                <a:lnTo>
                  <a:pt x="709730" y="0"/>
                </a:lnTo>
                <a:lnTo>
                  <a:pt x="709730" y="371763"/>
                </a:lnTo>
                <a:lnTo>
                  <a:pt x="0" y="371763"/>
                </a:lnTo>
                <a:lnTo>
                  <a:pt x="0" y="0"/>
                </a:lnTo>
                <a:close/>
              </a:path>
            </a:pathLst>
          </a:custGeom>
          <a:ln w="16898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67071" y="5490971"/>
            <a:ext cx="4529455" cy="10922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59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60">
                <a:solidFill>
                  <a:srgbClr val="C00000"/>
                </a:solidFill>
                <a:latin typeface="Cambria Math"/>
                <a:cs typeface="Cambria Math"/>
              </a:rPr>
              <a:t>Head</a:t>
            </a:r>
            <a:r>
              <a:rPr dirty="0" baseline="-15700" sz="3450" spc="89">
                <a:solidFill>
                  <a:srgbClr val="C00000"/>
                </a:solidFill>
                <a:latin typeface="Cambria Math"/>
                <a:cs typeface="Cambria Math"/>
              </a:rPr>
              <a:t>-1234</a:t>
            </a:r>
            <a:r>
              <a:rPr dirty="0" sz="3200" spc="60">
                <a:solidFill>
                  <a:srgbClr val="C00000"/>
                </a:solidFill>
                <a:latin typeface="Cambria Math"/>
                <a:cs typeface="Cambria Math"/>
              </a:rPr>
              <a:t>(⋅)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similar</a:t>
            </a:r>
            <a:r>
              <a:rPr dirty="0" sz="3200" spc="-1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endParaRPr sz="3200">
              <a:latin typeface="Calibri"/>
              <a:cs typeface="Calibri"/>
            </a:endParaRPr>
          </a:p>
          <a:p>
            <a:pPr algn="ctr" marR="76200">
              <a:lnSpc>
                <a:spcPct val="100000"/>
              </a:lnSpc>
              <a:spcBef>
                <a:spcPts val="359"/>
              </a:spcBef>
            </a:pPr>
            <a:r>
              <a:rPr dirty="0" sz="3200" spc="-15">
                <a:solidFill>
                  <a:srgbClr val="C00000"/>
                </a:solidFill>
                <a:latin typeface="Cambria Math"/>
                <a:cs typeface="Cambria Math"/>
              </a:rPr>
              <a:t>AGG(⋅)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in a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GNN</a:t>
            </a:r>
            <a:r>
              <a:rPr dirty="0" sz="3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C00000"/>
                </a:solidFill>
                <a:latin typeface="Calibri"/>
                <a:cs typeface="Calibri"/>
              </a:rPr>
              <a:t>layer!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2572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24653" y="1661160"/>
            <a:ext cx="19113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63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63024" y="14459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4">
                <a:moveTo>
                  <a:pt x="276586" y="0"/>
                </a:moveTo>
                <a:lnTo>
                  <a:pt x="272736" y="10981"/>
                </a:lnTo>
                <a:lnTo>
                  <a:pt x="288398" y="17778"/>
                </a:lnTo>
                <a:lnTo>
                  <a:pt x="301868" y="27187"/>
                </a:lnTo>
                <a:lnTo>
                  <a:pt x="329217" y="70800"/>
                </a:lnTo>
                <a:lnTo>
                  <a:pt x="337204" y="110843"/>
                </a:lnTo>
                <a:lnTo>
                  <a:pt x="338202" y="133926"/>
                </a:lnTo>
                <a:lnTo>
                  <a:pt x="337199" y="157789"/>
                </a:lnTo>
                <a:lnTo>
                  <a:pt x="329177" y="198937"/>
                </a:lnTo>
                <a:lnTo>
                  <a:pt x="301885" y="243249"/>
                </a:lnTo>
                <a:lnTo>
                  <a:pt x="273164" y="259580"/>
                </a:lnTo>
                <a:lnTo>
                  <a:pt x="276586" y="270563"/>
                </a:lnTo>
                <a:lnTo>
                  <a:pt x="313492" y="253251"/>
                </a:lnTo>
                <a:lnTo>
                  <a:pt x="340626" y="223282"/>
                </a:lnTo>
                <a:lnTo>
                  <a:pt x="357314" y="183150"/>
                </a:lnTo>
                <a:lnTo>
                  <a:pt x="362877" y="135352"/>
                </a:lnTo>
                <a:lnTo>
                  <a:pt x="361481" y="110548"/>
                </a:lnTo>
                <a:lnTo>
                  <a:pt x="350321" y="66584"/>
                </a:lnTo>
                <a:lnTo>
                  <a:pt x="328187" y="30793"/>
                </a:lnTo>
                <a:lnTo>
                  <a:pt x="296203" y="7082"/>
                </a:lnTo>
                <a:lnTo>
                  <a:pt x="276586" y="0"/>
                </a:lnTo>
                <a:close/>
              </a:path>
              <a:path w="363220" h="271144">
                <a:moveTo>
                  <a:pt x="86290" y="0"/>
                </a:moveTo>
                <a:lnTo>
                  <a:pt x="49474" y="17346"/>
                </a:lnTo>
                <a:lnTo>
                  <a:pt x="22321" y="47423"/>
                </a:lnTo>
                <a:lnTo>
                  <a:pt x="5580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6" y="239849"/>
                </a:lnTo>
                <a:lnTo>
                  <a:pt x="66616" y="263489"/>
                </a:lnTo>
                <a:lnTo>
                  <a:pt x="86290" y="270563"/>
                </a:lnTo>
                <a:lnTo>
                  <a:pt x="89712" y="259580"/>
                </a:lnTo>
                <a:lnTo>
                  <a:pt x="74295" y="252752"/>
                </a:lnTo>
                <a:lnTo>
                  <a:pt x="60991" y="243249"/>
                </a:lnTo>
                <a:lnTo>
                  <a:pt x="33700" y="198937"/>
                </a:lnTo>
                <a:lnTo>
                  <a:pt x="25677" y="157789"/>
                </a:lnTo>
                <a:lnTo>
                  <a:pt x="24674" y="133926"/>
                </a:lnTo>
                <a:lnTo>
                  <a:pt x="25677" y="110843"/>
                </a:lnTo>
                <a:lnTo>
                  <a:pt x="33700" y="70800"/>
                </a:lnTo>
                <a:lnTo>
                  <a:pt x="61097" y="27187"/>
                </a:lnTo>
                <a:lnTo>
                  <a:pt x="90140" y="10981"/>
                </a:lnTo>
                <a:lnTo>
                  <a:pt x="86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449324"/>
            <a:ext cx="49149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Options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for </a:t>
            </a:r>
            <a:r>
              <a:rPr dirty="0" spc="60" b="0">
                <a:solidFill>
                  <a:srgbClr val="000000"/>
                </a:solidFill>
                <a:latin typeface="Cambria Math"/>
                <a:cs typeface="Cambria Math"/>
              </a:rPr>
              <a:t>Head</a:t>
            </a:r>
            <a:r>
              <a:rPr dirty="0" baseline="-15700" sz="3450" spc="89" b="0">
                <a:solidFill>
                  <a:srgbClr val="000000"/>
                </a:solidFill>
                <a:latin typeface="Cambria Math"/>
                <a:cs typeface="Cambria Math"/>
              </a:rPr>
              <a:t>-1234</a:t>
            </a:r>
            <a:r>
              <a:rPr dirty="0" sz="3200" spc="60" b="0">
                <a:solidFill>
                  <a:srgbClr val="000000"/>
                </a:solidFill>
                <a:latin typeface="Cambria Math"/>
                <a:cs typeface="Cambria Math"/>
              </a:rPr>
              <a:t>({𝐡</a:t>
            </a:r>
            <a:r>
              <a:rPr dirty="0" sz="3200" spc="2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aseline="38647" sz="3450" spc="525" b="0">
                <a:solidFill>
                  <a:srgbClr val="000000"/>
                </a:solidFill>
                <a:latin typeface="Cambria Math"/>
                <a:cs typeface="Cambria Math"/>
              </a:rPr>
              <a:t>"</a:t>
            </a:r>
            <a:endParaRPr baseline="38647" sz="34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0562" y="1449324"/>
            <a:ext cx="26301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∈ </a:t>
            </a:r>
            <a:r>
              <a:rPr dirty="0" sz="3200" spc="60">
                <a:latin typeface="Cambria Math"/>
                <a:cs typeface="Cambria Math"/>
              </a:rPr>
              <a:t>ℝ</a:t>
            </a:r>
            <a:r>
              <a:rPr dirty="0" baseline="28985" sz="3450" spc="89">
                <a:latin typeface="Cambria Math"/>
                <a:cs typeface="Cambria Math"/>
              </a:rPr>
              <a:t>#</a:t>
            </a:r>
            <a:r>
              <a:rPr dirty="0" sz="3200" spc="60">
                <a:latin typeface="Cambria Math"/>
                <a:cs typeface="Cambria Math"/>
              </a:rPr>
              <a:t>, </a:t>
            </a:r>
            <a:r>
              <a:rPr dirty="0" sz="3200">
                <a:latin typeface="Cambria Math"/>
                <a:cs typeface="Cambria Math"/>
              </a:rPr>
              <a:t>∀𝑣  ∈</a:t>
            </a:r>
            <a:r>
              <a:rPr dirty="0" sz="3200" spc="-360">
                <a:latin typeface="Cambria Math"/>
                <a:cs typeface="Cambria Math"/>
              </a:rPr>
              <a:t> </a:t>
            </a:r>
            <a:r>
              <a:rPr dirty="0" sz="3200" spc="35">
                <a:latin typeface="Cambria Math"/>
                <a:cs typeface="Cambria Math"/>
              </a:rPr>
              <a:t>𝐺})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1982724"/>
            <a:ext cx="439801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(1)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Global mean</a:t>
            </a:r>
            <a:r>
              <a:rPr dirty="0" sz="32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pooling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07274" y="25635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4">
                <a:moveTo>
                  <a:pt x="276585" y="0"/>
                </a:moveTo>
                <a:lnTo>
                  <a:pt x="272735" y="10981"/>
                </a:lnTo>
                <a:lnTo>
                  <a:pt x="288397" y="17778"/>
                </a:lnTo>
                <a:lnTo>
                  <a:pt x="301867" y="27187"/>
                </a:lnTo>
                <a:lnTo>
                  <a:pt x="329215" y="70800"/>
                </a:lnTo>
                <a:lnTo>
                  <a:pt x="337202" y="110843"/>
                </a:lnTo>
                <a:lnTo>
                  <a:pt x="338200" y="133926"/>
                </a:lnTo>
                <a:lnTo>
                  <a:pt x="337198" y="157789"/>
                </a:lnTo>
                <a:lnTo>
                  <a:pt x="329175" y="198937"/>
                </a:lnTo>
                <a:lnTo>
                  <a:pt x="301884" y="243249"/>
                </a:lnTo>
                <a:lnTo>
                  <a:pt x="273163" y="259580"/>
                </a:lnTo>
                <a:lnTo>
                  <a:pt x="276585" y="270563"/>
                </a:lnTo>
                <a:lnTo>
                  <a:pt x="313490" y="253251"/>
                </a:lnTo>
                <a:lnTo>
                  <a:pt x="340625" y="223282"/>
                </a:lnTo>
                <a:lnTo>
                  <a:pt x="357313" y="183150"/>
                </a:lnTo>
                <a:lnTo>
                  <a:pt x="362875" y="135352"/>
                </a:lnTo>
                <a:lnTo>
                  <a:pt x="361480" y="110548"/>
                </a:lnTo>
                <a:lnTo>
                  <a:pt x="350319" y="66584"/>
                </a:lnTo>
                <a:lnTo>
                  <a:pt x="328186" y="30793"/>
                </a:lnTo>
                <a:lnTo>
                  <a:pt x="296201" y="7082"/>
                </a:lnTo>
                <a:lnTo>
                  <a:pt x="276585" y="0"/>
                </a:lnTo>
                <a:close/>
              </a:path>
              <a:path w="363220" h="271144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3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43062" y="2567940"/>
            <a:ext cx="57016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84195" algn="l"/>
              </a:tabLst>
            </a:pPr>
            <a:r>
              <a:rPr dirty="0" sz="3200" spc="-285">
                <a:latin typeface="Cambria Math"/>
                <a:cs typeface="Cambria Math"/>
              </a:rPr>
              <a:t>𝒚</a:t>
            </a:r>
            <a:r>
              <a:rPr dirty="0" sz="3200" spc="-285">
                <a:latin typeface="Cambria Math"/>
                <a:cs typeface="Cambria Math"/>
              </a:rPr>
              <a:t>-</a:t>
            </a:r>
            <a:r>
              <a:rPr dirty="0" baseline="-15700" sz="3450" spc="-427">
                <a:latin typeface="Cambria Math"/>
                <a:cs typeface="Cambria Math"/>
              </a:rPr>
              <a:t>0   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25">
                <a:latin typeface="Cambria Math"/>
                <a:cs typeface="Cambria Math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mbria Math"/>
                <a:cs typeface="Cambria Math"/>
              </a:rPr>
              <a:t>Mean</a:t>
            </a:r>
            <a:r>
              <a:rPr dirty="0" sz="3200" spc="-5">
                <a:latin typeface="Cambria Math"/>
                <a:cs typeface="Cambria Math"/>
              </a:rPr>
              <a:t>({𝐡</a:t>
            </a:r>
            <a:r>
              <a:rPr dirty="0" sz="3200" spc="275">
                <a:latin typeface="Cambria Math"/>
                <a:cs typeface="Cambria Math"/>
              </a:rPr>
              <a:t> </a:t>
            </a:r>
            <a:r>
              <a:rPr dirty="0" baseline="38647" sz="3450" spc="525">
                <a:latin typeface="Cambria Math"/>
                <a:cs typeface="Cambria Math"/>
              </a:rPr>
              <a:t>"	</a:t>
            </a:r>
            <a:r>
              <a:rPr dirty="0" sz="3200">
                <a:latin typeface="Cambria Math"/>
                <a:cs typeface="Cambria Math"/>
              </a:rPr>
              <a:t>∈ </a:t>
            </a:r>
            <a:r>
              <a:rPr dirty="0" sz="3200" spc="60">
                <a:latin typeface="Cambria Math"/>
                <a:cs typeface="Cambria Math"/>
              </a:rPr>
              <a:t>ℝ</a:t>
            </a:r>
            <a:r>
              <a:rPr dirty="0" baseline="28985" sz="3450" spc="89">
                <a:latin typeface="Cambria Math"/>
                <a:cs typeface="Cambria Math"/>
              </a:rPr>
              <a:t>#</a:t>
            </a:r>
            <a:r>
              <a:rPr dirty="0" sz="3200" spc="60">
                <a:latin typeface="Cambria Math"/>
                <a:cs typeface="Cambria Math"/>
              </a:rPr>
              <a:t>, </a:t>
            </a:r>
            <a:r>
              <a:rPr dirty="0" sz="3200">
                <a:latin typeface="Cambria Math"/>
                <a:cs typeface="Cambria Math"/>
              </a:rPr>
              <a:t>∀𝑣  ∈</a:t>
            </a:r>
            <a:r>
              <a:rPr dirty="0" sz="3200" spc="-360">
                <a:latin typeface="Cambria Math"/>
                <a:cs typeface="Cambria Math"/>
              </a:rPr>
              <a:t> </a:t>
            </a:r>
            <a:r>
              <a:rPr dirty="0" sz="3200" spc="35">
                <a:latin typeface="Cambria Math"/>
                <a:cs typeface="Cambria Math"/>
              </a:rPr>
              <a:t>𝐺})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108" y="2779776"/>
            <a:ext cx="4159250" cy="782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422275">
              <a:lnSpc>
                <a:spcPts val="2440"/>
              </a:lnSpc>
              <a:spcBef>
                <a:spcPts val="100"/>
              </a:spcBef>
            </a:pPr>
            <a:r>
              <a:rPr dirty="0" sz="2300" spc="63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  <a:p>
            <a:pPr marL="332740" indent="-320040">
              <a:lnSpc>
                <a:spcPts val="352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(2)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Global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max</a:t>
            </a:r>
            <a:r>
              <a:rPr dirty="0" sz="32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pooling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54602" y="3858767"/>
            <a:ext cx="19113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63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92974" y="36430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5">
                <a:moveTo>
                  <a:pt x="276585" y="0"/>
                </a:moveTo>
                <a:lnTo>
                  <a:pt x="272735" y="10981"/>
                </a:lnTo>
                <a:lnTo>
                  <a:pt x="288397" y="17778"/>
                </a:lnTo>
                <a:lnTo>
                  <a:pt x="301867" y="27187"/>
                </a:lnTo>
                <a:lnTo>
                  <a:pt x="329215" y="70800"/>
                </a:lnTo>
                <a:lnTo>
                  <a:pt x="337202" y="110843"/>
                </a:lnTo>
                <a:lnTo>
                  <a:pt x="338200" y="133926"/>
                </a:lnTo>
                <a:lnTo>
                  <a:pt x="337198" y="157789"/>
                </a:lnTo>
                <a:lnTo>
                  <a:pt x="329175" y="198937"/>
                </a:lnTo>
                <a:lnTo>
                  <a:pt x="301884" y="243249"/>
                </a:lnTo>
                <a:lnTo>
                  <a:pt x="273163" y="259580"/>
                </a:lnTo>
                <a:lnTo>
                  <a:pt x="276585" y="270563"/>
                </a:lnTo>
                <a:lnTo>
                  <a:pt x="313490" y="253251"/>
                </a:lnTo>
                <a:lnTo>
                  <a:pt x="340625" y="223282"/>
                </a:lnTo>
                <a:lnTo>
                  <a:pt x="357313" y="183150"/>
                </a:lnTo>
                <a:lnTo>
                  <a:pt x="362875" y="135352"/>
                </a:lnTo>
                <a:lnTo>
                  <a:pt x="361480" y="110548"/>
                </a:lnTo>
                <a:lnTo>
                  <a:pt x="350319" y="66584"/>
                </a:lnTo>
                <a:lnTo>
                  <a:pt x="328186" y="30793"/>
                </a:lnTo>
                <a:lnTo>
                  <a:pt x="296201" y="7082"/>
                </a:lnTo>
                <a:lnTo>
                  <a:pt x="276585" y="0"/>
                </a:lnTo>
                <a:close/>
              </a:path>
              <a:path w="363220" h="271145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3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757362" y="3646932"/>
            <a:ext cx="260604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85">
                <a:latin typeface="Cambria Math"/>
                <a:cs typeface="Cambria Math"/>
              </a:rPr>
              <a:t>𝒚</a:t>
            </a:r>
            <a:r>
              <a:rPr dirty="0" sz="3200" spc="-285">
                <a:latin typeface="Cambria Math"/>
                <a:cs typeface="Cambria Math"/>
              </a:rPr>
              <a:t>-</a:t>
            </a:r>
            <a:r>
              <a:rPr dirty="0" baseline="-15700" sz="3450" spc="-427">
                <a:latin typeface="Cambria Math"/>
                <a:cs typeface="Cambria Math"/>
              </a:rPr>
              <a:t>0    </a:t>
            </a: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-5">
                <a:solidFill>
                  <a:srgbClr val="C00000"/>
                </a:solidFill>
                <a:latin typeface="Cambria Math"/>
                <a:cs typeface="Cambria Math"/>
              </a:rPr>
              <a:t>Max</a:t>
            </a:r>
            <a:r>
              <a:rPr dirty="0" sz="3200" spc="-5">
                <a:latin typeface="Cambria Math"/>
                <a:cs typeface="Cambria Math"/>
              </a:rPr>
              <a:t>({𝐡</a:t>
            </a:r>
            <a:r>
              <a:rPr dirty="0" sz="3200" spc="315">
                <a:latin typeface="Cambria Math"/>
                <a:cs typeface="Cambria Math"/>
              </a:rPr>
              <a:t> </a:t>
            </a:r>
            <a:r>
              <a:rPr dirty="0" baseline="38647" sz="3450" spc="525">
                <a:latin typeface="Cambria Math"/>
                <a:cs typeface="Cambria Math"/>
              </a:rPr>
              <a:t>"</a:t>
            </a:r>
            <a:endParaRPr baseline="38647" sz="34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00511" y="3646932"/>
            <a:ext cx="26301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∈ </a:t>
            </a:r>
            <a:r>
              <a:rPr dirty="0" sz="3200" spc="60">
                <a:latin typeface="Cambria Math"/>
                <a:cs typeface="Cambria Math"/>
              </a:rPr>
              <a:t>ℝ</a:t>
            </a:r>
            <a:r>
              <a:rPr dirty="0" baseline="28985" sz="3450" spc="89">
                <a:latin typeface="Cambria Math"/>
                <a:cs typeface="Cambria Math"/>
              </a:rPr>
              <a:t>#</a:t>
            </a:r>
            <a:r>
              <a:rPr dirty="0" sz="3200" spc="60">
                <a:latin typeface="Cambria Math"/>
                <a:cs typeface="Cambria Math"/>
              </a:rPr>
              <a:t>, </a:t>
            </a:r>
            <a:r>
              <a:rPr dirty="0" sz="3200">
                <a:latin typeface="Cambria Math"/>
                <a:cs typeface="Cambria Math"/>
              </a:rPr>
              <a:t>∀𝑣  ∈</a:t>
            </a:r>
            <a:r>
              <a:rPr dirty="0" sz="3200" spc="-360">
                <a:latin typeface="Cambria Math"/>
                <a:cs typeface="Cambria Math"/>
              </a:rPr>
              <a:t> </a:t>
            </a:r>
            <a:r>
              <a:rPr dirty="0" sz="3200" spc="35">
                <a:latin typeface="Cambria Math"/>
                <a:cs typeface="Cambria Math"/>
              </a:rPr>
              <a:t>𝐺})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108" y="4128516"/>
            <a:ext cx="415544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(3)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Global sum</a:t>
            </a:r>
            <a:r>
              <a:rPr dirty="0" sz="32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pooling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11199" y="47098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5">
                <a:moveTo>
                  <a:pt x="276586" y="0"/>
                </a:moveTo>
                <a:lnTo>
                  <a:pt x="272735" y="10981"/>
                </a:lnTo>
                <a:lnTo>
                  <a:pt x="288397" y="17778"/>
                </a:lnTo>
                <a:lnTo>
                  <a:pt x="301867" y="27187"/>
                </a:lnTo>
                <a:lnTo>
                  <a:pt x="329215" y="70800"/>
                </a:lnTo>
                <a:lnTo>
                  <a:pt x="337202" y="110843"/>
                </a:lnTo>
                <a:lnTo>
                  <a:pt x="338200" y="133926"/>
                </a:lnTo>
                <a:lnTo>
                  <a:pt x="337198" y="157789"/>
                </a:lnTo>
                <a:lnTo>
                  <a:pt x="329175" y="198937"/>
                </a:lnTo>
                <a:lnTo>
                  <a:pt x="301884" y="243249"/>
                </a:lnTo>
                <a:lnTo>
                  <a:pt x="273163" y="259580"/>
                </a:lnTo>
                <a:lnTo>
                  <a:pt x="276586" y="270563"/>
                </a:lnTo>
                <a:lnTo>
                  <a:pt x="313491" y="253251"/>
                </a:lnTo>
                <a:lnTo>
                  <a:pt x="340625" y="223282"/>
                </a:lnTo>
                <a:lnTo>
                  <a:pt x="357313" y="183150"/>
                </a:lnTo>
                <a:lnTo>
                  <a:pt x="362875" y="135352"/>
                </a:lnTo>
                <a:lnTo>
                  <a:pt x="361480" y="110548"/>
                </a:lnTo>
                <a:lnTo>
                  <a:pt x="350319" y="66584"/>
                </a:lnTo>
                <a:lnTo>
                  <a:pt x="328186" y="30793"/>
                </a:lnTo>
                <a:lnTo>
                  <a:pt x="296202" y="7082"/>
                </a:lnTo>
                <a:lnTo>
                  <a:pt x="276586" y="0"/>
                </a:lnTo>
                <a:close/>
              </a:path>
              <a:path w="363220" h="271145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3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39074" y="4713732"/>
            <a:ext cx="55098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91790" algn="l"/>
              </a:tabLst>
            </a:pPr>
            <a:r>
              <a:rPr dirty="0" sz="3200" spc="-285">
                <a:latin typeface="Cambria Math"/>
                <a:cs typeface="Cambria Math"/>
              </a:rPr>
              <a:t>𝒚</a:t>
            </a:r>
            <a:r>
              <a:rPr dirty="0" sz="3200" spc="-285">
                <a:latin typeface="Cambria Math"/>
                <a:cs typeface="Cambria Math"/>
              </a:rPr>
              <a:t>-</a:t>
            </a:r>
            <a:r>
              <a:rPr dirty="0" baseline="-15700" sz="3450" spc="-427">
                <a:latin typeface="Cambria Math"/>
                <a:cs typeface="Cambria Math"/>
              </a:rPr>
              <a:t>0   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25">
                <a:latin typeface="Cambria Math"/>
                <a:cs typeface="Cambria Math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mbria Math"/>
                <a:cs typeface="Cambria Math"/>
              </a:rPr>
              <a:t>Sum</a:t>
            </a:r>
            <a:r>
              <a:rPr dirty="0" sz="3200" spc="-5">
                <a:latin typeface="Cambria Math"/>
                <a:cs typeface="Cambria Math"/>
              </a:rPr>
              <a:t>({𝐡</a:t>
            </a:r>
            <a:r>
              <a:rPr dirty="0" sz="3200" spc="275">
                <a:latin typeface="Cambria Math"/>
                <a:cs typeface="Cambria Math"/>
              </a:rPr>
              <a:t> </a:t>
            </a:r>
            <a:r>
              <a:rPr dirty="0" baseline="38647" sz="3450" spc="525">
                <a:latin typeface="Cambria Math"/>
                <a:cs typeface="Cambria Math"/>
              </a:rPr>
              <a:t>"	</a:t>
            </a:r>
            <a:r>
              <a:rPr dirty="0" sz="3200">
                <a:latin typeface="Cambria Math"/>
                <a:cs typeface="Cambria Math"/>
              </a:rPr>
              <a:t>∈ </a:t>
            </a:r>
            <a:r>
              <a:rPr dirty="0" sz="3200" spc="60">
                <a:latin typeface="Cambria Math"/>
                <a:cs typeface="Cambria Math"/>
              </a:rPr>
              <a:t>ℝ</a:t>
            </a:r>
            <a:r>
              <a:rPr dirty="0" baseline="28985" sz="3450" spc="89">
                <a:latin typeface="Cambria Math"/>
                <a:cs typeface="Cambria Math"/>
              </a:rPr>
              <a:t>#</a:t>
            </a:r>
            <a:r>
              <a:rPr dirty="0" sz="3200" spc="60">
                <a:latin typeface="Cambria Math"/>
                <a:cs typeface="Cambria Math"/>
              </a:rPr>
              <a:t>, </a:t>
            </a:r>
            <a:r>
              <a:rPr dirty="0" sz="3200">
                <a:latin typeface="Cambria Math"/>
                <a:cs typeface="Cambria Math"/>
              </a:rPr>
              <a:t>∀𝑣  ∈</a:t>
            </a:r>
            <a:r>
              <a:rPr dirty="0" sz="3200" spc="-360">
                <a:latin typeface="Cambria Math"/>
                <a:cs typeface="Cambria Math"/>
              </a:rPr>
              <a:t> </a:t>
            </a:r>
            <a:r>
              <a:rPr dirty="0" sz="3200" spc="35">
                <a:latin typeface="Cambria Math"/>
                <a:cs typeface="Cambria Math"/>
              </a:rPr>
              <a:t>𝐺})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18" name="object 18"/>
          <p:cNvSpPr txBox="1"/>
          <p:nvPr/>
        </p:nvSpPr>
        <p:spPr>
          <a:xfrm>
            <a:off x="618108" y="4925567"/>
            <a:ext cx="7246620" cy="1280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38430">
              <a:lnSpc>
                <a:spcPts val="2440"/>
              </a:lnSpc>
              <a:spcBef>
                <a:spcPts val="100"/>
              </a:spcBef>
            </a:pPr>
            <a:r>
              <a:rPr dirty="0" sz="2300" spc="63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  <a:p>
            <a:pPr marL="332740" indent="-320040">
              <a:lnSpc>
                <a:spcPts val="352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These options </a:t>
            </a:r>
            <a:r>
              <a:rPr dirty="0" sz="3200" spc="-15">
                <a:latin typeface="Calibri"/>
                <a:cs typeface="Calibri"/>
              </a:rPr>
              <a:t>work </a:t>
            </a:r>
            <a:r>
              <a:rPr dirty="0" sz="3200" spc="-20">
                <a:latin typeface="Calibri"/>
                <a:cs typeface="Calibri"/>
              </a:rPr>
              <a:t>great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 spc="-5">
                <a:latin typeface="Calibri"/>
                <a:cs typeface="Calibri"/>
              </a:rPr>
              <a:t>small</a:t>
            </a:r>
            <a:r>
              <a:rPr dirty="0" sz="3200" spc="1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Can </a:t>
            </a:r>
            <a:r>
              <a:rPr dirty="0" sz="3200" spc="-15" b="1">
                <a:latin typeface="Calibri"/>
                <a:cs typeface="Calibri"/>
              </a:rPr>
              <a:t>we </a:t>
            </a:r>
            <a:r>
              <a:rPr dirty="0" sz="3200" spc="-5" b="1">
                <a:latin typeface="Calibri"/>
                <a:cs typeface="Calibri"/>
              </a:rPr>
              <a:t>do </a:t>
            </a:r>
            <a:r>
              <a:rPr dirty="0" sz="3200" spc="-20" b="1">
                <a:latin typeface="Calibri"/>
                <a:cs typeface="Calibri"/>
              </a:rPr>
              <a:t>better for large</a:t>
            </a:r>
            <a:r>
              <a:rPr dirty="0" sz="3200" spc="25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graphs?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82331" y="20827"/>
            <a:ext cx="58305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K.</a:t>
            </a:r>
            <a:r>
              <a:rPr dirty="0" sz="12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Xu*,</a:t>
            </a:r>
            <a:r>
              <a:rPr dirty="0" sz="1200" spc="-7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W.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 Hu*,</a:t>
            </a:r>
            <a:r>
              <a:rPr dirty="0" sz="12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 Leskovec,</a:t>
            </a:r>
            <a:r>
              <a:rPr dirty="0" sz="12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S.</a:t>
            </a:r>
            <a:r>
              <a:rPr dirty="0" sz="12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Jegelka.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How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Powerful</a:t>
            </a:r>
            <a:r>
              <a:rPr dirty="0" sz="1200" spc="-55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Are</a:t>
            </a:r>
            <a:r>
              <a:rPr dirty="0" sz="1200" spc="-45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Graph</a:t>
            </a:r>
            <a:r>
              <a:rPr dirty="0" sz="1200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ICLR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2019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483352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8012430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solidFill>
                  <a:srgbClr val="000000"/>
                </a:solidFill>
              </a:rPr>
              <a:t>Issue: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Global pooling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over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(large) graph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will lose 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information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95">
                <a:solidFill>
                  <a:srgbClr val="000000"/>
                </a:solidFill>
              </a:rPr>
              <a:t>Toy </a:t>
            </a:r>
            <a:r>
              <a:rPr dirty="0" sz="3000" spc="-15">
                <a:solidFill>
                  <a:srgbClr val="000000"/>
                </a:solidFill>
              </a:rPr>
              <a:t>example: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use 1-dim node</a:t>
            </a:r>
            <a:r>
              <a:rPr dirty="0" sz="3000" spc="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embeddings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735579"/>
            <a:ext cx="8049259" cy="22974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67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Node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embeddings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for</a:t>
            </a:r>
            <a:r>
              <a:rPr dirty="0" sz="2600">
                <a:latin typeface="Calibri"/>
                <a:cs typeface="Calibri"/>
              </a:rPr>
              <a:t> </a:t>
            </a:r>
            <a:r>
              <a:rPr dirty="0" sz="2600" spc="185">
                <a:latin typeface="Cambria Math"/>
                <a:cs typeface="Cambria Math"/>
              </a:rPr>
              <a:t>𝐺</a:t>
            </a:r>
            <a:r>
              <a:rPr dirty="0" baseline="-16081" sz="2850" spc="277">
                <a:latin typeface="Cambria Math"/>
                <a:cs typeface="Cambria Math"/>
              </a:rPr>
              <a:t>'</a:t>
            </a:r>
            <a:r>
              <a:rPr dirty="0" sz="2600" spc="185">
                <a:latin typeface="Calibri"/>
                <a:cs typeface="Calibri"/>
              </a:rPr>
              <a:t>: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{−1,</a:t>
            </a:r>
            <a:r>
              <a:rPr dirty="0" sz="2600" spc="-140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−2,</a:t>
            </a:r>
            <a:r>
              <a:rPr dirty="0" sz="2600" spc="-140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0,</a:t>
            </a:r>
            <a:r>
              <a:rPr dirty="0" sz="2600" spc="-140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1,</a:t>
            </a:r>
            <a:r>
              <a:rPr dirty="0" sz="2600" spc="-140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2}</a:t>
            </a:r>
            <a:endParaRPr sz="2600">
              <a:latin typeface="Cambria Math"/>
              <a:cs typeface="Cambria Math"/>
            </a:endParaRPr>
          </a:p>
          <a:p>
            <a:pPr marL="625475" indent="-274320">
              <a:lnSpc>
                <a:spcPct val="100000"/>
              </a:lnSpc>
              <a:spcBef>
                <a:spcPts val="57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Node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embeddings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for</a:t>
            </a:r>
            <a:r>
              <a:rPr dirty="0" sz="2600">
                <a:latin typeface="Calibri"/>
                <a:cs typeface="Calibri"/>
              </a:rPr>
              <a:t> </a:t>
            </a:r>
            <a:r>
              <a:rPr dirty="0" sz="2600" spc="100">
                <a:latin typeface="Cambria Math"/>
                <a:cs typeface="Cambria Math"/>
              </a:rPr>
              <a:t>𝐺</a:t>
            </a:r>
            <a:r>
              <a:rPr dirty="0" baseline="-16081" sz="2850" spc="150">
                <a:latin typeface="Cambria Math"/>
                <a:cs typeface="Cambria Math"/>
              </a:rPr>
              <a:t>(</a:t>
            </a:r>
            <a:r>
              <a:rPr dirty="0" sz="2600" spc="100">
                <a:latin typeface="Calibri"/>
                <a:cs typeface="Calibri"/>
              </a:rPr>
              <a:t>: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{−10,</a:t>
            </a:r>
            <a:r>
              <a:rPr dirty="0" sz="2600" spc="-140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−20,</a:t>
            </a:r>
            <a:r>
              <a:rPr dirty="0" sz="2600" spc="-140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0,</a:t>
            </a:r>
            <a:r>
              <a:rPr dirty="0" sz="2600" spc="-140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10,</a:t>
            </a:r>
            <a:r>
              <a:rPr dirty="0" sz="2600" spc="-140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20}</a:t>
            </a:r>
            <a:endParaRPr sz="2600">
              <a:latin typeface="Cambria Math"/>
              <a:cs typeface="Cambria Math"/>
            </a:endParaRPr>
          </a:p>
          <a:p>
            <a:pPr marL="625475" indent="-274320">
              <a:lnSpc>
                <a:spcPts val="3110"/>
              </a:lnSpc>
              <a:spcBef>
                <a:spcPts val="695"/>
              </a:spcBef>
              <a:buFont typeface="Arial"/>
              <a:buChar char="▪"/>
              <a:tabLst>
                <a:tab pos="625475" algn="l"/>
              </a:tabLst>
            </a:pPr>
            <a:r>
              <a:rPr dirty="0" sz="2600" spc="-5">
                <a:solidFill>
                  <a:srgbClr val="60B5CC"/>
                </a:solidFill>
                <a:latin typeface="Calibri"/>
                <a:cs typeface="Calibri"/>
              </a:rPr>
              <a:t>Clearly </a:t>
            </a:r>
            <a:r>
              <a:rPr dirty="0" sz="2600" spc="250">
                <a:solidFill>
                  <a:srgbClr val="60B5CC"/>
                </a:solidFill>
                <a:latin typeface="Cambria Math"/>
                <a:cs typeface="Cambria Math"/>
              </a:rPr>
              <a:t>𝐺</a:t>
            </a:r>
            <a:r>
              <a:rPr dirty="0" baseline="-16081" sz="2850" spc="375">
                <a:solidFill>
                  <a:srgbClr val="60B5CC"/>
                </a:solidFill>
                <a:latin typeface="Cambria Math"/>
                <a:cs typeface="Cambria Math"/>
              </a:rPr>
              <a:t>' </a:t>
            </a:r>
            <a:r>
              <a:rPr dirty="0" sz="2600" spc="-5">
                <a:solidFill>
                  <a:srgbClr val="60B5CC"/>
                </a:solidFill>
                <a:latin typeface="Calibri"/>
                <a:cs typeface="Calibri"/>
              </a:rPr>
              <a:t>and </a:t>
            </a:r>
            <a:r>
              <a:rPr dirty="0" sz="2600" spc="110">
                <a:solidFill>
                  <a:srgbClr val="60B5CC"/>
                </a:solidFill>
                <a:latin typeface="Cambria Math"/>
                <a:cs typeface="Cambria Math"/>
              </a:rPr>
              <a:t>𝐺</a:t>
            </a:r>
            <a:r>
              <a:rPr dirty="0" baseline="-16081" sz="2850" spc="165">
                <a:solidFill>
                  <a:srgbClr val="60B5CC"/>
                </a:solidFill>
                <a:latin typeface="Cambria Math"/>
                <a:cs typeface="Cambria Math"/>
              </a:rPr>
              <a:t>( </a:t>
            </a:r>
            <a:r>
              <a:rPr dirty="0" sz="2600" spc="-20">
                <a:solidFill>
                  <a:srgbClr val="60B5CC"/>
                </a:solidFill>
                <a:latin typeface="Calibri"/>
                <a:cs typeface="Calibri"/>
              </a:rPr>
              <a:t>have </a:t>
            </a:r>
            <a:r>
              <a:rPr dirty="0" sz="2600" spc="-10">
                <a:solidFill>
                  <a:srgbClr val="60B5CC"/>
                </a:solidFill>
                <a:latin typeface="Calibri"/>
                <a:cs typeface="Calibri"/>
              </a:rPr>
              <a:t>very </a:t>
            </a:r>
            <a:r>
              <a:rPr dirty="0" sz="2600" spc="-25">
                <a:solidFill>
                  <a:srgbClr val="60B5CC"/>
                </a:solidFill>
                <a:latin typeface="Calibri"/>
                <a:cs typeface="Calibri"/>
              </a:rPr>
              <a:t>different </a:t>
            </a:r>
            <a:r>
              <a:rPr dirty="0" sz="2600" spc="-5">
                <a:solidFill>
                  <a:srgbClr val="60B5CC"/>
                </a:solidFill>
                <a:latin typeface="Calibri"/>
                <a:cs typeface="Calibri"/>
              </a:rPr>
              <a:t>node</a:t>
            </a:r>
            <a:r>
              <a:rPr dirty="0" sz="2600" spc="-130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600" spc="-5">
                <a:solidFill>
                  <a:srgbClr val="60B5CC"/>
                </a:solidFill>
                <a:latin typeface="Calibri"/>
                <a:cs typeface="Calibri"/>
              </a:rPr>
              <a:t>embeddings</a:t>
            </a:r>
            <a:endParaRPr sz="2600">
              <a:latin typeface="Calibri"/>
              <a:cs typeface="Calibri"/>
            </a:endParaRPr>
          </a:p>
          <a:p>
            <a:pPr marL="625475">
              <a:lnSpc>
                <a:spcPts val="3100"/>
              </a:lnSpc>
            </a:pPr>
            <a:r>
              <a:rPr dirty="0" sz="2600" spc="1100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dirty="0" sz="2600" spc="-15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Their </a:t>
            </a:r>
            <a:r>
              <a:rPr dirty="0" sz="2600" spc="-10">
                <a:solidFill>
                  <a:srgbClr val="C00000"/>
                </a:solidFill>
                <a:latin typeface="Calibri"/>
                <a:cs typeface="Calibri"/>
              </a:rPr>
              <a:t>structures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should be </a:t>
            </a:r>
            <a:r>
              <a:rPr dirty="0" sz="2600" spc="-25">
                <a:solidFill>
                  <a:srgbClr val="C00000"/>
                </a:solidFill>
                <a:latin typeface="Calibri"/>
                <a:cs typeface="Calibri"/>
              </a:rPr>
              <a:t>different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59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b="1">
                <a:latin typeface="Calibri"/>
                <a:cs typeface="Calibri"/>
              </a:rPr>
              <a:t>If </a:t>
            </a:r>
            <a:r>
              <a:rPr dirty="0" sz="3000" spc="-15" b="1">
                <a:latin typeface="Calibri"/>
                <a:cs typeface="Calibri"/>
              </a:rPr>
              <a:t>we </a:t>
            </a:r>
            <a:r>
              <a:rPr dirty="0" sz="3000" b="1">
                <a:latin typeface="Calibri"/>
                <a:cs typeface="Calibri"/>
              </a:rPr>
              <a:t>do </a:t>
            </a:r>
            <a:r>
              <a:rPr dirty="0" sz="3000" spc="-5" b="1">
                <a:latin typeface="Calibri"/>
                <a:cs typeface="Calibri"/>
              </a:rPr>
              <a:t>global </a:t>
            </a:r>
            <a:r>
              <a:rPr dirty="0" sz="3000" b="1">
                <a:latin typeface="Calibri"/>
                <a:cs typeface="Calibri"/>
              </a:rPr>
              <a:t>sum</a:t>
            </a:r>
            <a:r>
              <a:rPr dirty="0" sz="3000" spc="-8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pooling: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34738" y="5178238"/>
            <a:ext cx="2370455" cy="306070"/>
          </a:xfrm>
          <a:custGeom>
            <a:avLst/>
            <a:gdLst/>
            <a:ahLst/>
            <a:cxnLst/>
            <a:rect l="l" t="t" r="r" b="b"/>
            <a:pathLst>
              <a:path w="2370454" h="306070">
                <a:moveTo>
                  <a:pt x="2272347" y="0"/>
                </a:moveTo>
                <a:lnTo>
                  <a:pt x="2267995" y="12414"/>
                </a:lnTo>
                <a:lnTo>
                  <a:pt x="2285700" y="20097"/>
                </a:lnTo>
                <a:lnTo>
                  <a:pt x="2300926" y="30733"/>
                </a:lnTo>
                <a:lnTo>
                  <a:pt x="2331842" y="80034"/>
                </a:lnTo>
                <a:lnTo>
                  <a:pt x="2340870" y="125300"/>
                </a:lnTo>
                <a:lnTo>
                  <a:pt x="2341999" y="151395"/>
                </a:lnTo>
                <a:lnTo>
                  <a:pt x="2340865" y="178370"/>
                </a:lnTo>
                <a:lnTo>
                  <a:pt x="2331796" y="224885"/>
                </a:lnTo>
                <a:lnTo>
                  <a:pt x="2313597" y="261213"/>
                </a:lnTo>
                <a:lnTo>
                  <a:pt x="2268477" y="293438"/>
                </a:lnTo>
                <a:lnTo>
                  <a:pt x="2272347" y="305854"/>
                </a:lnTo>
                <a:lnTo>
                  <a:pt x="2314066" y="286284"/>
                </a:lnTo>
                <a:lnTo>
                  <a:pt x="2344740" y="252406"/>
                </a:lnTo>
                <a:lnTo>
                  <a:pt x="2363604" y="207039"/>
                </a:lnTo>
                <a:lnTo>
                  <a:pt x="2369892" y="153007"/>
                </a:lnTo>
                <a:lnTo>
                  <a:pt x="2368315" y="124968"/>
                </a:lnTo>
                <a:lnTo>
                  <a:pt x="2355699" y="75269"/>
                </a:lnTo>
                <a:lnTo>
                  <a:pt x="2330678" y="34810"/>
                </a:lnTo>
                <a:lnTo>
                  <a:pt x="2294522" y="8006"/>
                </a:lnTo>
                <a:lnTo>
                  <a:pt x="2272347" y="0"/>
                </a:lnTo>
                <a:close/>
              </a:path>
              <a:path w="2370454" h="306070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3"/>
                </a:lnTo>
                <a:lnTo>
                  <a:pt x="75305" y="297857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0"/>
                </a:lnTo>
                <a:lnTo>
                  <a:pt x="38095" y="80034"/>
                </a:lnTo>
                <a:lnTo>
                  <a:pt x="56325" y="44322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58066" y="5177402"/>
            <a:ext cx="2123440" cy="307975"/>
          </a:xfrm>
          <a:custGeom>
            <a:avLst/>
            <a:gdLst/>
            <a:ahLst/>
            <a:cxnLst/>
            <a:rect l="l" t="t" r="r" b="b"/>
            <a:pathLst>
              <a:path w="2123440" h="307975">
                <a:moveTo>
                  <a:pt x="2024579" y="0"/>
                </a:moveTo>
                <a:lnTo>
                  <a:pt x="2020387" y="0"/>
                </a:lnTo>
                <a:lnTo>
                  <a:pt x="2020387" y="12252"/>
                </a:lnTo>
                <a:lnTo>
                  <a:pt x="2022806" y="12252"/>
                </a:lnTo>
                <a:lnTo>
                  <a:pt x="2033860" y="13013"/>
                </a:lnTo>
                <a:lnTo>
                  <a:pt x="2069320" y="40569"/>
                </a:lnTo>
                <a:lnTo>
                  <a:pt x="2072626" y="64653"/>
                </a:lnTo>
                <a:lnTo>
                  <a:pt x="2072424" y="70628"/>
                </a:lnTo>
                <a:lnTo>
                  <a:pt x="2071820" y="77269"/>
                </a:lnTo>
                <a:lnTo>
                  <a:pt x="2070812" y="84575"/>
                </a:lnTo>
                <a:lnTo>
                  <a:pt x="2069401" y="92546"/>
                </a:lnTo>
                <a:lnTo>
                  <a:pt x="2067252" y="103616"/>
                </a:lnTo>
                <a:lnTo>
                  <a:pt x="2066176" y="111517"/>
                </a:lnTo>
                <a:lnTo>
                  <a:pt x="2066176" y="125383"/>
                </a:lnTo>
                <a:lnTo>
                  <a:pt x="2068864" y="132880"/>
                </a:lnTo>
                <a:lnTo>
                  <a:pt x="2079613" y="144597"/>
                </a:lnTo>
                <a:lnTo>
                  <a:pt x="2086008" y="148922"/>
                </a:lnTo>
                <a:lnTo>
                  <a:pt x="2093424" y="151718"/>
                </a:lnTo>
                <a:lnTo>
                  <a:pt x="2093424" y="154619"/>
                </a:lnTo>
                <a:lnTo>
                  <a:pt x="2086008" y="157413"/>
                </a:lnTo>
                <a:lnTo>
                  <a:pt x="2079613" y="161740"/>
                </a:lnTo>
                <a:lnTo>
                  <a:pt x="2068864" y="173456"/>
                </a:lnTo>
                <a:lnTo>
                  <a:pt x="2066176" y="180954"/>
                </a:lnTo>
                <a:lnTo>
                  <a:pt x="2066176" y="194820"/>
                </a:lnTo>
                <a:lnTo>
                  <a:pt x="2067252" y="202719"/>
                </a:lnTo>
                <a:lnTo>
                  <a:pt x="2069401" y="213791"/>
                </a:lnTo>
                <a:lnTo>
                  <a:pt x="2070812" y="221762"/>
                </a:lnTo>
                <a:lnTo>
                  <a:pt x="2071820" y="229067"/>
                </a:lnTo>
                <a:lnTo>
                  <a:pt x="2072424" y="235708"/>
                </a:lnTo>
                <a:lnTo>
                  <a:pt x="2072626" y="241684"/>
                </a:lnTo>
                <a:lnTo>
                  <a:pt x="2071799" y="255212"/>
                </a:lnTo>
                <a:lnTo>
                  <a:pt x="2052160" y="288365"/>
                </a:lnTo>
                <a:lnTo>
                  <a:pt x="2022806" y="295212"/>
                </a:lnTo>
                <a:lnTo>
                  <a:pt x="2020387" y="295212"/>
                </a:lnTo>
                <a:lnTo>
                  <a:pt x="2020387" y="307465"/>
                </a:lnTo>
                <a:lnTo>
                  <a:pt x="2024579" y="307465"/>
                </a:lnTo>
                <a:lnTo>
                  <a:pt x="2042330" y="306141"/>
                </a:lnTo>
                <a:lnTo>
                  <a:pt x="2081251" y="290134"/>
                </a:lnTo>
                <a:lnTo>
                  <a:pt x="2098861" y="254990"/>
                </a:lnTo>
                <a:lnTo>
                  <a:pt x="2100035" y="238781"/>
                </a:lnTo>
                <a:lnTo>
                  <a:pt x="2099798" y="231859"/>
                </a:lnTo>
                <a:lnTo>
                  <a:pt x="2099088" y="224473"/>
                </a:lnTo>
                <a:lnTo>
                  <a:pt x="2097904" y="216623"/>
                </a:lnTo>
                <a:lnTo>
                  <a:pt x="2096246" y="208309"/>
                </a:lnTo>
                <a:lnTo>
                  <a:pt x="2093720" y="196916"/>
                </a:lnTo>
                <a:lnTo>
                  <a:pt x="2092458" y="189284"/>
                </a:lnTo>
                <a:lnTo>
                  <a:pt x="2092458" y="177998"/>
                </a:lnTo>
                <a:lnTo>
                  <a:pt x="2095011" y="171951"/>
                </a:lnTo>
                <a:lnTo>
                  <a:pt x="2105221" y="162600"/>
                </a:lnTo>
                <a:lnTo>
                  <a:pt x="2112934" y="160101"/>
                </a:lnTo>
                <a:lnTo>
                  <a:pt x="2123253" y="159778"/>
                </a:lnTo>
                <a:lnTo>
                  <a:pt x="2123253" y="146558"/>
                </a:lnTo>
                <a:lnTo>
                  <a:pt x="2112934" y="146235"/>
                </a:lnTo>
                <a:lnTo>
                  <a:pt x="2105221" y="143737"/>
                </a:lnTo>
                <a:lnTo>
                  <a:pt x="2095011" y="134385"/>
                </a:lnTo>
                <a:lnTo>
                  <a:pt x="2092458" y="128339"/>
                </a:lnTo>
                <a:lnTo>
                  <a:pt x="2092458" y="117053"/>
                </a:lnTo>
                <a:lnTo>
                  <a:pt x="2093720" y="109421"/>
                </a:lnTo>
                <a:lnTo>
                  <a:pt x="2096246" y="98027"/>
                </a:lnTo>
                <a:lnTo>
                  <a:pt x="2097904" y="89714"/>
                </a:lnTo>
                <a:lnTo>
                  <a:pt x="2099088" y="81864"/>
                </a:lnTo>
                <a:lnTo>
                  <a:pt x="2099798" y="74478"/>
                </a:lnTo>
                <a:lnTo>
                  <a:pt x="2100035" y="67555"/>
                </a:lnTo>
                <a:lnTo>
                  <a:pt x="2098861" y="51840"/>
                </a:lnTo>
                <a:lnTo>
                  <a:pt x="2081251" y="17331"/>
                </a:lnTo>
                <a:lnTo>
                  <a:pt x="2042330" y="1324"/>
                </a:lnTo>
                <a:lnTo>
                  <a:pt x="2024579" y="0"/>
                </a:lnTo>
                <a:close/>
              </a:path>
              <a:path w="2123440" h="307975">
                <a:moveTo>
                  <a:pt x="102864" y="0"/>
                </a:moveTo>
                <a:lnTo>
                  <a:pt x="98673" y="0"/>
                </a:lnTo>
                <a:lnTo>
                  <a:pt x="80922" y="1324"/>
                </a:lnTo>
                <a:lnTo>
                  <a:pt x="42001" y="17331"/>
                </a:lnTo>
                <a:lnTo>
                  <a:pt x="24392" y="51749"/>
                </a:lnTo>
                <a:lnTo>
                  <a:pt x="23323" y="70467"/>
                </a:lnTo>
                <a:lnTo>
                  <a:pt x="23454" y="74316"/>
                </a:lnTo>
                <a:lnTo>
                  <a:pt x="24165" y="81703"/>
                </a:lnTo>
                <a:lnTo>
                  <a:pt x="25348" y="89553"/>
                </a:lnTo>
                <a:lnTo>
                  <a:pt x="27006" y="97866"/>
                </a:lnTo>
                <a:lnTo>
                  <a:pt x="29532" y="109260"/>
                </a:lnTo>
                <a:lnTo>
                  <a:pt x="30794" y="116892"/>
                </a:lnTo>
                <a:lnTo>
                  <a:pt x="30794" y="128178"/>
                </a:lnTo>
                <a:lnTo>
                  <a:pt x="28242" y="134223"/>
                </a:lnTo>
                <a:lnTo>
                  <a:pt x="18031" y="143576"/>
                </a:lnTo>
                <a:lnTo>
                  <a:pt x="10318" y="146074"/>
                </a:lnTo>
                <a:lnTo>
                  <a:pt x="0" y="146396"/>
                </a:lnTo>
                <a:lnTo>
                  <a:pt x="0" y="159617"/>
                </a:lnTo>
                <a:lnTo>
                  <a:pt x="10318" y="159939"/>
                </a:lnTo>
                <a:lnTo>
                  <a:pt x="18031" y="162439"/>
                </a:lnTo>
                <a:lnTo>
                  <a:pt x="28242" y="171790"/>
                </a:lnTo>
                <a:lnTo>
                  <a:pt x="30794" y="177836"/>
                </a:lnTo>
                <a:lnTo>
                  <a:pt x="30794" y="189123"/>
                </a:lnTo>
                <a:lnTo>
                  <a:pt x="29532" y="196754"/>
                </a:lnTo>
                <a:lnTo>
                  <a:pt x="27006" y="208147"/>
                </a:lnTo>
                <a:lnTo>
                  <a:pt x="25348" y="216461"/>
                </a:lnTo>
                <a:lnTo>
                  <a:pt x="24165" y="224311"/>
                </a:lnTo>
                <a:lnTo>
                  <a:pt x="23454" y="231698"/>
                </a:lnTo>
                <a:lnTo>
                  <a:pt x="23218" y="238620"/>
                </a:lnTo>
                <a:lnTo>
                  <a:pt x="24392" y="254899"/>
                </a:lnTo>
                <a:lnTo>
                  <a:pt x="42001" y="290134"/>
                </a:lnTo>
                <a:lnTo>
                  <a:pt x="80922" y="306141"/>
                </a:lnTo>
                <a:lnTo>
                  <a:pt x="98673" y="307465"/>
                </a:lnTo>
                <a:lnTo>
                  <a:pt x="102864" y="307465"/>
                </a:lnTo>
                <a:lnTo>
                  <a:pt x="102864" y="295212"/>
                </a:lnTo>
                <a:lnTo>
                  <a:pt x="100446" y="295212"/>
                </a:lnTo>
                <a:lnTo>
                  <a:pt x="89392" y="294451"/>
                </a:lnTo>
                <a:lnTo>
                  <a:pt x="53932" y="266574"/>
                </a:lnTo>
                <a:lnTo>
                  <a:pt x="50627" y="241523"/>
                </a:lnTo>
                <a:lnTo>
                  <a:pt x="50828" y="235547"/>
                </a:lnTo>
                <a:lnTo>
                  <a:pt x="51433" y="228906"/>
                </a:lnTo>
                <a:lnTo>
                  <a:pt x="52440" y="221601"/>
                </a:lnTo>
                <a:lnTo>
                  <a:pt x="53851" y="213630"/>
                </a:lnTo>
                <a:lnTo>
                  <a:pt x="56000" y="202558"/>
                </a:lnTo>
                <a:lnTo>
                  <a:pt x="57076" y="194659"/>
                </a:lnTo>
                <a:lnTo>
                  <a:pt x="57076" y="180793"/>
                </a:lnTo>
                <a:lnTo>
                  <a:pt x="54389" y="173295"/>
                </a:lnTo>
                <a:lnTo>
                  <a:pt x="43639" y="161579"/>
                </a:lnTo>
                <a:lnTo>
                  <a:pt x="37244" y="157252"/>
                </a:lnTo>
                <a:lnTo>
                  <a:pt x="29828" y="154458"/>
                </a:lnTo>
                <a:lnTo>
                  <a:pt x="29828" y="151556"/>
                </a:lnTo>
                <a:lnTo>
                  <a:pt x="37244" y="148761"/>
                </a:lnTo>
                <a:lnTo>
                  <a:pt x="43639" y="144435"/>
                </a:lnTo>
                <a:lnTo>
                  <a:pt x="54389" y="132718"/>
                </a:lnTo>
                <a:lnTo>
                  <a:pt x="57076" y="125222"/>
                </a:lnTo>
                <a:lnTo>
                  <a:pt x="57076" y="111356"/>
                </a:lnTo>
                <a:lnTo>
                  <a:pt x="56000" y="103455"/>
                </a:lnTo>
                <a:lnTo>
                  <a:pt x="53851" y="92384"/>
                </a:lnTo>
                <a:lnTo>
                  <a:pt x="52440" y="84414"/>
                </a:lnTo>
                <a:lnTo>
                  <a:pt x="51433" y="77108"/>
                </a:lnTo>
                <a:lnTo>
                  <a:pt x="50828" y="70467"/>
                </a:lnTo>
                <a:lnTo>
                  <a:pt x="50627" y="64491"/>
                </a:lnTo>
                <a:lnTo>
                  <a:pt x="51453" y="51527"/>
                </a:lnTo>
                <a:lnTo>
                  <a:pt x="79608" y="15296"/>
                </a:lnTo>
                <a:lnTo>
                  <a:pt x="100446" y="12252"/>
                </a:lnTo>
                <a:lnTo>
                  <a:pt x="102864" y="12252"/>
                </a:lnTo>
                <a:lnTo>
                  <a:pt x="1028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56563" y="4997196"/>
            <a:ext cx="4170045" cy="988694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7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600" spc="-5" b="1">
                <a:latin typeface="Calibri"/>
                <a:cs typeface="Calibri"/>
              </a:rPr>
              <a:t>Prediction </a:t>
            </a:r>
            <a:r>
              <a:rPr dirty="0" sz="2600" spc="-15" b="1">
                <a:latin typeface="Calibri"/>
                <a:cs typeface="Calibri"/>
              </a:rPr>
              <a:t>for </a:t>
            </a:r>
            <a:r>
              <a:rPr dirty="0" sz="2600" spc="185">
                <a:latin typeface="Cambria Math"/>
                <a:cs typeface="Cambria Math"/>
              </a:rPr>
              <a:t>𝐺</a:t>
            </a:r>
            <a:r>
              <a:rPr dirty="0" baseline="-16081" sz="2850" spc="277">
                <a:latin typeface="Cambria Math"/>
                <a:cs typeface="Cambria Math"/>
              </a:rPr>
              <a:t>'</a:t>
            </a:r>
            <a:r>
              <a:rPr dirty="0" sz="2600" spc="185">
                <a:latin typeface="Calibri"/>
                <a:cs typeface="Calibri"/>
              </a:rPr>
              <a:t>: </a:t>
            </a:r>
            <a:r>
              <a:rPr dirty="0" sz="2600" spc="-360">
                <a:latin typeface="Cambria Math"/>
                <a:cs typeface="Cambria Math"/>
              </a:rPr>
              <a:t>𝑦1</a:t>
            </a:r>
            <a:r>
              <a:rPr dirty="0" baseline="-16081" sz="2850" spc="-540">
                <a:latin typeface="Cambria Math"/>
                <a:cs typeface="Cambria Math"/>
              </a:rPr>
              <a:t>)           </a:t>
            </a:r>
            <a:r>
              <a:rPr dirty="0" sz="2600">
                <a:latin typeface="Cambria Math"/>
                <a:cs typeface="Cambria Math"/>
              </a:rPr>
              <a:t>=</a:t>
            </a:r>
            <a:r>
              <a:rPr dirty="0" sz="2600" spc="-80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Sum</a:t>
            </a:r>
            <a:endParaRPr sz="26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67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600" spc="-5" b="1">
                <a:latin typeface="Calibri"/>
                <a:cs typeface="Calibri"/>
              </a:rPr>
              <a:t>Prediction </a:t>
            </a:r>
            <a:r>
              <a:rPr dirty="0" sz="2600" spc="-15" b="1">
                <a:latin typeface="Calibri"/>
                <a:cs typeface="Calibri"/>
              </a:rPr>
              <a:t>for </a:t>
            </a:r>
            <a:r>
              <a:rPr dirty="0" sz="2600" spc="100">
                <a:latin typeface="Cambria Math"/>
                <a:cs typeface="Cambria Math"/>
              </a:rPr>
              <a:t>𝐺</a:t>
            </a:r>
            <a:r>
              <a:rPr dirty="0" baseline="-16081" sz="2850" spc="150">
                <a:latin typeface="Cambria Math"/>
                <a:cs typeface="Cambria Math"/>
              </a:rPr>
              <a:t>(</a:t>
            </a:r>
            <a:r>
              <a:rPr dirty="0" sz="2600" spc="100">
                <a:latin typeface="Calibri"/>
                <a:cs typeface="Calibri"/>
              </a:rPr>
              <a:t>: </a:t>
            </a:r>
            <a:r>
              <a:rPr dirty="0" sz="2600" spc="-360">
                <a:latin typeface="Cambria Math"/>
                <a:cs typeface="Cambria Math"/>
              </a:rPr>
              <a:t>𝑦1</a:t>
            </a:r>
            <a:r>
              <a:rPr dirty="0" baseline="-16081" sz="2850" spc="-540">
                <a:latin typeface="Cambria Math"/>
                <a:cs typeface="Cambria Math"/>
              </a:rPr>
              <a:t>)           </a:t>
            </a:r>
            <a:r>
              <a:rPr dirty="0" sz="2600">
                <a:latin typeface="Cambria Math"/>
                <a:cs typeface="Cambria Math"/>
              </a:rPr>
              <a:t>= </a:t>
            </a:r>
            <a:r>
              <a:rPr dirty="0" sz="2600" spc="-5">
                <a:latin typeface="Cambria Math"/>
                <a:cs typeface="Cambria Math"/>
              </a:rPr>
              <a:t>Sum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42358" y="5660837"/>
            <a:ext cx="3100705" cy="306070"/>
          </a:xfrm>
          <a:custGeom>
            <a:avLst/>
            <a:gdLst/>
            <a:ahLst/>
            <a:cxnLst/>
            <a:rect l="l" t="t" r="r" b="b"/>
            <a:pathLst>
              <a:path w="3100704" h="306070">
                <a:moveTo>
                  <a:pt x="3002598" y="0"/>
                </a:moveTo>
                <a:lnTo>
                  <a:pt x="2998245" y="12414"/>
                </a:lnTo>
                <a:lnTo>
                  <a:pt x="3015950" y="20098"/>
                </a:lnTo>
                <a:lnTo>
                  <a:pt x="3031176" y="30734"/>
                </a:lnTo>
                <a:lnTo>
                  <a:pt x="3062092" y="80035"/>
                </a:lnTo>
                <a:lnTo>
                  <a:pt x="3071120" y="125301"/>
                </a:lnTo>
                <a:lnTo>
                  <a:pt x="3072249" y="151395"/>
                </a:lnTo>
                <a:lnTo>
                  <a:pt x="3071115" y="178371"/>
                </a:lnTo>
                <a:lnTo>
                  <a:pt x="3062047" y="224886"/>
                </a:lnTo>
                <a:lnTo>
                  <a:pt x="3043848" y="261213"/>
                </a:lnTo>
                <a:lnTo>
                  <a:pt x="2998729" y="293439"/>
                </a:lnTo>
                <a:lnTo>
                  <a:pt x="3002598" y="305854"/>
                </a:lnTo>
                <a:lnTo>
                  <a:pt x="3044316" y="286284"/>
                </a:lnTo>
                <a:lnTo>
                  <a:pt x="3074991" y="252406"/>
                </a:lnTo>
                <a:lnTo>
                  <a:pt x="3093854" y="207040"/>
                </a:lnTo>
                <a:lnTo>
                  <a:pt x="3100142" y="153007"/>
                </a:lnTo>
                <a:lnTo>
                  <a:pt x="3098565" y="124968"/>
                </a:lnTo>
                <a:lnTo>
                  <a:pt x="3085949" y="75269"/>
                </a:lnTo>
                <a:lnTo>
                  <a:pt x="3060928" y="34810"/>
                </a:lnTo>
                <a:lnTo>
                  <a:pt x="3024772" y="8006"/>
                </a:lnTo>
                <a:lnTo>
                  <a:pt x="3002598" y="0"/>
                </a:lnTo>
                <a:close/>
              </a:path>
              <a:path w="3100704" h="306070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6"/>
                </a:lnTo>
                <a:lnTo>
                  <a:pt x="0" y="153007"/>
                </a:lnTo>
                <a:lnTo>
                  <a:pt x="1572" y="181107"/>
                </a:lnTo>
                <a:lnTo>
                  <a:pt x="14148" y="230806"/>
                </a:lnTo>
                <a:lnTo>
                  <a:pt x="39108" y="271134"/>
                </a:lnTo>
                <a:lnTo>
                  <a:pt x="75305" y="297858"/>
                </a:lnTo>
                <a:lnTo>
                  <a:pt x="97544" y="305854"/>
                </a:lnTo>
                <a:lnTo>
                  <a:pt x="101414" y="293439"/>
                </a:lnTo>
                <a:lnTo>
                  <a:pt x="83986" y="285720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8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5" y="80035"/>
                </a:lnTo>
                <a:lnTo>
                  <a:pt x="56325" y="44323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65686" y="5660002"/>
            <a:ext cx="2853690" cy="307975"/>
          </a:xfrm>
          <a:custGeom>
            <a:avLst/>
            <a:gdLst/>
            <a:ahLst/>
            <a:cxnLst/>
            <a:rect l="l" t="t" r="r" b="b"/>
            <a:pathLst>
              <a:path w="2853690" h="307975">
                <a:moveTo>
                  <a:pt x="2754830" y="0"/>
                </a:moveTo>
                <a:lnTo>
                  <a:pt x="2750638" y="0"/>
                </a:lnTo>
                <a:lnTo>
                  <a:pt x="2750638" y="12253"/>
                </a:lnTo>
                <a:lnTo>
                  <a:pt x="2753056" y="12253"/>
                </a:lnTo>
                <a:lnTo>
                  <a:pt x="2764110" y="13014"/>
                </a:lnTo>
                <a:lnTo>
                  <a:pt x="2799571" y="40569"/>
                </a:lnTo>
                <a:lnTo>
                  <a:pt x="2802877" y="64653"/>
                </a:lnTo>
                <a:lnTo>
                  <a:pt x="2802675" y="70629"/>
                </a:lnTo>
                <a:lnTo>
                  <a:pt x="2802070" y="77269"/>
                </a:lnTo>
                <a:lnTo>
                  <a:pt x="2801063" y="84575"/>
                </a:lnTo>
                <a:lnTo>
                  <a:pt x="2799652" y="92546"/>
                </a:lnTo>
                <a:lnTo>
                  <a:pt x="2797501" y="103617"/>
                </a:lnTo>
                <a:lnTo>
                  <a:pt x="2796428" y="111517"/>
                </a:lnTo>
                <a:lnTo>
                  <a:pt x="2796428" y="125383"/>
                </a:lnTo>
                <a:lnTo>
                  <a:pt x="2799114" y="132880"/>
                </a:lnTo>
                <a:lnTo>
                  <a:pt x="2809863" y="144596"/>
                </a:lnTo>
                <a:lnTo>
                  <a:pt x="2816259" y="148923"/>
                </a:lnTo>
                <a:lnTo>
                  <a:pt x="2823676" y="151717"/>
                </a:lnTo>
                <a:lnTo>
                  <a:pt x="2823676" y="154620"/>
                </a:lnTo>
                <a:lnTo>
                  <a:pt x="2816259" y="157414"/>
                </a:lnTo>
                <a:lnTo>
                  <a:pt x="2809863" y="161741"/>
                </a:lnTo>
                <a:lnTo>
                  <a:pt x="2799114" y="173457"/>
                </a:lnTo>
                <a:lnTo>
                  <a:pt x="2796428" y="180954"/>
                </a:lnTo>
                <a:lnTo>
                  <a:pt x="2796428" y="194820"/>
                </a:lnTo>
                <a:lnTo>
                  <a:pt x="2797501" y="202720"/>
                </a:lnTo>
                <a:lnTo>
                  <a:pt x="2799652" y="213791"/>
                </a:lnTo>
                <a:lnTo>
                  <a:pt x="2801063" y="221762"/>
                </a:lnTo>
                <a:lnTo>
                  <a:pt x="2802070" y="229068"/>
                </a:lnTo>
                <a:lnTo>
                  <a:pt x="2802675" y="235708"/>
                </a:lnTo>
                <a:lnTo>
                  <a:pt x="2802877" y="241684"/>
                </a:lnTo>
                <a:lnTo>
                  <a:pt x="2802050" y="255212"/>
                </a:lnTo>
                <a:lnTo>
                  <a:pt x="2782410" y="288365"/>
                </a:lnTo>
                <a:lnTo>
                  <a:pt x="2753056" y="295213"/>
                </a:lnTo>
                <a:lnTo>
                  <a:pt x="2750638" y="295213"/>
                </a:lnTo>
                <a:lnTo>
                  <a:pt x="2750638" y="307466"/>
                </a:lnTo>
                <a:lnTo>
                  <a:pt x="2754830" y="307466"/>
                </a:lnTo>
                <a:lnTo>
                  <a:pt x="2772580" y="306141"/>
                </a:lnTo>
                <a:lnTo>
                  <a:pt x="2811503" y="290134"/>
                </a:lnTo>
                <a:lnTo>
                  <a:pt x="2829112" y="254991"/>
                </a:lnTo>
                <a:lnTo>
                  <a:pt x="2830286" y="238782"/>
                </a:lnTo>
                <a:lnTo>
                  <a:pt x="2830049" y="231859"/>
                </a:lnTo>
                <a:lnTo>
                  <a:pt x="2829338" y="224473"/>
                </a:lnTo>
                <a:lnTo>
                  <a:pt x="2828154" y="216623"/>
                </a:lnTo>
                <a:lnTo>
                  <a:pt x="2826496" y="208309"/>
                </a:lnTo>
                <a:lnTo>
                  <a:pt x="2823970" y="196916"/>
                </a:lnTo>
                <a:lnTo>
                  <a:pt x="2822708" y="189284"/>
                </a:lnTo>
                <a:lnTo>
                  <a:pt x="2822708" y="177998"/>
                </a:lnTo>
                <a:lnTo>
                  <a:pt x="2825261" y="171952"/>
                </a:lnTo>
                <a:lnTo>
                  <a:pt x="2835471" y="162600"/>
                </a:lnTo>
                <a:lnTo>
                  <a:pt x="2843184" y="160101"/>
                </a:lnTo>
                <a:lnTo>
                  <a:pt x="2853503" y="159779"/>
                </a:lnTo>
                <a:lnTo>
                  <a:pt x="2853503" y="146558"/>
                </a:lnTo>
                <a:lnTo>
                  <a:pt x="2843184" y="146236"/>
                </a:lnTo>
                <a:lnTo>
                  <a:pt x="2835471" y="143736"/>
                </a:lnTo>
                <a:lnTo>
                  <a:pt x="2825261" y="134385"/>
                </a:lnTo>
                <a:lnTo>
                  <a:pt x="2822708" y="128339"/>
                </a:lnTo>
                <a:lnTo>
                  <a:pt x="2822708" y="117053"/>
                </a:lnTo>
                <a:lnTo>
                  <a:pt x="2823970" y="109421"/>
                </a:lnTo>
                <a:lnTo>
                  <a:pt x="2826496" y="98028"/>
                </a:lnTo>
                <a:lnTo>
                  <a:pt x="2828154" y="89714"/>
                </a:lnTo>
                <a:lnTo>
                  <a:pt x="2829338" y="81864"/>
                </a:lnTo>
                <a:lnTo>
                  <a:pt x="2830049" y="74478"/>
                </a:lnTo>
                <a:lnTo>
                  <a:pt x="2830286" y="67555"/>
                </a:lnTo>
                <a:lnTo>
                  <a:pt x="2829112" y="51840"/>
                </a:lnTo>
                <a:lnTo>
                  <a:pt x="2811503" y="17332"/>
                </a:lnTo>
                <a:lnTo>
                  <a:pt x="2772580" y="1325"/>
                </a:lnTo>
                <a:lnTo>
                  <a:pt x="2754830" y="0"/>
                </a:lnTo>
                <a:close/>
              </a:path>
              <a:path w="2853690" h="307975">
                <a:moveTo>
                  <a:pt x="102864" y="0"/>
                </a:moveTo>
                <a:lnTo>
                  <a:pt x="98673" y="0"/>
                </a:lnTo>
                <a:lnTo>
                  <a:pt x="80923" y="1325"/>
                </a:lnTo>
                <a:lnTo>
                  <a:pt x="42001" y="17332"/>
                </a:lnTo>
                <a:lnTo>
                  <a:pt x="24391" y="51749"/>
                </a:lnTo>
                <a:lnTo>
                  <a:pt x="23323" y="70467"/>
                </a:lnTo>
                <a:lnTo>
                  <a:pt x="23454" y="74317"/>
                </a:lnTo>
                <a:lnTo>
                  <a:pt x="24165" y="81703"/>
                </a:lnTo>
                <a:lnTo>
                  <a:pt x="25348" y="89553"/>
                </a:lnTo>
                <a:lnTo>
                  <a:pt x="27006" y="97866"/>
                </a:lnTo>
                <a:lnTo>
                  <a:pt x="29532" y="109260"/>
                </a:lnTo>
                <a:lnTo>
                  <a:pt x="30794" y="116892"/>
                </a:lnTo>
                <a:lnTo>
                  <a:pt x="30794" y="128178"/>
                </a:lnTo>
                <a:lnTo>
                  <a:pt x="28242" y="134224"/>
                </a:lnTo>
                <a:lnTo>
                  <a:pt x="18031" y="143575"/>
                </a:lnTo>
                <a:lnTo>
                  <a:pt x="10318" y="146074"/>
                </a:lnTo>
                <a:lnTo>
                  <a:pt x="0" y="146397"/>
                </a:lnTo>
                <a:lnTo>
                  <a:pt x="0" y="159618"/>
                </a:lnTo>
                <a:lnTo>
                  <a:pt x="10318" y="159940"/>
                </a:lnTo>
                <a:lnTo>
                  <a:pt x="18031" y="162439"/>
                </a:lnTo>
                <a:lnTo>
                  <a:pt x="28242" y="171791"/>
                </a:lnTo>
                <a:lnTo>
                  <a:pt x="30794" y="177837"/>
                </a:lnTo>
                <a:lnTo>
                  <a:pt x="30794" y="189123"/>
                </a:lnTo>
                <a:lnTo>
                  <a:pt x="29532" y="196754"/>
                </a:lnTo>
                <a:lnTo>
                  <a:pt x="27006" y="208148"/>
                </a:lnTo>
                <a:lnTo>
                  <a:pt x="25348" y="216461"/>
                </a:lnTo>
                <a:lnTo>
                  <a:pt x="24165" y="224311"/>
                </a:lnTo>
                <a:lnTo>
                  <a:pt x="23454" y="231698"/>
                </a:lnTo>
                <a:lnTo>
                  <a:pt x="23218" y="238621"/>
                </a:lnTo>
                <a:lnTo>
                  <a:pt x="24391" y="254900"/>
                </a:lnTo>
                <a:lnTo>
                  <a:pt x="42001" y="290134"/>
                </a:lnTo>
                <a:lnTo>
                  <a:pt x="80923" y="306141"/>
                </a:lnTo>
                <a:lnTo>
                  <a:pt x="98673" y="307466"/>
                </a:lnTo>
                <a:lnTo>
                  <a:pt x="102864" y="307466"/>
                </a:lnTo>
                <a:lnTo>
                  <a:pt x="102864" y="295213"/>
                </a:lnTo>
                <a:lnTo>
                  <a:pt x="100446" y="295213"/>
                </a:lnTo>
                <a:lnTo>
                  <a:pt x="89392" y="294452"/>
                </a:lnTo>
                <a:lnTo>
                  <a:pt x="53931" y="266574"/>
                </a:lnTo>
                <a:lnTo>
                  <a:pt x="50627" y="241523"/>
                </a:lnTo>
                <a:lnTo>
                  <a:pt x="50828" y="235547"/>
                </a:lnTo>
                <a:lnTo>
                  <a:pt x="51433" y="228906"/>
                </a:lnTo>
                <a:lnTo>
                  <a:pt x="52440" y="221601"/>
                </a:lnTo>
                <a:lnTo>
                  <a:pt x="53851" y="213630"/>
                </a:lnTo>
                <a:lnTo>
                  <a:pt x="56000" y="202559"/>
                </a:lnTo>
                <a:lnTo>
                  <a:pt x="57076" y="194658"/>
                </a:lnTo>
                <a:lnTo>
                  <a:pt x="57076" y="180793"/>
                </a:lnTo>
                <a:lnTo>
                  <a:pt x="54389" y="173295"/>
                </a:lnTo>
                <a:lnTo>
                  <a:pt x="43639" y="161579"/>
                </a:lnTo>
                <a:lnTo>
                  <a:pt x="37244" y="157253"/>
                </a:lnTo>
                <a:lnTo>
                  <a:pt x="29828" y="154458"/>
                </a:lnTo>
                <a:lnTo>
                  <a:pt x="29828" y="151556"/>
                </a:lnTo>
                <a:lnTo>
                  <a:pt x="37244" y="148761"/>
                </a:lnTo>
                <a:lnTo>
                  <a:pt x="43639" y="144435"/>
                </a:lnTo>
                <a:lnTo>
                  <a:pt x="54389" y="132719"/>
                </a:lnTo>
                <a:lnTo>
                  <a:pt x="57076" y="125222"/>
                </a:lnTo>
                <a:lnTo>
                  <a:pt x="57076" y="111356"/>
                </a:lnTo>
                <a:lnTo>
                  <a:pt x="56000" y="103456"/>
                </a:lnTo>
                <a:lnTo>
                  <a:pt x="53851" y="92385"/>
                </a:lnTo>
                <a:lnTo>
                  <a:pt x="52440" y="84414"/>
                </a:lnTo>
                <a:lnTo>
                  <a:pt x="51433" y="77108"/>
                </a:lnTo>
                <a:lnTo>
                  <a:pt x="50828" y="70467"/>
                </a:lnTo>
                <a:lnTo>
                  <a:pt x="50627" y="64492"/>
                </a:lnTo>
                <a:lnTo>
                  <a:pt x="51453" y="51528"/>
                </a:lnTo>
                <a:lnTo>
                  <a:pt x="79608" y="15296"/>
                </a:lnTo>
                <a:lnTo>
                  <a:pt x="100446" y="12253"/>
                </a:lnTo>
                <a:lnTo>
                  <a:pt x="102864" y="12253"/>
                </a:lnTo>
                <a:lnTo>
                  <a:pt x="1028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357876" y="4997196"/>
            <a:ext cx="3538854" cy="988694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2266950" algn="l"/>
              </a:tabLst>
            </a:pPr>
            <a:r>
              <a:rPr dirty="0" sz="2600" spc="-5">
                <a:latin typeface="Cambria Math"/>
                <a:cs typeface="Cambria Math"/>
              </a:rPr>
              <a:t>−1, −2, 0,</a:t>
            </a:r>
            <a:r>
              <a:rPr dirty="0" sz="2600" spc="-390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1,</a:t>
            </a:r>
            <a:r>
              <a:rPr dirty="0" sz="2600" spc="-135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2	=</a:t>
            </a:r>
            <a:r>
              <a:rPr dirty="0" sz="2600" spc="3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0</a:t>
            </a:r>
            <a:endParaRPr sz="2600">
              <a:latin typeface="Cambria Math"/>
              <a:cs typeface="Cambria Math"/>
            </a:endParaRPr>
          </a:p>
          <a:p>
            <a:pPr marL="20320">
              <a:lnSpc>
                <a:spcPct val="100000"/>
              </a:lnSpc>
              <a:spcBef>
                <a:spcPts val="670"/>
              </a:spcBef>
              <a:tabLst>
                <a:tab pos="3004820" algn="l"/>
              </a:tabLst>
            </a:pPr>
            <a:r>
              <a:rPr dirty="0" sz="2600" spc="-5">
                <a:latin typeface="Cambria Math"/>
                <a:cs typeface="Cambria Math"/>
              </a:rPr>
              <a:t>−10, −20, 0,</a:t>
            </a:r>
            <a:r>
              <a:rPr dirty="0" sz="2600" spc="-38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10,</a:t>
            </a:r>
            <a:r>
              <a:rPr dirty="0" sz="2600" spc="-13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20	</a:t>
            </a:r>
            <a:r>
              <a:rPr dirty="0" sz="2600">
                <a:latin typeface="Cambria Math"/>
                <a:cs typeface="Cambria Math"/>
              </a:rPr>
              <a:t>=</a:t>
            </a:r>
            <a:r>
              <a:rPr dirty="0" sz="2600" spc="3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0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956563" y="6033516"/>
            <a:ext cx="501459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600" spc="-50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600" spc="-10">
                <a:solidFill>
                  <a:srgbClr val="C00000"/>
                </a:solidFill>
                <a:latin typeface="Calibri"/>
                <a:cs typeface="Calibri"/>
              </a:rPr>
              <a:t>cannot </a:t>
            </a:r>
            <a:r>
              <a:rPr dirty="0" sz="2600" spc="-20">
                <a:solidFill>
                  <a:srgbClr val="C00000"/>
                </a:solidFill>
                <a:latin typeface="Calibri"/>
                <a:cs typeface="Calibri"/>
              </a:rPr>
              <a:t>differentiate </a:t>
            </a:r>
            <a:r>
              <a:rPr dirty="0" sz="2600" spc="25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6081" sz="2850" spc="375">
                <a:solidFill>
                  <a:srgbClr val="C00000"/>
                </a:solidFill>
                <a:latin typeface="Cambria Math"/>
                <a:cs typeface="Cambria Math"/>
              </a:rPr>
              <a:t>'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600" spc="-1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10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6081" sz="2850" spc="150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r>
              <a:rPr dirty="0" sz="2600" spc="100">
                <a:solidFill>
                  <a:srgbClr val="C00000"/>
                </a:solidFill>
                <a:latin typeface="Calibri"/>
                <a:cs typeface="Calibri"/>
              </a:rPr>
              <a:t>!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4710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6383655" cy="900430"/>
          </a:xfrm>
          <a:prstGeom prst="rect"/>
        </p:spPr>
        <p:txBody>
          <a:bodyPr wrap="square" lIns="0" tIns="59055" rIns="0" bIns="0" rtlCol="0" vert="horz">
            <a:spAutoFit/>
          </a:bodyPr>
          <a:lstStyle/>
          <a:p>
            <a:pPr marL="332740" marR="5080" indent="-320040">
              <a:lnSpc>
                <a:spcPts val="3290"/>
              </a:lnSpc>
              <a:spcBef>
                <a:spcPts val="46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solidFill>
                  <a:srgbClr val="000000"/>
                </a:solidFill>
              </a:rPr>
              <a:t>A </a:t>
            </a:r>
            <a:r>
              <a:rPr dirty="0" sz="3000" spc="-5">
                <a:solidFill>
                  <a:srgbClr val="000000"/>
                </a:solidFill>
              </a:rPr>
              <a:t>solution: </a:t>
            </a:r>
            <a:r>
              <a:rPr dirty="0" sz="3000" spc="-25" b="0">
                <a:solidFill>
                  <a:srgbClr val="000000"/>
                </a:solidFill>
                <a:latin typeface="Calibri"/>
                <a:cs typeface="Calibri"/>
              </a:rPr>
              <a:t>Let’s </a:t>
            </a:r>
            <a:r>
              <a:rPr dirty="0" sz="3000" spc="-20" b="0">
                <a:solidFill>
                  <a:srgbClr val="000000"/>
                </a:solidFill>
                <a:latin typeface="Calibri"/>
                <a:cs typeface="Calibri"/>
              </a:rPr>
              <a:t>aggregate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all the node  embeddings</a:t>
            </a:r>
            <a:r>
              <a:rPr dirty="0" sz="3000" spc="-8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 spc="-15">
                <a:solidFill>
                  <a:srgbClr val="C00000"/>
                </a:solidFill>
              </a:rPr>
              <a:t>hierarchically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04915" y="2312277"/>
            <a:ext cx="1227455" cy="399415"/>
          </a:xfrm>
          <a:custGeom>
            <a:avLst/>
            <a:gdLst/>
            <a:ahLst/>
            <a:cxnLst/>
            <a:rect l="l" t="t" r="r" b="b"/>
            <a:pathLst>
              <a:path w="1227454" h="399414">
                <a:moveTo>
                  <a:pt x="1122265" y="0"/>
                </a:moveTo>
                <a:lnTo>
                  <a:pt x="1118234" y="13220"/>
                </a:lnTo>
                <a:lnTo>
                  <a:pt x="1136560" y="22723"/>
                </a:lnTo>
                <a:lnTo>
                  <a:pt x="1152517" y="36559"/>
                </a:lnTo>
                <a:lnTo>
                  <a:pt x="1177326" y="77229"/>
                </a:lnTo>
                <a:lnTo>
                  <a:pt x="1192381" y="132491"/>
                </a:lnTo>
                <a:lnTo>
                  <a:pt x="1197399" y="199603"/>
                </a:lnTo>
                <a:lnTo>
                  <a:pt x="1196144" y="234565"/>
                </a:lnTo>
                <a:lnTo>
                  <a:pt x="1186108" y="295631"/>
                </a:lnTo>
                <a:lnTo>
                  <a:pt x="1166106" y="344201"/>
                </a:lnTo>
                <a:lnTo>
                  <a:pt x="1136560" y="376165"/>
                </a:lnTo>
                <a:lnTo>
                  <a:pt x="1118234" y="385663"/>
                </a:lnTo>
                <a:lnTo>
                  <a:pt x="1122265" y="398884"/>
                </a:lnTo>
                <a:lnTo>
                  <a:pt x="1166806" y="375143"/>
                </a:lnTo>
                <a:lnTo>
                  <a:pt x="1199818" y="330361"/>
                </a:lnTo>
                <a:lnTo>
                  <a:pt x="1220254" y="269980"/>
                </a:lnTo>
                <a:lnTo>
                  <a:pt x="1227066" y="199442"/>
                </a:lnTo>
                <a:lnTo>
                  <a:pt x="1225363" y="162903"/>
                </a:lnTo>
                <a:lnTo>
                  <a:pt x="1211739" y="97443"/>
                </a:lnTo>
                <a:lnTo>
                  <a:pt x="1184753" y="43501"/>
                </a:lnTo>
                <a:lnTo>
                  <a:pt x="1145976" y="9240"/>
                </a:lnTo>
                <a:lnTo>
                  <a:pt x="1122265" y="0"/>
                </a:lnTo>
                <a:close/>
              </a:path>
              <a:path w="1227454" h="399414">
                <a:moveTo>
                  <a:pt x="104800" y="0"/>
                </a:moveTo>
                <a:lnTo>
                  <a:pt x="60260" y="23741"/>
                </a:lnTo>
                <a:lnTo>
                  <a:pt x="27247" y="68522"/>
                </a:lnTo>
                <a:lnTo>
                  <a:pt x="6812" y="128903"/>
                </a:lnTo>
                <a:lnTo>
                  <a:pt x="0" y="199442"/>
                </a:lnTo>
                <a:lnTo>
                  <a:pt x="1703" y="235980"/>
                </a:lnTo>
                <a:lnTo>
                  <a:pt x="15327" y="301440"/>
                </a:lnTo>
                <a:lnTo>
                  <a:pt x="42313" y="355382"/>
                </a:lnTo>
                <a:lnTo>
                  <a:pt x="81089" y="389643"/>
                </a:lnTo>
                <a:lnTo>
                  <a:pt x="104800" y="398884"/>
                </a:lnTo>
                <a:lnTo>
                  <a:pt x="108831" y="385663"/>
                </a:lnTo>
                <a:lnTo>
                  <a:pt x="90506" y="376165"/>
                </a:lnTo>
                <a:lnTo>
                  <a:pt x="74549" y="362345"/>
                </a:lnTo>
                <a:lnTo>
                  <a:pt x="49739" y="321735"/>
                </a:lnTo>
                <a:lnTo>
                  <a:pt x="34685" y="266574"/>
                </a:lnTo>
                <a:lnTo>
                  <a:pt x="29672" y="199442"/>
                </a:lnTo>
                <a:lnTo>
                  <a:pt x="30921" y="164565"/>
                </a:lnTo>
                <a:lnTo>
                  <a:pt x="40957" y="103379"/>
                </a:lnTo>
                <a:lnTo>
                  <a:pt x="60960" y="54727"/>
                </a:lnTo>
                <a:lnTo>
                  <a:pt x="90506" y="22723"/>
                </a:lnTo>
                <a:lnTo>
                  <a:pt x="108831" y="13220"/>
                </a:lnTo>
                <a:lnTo>
                  <a:pt x="1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73964" y="2358838"/>
            <a:ext cx="309880" cy="306070"/>
          </a:xfrm>
          <a:custGeom>
            <a:avLst/>
            <a:gdLst/>
            <a:ahLst/>
            <a:cxnLst/>
            <a:rect l="l" t="t" r="r" b="b"/>
            <a:pathLst>
              <a:path w="309879" h="306069">
                <a:moveTo>
                  <a:pt x="212154" y="0"/>
                </a:moveTo>
                <a:lnTo>
                  <a:pt x="207801" y="12414"/>
                </a:lnTo>
                <a:lnTo>
                  <a:pt x="225506" y="20097"/>
                </a:lnTo>
                <a:lnTo>
                  <a:pt x="240732" y="30733"/>
                </a:lnTo>
                <a:lnTo>
                  <a:pt x="271648" y="80034"/>
                </a:lnTo>
                <a:lnTo>
                  <a:pt x="280676" y="125300"/>
                </a:lnTo>
                <a:lnTo>
                  <a:pt x="281805" y="151395"/>
                </a:lnTo>
                <a:lnTo>
                  <a:pt x="280671" y="178370"/>
                </a:lnTo>
                <a:lnTo>
                  <a:pt x="271603" y="224885"/>
                </a:lnTo>
                <a:lnTo>
                  <a:pt x="253404" y="261213"/>
                </a:lnTo>
                <a:lnTo>
                  <a:pt x="208285" y="293438"/>
                </a:lnTo>
                <a:lnTo>
                  <a:pt x="212154" y="305854"/>
                </a:lnTo>
                <a:lnTo>
                  <a:pt x="253872" y="286284"/>
                </a:lnTo>
                <a:lnTo>
                  <a:pt x="284547" y="252406"/>
                </a:lnTo>
                <a:lnTo>
                  <a:pt x="303410" y="207039"/>
                </a:lnTo>
                <a:lnTo>
                  <a:pt x="309698" y="153007"/>
                </a:lnTo>
                <a:lnTo>
                  <a:pt x="308121" y="124968"/>
                </a:lnTo>
                <a:lnTo>
                  <a:pt x="295505" y="75269"/>
                </a:lnTo>
                <a:lnTo>
                  <a:pt x="270484" y="34810"/>
                </a:lnTo>
                <a:lnTo>
                  <a:pt x="234328" y="8006"/>
                </a:lnTo>
                <a:lnTo>
                  <a:pt x="212154" y="0"/>
                </a:lnTo>
                <a:close/>
              </a:path>
              <a:path w="309879" h="306069">
                <a:moveTo>
                  <a:pt x="97543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1" y="181106"/>
                </a:lnTo>
                <a:lnTo>
                  <a:pt x="14147" y="230806"/>
                </a:lnTo>
                <a:lnTo>
                  <a:pt x="39108" y="271133"/>
                </a:lnTo>
                <a:lnTo>
                  <a:pt x="75304" y="297857"/>
                </a:lnTo>
                <a:lnTo>
                  <a:pt x="97543" y="305854"/>
                </a:lnTo>
                <a:lnTo>
                  <a:pt x="101413" y="293438"/>
                </a:lnTo>
                <a:lnTo>
                  <a:pt x="83985" y="285719"/>
                </a:lnTo>
                <a:lnTo>
                  <a:pt x="68945" y="274978"/>
                </a:lnTo>
                <a:lnTo>
                  <a:pt x="46031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0"/>
                </a:lnTo>
                <a:lnTo>
                  <a:pt x="38095" y="80034"/>
                </a:lnTo>
                <a:lnTo>
                  <a:pt x="56324" y="44322"/>
                </a:lnTo>
                <a:lnTo>
                  <a:pt x="101897" y="12414"/>
                </a:lnTo>
                <a:lnTo>
                  <a:pt x="975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56563" y="2206706"/>
            <a:ext cx="7677784" cy="165798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4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  <a:tab pos="5967095" algn="l"/>
                <a:tab pos="6725284" algn="l"/>
              </a:tabLst>
            </a:pPr>
            <a:r>
              <a:rPr dirty="0" sz="2600" spc="-80" b="1">
                <a:latin typeface="Calibri"/>
                <a:cs typeface="Calibri"/>
              </a:rPr>
              <a:t>Toy </a:t>
            </a:r>
            <a:r>
              <a:rPr dirty="0" sz="2600" spc="-15" b="1">
                <a:latin typeface="Calibri"/>
                <a:cs typeface="Calibri"/>
              </a:rPr>
              <a:t>example: </a:t>
            </a:r>
            <a:r>
              <a:rPr dirty="0" sz="2600" spc="-50">
                <a:latin typeface="Calibri"/>
                <a:cs typeface="Calibri"/>
              </a:rPr>
              <a:t>We </a:t>
            </a:r>
            <a:r>
              <a:rPr dirty="0" sz="2600">
                <a:latin typeface="Calibri"/>
                <a:cs typeface="Calibri"/>
              </a:rPr>
              <a:t>will </a:t>
            </a:r>
            <a:r>
              <a:rPr dirty="0" sz="2600" spc="-15">
                <a:latin typeface="Calibri"/>
                <a:cs typeface="Calibri"/>
              </a:rPr>
              <a:t>aggregate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via</a:t>
            </a:r>
            <a:r>
              <a:rPr dirty="0" sz="2600" spc="0">
                <a:latin typeface="Calibri"/>
                <a:cs typeface="Calibri"/>
              </a:rPr>
              <a:t> </a:t>
            </a:r>
            <a:r>
              <a:rPr dirty="0" sz="2600" spc="-35">
                <a:latin typeface="Cambria Math"/>
                <a:cs typeface="Cambria Math"/>
              </a:rPr>
              <a:t>ReLU	</a:t>
            </a:r>
            <a:r>
              <a:rPr dirty="0" sz="2600" spc="-5">
                <a:latin typeface="Cambria Math"/>
                <a:cs typeface="Cambria Math"/>
              </a:rPr>
              <a:t>Sum	</a:t>
            </a:r>
            <a:r>
              <a:rPr dirty="0" sz="2600">
                <a:latin typeface="Cambria Math"/>
                <a:cs typeface="Cambria Math"/>
              </a:rPr>
              <a:t>⋅</a:t>
            </a:r>
            <a:endParaRPr sz="2600">
              <a:latin typeface="Cambria Math"/>
              <a:cs typeface="Cambria Math"/>
            </a:endParaRPr>
          </a:p>
          <a:p>
            <a:pPr lvl="1" marL="552450" indent="-228600">
              <a:lnSpc>
                <a:spcPct val="100000"/>
              </a:lnSpc>
              <a:spcBef>
                <a:spcPts val="37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200" spc="-40">
                <a:latin typeface="Calibri"/>
                <a:cs typeface="Calibri"/>
              </a:rPr>
              <a:t>We </a:t>
            </a:r>
            <a:r>
              <a:rPr dirty="0" sz="2200" spc="-15">
                <a:latin typeface="Calibri"/>
                <a:cs typeface="Calibri"/>
              </a:rPr>
              <a:t>first </a:t>
            </a:r>
            <a:r>
              <a:rPr dirty="0" sz="2200" spc="-15">
                <a:solidFill>
                  <a:srgbClr val="60B5CC"/>
                </a:solidFill>
                <a:latin typeface="Calibri"/>
                <a:cs typeface="Calibri"/>
              </a:rPr>
              <a:t>separately aggregate </a:t>
            </a:r>
            <a:r>
              <a:rPr dirty="0" sz="2200" spc="-5">
                <a:solidFill>
                  <a:srgbClr val="60B5CC"/>
                </a:solidFill>
                <a:latin typeface="Calibri"/>
                <a:cs typeface="Calibri"/>
              </a:rPr>
              <a:t>the </a:t>
            </a:r>
            <a:r>
              <a:rPr dirty="0" sz="2200" spc="-20">
                <a:solidFill>
                  <a:srgbClr val="60B5CC"/>
                </a:solidFill>
                <a:latin typeface="Calibri"/>
                <a:cs typeface="Calibri"/>
              </a:rPr>
              <a:t>first </a:t>
            </a:r>
            <a:r>
              <a:rPr dirty="0" sz="2200">
                <a:solidFill>
                  <a:srgbClr val="60B5CC"/>
                </a:solidFill>
                <a:latin typeface="Calibri"/>
                <a:cs typeface="Calibri"/>
              </a:rPr>
              <a:t>2 </a:t>
            </a:r>
            <a:r>
              <a:rPr dirty="0" sz="2200" spc="-5">
                <a:solidFill>
                  <a:srgbClr val="60B5CC"/>
                </a:solidFill>
                <a:latin typeface="Calibri"/>
                <a:cs typeface="Calibri"/>
              </a:rPr>
              <a:t>nodes and </a:t>
            </a:r>
            <a:r>
              <a:rPr dirty="0" sz="2200" spc="-10">
                <a:solidFill>
                  <a:srgbClr val="60B5CC"/>
                </a:solidFill>
                <a:latin typeface="Calibri"/>
                <a:cs typeface="Calibri"/>
              </a:rPr>
              <a:t>last </a:t>
            </a:r>
            <a:r>
              <a:rPr dirty="0" sz="2200">
                <a:solidFill>
                  <a:srgbClr val="60B5CC"/>
                </a:solidFill>
                <a:latin typeface="Calibri"/>
                <a:cs typeface="Calibri"/>
              </a:rPr>
              <a:t>3</a:t>
            </a:r>
            <a:r>
              <a:rPr dirty="0" sz="2200" spc="150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200" spc="-75">
                <a:solidFill>
                  <a:srgbClr val="60B5CC"/>
                </a:solidFill>
                <a:latin typeface="Calibri"/>
                <a:cs typeface="Calibri"/>
              </a:rPr>
              <a:t>nodes</a:t>
            </a:r>
            <a:endParaRPr sz="22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26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200" spc="-5">
                <a:solidFill>
                  <a:srgbClr val="C00000"/>
                </a:solidFill>
                <a:latin typeface="Calibri"/>
                <a:cs typeface="Calibri"/>
              </a:rPr>
              <a:t>Then </a:t>
            </a:r>
            <a:r>
              <a:rPr dirty="0" sz="2200" spc="-10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200" spc="-15">
                <a:solidFill>
                  <a:srgbClr val="C00000"/>
                </a:solidFill>
                <a:latin typeface="Calibri"/>
                <a:cs typeface="Calibri"/>
              </a:rPr>
              <a:t>aggregate again </a:t>
            </a:r>
            <a:r>
              <a:rPr dirty="0" sz="2200" spc="-1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200" spc="-20">
                <a:solidFill>
                  <a:srgbClr val="C00000"/>
                </a:solidFill>
                <a:latin typeface="Calibri"/>
                <a:cs typeface="Calibri"/>
              </a:rPr>
              <a:t>make </a:t>
            </a:r>
            <a:r>
              <a:rPr dirty="0" sz="2200" spc="-5">
                <a:solidFill>
                  <a:srgbClr val="C00000"/>
                </a:solidFill>
                <a:latin typeface="Calibri"/>
                <a:cs typeface="Calibri"/>
              </a:rPr>
              <a:t>the final</a:t>
            </a:r>
            <a:r>
              <a:rPr dirty="0" sz="2200" spc="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00000"/>
                </a:solidFill>
                <a:latin typeface="Calibri"/>
                <a:cs typeface="Calibri"/>
              </a:rPr>
              <a:t>prediction</a:t>
            </a:r>
            <a:endParaRPr sz="22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24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600" spc="250">
                <a:latin typeface="Cambria Math"/>
                <a:cs typeface="Cambria Math"/>
              </a:rPr>
              <a:t>𝐺</a:t>
            </a:r>
            <a:r>
              <a:rPr dirty="0" baseline="-16081" sz="2850" spc="375">
                <a:latin typeface="Cambria Math"/>
                <a:cs typeface="Cambria Math"/>
              </a:rPr>
              <a:t>'</a:t>
            </a:r>
            <a:r>
              <a:rPr dirty="0" baseline="-16081" sz="2850" spc="112">
                <a:latin typeface="Cambria Math"/>
                <a:cs typeface="Cambria Math"/>
              </a:rPr>
              <a:t> </a:t>
            </a:r>
            <a:r>
              <a:rPr dirty="0" sz="2600" spc="-5">
                <a:latin typeface="Calibri"/>
                <a:cs typeface="Calibri"/>
              </a:rPr>
              <a:t>node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embeddings: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{−1,</a:t>
            </a:r>
            <a:r>
              <a:rPr dirty="0" sz="2600" spc="-14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−2,</a:t>
            </a:r>
            <a:r>
              <a:rPr dirty="0" sz="2600" spc="-14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0,</a:t>
            </a:r>
            <a:r>
              <a:rPr dirty="0" sz="2600" spc="-14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1,</a:t>
            </a:r>
            <a:r>
              <a:rPr dirty="0" sz="2600" spc="-14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2}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93618" y="3957671"/>
            <a:ext cx="2002155" cy="337820"/>
          </a:xfrm>
          <a:custGeom>
            <a:avLst/>
            <a:gdLst/>
            <a:ahLst/>
            <a:cxnLst/>
            <a:rect l="l" t="t" r="r" b="b"/>
            <a:pathLst>
              <a:path w="2002154" h="337820">
                <a:moveTo>
                  <a:pt x="1913035" y="0"/>
                </a:moveTo>
                <a:lnTo>
                  <a:pt x="1909624" y="11187"/>
                </a:lnTo>
                <a:lnTo>
                  <a:pt x="1925129" y="19227"/>
                </a:lnTo>
                <a:lnTo>
                  <a:pt x="1938631" y="30934"/>
                </a:lnTo>
                <a:lnTo>
                  <a:pt x="1959623" y="65347"/>
                </a:lnTo>
                <a:lnTo>
                  <a:pt x="1972362" y="112107"/>
                </a:lnTo>
                <a:lnTo>
                  <a:pt x="1976608" y="168894"/>
                </a:lnTo>
                <a:lnTo>
                  <a:pt x="1975547" y="198478"/>
                </a:lnTo>
                <a:lnTo>
                  <a:pt x="1967054" y="250149"/>
                </a:lnTo>
                <a:lnTo>
                  <a:pt x="1950129" y="291248"/>
                </a:lnTo>
                <a:lnTo>
                  <a:pt x="1909624" y="326330"/>
                </a:lnTo>
                <a:lnTo>
                  <a:pt x="1913035" y="337517"/>
                </a:lnTo>
                <a:lnTo>
                  <a:pt x="1950722" y="317428"/>
                </a:lnTo>
                <a:lnTo>
                  <a:pt x="1978656" y="279537"/>
                </a:lnTo>
                <a:lnTo>
                  <a:pt x="1995948" y="228445"/>
                </a:lnTo>
                <a:lnTo>
                  <a:pt x="2001711" y="168758"/>
                </a:lnTo>
                <a:lnTo>
                  <a:pt x="2000270" y="137841"/>
                </a:lnTo>
                <a:lnTo>
                  <a:pt x="1988743" y="82452"/>
                </a:lnTo>
                <a:lnTo>
                  <a:pt x="1965908" y="36809"/>
                </a:lnTo>
                <a:lnTo>
                  <a:pt x="1933098" y="7819"/>
                </a:lnTo>
                <a:lnTo>
                  <a:pt x="1913035" y="0"/>
                </a:lnTo>
                <a:close/>
              </a:path>
              <a:path w="2002154" h="337820">
                <a:moveTo>
                  <a:pt x="88670" y="0"/>
                </a:moveTo>
                <a:lnTo>
                  <a:pt x="50982" y="20089"/>
                </a:lnTo>
                <a:lnTo>
                  <a:pt x="23049" y="57980"/>
                </a:lnTo>
                <a:lnTo>
                  <a:pt x="5757" y="109072"/>
                </a:lnTo>
                <a:lnTo>
                  <a:pt x="0" y="168894"/>
                </a:lnTo>
                <a:lnTo>
                  <a:pt x="1434" y="199676"/>
                </a:lnTo>
                <a:lnTo>
                  <a:pt x="12962" y="255065"/>
                </a:lnTo>
                <a:lnTo>
                  <a:pt x="35796" y="300708"/>
                </a:lnTo>
                <a:lnTo>
                  <a:pt x="68606" y="329698"/>
                </a:lnTo>
                <a:lnTo>
                  <a:pt x="88670" y="337517"/>
                </a:lnTo>
                <a:lnTo>
                  <a:pt x="92080" y="326330"/>
                </a:lnTo>
                <a:lnTo>
                  <a:pt x="76574" y="318294"/>
                </a:lnTo>
                <a:lnTo>
                  <a:pt x="63072" y="306600"/>
                </a:lnTo>
                <a:lnTo>
                  <a:pt x="42080" y="272238"/>
                </a:lnTo>
                <a:lnTo>
                  <a:pt x="29341" y="225562"/>
                </a:lnTo>
                <a:lnTo>
                  <a:pt x="25100" y="168758"/>
                </a:lnTo>
                <a:lnTo>
                  <a:pt x="26156" y="139247"/>
                </a:lnTo>
                <a:lnTo>
                  <a:pt x="34649" y="87474"/>
                </a:lnTo>
                <a:lnTo>
                  <a:pt x="51574" y="46308"/>
                </a:lnTo>
                <a:lnTo>
                  <a:pt x="92080" y="11187"/>
                </a:lnTo>
                <a:lnTo>
                  <a:pt x="8867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43026" y="3996975"/>
            <a:ext cx="1226820" cy="259079"/>
          </a:xfrm>
          <a:custGeom>
            <a:avLst/>
            <a:gdLst/>
            <a:ahLst/>
            <a:cxnLst/>
            <a:rect l="l" t="t" r="r" b="b"/>
            <a:pathLst>
              <a:path w="1226820" h="259079">
                <a:moveTo>
                  <a:pt x="1144264" y="0"/>
                </a:moveTo>
                <a:lnTo>
                  <a:pt x="1140581" y="10505"/>
                </a:lnTo>
                <a:lnTo>
                  <a:pt x="1155562" y="17006"/>
                </a:lnTo>
                <a:lnTo>
                  <a:pt x="1168446" y="26006"/>
                </a:lnTo>
                <a:lnTo>
                  <a:pt x="1194606" y="67723"/>
                </a:lnTo>
                <a:lnTo>
                  <a:pt x="1202245" y="106024"/>
                </a:lnTo>
                <a:lnTo>
                  <a:pt x="1203200" y="128103"/>
                </a:lnTo>
                <a:lnTo>
                  <a:pt x="1202241" y="150929"/>
                </a:lnTo>
                <a:lnTo>
                  <a:pt x="1194567" y="190288"/>
                </a:lnTo>
                <a:lnTo>
                  <a:pt x="1168463" y="232674"/>
                </a:lnTo>
                <a:lnTo>
                  <a:pt x="1140990" y="248295"/>
                </a:lnTo>
                <a:lnTo>
                  <a:pt x="1144264" y="258800"/>
                </a:lnTo>
                <a:lnTo>
                  <a:pt x="1179565" y="242241"/>
                </a:lnTo>
                <a:lnTo>
                  <a:pt x="1205519" y="213574"/>
                </a:lnTo>
                <a:lnTo>
                  <a:pt x="1221481" y="175187"/>
                </a:lnTo>
                <a:lnTo>
                  <a:pt x="1226802" y="129468"/>
                </a:lnTo>
                <a:lnTo>
                  <a:pt x="1225467" y="105743"/>
                </a:lnTo>
                <a:lnTo>
                  <a:pt x="1214792" y="63690"/>
                </a:lnTo>
                <a:lnTo>
                  <a:pt x="1193621" y="29455"/>
                </a:lnTo>
                <a:lnTo>
                  <a:pt x="1163028" y="6774"/>
                </a:lnTo>
                <a:lnTo>
                  <a:pt x="1144264" y="0"/>
                </a:lnTo>
                <a:close/>
              </a:path>
              <a:path w="1226820" h="259079">
                <a:moveTo>
                  <a:pt x="82537" y="0"/>
                </a:moveTo>
                <a:lnTo>
                  <a:pt x="47322" y="16593"/>
                </a:lnTo>
                <a:lnTo>
                  <a:pt x="21349" y="45361"/>
                </a:lnTo>
                <a:lnTo>
                  <a:pt x="5337" y="83817"/>
                </a:lnTo>
                <a:lnTo>
                  <a:pt x="0" y="129468"/>
                </a:lnTo>
                <a:lnTo>
                  <a:pt x="1330" y="153244"/>
                </a:lnTo>
                <a:lnTo>
                  <a:pt x="11971" y="195297"/>
                </a:lnTo>
                <a:lnTo>
                  <a:pt x="33091" y="229421"/>
                </a:lnTo>
                <a:lnTo>
                  <a:pt x="82537" y="258800"/>
                </a:lnTo>
                <a:lnTo>
                  <a:pt x="85811" y="248295"/>
                </a:lnTo>
                <a:lnTo>
                  <a:pt x="71064" y="241763"/>
                </a:lnTo>
                <a:lnTo>
                  <a:pt x="58338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3"/>
                </a:lnTo>
                <a:lnTo>
                  <a:pt x="58441" y="26006"/>
                </a:lnTo>
                <a:lnTo>
                  <a:pt x="86220" y="10505"/>
                </a:lnTo>
                <a:lnTo>
                  <a:pt x="82537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47380" y="3996367"/>
            <a:ext cx="1018540" cy="260350"/>
          </a:xfrm>
          <a:custGeom>
            <a:avLst/>
            <a:gdLst/>
            <a:ahLst/>
            <a:cxnLst/>
            <a:rect l="l" t="t" r="r" b="b"/>
            <a:pathLst>
              <a:path w="1018539" h="260350">
                <a:moveTo>
                  <a:pt x="934571" y="0"/>
                </a:moveTo>
                <a:lnTo>
                  <a:pt x="931024" y="0"/>
                </a:lnTo>
                <a:lnTo>
                  <a:pt x="931024" y="10368"/>
                </a:lnTo>
                <a:lnTo>
                  <a:pt x="933070" y="10368"/>
                </a:lnTo>
                <a:lnTo>
                  <a:pt x="942424" y="11011"/>
                </a:lnTo>
                <a:lnTo>
                  <a:pt x="974527" y="43677"/>
                </a:lnTo>
                <a:lnTo>
                  <a:pt x="975226" y="54706"/>
                </a:lnTo>
                <a:lnTo>
                  <a:pt x="975226" y="61073"/>
                </a:lnTo>
                <a:lnTo>
                  <a:pt x="974316" y="68939"/>
                </a:lnTo>
                <a:lnTo>
                  <a:pt x="970678" y="87675"/>
                </a:lnTo>
                <a:lnTo>
                  <a:pt x="969769" y="94361"/>
                </a:lnTo>
                <a:lnTo>
                  <a:pt x="969769" y="106093"/>
                </a:lnTo>
                <a:lnTo>
                  <a:pt x="972042" y="112436"/>
                </a:lnTo>
                <a:lnTo>
                  <a:pt x="981138" y="122350"/>
                </a:lnTo>
                <a:lnTo>
                  <a:pt x="986549" y="126011"/>
                </a:lnTo>
                <a:lnTo>
                  <a:pt x="992825" y="128375"/>
                </a:lnTo>
                <a:lnTo>
                  <a:pt x="992825" y="130831"/>
                </a:lnTo>
                <a:lnTo>
                  <a:pt x="986549" y="133196"/>
                </a:lnTo>
                <a:lnTo>
                  <a:pt x="981138" y="136857"/>
                </a:lnTo>
                <a:lnTo>
                  <a:pt x="972042" y="146771"/>
                </a:lnTo>
                <a:lnTo>
                  <a:pt x="969769" y="153115"/>
                </a:lnTo>
                <a:lnTo>
                  <a:pt x="969769" y="164847"/>
                </a:lnTo>
                <a:lnTo>
                  <a:pt x="970678" y="171532"/>
                </a:lnTo>
                <a:lnTo>
                  <a:pt x="974316" y="190267"/>
                </a:lnTo>
                <a:lnTo>
                  <a:pt x="975226" y="198135"/>
                </a:lnTo>
                <a:lnTo>
                  <a:pt x="975226" y="204501"/>
                </a:lnTo>
                <a:lnTo>
                  <a:pt x="974527" y="215948"/>
                </a:lnTo>
                <a:lnTo>
                  <a:pt x="950703" y="247220"/>
                </a:lnTo>
                <a:lnTo>
                  <a:pt x="933070" y="249795"/>
                </a:lnTo>
                <a:lnTo>
                  <a:pt x="931024" y="249795"/>
                </a:lnTo>
                <a:lnTo>
                  <a:pt x="931024" y="260163"/>
                </a:lnTo>
                <a:lnTo>
                  <a:pt x="934571" y="260163"/>
                </a:lnTo>
                <a:lnTo>
                  <a:pt x="949590" y="259042"/>
                </a:lnTo>
                <a:lnTo>
                  <a:pt x="989478" y="237486"/>
                </a:lnTo>
                <a:lnTo>
                  <a:pt x="998418" y="202045"/>
                </a:lnTo>
                <a:lnTo>
                  <a:pt x="998217" y="196187"/>
                </a:lnTo>
                <a:lnTo>
                  <a:pt x="997616" y="189938"/>
                </a:lnTo>
                <a:lnTo>
                  <a:pt x="996615" y="183296"/>
                </a:lnTo>
                <a:lnTo>
                  <a:pt x="995212" y="176262"/>
                </a:lnTo>
                <a:lnTo>
                  <a:pt x="993075" y="166620"/>
                </a:lnTo>
                <a:lnTo>
                  <a:pt x="992007" y="160163"/>
                </a:lnTo>
                <a:lnTo>
                  <a:pt x="992007" y="150613"/>
                </a:lnTo>
                <a:lnTo>
                  <a:pt x="994166" y="145497"/>
                </a:lnTo>
                <a:lnTo>
                  <a:pt x="1002807" y="137584"/>
                </a:lnTo>
                <a:lnTo>
                  <a:pt x="1009332" y="135469"/>
                </a:lnTo>
                <a:lnTo>
                  <a:pt x="1018063" y="135197"/>
                </a:lnTo>
                <a:lnTo>
                  <a:pt x="1018063" y="124010"/>
                </a:lnTo>
                <a:lnTo>
                  <a:pt x="1009332" y="123737"/>
                </a:lnTo>
                <a:lnTo>
                  <a:pt x="1002807" y="121622"/>
                </a:lnTo>
                <a:lnTo>
                  <a:pt x="994166" y="113710"/>
                </a:lnTo>
                <a:lnTo>
                  <a:pt x="992007" y="108593"/>
                </a:lnTo>
                <a:lnTo>
                  <a:pt x="992007" y="99044"/>
                </a:lnTo>
                <a:lnTo>
                  <a:pt x="993075" y="92586"/>
                </a:lnTo>
                <a:lnTo>
                  <a:pt x="995212" y="82946"/>
                </a:lnTo>
                <a:lnTo>
                  <a:pt x="996615" y="75911"/>
                </a:lnTo>
                <a:lnTo>
                  <a:pt x="997616" y="69269"/>
                </a:lnTo>
                <a:lnTo>
                  <a:pt x="998217" y="63019"/>
                </a:lnTo>
                <a:lnTo>
                  <a:pt x="998418" y="57161"/>
                </a:lnTo>
                <a:lnTo>
                  <a:pt x="997424" y="43864"/>
                </a:lnTo>
                <a:lnTo>
                  <a:pt x="973568" y="8453"/>
                </a:lnTo>
                <a:lnTo>
                  <a:pt x="949590" y="1120"/>
                </a:lnTo>
                <a:lnTo>
                  <a:pt x="934571" y="0"/>
                </a:lnTo>
                <a:close/>
              </a:path>
              <a:path w="1018539" h="260350">
                <a:moveTo>
                  <a:pt x="87039" y="0"/>
                </a:moveTo>
                <a:lnTo>
                  <a:pt x="83492" y="0"/>
                </a:lnTo>
                <a:lnTo>
                  <a:pt x="68472" y="1120"/>
                </a:lnTo>
                <a:lnTo>
                  <a:pt x="28585" y="22607"/>
                </a:lnTo>
                <a:lnTo>
                  <a:pt x="19645" y="57025"/>
                </a:lnTo>
                <a:lnTo>
                  <a:pt x="19845" y="62883"/>
                </a:lnTo>
                <a:lnTo>
                  <a:pt x="20446" y="69133"/>
                </a:lnTo>
                <a:lnTo>
                  <a:pt x="21448" y="75775"/>
                </a:lnTo>
                <a:lnTo>
                  <a:pt x="22851" y="82810"/>
                </a:lnTo>
                <a:lnTo>
                  <a:pt x="24988" y="92450"/>
                </a:lnTo>
                <a:lnTo>
                  <a:pt x="26056" y="98907"/>
                </a:lnTo>
                <a:lnTo>
                  <a:pt x="26056" y="108457"/>
                </a:lnTo>
                <a:lnTo>
                  <a:pt x="23896" y="113573"/>
                </a:lnTo>
                <a:lnTo>
                  <a:pt x="15256" y="121486"/>
                </a:lnTo>
                <a:lnTo>
                  <a:pt x="8731" y="123601"/>
                </a:lnTo>
                <a:lnTo>
                  <a:pt x="0" y="123874"/>
                </a:lnTo>
                <a:lnTo>
                  <a:pt x="0" y="135060"/>
                </a:lnTo>
                <a:lnTo>
                  <a:pt x="8731" y="135333"/>
                </a:lnTo>
                <a:lnTo>
                  <a:pt x="15256" y="137448"/>
                </a:lnTo>
                <a:lnTo>
                  <a:pt x="23896" y="145361"/>
                </a:lnTo>
                <a:lnTo>
                  <a:pt x="26056" y="150477"/>
                </a:lnTo>
                <a:lnTo>
                  <a:pt x="26056" y="160026"/>
                </a:lnTo>
                <a:lnTo>
                  <a:pt x="24988" y="166484"/>
                </a:lnTo>
                <a:lnTo>
                  <a:pt x="22851" y="176124"/>
                </a:lnTo>
                <a:lnTo>
                  <a:pt x="21448" y="183159"/>
                </a:lnTo>
                <a:lnTo>
                  <a:pt x="20446" y="189801"/>
                </a:lnTo>
                <a:lnTo>
                  <a:pt x="19845" y="196051"/>
                </a:lnTo>
                <a:lnTo>
                  <a:pt x="19645" y="201909"/>
                </a:lnTo>
                <a:lnTo>
                  <a:pt x="20638" y="215684"/>
                </a:lnTo>
                <a:lnTo>
                  <a:pt x="44495" y="251709"/>
                </a:lnTo>
                <a:lnTo>
                  <a:pt x="83492" y="260163"/>
                </a:lnTo>
                <a:lnTo>
                  <a:pt x="87039" y="260163"/>
                </a:lnTo>
                <a:lnTo>
                  <a:pt x="87039" y="249795"/>
                </a:lnTo>
                <a:lnTo>
                  <a:pt x="84993" y="249795"/>
                </a:lnTo>
                <a:lnTo>
                  <a:pt x="75639" y="249151"/>
                </a:lnTo>
                <a:lnTo>
                  <a:pt x="45633" y="225562"/>
                </a:lnTo>
                <a:lnTo>
                  <a:pt x="42837" y="204364"/>
                </a:lnTo>
                <a:lnTo>
                  <a:pt x="42837" y="197998"/>
                </a:lnTo>
                <a:lnTo>
                  <a:pt x="43746" y="190131"/>
                </a:lnTo>
                <a:lnTo>
                  <a:pt x="47384" y="171395"/>
                </a:lnTo>
                <a:lnTo>
                  <a:pt x="48294" y="164711"/>
                </a:lnTo>
                <a:lnTo>
                  <a:pt x="48294" y="152977"/>
                </a:lnTo>
                <a:lnTo>
                  <a:pt x="46020" y="146634"/>
                </a:lnTo>
                <a:lnTo>
                  <a:pt x="36925" y="136720"/>
                </a:lnTo>
                <a:lnTo>
                  <a:pt x="31513" y="133060"/>
                </a:lnTo>
                <a:lnTo>
                  <a:pt x="25238" y="130695"/>
                </a:lnTo>
                <a:lnTo>
                  <a:pt x="25238" y="128239"/>
                </a:lnTo>
                <a:lnTo>
                  <a:pt x="31513" y="125874"/>
                </a:lnTo>
                <a:lnTo>
                  <a:pt x="36925" y="122214"/>
                </a:lnTo>
                <a:lnTo>
                  <a:pt x="46020" y="112301"/>
                </a:lnTo>
                <a:lnTo>
                  <a:pt x="48294" y="105957"/>
                </a:lnTo>
                <a:lnTo>
                  <a:pt x="48294" y="94223"/>
                </a:lnTo>
                <a:lnTo>
                  <a:pt x="47384" y="87539"/>
                </a:lnTo>
                <a:lnTo>
                  <a:pt x="43746" y="68803"/>
                </a:lnTo>
                <a:lnTo>
                  <a:pt x="42837" y="60935"/>
                </a:lnTo>
                <a:lnTo>
                  <a:pt x="42837" y="54569"/>
                </a:lnTo>
                <a:lnTo>
                  <a:pt x="43536" y="43600"/>
                </a:lnTo>
                <a:lnTo>
                  <a:pt x="67359" y="12943"/>
                </a:lnTo>
                <a:lnTo>
                  <a:pt x="84993" y="10368"/>
                </a:lnTo>
                <a:lnTo>
                  <a:pt x="87039" y="10368"/>
                </a:lnTo>
                <a:lnTo>
                  <a:pt x="8703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729924" y="3914140"/>
            <a:ext cx="8540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solidFill>
                  <a:srgbClr val="60B5CC"/>
                </a:solidFill>
                <a:latin typeface="Cambria Math"/>
                <a:cs typeface="Cambria Math"/>
              </a:rPr>
              <a:t>−1,</a:t>
            </a:r>
            <a:r>
              <a:rPr dirty="0" sz="2200" spc="-210">
                <a:solidFill>
                  <a:srgbClr val="60B5CC"/>
                </a:solidFill>
                <a:latin typeface="Cambria Math"/>
                <a:cs typeface="Cambria Math"/>
              </a:rPr>
              <a:t> </a:t>
            </a:r>
            <a:r>
              <a:rPr dirty="0" sz="2200" spc="-5">
                <a:solidFill>
                  <a:srgbClr val="60B5CC"/>
                </a:solidFill>
                <a:latin typeface="Cambria Math"/>
                <a:cs typeface="Cambria Math"/>
              </a:rPr>
              <a:t>−2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4811" y="3914140"/>
            <a:ext cx="11715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60B5CC"/>
                </a:solidFill>
                <a:latin typeface="Cambria Math"/>
                <a:cs typeface="Cambria Math"/>
              </a:rPr>
              <a:t>= </a:t>
            </a:r>
            <a:r>
              <a:rPr dirty="0" sz="2200" spc="-5">
                <a:solidFill>
                  <a:srgbClr val="60B5CC"/>
                </a:solidFill>
                <a:latin typeface="Cambria Math"/>
                <a:cs typeface="Cambria Math"/>
              </a:rPr>
              <a:t>0</a:t>
            </a:r>
            <a:r>
              <a:rPr dirty="0" sz="2200" spc="-5">
                <a:latin typeface="Calibri"/>
                <a:cs typeface="Calibri"/>
              </a:rPr>
              <a:t>, </a:t>
            </a:r>
            <a:r>
              <a:rPr dirty="0" sz="2200" spc="-375">
                <a:solidFill>
                  <a:srgbClr val="E88651"/>
                </a:solidFill>
                <a:latin typeface="Cambria Math"/>
                <a:cs typeface="Cambria Math"/>
              </a:rPr>
              <a:t>𝑦9</a:t>
            </a:r>
            <a:r>
              <a:rPr dirty="0" baseline="-15625" sz="2400" spc="-562">
                <a:solidFill>
                  <a:srgbClr val="E88651"/>
                </a:solidFill>
                <a:latin typeface="Cambria Math"/>
                <a:cs typeface="Cambria Math"/>
              </a:rPr>
              <a:t>/</a:t>
            </a:r>
            <a:r>
              <a:rPr dirty="0" baseline="-15625" sz="2400" spc="322">
                <a:solidFill>
                  <a:srgbClr val="E88651"/>
                </a:solidFill>
                <a:latin typeface="Cambria Math"/>
                <a:cs typeface="Cambria Math"/>
              </a:rPr>
              <a:t> </a:t>
            </a:r>
            <a:r>
              <a:rPr dirty="0" sz="2200">
                <a:solidFill>
                  <a:srgbClr val="E88651"/>
                </a:solidFill>
                <a:latin typeface="Cambria Math"/>
                <a:cs typeface="Cambria Math"/>
              </a:rPr>
              <a:t>=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62227" y="4300571"/>
            <a:ext cx="1797050" cy="337820"/>
          </a:xfrm>
          <a:custGeom>
            <a:avLst/>
            <a:gdLst/>
            <a:ahLst/>
            <a:cxnLst/>
            <a:rect l="l" t="t" r="r" b="b"/>
            <a:pathLst>
              <a:path w="1797050" h="337820">
                <a:moveTo>
                  <a:pt x="1708247" y="0"/>
                </a:moveTo>
                <a:lnTo>
                  <a:pt x="1704836" y="11187"/>
                </a:lnTo>
                <a:lnTo>
                  <a:pt x="1720342" y="19227"/>
                </a:lnTo>
                <a:lnTo>
                  <a:pt x="1733844" y="30934"/>
                </a:lnTo>
                <a:lnTo>
                  <a:pt x="1754836" y="65347"/>
                </a:lnTo>
                <a:lnTo>
                  <a:pt x="1767575" y="112107"/>
                </a:lnTo>
                <a:lnTo>
                  <a:pt x="1771821" y="168894"/>
                </a:lnTo>
                <a:lnTo>
                  <a:pt x="1770759" y="198478"/>
                </a:lnTo>
                <a:lnTo>
                  <a:pt x="1762267" y="250149"/>
                </a:lnTo>
                <a:lnTo>
                  <a:pt x="1745342" y="291248"/>
                </a:lnTo>
                <a:lnTo>
                  <a:pt x="1704836" y="326330"/>
                </a:lnTo>
                <a:lnTo>
                  <a:pt x="1708247" y="337517"/>
                </a:lnTo>
                <a:lnTo>
                  <a:pt x="1745935" y="317428"/>
                </a:lnTo>
                <a:lnTo>
                  <a:pt x="1773868" y="279537"/>
                </a:lnTo>
                <a:lnTo>
                  <a:pt x="1791160" y="228445"/>
                </a:lnTo>
                <a:lnTo>
                  <a:pt x="1796924" y="168758"/>
                </a:lnTo>
                <a:lnTo>
                  <a:pt x="1795483" y="137841"/>
                </a:lnTo>
                <a:lnTo>
                  <a:pt x="1783955" y="82452"/>
                </a:lnTo>
                <a:lnTo>
                  <a:pt x="1761121" y="36809"/>
                </a:lnTo>
                <a:lnTo>
                  <a:pt x="1728311" y="7819"/>
                </a:lnTo>
                <a:lnTo>
                  <a:pt x="1708247" y="0"/>
                </a:lnTo>
                <a:close/>
              </a:path>
              <a:path w="1797050" h="337820">
                <a:moveTo>
                  <a:pt x="88670" y="0"/>
                </a:moveTo>
                <a:lnTo>
                  <a:pt x="50982" y="20089"/>
                </a:lnTo>
                <a:lnTo>
                  <a:pt x="23049" y="57980"/>
                </a:lnTo>
                <a:lnTo>
                  <a:pt x="5757" y="109072"/>
                </a:lnTo>
                <a:lnTo>
                  <a:pt x="0" y="168894"/>
                </a:lnTo>
                <a:lnTo>
                  <a:pt x="1434" y="199676"/>
                </a:lnTo>
                <a:lnTo>
                  <a:pt x="12962" y="255065"/>
                </a:lnTo>
                <a:lnTo>
                  <a:pt x="35796" y="300708"/>
                </a:lnTo>
                <a:lnTo>
                  <a:pt x="68606" y="329698"/>
                </a:lnTo>
                <a:lnTo>
                  <a:pt x="88670" y="337517"/>
                </a:lnTo>
                <a:lnTo>
                  <a:pt x="92081" y="326330"/>
                </a:lnTo>
                <a:lnTo>
                  <a:pt x="76575" y="318294"/>
                </a:lnTo>
                <a:lnTo>
                  <a:pt x="63073" y="306600"/>
                </a:lnTo>
                <a:lnTo>
                  <a:pt x="42080" y="272238"/>
                </a:lnTo>
                <a:lnTo>
                  <a:pt x="29341" y="225562"/>
                </a:lnTo>
                <a:lnTo>
                  <a:pt x="25100" y="168758"/>
                </a:lnTo>
                <a:lnTo>
                  <a:pt x="26156" y="139247"/>
                </a:lnTo>
                <a:lnTo>
                  <a:pt x="34649" y="87474"/>
                </a:lnTo>
                <a:lnTo>
                  <a:pt x="51575" y="46308"/>
                </a:lnTo>
                <a:lnTo>
                  <a:pt x="92081" y="11187"/>
                </a:lnTo>
                <a:lnTo>
                  <a:pt x="88670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11635" y="4339875"/>
            <a:ext cx="1022350" cy="259079"/>
          </a:xfrm>
          <a:custGeom>
            <a:avLst/>
            <a:gdLst/>
            <a:ahLst/>
            <a:cxnLst/>
            <a:rect l="l" t="t" r="r" b="b"/>
            <a:pathLst>
              <a:path w="1022350" h="259079">
                <a:moveTo>
                  <a:pt x="939477" y="0"/>
                </a:moveTo>
                <a:lnTo>
                  <a:pt x="935794" y="10505"/>
                </a:lnTo>
                <a:lnTo>
                  <a:pt x="950775" y="17006"/>
                </a:lnTo>
                <a:lnTo>
                  <a:pt x="963658" y="26006"/>
                </a:lnTo>
                <a:lnTo>
                  <a:pt x="989818" y="67723"/>
                </a:lnTo>
                <a:lnTo>
                  <a:pt x="997459" y="106024"/>
                </a:lnTo>
                <a:lnTo>
                  <a:pt x="998414" y="128103"/>
                </a:lnTo>
                <a:lnTo>
                  <a:pt x="997454" y="150929"/>
                </a:lnTo>
                <a:lnTo>
                  <a:pt x="989780" y="190288"/>
                </a:lnTo>
                <a:lnTo>
                  <a:pt x="963676" y="232674"/>
                </a:lnTo>
                <a:lnTo>
                  <a:pt x="936203" y="248295"/>
                </a:lnTo>
                <a:lnTo>
                  <a:pt x="939477" y="258800"/>
                </a:lnTo>
                <a:lnTo>
                  <a:pt x="974777" y="242241"/>
                </a:lnTo>
                <a:lnTo>
                  <a:pt x="1000733" y="213574"/>
                </a:lnTo>
                <a:lnTo>
                  <a:pt x="1016695" y="175187"/>
                </a:lnTo>
                <a:lnTo>
                  <a:pt x="1022015" y="129468"/>
                </a:lnTo>
                <a:lnTo>
                  <a:pt x="1020681" y="105743"/>
                </a:lnTo>
                <a:lnTo>
                  <a:pt x="1010005" y="63690"/>
                </a:lnTo>
                <a:lnTo>
                  <a:pt x="988833" y="29455"/>
                </a:lnTo>
                <a:lnTo>
                  <a:pt x="958240" y="6774"/>
                </a:lnTo>
                <a:lnTo>
                  <a:pt x="939477" y="0"/>
                </a:lnTo>
                <a:close/>
              </a:path>
              <a:path w="1022350" h="259079">
                <a:moveTo>
                  <a:pt x="82537" y="0"/>
                </a:moveTo>
                <a:lnTo>
                  <a:pt x="47322" y="16593"/>
                </a:lnTo>
                <a:lnTo>
                  <a:pt x="21349" y="45361"/>
                </a:lnTo>
                <a:lnTo>
                  <a:pt x="5337" y="83817"/>
                </a:lnTo>
                <a:lnTo>
                  <a:pt x="0" y="129468"/>
                </a:lnTo>
                <a:lnTo>
                  <a:pt x="1330" y="153244"/>
                </a:lnTo>
                <a:lnTo>
                  <a:pt x="11971" y="195297"/>
                </a:lnTo>
                <a:lnTo>
                  <a:pt x="33091" y="229421"/>
                </a:lnTo>
                <a:lnTo>
                  <a:pt x="82537" y="258800"/>
                </a:lnTo>
                <a:lnTo>
                  <a:pt x="85811" y="248295"/>
                </a:lnTo>
                <a:lnTo>
                  <a:pt x="71064" y="241763"/>
                </a:lnTo>
                <a:lnTo>
                  <a:pt x="58338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3"/>
                </a:lnTo>
                <a:lnTo>
                  <a:pt x="58441" y="26006"/>
                </a:lnTo>
                <a:lnTo>
                  <a:pt x="86220" y="10505"/>
                </a:lnTo>
                <a:lnTo>
                  <a:pt x="82537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15989" y="4339267"/>
            <a:ext cx="813435" cy="260350"/>
          </a:xfrm>
          <a:custGeom>
            <a:avLst/>
            <a:gdLst/>
            <a:ahLst/>
            <a:cxnLst/>
            <a:rect l="l" t="t" r="r" b="b"/>
            <a:pathLst>
              <a:path w="813435" h="260350">
                <a:moveTo>
                  <a:pt x="729783" y="0"/>
                </a:moveTo>
                <a:lnTo>
                  <a:pt x="726236" y="0"/>
                </a:lnTo>
                <a:lnTo>
                  <a:pt x="726236" y="10368"/>
                </a:lnTo>
                <a:lnTo>
                  <a:pt x="728282" y="10368"/>
                </a:lnTo>
                <a:lnTo>
                  <a:pt x="737637" y="11011"/>
                </a:lnTo>
                <a:lnTo>
                  <a:pt x="769739" y="43677"/>
                </a:lnTo>
                <a:lnTo>
                  <a:pt x="770439" y="54706"/>
                </a:lnTo>
                <a:lnTo>
                  <a:pt x="770439" y="61073"/>
                </a:lnTo>
                <a:lnTo>
                  <a:pt x="769529" y="68939"/>
                </a:lnTo>
                <a:lnTo>
                  <a:pt x="765891" y="87675"/>
                </a:lnTo>
                <a:lnTo>
                  <a:pt x="764981" y="94361"/>
                </a:lnTo>
                <a:lnTo>
                  <a:pt x="764981" y="106093"/>
                </a:lnTo>
                <a:lnTo>
                  <a:pt x="767255" y="112436"/>
                </a:lnTo>
                <a:lnTo>
                  <a:pt x="776351" y="122350"/>
                </a:lnTo>
                <a:lnTo>
                  <a:pt x="781762" y="126011"/>
                </a:lnTo>
                <a:lnTo>
                  <a:pt x="788037" y="128376"/>
                </a:lnTo>
                <a:lnTo>
                  <a:pt x="788037" y="130831"/>
                </a:lnTo>
                <a:lnTo>
                  <a:pt x="781762" y="133196"/>
                </a:lnTo>
                <a:lnTo>
                  <a:pt x="776351" y="136857"/>
                </a:lnTo>
                <a:lnTo>
                  <a:pt x="767255" y="146771"/>
                </a:lnTo>
                <a:lnTo>
                  <a:pt x="764981" y="153115"/>
                </a:lnTo>
                <a:lnTo>
                  <a:pt x="764981" y="164847"/>
                </a:lnTo>
                <a:lnTo>
                  <a:pt x="765891" y="171532"/>
                </a:lnTo>
                <a:lnTo>
                  <a:pt x="769529" y="190267"/>
                </a:lnTo>
                <a:lnTo>
                  <a:pt x="770439" y="198135"/>
                </a:lnTo>
                <a:lnTo>
                  <a:pt x="770439" y="204501"/>
                </a:lnTo>
                <a:lnTo>
                  <a:pt x="769739" y="215948"/>
                </a:lnTo>
                <a:lnTo>
                  <a:pt x="745916" y="247220"/>
                </a:lnTo>
                <a:lnTo>
                  <a:pt x="728282" y="249795"/>
                </a:lnTo>
                <a:lnTo>
                  <a:pt x="726236" y="249795"/>
                </a:lnTo>
                <a:lnTo>
                  <a:pt x="726236" y="260163"/>
                </a:lnTo>
                <a:lnTo>
                  <a:pt x="729783" y="260163"/>
                </a:lnTo>
                <a:lnTo>
                  <a:pt x="744803" y="259042"/>
                </a:lnTo>
                <a:lnTo>
                  <a:pt x="784691" y="237486"/>
                </a:lnTo>
                <a:lnTo>
                  <a:pt x="793631" y="202045"/>
                </a:lnTo>
                <a:lnTo>
                  <a:pt x="793431" y="196187"/>
                </a:lnTo>
                <a:lnTo>
                  <a:pt x="792830" y="189938"/>
                </a:lnTo>
                <a:lnTo>
                  <a:pt x="791827" y="183296"/>
                </a:lnTo>
                <a:lnTo>
                  <a:pt x="790425" y="176262"/>
                </a:lnTo>
                <a:lnTo>
                  <a:pt x="788287" y="166620"/>
                </a:lnTo>
                <a:lnTo>
                  <a:pt x="787219" y="160163"/>
                </a:lnTo>
                <a:lnTo>
                  <a:pt x="787219" y="150613"/>
                </a:lnTo>
                <a:lnTo>
                  <a:pt x="789378" y="145497"/>
                </a:lnTo>
                <a:lnTo>
                  <a:pt x="798019" y="137584"/>
                </a:lnTo>
                <a:lnTo>
                  <a:pt x="804544" y="135469"/>
                </a:lnTo>
                <a:lnTo>
                  <a:pt x="813276" y="135197"/>
                </a:lnTo>
                <a:lnTo>
                  <a:pt x="813276" y="124010"/>
                </a:lnTo>
                <a:lnTo>
                  <a:pt x="804544" y="123737"/>
                </a:lnTo>
                <a:lnTo>
                  <a:pt x="798019" y="121622"/>
                </a:lnTo>
                <a:lnTo>
                  <a:pt x="789378" y="113710"/>
                </a:lnTo>
                <a:lnTo>
                  <a:pt x="787219" y="108593"/>
                </a:lnTo>
                <a:lnTo>
                  <a:pt x="787219" y="99044"/>
                </a:lnTo>
                <a:lnTo>
                  <a:pt x="788287" y="92586"/>
                </a:lnTo>
                <a:lnTo>
                  <a:pt x="790425" y="82946"/>
                </a:lnTo>
                <a:lnTo>
                  <a:pt x="791827" y="75911"/>
                </a:lnTo>
                <a:lnTo>
                  <a:pt x="792830" y="69269"/>
                </a:lnTo>
                <a:lnTo>
                  <a:pt x="793431" y="63019"/>
                </a:lnTo>
                <a:lnTo>
                  <a:pt x="793631" y="57161"/>
                </a:lnTo>
                <a:lnTo>
                  <a:pt x="792638" y="43864"/>
                </a:lnTo>
                <a:lnTo>
                  <a:pt x="768780" y="8453"/>
                </a:lnTo>
                <a:lnTo>
                  <a:pt x="744803" y="1120"/>
                </a:lnTo>
                <a:lnTo>
                  <a:pt x="729783" y="0"/>
                </a:lnTo>
                <a:close/>
              </a:path>
              <a:path w="813435" h="260350">
                <a:moveTo>
                  <a:pt x="87039" y="0"/>
                </a:moveTo>
                <a:lnTo>
                  <a:pt x="83492" y="0"/>
                </a:lnTo>
                <a:lnTo>
                  <a:pt x="68472" y="1120"/>
                </a:lnTo>
                <a:lnTo>
                  <a:pt x="28585" y="22607"/>
                </a:lnTo>
                <a:lnTo>
                  <a:pt x="19645" y="57025"/>
                </a:lnTo>
                <a:lnTo>
                  <a:pt x="19845" y="62883"/>
                </a:lnTo>
                <a:lnTo>
                  <a:pt x="20446" y="69133"/>
                </a:lnTo>
                <a:lnTo>
                  <a:pt x="21448" y="75775"/>
                </a:lnTo>
                <a:lnTo>
                  <a:pt x="22851" y="82810"/>
                </a:lnTo>
                <a:lnTo>
                  <a:pt x="24988" y="92450"/>
                </a:lnTo>
                <a:lnTo>
                  <a:pt x="26057" y="98907"/>
                </a:lnTo>
                <a:lnTo>
                  <a:pt x="26057" y="108457"/>
                </a:lnTo>
                <a:lnTo>
                  <a:pt x="23897" y="113573"/>
                </a:lnTo>
                <a:lnTo>
                  <a:pt x="15256" y="121486"/>
                </a:lnTo>
                <a:lnTo>
                  <a:pt x="8731" y="123601"/>
                </a:lnTo>
                <a:lnTo>
                  <a:pt x="0" y="123874"/>
                </a:lnTo>
                <a:lnTo>
                  <a:pt x="0" y="135060"/>
                </a:lnTo>
                <a:lnTo>
                  <a:pt x="8731" y="135333"/>
                </a:lnTo>
                <a:lnTo>
                  <a:pt x="15256" y="137448"/>
                </a:lnTo>
                <a:lnTo>
                  <a:pt x="23897" y="145361"/>
                </a:lnTo>
                <a:lnTo>
                  <a:pt x="26057" y="150477"/>
                </a:lnTo>
                <a:lnTo>
                  <a:pt x="26057" y="160026"/>
                </a:lnTo>
                <a:lnTo>
                  <a:pt x="24988" y="166484"/>
                </a:lnTo>
                <a:lnTo>
                  <a:pt x="22851" y="176124"/>
                </a:lnTo>
                <a:lnTo>
                  <a:pt x="21448" y="183159"/>
                </a:lnTo>
                <a:lnTo>
                  <a:pt x="20446" y="189801"/>
                </a:lnTo>
                <a:lnTo>
                  <a:pt x="19845" y="196051"/>
                </a:lnTo>
                <a:lnTo>
                  <a:pt x="19645" y="201909"/>
                </a:lnTo>
                <a:lnTo>
                  <a:pt x="20638" y="215684"/>
                </a:lnTo>
                <a:lnTo>
                  <a:pt x="44495" y="251709"/>
                </a:lnTo>
                <a:lnTo>
                  <a:pt x="83492" y="260163"/>
                </a:lnTo>
                <a:lnTo>
                  <a:pt x="87039" y="260163"/>
                </a:lnTo>
                <a:lnTo>
                  <a:pt x="87039" y="249795"/>
                </a:lnTo>
                <a:lnTo>
                  <a:pt x="84993" y="249795"/>
                </a:lnTo>
                <a:lnTo>
                  <a:pt x="75639" y="249151"/>
                </a:lnTo>
                <a:lnTo>
                  <a:pt x="45634" y="225562"/>
                </a:lnTo>
                <a:lnTo>
                  <a:pt x="42837" y="204364"/>
                </a:lnTo>
                <a:lnTo>
                  <a:pt x="42837" y="197998"/>
                </a:lnTo>
                <a:lnTo>
                  <a:pt x="43747" y="190131"/>
                </a:lnTo>
                <a:lnTo>
                  <a:pt x="47384" y="171395"/>
                </a:lnTo>
                <a:lnTo>
                  <a:pt x="48294" y="164711"/>
                </a:lnTo>
                <a:lnTo>
                  <a:pt x="48294" y="152977"/>
                </a:lnTo>
                <a:lnTo>
                  <a:pt x="46020" y="146634"/>
                </a:lnTo>
                <a:lnTo>
                  <a:pt x="36925" y="136720"/>
                </a:lnTo>
                <a:lnTo>
                  <a:pt x="31513" y="133060"/>
                </a:lnTo>
                <a:lnTo>
                  <a:pt x="25238" y="130695"/>
                </a:lnTo>
                <a:lnTo>
                  <a:pt x="25238" y="128239"/>
                </a:lnTo>
                <a:lnTo>
                  <a:pt x="31513" y="125874"/>
                </a:lnTo>
                <a:lnTo>
                  <a:pt x="36925" y="122214"/>
                </a:lnTo>
                <a:lnTo>
                  <a:pt x="46020" y="112301"/>
                </a:lnTo>
                <a:lnTo>
                  <a:pt x="48294" y="105957"/>
                </a:lnTo>
                <a:lnTo>
                  <a:pt x="48294" y="94223"/>
                </a:lnTo>
                <a:lnTo>
                  <a:pt x="47384" y="87539"/>
                </a:lnTo>
                <a:lnTo>
                  <a:pt x="43747" y="68803"/>
                </a:lnTo>
                <a:lnTo>
                  <a:pt x="42837" y="60935"/>
                </a:lnTo>
                <a:lnTo>
                  <a:pt x="42837" y="54569"/>
                </a:lnTo>
                <a:lnTo>
                  <a:pt x="43536" y="43600"/>
                </a:lnTo>
                <a:lnTo>
                  <a:pt x="67360" y="12943"/>
                </a:lnTo>
                <a:lnTo>
                  <a:pt x="84993" y="10368"/>
                </a:lnTo>
                <a:lnTo>
                  <a:pt x="87039" y="10368"/>
                </a:lnTo>
                <a:lnTo>
                  <a:pt x="87039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23272" y="4719671"/>
            <a:ext cx="1838960" cy="337820"/>
          </a:xfrm>
          <a:custGeom>
            <a:avLst/>
            <a:gdLst/>
            <a:ahLst/>
            <a:cxnLst/>
            <a:rect l="l" t="t" r="r" b="b"/>
            <a:pathLst>
              <a:path w="1838960" h="337820">
                <a:moveTo>
                  <a:pt x="1750157" y="0"/>
                </a:moveTo>
                <a:lnTo>
                  <a:pt x="1746746" y="11187"/>
                </a:lnTo>
                <a:lnTo>
                  <a:pt x="1762252" y="19227"/>
                </a:lnTo>
                <a:lnTo>
                  <a:pt x="1775754" y="30934"/>
                </a:lnTo>
                <a:lnTo>
                  <a:pt x="1796746" y="65347"/>
                </a:lnTo>
                <a:lnTo>
                  <a:pt x="1809485" y="112107"/>
                </a:lnTo>
                <a:lnTo>
                  <a:pt x="1813731" y="168894"/>
                </a:lnTo>
                <a:lnTo>
                  <a:pt x="1812669" y="198477"/>
                </a:lnTo>
                <a:lnTo>
                  <a:pt x="1804177" y="250149"/>
                </a:lnTo>
                <a:lnTo>
                  <a:pt x="1787252" y="291247"/>
                </a:lnTo>
                <a:lnTo>
                  <a:pt x="1746746" y="326330"/>
                </a:lnTo>
                <a:lnTo>
                  <a:pt x="1750157" y="337517"/>
                </a:lnTo>
                <a:lnTo>
                  <a:pt x="1787845" y="317428"/>
                </a:lnTo>
                <a:lnTo>
                  <a:pt x="1815778" y="279537"/>
                </a:lnTo>
                <a:lnTo>
                  <a:pt x="1833070" y="228445"/>
                </a:lnTo>
                <a:lnTo>
                  <a:pt x="1838834" y="168758"/>
                </a:lnTo>
                <a:lnTo>
                  <a:pt x="1837393" y="137841"/>
                </a:lnTo>
                <a:lnTo>
                  <a:pt x="1825865" y="82452"/>
                </a:lnTo>
                <a:lnTo>
                  <a:pt x="1803031" y="36809"/>
                </a:lnTo>
                <a:lnTo>
                  <a:pt x="1770220" y="7819"/>
                </a:lnTo>
                <a:lnTo>
                  <a:pt x="1750157" y="0"/>
                </a:lnTo>
                <a:close/>
              </a:path>
              <a:path w="1838960" h="337820">
                <a:moveTo>
                  <a:pt x="88670" y="0"/>
                </a:moveTo>
                <a:lnTo>
                  <a:pt x="50982" y="20089"/>
                </a:lnTo>
                <a:lnTo>
                  <a:pt x="23049" y="57980"/>
                </a:lnTo>
                <a:lnTo>
                  <a:pt x="5757" y="109072"/>
                </a:lnTo>
                <a:lnTo>
                  <a:pt x="0" y="168894"/>
                </a:lnTo>
                <a:lnTo>
                  <a:pt x="1434" y="199676"/>
                </a:lnTo>
                <a:lnTo>
                  <a:pt x="12962" y="255065"/>
                </a:lnTo>
                <a:lnTo>
                  <a:pt x="35796" y="300708"/>
                </a:lnTo>
                <a:lnTo>
                  <a:pt x="68606" y="329698"/>
                </a:lnTo>
                <a:lnTo>
                  <a:pt x="88670" y="337517"/>
                </a:lnTo>
                <a:lnTo>
                  <a:pt x="92081" y="326330"/>
                </a:lnTo>
                <a:lnTo>
                  <a:pt x="76575" y="318294"/>
                </a:lnTo>
                <a:lnTo>
                  <a:pt x="63073" y="306599"/>
                </a:lnTo>
                <a:lnTo>
                  <a:pt x="42080" y="272237"/>
                </a:lnTo>
                <a:lnTo>
                  <a:pt x="29341" y="225562"/>
                </a:lnTo>
                <a:lnTo>
                  <a:pt x="25100" y="168758"/>
                </a:lnTo>
                <a:lnTo>
                  <a:pt x="26156" y="139247"/>
                </a:lnTo>
                <a:lnTo>
                  <a:pt x="34649" y="87474"/>
                </a:lnTo>
                <a:lnTo>
                  <a:pt x="51575" y="46308"/>
                </a:lnTo>
                <a:lnTo>
                  <a:pt x="92081" y="11187"/>
                </a:lnTo>
                <a:lnTo>
                  <a:pt x="8867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267713" y="3914140"/>
            <a:ext cx="3294379" cy="112268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41300" marR="34290" indent="-228600">
              <a:lnSpc>
                <a:spcPct val="101800"/>
              </a:lnSpc>
              <a:spcBef>
                <a:spcPts val="5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  <a:tab pos="1743075" algn="l"/>
                <a:tab pos="2793365" algn="l"/>
              </a:tabLst>
            </a:pPr>
            <a:r>
              <a:rPr dirty="0" sz="2200" spc="-15" b="1">
                <a:latin typeface="Calibri"/>
                <a:cs typeface="Calibri"/>
              </a:rPr>
              <a:t>Round </a:t>
            </a:r>
            <a:r>
              <a:rPr dirty="0" sz="2200" spc="-5" b="1">
                <a:latin typeface="Calibri"/>
                <a:cs typeface="Calibri"/>
              </a:rPr>
              <a:t>1</a:t>
            </a:r>
            <a:r>
              <a:rPr dirty="0" sz="2200" spc="-5">
                <a:latin typeface="Calibri"/>
                <a:cs typeface="Calibri"/>
              </a:rPr>
              <a:t>: </a:t>
            </a:r>
            <a:r>
              <a:rPr dirty="0" sz="2200" spc="-254">
                <a:solidFill>
                  <a:srgbClr val="60B5CC"/>
                </a:solidFill>
                <a:latin typeface="Cambria Math"/>
                <a:cs typeface="Cambria Math"/>
              </a:rPr>
              <a:t>𝑦9</a:t>
            </a:r>
            <a:r>
              <a:rPr dirty="0" baseline="-15625" sz="2400" spc="-382">
                <a:solidFill>
                  <a:srgbClr val="60B5CC"/>
                </a:solidFill>
                <a:latin typeface="Cambria Math"/>
                <a:cs typeface="Cambria Math"/>
              </a:rPr>
              <a:t>. </a:t>
            </a:r>
            <a:r>
              <a:rPr dirty="0" sz="2200">
                <a:solidFill>
                  <a:srgbClr val="60B5CC"/>
                </a:solidFill>
                <a:latin typeface="Cambria Math"/>
                <a:cs typeface="Cambria Math"/>
              </a:rPr>
              <a:t>= </a:t>
            </a:r>
            <a:r>
              <a:rPr dirty="0" sz="2200" spc="-30">
                <a:solidFill>
                  <a:srgbClr val="60B5CC"/>
                </a:solidFill>
                <a:latin typeface="Cambria Math"/>
                <a:cs typeface="Cambria Math"/>
              </a:rPr>
              <a:t>ReLU </a:t>
            </a:r>
            <a:r>
              <a:rPr dirty="0" sz="2200" spc="-110">
                <a:solidFill>
                  <a:srgbClr val="60B5CC"/>
                </a:solidFill>
                <a:latin typeface="Cambria Math"/>
                <a:cs typeface="Cambria Math"/>
              </a:rPr>
              <a:t>Sum </a:t>
            </a:r>
            <a:r>
              <a:rPr dirty="0" sz="2200" spc="-110">
                <a:solidFill>
                  <a:srgbClr val="E88651"/>
                </a:solidFill>
                <a:latin typeface="Cambria Math"/>
                <a:cs typeface="Cambria Math"/>
              </a:rPr>
              <a:t> </a:t>
            </a:r>
            <a:r>
              <a:rPr dirty="0" sz="2200" spc="-30">
                <a:solidFill>
                  <a:srgbClr val="E88651"/>
                </a:solidFill>
                <a:latin typeface="Cambria Math"/>
                <a:cs typeface="Cambria Math"/>
              </a:rPr>
              <a:t>ReLU </a:t>
            </a:r>
            <a:r>
              <a:rPr dirty="0" sz="2200" spc="50">
                <a:solidFill>
                  <a:srgbClr val="E88651"/>
                </a:solidFill>
                <a:latin typeface="Cambria Math"/>
                <a:cs typeface="Cambria Math"/>
              </a:rPr>
              <a:t> </a:t>
            </a:r>
            <a:r>
              <a:rPr dirty="0" sz="2200" spc="-5">
                <a:solidFill>
                  <a:srgbClr val="E88651"/>
                </a:solidFill>
                <a:latin typeface="Cambria Math"/>
                <a:cs typeface="Cambria Math"/>
              </a:rPr>
              <a:t>Sum	</a:t>
            </a:r>
            <a:r>
              <a:rPr dirty="0" sz="2200" spc="-10">
                <a:solidFill>
                  <a:srgbClr val="E88651"/>
                </a:solidFill>
                <a:latin typeface="Cambria Math"/>
                <a:cs typeface="Cambria Math"/>
              </a:rPr>
              <a:t>0,1,</a:t>
            </a:r>
            <a:r>
              <a:rPr dirty="0" sz="2200" spc="-120">
                <a:solidFill>
                  <a:srgbClr val="E88651"/>
                </a:solidFill>
                <a:latin typeface="Cambria Math"/>
                <a:cs typeface="Cambria Math"/>
              </a:rPr>
              <a:t> </a:t>
            </a:r>
            <a:r>
              <a:rPr dirty="0" sz="2200">
                <a:solidFill>
                  <a:srgbClr val="E88651"/>
                </a:solidFill>
                <a:latin typeface="Cambria Math"/>
                <a:cs typeface="Cambria Math"/>
              </a:rPr>
              <a:t>2	=</a:t>
            </a:r>
            <a:r>
              <a:rPr dirty="0" sz="2200" spc="10">
                <a:solidFill>
                  <a:srgbClr val="E88651"/>
                </a:solidFill>
                <a:latin typeface="Cambria Math"/>
                <a:cs typeface="Cambria Math"/>
              </a:rPr>
              <a:t> </a:t>
            </a:r>
            <a:r>
              <a:rPr dirty="0" sz="2200">
                <a:solidFill>
                  <a:srgbClr val="E88651"/>
                </a:solidFill>
                <a:latin typeface="Cambria Math"/>
                <a:cs typeface="Cambria Math"/>
              </a:rPr>
              <a:t>3</a:t>
            </a:r>
            <a:endParaRPr sz="2200">
              <a:latin typeface="Cambria Math"/>
              <a:cs typeface="Cambria Math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200" spc="-15" b="1">
                <a:latin typeface="Calibri"/>
                <a:cs typeface="Calibri"/>
              </a:rPr>
              <a:t>Round </a:t>
            </a:r>
            <a:r>
              <a:rPr dirty="0" sz="2200" spc="-5" b="1">
                <a:latin typeface="Calibri"/>
                <a:cs typeface="Calibri"/>
              </a:rPr>
              <a:t>2: </a:t>
            </a:r>
            <a:r>
              <a:rPr dirty="0" sz="2200" spc="-380">
                <a:solidFill>
                  <a:srgbClr val="C00000"/>
                </a:solidFill>
                <a:latin typeface="Cambria Math"/>
                <a:cs typeface="Cambria Math"/>
              </a:rPr>
              <a:t>𝑦9</a:t>
            </a:r>
            <a:r>
              <a:rPr dirty="0" baseline="-15625" sz="2400" spc="-569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r>
              <a:rPr dirty="0" baseline="-15625" sz="2400" spc="30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200">
                <a:solidFill>
                  <a:srgbClr val="C00000"/>
                </a:solidFill>
                <a:latin typeface="Cambria Math"/>
                <a:cs typeface="Cambria Math"/>
              </a:rPr>
              <a:t>= </a:t>
            </a:r>
            <a:r>
              <a:rPr dirty="0" sz="2200" spc="-30">
                <a:solidFill>
                  <a:srgbClr val="C00000"/>
                </a:solidFill>
                <a:latin typeface="Cambria Math"/>
                <a:cs typeface="Cambria Math"/>
              </a:rPr>
              <a:t>ReLU </a:t>
            </a:r>
            <a:r>
              <a:rPr dirty="0" sz="2200" spc="13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200" spc="-75">
                <a:solidFill>
                  <a:srgbClr val="C00000"/>
                </a:solidFill>
                <a:latin typeface="Cambria Math"/>
                <a:cs typeface="Cambria Math"/>
              </a:rPr>
              <a:t>Sum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72680" y="4758975"/>
            <a:ext cx="1064260" cy="259079"/>
          </a:xfrm>
          <a:custGeom>
            <a:avLst/>
            <a:gdLst/>
            <a:ahLst/>
            <a:cxnLst/>
            <a:rect l="l" t="t" r="r" b="b"/>
            <a:pathLst>
              <a:path w="1064260" h="259079">
                <a:moveTo>
                  <a:pt x="981387" y="0"/>
                </a:moveTo>
                <a:lnTo>
                  <a:pt x="977704" y="10505"/>
                </a:lnTo>
                <a:lnTo>
                  <a:pt x="992685" y="17006"/>
                </a:lnTo>
                <a:lnTo>
                  <a:pt x="1005568" y="26006"/>
                </a:lnTo>
                <a:lnTo>
                  <a:pt x="1031728" y="67723"/>
                </a:lnTo>
                <a:lnTo>
                  <a:pt x="1039368" y="106024"/>
                </a:lnTo>
                <a:lnTo>
                  <a:pt x="1040323" y="128103"/>
                </a:lnTo>
                <a:lnTo>
                  <a:pt x="1039363" y="150929"/>
                </a:lnTo>
                <a:lnTo>
                  <a:pt x="1031689" y="190288"/>
                </a:lnTo>
                <a:lnTo>
                  <a:pt x="1005586" y="232674"/>
                </a:lnTo>
                <a:lnTo>
                  <a:pt x="978113" y="248295"/>
                </a:lnTo>
                <a:lnTo>
                  <a:pt x="981387" y="258799"/>
                </a:lnTo>
                <a:lnTo>
                  <a:pt x="1016687" y="242241"/>
                </a:lnTo>
                <a:lnTo>
                  <a:pt x="1042643" y="213574"/>
                </a:lnTo>
                <a:lnTo>
                  <a:pt x="1058604" y="175187"/>
                </a:lnTo>
                <a:lnTo>
                  <a:pt x="1063924" y="129468"/>
                </a:lnTo>
                <a:lnTo>
                  <a:pt x="1062590" y="105743"/>
                </a:lnTo>
                <a:lnTo>
                  <a:pt x="1051915" y="63689"/>
                </a:lnTo>
                <a:lnTo>
                  <a:pt x="1030743" y="29455"/>
                </a:lnTo>
                <a:lnTo>
                  <a:pt x="1000149" y="6774"/>
                </a:lnTo>
                <a:lnTo>
                  <a:pt x="981387" y="0"/>
                </a:lnTo>
                <a:close/>
              </a:path>
              <a:path w="1064260" h="259079">
                <a:moveTo>
                  <a:pt x="82537" y="0"/>
                </a:moveTo>
                <a:lnTo>
                  <a:pt x="47322" y="16593"/>
                </a:lnTo>
                <a:lnTo>
                  <a:pt x="21349" y="45361"/>
                </a:lnTo>
                <a:lnTo>
                  <a:pt x="5337" y="83816"/>
                </a:lnTo>
                <a:lnTo>
                  <a:pt x="0" y="129468"/>
                </a:lnTo>
                <a:lnTo>
                  <a:pt x="1330" y="153244"/>
                </a:lnTo>
                <a:lnTo>
                  <a:pt x="11970" y="195297"/>
                </a:lnTo>
                <a:lnTo>
                  <a:pt x="33090" y="229421"/>
                </a:lnTo>
                <a:lnTo>
                  <a:pt x="82537" y="258799"/>
                </a:lnTo>
                <a:lnTo>
                  <a:pt x="85811" y="248295"/>
                </a:lnTo>
                <a:lnTo>
                  <a:pt x="71064" y="241763"/>
                </a:lnTo>
                <a:lnTo>
                  <a:pt x="58338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3"/>
                </a:lnTo>
                <a:lnTo>
                  <a:pt x="58440" y="26006"/>
                </a:lnTo>
                <a:lnTo>
                  <a:pt x="86220" y="10505"/>
                </a:lnTo>
                <a:lnTo>
                  <a:pt x="8253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77035" y="4758367"/>
            <a:ext cx="855344" cy="260350"/>
          </a:xfrm>
          <a:custGeom>
            <a:avLst/>
            <a:gdLst/>
            <a:ahLst/>
            <a:cxnLst/>
            <a:rect l="l" t="t" r="r" b="b"/>
            <a:pathLst>
              <a:path w="855345" h="260350">
                <a:moveTo>
                  <a:pt x="771693" y="0"/>
                </a:moveTo>
                <a:lnTo>
                  <a:pt x="768146" y="0"/>
                </a:lnTo>
                <a:lnTo>
                  <a:pt x="768146" y="10368"/>
                </a:lnTo>
                <a:lnTo>
                  <a:pt x="770192" y="10368"/>
                </a:lnTo>
                <a:lnTo>
                  <a:pt x="779546" y="11011"/>
                </a:lnTo>
                <a:lnTo>
                  <a:pt x="811649" y="43677"/>
                </a:lnTo>
                <a:lnTo>
                  <a:pt x="812349" y="54706"/>
                </a:lnTo>
                <a:lnTo>
                  <a:pt x="812349" y="61073"/>
                </a:lnTo>
                <a:lnTo>
                  <a:pt x="811439" y="68939"/>
                </a:lnTo>
                <a:lnTo>
                  <a:pt x="807801" y="87675"/>
                </a:lnTo>
                <a:lnTo>
                  <a:pt x="806891" y="94361"/>
                </a:lnTo>
                <a:lnTo>
                  <a:pt x="806891" y="106093"/>
                </a:lnTo>
                <a:lnTo>
                  <a:pt x="809165" y="112436"/>
                </a:lnTo>
                <a:lnTo>
                  <a:pt x="818260" y="122350"/>
                </a:lnTo>
                <a:lnTo>
                  <a:pt x="823672" y="126011"/>
                </a:lnTo>
                <a:lnTo>
                  <a:pt x="829947" y="128375"/>
                </a:lnTo>
                <a:lnTo>
                  <a:pt x="829947" y="130831"/>
                </a:lnTo>
                <a:lnTo>
                  <a:pt x="823672" y="133196"/>
                </a:lnTo>
                <a:lnTo>
                  <a:pt x="818260" y="136857"/>
                </a:lnTo>
                <a:lnTo>
                  <a:pt x="809165" y="146771"/>
                </a:lnTo>
                <a:lnTo>
                  <a:pt x="806891" y="153115"/>
                </a:lnTo>
                <a:lnTo>
                  <a:pt x="806891" y="164847"/>
                </a:lnTo>
                <a:lnTo>
                  <a:pt x="807801" y="171532"/>
                </a:lnTo>
                <a:lnTo>
                  <a:pt x="811439" y="190267"/>
                </a:lnTo>
                <a:lnTo>
                  <a:pt x="812349" y="198135"/>
                </a:lnTo>
                <a:lnTo>
                  <a:pt x="812349" y="204501"/>
                </a:lnTo>
                <a:lnTo>
                  <a:pt x="811649" y="215948"/>
                </a:lnTo>
                <a:lnTo>
                  <a:pt x="787826" y="247220"/>
                </a:lnTo>
                <a:lnTo>
                  <a:pt x="770192" y="249795"/>
                </a:lnTo>
                <a:lnTo>
                  <a:pt x="768146" y="249795"/>
                </a:lnTo>
                <a:lnTo>
                  <a:pt x="768146" y="260163"/>
                </a:lnTo>
                <a:lnTo>
                  <a:pt x="771693" y="260163"/>
                </a:lnTo>
                <a:lnTo>
                  <a:pt x="786713" y="259042"/>
                </a:lnTo>
                <a:lnTo>
                  <a:pt x="826601" y="237486"/>
                </a:lnTo>
                <a:lnTo>
                  <a:pt x="835540" y="202045"/>
                </a:lnTo>
                <a:lnTo>
                  <a:pt x="835340" y="196187"/>
                </a:lnTo>
                <a:lnTo>
                  <a:pt x="834739" y="189938"/>
                </a:lnTo>
                <a:lnTo>
                  <a:pt x="833737" y="183296"/>
                </a:lnTo>
                <a:lnTo>
                  <a:pt x="832335" y="176262"/>
                </a:lnTo>
                <a:lnTo>
                  <a:pt x="830197" y="166620"/>
                </a:lnTo>
                <a:lnTo>
                  <a:pt x="829128" y="160163"/>
                </a:lnTo>
                <a:lnTo>
                  <a:pt x="829128" y="150613"/>
                </a:lnTo>
                <a:lnTo>
                  <a:pt x="831288" y="145497"/>
                </a:lnTo>
                <a:lnTo>
                  <a:pt x="839929" y="137584"/>
                </a:lnTo>
                <a:lnTo>
                  <a:pt x="846454" y="135469"/>
                </a:lnTo>
                <a:lnTo>
                  <a:pt x="855186" y="135197"/>
                </a:lnTo>
                <a:lnTo>
                  <a:pt x="855186" y="124010"/>
                </a:lnTo>
                <a:lnTo>
                  <a:pt x="846454" y="123737"/>
                </a:lnTo>
                <a:lnTo>
                  <a:pt x="839929" y="121622"/>
                </a:lnTo>
                <a:lnTo>
                  <a:pt x="831288" y="113710"/>
                </a:lnTo>
                <a:lnTo>
                  <a:pt x="829128" y="108593"/>
                </a:lnTo>
                <a:lnTo>
                  <a:pt x="829128" y="99044"/>
                </a:lnTo>
                <a:lnTo>
                  <a:pt x="830197" y="92586"/>
                </a:lnTo>
                <a:lnTo>
                  <a:pt x="832335" y="82946"/>
                </a:lnTo>
                <a:lnTo>
                  <a:pt x="833737" y="75911"/>
                </a:lnTo>
                <a:lnTo>
                  <a:pt x="834739" y="69269"/>
                </a:lnTo>
                <a:lnTo>
                  <a:pt x="835340" y="63019"/>
                </a:lnTo>
                <a:lnTo>
                  <a:pt x="835540" y="57161"/>
                </a:lnTo>
                <a:lnTo>
                  <a:pt x="834547" y="43864"/>
                </a:lnTo>
                <a:lnTo>
                  <a:pt x="810690" y="8453"/>
                </a:lnTo>
                <a:lnTo>
                  <a:pt x="786713" y="1120"/>
                </a:lnTo>
                <a:lnTo>
                  <a:pt x="771693" y="0"/>
                </a:lnTo>
                <a:close/>
              </a:path>
              <a:path w="855345" h="260350">
                <a:moveTo>
                  <a:pt x="87039" y="0"/>
                </a:moveTo>
                <a:lnTo>
                  <a:pt x="83492" y="0"/>
                </a:lnTo>
                <a:lnTo>
                  <a:pt x="68472" y="1120"/>
                </a:lnTo>
                <a:lnTo>
                  <a:pt x="28585" y="22607"/>
                </a:lnTo>
                <a:lnTo>
                  <a:pt x="19645" y="57025"/>
                </a:lnTo>
                <a:lnTo>
                  <a:pt x="19845" y="62883"/>
                </a:lnTo>
                <a:lnTo>
                  <a:pt x="20446" y="69133"/>
                </a:lnTo>
                <a:lnTo>
                  <a:pt x="21448" y="75775"/>
                </a:lnTo>
                <a:lnTo>
                  <a:pt x="22851" y="82810"/>
                </a:lnTo>
                <a:lnTo>
                  <a:pt x="24988" y="92450"/>
                </a:lnTo>
                <a:lnTo>
                  <a:pt x="26056" y="98907"/>
                </a:lnTo>
                <a:lnTo>
                  <a:pt x="26056" y="108457"/>
                </a:lnTo>
                <a:lnTo>
                  <a:pt x="23897" y="113573"/>
                </a:lnTo>
                <a:lnTo>
                  <a:pt x="15256" y="121486"/>
                </a:lnTo>
                <a:lnTo>
                  <a:pt x="8731" y="123601"/>
                </a:lnTo>
                <a:lnTo>
                  <a:pt x="0" y="123874"/>
                </a:lnTo>
                <a:lnTo>
                  <a:pt x="0" y="135060"/>
                </a:lnTo>
                <a:lnTo>
                  <a:pt x="8731" y="135333"/>
                </a:lnTo>
                <a:lnTo>
                  <a:pt x="15256" y="137448"/>
                </a:lnTo>
                <a:lnTo>
                  <a:pt x="23897" y="145361"/>
                </a:lnTo>
                <a:lnTo>
                  <a:pt x="26056" y="150477"/>
                </a:lnTo>
                <a:lnTo>
                  <a:pt x="26056" y="160026"/>
                </a:lnTo>
                <a:lnTo>
                  <a:pt x="24988" y="166484"/>
                </a:lnTo>
                <a:lnTo>
                  <a:pt x="22851" y="176124"/>
                </a:lnTo>
                <a:lnTo>
                  <a:pt x="21448" y="183159"/>
                </a:lnTo>
                <a:lnTo>
                  <a:pt x="20446" y="189801"/>
                </a:lnTo>
                <a:lnTo>
                  <a:pt x="19845" y="196051"/>
                </a:lnTo>
                <a:lnTo>
                  <a:pt x="19645" y="201909"/>
                </a:lnTo>
                <a:lnTo>
                  <a:pt x="20638" y="215684"/>
                </a:lnTo>
                <a:lnTo>
                  <a:pt x="44495" y="251709"/>
                </a:lnTo>
                <a:lnTo>
                  <a:pt x="83492" y="260163"/>
                </a:lnTo>
                <a:lnTo>
                  <a:pt x="87039" y="260163"/>
                </a:lnTo>
                <a:lnTo>
                  <a:pt x="87039" y="249795"/>
                </a:lnTo>
                <a:lnTo>
                  <a:pt x="84993" y="249795"/>
                </a:lnTo>
                <a:lnTo>
                  <a:pt x="75639" y="249151"/>
                </a:lnTo>
                <a:lnTo>
                  <a:pt x="45633" y="225562"/>
                </a:lnTo>
                <a:lnTo>
                  <a:pt x="42837" y="204364"/>
                </a:lnTo>
                <a:lnTo>
                  <a:pt x="42837" y="197998"/>
                </a:lnTo>
                <a:lnTo>
                  <a:pt x="43747" y="190131"/>
                </a:lnTo>
                <a:lnTo>
                  <a:pt x="47384" y="171395"/>
                </a:lnTo>
                <a:lnTo>
                  <a:pt x="48294" y="164711"/>
                </a:lnTo>
                <a:lnTo>
                  <a:pt x="48294" y="152977"/>
                </a:lnTo>
                <a:lnTo>
                  <a:pt x="46020" y="146634"/>
                </a:lnTo>
                <a:lnTo>
                  <a:pt x="36925" y="136720"/>
                </a:lnTo>
                <a:lnTo>
                  <a:pt x="31513" y="133060"/>
                </a:lnTo>
                <a:lnTo>
                  <a:pt x="25238" y="130695"/>
                </a:lnTo>
                <a:lnTo>
                  <a:pt x="25238" y="128239"/>
                </a:lnTo>
                <a:lnTo>
                  <a:pt x="31513" y="125874"/>
                </a:lnTo>
                <a:lnTo>
                  <a:pt x="36925" y="122214"/>
                </a:lnTo>
                <a:lnTo>
                  <a:pt x="46020" y="112301"/>
                </a:lnTo>
                <a:lnTo>
                  <a:pt x="48294" y="105956"/>
                </a:lnTo>
                <a:lnTo>
                  <a:pt x="48294" y="94223"/>
                </a:lnTo>
                <a:lnTo>
                  <a:pt x="47384" y="87539"/>
                </a:lnTo>
                <a:lnTo>
                  <a:pt x="43747" y="68803"/>
                </a:lnTo>
                <a:lnTo>
                  <a:pt x="42837" y="60935"/>
                </a:lnTo>
                <a:lnTo>
                  <a:pt x="42837" y="54569"/>
                </a:lnTo>
                <a:lnTo>
                  <a:pt x="43536" y="43600"/>
                </a:lnTo>
                <a:lnTo>
                  <a:pt x="67359" y="12943"/>
                </a:lnTo>
                <a:lnTo>
                  <a:pt x="84993" y="10368"/>
                </a:lnTo>
                <a:lnTo>
                  <a:pt x="87039" y="10368"/>
                </a:lnTo>
                <a:lnTo>
                  <a:pt x="8703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59578" y="4676140"/>
            <a:ext cx="15703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4265" algn="l"/>
              </a:tabLst>
            </a:pPr>
            <a:r>
              <a:rPr dirty="0" sz="2200" spc="18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baseline="-15625" sz="2400" spc="270">
                <a:solidFill>
                  <a:srgbClr val="C00000"/>
                </a:solidFill>
                <a:latin typeface="Cambria Math"/>
                <a:cs typeface="Cambria Math"/>
              </a:rPr>
              <a:t>.</a:t>
            </a:r>
            <a:r>
              <a:rPr dirty="0" sz="2200" spc="18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2200" spc="-1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200" spc="4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baseline="-15625" sz="2400" spc="60">
                <a:solidFill>
                  <a:srgbClr val="C00000"/>
                </a:solidFill>
                <a:latin typeface="Cambria Math"/>
                <a:cs typeface="Cambria Math"/>
              </a:rPr>
              <a:t>/	</a:t>
            </a:r>
            <a:r>
              <a:rPr dirty="0" sz="220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dirty="0" sz="2200" spc="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200">
                <a:solidFill>
                  <a:srgbClr val="C00000"/>
                </a:solidFill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6563" y="5058155"/>
            <a:ext cx="617664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600" spc="110">
                <a:latin typeface="Cambria Math"/>
                <a:cs typeface="Cambria Math"/>
              </a:rPr>
              <a:t>𝐺</a:t>
            </a:r>
            <a:r>
              <a:rPr dirty="0" baseline="-16081" sz="2850" spc="165">
                <a:latin typeface="Cambria Math"/>
                <a:cs typeface="Cambria Math"/>
              </a:rPr>
              <a:t>(</a:t>
            </a:r>
            <a:r>
              <a:rPr dirty="0" baseline="-16081" sz="2850" spc="112">
                <a:latin typeface="Cambria Math"/>
                <a:cs typeface="Cambria Math"/>
              </a:rPr>
              <a:t> </a:t>
            </a:r>
            <a:r>
              <a:rPr dirty="0" sz="2600" spc="-5">
                <a:latin typeface="Calibri"/>
                <a:cs typeface="Calibri"/>
              </a:rPr>
              <a:t>node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embeddings: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{−10,</a:t>
            </a:r>
            <a:r>
              <a:rPr dirty="0" sz="2600" spc="-14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−20,</a:t>
            </a:r>
            <a:r>
              <a:rPr dirty="0" sz="2600" spc="-14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0,</a:t>
            </a:r>
            <a:r>
              <a:rPr dirty="0" sz="2600" spc="-14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10,</a:t>
            </a:r>
            <a:r>
              <a:rPr dirty="0" sz="2600" spc="-14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20}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93618" y="5570571"/>
            <a:ext cx="2310130" cy="337820"/>
          </a:xfrm>
          <a:custGeom>
            <a:avLst/>
            <a:gdLst/>
            <a:ahLst/>
            <a:cxnLst/>
            <a:rect l="l" t="t" r="r" b="b"/>
            <a:pathLst>
              <a:path w="2310129" h="337820">
                <a:moveTo>
                  <a:pt x="2221010" y="0"/>
                </a:moveTo>
                <a:lnTo>
                  <a:pt x="2217599" y="11187"/>
                </a:lnTo>
                <a:lnTo>
                  <a:pt x="2233104" y="19228"/>
                </a:lnTo>
                <a:lnTo>
                  <a:pt x="2246606" y="30935"/>
                </a:lnTo>
                <a:lnTo>
                  <a:pt x="2267598" y="65348"/>
                </a:lnTo>
                <a:lnTo>
                  <a:pt x="2280337" y="112108"/>
                </a:lnTo>
                <a:lnTo>
                  <a:pt x="2284583" y="168895"/>
                </a:lnTo>
                <a:lnTo>
                  <a:pt x="2283522" y="198478"/>
                </a:lnTo>
                <a:lnTo>
                  <a:pt x="2275029" y="250149"/>
                </a:lnTo>
                <a:lnTo>
                  <a:pt x="2258104" y="291248"/>
                </a:lnTo>
                <a:lnTo>
                  <a:pt x="2217599" y="326330"/>
                </a:lnTo>
                <a:lnTo>
                  <a:pt x="2221010" y="337517"/>
                </a:lnTo>
                <a:lnTo>
                  <a:pt x="2258697" y="317429"/>
                </a:lnTo>
                <a:lnTo>
                  <a:pt x="2286631" y="279536"/>
                </a:lnTo>
                <a:lnTo>
                  <a:pt x="2303923" y="228445"/>
                </a:lnTo>
                <a:lnTo>
                  <a:pt x="2309686" y="168759"/>
                </a:lnTo>
                <a:lnTo>
                  <a:pt x="2308245" y="137841"/>
                </a:lnTo>
                <a:lnTo>
                  <a:pt x="2296718" y="82452"/>
                </a:lnTo>
                <a:lnTo>
                  <a:pt x="2273883" y="36809"/>
                </a:lnTo>
                <a:lnTo>
                  <a:pt x="2241072" y="7819"/>
                </a:lnTo>
                <a:lnTo>
                  <a:pt x="2221010" y="0"/>
                </a:lnTo>
                <a:close/>
              </a:path>
              <a:path w="2310129" h="337820">
                <a:moveTo>
                  <a:pt x="88670" y="0"/>
                </a:moveTo>
                <a:lnTo>
                  <a:pt x="50982" y="20089"/>
                </a:lnTo>
                <a:lnTo>
                  <a:pt x="23049" y="57981"/>
                </a:lnTo>
                <a:lnTo>
                  <a:pt x="5757" y="109072"/>
                </a:lnTo>
                <a:lnTo>
                  <a:pt x="0" y="168895"/>
                </a:lnTo>
                <a:lnTo>
                  <a:pt x="1434" y="199676"/>
                </a:lnTo>
                <a:lnTo>
                  <a:pt x="12962" y="255065"/>
                </a:lnTo>
                <a:lnTo>
                  <a:pt x="35796" y="300708"/>
                </a:lnTo>
                <a:lnTo>
                  <a:pt x="68606" y="329698"/>
                </a:lnTo>
                <a:lnTo>
                  <a:pt x="88670" y="337517"/>
                </a:lnTo>
                <a:lnTo>
                  <a:pt x="92080" y="326330"/>
                </a:lnTo>
                <a:lnTo>
                  <a:pt x="76574" y="318294"/>
                </a:lnTo>
                <a:lnTo>
                  <a:pt x="63072" y="306600"/>
                </a:lnTo>
                <a:lnTo>
                  <a:pt x="42080" y="272238"/>
                </a:lnTo>
                <a:lnTo>
                  <a:pt x="29341" y="225563"/>
                </a:lnTo>
                <a:lnTo>
                  <a:pt x="25100" y="168759"/>
                </a:lnTo>
                <a:lnTo>
                  <a:pt x="26156" y="139248"/>
                </a:lnTo>
                <a:lnTo>
                  <a:pt x="34649" y="87474"/>
                </a:lnTo>
                <a:lnTo>
                  <a:pt x="51574" y="46308"/>
                </a:lnTo>
                <a:lnTo>
                  <a:pt x="92080" y="11187"/>
                </a:lnTo>
                <a:lnTo>
                  <a:pt x="8867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267713" y="5526532"/>
            <a:ext cx="32645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200" spc="-15" b="1">
                <a:latin typeface="Calibri"/>
                <a:cs typeface="Calibri"/>
              </a:rPr>
              <a:t>Round </a:t>
            </a:r>
            <a:r>
              <a:rPr dirty="0" sz="2200" spc="-5" b="1">
                <a:latin typeface="Calibri"/>
                <a:cs typeface="Calibri"/>
              </a:rPr>
              <a:t>1</a:t>
            </a:r>
            <a:r>
              <a:rPr dirty="0" sz="2200" spc="-5">
                <a:latin typeface="Calibri"/>
                <a:cs typeface="Calibri"/>
              </a:rPr>
              <a:t>: </a:t>
            </a:r>
            <a:r>
              <a:rPr dirty="0" sz="2200" spc="-254">
                <a:solidFill>
                  <a:srgbClr val="60B5CC"/>
                </a:solidFill>
                <a:latin typeface="Cambria Math"/>
                <a:cs typeface="Cambria Math"/>
              </a:rPr>
              <a:t>𝑦9</a:t>
            </a:r>
            <a:r>
              <a:rPr dirty="0" baseline="-15625" sz="2400" spc="-382">
                <a:solidFill>
                  <a:srgbClr val="60B5CC"/>
                </a:solidFill>
                <a:latin typeface="Cambria Math"/>
                <a:cs typeface="Cambria Math"/>
              </a:rPr>
              <a:t>.      </a:t>
            </a:r>
            <a:r>
              <a:rPr dirty="0" sz="2200">
                <a:solidFill>
                  <a:srgbClr val="60B5CC"/>
                </a:solidFill>
                <a:latin typeface="Cambria Math"/>
                <a:cs typeface="Cambria Math"/>
              </a:rPr>
              <a:t>= </a:t>
            </a:r>
            <a:r>
              <a:rPr dirty="0" sz="2200" spc="-30">
                <a:solidFill>
                  <a:srgbClr val="60B5CC"/>
                </a:solidFill>
                <a:latin typeface="Cambria Math"/>
                <a:cs typeface="Cambria Math"/>
              </a:rPr>
              <a:t>ReLU </a:t>
            </a:r>
            <a:r>
              <a:rPr dirty="0" sz="2200" spc="90">
                <a:solidFill>
                  <a:srgbClr val="60B5CC"/>
                </a:solidFill>
                <a:latin typeface="Cambria Math"/>
                <a:cs typeface="Cambria Math"/>
              </a:rPr>
              <a:t> </a:t>
            </a:r>
            <a:r>
              <a:rPr dirty="0" sz="2200" spc="-80">
                <a:solidFill>
                  <a:srgbClr val="60B5CC"/>
                </a:solidFill>
                <a:latin typeface="Cambria Math"/>
                <a:cs typeface="Cambria Math"/>
              </a:rPr>
              <a:t>Sum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43026" y="5609876"/>
            <a:ext cx="1534795" cy="259079"/>
          </a:xfrm>
          <a:custGeom>
            <a:avLst/>
            <a:gdLst/>
            <a:ahLst/>
            <a:cxnLst/>
            <a:rect l="l" t="t" r="r" b="b"/>
            <a:pathLst>
              <a:path w="1534795" h="259079">
                <a:moveTo>
                  <a:pt x="1452239" y="0"/>
                </a:moveTo>
                <a:lnTo>
                  <a:pt x="1448556" y="10504"/>
                </a:lnTo>
                <a:lnTo>
                  <a:pt x="1463537" y="17006"/>
                </a:lnTo>
                <a:lnTo>
                  <a:pt x="1476421" y="26006"/>
                </a:lnTo>
                <a:lnTo>
                  <a:pt x="1502581" y="67722"/>
                </a:lnTo>
                <a:lnTo>
                  <a:pt x="1510220" y="106024"/>
                </a:lnTo>
                <a:lnTo>
                  <a:pt x="1511175" y="128103"/>
                </a:lnTo>
                <a:lnTo>
                  <a:pt x="1510216" y="150929"/>
                </a:lnTo>
                <a:lnTo>
                  <a:pt x="1502542" y="190288"/>
                </a:lnTo>
                <a:lnTo>
                  <a:pt x="1476438" y="232674"/>
                </a:lnTo>
                <a:lnTo>
                  <a:pt x="1448965" y="248294"/>
                </a:lnTo>
                <a:lnTo>
                  <a:pt x="1452239" y="258799"/>
                </a:lnTo>
                <a:lnTo>
                  <a:pt x="1487540" y="242240"/>
                </a:lnTo>
                <a:lnTo>
                  <a:pt x="1513494" y="213574"/>
                </a:lnTo>
                <a:lnTo>
                  <a:pt x="1529456" y="175187"/>
                </a:lnTo>
                <a:lnTo>
                  <a:pt x="1534777" y="129467"/>
                </a:lnTo>
                <a:lnTo>
                  <a:pt x="1533442" y="105742"/>
                </a:lnTo>
                <a:lnTo>
                  <a:pt x="1522767" y="63689"/>
                </a:lnTo>
                <a:lnTo>
                  <a:pt x="1501596" y="29455"/>
                </a:lnTo>
                <a:lnTo>
                  <a:pt x="1471003" y="6774"/>
                </a:lnTo>
                <a:lnTo>
                  <a:pt x="1452239" y="0"/>
                </a:lnTo>
                <a:close/>
              </a:path>
              <a:path w="1534795" h="259079">
                <a:moveTo>
                  <a:pt x="82537" y="0"/>
                </a:moveTo>
                <a:lnTo>
                  <a:pt x="47322" y="16592"/>
                </a:lnTo>
                <a:lnTo>
                  <a:pt x="21349" y="45361"/>
                </a:lnTo>
                <a:lnTo>
                  <a:pt x="5337" y="83816"/>
                </a:lnTo>
                <a:lnTo>
                  <a:pt x="0" y="129467"/>
                </a:lnTo>
                <a:lnTo>
                  <a:pt x="1330" y="153244"/>
                </a:lnTo>
                <a:lnTo>
                  <a:pt x="11971" y="195297"/>
                </a:lnTo>
                <a:lnTo>
                  <a:pt x="33091" y="229421"/>
                </a:lnTo>
                <a:lnTo>
                  <a:pt x="82537" y="258799"/>
                </a:lnTo>
                <a:lnTo>
                  <a:pt x="85811" y="248294"/>
                </a:lnTo>
                <a:lnTo>
                  <a:pt x="71064" y="241763"/>
                </a:lnTo>
                <a:lnTo>
                  <a:pt x="58338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2"/>
                </a:lnTo>
                <a:lnTo>
                  <a:pt x="58441" y="26006"/>
                </a:lnTo>
                <a:lnTo>
                  <a:pt x="86220" y="10504"/>
                </a:lnTo>
                <a:lnTo>
                  <a:pt x="82537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647380" y="5609266"/>
            <a:ext cx="1326515" cy="260350"/>
          </a:xfrm>
          <a:custGeom>
            <a:avLst/>
            <a:gdLst/>
            <a:ahLst/>
            <a:cxnLst/>
            <a:rect l="l" t="t" r="r" b="b"/>
            <a:pathLst>
              <a:path w="1326514" h="260350">
                <a:moveTo>
                  <a:pt x="1242546" y="0"/>
                </a:moveTo>
                <a:lnTo>
                  <a:pt x="1238999" y="0"/>
                </a:lnTo>
                <a:lnTo>
                  <a:pt x="1238999" y="10368"/>
                </a:lnTo>
                <a:lnTo>
                  <a:pt x="1241045" y="10368"/>
                </a:lnTo>
                <a:lnTo>
                  <a:pt x="1250399" y="11012"/>
                </a:lnTo>
                <a:lnTo>
                  <a:pt x="1282502" y="43677"/>
                </a:lnTo>
                <a:lnTo>
                  <a:pt x="1283201" y="54706"/>
                </a:lnTo>
                <a:lnTo>
                  <a:pt x="1283201" y="61073"/>
                </a:lnTo>
                <a:lnTo>
                  <a:pt x="1282291" y="68940"/>
                </a:lnTo>
                <a:lnTo>
                  <a:pt x="1278653" y="87676"/>
                </a:lnTo>
                <a:lnTo>
                  <a:pt x="1277744" y="94361"/>
                </a:lnTo>
                <a:lnTo>
                  <a:pt x="1277744" y="106093"/>
                </a:lnTo>
                <a:lnTo>
                  <a:pt x="1280017" y="112437"/>
                </a:lnTo>
                <a:lnTo>
                  <a:pt x="1289113" y="122351"/>
                </a:lnTo>
                <a:lnTo>
                  <a:pt x="1294524" y="126011"/>
                </a:lnTo>
                <a:lnTo>
                  <a:pt x="1300800" y="128376"/>
                </a:lnTo>
                <a:lnTo>
                  <a:pt x="1300800" y="130832"/>
                </a:lnTo>
                <a:lnTo>
                  <a:pt x="1294524" y="133197"/>
                </a:lnTo>
                <a:lnTo>
                  <a:pt x="1289113" y="136857"/>
                </a:lnTo>
                <a:lnTo>
                  <a:pt x="1280017" y="146771"/>
                </a:lnTo>
                <a:lnTo>
                  <a:pt x="1277744" y="153115"/>
                </a:lnTo>
                <a:lnTo>
                  <a:pt x="1277744" y="164847"/>
                </a:lnTo>
                <a:lnTo>
                  <a:pt x="1278653" y="171532"/>
                </a:lnTo>
                <a:lnTo>
                  <a:pt x="1282291" y="190268"/>
                </a:lnTo>
                <a:lnTo>
                  <a:pt x="1283201" y="198135"/>
                </a:lnTo>
                <a:lnTo>
                  <a:pt x="1283201" y="204502"/>
                </a:lnTo>
                <a:lnTo>
                  <a:pt x="1282502" y="215949"/>
                </a:lnTo>
                <a:lnTo>
                  <a:pt x="1258678" y="247220"/>
                </a:lnTo>
                <a:lnTo>
                  <a:pt x="1241045" y="249795"/>
                </a:lnTo>
                <a:lnTo>
                  <a:pt x="1238999" y="249795"/>
                </a:lnTo>
                <a:lnTo>
                  <a:pt x="1238999" y="260163"/>
                </a:lnTo>
                <a:lnTo>
                  <a:pt x="1242546" y="260163"/>
                </a:lnTo>
                <a:lnTo>
                  <a:pt x="1257565" y="259042"/>
                </a:lnTo>
                <a:lnTo>
                  <a:pt x="1297453" y="237487"/>
                </a:lnTo>
                <a:lnTo>
                  <a:pt x="1306393" y="202046"/>
                </a:lnTo>
                <a:lnTo>
                  <a:pt x="1306192" y="196188"/>
                </a:lnTo>
                <a:lnTo>
                  <a:pt x="1305591" y="189938"/>
                </a:lnTo>
                <a:lnTo>
                  <a:pt x="1304590" y="183296"/>
                </a:lnTo>
                <a:lnTo>
                  <a:pt x="1303187" y="176262"/>
                </a:lnTo>
                <a:lnTo>
                  <a:pt x="1301050" y="166621"/>
                </a:lnTo>
                <a:lnTo>
                  <a:pt x="1299982" y="160163"/>
                </a:lnTo>
                <a:lnTo>
                  <a:pt x="1299982" y="150613"/>
                </a:lnTo>
                <a:lnTo>
                  <a:pt x="1302141" y="145498"/>
                </a:lnTo>
                <a:lnTo>
                  <a:pt x="1310782" y="137585"/>
                </a:lnTo>
                <a:lnTo>
                  <a:pt x="1317307" y="135470"/>
                </a:lnTo>
                <a:lnTo>
                  <a:pt x="1326038" y="135197"/>
                </a:lnTo>
                <a:lnTo>
                  <a:pt x="1326038" y="124011"/>
                </a:lnTo>
                <a:lnTo>
                  <a:pt x="1317307" y="123738"/>
                </a:lnTo>
                <a:lnTo>
                  <a:pt x="1310782" y="121623"/>
                </a:lnTo>
                <a:lnTo>
                  <a:pt x="1302141" y="113710"/>
                </a:lnTo>
                <a:lnTo>
                  <a:pt x="1299982" y="108594"/>
                </a:lnTo>
                <a:lnTo>
                  <a:pt x="1299982" y="99045"/>
                </a:lnTo>
                <a:lnTo>
                  <a:pt x="1301050" y="92587"/>
                </a:lnTo>
                <a:lnTo>
                  <a:pt x="1303187" y="82946"/>
                </a:lnTo>
                <a:lnTo>
                  <a:pt x="1304590" y="75912"/>
                </a:lnTo>
                <a:lnTo>
                  <a:pt x="1305591" y="69270"/>
                </a:lnTo>
                <a:lnTo>
                  <a:pt x="1306192" y="63020"/>
                </a:lnTo>
                <a:lnTo>
                  <a:pt x="1306393" y="57162"/>
                </a:lnTo>
                <a:lnTo>
                  <a:pt x="1305399" y="43865"/>
                </a:lnTo>
                <a:lnTo>
                  <a:pt x="1281543" y="8454"/>
                </a:lnTo>
                <a:lnTo>
                  <a:pt x="1257565" y="1121"/>
                </a:lnTo>
                <a:lnTo>
                  <a:pt x="1242546" y="0"/>
                </a:lnTo>
                <a:close/>
              </a:path>
              <a:path w="1326514" h="260350">
                <a:moveTo>
                  <a:pt x="87039" y="0"/>
                </a:moveTo>
                <a:lnTo>
                  <a:pt x="83492" y="0"/>
                </a:lnTo>
                <a:lnTo>
                  <a:pt x="68472" y="1121"/>
                </a:lnTo>
                <a:lnTo>
                  <a:pt x="28585" y="22608"/>
                </a:lnTo>
                <a:lnTo>
                  <a:pt x="19645" y="57025"/>
                </a:lnTo>
                <a:lnTo>
                  <a:pt x="19845" y="62883"/>
                </a:lnTo>
                <a:lnTo>
                  <a:pt x="20446" y="69133"/>
                </a:lnTo>
                <a:lnTo>
                  <a:pt x="21448" y="75775"/>
                </a:lnTo>
                <a:lnTo>
                  <a:pt x="22851" y="82810"/>
                </a:lnTo>
                <a:lnTo>
                  <a:pt x="24988" y="92451"/>
                </a:lnTo>
                <a:lnTo>
                  <a:pt x="26056" y="98908"/>
                </a:lnTo>
                <a:lnTo>
                  <a:pt x="26056" y="108458"/>
                </a:lnTo>
                <a:lnTo>
                  <a:pt x="23896" y="113574"/>
                </a:lnTo>
                <a:lnTo>
                  <a:pt x="15256" y="121487"/>
                </a:lnTo>
                <a:lnTo>
                  <a:pt x="8731" y="123601"/>
                </a:lnTo>
                <a:lnTo>
                  <a:pt x="0" y="123874"/>
                </a:lnTo>
                <a:lnTo>
                  <a:pt x="0" y="135061"/>
                </a:lnTo>
                <a:lnTo>
                  <a:pt x="8731" y="135334"/>
                </a:lnTo>
                <a:lnTo>
                  <a:pt x="15256" y="137448"/>
                </a:lnTo>
                <a:lnTo>
                  <a:pt x="23896" y="145361"/>
                </a:lnTo>
                <a:lnTo>
                  <a:pt x="26056" y="150477"/>
                </a:lnTo>
                <a:lnTo>
                  <a:pt x="26056" y="160027"/>
                </a:lnTo>
                <a:lnTo>
                  <a:pt x="24988" y="166484"/>
                </a:lnTo>
                <a:lnTo>
                  <a:pt x="22851" y="176125"/>
                </a:lnTo>
                <a:lnTo>
                  <a:pt x="21448" y="183160"/>
                </a:lnTo>
                <a:lnTo>
                  <a:pt x="20446" y="189802"/>
                </a:lnTo>
                <a:lnTo>
                  <a:pt x="19845" y="196052"/>
                </a:lnTo>
                <a:lnTo>
                  <a:pt x="19645" y="201910"/>
                </a:lnTo>
                <a:lnTo>
                  <a:pt x="20638" y="215684"/>
                </a:lnTo>
                <a:lnTo>
                  <a:pt x="44495" y="251709"/>
                </a:lnTo>
                <a:lnTo>
                  <a:pt x="83492" y="260163"/>
                </a:lnTo>
                <a:lnTo>
                  <a:pt x="87039" y="260163"/>
                </a:lnTo>
                <a:lnTo>
                  <a:pt x="87039" y="249795"/>
                </a:lnTo>
                <a:lnTo>
                  <a:pt x="84993" y="249795"/>
                </a:lnTo>
                <a:lnTo>
                  <a:pt x="75639" y="249151"/>
                </a:lnTo>
                <a:lnTo>
                  <a:pt x="45633" y="225562"/>
                </a:lnTo>
                <a:lnTo>
                  <a:pt x="42837" y="204365"/>
                </a:lnTo>
                <a:lnTo>
                  <a:pt x="42837" y="197999"/>
                </a:lnTo>
                <a:lnTo>
                  <a:pt x="43746" y="190132"/>
                </a:lnTo>
                <a:lnTo>
                  <a:pt x="47384" y="171396"/>
                </a:lnTo>
                <a:lnTo>
                  <a:pt x="48294" y="164711"/>
                </a:lnTo>
                <a:lnTo>
                  <a:pt x="48294" y="152978"/>
                </a:lnTo>
                <a:lnTo>
                  <a:pt x="46020" y="146634"/>
                </a:lnTo>
                <a:lnTo>
                  <a:pt x="36925" y="136721"/>
                </a:lnTo>
                <a:lnTo>
                  <a:pt x="31513" y="133060"/>
                </a:lnTo>
                <a:lnTo>
                  <a:pt x="25238" y="130695"/>
                </a:lnTo>
                <a:lnTo>
                  <a:pt x="25238" y="128240"/>
                </a:lnTo>
                <a:lnTo>
                  <a:pt x="31513" y="125875"/>
                </a:lnTo>
                <a:lnTo>
                  <a:pt x="36925" y="122214"/>
                </a:lnTo>
                <a:lnTo>
                  <a:pt x="46020" y="112301"/>
                </a:lnTo>
                <a:lnTo>
                  <a:pt x="48294" y="105957"/>
                </a:lnTo>
                <a:lnTo>
                  <a:pt x="48294" y="94224"/>
                </a:lnTo>
                <a:lnTo>
                  <a:pt x="47384" y="87539"/>
                </a:lnTo>
                <a:lnTo>
                  <a:pt x="43746" y="68804"/>
                </a:lnTo>
                <a:lnTo>
                  <a:pt x="42837" y="60936"/>
                </a:lnTo>
                <a:lnTo>
                  <a:pt x="42837" y="54570"/>
                </a:lnTo>
                <a:lnTo>
                  <a:pt x="43536" y="43600"/>
                </a:lnTo>
                <a:lnTo>
                  <a:pt x="67359" y="12943"/>
                </a:lnTo>
                <a:lnTo>
                  <a:pt x="84993" y="10368"/>
                </a:lnTo>
                <a:lnTo>
                  <a:pt x="87039" y="10368"/>
                </a:lnTo>
                <a:lnTo>
                  <a:pt x="8703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729924" y="5526532"/>
            <a:ext cx="116205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solidFill>
                  <a:srgbClr val="60B5CC"/>
                </a:solidFill>
                <a:latin typeface="Cambria Math"/>
                <a:cs typeface="Cambria Math"/>
              </a:rPr>
              <a:t>−10,</a:t>
            </a:r>
            <a:r>
              <a:rPr dirty="0" sz="2200" spc="-200">
                <a:solidFill>
                  <a:srgbClr val="60B5CC"/>
                </a:solidFill>
                <a:latin typeface="Cambria Math"/>
                <a:cs typeface="Cambria Math"/>
              </a:rPr>
              <a:t> </a:t>
            </a:r>
            <a:r>
              <a:rPr dirty="0" sz="2200" spc="-10">
                <a:solidFill>
                  <a:srgbClr val="60B5CC"/>
                </a:solidFill>
                <a:latin typeface="Cambria Math"/>
                <a:cs typeface="Cambria Math"/>
              </a:rPr>
              <a:t>−20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92785" y="5526532"/>
            <a:ext cx="11715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60B5CC"/>
                </a:solidFill>
                <a:latin typeface="Cambria Math"/>
                <a:cs typeface="Cambria Math"/>
              </a:rPr>
              <a:t>= </a:t>
            </a:r>
            <a:r>
              <a:rPr dirty="0" sz="2200" spc="-5">
                <a:solidFill>
                  <a:srgbClr val="60B5CC"/>
                </a:solidFill>
                <a:latin typeface="Cambria Math"/>
                <a:cs typeface="Cambria Math"/>
              </a:rPr>
              <a:t>0</a:t>
            </a:r>
            <a:r>
              <a:rPr dirty="0" sz="2200" spc="-5">
                <a:latin typeface="Calibri"/>
                <a:cs typeface="Calibri"/>
              </a:rPr>
              <a:t>, </a:t>
            </a:r>
            <a:r>
              <a:rPr dirty="0" sz="2200" spc="-375">
                <a:solidFill>
                  <a:srgbClr val="E88651"/>
                </a:solidFill>
                <a:latin typeface="Cambria Math"/>
                <a:cs typeface="Cambria Math"/>
              </a:rPr>
              <a:t>𝑦9</a:t>
            </a:r>
            <a:r>
              <a:rPr dirty="0" baseline="-15625" sz="2400" spc="-562">
                <a:solidFill>
                  <a:srgbClr val="E88651"/>
                </a:solidFill>
                <a:latin typeface="Cambria Math"/>
                <a:cs typeface="Cambria Math"/>
              </a:rPr>
              <a:t>/</a:t>
            </a:r>
            <a:r>
              <a:rPr dirty="0" baseline="-15625" sz="2400" spc="322">
                <a:solidFill>
                  <a:srgbClr val="E88651"/>
                </a:solidFill>
                <a:latin typeface="Cambria Math"/>
                <a:cs typeface="Cambria Math"/>
              </a:rPr>
              <a:t> </a:t>
            </a:r>
            <a:r>
              <a:rPr dirty="0" sz="2200">
                <a:solidFill>
                  <a:srgbClr val="E88651"/>
                </a:solidFill>
                <a:latin typeface="Cambria Math"/>
                <a:cs typeface="Cambria Math"/>
              </a:rPr>
              <a:t>=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162227" y="5913471"/>
            <a:ext cx="2105025" cy="337820"/>
          </a:xfrm>
          <a:custGeom>
            <a:avLst/>
            <a:gdLst/>
            <a:ahLst/>
            <a:cxnLst/>
            <a:rect l="l" t="t" r="r" b="b"/>
            <a:pathLst>
              <a:path w="2105025" h="337820">
                <a:moveTo>
                  <a:pt x="2016222" y="0"/>
                </a:moveTo>
                <a:lnTo>
                  <a:pt x="2012811" y="11186"/>
                </a:lnTo>
                <a:lnTo>
                  <a:pt x="2028317" y="19227"/>
                </a:lnTo>
                <a:lnTo>
                  <a:pt x="2041819" y="30934"/>
                </a:lnTo>
                <a:lnTo>
                  <a:pt x="2062811" y="65347"/>
                </a:lnTo>
                <a:lnTo>
                  <a:pt x="2075550" y="112107"/>
                </a:lnTo>
                <a:lnTo>
                  <a:pt x="2079796" y="168895"/>
                </a:lnTo>
                <a:lnTo>
                  <a:pt x="2078734" y="198478"/>
                </a:lnTo>
                <a:lnTo>
                  <a:pt x="2070242" y="250149"/>
                </a:lnTo>
                <a:lnTo>
                  <a:pt x="2053317" y="291247"/>
                </a:lnTo>
                <a:lnTo>
                  <a:pt x="2012811" y="326330"/>
                </a:lnTo>
                <a:lnTo>
                  <a:pt x="2016222" y="337517"/>
                </a:lnTo>
                <a:lnTo>
                  <a:pt x="2053910" y="317428"/>
                </a:lnTo>
                <a:lnTo>
                  <a:pt x="2081843" y="279536"/>
                </a:lnTo>
                <a:lnTo>
                  <a:pt x="2099135" y="228444"/>
                </a:lnTo>
                <a:lnTo>
                  <a:pt x="2104899" y="168758"/>
                </a:lnTo>
                <a:lnTo>
                  <a:pt x="2103458" y="137841"/>
                </a:lnTo>
                <a:lnTo>
                  <a:pt x="2091930" y="82452"/>
                </a:lnTo>
                <a:lnTo>
                  <a:pt x="2069096" y="36809"/>
                </a:lnTo>
                <a:lnTo>
                  <a:pt x="2036286" y="7818"/>
                </a:lnTo>
                <a:lnTo>
                  <a:pt x="2016222" y="0"/>
                </a:lnTo>
                <a:close/>
              </a:path>
              <a:path w="2105025" h="337820">
                <a:moveTo>
                  <a:pt x="88670" y="0"/>
                </a:moveTo>
                <a:lnTo>
                  <a:pt x="50982" y="20088"/>
                </a:lnTo>
                <a:lnTo>
                  <a:pt x="23049" y="57980"/>
                </a:lnTo>
                <a:lnTo>
                  <a:pt x="5757" y="109072"/>
                </a:lnTo>
                <a:lnTo>
                  <a:pt x="0" y="168895"/>
                </a:lnTo>
                <a:lnTo>
                  <a:pt x="1434" y="199676"/>
                </a:lnTo>
                <a:lnTo>
                  <a:pt x="12962" y="255065"/>
                </a:lnTo>
                <a:lnTo>
                  <a:pt x="35796" y="300708"/>
                </a:lnTo>
                <a:lnTo>
                  <a:pt x="68606" y="329698"/>
                </a:lnTo>
                <a:lnTo>
                  <a:pt x="88670" y="337517"/>
                </a:lnTo>
                <a:lnTo>
                  <a:pt x="92081" y="326330"/>
                </a:lnTo>
                <a:lnTo>
                  <a:pt x="76575" y="318294"/>
                </a:lnTo>
                <a:lnTo>
                  <a:pt x="63073" y="306599"/>
                </a:lnTo>
                <a:lnTo>
                  <a:pt x="42080" y="272237"/>
                </a:lnTo>
                <a:lnTo>
                  <a:pt x="29341" y="225563"/>
                </a:lnTo>
                <a:lnTo>
                  <a:pt x="25100" y="168758"/>
                </a:lnTo>
                <a:lnTo>
                  <a:pt x="26156" y="139248"/>
                </a:lnTo>
                <a:lnTo>
                  <a:pt x="34649" y="87474"/>
                </a:lnTo>
                <a:lnTo>
                  <a:pt x="51575" y="46308"/>
                </a:lnTo>
                <a:lnTo>
                  <a:pt x="92081" y="11186"/>
                </a:lnTo>
                <a:lnTo>
                  <a:pt x="88670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811635" y="5952776"/>
            <a:ext cx="1330325" cy="259079"/>
          </a:xfrm>
          <a:custGeom>
            <a:avLst/>
            <a:gdLst/>
            <a:ahLst/>
            <a:cxnLst/>
            <a:rect l="l" t="t" r="r" b="b"/>
            <a:pathLst>
              <a:path w="1330325" h="259079">
                <a:moveTo>
                  <a:pt x="1247452" y="0"/>
                </a:moveTo>
                <a:lnTo>
                  <a:pt x="1243769" y="10504"/>
                </a:lnTo>
                <a:lnTo>
                  <a:pt x="1258750" y="17006"/>
                </a:lnTo>
                <a:lnTo>
                  <a:pt x="1271633" y="26006"/>
                </a:lnTo>
                <a:lnTo>
                  <a:pt x="1297793" y="67722"/>
                </a:lnTo>
                <a:lnTo>
                  <a:pt x="1305434" y="106024"/>
                </a:lnTo>
                <a:lnTo>
                  <a:pt x="1306389" y="128103"/>
                </a:lnTo>
                <a:lnTo>
                  <a:pt x="1305429" y="150929"/>
                </a:lnTo>
                <a:lnTo>
                  <a:pt x="1297755" y="190288"/>
                </a:lnTo>
                <a:lnTo>
                  <a:pt x="1271651" y="232674"/>
                </a:lnTo>
                <a:lnTo>
                  <a:pt x="1244178" y="248294"/>
                </a:lnTo>
                <a:lnTo>
                  <a:pt x="1247452" y="258799"/>
                </a:lnTo>
                <a:lnTo>
                  <a:pt x="1282752" y="242240"/>
                </a:lnTo>
                <a:lnTo>
                  <a:pt x="1308708" y="213574"/>
                </a:lnTo>
                <a:lnTo>
                  <a:pt x="1324669" y="175187"/>
                </a:lnTo>
                <a:lnTo>
                  <a:pt x="1329989" y="129467"/>
                </a:lnTo>
                <a:lnTo>
                  <a:pt x="1328655" y="105742"/>
                </a:lnTo>
                <a:lnTo>
                  <a:pt x="1317980" y="63689"/>
                </a:lnTo>
                <a:lnTo>
                  <a:pt x="1296808" y="29455"/>
                </a:lnTo>
                <a:lnTo>
                  <a:pt x="1266215" y="6774"/>
                </a:lnTo>
                <a:lnTo>
                  <a:pt x="1247452" y="0"/>
                </a:lnTo>
                <a:close/>
              </a:path>
              <a:path w="1330325" h="259079">
                <a:moveTo>
                  <a:pt x="82537" y="0"/>
                </a:moveTo>
                <a:lnTo>
                  <a:pt x="47322" y="16592"/>
                </a:lnTo>
                <a:lnTo>
                  <a:pt x="21349" y="45361"/>
                </a:lnTo>
                <a:lnTo>
                  <a:pt x="5337" y="83816"/>
                </a:lnTo>
                <a:lnTo>
                  <a:pt x="0" y="129467"/>
                </a:lnTo>
                <a:lnTo>
                  <a:pt x="1330" y="153244"/>
                </a:lnTo>
                <a:lnTo>
                  <a:pt x="11971" y="195297"/>
                </a:lnTo>
                <a:lnTo>
                  <a:pt x="33091" y="229421"/>
                </a:lnTo>
                <a:lnTo>
                  <a:pt x="82537" y="258799"/>
                </a:lnTo>
                <a:lnTo>
                  <a:pt x="85811" y="248294"/>
                </a:lnTo>
                <a:lnTo>
                  <a:pt x="71064" y="241763"/>
                </a:lnTo>
                <a:lnTo>
                  <a:pt x="58338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2"/>
                </a:lnTo>
                <a:lnTo>
                  <a:pt x="58441" y="26006"/>
                </a:lnTo>
                <a:lnTo>
                  <a:pt x="86220" y="10504"/>
                </a:lnTo>
                <a:lnTo>
                  <a:pt x="82537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15989" y="5952166"/>
            <a:ext cx="1121410" cy="260350"/>
          </a:xfrm>
          <a:custGeom>
            <a:avLst/>
            <a:gdLst/>
            <a:ahLst/>
            <a:cxnLst/>
            <a:rect l="l" t="t" r="r" b="b"/>
            <a:pathLst>
              <a:path w="1121410" h="260350">
                <a:moveTo>
                  <a:pt x="1037758" y="0"/>
                </a:moveTo>
                <a:lnTo>
                  <a:pt x="1034211" y="0"/>
                </a:lnTo>
                <a:lnTo>
                  <a:pt x="1034211" y="10368"/>
                </a:lnTo>
                <a:lnTo>
                  <a:pt x="1036257" y="10368"/>
                </a:lnTo>
                <a:lnTo>
                  <a:pt x="1045612" y="11012"/>
                </a:lnTo>
                <a:lnTo>
                  <a:pt x="1077714" y="43677"/>
                </a:lnTo>
                <a:lnTo>
                  <a:pt x="1078414" y="54706"/>
                </a:lnTo>
                <a:lnTo>
                  <a:pt x="1078414" y="61073"/>
                </a:lnTo>
                <a:lnTo>
                  <a:pt x="1077504" y="68940"/>
                </a:lnTo>
                <a:lnTo>
                  <a:pt x="1073866" y="87676"/>
                </a:lnTo>
                <a:lnTo>
                  <a:pt x="1072956" y="94361"/>
                </a:lnTo>
                <a:lnTo>
                  <a:pt x="1072956" y="106093"/>
                </a:lnTo>
                <a:lnTo>
                  <a:pt x="1075230" y="112437"/>
                </a:lnTo>
                <a:lnTo>
                  <a:pt x="1084326" y="122351"/>
                </a:lnTo>
                <a:lnTo>
                  <a:pt x="1089737" y="126011"/>
                </a:lnTo>
                <a:lnTo>
                  <a:pt x="1096012" y="128376"/>
                </a:lnTo>
                <a:lnTo>
                  <a:pt x="1096012" y="130832"/>
                </a:lnTo>
                <a:lnTo>
                  <a:pt x="1089737" y="133197"/>
                </a:lnTo>
                <a:lnTo>
                  <a:pt x="1084326" y="136857"/>
                </a:lnTo>
                <a:lnTo>
                  <a:pt x="1075230" y="146771"/>
                </a:lnTo>
                <a:lnTo>
                  <a:pt x="1072956" y="153115"/>
                </a:lnTo>
                <a:lnTo>
                  <a:pt x="1072956" y="164847"/>
                </a:lnTo>
                <a:lnTo>
                  <a:pt x="1073866" y="171532"/>
                </a:lnTo>
                <a:lnTo>
                  <a:pt x="1077504" y="190268"/>
                </a:lnTo>
                <a:lnTo>
                  <a:pt x="1078414" y="198135"/>
                </a:lnTo>
                <a:lnTo>
                  <a:pt x="1078414" y="204502"/>
                </a:lnTo>
                <a:lnTo>
                  <a:pt x="1077714" y="215949"/>
                </a:lnTo>
                <a:lnTo>
                  <a:pt x="1053891" y="247220"/>
                </a:lnTo>
                <a:lnTo>
                  <a:pt x="1036257" y="249795"/>
                </a:lnTo>
                <a:lnTo>
                  <a:pt x="1034211" y="249795"/>
                </a:lnTo>
                <a:lnTo>
                  <a:pt x="1034211" y="260163"/>
                </a:lnTo>
                <a:lnTo>
                  <a:pt x="1037758" y="260163"/>
                </a:lnTo>
                <a:lnTo>
                  <a:pt x="1052778" y="259042"/>
                </a:lnTo>
                <a:lnTo>
                  <a:pt x="1092666" y="237487"/>
                </a:lnTo>
                <a:lnTo>
                  <a:pt x="1101605" y="202046"/>
                </a:lnTo>
                <a:lnTo>
                  <a:pt x="1101405" y="196188"/>
                </a:lnTo>
                <a:lnTo>
                  <a:pt x="1100804" y="189938"/>
                </a:lnTo>
                <a:lnTo>
                  <a:pt x="1099802" y="183296"/>
                </a:lnTo>
                <a:lnTo>
                  <a:pt x="1098400" y="176262"/>
                </a:lnTo>
                <a:lnTo>
                  <a:pt x="1096262" y="166621"/>
                </a:lnTo>
                <a:lnTo>
                  <a:pt x="1095194" y="160163"/>
                </a:lnTo>
                <a:lnTo>
                  <a:pt x="1095194" y="150613"/>
                </a:lnTo>
                <a:lnTo>
                  <a:pt x="1097354" y="145498"/>
                </a:lnTo>
                <a:lnTo>
                  <a:pt x="1105994" y="137585"/>
                </a:lnTo>
                <a:lnTo>
                  <a:pt x="1112519" y="135470"/>
                </a:lnTo>
                <a:lnTo>
                  <a:pt x="1121251" y="135197"/>
                </a:lnTo>
                <a:lnTo>
                  <a:pt x="1121251" y="124011"/>
                </a:lnTo>
                <a:lnTo>
                  <a:pt x="1112519" y="123738"/>
                </a:lnTo>
                <a:lnTo>
                  <a:pt x="1105994" y="121623"/>
                </a:lnTo>
                <a:lnTo>
                  <a:pt x="1097354" y="113710"/>
                </a:lnTo>
                <a:lnTo>
                  <a:pt x="1095194" y="108594"/>
                </a:lnTo>
                <a:lnTo>
                  <a:pt x="1095194" y="99045"/>
                </a:lnTo>
                <a:lnTo>
                  <a:pt x="1096262" y="92587"/>
                </a:lnTo>
                <a:lnTo>
                  <a:pt x="1098400" y="82946"/>
                </a:lnTo>
                <a:lnTo>
                  <a:pt x="1099802" y="75912"/>
                </a:lnTo>
                <a:lnTo>
                  <a:pt x="1100804" y="69270"/>
                </a:lnTo>
                <a:lnTo>
                  <a:pt x="1101405" y="63020"/>
                </a:lnTo>
                <a:lnTo>
                  <a:pt x="1101605" y="57162"/>
                </a:lnTo>
                <a:lnTo>
                  <a:pt x="1100612" y="43865"/>
                </a:lnTo>
                <a:lnTo>
                  <a:pt x="1076755" y="8454"/>
                </a:lnTo>
                <a:lnTo>
                  <a:pt x="1052778" y="1121"/>
                </a:lnTo>
                <a:lnTo>
                  <a:pt x="1037758" y="0"/>
                </a:lnTo>
                <a:close/>
              </a:path>
              <a:path w="1121410" h="260350">
                <a:moveTo>
                  <a:pt x="87039" y="0"/>
                </a:moveTo>
                <a:lnTo>
                  <a:pt x="83492" y="0"/>
                </a:lnTo>
                <a:lnTo>
                  <a:pt x="68472" y="1121"/>
                </a:lnTo>
                <a:lnTo>
                  <a:pt x="28585" y="22608"/>
                </a:lnTo>
                <a:lnTo>
                  <a:pt x="19645" y="57025"/>
                </a:lnTo>
                <a:lnTo>
                  <a:pt x="19845" y="62883"/>
                </a:lnTo>
                <a:lnTo>
                  <a:pt x="20446" y="69133"/>
                </a:lnTo>
                <a:lnTo>
                  <a:pt x="21448" y="75775"/>
                </a:lnTo>
                <a:lnTo>
                  <a:pt x="22851" y="82810"/>
                </a:lnTo>
                <a:lnTo>
                  <a:pt x="24988" y="92451"/>
                </a:lnTo>
                <a:lnTo>
                  <a:pt x="26057" y="98908"/>
                </a:lnTo>
                <a:lnTo>
                  <a:pt x="26057" y="108458"/>
                </a:lnTo>
                <a:lnTo>
                  <a:pt x="23897" y="113574"/>
                </a:lnTo>
                <a:lnTo>
                  <a:pt x="15256" y="121487"/>
                </a:lnTo>
                <a:lnTo>
                  <a:pt x="8731" y="123601"/>
                </a:lnTo>
                <a:lnTo>
                  <a:pt x="0" y="123874"/>
                </a:lnTo>
                <a:lnTo>
                  <a:pt x="0" y="135061"/>
                </a:lnTo>
                <a:lnTo>
                  <a:pt x="8731" y="135334"/>
                </a:lnTo>
                <a:lnTo>
                  <a:pt x="15256" y="137448"/>
                </a:lnTo>
                <a:lnTo>
                  <a:pt x="23897" y="145361"/>
                </a:lnTo>
                <a:lnTo>
                  <a:pt x="26057" y="150477"/>
                </a:lnTo>
                <a:lnTo>
                  <a:pt x="26057" y="160027"/>
                </a:lnTo>
                <a:lnTo>
                  <a:pt x="24988" y="166484"/>
                </a:lnTo>
                <a:lnTo>
                  <a:pt x="22851" y="176125"/>
                </a:lnTo>
                <a:lnTo>
                  <a:pt x="21448" y="183160"/>
                </a:lnTo>
                <a:lnTo>
                  <a:pt x="20446" y="189802"/>
                </a:lnTo>
                <a:lnTo>
                  <a:pt x="19845" y="196052"/>
                </a:lnTo>
                <a:lnTo>
                  <a:pt x="19645" y="201910"/>
                </a:lnTo>
                <a:lnTo>
                  <a:pt x="20638" y="215684"/>
                </a:lnTo>
                <a:lnTo>
                  <a:pt x="44495" y="251709"/>
                </a:lnTo>
                <a:lnTo>
                  <a:pt x="83492" y="260163"/>
                </a:lnTo>
                <a:lnTo>
                  <a:pt x="87039" y="260163"/>
                </a:lnTo>
                <a:lnTo>
                  <a:pt x="87039" y="249795"/>
                </a:lnTo>
                <a:lnTo>
                  <a:pt x="84993" y="249795"/>
                </a:lnTo>
                <a:lnTo>
                  <a:pt x="75639" y="249151"/>
                </a:lnTo>
                <a:lnTo>
                  <a:pt x="45634" y="225562"/>
                </a:lnTo>
                <a:lnTo>
                  <a:pt x="42837" y="204365"/>
                </a:lnTo>
                <a:lnTo>
                  <a:pt x="42837" y="197999"/>
                </a:lnTo>
                <a:lnTo>
                  <a:pt x="43747" y="190132"/>
                </a:lnTo>
                <a:lnTo>
                  <a:pt x="47384" y="171396"/>
                </a:lnTo>
                <a:lnTo>
                  <a:pt x="48294" y="164711"/>
                </a:lnTo>
                <a:lnTo>
                  <a:pt x="48294" y="152978"/>
                </a:lnTo>
                <a:lnTo>
                  <a:pt x="46020" y="146634"/>
                </a:lnTo>
                <a:lnTo>
                  <a:pt x="36925" y="136721"/>
                </a:lnTo>
                <a:lnTo>
                  <a:pt x="31513" y="133060"/>
                </a:lnTo>
                <a:lnTo>
                  <a:pt x="25238" y="130695"/>
                </a:lnTo>
                <a:lnTo>
                  <a:pt x="25238" y="128240"/>
                </a:lnTo>
                <a:lnTo>
                  <a:pt x="31513" y="125875"/>
                </a:lnTo>
                <a:lnTo>
                  <a:pt x="36925" y="122214"/>
                </a:lnTo>
                <a:lnTo>
                  <a:pt x="46020" y="112301"/>
                </a:lnTo>
                <a:lnTo>
                  <a:pt x="48294" y="105957"/>
                </a:lnTo>
                <a:lnTo>
                  <a:pt x="48294" y="94224"/>
                </a:lnTo>
                <a:lnTo>
                  <a:pt x="47384" y="87539"/>
                </a:lnTo>
                <a:lnTo>
                  <a:pt x="43747" y="68804"/>
                </a:lnTo>
                <a:lnTo>
                  <a:pt x="42837" y="60936"/>
                </a:lnTo>
                <a:lnTo>
                  <a:pt x="42837" y="54570"/>
                </a:lnTo>
                <a:lnTo>
                  <a:pt x="43536" y="43600"/>
                </a:lnTo>
                <a:lnTo>
                  <a:pt x="67360" y="12943"/>
                </a:lnTo>
                <a:lnTo>
                  <a:pt x="84993" y="10368"/>
                </a:lnTo>
                <a:lnTo>
                  <a:pt x="87039" y="10368"/>
                </a:lnTo>
                <a:lnTo>
                  <a:pt x="87039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496313" y="5870955"/>
            <a:ext cx="34804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4475" algn="l"/>
                <a:tab pos="2872740" algn="l"/>
              </a:tabLst>
            </a:pPr>
            <a:r>
              <a:rPr dirty="0" sz="2200" spc="-30">
                <a:solidFill>
                  <a:srgbClr val="E88651"/>
                </a:solidFill>
                <a:latin typeface="Cambria Math"/>
                <a:cs typeface="Cambria Math"/>
              </a:rPr>
              <a:t>ReLU </a:t>
            </a:r>
            <a:r>
              <a:rPr dirty="0" sz="2200" spc="50">
                <a:solidFill>
                  <a:srgbClr val="E88651"/>
                </a:solidFill>
                <a:latin typeface="Cambria Math"/>
                <a:cs typeface="Cambria Math"/>
              </a:rPr>
              <a:t> </a:t>
            </a:r>
            <a:r>
              <a:rPr dirty="0" sz="2200" spc="-5">
                <a:solidFill>
                  <a:srgbClr val="E88651"/>
                </a:solidFill>
                <a:latin typeface="Cambria Math"/>
                <a:cs typeface="Cambria Math"/>
              </a:rPr>
              <a:t>Sum	</a:t>
            </a:r>
            <a:r>
              <a:rPr dirty="0" sz="2200" spc="-10">
                <a:solidFill>
                  <a:srgbClr val="E88651"/>
                </a:solidFill>
                <a:latin typeface="Cambria Math"/>
                <a:cs typeface="Cambria Math"/>
              </a:rPr>
              <a:t>0,10,</a:t>
            </a:r>
            <a:r>
              <a:rPr dirty="0" sz="2200" spc="-120">
                <a:solidFill>
                  <a:srgbClr val="E88651"/>
                </a:solidFill>
                <a:latin typeface="Cambria Math"/>
                <a:cs typeface="Cambria Math"/>
              </a:rPr>
              <a:t> </a:t>
            </a:r>
            <a:r>
              <a:rPr dirty="0" sz="2200" spc="-5">
                <a:solidFill>
                  <a:srgbClr val="E88651"/>
                </a:solidFill>
                <a:latin typeface="Cambria Math"/>
                <a:cs typeface="Cambria Math"/>
              </a:rPr>
              <a:t>20	</a:t>
            </a:r>
            <a:r>
              <a:rPr dirty="0" sz="2200">
                <a:solidFill>
                  <a:srgbClr val="E88651"/>
                </a:solidFill>
                <a:latin typeface="Cambria Math"/>
                <a:cs typeface="Cambria Math"/>
              </a:rPr>
              <a:t>=</a:t>
            </a:r>
            <a:r>
              <a:rPr dirty="0" sz="2200" spc="10">
                <a:solidFill>
                  <a:srgbClr val="E88651"/>
                </a:solidFill>
                <a:latin typeface="Cambria Math"/>
                <a:cs typeface="Cambria Math"/>
              </a:rPr>
              <a:t> </a:t>
            </a:r>
            <a:r>
              <a:rPr dirty="0" sz="2200" spc="-5">
                <a:solidFill>
                  <a:srgbClr val="E88651"/>
                </a:solidFill>
                <a:latin typeface="Cambria Math"/>
                <a:cs typeface="Cambria Math"/>
              </a:rPr>
              <a:t>30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23272" y="6319871"/>
            <a:ext cx="1838960" cy="337820"/>
          </a:xfrm>
          <a:custGeom>
            <a:avLst/>
            <a:gdLst/>
            <a:ahLst/>
            <a:cxnLst/>
            <a:rect l="l" t="t" r="r" b="b"/>
            <a:pathLst>
              <a:path w="1838960" h="337820">
                <a:moveTo>
                  <a:pt x="1750157" y="0"/>
                </a:moveTo>
                <a:lnTo>
                  <a:pt x="1746746" y="11186"/>
                </a:lnTo>
                <a:lnTo>
                  <a:pt x="1762252" y="19227"/>
                </a:lnTo>
                <a:lnTo>
                  <a:pt x="1775754" y="30934"/>
                </a:lnTo>
                <a:lnTo>
                  <a:pt x="1796746" y="65347"/>
                </a:lnTo>
                <a:lnTo>
                  <a:pt x="1809485" y="112107"/>
                </a:lnTo>
                <a:lnTo>
                  <a:pt x="1813731" y="168895"/>
                </a:lnTo>
                <a:lnTo>
                  <a:pt x="1812669" y="198478"/>
                </a:lnTo>
                <a:lnTo>
                  <a:pt x="1804177" y="250149"/>
                </a:lnTo>
                <a:lnTo>
                  <a:pt x="1787252" y="291247"/>
                </a:lnTo>
                <a:lnTo>
                  <a:pt x="1746746" y="326330"/>
                </a:lnTo>
                <a:lnTo>
                  <a:pt x="1750157" y="337517"/>
                </a:lnTo>
                <a:lnTo>
                  <a:pt x="1787845" y="317428"/>
                </a:lnTo>
                <a:lnTo>
                  <a:pt x="1815778" y="279536"/>
                </a:lnTo>
                <a:lnTo>
                  <a:pt x="1833070" y="228444"/>
                </a:lnTo>
                <a:lnTo>
                  <a:pt x="1838834" y="168758"/>
                </a:lnTo>
                <a:lnTo>
                  <a:pt x="1837393" y="137841"/>
                </a:lnTo>
                <a:lnTo>
                  <a:pt x="1825865" y="82452"/>
                </a:lnTo>
                <a:lnTo>
                  <a:pt x="1803031" y="36809"/>
                </a:lnTo>
                <a:lnTo>
                  <a:pt x="1770220" y="7818"/>
                </a:lnTo>
                <a:lnTo>
                  <a:pt x="1750157" y="0"/>
                </a:lnTo>
                <a:close/>
              </a:path>
              <a:path w="1838960" h="337820">
                <a:moveTo>
                  <a:pt x="88670" y="0"/>
                </a:moveTo>
                <a:lnTo>
                  <a:pt x="50982" y="20088"/>
                </a:lnTo>
                <a:lnTo>
                  <a:pt x="23049" y="57980"/>
                </a:lnTo>
                <a:lnTo>
                  <a:pt x="5757" y="109072"/>
                </a:lnTo>
                <a:lnTo>
                  <a:pt x="0" y="168895"/>
                </a:lnTo>
                <a:lnTo>
                  <a:pt x="1434" y="199676"/>
                </a:lnTo>
                <a:lnTo>
                  <a:pt x="12962" y="255065"/>
                </a:lnTo>
                <a:lnTo>
                  <a:pt x="35796" y="300707"/>
                </a:lnTo>
                <a:lnTo>
                  <a:pt x="68606" y="329698"/>
                </a:lnTo>
                <a:lnTo>
                  <a:pt x="88670" y="337517"/>
                </a:lnTo>
                <a:lnTo>
                  <a:pt x="92081" y="326330"/>
                </a:lnTo>
                <a:lnTo>
                  <a:pt x="76575" y="318294"/>
                </a:lnTo>
                <a:lnTo>
                  <a:pt x="63073" y="306599"/>
                </a:lnTo>
                <a:lnTo>
                  <a:pt x="42080" y="272237"/>
                </a:lnTo>
                <a:lnTo>
                  <a:pt x="29341" y="225563"/>
                </a:lnTo>
                <a:lnTo>
                  <a:pt x="25100" y="168758"/>
                </a:lnTo>
                <a:lnTo>
                  <a:pt x="26156" y="139248"/>
                </a:lnTo>
                <a:lnTo>
                  <a:pt x="34649" y="87474"/>
                </a:lnTo>
                <a:lnTo>
                  <a:pt x="51575" y="46308"/>
                </a:lnTo>
                <a:lnTo>
                  <a:pt x="92081" y="11186"/>
                </a:lnTo>
                <a:lnTo>
                  <a:pt x="8867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267713" y="6276340"/>
            <a:ext cx="3294379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200" spc="-15" b="1">
                <a:latin typeface="Calibri"/>
                <a:cs typeface="Calibri"/>
              </a:rPr>
              <a:t>Round </a:t>
            </a:r>
            <a:r>
              <a:rPr dirty="0" sz="2200" spc="-5" b="1">
                <a:latin typeface="Calibri"/>
                <a:cs typeface="Calibri"/>
              </a:rPr>
              <a:t>2: </a:t>
            </a:r>
            <a:r>
              <a:rPr dirty="0" sz="2200" spc="-380">
                <a:solidFill>
                  <a:srgbClr val="C64847"/>
                </a:solidFill>
                <a:latin typeface="Cambria Math"/>
                <a:cs typeface="Cambria Math"/>
              </a:rPr>
              <a:t>𝑦9</a:t>
            </a:r>
            <a:r>
              <a:rPr dirty="0" baseline="-15625" sz="2400" spc="-569">
                <a:solidFill>
                  <a:srgbClr val="C64847"/>
                </a:solidFill>
                <a:latin typeface="Cambria Math"/>
                <a:cs typeface="Cambria Math"/>
              </a:rPr>
              <a:t>0</a:t>
            </a:r>
            <a:r>
              <a:rPr dirty="0" baseline="-15625" sz="2400" spc="300">
                <a:solidFill>
                  <a:srgbClr val="C64847"/>
                </a:solidFill>
                <a:latin typeface="Cambria Math"/>
                <a:cs typeface="Cambria Math"/>
              </a:rPr>
              <a:t> </a:t>
            </a:r>
            <a:r>
              <a:rPr dirty="0" sz="2200">
                <a:solidFill>
                  <a:srgbClr val="C64847"/>
                </a:solidFill>
                <a:latin typeface="Cambria Math"/>
                <a:cs typeface="Cambria Math"/>
              </a:rPr>
              <a:t>= </a:t>
            </a:r>
            <a:r>
              <a:rPr dirty="0" sz="2200" spc="-30">
                <a:solidFill>
                  <a:srgbClr val="C64847"/>
                </a:solidFill>
                <a:latin typeface="Cambria Math"/>
                <a:cs typeface="Cambria Math"/>
              </a:rPr>
              <a:t>ReLU </a:t>
            </a:r>
            <a:r>
              <a:rPr dirty="0" sz="2200" spc="135">
                <a:solidFill>
                  <a:srgbClr val="C64847"/>
                </a:solidFill>
                <a:latin typeface="Cambria Math"/>
                <a:cs typeface="Cambria Math"/>
              </a:rPr>
              <a:t> </a:t>
            </a:r>
            <a:r>
              <a:rPr dirty="0" sz="2200" spc="-75">
                <a:solidFill>
                  <a:srgbClr val="C64847"/>
                </a:solidFill>
                <a:latin typeface="Cambria Math"/>
                <a:cs typeface="Cambria Math"/>
              </a:rPr>
              <a:t>Sum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572680" y="6359176"/>
            <a:ext cx="1064260" cy="259079"/>
          </a:xfrm>
          <a:custGeom>
            <a:avLst/>
            <a:gdLst/>
            <a:ahLst/>
            <a:cxnLst/>
            <a:rect l="l" t="t" r="r" b="b"/>
            <a:pathLst>
              <a:path w="1064260" h="259079">
                <a:moveTo>
                  <a:pt x="981387" y="0"/>
                </a:moveTo>
                <a:lnTo>
                  <a:pt x="977704" y="10504"/>
                </a:lnTo>
                <a:lnTo>
                  <a:pt x="992685" y="17006"/>
                </a:lnTo>
                <a:lnTo>
                  <a:pt x="1005568" y="26006"/>
                </a:lnTo>
                <a:lnTo>
                  <a:pt x="1031728" y="67722"/>
                </a:lnTo>
                <a:lnTo>
                  <a:pt x="1039368" y="106024"/>
                </a:lnTo>
                <a:lnTo>
                  <a:pt x="1040323" y="128103"/>
                </a:lnTo>
                <a:lnTo>
                  <a:pt x="1039363" y="150929"/>
                </a:lnTo>
                <a:lnTo>
                  <a:pt x="1031689" y="190288"/>
                </a:lnTo>
                <a:lnTo>
                  <a:pt x="1005586" y="232674"/>
                </a:lnTo>
                <a:lnTo>
                  <a:pt x="978113" y="248294"/>
                </a:lnTo>
                <a:lnTo>
                  <a:pt x="981387" y="258799"/>
                </a:lnTo>
                <a:lnTo>
                  <a:pt x="1016687" y="242240"/>
                </a:lnTo>
                <a:lnTo>
                  <a:pt x="1042643" y="213574"/>
                </a:lnTo>
                <a:lnTo>
                  <a:pt x="1058604" y="175187"/>
                </a:lnTo>
                <a:lnTo>
                  <a:pt x="1063924" y="129467"/>
                </a:lnTo>
                <a:lnTo>
                  <a:pt x="1062590" y="105742"/>
                </a:lnTo>
                <a:lnTo>
                  <a:pt x="1051915" y="63689"/>
                </a:lnTo>
                <a:lnTo>
                  <a:pt x="1030743" y="29455"/>
                </a:lnTo>
                <a:lnTo>
                  <a:pt x="1000149" y="6774"/>
                </a:lnTo>
                <a:lnTo>
                  <a:pt x="981387" y="0"/>
                </a:lnTo>
                <a:close/>
              </a:path>
              <a:path w="1064260" h="259079">
                <a:moveTo>
                  <a:pt x="82537" y="0"/>
                </a:moveTo>
                <a:lnTo>
                  <a:pt x="47322" y="16592"/>
                </a:lnTo>
                <a:lnTo>
                  <a:pt x="21349" y="45361"/>
                </a:lnTo>
                <a:lnTo>
                  <a:pt x="5337" y="83816"/>
                </a:lnTo>
                <a:lnTo>
                  <a:pt x="0" y="129467"/>
                </a:lnTo>
                <a:lnTo>
                  <a:pt x="1330" y="153244"/>
                </a:lnTo>
                <a:lnTo>
                  <a:pt x="11970" y="195297"/>
                </a:lnTo>
                <a:lnTo>
                  <a:pt x="33090" y="229421"/>
                </a:lnTo>
                <a:lnTo>
                  <a:pt x="82537" y="258799"/>
                </a:lnTo>
                <a:lnTo>
                  <a:pt x="85811" y="248294"/>
                </a:lnTo>
                <a:lnTo>
                  <a:pt x="71064" y="241763"/>
                </a:lnTo>
                <a:lnTo>
                  <a:pt x="58338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2"/>
                </a:lnTo>
                <a:lnTo>
                  <a:pt x="58440" y="26006"/>
                </a:lnTo>
                <a:lnTo>
                  <a:pt x="86220" y="10504"/>
                </a:lnTo>
                <a:lnTo>
                  <a:pt x="82537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77035" y="6358566"/>
            <a:ext cx="855344" cy="260350"/>
          </a:xfrm>
          <a:custGeom>
            <a:avLst/>
            <a:gdLst/>
            <a:ahLst/>
            <a:cxnLst/>
            <a:rect l="l" t="t" r="r" b="b"/>
            <a:pathLst>
              <a:path w="855345" h="260350">
                <a:moveTo>
                  <a:pt x="771693" y="0"/>
                </a:moveTo>
                <a:lnTo>
                  <a:pt x="768146" y="0"/>
                </a:lnTo>
                <a:lnTo>
                  <a:pt x="768146" y="10368"/>
                </a:lnTo>
                <a:lnTo>
                  <a:pt x="770192" y="10368"/>
                </a:lnTo>
                <a:lnTo>
                  <a:pt x="779546" y="11012"/>
                </a:lnTo>
                <a:lnTo>
                  <a:pt x="811649" y="43677"/>
                </a:lnTo>
                <a:lnTo>
                  <a:pt x="812349" y="54706"/>
                </a:lnTo>
                <a:lnTo>
                  <a:pt x="812349" y="61073"/>
                </a:lnTo>
                <a:lnTo>
                  <a:pt x="811439" y="68940"/>
                </a:lnTo>
                <a:lnTo>
                  <a:pt x="807801" y="87676"/>
                </a:lnTo>
                <a:lnTo>
                  <a:pt x="806891" y="94361"/>
                </a:lnTo>
                <a:lnTo>
                  <a:pt x="806891" y="106093"/>
                </a:lnTo>
                <a:lnTo>
                  <a:pt x="809165" y="112437"/>
                </a:lnTo>
                <a:lnTo>
                  <a:pt x="818260" y="122351"/>
                </a:lnTo>
                <a:lnTo>
                  <a:pt x="823672" y="126011"/>
                </a:lnTo>
                <a:lnTo>
                  <a:pt x="829947" y="128376"/>
                </a:lnTo>
                <a:lnTo>
                  <a:pt x="829947" y="130832"/>
                </a:lnTo>
                <a:lnTo>
                  <a:pt x="823672" y="133196"/>
                </a:lnTo>
                <a:lnTo>
                  <a:pt x="818260" y="136857"/>
                </a:lnTo>
                <a:lnTo>
                  <a:pt x="809165" y="146771"/>
                </a:lnTo>
                <a:lnTo>
                  <a:pt x="806891" y="153115"/>
                </a:lnTo>
                <a:lnTo>
                  <a:pt x="806891" y="164847"/>
                </a:lnTo>
                <a:lnTo>
                  <a:pt x="807801" y="171532"/>
                </a:lnTo>
                <a:lnTo>
                  <a:pt x="811439" y="190268"/>
                </a:lnTo>
                <a:lnTo>
                  <a:pt x="812349" y="198135"/>
                </a:lnTo>
                <a:lnTo>
                  <a:pt x="812349" y="204502"/>
                </a:lnTo>
                <a:lnTo>
                  <a:pt x="811649" y="215949"/>
                </a:lnTo>
                <a:lnTo>
                  <a:pt x="787826" y="247220"/>
                </a:lnTo>
                <a:lnTo>
                  <a:pt x="770192" y="249795"/>
                </a:lnTo>
                <a:lnTo>
                  <a:pt x="768146" y="249795"/>
                </a:lnTo>
                <a:lnTo>
                  <a:pt x="768146" y="260163"/>
                </a:lnTo>
                <a:lnTo>
                  <a:pt x="771693" y="260163"/>
                </a:lnTo>
                <a:lnTo>
                  <a:pt x="786713" y="259042"/>
                </a:lnTo>
                <a:lnTo>
                  <a:pt x="826601" y="237487"/>
                </a:lnTo>
                <a:lnTo>
                  <a:pt x="835540" y="202046"/>
                </a:lnTo>
                <a:lnTo>
                  <a:pt x="835340" y="196188"/>
                </a:lnTo>
                <a:lnTo>
                  <a:pt x="834739" y="189938"/>
                </a:lnTo>
                <a:lnTo>
                  <a:pt x="833737" y="183296"/>
                </a:lnTo>
                <a:lnTo>
                  <a:pt x="832335" y="176262"/>
                </a:lnTo>
                <a:lnTo>
                  <a:pt x="830197" y="166621"/>
                </a:lnTo>
                <a:lnTo>
                  <a:pt x="829128" y="160163"/>
                </a:lnTo>
                <a:lnTo>
                  <a:pt x="829128" y="150613"/>
                </a:lnTo>
                <a:lnTo>
                  <a:pt x="831288" y="145498"/>
                </a:lnTo>
                <a:lnTo>
                  <a:pt x="839929" y="137585"/>
                </a:lnTo>
                <a:lnTo>
                  <a:pt x="846454" y="135470"/>
                </a:lnTo>
                <a:lnTo>
                  <a:pt x="855186" y="135197"/>
                </a:lnTo>
                <a:lnTo>
                  <a:pt x="855186" y="124011"/>
                </a:lnTo>
                <a:lnTo>
                  <a:pt x="846454" y="123738"/>
                </a:lnTo>
                <a:lnTo>
                  <a:pt x="839929" y="121623"/>
                </a:lnTo>
                <a:lnTo>
                  <a:pt x="831288" y="113710"/>
                </a:lnTo>
                <a:lnTo>
                  <a:pt x="829128" y="108594"/>
                </a:lnTo>
                <a:lnTo>
                  <a:pt x="829128" y="99045"/>
                </a:lnTo>
                <a:lnTo>
                  <a:pt x="830197" y="92587"/>
                </a:lnTo>
                <a:lnTo>
                  <a:pt x="832335" y="82946"/>
                </a:lnTo>
                <a:lnTo>
                  <a:pt x="833737" y="75912"/>
                </a:lnTo>
                <a:lnTo>
                  <a:pt x="834739" y="69270"/>
                </a:lnTo>
                <a:lnTo>
                  <a:pt x="835340" y="63020"/>
                </a:lnTo>
                <a:lnTo>
                  <a:pt x="835540" y="57162"/>
                </a:lnTo>
                <a:lnTo>
                  <a:pt x="834547" y="43865"/>
                </a:lnTo>
                <a:lnTo>
                  <a:pt x="810690" y="8454"/>
                </a:lnTo>
                <a:lnTo>
                  <a:pt x="786713" y="1121"/>
                </a:lnTo>
                <a:lnTo>
                  <a:pt x="771693" y="0"/>
                </a:lnTo>
                <a:close/>
              </a:path>
              <a:path w="855345" h="260350">
                <a:moveTo>
                  <a:pt x="87039" y="0"/>
                </a:moveTo>
                <a:lnTo>
                  <a:pt x="83492" y="0"/>
                </a:lnTo>
                <a:lnTo>
                  <a:pt x="68472" y="1121"/>
                </a:lnTo>
                <a:lnTo>
                  <a:pt x="28585" y="22608"/>
                </a:lnTo>
                <a:lnTo>
                  <a:pt x="19645" y="57025"/>
                </a:lnTo>
                <a:lnTo>
                  <a:pt x="19845" y="62883"/>
                </a:lnTo>
                <a:lnTo>
                  <a:pt x="20446" y="69133"/>
                </a:lnTo>
                <a:lnTo>
                  <a:pt x="21448" y="75775"/>
                </a:lnTo>
                <a:lnTo>
                  <a:pt x="22851" y="82810"/>
                </a:lnTo>
                <a:lnTo>
                  <a:pt x="24988" y="92451"/>
                </a:lnTo>
                <a:lnTo>
                  <a:pt x="26056" y="98908"/>
                </a:lnTo>
                <a:lnTo>
                  <a:pt x="26056" y="108458"/>
                </a:lnTo>
                <a:lnTo>
                  <a:pt x="23897" y="113574"/>
                </a:lnTo>
                <a:lnTo>
                  <a:pt x="15256" y="121487"/>
                </a:lnTo>
                <a:lnTo>
                  <a:pt x="8731" y="123601"/>
                </a:lnTo>
                <a:lnTo>
                  <a:pt x="0" y="123874"/>
                </a:lnTo>
                <a:lnTo>
                  <a:pt x="0" y="135061"/>
                </a:lnTo>
                <a:lnTo>
                  <a:pt x="8731" y="135334"/>
                </a:lnTo>
                <a:lnTo>
                  <a:pt x="15256" y="137448"/>
                </a:lnTo>
                <a:lnTo>
                  <a:pt x="23897" y="145361"/>
                </a:lnTo>
                <a:lnTo>
                  <a:pt x="26056" y="150477"/>
                </a:lnTo>
                <a:lnTo>
                  <a:pt x="26056" y="160027"/>
                </a:lnTo>
                <a:lnTo>
                  <a:pt x="24988" y="166484"/>
                </a:lnTo>
                <a:lnTo>
                  <a:pt x="22851" y="176125"/>
                </a:lnTo>
                <a:lnTo>
                  <a:pt x="21448" y="183160"/>
                </a:lnTo>
                <a:lnTo>
                  <a:pt x="20446" y="189802"/>
                </a:lnTo>
                <a:lnTo>
                  <a:pt x="19845" y="196052"/>
                </a:lnTo>
                <a:lnTo>
                  <a:pt x="19645" y="201910"/>
                </a:lnTo>
                <a:lnTo>
                  <a:pt x="20638" y="215684"/>
                </a:lnTo>
                <a:lnTo>
                  <a:pt x="44495" y="251709"/>
                </a:lnTo>
                <a:lnTo>
                  <a:pt x="83492" y="260163"/>
                </a:lnTo>
                <a:lnTo>
                  <a:pt x="87039" y="260163"/>
                </a:lnTo>
                <a:lnTo>
                  <a:pt x="87039" y="249795"/>
                </a:lnTo>
                <a:lnTo>
                  <a:pt x="84993" y="249795"/>
                </a:lnTo>
                <a:lnTo>
                  <a:pt x="75639" y="249151"/>
                </a:lnTo>
                <a:lnTo>
                  <a:pt x="45633" y="225562"/>
                </a:lnTo>
                <a:lnTo>
                  <a:pt x="42837" y="204365"/>
                </a:lnTo>
                <a:lnTo>
                  <a:pt x="42837" y="197999"/>
                </a:lnTo>
                <a:lnTo>
                  <a:pt x="43747" y="190132"/>
                </a:lnTo>
                <a:lnTo>
                  <a:pt x="47384" y="171396"/>
                </a:lnTo>
                <a:lnTo>
                  <a:pt x="48294" y="164711"/>
                </a:lnTo>
                <a:lnTo>
                  <a:pt x="48294" y="152978"/>
                </a:lnTo>
                <a:lnTo>
                  <a:pt x="46020" y="146634"/>
                </a:lnTo>
                <a:lnTo>
                  <a:pt x="36925" y="136721"/>
                </a:lnTo>
                <a:lnTo>
                  <a:pt x="31513" y="133060"/>
                </a:lnTo>
                <a:lnTo>
                  <a:pt x="25238" y="130695"/>
                </a:lnTo>
                <a:lnTo>
                  <a:pt x="25238" y="128240"/>
                </a:lnTo>
                <a:lnTo>
                  <a:pt x="31513" y="125875"/>
                </a:lnTo>
                <a:lnTo>
                  <a:pt x="36925" y="122214"/>
                </a:lnTo>
                <a:lnTo>
                  <a:pt x="46020" y="112301"/>
                </a:lnTo>
                <a:lnTo>
                  <a:pt x="48294" y="105957"/>
                </a:lnTo>
                <a:lnTo>
                  <a:pt x="48294" y="94224"/>
                </a:lnTo>
                <a:lnTo>
                  <a:pt x="47384" y="87539"/>
                </a:lnTo>
                <a:lnTo>
                  <a:pt x="43747" y="68804"/>
                </a:lnTo>
                <a:lnTo>
                  <a:pt x="42837" y="60936"/>
                </a:lnTo>
                <a:lnTo>
                  <a:pt x="42837" y="54570"/>
                </a:lnTo>
                <a:lnTo>
                  <a:pt x="43536" y="43600"/>
                </a:lnTo>
                <a:lnTo>
                  <a:pt x="67359" y="12943"/>
                </a:lnTo>
                <a:lnTo>
                  <a:pt x="84993" y="10368"/>
                </a:lnTo>
                <a:lnTo>
                  <a:pt x="87039" y="10368"/>
                </a:lnTo>
                <a:lnTo>
                  <a:pt x="8703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759578" y="6276340"/>
            <a:ext cx="67246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80">
                <a:solidFill>
                  <a:srgbClr val="C64847"/>
                </a:solidFill>
                <a:latin typeface="Cambria Math"/>
                <a:cs typeface="Cambria Math"/>
              </a:rPr>
              <a:t>𝑦</a:t>
            </a:r>
            <a:r>
              <a:rPr dirty="0" baseline="-15625" sz="2400" spc="270">
                <a:solidFill>
                  <a:srgbClr val="C64847"/>
                </a:solidFill>
                <a:latin typeface="Cambria Math"/>
                <a:cs typeface="Cambria Math"/>
              </a:rPr>
              <a:t>.</a:t>
            </a:r>
            <a:r>
              <a:rPr dirty="0" sz="2200" spc="180">
                <a:solidFill>
                  <a:srgbClr val="C64847"/>
                </a:solidFill>
                <a:latin typeface="Cambria Math"/>
                <a:cs typeface="Cambria Math"/>
              </a:rPr>
              <a:t>,</a:t>
            </a:r>
            <a:r>
              <a:rPr dirty="0" sz="2200" spc="-204">
                <a:solidFill>
                  <a:srgbClr val="C64847"/>
                </a:solidFill>
                <a:latin typeface="Cambria Math"/>
                <a:cs typeface="Cambria Math"/>
              </a:rPr>
              <a:t> </a:t>
            </a:r>
            <a:r>
              <a:rPr dirty="0" sz="2200" spc="40">
                <a:solidFill>
                  <a:srgbClr val="C64847"/>
                </a:solidFill>
                <a:latin typeface="Cambria Math"/>
                <a:cs typeface="Cambria Math"/>
              </a:rPr>
              <a:t>𝑦</a:t>
            </a:r>
            <a:r>
              <a:rPr dirty="0" baseline="-15625" sz="2400" spc="60">
                <a:solidFill>
                  <a:srgbClr val="C64847"/>
                </a:solidFill>
                <a:latin typeface="Cambria Math"/>
                <a:cs typeface="Cambria Math"/>
              </a:rPr>
              <a:t>/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6" name="object 36"/>
          <p:cNvSpPr txBox="1"/>
          <p:nvPr/>
        </p:nvSpPr>
        <p:spPr>
          <a:xfrm>
            <a:off x="5851588" y="6276340"/>
            <a:ext cx="6445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C64847"/>
                </a:solidFill>
                <a:latin typeface="Cambria Math"/>
                <a:cs typeface="Cambria Math"/>
              </a:rPr>
              <a:t>=</a:t>
            </a:r>
            <a:r>
              <a:rPr dirty="0" sz="2200" spc="10">
                <a:solidFill>
                  <a:srgbClr val="C64847"/>
                </a:solidFill>
                <a:latin typeface="Cambria Math"/>
                <a:cs typeface="Cambria Math"/>
              </a:rPr>
              <a:t> </a:t>
            </a:r>
            <a:r>
              <a:rPr dirty="0" sz="2200" spc="-5">
                <a:solidFill>
                  <a:srgbClr val="C64847"/>
                </a:solidFill>
                <a:latin typeface="Cambria Math"/>
                <a:cs typeface="Cambria Math"/>
              </a:rPr>
              <a:t>𝟑𝟎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86491" y="5792363"/>
            <a:ext cx="1471295" cy="923925"/>
          </a:xfrm>
          <a:prstGeom prst="rect">
            <a:avLst/>
          </a:prstGeom>
          <a:ln w="9525">
            <a:solidFill>
              <a:srgbClr val="C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86360" marR="182880">
              <a:lnSpc>
                <a:spcPts val="2110"/>
              </a:lnSpc>
              <a:spcBef>
                <a:spcPts val="330"/>
              </a:spcBef>
            </a:pPr>
            <a:r>
              <a:rPr dirty="0" sz="1800" spc="-5" b="1">
                <a:solidFill>
                  <a:srgbClr val="C00000"/>
                </a:solidFill>
                <a:latin typeface="Calibri"/>
                <a:cs typeface="Calibri"/>
              </a:rPr>
              <a:t>Now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we can  </a:t>
            </a:r>
            <a:r>
              <a:rPr dirty="0" sz="1800" spc="-15" b="1">
                <a:solidFill>
                  <a:srgbClr val="C00000"/>
                </a:solidFill>
                <a:latin typeface="Calibri"/>
                <a:cs typeface="Calibri"/>
              </a:rPr>
              <a:t>differentiate</a:t>
            </a:r>
            <a:endParaRPr sz="1800">
              <a:latin typeface="Calibri"/>
              <a:cs typeface="Calibri"/>
            </a:endParaRPr>
          </a:p>
          <a:p>
            <a:pPr marL="86360">
              <a:lnSpc>
                <a:spcPts val="2120"/>
              </a:lnSpc>
            </a:pP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baseline="-17094" sz="1950">
                <a:solidFill>
                  <a:srgbClr val="C00000"/>
                </a:solidFill>
                <a:latin typeface="Cambria Math"/>
                <a:cs typeface="Cambria Math"/>
              </a:rPr>
              <a:t>𝟏 </a:t>
            </a:r>
            <a:r>
              <a:rPr dirty="0" sz="1800" spc="-5" b="1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baseline="-17094" sz="195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r>
              <a:rPr dirty="0" baseline="-17094" sz="1950" spc="6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!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2400" y="2263383"/>
            <a:ext cx="7219198" cy="21731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7472"/>
            <a:ext cx="7565135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248937"/>
            <a:ext cx="5717540" cy="1067435"/>
          </a:xfrm>
          <a:prstGeom prst="rect"/>
        </p:spPr>
        <p:txBody>
          <a:bodyPr wrap="square" lIns="0" tIns="11303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9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>
                <a:solidFill>
                  <a:srgbClr val="000000"/>
                </a:solidFill>
              </a:rPr>
              <a:t>DiffPool</a:t>
            </a:r>
            <a:r>
              <a:rPr dirty="0" sz="3000" spc="-80">
                <a:solidFill>
                  <a:srgbClr val="000000"/>
                </a:solidFill>
              </a:rPr>
              <a:t> </a:t>
            </a:r>
            <a:r>
              <a:rPr dirty="0" sz="3000" spc="-5">
                <a:solidFill>
                  <a:srgbClr val="000000"/>
                </a:solidFill>
              </a:rPr>
              <a:t>idea:</a:t>
            </a:r>
            <a:endParaRPr sz="3000"/>
          </a:p>
          <a:p>
            <a:pPr lvl="1" marL="625475" indent="-274320">
              <a:lnSpc>
                <a:spcPct val="100000"/>
              </a:lnSpc>
              <a:spcBef>
                <a:spcPts val="68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Hierarchically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pool node</a:t>
            </a:r>
            <a:r>
              <a:rPr dirty="0" sz="26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embeddings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956563" y="4649262"/>
            <a:ext cx="7719695" cy="179387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600" spc="-20" b="1">
                <a:solidFill>
                  <a:srgbClr val="C00000"/>
                </a:solidFill>
                <a:latin typeface="Calibri"/>
                <a:cs typeface="Calibri"/>
              </a:rPr>
              <a:t>Leverage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2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independent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GNNs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at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each</a:t>
            </a:r>
            <a:r>
              <a:rPr dirty="0" sz="2600" spc="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level</a:t>
            </a:r>
            <a:endParaRPr sz="26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9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GNN </a:t>
            </a:r>
            <a:r>
              <a:rPr dirty="0" sz="2200" b="1">
                <a:solidFill>
                  <a:srgbClr val="E88651"/>
                </a:solidFill>
                <a:latin typeface="Calibri"/>
                <a:cs typeface="Calibri"/>
              </a:rPr>
              <a:t>A: </a:t>
            </a:r>
            <a:r>
              <a:rPr dirty="0" sz="2200" spc="-10">
                <a:latin typeface="Calibri"/>
                <a:cs typeface="Calibri"/>
              </a:rPr>
              <a:t>Compute </a:t>
            </a:r>
            <a:r>
              <a:rPr dirty="0" sz="2200" spc="-5">
                <a:latin typeface="Calibri"/>
                <a:cs typeface="Calibri"/>
              </a:rPr>
              <a:t>node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embeddings</a:t>
            </a:r>
            <a:endParaRPr sz="22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5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200" spc="-5" b="1">
                <a:solidFill>
                  <a:srgbClr val="60B5CC"/>
                </a:solidFill>
                <a:latin typeface="Calibri"/>
                <a:cs typeface="Calibri"/>
              </a:rPr>
              <a:t>GNN </a:t>
            </a:r>
            <a:r>
              <a:rPr dirty="0" sz="2200" b="1">
                <a:solidFill>
                  <a:srgbClr val="60B5CC"/>
                </a:solidFill>
                <a:latin typeface="Calibri"/>
                <a:cs typeface="Calibri"/>
              </a:rPr>
              <a:t>B: </a:t>
            </a:r>
            <a:r>
              <a:rPr dirty="0" sz="2200" spc="-10">
                <a:latin typeface="Calibri"/>
                <a:cs typeface="Calibri"/>
              </a:rPr>
              <a:t>Compute </a:t>
            </a:r>
            <a:r>
              <a:rPr dirty="0" sz="2200" spc="-5">
                <a:latin typeface="Calibri"/>
                <a:cs typeface="Calibri"/>
              </a:rPr>
              <a:t>the </a:t>
            </a:r>
            <a:r>
              <a:rPr dirty="0" sz="2200" spc="-15">
                <a:latin typeface="Calibri"/>
                <a:cs typeface="Calibri"/>
              </a:rPr>
              <a:t>cluster </a:t>
            </a:r>
            <a:r>
              <a:rPr dirty="0" sz="2200" spc="-10">
                <a:latin typeface="Calibri"/>
                <a:cs typeface="Calibri"/>
              </a:rPr>
              <a:t>that </a:t>
            </a:r>
            <a:r>
              <a:rPr dirty="0" sz="2200">
                <a:latin typeface="Calibri"/>
                <a:cs typeface="Calibri"/>
              </a:rPr>
              <a:t>a </a:t>
            </a:r>
            <a:r>
              <a:rPr dirty="0" sz="2200" spc="-5">
                <a:latin typeface="Calibri"/>
                <a:cs typeface="Calibri"/>
              </a:rPr>
              <a:t>node belongs</a:t>
            </a:r>
            <a:r>
              <a:rPr dirty="0" sz="2200" spc="55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to</a:t>
            </a:r>
            <a:endParaRPr sz="22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6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GNNs </a:t>
            </a:r>
            <a:r>
              <a:rPr dirty="0" sz="2600" b="1">
                <a:solidFill>
                  <a:srgbClr val="E88651"/>
                </a:solidFill>
                <a:latin typeface="Calibri"/>
                <a:cs typeface="Calibri"/>
              </a:rPr>
              <a:t>A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2600" b="1">
                <a:solidFill>
                  <a:srgbClr val="60B5CC"/>
                </a:solidFill>
                <a:latin typeface="Calibri"/>
                <a:cs typeface="Calibri"/>
              </a:rPr>
              <a:t>B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at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each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level can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be </a:t>
            </a:r>
            <a:r>
              <a:rPr dirty="0" sz="2600" spc="-20" b="1">
                <a:solidFill>
                  <a:srgbClr val="C00000"/>
                </a:solidFill>
                <a:latin typeface="Calibri"/>
                <a:cs typeface="Calibri"/>
              </a:rPr>
              <a:t>executed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2600" spc="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parallel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6717" y="20827"/>
            <a:ext cx="60648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Ying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Hierarchical Graph Representation Learning with Differentiable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Pooling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NeurIPS</a:t>
            </a:r>
            <a:r>
              <a:rPr dirty="0" sz="1200" spc="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2018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2400" y="1606980"/>
            <a:ext cx="7219198" cy="21731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7472"/>
            <a:ext cx="7565135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63271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00"/>
                </a:solidFill>
              </a:rPr>
              <a:t>DiffPool</a:t>
            </a:r>
            <a:r>
              <a:rPr dirty="0" spc="-75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idea: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956563" y="3897545"/>
            <a:ext cx="7983220" cy="265430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3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each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Pooling</a:t>
            </a: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endParaRPr sz="2800">
              <a:latin typeface="Calibri"/>
              <a:cs typeface="Calibri"/>
            </a:endParaRPr>
          </a:p>
          <a:p>
            <a:pPr lvl="1" marL="552450" marR="197485" indent="-228600">
              <a:lnSpc>
                <a:spcPct val="100000"/>
              </a:lnSpc>
              <a:spcBef>
                <a:spcPts val="54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Use </a:t>
            </a:r>
            <a:r>
              <a:rPr dirty="0" sz="2400" spc="-10">
                <a:latin typeface="Calibri"/>
                <a:cs typeface="Calibri"/>
              </a:rPr>
              <a:t>clustering </a:t>
            </a:r>
            <a:r>
              <a:rPr dirty="0" sz="2400" spc="-5">
                <a:latin typeface="Calibri"/>
                <a:cs typeface="Calibri"/>
              </a:rPr>
              <a:t>assignments </a:t>
            </a:r>
            <a:r>
              <a:rPr dirty="0" sz="2400" spc="-15">
                <a:latin typeface="Calibri"/>
                <a:cs typeface="Calibri"/>
              </a:rPr>
              <a:t>from </a:t>
            </a:r>
            <a:r>
              <a:rPr dirty="0" sz="2400" spc="-5" b="1">
                <a:solidFill>
                  <a:srgbClr val="60B5CC"/>
                </a:solidFill>
                <a:latin typeface="Calibri"/>
                <a:cs typeface="Calibri"/>
              </a:rPr>
              <a:t>GNN </a:t>
            </a:r>
            <a:r>
              <a:rPr dirty="0" sz="2400" b="1">
                <a:solidFill>
                  <a:srgbClr val="60B5CC"/>
                </a:solidFill>
                <a:latin typeface="Calibri"/>
                <a:cs typeface="Calibri"/>
              </a:rPr>
              <a:t>B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20">
                <a:latin typeface="Calibri"/>
                <a:cs typeface="Calibri"/>
              </a:rPr>
              <a:t>aggregate </a:t>
            </a:r>
            <a:r>
              <a:rPr dirty="0" sz="2400" spc="-5">
                <a:latin typeface="Calibri"/>
                <a:cs typeface="Calibri"/>
              </a:rPr>
              <a:t>node  embeddings </a:t>
            </a:r>
            <a:r>
              <a:rPr dirty="0" sz="2400" spc="-20">
                <a:latin typeface="Calibri"/>
                <a:cs typeface="Calibri"/>
              </a:rPr>
              <a:t>generated </a:t>
            </a:r>
            <a:r>
              <a:rPr dirty="0" sz="2400" spc="-10">
                <a:latin typeface="Calibri"/>
                <a:cs typeface="Calibri"/>
              </a:rPr>
              <a:t>by </a:t>
            </a: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GNN</a:t>
            </a:r>
            <a:r>
              <a:rPr dirty="0" sz="2400" spc="0" b="1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E88651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lvl="1" marL="552450" marR="5080" indent="-228600">
              <a:lnSpc>
                <a:spcPts val="2810"/>
              </a:lnSpc>
              <a:spcBef>
                <a:spcPts val="77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20">
                <a:latin typeface="Calibri"/>
                <a:cs typeface="Calibri"/>
              </a:rPr>
              <a:t>Create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single new node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5">
                <a:latin typeface="Calibri"/>
                <a:cs typeface="Calibri"/>
              </a:rPr>
              <a:t>each </a:t>
            </a:r>
            <a:r>
              <a:rPr dirty="0" sz="2400" spc="-35">
                <a:latin typeface="Calibri"/>
                <a:cs typeface="Calibri"/>
              </a:rPr>
              <a:t>cluster, </a:t>
            </a:r>
            <a:r>
              <a:rPr dirty="0" sz="2400" spc="-10">
                <a:latin typeface="Calibri"/>
                <a:cs typeface="Calibri"/>
              </a:rPr>
              <a:t>maintaining  edges between </a:t>
            </a:r>
            <a:r>
              <a:rPr dirty="0" sz="2400" spc="-15">
                <a:latin typeface="Calibri"/>
                <a:cs typeface="Calibri"/>
              </a:rPr>
              <a:t>clusters to </a:t>
            </a:r>
            <a:r>
              <a:rPr dirty="0" sz="2400" spc="-20">
                <a:latin typeface="Calibri"/>
                <a:cs typeface="Calibri"/>
              </a:rPr>
              <a:t>generated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new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pooled</a:t>
            </a:r>
            <a:r>
              <a:rPr dirty="0" sz="2400" spc="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Jointly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train </a:t>
            </a:r>
            <a:r>
              <a:rPr dirty="0" sz="2800" b="1">
                <a:solidFill>
                  <a:srgbClr val="E88651"/>
                </a:solidFill>
                <a:latin typeface="Calibri"/>
                <a:cs typeface="Calibri"/>
              </a:rPr>
              <a:t>GNN A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2800" b="1">
                <a:solidFill>
                  <a:srgbClr val="60B5CC"/>
                </a:solidFill>
                <a:latin typeface="Calibri"/>
                <a:cs typeface="Calibri"/>
              </a:rPr>
              <a:t>GNN</a:t>
            </a:r>
            <a:r>
              <a:rPr dirty="0" sz="2800" spc="-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60B5CC"/>
                </a:solidFill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6448" y="3541776"/>
            <a:ext cx="8260080" cy="1298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1264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2185" y="3566053"/>
            <a:ext cx="1145986" cy="1063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33760" y="374035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33761" y="374035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44492" y="3408503"/>
            <a:ext cx="130492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375920" marR="93345" indent="-275590">
              <a:lnSpc>
                <a:spcPct val="100000"/>
              </a:lnSpc>
              <a:spcBef>
                <a:spcPts val="7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Prediction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head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5045" y="340379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383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290"/>
              </a:spcBef>
            </a:pPr>
            <a:r>
              <a:rPr dirty="0" sz="2000" spc="-5" b="1">
                <a:latin typeface="Calibri"/>
                <a:cs typeface="Calibri"/>
              </a:rPr>
              <a:t>Predictions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9740" y="3408503"/>
            <a:ext cx="84645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192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27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4602" y="459234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48285" marR="241300" indent="217170">
              <a:lnSpc>
                <a:spcPct val="100000"/>
              </a:lnSpc>
              <a:spcBef>
                <a:spcPts val="9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Loss  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24602" y="2129477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99085" marR="130810" indent="-161290">
              <a:lnSpc>
                <a:spcPct val="100000"/>
              </a:lnSpc>
              <a:spcBef>
                <a:spcPts val="90"/>
              </a:spcBef>
            </a:pP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Evaluation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metrics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60268" y="3638903"/>
            <a:ext cx="956356" cy="11017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27797" y="256629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40970" marR="129539">
              <a:lnSpc>
                <a:spcPct val="100000"/>
              </a:lnSpc>
              <a:spcBef>
                <a:spcPts val="610"/>
              </a:spcBef>
            </a:pPr>
            <a:r>
              <a:rPr dirty="0" sz="2000" spc="-10" b="1">
                <a:latin typeface="Calibri"/>
                <a:cs typeface="Calibri"/>
              </a:rPr>
              <a:t>Graph  Neural  Network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1717" y="374136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51717" y="374136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18217" y="2566291"/>
            <a:ext cx="140589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9060" rIns="0" bIns="0" rtlCol="0" vert="horz">
            <a:spAutoFit/>
          </a:bodyPr>
          <a:lstStyle/>
          <a:p>
            <a:pPr marL="55244" marR="24130" indent="362585">
              <a:lnSpc>
                <a:spcPct val="100000"/>
              </a:lnSpc>
              <a:spcBef>
                <a:spcPts val="780"/>
              </a:spcBef>
            </a:pPr>
            <a:r>
              <a:rPr dirty="0" sz="2000" spc="-5" b="1">
                <a:latin typeface="Calibri"/>
                <a:cs typeface="Calibri"/>
              </a:rPr>
              <a:t>Node  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03065" y="434158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03064" y="434158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31728" y="437467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31728" y="4374669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41554" y="4395882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41553" y="4395882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73933" y="342399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73932" y="3423989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34808" y="3707080"/>
            <a:ext cx="283845" cy="85725"/>
          </a:xfrm>
          <a:custGeom>
            <a:avLst/>
            <a:gdLst/>
            <a:ahLst/>
            <a:cxnLst/>
            <a:rect l="l" t="t" r="r" b="b"/>
            <a:pathLst>
              <a:path w="283844" h="85725">
                <a:moveTo>
                  <a:pt x="197683" y="57149"/>
                </a:moveTo>
                <a:lnTo>
                  <a:pt x="197683" y="85725"/>
                </a:lnTo>
                <a:lnTo>
                  <a:pt x="254833" y="57150"/>
                </a:lnTo>
                <a:lnTo>
                  <a:pt x="197683" y="57149"/>
                </a:lnTo>
                <a:close/>
              </a:path>
              <a:path w="283844" h="85725">
                <a:moveTo>
                  <a:pt x="197683" y="28574"/>
                </a:moveTo>
                <a:lnTo>
                  <a:pt x="197683" y="57149"/>
                </a:lnTo>
                <a:lnTo>
                  <a:pt x="219862" y="57148"/>
                </a:lnTo>
                <a:lnTo>
                  <a:pt x="226258" y="50753"/>
                </a:lnTo>
                <a:lnTo>
                  <a:pt x="226256" y="34970"/>
                </a:lnTo>
                <a:lnTo>
                  <a:pt x="219861" y="28575"/>
                </a:lnTo>
                <a:lnTo>
                  <a:pt x="197683" y="28574"/>
                </a:lnTo>
                <a:close/>
              </a:path>
              <a:path w="283844" h="85725">
                <a:moveTo>
                  <a:pt x="197683" y="0"/>
                </a:moveTo>
                <a:lnTo>
                  <a:pt x="197683" y="28574"/>
                </a:lnTo>
                <a:lnTo>
                  <a:pt x="211970" y="28575"/>
                </a:lnTo>
                <a:lnTo>
                  <a:pt x="219861" y="28575"/>
                </a:lnTo>
                <a:lnTo>
                  <a:pt x="226256" y="34970"/>
                </a:lnTo>
                <a:lnTo>
                  <a:pt x="226258" y="50753"/>
                </a:lnTo>
                <a:lnTo>
                  <a:pt x="219861" y="57150"/>
                </a:lnTo>
                <a:lnTo>
                  <a:pt x="254835" y="57148"/>
                </a:lnTo>
                <a:lnTo>
                  <a:pt x="283408" y="42862"/>
                </a:lnTo>
                <a:lnTo>
                  <a:pt x="197683" y="0"/>
                </a:lnTo>
                <a:close/>
              </a:path>
              <a:path w="283844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97683" y="57149"/>
                </a:lnTo>
                <a:lnTo>
                  <a:pt x="19768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09615" y="3706943"/>
            <a:ext cx="335280" cy="85725"/>
          </a:xfrm>
          <a:custGeom>
            <a:avLst/>
            <a:gdLst/>
            <a:ahLst/>
            <a:cxnLst/>
            <a:rect l="l" t="t" r="r" b="b"/>
            <a:pathLst>
              <a:path w="335279" h="85725">
                <a:moveTo>
                  <a:pt x="306335" y="28562"/>
                </a:moveTo>
                <a:lnTo>
                  <a:pt x="271322" y="28562"/>
                </a:lnTo>
                <a:lnTo>
                  <a:pt x="277723" y="34955"/>
                </a:lnTo>
                <a:lnTo>
                  <a:pt x="277732" y="50737"/>
                </a:lnTo>
                <a:lnTo>
                  <a:pt x="271339" y="57137"/>
                </a:lnTo>
                <a:lnTo>
                  <a:pt x="249161" y="57150"/>
                </a:lnTo>
                <a:lnTo>
                  <a:pt x="249177" y="85724"/>
                </a:lnTo>
                <a:lnTo>
                  <a:pt x="334877" y="42812"/>
                </a:lnTo>
                <a:lnTo>
                  <a:pt x="306335" y="28562"/>
                </a:lnTo>
                <a:close/>
              </a:path>
              <a:path w="335279" h="85725">
                <a:moveTo>
                  <a:pt x="249144" y="28575"/>
                </a:moveTo>
                <a:lnTo>
                  <a:pt x="6393" y="28715"/>
                </a:lnTo>
                <a:lnTo>
                  <a:pt x="0" y="35115"/>
                </a:lnTo>
                <a:lnTo>
                  <a:pt x="8" y="50897"/>
                </a:lnTo>
                <a:lnTo>
                  <a:pt x="6409" y="57290"/>
                </a:lnTo>
                <a:lnTo>
                  <a:pt x="249161" y="57150"/>
                </a:lnTo>
                <a:lnTo>
                  <a:pt x="249144" y="28575"/>
                </a:lnTo>
                <a:close/>
              </a:path>
              <a:path w="335279" h="85725">
                <a:moveTo>
                  <a:pt x="271322" y="28562"/>
                </a:moveTo>
                <a:lnTo>
                  <a:pt x="249144" y="28575"/>
                </a:lnTo>
                <a:lnTo>
                  <a:pt x="249161" y="57150"/>
                </a:lnTo>
                <a:lnTo>
                  <a:pt x="271339" y="57137"/>
                </a:lnTo>
                <a:lnTo>
                  <a:pt x="277732" y="50737"/>
                </a:lnTo>
                <a:lnTo>
                  <a:pt x="277723" y="34955"/>
                </a:lnTo>
                <a:lnTo>
                  <a:pt x="271322" y="28562"/>
                </a:lnTo>
                <a:close/>
              </a:path>
              <a:path w="335279" h="85725">
                <a:moveTo>
                  <a:pt x="249128" y="0"/>
                </a:moveTo>
                <a:lnTo>
                  <a:pt x="249144" y="28575"/>
                </a:lnTo>
                <a:lnTo>
                  <a:pt x="306335" y="28562"/>
                </a:lnTo>
                <a:lnTo>
                  <a:pt x="249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34710" y="3703551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318" y="50292"/>
                </a:lnTo>
                <a:lnTo>
                  <a:pt x="247023" y="56789"/>
                </a:lnTo>
                <a:lnTo>
                  <a:pt x="224847" y="57142"/>
                </a:lnTo>
                <a:lnTo>
                  <a:pt x="225303" y="85714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251" y="54322"/>
                </a:lnTo>
                <a:lnTo>
                  <a:pt x="6748" y="60617"/>
                </a:lnTo>
                <a:lnTo>
                  <a:pt x="224847" y="5714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847" y="57142"/>
                </a:lnTo>
                <a:lnTo>
                  <a:pt x="247023" y="56789"/>
                </a:lnTo>
                <a:lnTo>
                  <a:pt x="253318" y="50292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32162" y="2811983"/>
            <a:ext cx="595630" cy="607695"/>
          </a:xfrm>
          <a:custGeom>
            <a:avLst/>
            <a:gdLst/>
            <a:ahLst/>
            <a:cxnLst/>
            <a:rect l="l" t="t" r="r" b="b"/>
            <a:pathLst>
              <a:path w="595629" h="607695">
                <a:moveTo>
                  <a:pt x="525097" y="51249"/>
                </a:moveTo>
                <a:lnTo>
                  <a:pt x="0" y="587447"/>
                </a:lnTo>
                <a:lnTo>
                  <a:pt x="93" y="596493"/>
                </a:lnTo>
                <a:lnTo>
                  <a:pt x="11369" y="607534"/>
                </a:lnTo>
                <a:lnTo>
                  <a:pt x="20415" y="607440"/>
                </a:lnTo>
                <a:lnTo>
                  <a:pt x="545514" y="71243"/>
                </a:lnTo>
                <a:lnTo>
                  <a:pt x="525097" y="51249"/>
                </a:lnTo>
                <a:close/>
              </a:path>
              <a:path w="595629" h="607695">
                <a:moveTo>
                  <a:pt x="583924" y="35311"/>
                </a:moveTo>
                <a:lnTo>
                  <a:pt x="549661" y="35311"/>
                </a:lnTo>
                <a:lnTo>
                  <a:pt x="560936" y="46352"/>
                </a:lnTo>
                <a:lnTo>
                  <a:pt x="561031" y="55398"/>
                </a:lnTo>
                <a:lnTo>
                  <a:pt x="545514" y="71243"/>
                </a:lnTo>
                <a:lnTo>
                  <a:pt x="565929" y="91236"/>
                </a:lnTo>
                <a:lnTo>
                  <a:pt x="583924" y="35311"/>
                </a:lnTo>
                <a:close/>
              </a:path>
              <a:path w="595629" h="607695">
                <a:moveTo>
                  <a:pt x="549661" y="35311"/>
                </a:moveTo>
                <a:lnTo>
                  <a:pt x="540614" y="35405"/>
                </a:lnTo>
                <a:lnTo>
                  <a:pt x="525097" y="51249"/>
                </a:lnTo>
                <a:lnTo>
                  <a:pt x="545514" y="71243"/>
                </a:lnTo>
                <a:lnTo>
                  <a:pt x="561031" y="55398"/>
                </a:lnTo>
                <a:lnTo>
                  <a:pt x="560936" y="46352"/>
                </a:lnTo>
                <a:lnTo>
                  <a:pt x="549661" y="35311"/>
                </a:lnTo>
                <a:close/>
              </a:path>
              <a:path w="595629" h="607695">
                <a:moveTo>
                  <a:pt x="595285" y="0"/>
                </a:moveTo>
                <a:lnTo>
                  <a:pt x="504682" y="31257"/>
                </a:lnTo>
                <a:lnTo>
                  <a:pt x="525097" y="51249"/>
                </a:lnTo>
                <a:lnTo>
                  <a:pt x="540614" y="35405"/>
                </a:lnTo>
                <a:lnTo>
                  <a:pt x="549661" y="35311"/>
                </a:lnTo>
                <a:lnTo>
                  <a:pt x="583924" y="35311"/>
                </a:lnTo>
                <a:lnTo>
                  <a:pt x="5952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27448" y="2811983"/>
            <a:ext cx="842010" cy="612775"/>
          </a:xfrm>
          <a:custGeom>
            <a:avLst/>
            <a:gdLst/>
            <a:ahLst/>
            <a:cxnLst/>
            <a:rect l="l" t="t" r="r" b="b"/>
            <a:pathLst>
              <a:path w="842009" h="612775">
                <a:moveTo>
                  <a:pt x="77845" y="38637"/>
                </a:moveTo>
                <a:lnTo>
                  <a:pt x="61106" y="61795"/>
                </a:lnTo>
                <a:lnTo>
                  <a:pt x="823328" y="612722"/>
                </a:lnTo>
                <a:lnTo>
                  <a:pt x="832260" y="611285"/>
                </a:lnTo>
                <a:lnTo>
                  <a:pt x="841504" y="598495"/>
                </a:lnTo>
                <a:lnTo>
                  <a:pt x="840066" y="589563"/>
                </a:lnTo>
                <a:lnTo>
                  <a:pt x="77845" y="38637"/>
                </a:lnTo>
                <a:close/>
              </a:path>
              <a:path w="842009" h="612775">
                <a:moveTo>
                  <a:pt x="0" y="0"/>
                </a:moveTo>
                <a:lnTo>
                  <a:pt x="44367" y="84955"/>
                </a:lnTo>
                <a:lnTo>
                  <a:pt x="61106" y="61795"/>
                </a:lnTo>
                <a:lnTo>
                  <a:pt x="43131" y="48803"/>
                </a:lnTo>
                <a:lnTo>
                  <a:pt x="41694" y="39872"/>
                </a:lnTo>
                <a:lnTo>
                  <a:pt x="50939" y="27082"/>
                </a:lnTo>
                <a:lnTo>
                  <a:pt x="59870" y="25645"/>
                </a:lnTo>
                <a:lnTo>
                  <a:pt x="87236" y="25645"/>
                </a:lnTo>
                <a:lnTo>
                  <a:pt x="94584" y="15478"/>
                </a:lnTo>
                <a:lnTo>
                  <a:pt x="0" y="0"/>
                </a:lnTo>
                <a:close/>
              </a:path>
              <a:path w="842009" h="612775">
                <a:moveTo>
                  <a:pt x="59870" y="25645"/>
                </a:moveTo>
                <a:lnTo>
                  <a:pt x="50939" y="27082"/>
                </a:lnTo>
                <a:lnTo>
                  <a:pt x="41694" y="39872"/>
                </a:lnTo>
                <a:lnTo>
                  <a:pt x="43131" y="48803"/>
                </a:lnTo>
                <a:lnTo>
                  <a:pt x="61106" y="61795"/>
                </a:lnTo>
                <a:lnTo>
                  <a:pt x="77845" y="38637"/>
                </a:lnTo>
                <a:lnTo>
                  <a:pt x="59870" y="25645"/>
                </a:lnTo>
                <a:close/>
              </a:path>
              <a:path w="842009" h="612775">
                <a:moveTo>
                  <a:pt x="87236" y="25645"/>
                </a:moveTo>
                <a:lnTo>
                  <a:pt x="59870" y="25645"/>
                </a:lnTo>
                <a:lnTo>
                  <a:pt x="77845" y="38637"/>
                </a:lnTo>
                <a:lnTo>
                  <a:pt x="87236" y="25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27448" y="4074700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51013" y="436500"/>
                </a:moveTo>
                <a:lnTo>
                  <a:pt x="0" y="517639"/>
                </a:lnTo>
                <a:lnTo>
                  <a:pt x="95519" y="509766"/>
                </a:lnTo>
                <a:lnTo>
                  <a:pt x="87678" y="496858"/>
                </a:lnTo>
                <a:lnTo>
                  <a:pt x="61729" y="496858"/>
                </a:lnTo>
                <a:lnTo>
                  <a:pt x="52941" y="494711"/>
                </a:lnTo>
                <a:lnTo>
                  <a:pt x="44748" y="481224"/>
                </a:lnTo>
                <a:lnTo>
                  <a:pt x="46893" y="472436"/>
                </a:lnTo>
                <a:lnTo>
                  <a:pt x="65848" y="460921"/>
                </a:lnTo>
                <a:lnTo>
                  <a:pt x="51013" y="436500"/>
                </a:lnTo>
                <a:close/>
              </a:path>
              <a:path w="842009" h="518160">
                <a:moveTo>
                  <a:pt x="65848" y="460921"/>
                </a:moveTo>
                <a:lnTo>
                  <a:pt x="46893" y="472436"/>
                </a:lnTo>
                <a:lnTo>
                  <a:pt x="44748" y="481224"/>
                </a:lnTo>
                <a:lnTo>
                  <a:pt x="52941" y="494711"/>
                </a:lnTo>
                <a:lnTo>
                  <a:pt x="61729" y="496858"/>
                </a:lnTo>
                <a:lnTo>
                  <a:pt x="80683" y="485344"/>
                </a:lnTo>
                <a:lnTo>
                  <a:pt x="65848" y="460921"/>
                </a:lnTo>
                <a:close/>
              </a:path>
              <a:path w="842009" h="518160">
                <a:moveTo>
                  <a:pt x="80683" y="485344"/>
                </a:moveTo>
                <a:lnTo>
                  <a:pt x="61729" y="496858"/>
                </a:lnTo>
                <a:lnTo>
                  <a:pt x="87678" y="496858"/>
                </a:lnTo>
                <a:lnTo>
                  <a:pt x="80683" y="485344"/>
                </a:lnTo>
                <a:close/>
              </a:path>
              <a:path w="842009" h="518160">
                <a:moveTo>
                  <a:pt x="824628" y="0"/>
                </a:moveTo>
                <a:lnTo>
                  <a:pt x="65848" y="460921"/>
                </a:lnTo>
                <a:lnTo>
                  <a:pt x="80683" y="485344"/>
                </a:lnTo>
                <a:lnTo>
                  <a:pt x="839464" y="24422"/>
                </a:lnTo>
                <a:lnTo>
                  <a:pt x="841609" y="15633"/>
                </a:lnTo>
                <a:lnTo>
                  <a:pt x="833417" y="2146"/>
                </a:lnTo>
                <a:lnTo>
                  <a:pt x="824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31939" y="4070342"/>
            <a:ext cx="595630" cy="522605"/>
          </a:xfrm>
          <a:custGeom>
            <a:avLst/>
            <a:gdLst/>
            <a:ahLst/>
            <a:cxnLst/>
            <a:rect l="l" t="t" r="r" b="b"/>
            <a:pathLst>
              <a:path w="595629" h="522604">
                <a:moveTo>
                  <a:pt x="521537" y="476376"/>
                </a:moveTo>
                <a:lnTo>
                  <a:pt x="502743" y="497900"/>
                </a:lnTo>
                <a:lnTo>
                  <a:pt x="595509" y="521997"/>
                </a:lnTo>
                <a:lnTo>
                  <a:pt x="582775" y="490964"/>
                </a:lnTo>
                <a:lnTo>
                  <a:pt x="538245" y="490964"/>
                </a:lnTo>
                <a:lnTo>
                  <a:pt x="521537" y="476376"/>
                </a:lnTo>
                <a:close/>
              </a:path>
              <a:path w="595629" h="522604">
                <a:moveTo>
                  <a:pt x="540332" y="454851"/>
                </a:moveTo>
                <a:lnTo>
                  <a:pt x="521537" y="476376"/>
                </a:lnTo>
                <a:lnTo>
                  <a:pt x="538245" y="490964"/>
                </a:lnTo>
                <a:lnTo>
                  <a:pt x="547269" y="490353"/>
                </a:lnTo>
                <a:lnTo>
                  <a:pt x="557649" y="478464"/>
                </a:lnTo>
                <a:lnTo>
                  <a:pt x="557038" y="469438"/>
                </a:lnTo>
                <a:lnTo>
                  <a:pt x="540332" y="454851"/>
                </a:lnTo>
                <a:close/>
              </a:path>
              <a:path w="595629" h="522604">
                <a:moveTo>
                  <a:pt x="559126" y="433327"/>
                </a:moveTo>
                <a:lnTo>
                  <a:pt x="540332" y="454851"/>
                </a:lnTo>
                <a:lnTo>
                  <a:pt x="557038" y="469438"/>
                </a:lnTo>
                <a:lnTo>
                  <a:pt x="557649" y="478464"/>
                </a:lnTo>
                <a:lnTo>
                  <a:pt x="547269" y="490353"/>
                </a:lnTo>
                <a:lnTo>
                  <a:pt x="538245" y="490964"/>
                </a:lnTo>
                <a:lnTo>
                  <a:pt x="582775" y="490964"/>
                </a:lnTo>
                <a:lnTo>
                  <a:pt x="559126" y="433327"/>
                </a:lnTo>
                <a:close/>
              </a:path>
              <a:path w="595629" h="522604">
                <a:moveTo>
                  <a:pt x="19405" y="0"/>
                </a:moveTo>
                <a:lnTo>
                  <a:pt x="10379" y="610"/>
                </a:lnTo>
                <a:lnTo>
                  <a:pt x="0" y="12499"/>
                </a:lnTo>
                <a:lnTo>
                  <a:pt x="610" y="21525"/>
                </a:lnTo>
                <a:lnTo>
                  <a:pt x="521537" y="476376"/>
                </a:lnTo>
                <a:lnTo>
                  <a:pt x="540332" y="454851"/>
                </a:lnTo>
                <a:lnTo>
                  <a:pt x="1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8603" y="3721533"/>
            <a:ext cx="1035141" cy="10474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55488" y="256629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86995" rIns="0" bIns="0" rtlCol="0" vert="horz">
            <a:spAutoFit/>
          </a:bodyPr>
          <a:lstStyle/>
          <a:p>
            <a:pPr marL="250825" marR="291465" indent="40005">
              <a:lnSpc>
                <a:spcPct val="100000"/>
              </a:lnSpc>
              <a:spcBef>
                <a:spcPts val="685"/>
              </a:spcBef>
            </a:pPr>
            <a:r>
              <a:rPr dirty="0" sz="2000" b="1">
                <a:latin typeface="Calibri"/>
                <a:cs typeface="Calibri"/>
              </a:rPr>
              <a:t>Input  </a:t>
            </a:r>
            <a:r>
              <a:rPr dirty="0" sz="2000" spc="-10" b="1">
                <a:latin typeface="Calibri"/>
                <a:cs typeface="Calibri"/>
              </a:rPr>
              <a:t>Graph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10628" y="3707080"/>
            <a:ext cx="217170" cy="85725"/>
          </a:xfrm>
          <a:custGeom>
            <a:avLst/>
            <a:gdLst/>
            <a:ahLst/>
            <a:cxnLst/>
            <a:rect l="l" t="t" r="r" b="b"/>
            <a:pathLst>
              <a:path w="217169" h="85725">
                <a:moveTo>
                  <a:pt x="131443" y="57149"/>
                </a:moveTo>
                <a:lnTo>
                  <a:pt x="131443" y="85725"/>
                </a:lnTo>
                <a:lnTo>
                  <a:pt x="188593" y="57150"/>
                </a:lnTo>
                <a:lnTo>
                  <a:pt x="131443" y="57149"/>
                </a:lnTo>
                <a:close/>
              </a:path>
              <a:path w="217169" h="85725">
                <a:moveTo>
                  <a:pt x="131443" y="28574"/>
                </a:moveTo>
                <a:lnTo>
                  <a:pt x="131443" y="57149"/>
                </a:lnTo>
                <a:lnTo>
                  <a:pt x="153623" y="57148"/>
                </a:lnTo>
                <a:lnTo>
                  <a:pt x="160018" y="50753"/>
                </a:lnTo>
                <a:lnTo>
                  <a:pt x="160018" y="34970"/>
                </a:lnTo>
                <a:lnTo>
                  <a:pt x="153621" y="28575"/>
                </a:lnTo>
                <a:lnTo>
                  <a:pt x="131443" y="28574"/>
                </a:lnTo>
                <a:close/>
              </a:path>
              <a:path w="217169" h="85725">
                <a:moveTo>
                  <a:pt x="131443" y="0"/>
                </a:moveTo>
                <a:lnTo>
                  <a:pt x="131443" y="28574"/>
                </a:lnTo>
                <a:lnTo>
                  <a:pt x="145731" y="28575"/>
                </a:lnTo>
                <a:lnTo>
                  <a:pt x="153621" y="28575"/>
                </a:lnTo>
                <a:lnTo>
                  <a:pt x="160018" y="34970"/>
                </a:lnTo>
                <a:lnTo>
                  <a:pt x="160018" y="50753"/>
                </a:lnTo>
                <a:lnTo>
                  <a:pt x="153621" y="57150"/>
                </a:lnTo>
                <a:lnTo>
                  <a:pt x="188596" y="57148"/>
                </a:lnTo>
                <a:lnTo>
                  <a:pt x="217168" y="42862"/>
                </a:lnTo>
                <a:lnTo>
                  <a:pt x="131443" y="0"/>
                </a:lnTo>
                <a:close/>
              </a:path>
              <a:path w="217169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31443" y="57149"/>
                </a:lnTo>
                <a:lnTo>
                  <a:pt x="13144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265030" y="3105139"/>
            <a:ext cx="2807335" cy="1233170"/>
          </a:xfrm>
          <a:custGeom>
            <a:avLst/>
            <a:gdLst/>
            <a:ahLst/>
            <a:cxnLst/>
            <a:rect l="l" t="t" r="r" b="b"/>
            <a:pathLst>
              <a:path w="2807334" h="1233170">
                <a:moveTo>
                  <a:pt x="0" y="0"/>
                </a:moveTo>
                <a:lnTo>
                  <a:pt x="2806780" y="0"/>
                </a:lnTo>
                <a:lnTo>
                  <a:pt x="2806780" y="1232786"/>
                </a:lnTo>
                <a:lnTo>
                  <a:pt x="0" y="123278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3147039" y="1255267"/>
            <a:ext cx="52546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</a:rPr>
              <a:t>(2) </a:t>
            </a:r>
            <a:r>
              <a:rPr dirty="0" sz="2400" spc="-10">
                <a:solidFill>
                  <a:srgbClr val="C00000"/>
                </a:solidFill>
              </a:rPr>
              <a:t>Where </a:t>
            </a:r>
            <a:r>
              <a:rPr dirty="0" sz="2400" spc="-5">
                <a:solidFill>
                  <a:srgbClr val="C00000"/>
                </a:solidFill>
              </a:rPr>
              <a:t>does </a:t>
            </a:r>
            <a:r>
              <a:rPr dirty="0" sz="2400" spc="-10">
                <a:solidFill>
                  <a:srgbClr val="C00000"/>
                </a:solidFill>
              </a:rPr>
              <a:t>ground-truth come</a:t>
            </a:r>
            <a:r>
              <a:rPr dirty="0" sz="2400" spc="5">
                <a:solidFill>
                  <a:srgbClr val="C00000"/>
                </a:solidFill>
              </a:rPr>
              <a:t> </a:t>
            </a:r>
            <a:r>
              <a:rPr dirty="0" sz="2400" spc="-10">
                <a:solidFill>
                  <a:srgbClr val="C00000"/>
                </a:solidFill>
              </a:rPr>
              <a:t>from?</a:t>
            </a:r>
            <a:endParaRPr sz="2400"/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6"/>
              </a:rPr>
              <a:t>http://cs224w.stanford.edu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39</a:t>
            </a:fld>
          </a:p>
        </p:txBody>
      </p:sp>
      <p:sp>
        <p:nvSpPr>
          <p:cNvPr id="36" name="object 36"/>
          <p:cNvSpPr txBox="1"/>
          <p:nvPr/>
        </p:nvSpPr>
        <p:spPr>
          <a:xfrm>
            <a:off x="3147039" y="1621027"/>
            <a:ext cx="25704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-	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Supervised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47039" y="1989835"/>
            <a:ext cx="3023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-	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Unsupervised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signals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76960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541401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E88651"/>
                </a:solidFill>
              </a:rPr>
              <a:t>Supervised learning </a:t>
            </a:r>
            <a:r>
              <a:rPr dirty="0">
                <a:solidFill>
                  <a:srgbClr val="E88651"/>
                </a:solidFill>
              </a:rPr>
              <a:t>on</a:t>
            </a:r>
            <a:r>
              <a:rPr dirty="0" spc="-40">
                <a:solidFill>
                  <a:srgbClr val="E88651"/>
                </a:solidFill>
              </a:rPr>
              <a:t> </a:t>
            </a:r>
            <a:r>
              <a:rPr dirty="0" spc="-20">
                <a:solidFill>
                  <a:srgbClr val="E88651"/>
                </a:solidFill>
              </a:rPr>
              <a:t>graphs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39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783757"/>
            <a:ext cx="8110220" cy="437197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48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Labels come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from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external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sources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ts val="2635"/>
              </a:lnSpc>
              <a:spcBef>
                <a:spcPts val="325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>
                <a:latin typeface="Calibri"/>
                <a:cs typeface="Calibri"/>
              </a:rPr>
              <a:t>E.g., </a:t>
            </a:r>
            <a:r>
              <a:rPr dirty="0" sz="2400" spc="-10">
                <a:latin typeface="Calibri"/>
                <a:cs typeface="Calibri"/>
              </a:rPr>
              <a:t>predict </a:t>
            </a:r>
            <a:r>
              <a:rPr dirty="0" sz="2400">
                <a:latin typeface="Calibri"/>
                <a:cs typeface="Calibri"/>
              </a:rPr>
              <a:t>drug </a:t>
            </a:r>
            <a:r>
              <a:rPr dirty="0" sz="2400" spc="-15">
                <a:latin typeface="Calibri"/>
                <a:cs typeface="Calibri"/>
              </a:rPr>
              <a:t>likeness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molecular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5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Unsupervised learning </a:t>
            </a: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on</a:t>
            </a:r>
            <a:r>
              <a:rPr dirty="0" sz="3200" spc="-20" b="1">
                <a:solidFill>
                  <a:srgbClr val="60B5CC"/>
                </a:solidFill>
                <a:latin typeface="Calibri"/>
                <a:cs typeface="Calibri"/>
              </a:rPr>
              <a:t> graphs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Signals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come from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themselves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ts val="2695"/>
              </a:lnSpc>
              <a:spcBef>
                <a:spcPts val="325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>
                <a:latin typeface="Calibri"/>
                <a:cs typeface="Calibri"/>
              </a:rPr>
              <a:t>E.g., </a:t>
            </a:r>
            <a:r>
              <a:rPr dirty="0" sz="2400" spc="-5">
                <a:latin typeface="Calibri"/>
                <a:cs typeface="Calibri"/>
              </a:rPr>
              <a:t>link </a:t>
            </a:r>
            <a:r>
              <a:rPr dirty="0" sz="2400" spc="-10">
                <a:latin typeface="Calibri"/>
                <a:cs typeface="Calibri"/>
              </a:rPr>
              <a:t>prediction: predict </a:t>
            </a:r>
            <a:r>
              <a:rPr dirty="0" sz="2400" spc="-5">
                <a:latin typeface="Calibri"/>
                <a:cs typeface="Calibri"/>
              </a:rPr>
              <a:t>if </a:t>
            </a:r>
            <a:r>
              <a:rPr dirty="0" sz="2400" spc="-15">
                <a:latin typeface="Calibri"/>
                <a:cs typeface="Calibri"/>
              </a:rPr>
              <a:t>two </a:t>
            </a:r>
            <a:r>
              <a:rPr dirty="0" sz="2400" spc="-5">
                <a:latin typeface="Calibri"/>
                <a:cs typeface="Calibri"/>
              </a:rPr>
              <a:t>nodes </a:t>
            </a:r>
            <a:r>
              <a:rPr dirty="0" sz="2400" spc="-15">
                <a:latin typeface="Calibri"/>
                <a:cs typeface="Calibri"/>
              </a:rPr>
              <a:t>are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connected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654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Sometimes the </a:t>
            </a:r>
            <a:r>
              <a:rPr dirty="0" sz="3200" spc="-15" b="1">
                <a:latin typeface="Calibri"/>
                <a:cs typeface="Calibri"/>
              </a:rPr>
              <a:t>differences are</a:t>
            </a:r>
            <a:r>
              <a:rPr dirty="0" sz="3200" spc="1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blurry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still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 spc="-5">
                <a:latin typeface="Calibri"/>
                <a:cs typeface="Calibri"/>
              </a:rPr>
              <a:t>“supervision” in </a:t>
            </a:r>
            <a:r>
              <a:rPr dirty="0" sz="2800">
                <a:latin typeface="Calibri"/>
                <a:cs typeface="Calibri"/>
              </a:rPr>
              <a:t>unsupervised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60">
                <a:latin typeface="Calibri"/>
                <a:cs typeface="Calibri"/>
              </a:rPr>
              <a:t>learning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225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400">
                <a:latin typeface="Calibri"/>
                <a:cs typeface="Calibri"/>
              </a:rPr>
              <a:t>E.g., </a:t>
            </a:r>
            <a:r>
              <a:rPr dirty="0" sz="2400" spc="-15">
                <a:solidFill>
                  <a:srgbClr val="E88651"/>
                </a:solidFill>
                <a:latin typeface="Calibri"/>
                <a:cs typeface="Calibri"/>
              </a:rPr>
              <a:t>train </a:t>
            </a:r>
            <a:r>
              <a:rPr dirty="0" sz="2400">
                <a:solidFill>
                  <a:srgbClr val="E88651"/>
                </a:solidFill>
                <a:latin typeface="Calibri"/>
                <a:cs typeface="Calibri"/>
              </a:rPr>
              <a:t>a </a:t>
            </a:r>
            <a:r>
              <a:rPr dirty="0" sz="2400" spc="-5">
                <a:solidFill>
                  <a:srgbClr val="E88651"/>
                </a:solidFill>
                <a:latin typeface="Calibri"/>
                <a:cs typeface="Calibri"/>
              </a:rPr>
              <a:t>GNN </a:t>
            </a:r>
            <a:r>
              <a:rPr dirty="0" sz="2400" spc="-15">
                <a:solidFill>
                  <a:srgbClr val="E88651"/>
                </a:solidFill>
                <a:latin typeface="Calibri"/>
                <a:cs typeface="Calibri"/>
              </a:rPr>
              <a:t>to </a:t>
            </a:r>
            <a:r>
              <a:rPr dirty="0" sz="2400" spc="-10">
                <a:solidFill>
                  <a:srgbClr val="E88651"/>
                </a:solidFill>
                <a:latin typeface="Calibri"/>
                <a:cs typeface="Calibri"/>
              </a:rPr>
              <a:t>predict </a:t>
            </a:r>
            <a:r>
              <a:rPr dirty="0" sz="2400" spc="-5">
                <a:solidFill>
                  <a:srgbClr val="60B5CC"/>
                </a:solidFill>
                <a:latin typeface="Calibri"/>
                <a:cs typeface="Calibri"/>
              </a:rPr>
              <a:t>node </a:t>
            </a:r>
            <a:r>
              <a:rPr dirty="0" sz="2400" spc="-10">
                <a:solidFill>
                  <a:srgbClr val="60B5CC"/>
                </a:solidFill>
                <a:latin typeface="Calibri"/>
                <a:cs typeface="Calibri"/>
              </a:rPr>
              <a:t>clustering</a:t>
            </a:r>
            <a:r>
              <a:rPr dirty="0" sz="2400" spc="5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60B5CC"/>
                </a:solidFill>
                <a:latin typeface="Calibri"/>
                <a:cs typeface="Calibri"/>
              </a:rPr>
              <a:t>coefficient</a:t>
            </a:r>
            <a:endParaRPr sz="2400">
              <a:latin typeface="Calibri"/>
              <a:cs typeface="Calibri"/>
            </a:endParaRPr>
          </a:p>
          <a:p>
            <a:pPr lvl="1" marL="625475" marR="544830" indent="-274320">
              <a:lnSpc>
                <a:spcPts val="3000"/>
              </a:lnSpc>
              <a:spcBef>
                <a:spcPts val="7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An </a:t>
            </a:r>
            <a:r>
              <a:rPr dirty="0" sz="2800" spc="-15">
                <a:latin typeface="Calibri"/>
                <a:cs typeface="Calibri"/>
              </a:rPr>
              <a:t>alternative </a:t>
            </a:r>
            <a:r>
              <a:rPr dirty="0" sz="2800" spc="-5">
                <a:latin typeface="Calibri"/>
                <a:cs typeface="Calibri"/>
              </a:rPr>
              <a:t>name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“</a:t>
            </a:r>
            <a:r>
              <a:rPr dirty="0" sz="2800" spc="-5" b="1">
                <a:solidFill>
                  <a:srgbClr val="60B5CC"/>
                </a:solidFill>
                <a:latin typeface="Calibri"/>
                <a:cs typeface="Calibri"/>
              </a:rPr>
              <a:t>unsupervised</a:t>
            </a:r>
            <a:r>
              <a:rPr dirty="0" sz="2800" spc="-5">
                <a:latin typeface="Calibri"/>
                <a:cs typeface="Calibri"/>
              </a:rPr>
              <a:t>” is </a:t>
            </a:r>
            <a:r>
              <a:rPr dirty="0" sz="2800" spc="-114">
                <a:latin typeface="Calibri"/>
                <a:cs typeface="Calibri"/>
              </a:rPr>
              <a:t>“</a:t>
            </a:r>
            <a:r>
              <a:rPr dirty="0" sz="2800" spc="-114" b="1">
                <a:solidFill>
                  <a:srgbClr val="C64847"/>
                </a:solidFill>
                <a:latin typeface="Calibri"/>
                <a:cs typeface="Calibri"/>
              </a:rPr>
              <a:t>self-  </a:t>
            </a:r>
            <a:r>
              <a:rPr dirty="0" sz="2800" spc="-5" b="1">
                <a:solidFill>
                  <a:srgbClr val="C64847"/>
                </a:solidFill>
                <a:latin typeface="Calibri"/>
                <a:cs typeface="Calibri"/>
              </a:rPr>
              <a:t>supervised</a:t>
            </a:r>
            <a:r>
              <a:rPr dirty="0" sz="2800" spc="-5">
                <a:latin typeface="Calibri"/>
                <a:cs typeface="Calibri"/>
              </a:rPr>
              <a:t>”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00735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407909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solidFill>
                  <a:srgbClr val="000000"/>
                </a:solidFill>
              </a:rPr>
              <a:t>Supervised </a:t>
            </a:r>
            <a:r>
              <a:rPr dirty="0" sz="3000" spc="-5">
                <a:solidFill>
                  <a:srgbClr val="000000"/>
                </a:solidFill>
              </a:rPr>
              <a:t>labels </a:t>
            </a:r>
            <a:r>
              <a:rPr dirty="0" sz="3000" spc="-10">
                <a:solidFill>
                  <a:srgbClr val="000000"/>
                </a:solidFill>
              </a:rPr>
              <a:t>come </a:t>
            </a:r>
            <a:r>
              <a:rPr dirty="0" sz="3000" spc="-15">
                <a:solidFill>
                  <a:srgbClr val="000000"/>
                </a:solidFill>
              </a:rPr>
              <a:t>from </a:t>
            </a:r>
            <a:r>
              <a:rPr dirty="0" sz="3000" spc="-5">
                <a:solidFill>
                  <a:srgbClr val="000000"/>
                </a:solidFill>
              </a:rPr>
              <a:t>the specific </a:t>
            </a:r>
            <a:r>
              <a:rPr dirty="0" sz="3000">
                <a:solidFill>
                  <a:srgbClr val="000000"/>
                </a:solidFill>
              </a:rPr>
              <a:t>use  </a:t>
            </a:r>
            <a:r>
              <a:rPr dirty="0" sz="3000" spc="-10">
                <a:solidFill>
                  <a:srgbClr val="000000"/>
                </a:solidFill>
              </a:rPr>
              <a:t>cases</a:t>
            </a:r>
            <a:r>
              <a:rPr dirty="0" sz="3000" spc="-10" b="0">
                <a:solidFill>
                  <a:srgbClr val="000000"/>
                </a:solidFill>
                <a:latin typeface="Calibri"/>
                <a:cs typeface="Calibri"/>
              </a:rPr>
              <a:t>.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dirty="0" sz="30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 spc="-20" b="0">
                <a:solidFill>
                  <a:srgbClr val="000000"/>
                </a:solidFill>
                <a:latin typeface="Calibri"/>
                <a:cs typeface="Calibri"/>
              </a:rPr>
              <a:t>example: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39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351532"/>
            <a:ext cx="7955915" cy="4347845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625475" marR="347345" indent="-274320">
              <a:lnSpc>
                <a:spcPts val="3100"/>
              </a:lnSpc>
              <a:spcBef>
                <a:spcPts val="219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b="1">
                <a:latin typeface="Calibri"/>
                <a:cs typeface="Calibri"/>
              </a:rPr>
              <a:t>Node </a:t>
            </a:r>
            <a:r>
              <a:rPr dirty="0" sz="2600" spc="-5" b="1">
                <a:latin typeface="Calibri"/>
                <a:cs typeface="Calibri"/>
              </a:rPr>
              <a:t>labels </a:t>
            </a:r>
            <a:r>
              <a:rPr dirty="0" sz="2600" spc="15">
                <a:latin typeface="Cambria Math"/>
                <a:cs typeface="Cambria Math"/>
              </a:rPr>
              <a:t>𝒚</a:t>
            </a:r>
            <a:r>
              <a:rPr dirty="0" baseline="-16081" sz="2850" spc="22">
                <a:latin typeface="Cambria Math"/>
                <a:cs typeface="Cambria Math"/>
              </a:rPr>
              <a:t>𝒗</a:t>
            </a:r>
            <a:r>
              <a:rPr dirty="0" sz="2600" spc="15" b="1">
                <a:latin typeface="Calibri"/>
                <a:cs typeface="Calibri"/>
              </a:rPr>
              <a:t>: </a:t>
            </a:r>
            <a:r>
              <a:rPr dirty="0" sz="2600">
                <a:solidFill>
                  <a:srgbClr val="60B5CC"/>
                </a:solidFill>
                <a:latin typeface="Calibri"/>
                <a:cs typeface="Calibri"/>
              </a:rPr>
              <a:t>in a </a:t>
            </a:r>
            <a:r>
              <a:rPr dirty="0" sz="2600" spc="-10">
                <a:solidFill>
                  <a:srgbClr val="60B5CC"/>
                </a:solidFill>
                <a:latin typeface="Calibri"/>
                <a:cs typeface="Calibri"/>
              </a:rPr>
              <a:t>citation network, </a:t>
            </a:r>
            <a:r>
              <a:rPr dirty="0" sz="2600" spc="-5">
                <a:solidFill>
                  <a:srgbClr val="60B5CC"/>
                </a:solidFill>
                <a:latin typeface="Calibri"/>
                <a:cs typeface="Calibri"/>
              </a:rPr>
              <a:t>which subject  </a:t>
            </a:r>
            <a:r>
              <a:rPr dirty="0" sz="2600" spc="-10">
                <a:solidFill>
                  <a:srgbClr val="60B5CC"/>
                </a:solidFill>
                <a:latin typeface="Calibri"/>
                <a:cs typeface="Calibri"/>
              </a:rPr>
              <a:t>area </a:t>
            </a:r>
            <a:r>
              <a:rPr dirty="0" sz="2600" spc="-5">
                <a:solidFill>
                  <a:srgbClr val="60B5CC"/>
                </a:solidFill>
                <a:latin typeface="Calibri"/>
                <a:cs typeface="Calibri"/>
              </a:rPr>
              <a:t>does </a:t>
            </a:r>
            <a:r>
              <a:rPr dirty="0" sz="2600">
                <a:solidFill>
                  <a:srgbClr val="60B5CC"/>
                </a:solidFill>
                <a:latin typeface="Calibri"/>
                <a:cs typeface="Calibri"/>
              </a:rPr>
              <a:t>a </a:t>
            </a:r>
            <a:r>
              <a:rPr dirty="0" sz="2600" spc="-5">
                <a:solidFill>
                  <a:srgbClr val="60B5CC"/>
                </a:solidFill>
                <a:latin typeface="Calibri"/>
                <a:cs typeface="Calibri"/>
              </a:rPr>
              <a:t>node belong</a:t>
            </a:r>
            <a:r>
              <a:rPr dirty="0" sz="2600" spc="-65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600" spc="-15">
                <a:solidFill>
                  <a:srgbClr val="60B5CC"/>
                </a:solidFill>
                <a:latin typeface="Calibri"/>
                <a:cs typeface="Calibri"/>
              </a:rPr>
              <a:t>to</a:t>
            </a:r>
            <a:endParaRPr sz="2600">
              <a:latin typeface="Calibri"/>
              <a:cs typeface="Calibri"/>
            </a:endParaRPr>
          </a:p>
          <a:p>
            <a:pPr marL="625475" marR="76835" indent="-274320">
              <a:lnSpc>
                <a:spcPct val="100000"/>
              </a:lnSpc>
              <a:spcBef>
                <a:spcPts val="47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20" b="1">
                <a:latin typeface="Calibri"/>
                <a:cs typeface="Calibri"/>
              </a:rPr>
              <a:t>Edge </a:t>
            </a:r>
            <a:r>
              <a:rPr dirty="0" sz="2600" spc="-5" b="1">
                <a:latin typeface="Calibri"/>
                <a:cs typeface="Calibri"/>
              </a:rPr>
              <a:t>labels </a:t>
            </a:r>
            <a:r>
              <a:rPr dirty="0" sz="2600" spc="10">
                <a:latin typeface="Cambria Math"/>
                <a:cs typeface="Cambria Math"/>
              </a:rPr>
              <a:t>𝒚</a:t>
            </a:r>
            <a:r>
              <a:rPr dirty="0" baseline="-16081" sz="2850" spc="15">
                <a:latin typeface="Cambria Math"/>
                <a:cs typeface="Cambria Math"/>
              </a:rPr>
              <a:t>𝒖𝒗</a:t>
            </a:r>
            <a:r>
              <a:rPr dirty="0" sz="2600" spc="10" b="1">
                <a:latin typeface="Calibri"/>
                <a:cs typeface="Calibri"/>
              </a:rPr>
              <a:t>: </a:t>
            </a:r>
            <a:r>
              <a:rPr dirty="0" sz="2600">
                <a:solidFill>
                  <a:srgbClr val="E88651"/>
                </a:solidFill>
                <a:latin typeface="Calibri"/>
                <a:cs typeface="Calibri"/>
              </a:rPr>
              <a:t>in a </a:t>
            </a:r>
            <a:r>
              <a:rPr dirty="0" sz="2600" spc="-10">
                <a:solidFill>
                  <a:srgbClr val="E88651"/>
                </a:solidFill>
                <a:latin typeface="Calibri"/>
                <a:cs typeface="Calibri"/>
              </a:rPr>
              <a:t>transaction network, whether </a:t>
            </a:r>
            <a:r>
              <a:rPr dirty="0" sz="2600">
                <a:solidFill>
                  <a:srgbClr val="E88651"/>
                </a:solidFill>
                <a:latin typeface="Calibri"/>
                <a:cs typeface="Calibri"/>
              </a:rPr>
              <a:t>an  </a:t>
            </a:r>
            <a:r>
              <a:rPr dirty="0" sz="2600" spc="-10">
                <a:solidFill>
                  <a:srgbClr val="E88651"/>
                </a:solidFill>
                <a:latin typeface="Calibri"/>
                <a:cs typeface="Calibri"/>
              </a:rPr>
              <a:t>edge </a:t>
            </a:r>
            <a:r>
              <a:rPr dirty="0" sz="2600">
                <a:solidFill>
                  <a:srgbClr val="E88651"/>
                </a:solidFill>
                <a:latin typeface="Calibri"/>
                <a:cs typeface="Calibri"/>
              </a:rPr>
              <a:t>is</a:t>
            </a:r>
            <a:r>
              <a:rPr dirty="0" sz="2600" spc="-70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600" spc="-15">
                <a:solidFill>
                  <a:srgbClr val="E88651"/>
                </a:solidFill>
                <a:latin typeface="Calibri"/>
                <a:cs typeface="Calibri"/>
              </a:rPr>
              <a:t>fraudulent</a:t>
            </a:r>
            <a:endParaRPr sz="2600">
              <a:latin typeface="Calibri"/>
              <a:cs typeface="Calibri"/>
            </a:endParaRPr>
          </a:p>
          <a:p>
            <a:pPr marL="625475" marR="373380" indent="-274320">
              <a:lnSpc>
                <a:spcPts val="3100"/>
              </a:lnSpc>
              <a:spcBef>
                <a:spcPts val="79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15" b="1">
                <a:latin typeface="Calibri"/>
                <a:cs typeface="Calibri"/>
              </a:rPr>
              <a:t>Graph </a:t>
            </a:r>
            <a:r>
              <a:rPr dirty="0" sz="2600" spc="-5" b="1">
                <a:latin typeface="Calibri"/>
                <a:cs typeface="Calibri"/>
              </a:rPr>
              <a:t>labels </a:t>
            </a:r>
            <a:r>
              <a:rPr dirty="0" sz="2600" spc="185">
                <a:latin typeface="Cambria Math"/>
                <a:cs typeface="Cambria Math"/>
              </a:rPr>
              <a:t>𝒚</a:t>
            </a:r>
            <a:r>
              <a:rPr dirty="0" baseline="-16081" sz="2850" spc="277">
                <a:latin typeface="Cambria Math"/>
                <a:cs typeface="Cambria Math"/>
              </a:rPr>
              <a:t>)</a:t>
            </a:r>
            <a:r>
              <a:rPr dirty="0" sz="2600" spc="185" b="1">
                <a:latin typeface="Calibri"/>
                <a:cs typeface="Calibri"/>
              </a:rPr>
              <a:t>: </a:t>
            </a:r>
            <a:r>
              <a:rPr dirty="0" sz="2600" spc="-5">
                <a:solidFill>
                  <a:srgbClr val="6BB76D"/>
                </a:solidFill>
                <a:latin typeface="Calibri"/>
                <a:cs typeface="Calibri"/>
              </a:rPr>
              <a:t>among molecular </a:t>
            </a:r>
            <a:r>
              <a:rPr dirty="0" sz="2600" spc="-10">
                <a:solidFill>
                  <a:srgbClr val="6BB76D"/>
                </a:solidFill>
                <a:latin typeface="Calibri"/>
                <a:cs typeface="Calibri"/>
              </a:rPr>
              <a:t>graphs</a:t>
            </a:r>
            <a:r>
              <a:rPr dirty="0" sz="2600" spc="-10" b="1">
                <a:solidFill>
                  <a:srgbClr val="6BB76D"/>
                </a:solidFill>
                <a:latin typeface="Calibri"/>
                <a:cs typeface="Calibri"/>
              </a:rPr>
              <a:t>, </a:t>
            </a:r>
            <a:r>
              <a:rPr dirty="0" sz="2600" spc="-5">
                <a:solidFill>
                  <a:srgbClr val="6BB76D"/>
                </a:solidFill>
                <a:latin typeface="Calibri"/>
                <a:cs typeface="Calibri"/>
              </a:rPr>
              <a:t>the drug  </a:t>
            </a:r>
            <a:r>
              <a:rPr dirty="0" sz="2600" spc="-15">
                <a:solidFill>
                  <a:srgbClr val="6BB76D"/>
                </a:solidFill>
                <a:latin typeface="Calibri"/>
                <a:cs typeface="Calibri"/>
              </a:rPr>
              <a:t>likeness </a:t>
            </a:r>
            <a:r>
              <a:rPr dirty="0" sz="2600">
                <a:solidFill>
                  <a:srgbClr val="6BB76D"/>
                </a:solidFill>
                <a:latin typeface="Calibri"/>
                <a:cs typeface="Calibri"/>
              </a:rPr>
              <a:t>of</a:t>
            </a:r>
            <a:r>
              <a:rPr dirty="0" sz="2600" spc="-90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6BB76D"/>
                </a:solidFill>
                <a:latin typeface="Calibri"/>
                <a:cs typeface="Calibri"/>
              </a:rPr>
              <a:t>graphs</a:t>
            </a:r>
            <a:endParaRPr sz="2600">
              <a:latin typeface="Calibri"/>
              <a:cs typeface="Calibri"/>
            </a:endParaRPr>
          </a:p>
          <a:p>
            <a:pPr marL="332740" marR="158750" indent="-320040">
              <a:lnSpc>
                <a:spcPts val="36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Advice: </a:t>
            </a:r>
            <a:r>
              <a:rPr dirty="0" sz="3000" spc="-15">
                <a:solidFill>
                  <a:srgbClr val="C00000"/>
                </a:solidFill>
                <a:latin typeface="Calibri"/>
                <a:cs typeface="Calibri"/>
              </a:rPr>
              <a:t>Reduce </a:t>
            </a:r>
            <a:r>
              <a:rPr dirty="0" sz="3000" spc="-10">
                <a:solidFill>
                  <a:srgbClr val="C00000"/>
                </a:solidFill>
                <a:latin typeface="Calibri"/>
                <a:cs typeface="Calibri"/>
              </a:rPr>
              <a:t>your </a:t>
            </a:r>
            <a:r>
              <a:rPr dirty="0" sz="3000" spc="-15">
                <a:solidFill>
                  <a:srgbClr val="C00000"/>
                </a:solidFill>
                <a:latin typeface="Calibri"/>
                <a:cs typeface="Calibri"/>
              </a:rPr>
              <a:t>task </a:t>
            </a:r>
            <a:r>
              <a:rPr dirty="0" sz="3000" spc="-2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3000" spc="-5">
                <a:solidFill>
                  <a:srgbClr val="C00000"/>
                </a:solidFill>
                <a:latin typeface="Calibri"/>
                <a:cs typeface="Calibri"/>
              </a:rPr>
              <a:t>node </a:t>
            </a:r>
            <a:r>
              <a:rPr dirty="0" sz="3000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3000" spc="-15">
                <a:solidFill>
                  <a:srgbClr val="C00000"/>
                </a:solidFill>
                <a:latin typeface="Calibri"/>
                <a:cs typeface="Calibri"/>
              </a:rPr>
              <a:t>edge </a:t>
            </a:r>
            <a:r>
              <a:rPr dirty="0" sz="3000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3000" spc="-15">
                <a:solidFill>
                  <a:srgbClr val="C00000"/>
                </a:solidFill>
                <a:latin typeface="Calibri"/>
                <a:cs typeface="Calibri"/>
              </a:rPr>
              <a:t>graph  </a:t>
            </a:r>
            <a:r>
              <a:rPr dirty="0" sz="3000" spc="-5">
                <a:solidFill>
                  <a:srgbClr val="C00000"/>
                </a:solidFill>
                <a:latin typeface="Calibri"/>
                <a:cs typeface="Calibri"/>
              </a:rPr>
              <a:t>labels, since </a:t>
            </a:r>
            <a:r>
              <a:rPr dirty="0" sz="3000" spc="-10">
                <a:solidFill>
                  <a:srgbClr val="C00000"/>
                </a:solidFill>
                <a:latin typeface="Calibri"/>
                <a:cs typeface="Calibri"/>
              </a:rPr>
              <a:t>they </a:t>
            </a:r>
            <a:r>
              <a:rPr dirty="0" sz="3000" spc="-15">
                <a:solidFill>
                  <a:srgbClr val="C00000"/>
                </a:solidFill>
                <a:latin typeface="Calibri"/>
                <a:cs typeface="Calibri"/>
              </a:rPr>
              <a:t>are </a:t>
            </a:r>
            <a:r>
              <a:rPr dirty="0" sz="3000" spc="-20">
                <a:solidFill>
                  <a:srgbClr val="C00000"/>
                </a:solidFill>
                <a:latin typeface="Calibri"/>
                <a:cs typeface="Calibri"/>
              </a:rPr>
              <a:t>easy to </a:t>
            </a:r>
            <a:r>
              <a:rPr dirty="0" sz="3000" spc="-10">
                <a:solidFill>
                  <a:srgbClr val="C00000"/>
                </a:solidFill>
                <a:latin typeface="Calibri"/>
                <a:cs typeface="Calibri"/>
              </a:rPr>
              <a:t>work</a:t>
            </a:r>
            <a:r>
              <a:rPr dirty="0" sz="300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5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endParaRPr sz="30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000"/>
              </a:lnSpc>
              <a:spcBef>
                <a:spcPts val="56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b="1">
                <a:latin typeface="Calibri"/>
                <a:cs typeface="Calibri"/>
              </a:rPr>
              <a:t>E.g., </a:t>
            </a:r>
            <a:r>
              <a:rPr dirty="0" sz="2600" spc="-10">
                <a:latin typeface="Calibri"/>
                <a:cs typeface="Calibri"/>
              </a:rPr>
              <a:t>we knew </a:t>
            </a:r>
            <a:r>
              <a:rPr dirty="0" sz="2600" spc="-5">
                <a:latin typeface="Calibri"/>
                <a:cs typeface="Calibri"/>
              </a:rPr>
              <a:t>some nodes </a:t>
            </a:r>
            <a:r>
              <a:rPr dirty="0" sz="2600" spc="-20">
                <a:latin typeface="Calibri"/>
                <a:cs typeface="Calibri"/>
              </a:rPr>
              <a:t>form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45">
                <a:latin typeface="Calibri"/>
                <a:cs typeface="Calibri"/>
              </a:rPr>
              <a:t>cluster. </a:t>
            </a:r>
            <a:r>
              <a:rPr dirty="0" sz="2600" spc="-50">
                <a:latin typeface="Calibri"/>
                <a:cs typeface="Calibri"/>
              </a:rPr>
              <a:t>We </a:t>
            </a:r>
            <a:r>
              <a:rPr dirty="0" sz="2600" spc="-10">
                <a:latin typeface="Calibri"/>
                <a:cs typeface="Calibri"/>
              </a:rPr>
              <a:t>can </a:t>
            </a:r>
            <a:r>
              <a:rPr dirty="0" sz="2600" spc="-15">
                <a:latin typeface="Calibri"/>
                <a:cs typeface="Calibri"/>
              </a:rPr>
              <a:t>treat 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5">
                <a:latin typeface="Calibri"/>
                <a:cs typeface="Calibri"/>
              </a:rPr>
              <a:t>cluster </a:t>
            </a:r>
            <a:r>
              <a:rPr dirty="0" sz="2600" spc="-10">
                <a:latin typeface="Calibri"/>
                <a:cs typeface="Calibri"/>
              </a:rPr>
              <a:t>that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5">
                <a:latin typeface="Calibri"/>
                <a:cs typeface="Calibri"/>
              </a:rPr>
              <a:t>node belongs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>
                <a:latin typeface="Calibri"/>
                <a:cs typeface="Calibri"/>
              </a:rPr>
              <a:t>as a </a:t>
            </a:r>
            <a:r>
              <a:rPr dirty="0" sz="2600" b="1">
                <a:solidFill>
                  <a:srgbClr val="60B5CC"/>
                </a:solidFill>
                <a:latin typeface="Calibri"/>
                <a:cs typeface="Calibri"/>
              </a:rPr>
              <a:t>node</a:t>
            </a:r>
            <a:r>
              <a:rPr dirty="0" sz="2600" spc="3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60B5CC"/>
                </a:solidFill>
                <a:latin typeface="Calibri"/>
                <a:cs typeface="Calibri"/>
              </a:rPr>
              <a:t>label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93735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8466" y="1296924"/>
            <a:ext cx="8275320" cy="139128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332740" marR="5080" indent="-320040">
              <a:lnSpc>
                <a:spcPts val="35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The </a:t>
            </a:r>
            <a:r>
              <a:rPr dirty="0" spc="-10">
                <a:solidFill>
                  <a:srgbClr val="000000"/>
                </a:solidFill>
              </a:rPr>
              <a:t>problem: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sometimes </a:t>
            </a:r>
            <a:r>
              <a:rPr dirty="0" spc="-15">
                <a:solidFill>
                  <a:srgbClr val="60B5CC"/>
                </a:solidFill>
              </a:rPr>
              <a:t>we </a:t>
            </a:r>
            <a:r>
              <a:rPr dirty="0" spc="-5">
                <a:solidFill>
                  <a:srgbClr val="60B5CC"/>
                </a:solidFill>
              </a:rPr>
              <a:t>only </a:t>
            </a:r>
            <a:r>
              <a:rPr dirty="0" spc="-25">
                <a:solidFill>
                  <a:srgbClr val="60B5CC"/>
                </a:solidFill>
              </a:rPr>
              <a:t>have </a:t>
            </a:r>
            <a:r>
              <a:rPr dirty="0">
                <a:solidFill>
                  <a:srgbClr val="60B5CC"/>
                </a:solidFill>
              </a:rPr>
              <a:t>a </a:t>
            </a:r>
            <a:r>
              <a:rPr dirty="0" spc="-20">
                <a:solidFill>
                  <a:srgbClr val="60B5CC"/>
                </a:solidFill>
              </a:rPr>
              <a:t>graph,  </a:t>
            </a:r>
            <a:r>
              <a:rPr dirty="0" spc="-5">
                <a:solidFill>
                  <a:srgbClr val="60B5CC"/>
                </a:solidFill>
              </a:rPr>
              <a:t>without </a:t>
            </a:r>
            <a:r>
              <a:rPr dirty="0" spc="-25">
                <a:solidFill>
                  <a:srgbClr val="60B5CC"/>
                </a:solidFill>
              </a:rPr>
              <a:t>any </a:t>
            </a:r>
            <a:r>
              <a:rPr dirty="0" spc="-15">
                <a:solidFill>
                  <a:srgbClr val="60B5CC"/>
                </a:solidFill>
              </a:rPr>
              <a:t>external </a:t>
            </a:r>
            <a:r>
              <a:rPr dirty="0" spc="-5">
                <a:solidFill>
                  <a:srgbClr val="60B5CC"/>
                </a:solidFill>
              </a:rPr>
              <a:t>labels</a:t>
            </a:r>
          </a:p>
          <a:p>
            <a:pPr marL="332740" indent="-320040">
              <a:lnSpc>
                <a:spcPts val="33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The solution: </a:t>
            </a:r>
            <a:r>
              <a:rPr dirty="0" spc="-15" b="0">
                <a:solidFill>
                  <a:srgbClr val="C00000"/>
                </a:solidFill>
                <a:latin typeface="Calibri"/>
                <a:cs typeface="Calibri"/>
              </a:rPr>
              <a:t>“self-supervised </a:t>
            </a:r>
            <a:r>
              <a:rPr dirty="0" spc="-20" b="0">
                <a:solidFill>
                  <a:srgbClr val="C00000"/>
                </a:solidFill>
                <a:latin typeface="Calibri"/>
                <a:cs typeface="Calibri"/>
              </a:rPr>
              <a:t>learning”, </a:t>
            </a:r>
            <a:r>
              <a:rPr dirty="0" spc="-15" b="0">
                <a:solidFill>
                  <a:srgbClr val="C00000"/>
                </a:solidFill>
                <a:latin typeface="Calibri"/>
                <a:cs typeface="Calibri"/>
              </a:rPr>
              <a:t>we</a:t>
            </a:r>
            <a:r>
              <a:rPr dirty="0" spc="75" b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C00000"/>
                </a:solidFill>
                <a:latin typeface="Calibri"/>
                <a:cs typeface="Calibri"/>
              </a:rPr>
              <a:t>can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506" y="2568665"/>
            <a:ext cx="7980045" cy="4059554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find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supervision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signals within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3200" spc="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graph.</a:t>
            </a:r>
            <a:endParaRPr sz="3200">
              <a:latin typeface="Calibri"/>
              <a:cs typeface="Calibri"/>
            </a:endParaRPr>
          </a:p>
          <a:p>
            <a:pPr marL="305435" indent="-274320">
              <a:lnSpc>
                <a:spcPct val="100000"/>
              </a:lnSpc>
              <a:spcBef>
                <a:spcPts val="350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20">
                <a:latin typeface="Calibri"/>
                <a:cs typeface="Calibri"/>
              </a:rPr>
              <a:t>example,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10" b="1">
                <a:latin typeface="Calibri"/>
                <a:cs typeface="Calibri"/>
              </a:rPr>
              <a:t>let </a:t>
            </a:r>
            <a:r>
              <a:rPr dirty="0" sz="2800" b="1">
                <a:latin typeface="Calibri"/>
                <a:cs typeface="Calibri"/>
              </a:rPr>
              <a:t>GNN </a:t>
            </a:r>
            <a:r>
              <a:rPr dirty="0" sz="2800" spc="-10" b="1">
                <a:latin typeface="Calibri"/>
                <a:cs typeface="Calibri"/>
              </a:rPr>
              <a:t>predict </a:t>
            </a:r>
            <a:r>
              <a:rPr dirty="0" sz="2800" spc="-5" b="1">
                <a:latin typeface="Calibri"/>
                <a:cs typeface="Calibri"/>
              </a:rPr>
              <a:t>the</a:t>
            </a:r>
            <a:r>
              <a:rPr dirty="0" sz="2800" spc="10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following:</a:t>
            </a:r>
            <a:endParaRPr sz="2800">
              <a:latin typeface="Calibri"/>
              <a:cs typeface="Calibri"/>
            </a:endParaRPr>
          </a:p>
          <a:p>
            <a:pPr marL="305435" marR="603250" indent="-274320">
              <a:lnSpc>
                <a:spcPts val="3000"/>
              </a:lnSpc>
              <a:spcBef>
                <a:spcPts val="735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10" b="1">
                <a:latin typeface="Calibri"/>
                <a:cs typeface="Calibri"/>
              </a:rPr>
              <a:t>Node-level </a:t>
            </a:r>
            <a:r>
              <a:rPr dirty="0" sz="2800" spc="125">
                <a:latin typeface="Cambria Math"/>
                <a:cs typeface="Cambria Math"/>
              </a:rPr>
              <a:t>𝒚</a:t>
            </a:r>
            <a:r>
              <a:rPr dirty="0" baseline="-16666" sz="3000" spc="187">
                <a:latin typeface="Cambria Math"/>
                <a:cs typeface="Cambria Math"/>
              </a:rPr>
              <a:t>*</a:t>
            </a:r>
            <a:r>
              <a:rPr dirty="0" sz="2800" spc="125" b="1">
                <a:latin typeface="Calibri"/>
                <a:cs typeface="Calibri"/>
              </a:rPr>
              <a:t>.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Node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statistics: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such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as </a:t>
            </a:r>
            <a:r>
              <a:rPr dirty="0" sz="2800" spc="-65">
                <a:solidFill>
                  <a:srgbClr val="C00000"/>
                </a:solidFill>
                <a:latin typeface="Calibri"/>
                <a:cs typeface="Calibri"/>
              </a:rPr>
              <a:t>clustering 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coefficient, PageRank,</a:t>
            </a:r>
            <a:r>
              <a:rPr dirty="0" sz="2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  <a:p>
            <a:pPr marL="305435" marR="139700" indent="-274320">
              <a:lnSpc>
                <a:spcPts val="3000"/>
              </a:lnSpc>
              <a:spcBef>
                <a:spcPts val="695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15" b="1">
                <a:latin typeface="Calibri"/>
                <a:cs typeface="Calibri"/>
              </a:rPr>
              <a:t>Edge-level </a:t>
            </a:r>
            <a:r>
              <a:rPr dirty="0" sz="2800" spc="325">
                <a:latin typeface="Cambria Math"/>
                <a:cs typeface="Cambria Math"/>
              </a:rPr>
              <a:t>𝒚</a:t>
            </a:r>
            <a:r>
              <a:rPr dirty="0" baseline="-16666" sz="3000" spc="487">
                <a:latin typeface="Cambria Math"/>
                <a:cs typeface="Cambria Math"/>
              </a:rPr>
              <a:t>.*</a:t>
            </a:r>
            <a:r>
              <a:rPr dirty="0" sz="2800" spc="325" b="1">
                <a:latin typeface="Calibri"/>
                <a:cs typeface="Calibri"/>
              </a:rPr>
              <a:t>. </a:t>
            </a:r>
            <a:r>
              <a:rPr dirty="0" sz="2800" spc="-5">
                <a:solidFill>
                  <a:srgbClr val="E88651"/>
                </a:solidFill>
                <a:latin typeface="Calibri"/>
                <a:cs typeface="Calibri"/>
              </a:rPr>
              <a:t>Link </a:t>
            </a:r>
            <a:r>
              <a:rPr dirty="0" sz="2800" spc="-10">
                <a:solidFill>
                  <a:srgbClr val="E88651"/>
                </a:solidFill>
                <a:latin typeface="Calibri"/>
                <a:cs typeface="Calibri"/>
              </a:rPr>
              <a:t>prediction: </a:t>
            </a:r>
            <a:r>
              <a:rPr dirty="0" sz="2800" spc="-5">
                <a:solidFill>
                  <a:srgbClr val="E88651"/>
                </a:solidFill>
                <a:latin typeface="Calibri"/>
                <a:cs typeface="Calibri"/>
              </a:rPr>
              <a:t>hide the </a:t>
            </a:r>
            <a:r>
              <a:rPr dirty="0" sz="2800" spc="-10">
                <a:solidFill>
                  <a:srgbClr val="E88651"/>
                </a:solidFill>
                <a:latin typeface="Calibri"/>
                <a:cs typeface="Calibri"/>
              </a:rPr>
              <a:t>edge  </a:t>
            </a:r>
            <a:r>
              <a:rPr dirty="0" sz="2800" spc="-15">
                <a:solidFill>
                  <a:srgbClr val="E88651"/>
                </a:solidFill>
                <a:latin typeface="Calibri"/>
                <a:cs typeface="Calibri"/>
              </a:rPr>
              <a:t>between two </a:t>
            </a:r>
            <a:r>
              <a:rPr dirty="0" sz="2800" spc="-5">
                <a:solidFill>
                  <a:srgbClr val="E88651"/>
                </a:solidFill>
                <a:latin typeface="Calibri"/>
                <a:cs typeface="Calibri"/>
              </a:rPr>
              <a:t>nodes, </a:t>
            </a:r>
            <a:r>
              <a:rPr dirty="0" sz="2800" spc="-10">
                <a:solidFill>
                  <a:srgbClr val="E88651"/>
                </a:solidFill>
                <a:latin typeface="Calibri"/>
                <a:cs typeface="Calibri"/>
              </a:rPr>
              <a:t>predict </a:t>
            </a:r>
            <a:r>
              <a:rPr dirty="0" sz="2800" spc="-5">
                <a:solidFill>
                  <a:srgbClr val="E88651"/>
                </a:solidFill>
                <a:latin typeface="Calibri"/>
                <a:cs typeface="Calibri"/>
              </a:rPr>
              <a:t>if </a:t>
            </a:r>
            <a:r>
              <a:rPr dirty="0" sz="2800" spc="-15">
                <a:solidFill>
                  <a:srgbClr val="E88651"/>
                </a:solidFill>
                <a:latin typeface="Calibri"/>
                <a:cs typeface="Calibri"/>
              </a:rPr>
              <a:t>there </a:t>
            </a:r>
            <a:r>
              <a:rPr dirty="0" sz="2800" spc="-5">
                <a:solidFill>
                  <a:srgbClr val="E88651"/>
                </a:solidFill>
                <a:latin typeface="Calibri"/>
                <a:cs typeface="Calibri"/>
              </a:rPr>
              <a:t>should </a:t>
            </a:r>
            <a:r>
              <a:rPr dirty="0" sz="2800">
                <a:solidFill>
                  <a:srgbClr val="E88651"/>
                </a:solidFill>
                <a:latin typeface="Calibri"/>
                <a:cs typeface="Calibri"/>
              </a:rPr>
              <a:t>be a</a:t>
            </a:r>
            <a:r>
              <a:rPr dirty="0" sz="2800" spc="75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E88651"/>
                </a:solidFill>
                <a:latin typeface="Calibri"/>
                <a:cs typeface="Calibri"/>
              </a:rPr>
              <a:t>link</a:t>
            </a:r>
            <a:endParaRPr sz="2800">
              <a:latin typeface="Calibri"/>
              <a:cs typeface="Calibri"/>
            </a:endParaRPr>
          </a:p>
          <a:p>
            <a:pPr marL="305435" marR="5080" indent="-274320">
              <a:lnSpc>
                <a:spcPts val="3000"/>
              </a:lnSpc>
              <a:spcBef>
                <a:spcPts val="695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15" b="1">
                <a:latin typeface="Calibri"/>
                <a:cs typeface="Calibri"/>
              </a:rPr>
              <a:t>Graph-level </a:t>
            </a:r>
            <a:r>
              <a:rPr dirty="0" sz="2800" spc="114">
                <a:latin typeface="Cambria Math"/>
                <a:cs typeface="Cambria Math"/>
              </a:rPr>
              <a:t>𝒚</a:t>
            </a:r>
            <a:r>
              <a:rPr dirty="0" baseline="-16666" sz="3000" spc="172">
                <a:latin typeface="Cambria Math"/>
                <a:cs typeface="Cambria Math"/>
              </a:rPr>
              <a:t>0</a:t>
            </a:r>
            <a:r>
              <a:rPr dirty="0" sz="2800" spc="114" b="1">
                <a:latin typeface="Calibri"/>
                <a:cs typeface="Calibri"/>
              </a:rPr>
              <a:t>. </a:t>
            </a:r>
            <a:r>
              <a:rPr dirty="0" sz="2800" spc="-15">
                <a:solidFill>
                  <a:srgbClr val="60B5CC"/>
                </a:solidFill>
                <a:latin typeface="Calibri"/>
                <a:cs typeface="Calibri"/>
              </a:rPr>
              <a:t>Graph statistics: </a:t>
            </a:r>
            <a:r>
              <a:rPr dirty="0" sz="2800" spc="-25">
                <a:solidFill>
                  <a:srgbClr val="60B5CC"/>
                </a:solidFill>
                <a:latin typeface="Calibri"/>
                <a:cs typeface="Calibri"/>
              </a:rPr>
              <a:t>for </a:t>
            </a:r>
            <a:r>
              <a:rPr dirty="0" sz="2800" spc="-20">
                <a:solidFill>
                  <a:srgbClr val="60B5CC"/>
                </a:solidFill>
                <a:latin typeface="Calibri"/>
                <a:cs typeface="Calibri"/>
              </a:rPr>
              <a:t>example, </a:t>
            </a:r>
            <a:r>
              <a:rPr dirty="0" sz="2800" spc="-70">
                <a:solidFill>
                  <a:srgbClr val="60B5CC"/>
                </a:solidFill>
                <a:latin typeface="Calibri"/>
                <a:cs typeface="Calibri"/>
              </a:rPr>
              <a:t>predict  </a:t>
            </a:r>
            <a:r>
              <a:rPr dirty="0" sz="2800" spc="-5">
                <a:solidFill>
                  <a:srgbClr val="60B5CC"/>
                </a:solidFill>
                <a:latin typeface="Calibri"/>
                <a:cs typeface="Calibri"/>
              </a:rPr>
              <a:t>if </a:t>
            </a:r>
            <a:r>
              <a:rPr dirty="0" sz="2800" spc="-15">
                <a:solidFill>
                  <a:srgbClr val="60B5CC"/>
                </a:solidFill>
                <a:latin typeface="Calibri"/>
                <a:cs typeface="Calibri"/>
              </a:rPr>
              <a:t>two graphs </a:t>
            </a:r>
            <a:r>
              <a:rPr dirty="0" sz="2800" spc="-20">
                <a:solidFill>
                  <a:srgbClr val="60B5CC"/>
                </a:solidFill>
                <a:latin typeface="Calibri"/>
                <a:cs typeface="Calibri"/>
              </a:rPr>
              <a:t>are</a:t>
            </a:r>
            <a:r>
              <a:rPr dirty="0" sz="2800" spc="-30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60B5CC"/>
                </a:solidFill>
                <a:latin typeface="Calibri"/>
                <a:cs typeface="Calibri"/>
              </a:rPr>
              <a:t>isomorphic</a:t>
            </a:r>
            <a:endParaRPr sz="2800">
              <a:latin typeface="Calibri"/>
              <a:cs typeface="Calibri"/>
            </a:endParaRPr>
          </a:p>
          <a:p>
            <a:pPr marL="305435" indent="-274320">
              <a:lnSpc>
                <a:spcPct val="100000"/>
              </a:lnSpc>
              <a:spcBef>
                <a:spcPts val="315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These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tasks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do not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require 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any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external</a:t>
            </a:r>
            <a:r>
              <a:rPr dirty="0" sz="2800" spc="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labels!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12038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2185" y="3566053"/>
            <a:ext cx="1145986" cy="1063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33760" y="374035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33761" y="374035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44492" y="3408503"/>
            <a:ext cx="130492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375920" marR="93345" indent="-275590">
              <a:lnSpc>
                <a:spcPct val="100000"/>
              </a:lnSpc>
              <a:spcBef>
                <a:spcPts val="7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Prediction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head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5045" y="340379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383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290"/>
              </a:spcBef>
            </a:pPr>
            <a:r>
              <a:rPr dirty="0" sz="2000" spc="-5" b="1">
                <a:latin typeface="Calibri"/>
                <a:cs typeface="Calibri"/>
              </a:rPr>
              <a:t>Predictions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9740" y="3408503"/>
            <a:ext cx="84645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192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27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4602" y="459234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48285" marR="241300" indent="217170">
              <a:lnSpc>
                <a:spcPct val="100000"/>
              </a:lnSpc>
              <a:spcBef>
                <a:spcPts val="9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Loss  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024602" y="2129477"/>
            <a:ext cx="1405890" cy="682625"/>
          </a:xfrm>
          <a:prstGeom prst="rect"/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99085" marR="130810" indent="-161290">
              <a:lnSpc>
                <a:spcPct val="100000"/>
              </a:lnSpc>
              <a:spcBef>
                <a:spcPts val="90"/>
              </a:spcBef>
            </a:pPr>
            <a:r>
              <a:rPr dirty="0" sz="2000" spc="-15">
                <a:solidFill>
                  <a:srgbClr val="C00000"/>
                </a:solidFill>
              </a:rPr>
              <a:t>Evaluation  </a:t>
            </a:r>
            <a:r>
              <a:rPr dirty="0" sz="2000" spc="-5">
                <a:solidFill>
                  <a:srgbClr val="C00000"/>
                </a:solidFill>
              </a:rPr>
              <a:t>metrics</a:t>
            </a:r>
            <a:endParaRPr sz="2000"/>
          </a:p>
        </p:txBody>
      </p:sp>
      <p:sp>
        <p:nvSpPr>
          <p:cNvPr id="11" name="object 11"/>
          <p:cNvSpPr/>
          <p:nvPr/>
        </p:nvSpPr>
        <p:spPr>
          <a:xfrm>
            <a:off x="1760268" y="3638903"/>
            <a:ext cx="956356" cy="11017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27797" y="256629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40970" marR="129539">
              <a:lnSpc>
                <a:spcPct val="100000"/>
              </a:lnSpc>
              <a:spcBef>
                <a:spcPts val="610"/>
              </a:spcBef>
            </a:pPr>
            <a:r>
              <a:rPr dirty="0" sz="2000" spc="-10" b="1">
                <a:latin typeface="Calibri"/>
                <a:cs typeface="Calibri"/>
              </a:rPr>
              <a:t>Graph  Neural  Network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1717" y="374136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51717" y="374136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18217" y="2566291"/>
            <a:ext cx="140589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9060" rIns="0" bIns="0" rtlCol="0" vert="horz">
            <a:spAutoFit/>
          </a:bodyPr>
          <a:lstStyle/>
          <a:p>
            <a:pPr marL="55244" marR="24130" indent="362585">
              <a:lnSpc>
                <a:spcPct val="100000"/>
              </a:lnSpc>
              <a:spcBef>
                <a:spcPts val="780"/>
              </a:spcBef>
            </a:pPr>
            <a:r>
              <a:rPr dirty="0" sz="2000" spc="-5" b="1">
                <a:latin typeface="Calibri"/>
                <a:cs typeface="Calibri"/>
              </a:rPr>
              <a:t>Node  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03065" y="434158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03064" y="434158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31728" y="437467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31728" y="4374669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41554" y="4395882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41553" y="4395882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73933" y="342399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73932" y="3423989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34808" y="3707080"/>
            <a:ext cx="283845" cy="85725"/>
          </a:xfrm>
          <a:custGeom>
            <a:avLst/>
            <a:gdLst/>
            <a:ahLst/>
            <a:cxnLst/>
            <a:rect l="l" t="t" r="r" b="b"/>
            <a:pathLst>
              <a:path w="283844" h="85725">
                <a:moveTo>
                  <a:pt x="197683" y="57149"/>
                </a:moveTo>
                <a:lnTo>
                  <a:pt x="197683" y="85725"/>
                </a:lnTo>
                <a:lnTo>
                  <a:pt x="254833" y="57150"/>
                </a:lnTo>
                <a:lnTo>
                  <a:pt x="197683" y="57149"/>
                </a:lnTo>
                <a:close/>
              </a:path>
              <a:path w="283844" h="85725">
                <a:moveTo>
                  <a:pt x="197683" y="28574"/>
                </a:moveTo>
                <a:lnTo>
                  <a:pt x="197683" y="57149"/>
                </a:lnTo>
                <a:lnTo>
                  <a:pt x="219862" y="57148"/>
                </a:lnTo>
                <a:lnTo>
                  <a:pt x="226258" y="50753"/>
                </a:lnTo>
                <a:lnTo>
                  <a:pt x="226256" y="34970"/>
                </a:lnTo>
                <a:lnTo>
                  <a:pt x="219861" y="28575"/>
                </a:lnTo>
                <a:lnTo>
                  <a:pt x="197683" y="28574"/>
                </a:lnTo>
                <a:close/>
              </a:path>
              <a:path w="283844" h="85725">
                <a:moveTo>
                  <a:pt x="197683" y="0"/>
                </a:moveTo>
                <a:lnTo>
                  <a:pt x="197683" y="28574"/>
                </a:lnTo>
                <a:lnTo>
                  <a:pt x="211970" y="28575"/>
                </a:lnTo>
                <a:lnTo>
                  <a:pt x="219861" y="28575"/>
                </a:lnTo>
                <a:lnTo>
                  <a:pt x="226256" y="34970"/>
                </a:lnTo>
                <a:lnTo>
                  <a:pt x="226258" y="50753"/>
                </a:lnTo>
                <a:lnTo>
                  <a:pt x="219861" y="57150"/>
                </a:lnTo>
                <a:lnTo>
                  <a:pt x="254835" y="57148"/>
                </a:lnTo>
                <a:lnTo>
                  <a:pt x="283408" y="42862"/>
                </a:lnTo>
                <a:lnTo>
                  <a:pt x="197683" y="0"/>
                </a:lnTo>
                <a:close/>
              </a:path>
              <a:path w="283844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97683" y="57149"/>
                </a:lnTo>
                <a:lnTo>
                  <a:pt x="19768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09615" y="3706943"/>
            <a:ext cx="335280" cy="85725"/>
          </a:xfrm>
          <a:custGeom>
            <a:avLst/>
            <a:gdLst/>
            <a:ahLst/>
            <a:cxnLst/>
            <a:rect l="l" t="t" r="r" b="b"/>
            <a:pathLst>
              <a:path w="335279" h="85725">
                <a:moveTo>
                  <a:pt x="306335" y="28562"/>
                </a:moveTo>
                <a:lnTo>
                  <a:pt x="271322" y="28562"/>
                </a:lnTo>
                <a:lnTo>
                  <a:pt x="277723" y="34955"/>
                </a:lnTo>
                <a:lnTo>
                  <a:pt x="277732" y="50737"/>
                </a:lnTo>
                <a:lnTo>
                  <a:pt x="271339" y="57137"/>
                </a:lnTo>
                <a:lnTo>
                  <a:pt x="249161" y="57150"/>
                </a:lnTo>
                <a:lnTo>
                  <a:pt x="249177" y="85724"/>
                </a:lnTo>
                <a:lnTo>
                  <a:pt x="334877" y="42812"/>
                </a:lnTo>
                <a:lnTo>
                  <a:pt x="306335" y="28562"/>
                </a:lnTo>
                <a:close/>
              </a:path>
              <a:path w="335279" h="85725">
                <a:moveTo>
                  <a:pt x="249144" y="28575"/>
                </a:moveTo>
                <a:lnTo>
                  <a:pt x="6393" y="28715"/>
                </a:lnTo>
                <a:lnTo>
                  <a:pt x="0" y="35115"/>
                </a:lnTo>
                <a:lnTo>
                  <a:pt x="8" y="50897"/>
                </a:lnTo>
                <a:lnTo>
                  <a:pt x="6409" y="57290"/>
                </a:lnTo>
                <a:lnTo>
                  <a:pt x="249161" y="57150"/>
                </a:lnTo>
                <a:lnTo>
                  <a:pt x="249144" y="28575"/>
                </a:lnTo>
                <a:close/>
              </a:path>
              <a:path w="335279" h="85725">
                <a:moveTo>
                  <a:pt x="271322" y="28562"/>
                </a:moveTo>
                <a:lnTo>
                  <a:pt x="249144" y="28575"/>
                </a:lnTo>
                <a:lnTo>
                  <a:pt x="249161" y="57150"/>
                </a:lnTo>
                <a:lnTo>
                  <a:pt x="271339" y="57137"/>
                </a:lnTo>
                <a:lnTo>
                  <a:pt x="277732" y="50737"/>
                </a:lnTo>
                <a:lnTo>
                  <a:pt x="277723" y="34955"/>
                </a:lnTo>
                <a:lnTo>
                  <a:pt x="271322" y="28562"/>
                </a:lnTo>
                <a:close/>
              </a:path>
              <a:path w="335279" h="85725">
                <a:moveTo>
                  <a:pt x="249128" y="0"/>
                </a:moveTo>
                <a:lnTo>
                  <a:pt x="249144" y="28575"/>
                </a:lnTo>
                <a:lnTo>
                  <a:pt x="306335" y="28562"/>
                </a:lnTo>
                <a:lnTo>
                  <a:pt x="249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34710" y="3703551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318" y="50292"/>
                </a:lnTo>
                <a:lnTo>
                  <a:pt x="247023" y="56789"/>
                </a:lnTo>
                <a:lnTo>
                  <a:pt x="224847" y="57142"/>
                </a:lnTo>
                <a:lnTo>
                  <a:pt x="225303" y="85714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251" y="54322"/>
                </a:lnTo>
                <a:lnTo>
                  <a:pt x="6748" y="60617"/>
                </a:lnTo>
                <a:lnTo>
                  <a:pt x="224847" y="5714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847" y="57142"/>
                </a:lnTo>
                <a:lnTo>
                  <a:pt x="247023" y="56789"/>
                </a:lnTo>
                <a:lnTo>
                  <a:pt x="253318" y="50292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32162" y="2811983"/>
            <a:ext cx="595630" cy="607695"/>
          </a:xfrm>
          <a:custGeom>
            <a:avLst/>
            <a:gdLst/>
            <a:ahLst/>
            <a:cxnLst/>
            <a:rect l="l" t="t" r="r" b="b"/>
            <a:pathLst>
              <a:path w="595629" h="607695">
                <a:moveTo>
                  <a:pt x="525097" y="51249"/>
                </a:moveTo>
                <a:lnTo>
                  <a:pt x="0" y="587447"/>
                </a:lnTo>
                <a:lnTo>
                  <a:pt x="93" y="596493"/>
                </a:lnTo>
                <a:lnTo>
                  <a:pt x="11369" y="607534"/>
                </a:lnTo>
                <a:lnTo>
                  <a:pt x="20415" y="607440"/>
                </a:lnTo>
                <a:lnTo>
                  <a:pt x="545514" y="71243"/>
                </a:lnTo>
                <a:lnTo>
                  <a:pt x="525097" y="51249"/>
                </a:lnTo>
                <a:close/>
              </a:path>
              <a:path w="595629" h="607695">
                <a:moveTo>
                  <a:pt x="583924" y="35311"/>
                </a:moveTo>
                <a:lnTo>
                  <a:pt x="549661" y="35311"/>
                </a:lnTo>
                <a:lnTo>
                  <a:pt x="560936" y="46352"/>
                </a:lnTo>
                <a:lnTo>
                  <a:pt x="561031" y="55398"/>
                </a:lnTo>
                <a:lnTo>
                  <a:pt x="545514" y="71243"/>
                </a:lnTo>
                <a:lnTo>
                  <a:pt x="565929" y="91236"/>
                </a:lnTo>
                <a:lnTo>
                  <a:pt x="583924" y="35311"/>
                </a:lnTo>
                <a:close/>
              </a:path>
              <a:path w="595629" h="607695">
                <a:moveTo>
                  <a:pt x="549661" y="35311"/>
                </a:moveTo>
                <a:lnTo>
                  <a:pt x="540614" y="35405"/>
                </a:lnTo>
                <a:lnTo>
                  <a:pt x="525097" y="51249"/>
                </a:lnTo>
                <a:lnTo>
                  <a:pt x="545514" y="71243"/>
                </a:lnTo>
                <a:lnTo>
                  <a:pt x="561031" y="55398"/>
                </a:lnTo>
                <a:lnTo>
                  <a:pt x="560936" y="46352"/>
                </a:lnTo>
                <a:lnTo>
                  <a:pt x="549661" y="35311"/>
                </a:lnTo>
                <a:close/>
              </a:path>
              <a:path w="595629" h="607695">
                <a:moveTo>
                  <a:pt x="595285" y="0"/>
                </a:moveTo>
                <a:lnTo>
                  <a:pt x="504682" y="31257"/>
                </a:lnTo>
                <a:lnTo>
                  <a:pt x="525097" y="51249"/>
                </a:lnTo>
                <a:lnTo>
                  <a:pt x="540614" y="35405"/>
                </a:lnTo>
                <a:lnTo>
                  <a:pt x="549661" y="35311"/>
                </a:lnTo>
                <a:lnTo>
                  <a:pt x="583924" y="35311"/>
                </a:lnTo>
                <a:lnTo>
                  <a:pt x="5952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27448" y="2811983"/>
            <a:ext cx="842010" cy="612775"/>
          </a:xfrm>
          <a:custGeom>
            <a:avLst/>
            <a:gdLst/>
            <a:ahLst/>
            <a:cxnLst/>
            <a:rect l="l" t="t" r="r" b="b"/>
            <a:pathLst>
              <a:path w="842009" h="612775">
                <a:moveTo>
                  <a:pt x="77845" y="38637"/>
                </a:moveTo>
                <a:lnTo>
                  <a:pt x="61106" y="61795"/>
                </a:lnTo>
                <a:lnTo>
                  <a:pt x="823328" y="612722"/>
                </a:lnTo>
                <a:lnTo>
                  <a:pt x="832260" y="611285"/>
                </a:lnTo>
                <a:lnTo>
                  <a:pt x="841504" y="598495"/>
                </a:lnTo>
                <a:lnTo>
                  <a:pt x="840066" y="589563"/>
                </a:lnTo>
                <a:lnTo>
                  <a:pt x="77845" y="38637"/>
                </a:lnTo>
                <a:close/>
              </a:path>
              <a:path w="842009" h="612775">
                <a:moveTo>
                  <a:pt x="0" y="0"/>
                </a:moveTo>
                <a:lnTo>
                  <a:pt x="44367" y="84955"/>
                </a:lnTo>
                <a:lnTo>
                  <a:pt x="61106" y="61795"/>
                </a:lnTo>
                <a:lnTo>
                  <a:pt x="43131" y="48803"/>
                </a:lnTo>
                <a:lnTo>
                  <a:pt x="41694" y="39872"/>
                </a:lnTo>
                <a:lnTo>
                  <a:pt x="50939" y="27082"/>
                </a:lnTo>
                <a:lnTo>
                  <a:pt x="59870" y="25645"/>
                </a:lnTo>
                <a:lnTo>
                  <a:pt x="87236" y="25645"/>
                </a:lnTo>
                <a:lnTo>
                  <a:pt x="94584" y="15478"/>
                </a:lnTo>
                <a:lnTo>
                  <a:pt x="0" y="0"/>
                </a:lnTo>
                <a:close/>
              </a:path>
              <a:path w="842009" h="612775">
                <a:moveTo>
                  <a:pt x="59870" y="25645"/>
                </a:moveTo>
                <a:lnTo>
                  <a:pt x="50939" y="27082"/>
                </a:lnTo>
                <a:lnTo>
                  <a:pt x="41694" y="39872"/>
                </a:lnTo>
                <a:lnTo>
                  <a:pt x="43131" y="48803"/>
                </a:lnTo>
                <a:lnTo>
                  <a:pt x="61106" y="61795"/>
                </a:lnTo>
                <a:lnTo>
                  <a:pt x="77845" y="38637"/>
                </a:lnTo>
                <a:lnTo>
                  <a:pt x="59870" y="25645"/>
                </a:lnTo>
                <a:close/>
              </a:path>
              <a:path w="842009" h="612775">
                <a:moveTo>
                  <a:pt x="87236" y="25645"/>
                </a:moveTo>
                <a:lnTo>
                  <a:pt x="59870" y="25645"/>
                </a:lnTo>
                <a:lnTo>
                  <a:pt x="77845" y="38637"/>
                </a:lnTo>
                <a:lnTo>
                  <a:pt x="87236" y="25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27448" y="4074700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51013" y="436500"/>
                </a:moveTo>
                <a:lnTo>
                  <a:pt x="0" y="517639"/>
                </a:lnTo>
                <a:lnTo>
                  <a:pt x="95519" y="509766"/>
                </a:lnTo>
                <a:lnTo>
                  <a:pt x="87678" y="496858"/>
                </a:lnTo>
                <a:lnTo>
                  <a:pt x="61729" y="496858"/>
                </a:lnTo>
                <a:lnTo>
                  <a:pt x="52941" y="494711"/>
                </a:lnTo>
                <a:lnTo>
                  <a:pt x="44748" y="481224"/>
                </a:lnTo>
                <a:lnTo>
                  <a:pt x="46893" y="472436"/>
                </a:lnTo>
                <a:lnTo>
                  <a:pt x="65848" y="460921"/>
                </a:lnTo>
                <a:lnTo>
                  <a:pt x="51013" y="436500"/>
                </a:lnTo>
                <a:close/>
              </a:path>
              <a:path w="842009" h="518160">
                <a:moveTo>
                  <a:pt x="65848" y="460921"/>
                </a:moveTo>
                <a:lnTo>
                  <a:pt x="46893" y="472436"/>
                </a:lnTo>
                <a:lnTo>
                  <a:pt x="44748" y="481224"/>
                </a:lnTo>
                <a:lnTo>
                  <a:pt x="52941" y="494711"/>
                </a:lnTo>
                <a:lnTo>
                  <a:pt x="61729" y="496858"/>
                </a:lnTo>
                <a:lnTo>
                  <a:pt x="80683" y="485344"/>
                </a:lnTo>
                <a:lnTo>
                  <a:pt x="65848" y="460921"/>
                </a:lnTo>
                <a:close/>
              </a:path>
              <a:path w="842009" h="518160">
                <a:moveTo>
                  <a:pt x="80683" y="485344"/>
                </a:moveTo>
                <a:lnTo>
                  <a:pt x="61729" y="496858"/>
                </a:lnTo>
                <a:lnTo>
                  <a:pt x="87678" y="496858"/>
                </a:lnTo>
                <a:lnTo>
                  <a:pt x="80683" y="485344"/>
                </a:lnTo>
                <a:close/>
              </a:path>
              <a:path w="842009" h="518160">
                <a:moveTo>
                  <a:pt x="824628" y="0"/>
                </a:moveTo>
                <a:lnTo>
                  <a:pt x="65848" y="460921"/>
                </a:lnTo>
                <a:lnTo>
                  <a:pt x="80683" y="485344"/>
                </a:lnTo>
                <a:lnTo>
                  <a:pt x="839464" y="24422"/>
                </a:lnTo>
                <a:lnTo>
                  <a:pt x="841609" y="15633"/>
                </a:lnTo>
                <a:lnTo>
                  <a:pt x="833417" y="2146"/>
                </a:lnTo>
                <a:lnTo>
                  <a:pt x="824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31939" y="4070342"/>
            <a:ext cx="595630" cy="522605"/>
          </a:xfrm>
          <a:custGeom>
            <a:avLst/>
            <a:gdLst/>
            <a:ahLst/>
            <a:cxnLst/>
            <a:rect l="l" t="t" r="r" b="b"/>
            <a:pathLst>
              <a:path w="595629" h="522604">
                <a:moveTo>
                  <a:pt x="521537" y="476376"/>
                </a:moveTo>
                <a:lnTo>
                  <a:pt x="502743" y="497900"/>
                </a:lnTo>
                <a:lnTo>
                  <a:pt x="595509" y="521997"/>
                </a:lnTo>
                <a:lnTo>
                  <a:pt x="582775" y="490964"/>
                </a:lnTo>
                <a:lnTo>
                  <a:pt x="538245" y="490964"/>
                </a:lnTo>
                <a:lnTo>
                  <a:pt x="521537" y="476376"/>
                </a:lnTo>
                <a:close/>
              </a:path>
              <a:path w="595629" h="522604">
                <a:moveTo>
                  <a:pt x="540332" y="454851"/>
                </a:moveTo>
                <a:lnTo>
                  <a:pt x="521537" y="476376"/>
                </a:lnTo>
                <a:lnTo>
                  <a:pt x="538245" y="490964"/>
                </a:lnTo>
                <a:lnTo>
                  <a:pt x="547269" y="490353"/>
                </a:lnTo>
                <a:lnTo>
                  <a:pt x="557649" y="478464"/>
                </a:lnTo>
                <a:lnTo>
                  <a:pt x="557038" y="469438"/>
                </a:lnTo>
                <a:lnTo>
                  <a:pt x="540332" y="454851"/>
                </a:lnTo>
                <a:close/>
              </a:path>
              <a:path w="595629" h="522604">
                <a:moveTo>
                  <a:pt x="559126" y="433327"/>
                </a:moveTo>
                <a:lnTo>
                  <a:pt x="540332" y="454851"/>
                </a:lnTo>
                <a:lnTo>
                  <a:pt x="557038" y="469438"/>
                </a:lnTo>
                <a:lnTo>
                  <a:pt x="557649" y="478464"/>
                </a:lnTo>
                <a:lnTo>
                  <a:pt x="547269" y="490353"/>
                </a:lnTo>
                <a:lnTo>
                  <a:pt x="538245" y="490964"/>
                </a:lnTo>
                <a:lnTo>
                  <a:pt x="582775" y="490964"/>
                </a:lnTo>
                <a:lnTo>
                  <a:pt x="559126" y="433327"/>
                </a:lnTo>
                <a:close/>
              </a:path>
              <a:path w="595629" h="522604">
                <a:moveTo>
                  <a:pt x="19405" y="0"/>
                </a:moveTo>
                <a:lnTo>
                  <a:pt x="10379" y="610"/>
                </a:lnTo>
                <a:lnTo>
                  <a:pt x="0" y="12499"/>
                </a:lnTo>
                <a:lnTo>
                  <a:pt x="610" y="21525"/>
                </a:lnTo>
                <a:lnTo>
                  <a:pt x="521537" y="476376"/>
                </a:lnTo>
                <a:lnTo>
                  <a:pt x="540332" y="454851"/>
                </a:lnTo>
                <a:lnTo>
                  <a:pt x="1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8603" y="3721533"/>
            <a:ext cx="1035141" cy="10474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55488" y="256629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86995" rIns="0" bIns="0" rtlCol="0" vert="horz">
            <a:spAutoFit/>
          </a:bodyPr>
          <a:lstStyle/>
          <a:p>
            <a:pPr marL="250825" marR="291465" indent="40005">
              <a:lnSpc>
                <a:spcPct val="100000"/>
              </a:lnSpc>
              <a:spcBef>
                <a:spcPts val="685"/>
              </a:spcBef>
            </a:pPr>
            <a:r>
              <a:rPr dirty="0" sz="2000" b="1">
                <a:latin typeface="Calibri"/>
                <a:cs typeface="Calibri"/>
              </a:rPr>
              <a:t>Input  </a:t>
            </a:r>
            <a:r>
              <a:rPr dirty="0" sz="2000" spc="-10" b="1">
                <a:latin typeface="Calibri"/>
                <a:cs typeface="Calibri"/>
              </a:rPr>
              <a:t>Graph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10628" y="3707080"/>
            <a:ext cx="217170" cy="85725"/>
          </a:xfrm>
          <a:custGeom>
            <a:avLst/>
            <a:gdLst/>
            <a:ahLst/>
            <a:cxnLst/>
            <a:rect l="l" t="t" r="r" b="b"/>
            <a:pathLst>
              <a:path w="217169" h="85725">
                <a:moveTo>
                  <a:pt x="131443" y="57149"/>
                </a:moveTo>
                <a:lnTo>
                  <a:pt x="131443" y="85725"/>
                </a:lnTo>
                <a:lnTo>
                  <a:pt x="188593" y="57150"/>
                </a:lnTo>
                <a:lnTo>
                  <a:pt x="131443" y="57149"/>
                </a:lnTo>
                <a:close/>
              </a:path>
              <a:path w="217169" h="85725">
                <a:moveTo>
                  <a:pt x="131443" y="28574"/>
                </a:moveTo>
                <a:lnTo>
                  <a:pt x="131443" y="57149"/>
                </a:lnTo>
                <a:lnTo>
                  <a:pt x="153623" y="57148"/>
                </a:lnTo>
                <a:lnTo>
                  <a:pt x="160018" y="50753"/>
                </a:lnTo>
                <a:lnTo>
                  <a:pt x="160018" y="34970"/>
                </a:lnTo>
                <a:lnTo>
                  <a:pt x="153621" y="28575"/>
                </a:lnTo>
                <a:lnTo>
                  <a:pt x="131443" y="28574"/>
                </a:lnTo>
                <a:close/>
              </a:path>
              <a:path w="217169" h="85725">
                <a:moveTo>
                  <a:pt x="131443" y="0"/>
                </a:moveTo>
                <a:lnTo>
                  <a:pt x="131443" y="28574"/>
                </a:lnTo>
                <a:lnTo>
                  <a:pt x="145731" y="28575"/>
                </a:lnTo>
                <a:lnTo>
                  <a:pt x="153621" y="28575"/>
                </a:lnTo>
                <a:lnTo>
                  <a:pt x="160018" y="34970"/>
                </a:lnTo>
                <a:lnTo>
                  <a:pt x="160018" y="50753"/>
                </a:lnTo>
                <a:lnTo>
                  <a:pt x="153621" y="57150"/>
                </a:lnTo>
                <a:lnTo>
                  <a:pt x="188596" y="57148"/>
                </a:lnTo>
                <a:lnTo>
                  <a:pt x="217168" y="42862"/>
                </a:lnTo>
                <a:lnTo>
                  <a:pt x="131443" y="0"/>
                </a:lnTo>
                <a:close/>
              </a:path>
              <a:path w="217169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31443" y="57149"/>
                </a:lnTo>
                <a:lnTo>
                  <a:pt x="13144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791825" y="4305033"/>
            <a:ext cx="1847214" cy="1090295"/>
          </a:xfrm>
          <a:custGeom>
            <a:avLst/>
            <a:gdLst/>
            <a:ahLst/>
            <a:cxnLst/>
            <a:rect l="l" t="t" r="r" b="b"/>
            <a:pathLst>
              <a:path w="1847215" h="1090295">
                <a:moveTo>
                  <a:pt x="0" y="0"/>
                </a:moveTo>
                <a:lnTo>
                  <a:pt x="1846848" y="0"/>
                </a:lnTo>
                <a:lnTo>
                  <a:pt x="1846848" y="1090097"/>
                </a:lnTo>
                <a:lnTo>
                  <a:pt x="0" y="1090097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839986" y="5421884"/>
            <a:ext cx="4863465" cy="1129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(3) How do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compute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the final</a:t>
            </a:r>
            <a:r>
              <a:rPr dirty="0" sz="24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loss?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Calibri"/>
              <a:buChar char="-"/>
              <a:tabLst>
                <a:tab pos="354965" algn="l"/>
                <a:tab pos="355600" algn="l"/>
              </a:tabLst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Classification</a:t>
            </a:r>
            <a:r>
              <a:rPr dirty="0" sz="24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loss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Calibri"/>
              <a:buChar char="-"/>
              <a:tabLst>
                <a:tab pos="354965" algn="l"/>
                <a:tab pos="355600" algn="l"/>
              </a:tabLst>
            </a:pP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Regression</a:t>
            </a:r>
            <a:r>
              <a:rPr dirty="0" sz="24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loss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6"/>
              </a:rPr>
              <a:t>http://cs224w.stanford.edu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47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6245352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1880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60B5CC"/>
                </a:solidFill>
              </a:rPr>
              <a:t>The </a:t>
            </a:r>
            <a:r>
              <a:rPr dirty="0" spc="-10">
                <a:solidFill>
                  <a:srgbClr val="60B5CC"/>
                </a:solidFill>
              </a:rPr>
              <a:t>setting: </a:t>
            </a: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have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𝑁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dirty="0" spc="1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points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725676"/>
            <a:ext cx="6432550" cy="2614295"/>
          </a:xfrm>
          <a:prstGeom prst="rect">
            <a:avLst/>
          </a:prstGeom>
        </p:spPr>
        <p:txBody>
          <a:bodyPr wrap="square" lIns="0" tIns="20764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63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Each </a:t>
            </a:r>
            <a:r>
              <a:rPr dirty="0" sz="2800" spc="-20">
                <a:latin typeface="Calibri"/>
                <a:cs typeface="Calibri"/>
              </a:rPr>
              <a:t>data </a:t>
            </a:r>
            <a:r>
              <a:rPr dirty="0" sz="2800" spc="-10">
                <a:latin typeface="Calibri"/>
                <a:cs typeface="Calibri"/>
              </a:rPr>
              <a:t>point can </a:t>
            </a:r>
            <a:r>
              <a:rPr dirty="0" sz="2800">
                <a:latin typeface="Calibri"/>
                <a:cs typeface="Calibri"/>
              </a:rPr>
              <a:t>be a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node/edge/graph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ts val="2440"/>
              </a:lnSpc>
              <a:spcBef>
                <a:spcPts val="153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Node-level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: prediction </a:t>
            </a:r>
            <a:r>
              <a:rPr dirty="0" sz="2800" spc="-195">
                <a:solidFill>
                  <a:srgbClr val="C00000"/>
                </a:solidFill>
                <a:latin typeface="Cambria Math"/>
                <a:cs typeface="Cambria Math"/>
              </a:rPr>
              <a:t>𝒚</a:t>
            </a:r>
            <a:r>
              <a:rPr dirty="0" sz="2800" spc="-195">
                <a:solidFill>
                  <a:srgbClr val="C00000"/>
                </a:solidFill>
                <a:latin typeface="Cambria Math"/>
                <a:cs typeface="Cambria Math"/>
              </a:rPr>
              <a:t>-</a:t>
            </a:r>
            <a:r>
              <a:rPr dirty="0" baseline="41666" sz="3000" spc="-292">
                <a:solidFill>
                  <a:srgbClr val="C00000"/>
                </a:solidFill>
                <a:latin typeface="Cambria Math"/>
                <a:cs typeface="Cambria Math"/>
              </a:rPr>
              <a:t>(1)</a:t>
            </a:r>
            <a:r>
              <a:rPr dirty="0" sz="2800" spc="-195">
                <a:solidFill>
                  <a:srgbClr val="C00000"/>
                </a:solidFill>
                <a:latin typeface="Calibri"/>
                <a:cs typeface="Calibri"/>
              </a:rPr>
              <a:t>, 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label</a:t>
            </a:r>
            <a:r>
              <a:rPr dirty="0" sz="2800" spc="-1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85">
                <a:solidFill>
                  <a:srgbClr val="C00000"/>
                </a:solidFill>
                <a:latin typeface="Cambria Math"/>
                <a:cs typeface="Cambria Math"/>
              </a:rPr>
              <a:t>𝒚</a:t>
            </a:r>
            <a:r>
              <a:rPr dirty="0" baseline="41666" sz="3000" spc="-127">
                <a:solidFill>
                  <a:srgbClr val="C00000"/>
                </a:solidFill>
                <a:latin typeface="Cambria Math"/>
                <a:cs typeface="Cambria Math"/>
              </a:rPr>
              <a:t>(1)</a:t>
            </a:r>
            <a:endParaRPr baseline="41666" sz="3000">
              <a:latin typeface="Cambria Math"/>
              <a:cs typeface="Cambria Math"/>
            </a:endParaRPr>
          </a:p>
          <a:p>
            <a:pPr algn="ctr" marL="2869565">
              <a:lnSpc>
                <a:spcPts val="1480"/>
              </a:lnSpc>
              <a:tabLst>
                <a:tab pos="4358640" algn="l"/>
              </a:tabLst>
            </a:pPr>
            <a:r>
              <a:rPr dirty="0" sz="2000" spc="275">
                <a:solidFill>
                  <a:srgbClr val="C00000"/>
                </a:solidFill>
                <a:latin typeface="Cambria Math"/>
                <a:cs typeface="Cambria Math"/>
              </a:rPr>
              <a:t>*	*</a:t>
            </a:r>
            <a:endParaRPr sz="2000">
              <a:latin typeface="Cambria Math"/>
              <a:cs typeface="Cambria Math"/>
            </a:endParaRPr>
          </a:p>
          <a:p>
            <a:pPr marL="287020" indent="-274320">
              <a:lnSpc>
                <a:spcPts val="2440"/>
              </a:lnSpc>
              <a:spcBef>
                <a:spcPts val="975"/>
              </a:spcBef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60B5CC"/>
                </a:solidFill>
                <a:latin typeface="Calibri"/>
                <a:cs typeface="Calibri"/>
              </a:rPr>
              <a:t>Edge-level</a:t>
            </a:r>
            <a:r>
              <a:rPr dirty="0" sz="2800" spc="-15">
                <a:solidFill>
                  <a:srgbClr val="60B5CC"/>
                </a:solidFill>
                <a:latin typeface="Calibri"/>
                <a:cs typeface="Calibri"/>
              </a:rPr>
              <a:t>: </a:t>
            </a:r>
            <a:r>
              <a:rPr dirty="0" sz="2800" spc="-10">
                <a:solidFill>
                  <a:srgbClr val="60B5CC"/>
                </a:solidFill>
                <a:latin typeface="Calibri"/>
                <a:cs typeface="Calibri"/>
              </a:rPr>
              <a:t>prediction </a:t>
            </a:r>
            <a:r>
              <a:rPr dirty="0" sz="2800" spc="-190">
                <a:solidFill>
                  <a:srgbClr val="60B5CC"/>
                </a:solidFill>
                <a:latin typeface="Cambria Math"/>
                <a:cs typeface="Cambria Math"/>
              </a:rPr>
              <a:t>𝒚</a:t>
            </a:r>
            <a:r>
              <a:rPr dirty="0" sz="2800" spc="-190">
                <a:solidFill>
                  <a:srgbClr val="60B5CC"/>
                </a:solidFill>
                <a:latin typeface="Cambria Math"/>
                <a:cs typeface="Cambria Math"/>
              </a:rPr>
              <a:t>-</a:t>
            </a:r>
            <a:r>
              <a:rPr dirty="0" baseline="41666" sz="3000" spc="-284">
                <a:solidFill>
                  <a:srgbClr val="60B5CC"/>
                </a:solidFill>
                <a:latin typeface="Cambria Math"/>
                <a:cs typeface="Cambria Math"/>
              </a:rPr>
              <a:t>(1)</a:t>
            </a:r>
            <a:r>
              <a:rPr dirty="0" sz="2800" spc="-190">
                <a:solidFill>
                  <a:srgbClr val="60B5CC"/>
                </a:solidFill>
                <a:latin typeface="Calibri"/>
                <a:cs typeface="Calibri"/>
              </a:rPr>
              <a:t>,  </a:t>
            </a:r>
            <a:r>
              <a:rPr dirty="0" sz="2800" spc="-5">
                <a:solidFill>
                  <a:srgbClr val="60B5CC"/>
                </a:solidFill>
                <a:latin typeface="Calibri"/>
                <a:cs typeface="Calibri"/>
              </a:rPr>
              <a:t>label</a:t>
            </a:r>
            <a:r>
              <a:rPr dirty="0" sz="2800" spc="-204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800" spc="-85">
                <a:solidFill>
                  <a:srgbClr val="60B5CC"/>
                </a:solidFill>
                <a:latin typeface="Cambria Math"/>
                <a:cs typeface="Cambria Math"/>
              </a:rPr>
              <a:t>𝒚</a:t>
            </a:r>
            <a:r>
              <a:rPr dirty="0" baseline="41666" sz="3000" spc="-127">
                <a:solidFill>
                  <a:srgbClr val="60B5CC"/>
                </a:solidFill>
                <a:latin typeface="Cambria Math"/>
                <a:cs typeface="Cambria Math"/>
              </a:rPr>
              <a:t>(1)</a:t>
            </a:r>
            <a:endParaRPr baseline="41666" sz="3000">
              <a:latin typeface="Cambria Math"/>
              <a:cs typeface="Cambria Math"/>
            </a:endParaRPr>
          </a:p>
          <a:p>
            <a:pPr algn="ctr" marL="2857500">
              <a:lnSpc>
                <a:spcPts val="1480"/>
              </a:lnSpc>
              <a:tabLst>
                <a:tab pos="4352290" algn="l"/>
              </a:tabLst>
            </a:pPr>
            <a:r>
              <a:rPr dirty="0" sz="2000" spc="590">
                <a:solidFill>
                  <a:srgbClr val="60B5CC"/>
                </a:solidFill>
                <a:latin typeface="Cambria Math"/>
                <a:cs typeface="Cambria Math"/>
              </a:rPr>
              <a:t>.*	.*</a:t>
            </a:r>
            <a:endParaRPr sz="2000">
              <a:latin typeface="Cambria Math"/>
              <a:cs typeface="Cambria Math"/>
            </a:endParaRPr>
          </a:p>
          <a:p>
            <a:pPr marL="287020" indent="-274320">
              <a:lnSpc>
                <a:spcPts val="2510"/>
              </a:lnSpc>
              <a:spcBef>
                <a:spcPts val="107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6BB76D"/>
                </a:solidFill>
                <a:latin typeface="Calibri"/>
                <a:cs typeface="Calibri"/>
              </a:rPr>
              <a:t>Graph-level</a:t>
            </a:r>
            <a:r>
              <a:rPr dirty="0" sz="2800" spc="-10">
                <a:solidFill>
                  <a:srgbClr val="6BB76D"/>
                </a:solidFill>
                <a:latin typeface="Calibri"/>
                <a:cs typeface="Calibri"/>
              </a:rPr>
              <a:t>: prediction </a:t>
            </a:r>
            <a:r>
              <a:rPr dirty="0" sz="2800" spc="-195">
                <a:solidFill>
                  <a:srgbClr val="6BB76D"/>
                </a:solidFill>
                <a:latin typeface="Cambria Math"/>
                <a:cs typeface="Cambria Math"/>
              </a:rPr>
              <a:t>𝒚-</a:t>
            </a:r>
            <a:r>
              <a:rPr dirty="0" baseline="41666" sz="3000" spc="-292">
                <a:solidFill>
                  <a:srgbClr val="6BB76D"/>
                </a:solidFill>
                <a:latin typeface="Cambria Math"/>
                <a:cs typeface="Cambria Math"/>
              </a:rPr>
              <a:t>(1)</a:t>
            </a:r>
            <a:r>
              <a:rPr dirty="0" sz="2800" spc="-195">
                <a:solidFill>
                  <a:srgbClr val="6BB76D"/>
                </a:solidFill>
                <a:latin typeface="Calibri"/>
                <a:cs typeface="Calibri"/>
              </a:rPr>
              <a:t>,  </a:t>
            </a:r>
            <a:r>
              <a:rPr dirty="0" sz="2800" spc="-5">
                <a:solidFill>
                  <a:srgbClr val="6BB76D"/>
                </a:solidFill>
                <a:latin typeface="Calibri"/>
                <a:cs typeface="Calibri"/>
              </a:rPr>
              <a:t>label</a:t>
            </a:r>
            <a:r>
              <a:rPr dirty="0" sz="2800" spc="-229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800" spc="-85">
                <a:solidFill>
                  <a:srgbClr val="6BB76D"/>
                </a:solidFill>
                <a:latin typeface="Cambria Math"/>
                <a:cs typeface="Cambria Math"/>
              </a:rPr>
              <a:t>𝒚</a:t>
            </a:r>
            <a:r>
              <a:rPr dirty="0" baseline="41666" sz="3000" spc="-127">
                <a:solidFill>
                  <a:srgbClr val="6BB76D"/>
                </a:solidFill>
                <a:latin typeface="Cambria Math"/>
                <a:cs typeface="Cambria Math"/>
              </a:rPr>
              <a:t>(1)</a:t>
            </a:r>
            <a:endParaRPr baseline="41666" sz="3000">
              <a:latin typeface="Cambria Math"/>
              <a:cs typeface="Cambria Math"/>
            </a:endParaRPr>
          </a:p>
          <a:p>
            <a:pPr marL="3942715">
              <a:lnSpc>
                <a:spcPts val="1550"/>
              </a:lnSpc>
              <a:tabLst>
                <a:tab pos="5431155" algn="l"/>
              </a:tabLst>
            </a:pPr>
            <a:r>
              <a:rPr dirty="0" sz="2000" spc="200">
                <a:solidFill>
                  <a:srgbClr val="6BB76D"/>
                </a:solidFill>
                <a:latin typeface="Cambria Math"/>
                <a:cs typeface="Cambria Math"/>
              </a:rPr>
              <a:t>0	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46974" y="4406439"/>
            <a:ext cx="267970" cy="235585"/>
          </a:xfrm>
          <a:custGeom>
            <a:avLst/>
            <a:gdLst/>
            <a:ahLst/>
            <a:cxnLst/>
            <a:rect l="l" t="t" r="r" b="b"/>
            <a:pathLst>
              <a:path w="267970" h="235585">
                <a:moveTo>
                  <a:pt x="192810" y="0"/>
                </a:moveTo>
                <a:lnTo>
                  <a:pt x="189462" y="9549"/>
                </a:lnTo>
                <a:lnTo>
                  <a:pt x="203081" y="15459"/>
                </a:lnTo>
                <a:lnTo>
                  <a:pt x="214793" y="23641"/>
                </a:lnTo>
                <a:lnTo>
                  <a:pt x="238575" y="61565"/>
                </a:lnTo>
                <a:lnTo>
                  <a:pt x="246388" y="116457"/>
                </a:lnTo>
                <a:lnTo>
                  <a:pt x="245516" y="137208"/>
                </a:lnTo>
                <a:lnTo>
                  <a:pt x="232435" y="188019"/>
                </a:lnTo>
                <a:lnTo>
                  <a:pt x="203240" y="219784"/>
                </a:lnTo>
                <a:lnTo>
                  <a:pt x="189834" y="225722"/>
                </a:lnTo>
                <a:lnTo>
                  <a:pt x="192810" y="235272"/>
                </a:lnTo>
                <a:lnTo>
                  <a:pt x="237761" y="208564"/>
                </a:lnTo>
                <a:lnTo>
                  <a:pt x="263007" y="159261"/>
                </a:lnTo>
                <a:lnTo>
                  <a:pt x="267844" y="117698"/>
                </a:lnTo>
                <a:lnTo>
                  <a:pt x="266631" y="96129"/>
                </a:lnTo>
                <a:lnTo>
                  <a:pt x="256926" y="57899"/>
                </a:lnTo>
                <a:lnTo>
                  <a:pt x="224823" y="15083"/>
                </a:lnTo>
                <a:lnTo>
                  <a:pt x="209867" y="6158"/>
                </a:lnTo>
                <a:lnTo>
                  <a:pt x="192810" y="0"/>
                </a:lnTo>
                <a:close/>
              </a:path>
              <a:path w="267970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622478" y="4359147"/>
            <a:ext cx="11017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refer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47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956563" y="4359147"/>
            <a:ext cx="5478145" cy="882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will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 spc="-10">
                <a:latin typeface="Calibri"/>
                <a:cs typeface="Calibri"/>
              </a:rPr>
              <a:t>prediction </a:t>
            </a:r>
            <a:r>
              <a:rPr dirty="0" sz="2800" spc="-195">
                <a:latin typeface="Cambria Math"/>
                <a:cs typeface="Cambria Math"/>
              </a:rPr>
              <a:t>𝒚</a:t>
            </a:r>
            <a:r>
              <a:rPr dirty="0" sz="2800" spc="-195">
                <a:latin typeface="Cambria Math"/>
                <a:cs typeface="Cambria Math"/>
              </a:rPr>
              <a:t>-</a:t>
            </a:r>
            <a:r>
              <a:rPr dirty="0" baseline="29166" sz="3000" spc="-292">
                <a:latin typeface="Cambria Math"/>
                <a:cs typeface="Cambria Math"/>
              </a:rPr>
              <a:t>(1)</a:t>
            </a:r>
            <a:r>
              <a:rPr dirty="0" sz="2800" spc="-195">
                <a:latin typeface="Calibri"/>
                <a:cs typeface="Calibri"/>
              </a:rPr>
              <a:t>,  </a:t>
            </a:r>
            <a:r>
              <a:rPr dirty="0" sz="2800" spc="-5">
                <a:latin typeface="Calibri"/>
                <a:cs typeface="Calibri"/>
              </a:rPr>
              <a:t>label </a:t>
            </a:r>
            <a:r>
              <a:rPr dirty="0" sz="2800">
                <a:latin typeface="Cambria Math"/>
                <a:cs typeface="Cambria Math"/>
              </a:rPr>
              <a:t>𝒚</a:t>
            </a:r>
            <a:r>
              <a:rPr dirty="0" sz="2800" spc="15">
                <a:latin typeface="Cambria Math"/>
                <a:cs typeface="Cambria Math"/>
              </a:rPr>
              <a:t> </a:t>
            </a:r>
            <a:r>
              <a:rPr dirty="0" baseline="29166" sz="3000" spc="-1327">
                <a:latin typeface="Cambria Math"/>
                <a:cs typeface="Cambria Math"/>
              </a:rPr>
              <a:t>1</a:t>
            </a:r>
            <a:endParaRPr baseline="29166" sz="3000">
              <a:latin typeface="Cambria Math"/>
              <a:cs typeface="Cambria Math"/>
            </a:endParaRPr>
          </a:p>
          <a:p>
            <a:pPr marL="287020">
              <a:lnSpc>
                <a:spcPct val="100000"/>
              </a:lnSpc>
              <a:spcBef>
                <a:spcPts val="20"/>
              </a:spcBef>
            </a:pPr>
            <a:r>
              <a:rPr dirty="0" sz="2800" spc="-5" b="1">
                <a:latin typeface="Calibri"/>
                <a:cs typeface="Calibri"/>
              </a:rPr>
              <a:t>predictions </a:t>
            </a:r>
            <a:r>
              <a:rPr dirty="0" sz="2800" spc="-10" b="1">
                <a:latin typeface="Calibri"/>
                <a:cs typeface="Calibri"/>
              </a:rPr>
              <a:t>at </a:t>
            </a:r>
            <a:r>
              <a:rPr dirty="0" sz="2800" b="1">
                <a:latin typeface="Calibri"/>
                <a:cs typeface="Calibri"/>
              </a:rPr>
              <a:t>all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levels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6675120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80348" y="1438173"/>
            <a:ext cx="307975" cy="271145"/>
          </a:xfrm>
          <a:custGeom>
            <a:avLst/>
            <a:gdLst/>
            <a:ahLst/>
            <a:cxnLst/>
            <a:rect l="l" t="t" r="r" b="b"/>
            <a:pathLst>
              <a:path w="307975" h="271144">
                <a:moveTo>
                  <a:pt x="221659" y="0"/>
                </a:moveTo>
                <a:lnTo>
                  <a:pt x="217808" y="10981"/>
                </a:lnTo>
                <a:lnTo>
                  <a:pt x="233470" y="17778"/>
                </a:lnTo>
                <a:lnTo>
                  <a:pt x="246939" y="27187"/>
                </a:lnTo>
                <a:lnTo>
                  <a:pt x="274288" y="70800"/>
                </a:lnTo>
                <a:lnTo>
                  <a:pt x="282275" y="110843"/>
                </a:lnTo>
                <a:lnTo>
                  <a:pt x="283273" y="133926"/>
                </a:lnTo>
                <a:lnTo>
                  <a:pt x="282270" y="157789"/>
                </a:lnTo>
                <a:lnTo>
                  <a:pt x="274248" y="198937"/>
                </a:lnTo>
                <a:lnTo>
                  <a:pt x="246957" y="243249"/>
                </a:lnTo>
                <a:lnTo>
                  <a:pt x="218235" y="259580"/>
                </a:lnTo>
                <a:lnTo>
                  <a:pt x="221659" y="270563"/>
                </a:lnTo>
                <a:lnTo>
                  <a:pt x="258563" y="253251"/>
                </a:lnTo>
                <a:lnTo>
                  <a:pt x="285699" y="223282"/>
                </a:lnTo>
                <a:lnTo>
                  <a:pt x="302385" y="183150"/>
                </a:lnTo>
                <a:lnTo>
                  <a:pt x="307948" y="135352"/>
                </a:lnTo>
                <a:lnTo>
                  <a:pt x="306553" y="110548"/>
                </a:lnTo>
                <a:lnTo>
                  <a:pt x="295392" y="66584"/>
                </a:lnTo>
                <a:lnTo>
                  <a:pt x="273258" y="30793"/>
                </a:lnTo>
                <a:lnTo>
                  <a:pt x="241275" y="7082"/>
                </a:lnTo>
                <a:lnTo>
                  <a:pt x="221659" y="0"/>
                </a:lnTo>
                <a:close/>
              </a:path>
              <a:path w="307975" h="271144">
                <a:moveTo>
                  <a:pt x="86288" y="0"/>
                </a:moveTo>
                <a:lnTo>
                  <a:pt x="49473" y="17346"/>
                </a:lnTo>
                <a:lnTo>
                  <a:pt x="22321" y="47423"/>
                </a:lnTo>
                <a:lnTo>
                  <a:pt x="5580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5" y="252752"/>
                </a:lnTo>
                <a:lnTo>
                  <a:pt x="60990" y="243249"/>
                </a:lnTo>
                <a:lnTo>
                  <a:pt x="33700" y="198937"/>
                </a:lnTo>
                <a:lnTo>
                  <a:pt x="25677" y="157789"/>
                </a:lnTo>
                <a:lnTo>
                  <a:pt x="24674" y="133926"/>
                </a:lnTo>
                <a:lnTo>
                  <a:pt x="25677" y="110843"/>
                </a:lnTo>
                <a:lnTo>
                  <a:pt x="33700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85316"/>
            <a:ext cx="42748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00"/>
                </a:solidFill>
              </a:rPr>
              <a:t>Classification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labels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𝒚</a:t>
            </a:r>
            <a:r>
              <a:rPr dirty="0" spc="27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aseline="27777" sz="3450" spc="-705" b="0">
                <a:solidFill>
                  <a:srgbClr val="000000"/>
                </a:solidFill>
                <a:latin typeface="Cambria Math"/>
                <a:cs typeface="Cambria Math"/>
              </a:rPr>
              <a:t>5</a:t>
            </a:r>
            <a:endParaRPr baseline="27777" sz="34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2129" y="1385316"/>
            <a:ext cx="31375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latin typeface="Calibri"/>
                <a:cs typeface="Calibri"/>
              </a:rPr>
              <a:t>with </a:t>
            </a:r>
            <a:r>
              <a:rPr dirty="0" sz="3200" spc="-15">
                <a:latin typeface="Calibri"/>
                <a:cs typeface="Calibri"/>
              </a:rPr>
              <a:t>discrete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value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6563" y="1957323"/>
            <a:ext cx="7080884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E.g.,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10">
                <a:latin typeface="Calibri"/>
                <a:cs typeface="Calibri"/>
              </a:rPr>
              <a:t>classification: </a:t>
            </a:r>
            <a:r>
              <a:rPr dirty="0" sz="2800" spc="-5">
                <a:latin typeface="Calibri"/>
                <a:cs typeface="Calibri"/>
              </a:rPr>
              <a:t>which </a:t>
            </a:r>
            <a:r>
              <a:rPr dirty="0" sz="2800" spc="-15">
                <a:latin typeface="Calibri"/>
                <a:cs typeface="Calibri"/>
              </a:rPr>
              <a:t>category </a:t>
            </a:r>
            <a:r>
              <a:rPr dirty="0" sz="2800" spc="-5">
                <a:latin typeface="Calibri"/>
                <a:cs typeface="Calibri"/>
              </a:rPr>
              <a:t>does </a:t>
            </a:r>
            <a:r>
              <a:rPr dirty="0" sz="2800" spc="-575">
                <a:latin typeface="Calibri"/>
                <a:cs typeface="Calibri"/>
              </a:rPr>
              <a:t>a  </a:t>
            </a:r>
            <a:r>
              <a:rPr dirty="0" sz="2800" spc="-5">
                <a:latin typeface="Calibri"/>
                <a:cs typeface="Calibri"/>
              </a:rPr>
              <a:t>node belong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94967" y="2898673"/>
            <a:ext cx="307975" cy="271145"/>
          </a:xfrm>
          <a:custGeom>
            <a:avLst/>
            <a:gdLst/>
            <a:ahLst/>
            <a:cxnLst/>
            <a:rect l="l" t="t" r="r" b="b"/>
            <a:pathLst>
              <a:path w="307975" h="271144">
                <a:moveTo>
                  <a:pt x="221659" y="0"/>
                </a:moveTo>
                <a:lnTo>
                  <a:pt x="217808" y="10981"/>
                </a:lnTo>
                <a:lnTo>
                  <a:pt x="233470" y="17778"/>
                </a:lnTo>
                <a:lnTo>
                  <a:pt x="246939" y="27187"/>
                </a:lnTo>
                <a:lnTo>
                  <a:pt x="274288" y="70800"/>
                </a:lnTo>
                <a:lnTo>
                  <a:pt x="282275" y="110843"/>
                </a:lnTo>
                <a:lnTo>
                  <a:pt x="283273" y="133926"/>
                </a:lnTo>
                <a:lnTo>
                  <a:pt x="282270" y="157789"/>
                </a:lnTo>
                <a:lnTo>
                  <a:pt x="274248" y="198937"/>
                </a:lnTo>
                <a:lnTo>
                  <a:pt x="246957" y="243249"/>
                </a:lnTo>
                <a:lnTo>
                  <a:pt x="218235" y="259580"/>
                </a:lnTo>
                <a:lnTo>
                  <a:pt x="221659" y="270563"/>
                </a:lnTo>
                <a:lnTo>
                  <a:pt x="258564" y="253251"/>
                </a:lnTo>
                <a:lnTo>
                  <a:pt x="285699" y="223282"/>
                </a:lnTo>
                <a:lnTo>
                  <a:pt x="302385" y="183150"/>
                </a:lnTo>
                <a:lnTo>
                  <a:pt x="307948" y="135352"/>
                </a:lnTo>
                <a:lnTo>
                  <a:pt x="306553" y="110548"/>
                </a:lnTo>
                <a:lnTo>
                  <a:pt x="295392" y="66584"/>
                </a:lnTo>
                <a:lnTo>
                  <a:pt x="273258" y="30793"/>
                </a:lnTo>
                <a:lnTo>
                  <a:pt x="241275" y="7082"/>
                </a:lnTo>
                <a:lnTo>
                  <a:pt x="221659" y="0"/>
                </a:lnTo>
                <a:close/>
              </a:path>
              <a:path w="307975" h="271144">
                <a:moveTo>
                  <a:pt x="86288" y="0"/>
                </a:moveTo>
                <a:lnTo>
                  <a:pt x="49473" y="17346"/>
                </a:lnTo>
                <a:lnTo>
                  <a:pt x="22321" y="47423"/>
                </a:lnTo>
                <a:lnTo>
                  <a:pt x="5580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2" y="259580"/>
                </a:lnTo>
                <a:lnTo>
                  <a:pt x="74295" y="252752"/>
                </a:lnTo>
                <a:lnTo>
                  <a:pt x="60991" y="243249"/>
                </a:lnTo>
                <a:lnTo>
                  <a:pt x="33700" y="198937"/>
                </a:lnTo>
                <a:lnTo>
                  <a:pt x="25677" y="157789"/>
                </a:lnTo>
                <a:lnTo>
                  <a:pt x="24674" y="133926"/>
                </a:lnTo>
                <a:lnTo>
                  <a:pt x="25677" y="110843"/>
                </a:lnTo>
                <a:lnTo>
                  <a:pt x="33700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8108" y="2848356"/>
            <a:ext cx="389001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Regression</a:t>
            </a:r>
            <a:r>
              <a:rPr dirty="0" sz="3200" spc="-10">
                <a:latin typeface="Calibri"/>
                <a:cs typeface="Calibri"/>
              </a:rPr>
              <a:t>: </a:t>
            </a:r>
            <a:r>
              <a:rPr dirty="0" sz="3200" spc="-5">
                <a:latin typeface="Calibri"/>
                <a:cs typeface="Calibri"/>
              </a:rPr>
              <a:t>labels </a:t>
            </a:r>
            <a:r>
              <a:rPr dirty="0" sz="3200">
                <a:latin typeface="Cambria Math"/>
                <a:cs typeface="Cambria Math"/>
              </a:rPr>
              <a:t>𝒚</a:t>
            </a:r>
            <a:r>
              <a:rPr dirty="0" sz="3200" spc="200">
                <a:latin typeface="Cambria Math"/>
                <a:cs typeface="Cambria Math"/>
              </a:rPr>
              <a:t> </a:t>
            </a:r>
            <a:r>
              <a:rPr dirty="0" baseline="28985" sz="3450" spc="-705">
                <a:latin typeface="Cambria Math"/>
                <a:cs typeface="Cambria Math"/>
              </a:rPr>
              <a:t>5</a:t>
            </a:r>
            <a:endParaRPr baseline="28985" sz="34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47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4726748" y="2848356"/>
            <a:ext cx="36696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latin typeface="Calibri"/>
                <a:cs typeface="Calibri"/>
              </a:rPr>
              <a:t>with </a:t>
            </a:r>
            <a:r>
              <a:rPr dirty="0" sz="3200" spc="-10">
                <a:latin typeface="Calibri"/>
                <a:cs typeface="Calibri"/>
              </a:rPr>
              <a:t>continuous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value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108" y="3417315"/>
            <a:ext cx="7933690" cy="1910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4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E.g., </a:t>
            </a:r>
            <a:r>
              <a:rPr dirty="0" sz="2800" spc="-10">
                <a:latin typeface="Calibri"/>
                <a:cs typeface="Calibri"/>
              </a:rPr>
              <a:t>predict </a:t>
            </a:r>
            <a:r>
              <a:rPr dirty="0" sz="2800" spc="-5">
                <a:latin typeface="Calibri"/>
                <a:cs typeface="Calibri"/>
              </a:rPr>
              <a:t>the drug </a:t>
            </a:r>
            <a:r>
              <a:rPr dirty="0" sz="2800" spc="-20">
                <a:latin typeface="Calibri"/>
                <a:cs typeface="Calibri"/>
              </a:rPr>
              <a:t>likeness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molecular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95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2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GNNs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be </a:t>
            </a:r>
            <a:r>
              <a:rPr dirty="0" sz="3200" spc="-5">
                <a:latin typeface="Calibri"/>
                <a:cs typeface="Calibri"/>
              </a:rPr>
              <a:t>applied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5">
                <a:latin typeface="Calibri"/>
                <a:cs typeface="Calibri"/>
              </a:rPr>
              <a:t>both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settings</a:t>
            </a:r>
            <a:endParaRPr sz="3200">
              <a:latin typeface="Calibri"/>
              <a:cs typeface="Calibri"/>
            </a:endParaRPr>
          </a:p>
          <a:p>
            <a:pPr marL="332740" marR="1082040" indent="-320040">
              <a:lnSpc>
                <a:spcPts val="3790"/>
              </a:lnSpc>
              <a:spcBef>
                <a:spcPts val="21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Differences: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loss function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&amp;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evaluation 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metrics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97677" y="2691466"/>
            <a:ext cx="680085" cy="654685"/>
          </a:xfrm>
          <a:custGeom>
            <a:avLst/>
            <a:gdLst/>
            <a:ahLst/>
            <a:cxnLst/>
            <a:rect l="l" t="t" r="r" b="b"/>
            <a:pathLst>
              <a:path w="680085" h="654685">
                <a:moveTo>
                  <a:pt x="0" y="0"/>
                </a:moveTo>
                <a:lnTo>
                  <a:pt x="679719" y="0"/>
                </a:lnTo>
                <a:lnTo>
                  <a:pt x="679719" y="654650"/>
                </a:lnTo>
                <a:lnTo>
                  <a:pt x="0" y="654650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86565" y="2680354"/>
            <a:ext cx="702310" cy="676910"/>
          </a:xfrm>
          <a:custGeom>
            <a:avLst/>
            <a:gdLst/>
            <a:ahLst/>
            <a:cxnLst/>
            <a:rect l="l" t="t" r="r" b="b"/>
            <a:pathLst>
              <a:path w="702310" h="676910">
                <a:moveTo>
                  <a:pt x="696968" y="0"/>
                </a:moveTo>
                <a:lnTo>
                  <a:pt x="4975" y="0"/>
                </a:lnTo>
                <a:lnTo>
                  <a:pt x="0" y="4974"/>
                </a:lnTo>
                <a:lnTo>
                  <a:pt x="0" y="671899"/>
                </a:lnTo>
                <a:lnTo>
                  <a:pt x="4975" y="676875"/>
                </a:lnTo>
                <a:lnTo>
                  <a:pt x="696968" y="676875"/>
                </a:lnTo>
                <a:lnTo>
                  <a:pt x="701944" y="671899"/>
                </a:lnTo>
                <a:lnTo>
                  <a:pt x="701944" y="663540"/>
                </a:lnTo>
                <a:lnTo>
                  <a:pt x="13335" y="663540"/>
                </a:lnTo>
                <a:lnTo>
                  <a:pt x="13335" y="13335"/>
                </a:lnTo>
                <a:lnTo>
                  <a:pt x="701944" y="13335"/>
                </a:lnTo>
                <a:lnTo>
                  <a:pt x="701944" y="4974"/>
                </a:lnTo>
                <a:lnTo>
                  <a:pt x="696968" y="0"/>
                </a:lnTo>
                <a:close/>
              </a:path>
              <a:path w="702310" h="676910">
                <a:moveTo>
                  <a:pt x="701944" y="13335"/>
                </a:moveTo>
                <a:lnTo>
                  <a:pt x="688609" y="13335"/>
                </a:lnTo>
                <a:lnTo>
                  <a:pt x="688609" y="663540"/>
                </a:lnTo>
                <a:lnTo>
                  <a:pt x="701944" y="663540"/>
                </a:lnTo>
                <a:lnTo>
                  <a:pt x="701944" y="13335"/>
                </a:lnTo>
                <a:close/>
              </a:path>
              <a:path w="702310" h="676910">
                <a:moveTo>
                  <a:pt x="684164" y="17780"/>
                </a:moveTo>
                <a:lnTo>
                  <a:pt x="17780" y="17780"/>
                </a:lnTo>
                <a:lnTo>
                  <a:pt x="17780" y="659095"/>
                </a:lnTo>
                <a:lnTo>
                  <a:pt x="684164" y="659095"/>
                </a:lnTo>
                <a:lnTo>
                  <a:pt x="684164" y="654650"/>
                </a:lnTo>
                <a:lnTo>
                  <a:pt x="22225" y="654650"/>
                </a:lnTo>
                <a:lnTo>
                  <a:pt x="22225" y="22225"/>
                </a:lnTo>
                <a:lnTo>
                  <a:pt x="684164" y="22225"/>
                </a:lnTo>
                <a:lnTo>
                  <a:pt x="684164" y="17780"/>
                </a:lnTo>
                <a:close/>
              </a:path>
              <a:path w="702310" h="676910">
                <a:moveTo>
                  <a:pt x="684164" y="22225"/>
                </a:moveTo>
                <a:lnTo>
                  <a:pt x="679719" y="22225"/>
                </a:lnTo>
                <a:lnTo>
                  <a:pt x="679719" y="654650"/>
                </a:lnTo>
                <a:lnTo>
                  <a:pt x="684164" y="654650"/>
                </a:lnTo>
                <a:lnTo>
                  <a:pt x="684164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05666" y="2694255"/>
            <a:ext cx="676910" cy="672465"/>
          </a:xfrm>
          <a:custGeom>
            <a:avLst/>
            <a:gdLst/>
            <a:ahLst/>
            <a:cxnLst/>
            <a:rect l="l" t="t" r="r" b="b"/>
            <a:pathLst>
              <a:path w="676910" h="672464">
                <a:moveTo>
                  <a:pt x="0" y="0"/>
                </a:moveTo>
                <a:lnTo>
                  <a:pt x="676520" y="0"/>
                </a:lnTo>
                <a:lnTo>
                  <a:pt x="676520" y="672150"/>
                </a:lnTo>
                <a:lnTo>
                  <a:pt x="0" y="672150"/>
                </a:lnTo>
                <a:lnTo>
                  <a:pt x="0" y="0"/>
                </a:lnTo>
                <a:close/>
              </a:path>
            </a:pathLst>
          </a:custGeom>
          <a:solidFill>
            <a:srgbClr val="C000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94553" y="2683143"/>
            <a:ext cx="699135" cy="694690"/>
          </a:xfrm>
          <a:custGeom>
            <a:avLst/>
            <a:gdLst/>
            <a:ahLst/>
            <a:cxnLst/>
            <a:rect l="l" t="t" r="r" b="b"/>
            <a:pathLst>
              <a:path w="699135" h="694689">
                <a:moveTo>
                  <a:pt x="693770" y="0"/>
                </a:moveTo>
                <a:lnTo>
                  <a:pt x="4974" y="0"/>
                </a:lnTo>
                <a:lnTo>
                  <a:pt x="0" y="4974"/>
                </a:lnTo>
                <a:lnTo>
                  <a:pt x="0" y="689400"/>
                </a:lnTo>
                <a:lnTo>
                  <a:pt x="4974" y="694375"/>
                </a:lnTo>
                <a:lnTo>
                  <a:pt x="693770" y="694375"/>
                </a:lnTo>
                <a:lnTo>
                  <a:pt x="698745" y="689400"/>
                </a:lnTo>
                <a:lnTo>
                  <a:pt x="698745" y="681040"/>
                </a:lnTo>
                <a:lnTo>
                  <a:pt x="13335" y="681040"/>
                </a:lnTo>
                <a:lnTo>
                  <a:pt x="13335" y="13335"/>
                </a:lnTo>
                <a:lnTo>
                  <a:pt x="698745" y="13335"/>
                </a:lnTo>
                <a:lnTo>
                  <a:pt x="698745" y="4974"/>
                </a:lnTo>
                <a:lnTo>
                  <a:pt x="693770" y="0"/>
                </a:lnTo>
                <a:close/>
              </a:path>
              <a:path w="699135" h="694689">
                <a:moveTo>
                  <a:pt x="698745" y="13335"/>
                </a:moveTo>
                <a:lnTo>
                  <a:pt x="685410" y="13335"/>
                </a:lnTo>
                <a:lnTo>
                  <a:pt x="685410" y="681040"/>
                </a:lnTo>
                <a:lnTo>
                  <a:pt x="698745" y="681040"/>
                </a:lnTo>
                <a:lnTo>
                  <a:pt x="698745" y="13335"/>
                </a:lnTo>
                <a:close/>
              </a:path>
              <a:path w="699135" h="694689">
                <a:moveTo>
                  <a:pt x="680965" y="17780"/>
                </a:moveTo>
                <a:lnTo>
                  <a:pt x="17780" y="17780"/>
                </a:lnTo>
                <a:lnTo>
                  <a:pt x="17780" y="676595"/>
                </a:lnTo>
                <a:lnTo>
                  <a:pt x="680965" y="676595"/>
                </a:lnTo>
                <a:lnTo>
                  <a:pt x="680965" y="672150"/>
                </a:lnTo>
                <a:lnTo>
                  <a:pt x="22225" y="672150"/>
                </a:lnTo>
                <a:lnTo>
                  <a:pt x="22225" y="22225"/>
                </a:lnTo>
                <a:lnTo>
                  <a:pt x="680965" y="22225"/>
                </a:lnTo>
                <a:lnTo>
                  <a:pt x="680965" y="17780"/>
                </a:lnTo>
                <a:close/>
              </a:path>
              <a:path w="699135" h="694689">
                <a:moveTo>
                  <a:pt x="680965" y="22225"/>
                </a:moveTo>
                <a:lnTo>
                  <a:pt x="676520" y="22225"/>
                </a:lnTo>
                <a:lnTo>
                  <a:pt x="676520" y="672150"/>
                </a:lnTo>
                <a:lnTo>
                  <a:pt x="680965" y="672150"/>
                </a:lnTo>
                <a:lnTo>
                  <a:pt x="680965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9976" y="341375"/>
            <a:ext cx="4456176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18108" y="1062228"/>
            <a:ext cx="7932420" cy="1491615"/>
          </a:xfrm>
          <a:prstGeom prst="rect"/>
        </p:spPr>
        <p:txBody>
          <a:bodyPr wrap="square" lIns="0" tIns="31114" rIns="0" bIns="0" rtlCol="0" vert="horz">
            <a:spAutoFit/>
          </a:bodyPr>
          <a:lstStyle/>
          <a:p>
            <a:pPr marL="332740" marR="5080" indent="-320040">
              <a:lnSpc>
                <a:spcPts val="3820"/>
              </a:lnSpc>
              <a:spcBef>
                <a:spcPts val="24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As discussed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lecture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6, </a:t>
            </a:r>
            <a:r>
              <a:rPr dirty="0" spc="-10">
                <a:solidFill>
                  <a:srgbClr val="C00000"/>
                </a:solidFill>
              </a:rPr>
              <a:t>cross </a:t>
            </a:r>
            <a:r>
              <a:rPr dirty="0" spc="-15">
                <a:solidFill>
                  <a:srgbClr val="C00000"/>
                </a:solidFill>
              </a:rPr>
              <a:t>entropy </a:t>
            </a:r>
            <a:r>
              <a:rPr dirty="0">
                <a:solidFill>
                  <a:srgbClr val="C00000"/>
                </a:solidFill>
              </a:rPr>
              <a:t>(CE)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is  a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very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common loss function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dirty="0" spc="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classification</a:t>
            </a:r>
          </a:p>
          <a:p>
            <a:pPr marL="332740" indent="-320040">
              <a:lnSpc>
                <a:spcPts val="376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60B5CC"/>
                </a:solidFill>
                <a:latin typeface="Cambria Math"/>
                <a:cs typeface="Cambria Math"/>
              </a:rPr>
              <a:t>𝐾</a:t>
            </a:r>
            <a:r>
              <a:rPr dirty="0" spc="-5" b="0">
                <a:solidFill>
                  <a:srgbClr val="60B5CC"/>
                </a:solidFill>
                <a:latin typeface="Calibri"/>
                <a:cs typeface="Calibri"/>
              </a:rPr>
              <a:t>-way </a:t>
            </a:r>
            <a:r>
              <a:rPr dirty="0" spc="-10" b="0">
                <a:solidFill>
                  <a:srgbClr val="60B5CC"/>
                </a:solidFill>
                <a:latin typeface="Calibri"/>
                <a:cs typeface="Calibri"/>
              </a:rPr>
              <a:t>prediction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for </a:t>
            </a:r>
            <a:r>
              <a:rPr dirty="0" spc="15" b="0">
                <a:solidFill>
                  <a:srgbClr val="000000"/>
                </a:solidFill>
                <a:latin typeface="Cambria Math"/>
                <a:cs typeface="Cambria Math"/>
              </a:rPr>
              <a:t>𝑖</a:t>
            </a:r>
            <a:r>
              <a:rPr dirty="0" spc="15" b="0">
                <a:solidFill>
                  <a:srgbClr val="000000"/>
                </a:solidFill>
                <a:latin typeface="Calibri"/>
                <a:cs typeface="Calibri"/>
              </a:rPr>
              <a:t>-th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dirty="0" spc="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point:</a:t>
            </a:r>
          </a:p>
        </p:txBody>
      </p:sp>
      <p:sp>
        <p:nvSpPr>
          <p:cNvPr id="8" name="object 8"/>
          <p:cNvSpPr/>
          <p:nvPr/>
        </p:nvSpPr>
        <p:spPr>
          <a:xfrm>
            <a:off x="2105544" y="2830061"/>
            <a:ext cx="1475105" cy="429895"/>
          </a:xfrm>
          <a:custGeom>
            <a:avLst/>
            <a:gdLst/>
            <a:ahLst/>
            <a:cxnLst/>
            <a:rect l="l" t="t" r="r" b="b"/>
            <a:pathLst>
              <a:path w="1475104" h="429895">
                <a:moveTo>
                  <a:pt x="1361752" y="0"/>
                </a:moveTo>
                <a:lnTo>
                  <a:pt x="1357411" y="14237"/>
                </a:lnTo>
                <a:lnTo>
                  <a:pt x="1377145" y="24471"/>
                </a:lnTo>
                <a:lnTo>
                  <a:pt x="1394329" y="39371"/>
                </a:lnTo>
                <a:lnTo>
                  <a:pt x="1421047" y="83169"/>
                </a:lnTo>
                <a:lnTo>
                  <a:pt x="1437260" y="142682"/>
                </a:lnTo>
                <a:lnTo>
                  <a:pt x="1442664" y="214957"/>
                </a:lnTo>
                <a:lnTo>
                  <a:pt x="1441313" y="252608"/>
                </a:lnTo>
                <a:lnTo>
                  <a:pt x="1430505" y="318371"/>
                </a:lnTo>
                <a:lnTo>
                  <a:pt x="1408963" y="370678"/>
                </a:lnTo>
                <a:lnTo>
                  <a:pt x="1377145" y="405101"/>
                </a:lnTo>
                <a:lnTo>
                  <a:pt x="1357411" y="415329"/>
                </a:lnTo>
                <a:lnTo>
                  <a:pt x="1361752" y="429567"/>
                </a:lnTo>
                <a:lnTo>
                  <a:pt x="1409718" y="404000"/>
                </a:lnTo>
                <a:lnTo>
                  <a:pt x="1445268" y="355773"/>
                </a:lnTo>
                <a:lnTo>
                  <a:pt x="1467277" y="290748"/>
                </a:lnTo>
                <a:lnTo>
                  <a:pt x="1474613" y="214783"/>
                </a:lnTo>
                <a:lnTo>
                  <a:pt x="1472779" y="175434"/>
                </a:lnTo>
                <a:lnTo>
                  <a:pt x="1458107" y="104939"/>
                </a:lnTo>
                <a:lnTo>
                  <a:pt x="1429045" y="46848"/>
                </a:lnTo>
                <a:lnTo>
                  <a:pt x="1387287" y="9951"/>
                </a:lnTo>
                <a:lnTo>
                  <a:pt x="1361752" y="0"/>
                </a:lnTo>
                <a:close/>
              </a:path>
              <a:path w="1475104" h="429895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6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7"/>
                </a:lnTo>
                <a:lnTo>
                  <a:pt x="53566" y="346483"/>
                </a:lnTo>
                <a:lnTo>
                  <a:pt x="37352" y="287080"/>
                </a:lnTo>
                <a:lnTo>
                  <a:pt x="31954" y="214783"/>
                </a:lnTo>
                <a:lnTo>
                  <a:pt x="33299" y="177225"/>
                </a:lnTo>
                <a:lnTo>
                  <a:pt x="44108" y="111331"/>
                </a:lnTo>
                <a:lnTo>
                  <a:pt x="65649" y="58937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56778" y="2777235"/>
            <a:ext cx="12058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7215" algn="l"/>
              </a:tabLst>
            </a:pPr>
            <a:r>
              <a:rPr dirty="0" sz="2800">
                <a:latin typeface="Cambria Math"/>
                <a:cs typeface="Cambria Math"/>
              </a:rPr>
              <a:t>CE	</a:t>
            </a:r>
            <a:r>
              <a:rPr dirty="0" sz="2800" spc="-50">
                <a:latin typeface="Cambria Math"/>
                <a:cs typeface="Cambria Math"/>
              </a:rPr>
              <a:t>𝒚</a:t>
            </a:r>
            <a:r>
              <a:rPr dirty="0" baseline="27777" sz="3000" spc="-75">
                <a:latin typeface="Cambria Math"/>
                <a:cs typeface="Cambria Math"/>
              </a:rPr>
              <a:t>(1)</a:t>
            </a:r>
            <a:r>
              <a:rPr dirty="0" sz="2800" spc="-50">
                <a:latin typeface="Cambria Math"/>
                <a:cs typeface="Cambria Math"/>
              </a:rPr>
              <a:t>,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97677" y="2649219"/>
            <a:ext cx="6800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dirty="0" baseline="-19841" sz="4200" spc="-382">
                <a:latin typeface="Cambria Math"/>
                <a:cs typeface="Cambria Math"/>
              </a:rPr>
              <a:t>𝒚</a:t>
            </a:r>
            <a:r>
              <a:rPr dirty="0" baseline="-18849" sz="4200" spc="-382">
                <a:latin typeface="Cambria Math"/>
                <a:cs typeface="Cambria Math"/>
              </a:rPr>
              <a:t>-</a:t>
            </a:r>
            <a:r>
              <a:rPr dirty="0" sz="2000" spc="-254">
                <a:latin typeface="Cambria Math"/>
                <a:cs typeface="Cambria Math"/>
              </a:rPr>
              <a:t>(1)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7241" y="3174492"/>
            <a:ext cx="49275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80">
                <a:latin typeface="Cambria Math"/>
                <a:cs typeface="Cambria Math"/>
              </a:rPr>
              <a:t>2</a:t>
            </a:r>
            <a:r>
              <a:rPr dirty="0" sz="2000" spc="370">
                <a:latin typeface="Cambria Math"/>
                <a:cs typeface="Cambria Math"/>
              </a:rPr>
              <a:t>3</a:t>
            </a:r>
            <a:r>
              <a:rPr dirty="0" sz="2000" spc="580">
                <a:latin typeface="Cambria Math"/>
                <a:cs typeface="Cambria Math"/>
              </a:rPr>
              <a:t>!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00001" y="2994660"/>
            <a:ext cx="1447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7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97541" y="2519172"/>
            <a:ext cx="3152775" cy="710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16585">
              <a:lnSpc>
                <a:spcPts val="2215"/>
              </a:lnSpc>
              <a:spcBef>
                <a:spcPts val="100"/>
              </a:spcBef>
            </a:pPr>
            <a:r>
              <a:rPr dirty="0" sz="2000" spc="325">
                <a:latin typeface="Cambria Math"/>
                <a:cs typeface="Cambria Math"/>
              </a:rPr>
              <a:t>4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ts val="3175"/>
              </a:lnSpc>
              <a:tabLst>
                <a:tab pos="1701800" algn="l"/>
              </a:tabLst>
            </a:pP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2000">
                <a:latin typeface="Cambria Math"/>
                <a:cs typeface="Cambria Math"/>
              </a:rPr>
              <a:t>B	</a:t>
            </a:r>
            <a:r>
              <a:rPr dirty="0" sz="2800" spc="-85">
                <a:latin typeface="Cambria Math"/>
                <a:cs typeface="Cambria Math"/>
              </a:rPr>
              <a:t>𝒚</a:t>
            </a:r>
            <a:r>
              <a:rPr dirty="0" baseline="41666" sz="3000" spc="-127">
                <a:latin typeface="Cambria Math"/>
                <a:cs typeface="Cambria Math"/>
              </a:rPr>
              <a:t>(1)</a:t>
            </a:r>
            <a:r>
              <a:rPr dirty="0" baseline="41666" sz="3000" spc="44">
                <a:latin typeface="Cambria Math"/>
                <a:cs typeface="Cambria Math"/>
              </a:rPr>
              <a:t> </a:t>
            </a:r>
            <a:r>
              <a:rPr dirty="0" sz="2800" spc="-165">
                <a:latin typeface="Cambria Math"/>
                <a:cs typeface="Cambria Math"/>
              </a:rPr>
              <a:t>log(𝒚</a:t>
            </a:r>
            <a:r>
              <a:rPr dirty="0" sz="2800" spc="-165">
                <a:latin typeface="Cambria Math"/>
                <a:cs typeface="Cambria Math"/>
              </a:rPr>
              <a:t>-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42759" y="3020010"/>
            <a:ext cx="99060" cy="2978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00"/>
              </a:lnSpc>
            </a:pPr>
            <a:r>
              <a:rPr dirty="0" sz="2000">
                <a:latin typeface="Cambria Math"/>
                <a:cs typeface="Cambria Math"/>
              </a:rPr>
              <a:t>𝒋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42759" y="2715210"/>
            <a:ext cx="310515" cy="2978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00"/>
              </a:lnSpc>
            </a:pPr>
            <a:r>
              <a:rPr dirty="0" sz="2000" spc="10">
                <a:latin typeface="Cambria Math"/>
                <a:cs typeface="Cambria Math"/>
              </a:rPr>
              <a:t>(</a:t>
            </a:r>
            <a:r>
              <a:rPr dirty="0" sz="2000" spc="15">
                <a:latin typeface="Cambria Math"/>
                <a:cs typeface="Cambria Math"/>
              </a:rPr>
              <a:t>𝒊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108" y="3451860"/>
            <a:ext cx="11785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where: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98864" y="6104635"/>
            <a:ext cx="14135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mbria Math"/>
                <a:cs typeface="Cambria Math"/>
              </a:rPr>
              <a:t>Loss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 spc="185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86593" y="6433820"/>
            <a:ext cx="405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0">
                <a:latin typeface="Cambria Math"/>
                <a:cs typeface="Cambria Math"/>
              </a:rPr>
              <a:t>*</a:t>
            </a:r>
            <a:r>
              <a:rPr dirty="0" sz="1800" spc="-75">
                <a:latin typeface="Cambria Math"/>
                <a:cs typeface="Cambria Math"/>
              </a:rPr>
              <a:t>+</a:t>
            </a:r>
            <a:r>
              <a:rPr dirty="0" sz="1800" spc="665">
                <a:latin typeface="Cambria Math"/>
                <a:cs typeface="Cambria Math"/>
              </a:rPr>
              <a:t>,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8108" y="5405628"/>
            <a:ext cx="6574155" cy="76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76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5">
                <a:solidFill>
                  <a:srgbClr val="C00000"/>
                </a:solidFill>
                <a:latin typeface="Calibri"/>
                <a:cs typeface="Calibri"/>
              </a:rPr>
              <a:t>Total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loss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over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𝑁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dirty="0" sz="3200" spc="1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C00000"/>
                </a:solidFill>
                <a:latin typeface="Calibri"/>
                <a:cs typeface="Calibri"/>
              </a:rPr>
              <a:t>examples</a:t>
            </a:r>
            <a:endParaRPr sz="3200">
              <a:latin typeface="Calibri"/>
              <a:cs typeface="Calibri"/>
            </a:endParaRPr>
          </a:p>
          <a:p>
            <a:pPr algn="ctr" marL="361315">
              <a:lnSpc>
                <a:spcPts val="2080"/>
              </a:lnSpc>
            </a:pPr>
            <a:r>
              <a:rPr dirty="0" sz="1800" spc="755">
                <a:latin typeface="Cambria Math"/>
                <a:cs typeface="Cambria Math"/>
              </a:rPr>
              <a:t>-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48078" y="6151856"/>
            <a:ext cx="1263015" cy="368300"/>
          </a:xfrm>
          <a:custGeom>
            <a:avLst/>
            <a:gdLst/>
            <a:ahLst/>
            <a:cxnLst/>
            <a:rect l="l" t="t" r="r" b="b"/>
            <a:pathLst>
              <a:path w="1263014" h="368300">
                <a:moveTo>
                  <a:pt x="1165736" y="0"/>
                </a:moveTo>
                <a:lnTo>
                  <a:pt x="1162015" y="12203"/>
                </a:lnTo>
                <a:lnTo>
                  <a:pt x="1178930" y="20975"/>
                </a:lnTo>
                <a:lnTo>
                  <a:pt x="1193660" y="33746"/>
                </a:lnTo>
                <a:lnTo>
                  <a:pt x="1216560" y="71288"/>
                </a:lnTo>
                <a:lnTo>
                  <a:pt x="1230458" y="122299"/>
                </a:lnTo>
                <a:lnTo>
                  <a:pt x="1235090" y="184249"/>
                </a:lnTo>
                <a:lnTo>
                  <a:pt x="1233932" y="216521"/>
                </a:lnTo>
                <a:lnTo>
                  <a:pt x="1224667" y="272890"/>
                </a:lnTo>
                <a:lnTo>
                  <a:pt x="1206203" y="317724"/>
                </a:lnTo>
                <a:lnTo>
                  <a:pt x="1178930" y="347229"/>
                </a:lnTo>
                <a:lnTo>
                  <a:pt x="1162015" y="355996"/>
                </a:lnTo>
                <a:lnTo>
                  <a:pt x="1165736" y="368200"/>
                </a:lnTo>
                <a:lnTo>
                  <a:pt x="1206850" y="346285"/>
                </a:lnTo>
                <a:lnTo>
                  <a:pt x="1237322" y="304948"/>
                </a:lnTo>
                <a:lnTo>
                  <a:pt x="1256186" y="249212"/>
                </a:lnTo>
                <a:lnTo>
                  <a:pt x="1262473" y="184100"/>
                </a:lnTo>
                <a:lnTo>
                  <a:pt x="1260902" y="150372"/>
                </a:lnTo>
                <a:lnTo>
                  <a:pt x="1248326" y="89948"/>
                </a:lnTo>
                <a:lnTo>
                  <a:pt x="1223416" y="40155"/>
                </a:lnTo>
                <a:lnTo>
                  <a:pt x="1187623" y="8529"/>
                </a:lnTo>
                <a:lnTo>
                  <a:pt x="1165736" y="0"/>
                </a:lnTo>
                <a:close/>
              </a:path>
              <a:path w="1263014" h="368300">
                <a:moveTo>
                  <a:pt x="96737" y="0"/>
                </a:moveTo>
                <a:lnTo>
                  <a:pt x="55623" y="21915"/>
                </a:lnTo>
                <a:lnTo>
                  <a:pt x="25151" y="63251"/>
                </a:lnTo>
                <a:lnTo>
                  <a:pt x="6287" y="118988"/>
                </a:lnTo>
                <a:lnTo>
                  <a:pt x="0" y="184100"/>
                </a:lnTo>
                <a:lnTo>
                  <a:pt x="1571" y="217828"/>
                </a:lnTo>
                <a:lnTo>
                  <a:pt x="14147" y="278252"/>
                </a:lnTo>
                <a:lnTo>
                  <a:pt x="39057" y="328045"/>
                </a:lnTo>
                <a:lnTo>
                  <a:pt x="74850" y="359671"/>
                </a:lnTo>
                <a:lnTo>
                  <a:pt x="96737" y="368200"/>
                </a:lnTo>
                <a:lnTo>
                  <a:pt x="100458" y="355996"/>
                </a:lnTo>
                <a:lnTo>
                  <a:pt x="83543" y="347229"/>
                </a:lnTo>
                <a:lnTo>
                  <a:pt x="68813" y="334472"/>
                </a:lnTo>
                <a:lnTo>
                  <a:pt x="45913" y="296986"/>
                </a:lnTo>
                <a:lnTo>
                  <a:pt x="32015" y="246068"/>
                </a:lnTo>
                <a:lnTo>
                  <a:pt x="27389" y="184100"/>
                </a:lnTo>
                <a:lnTo>
                  <a:pt x="28541" y="151906"/>
                </a:lnTo>
                <a:lnTo>
                  <a:pt x="37806" y="95426"/>
                </a:lnTo>
                <a:lnTo>
                  <a:pt x="56270" y="50517"/>
                </a:lnTo>
                <a:lnTo>
                  <a:pt x="83543" y="20975"/>
                </a:lnTo>
                <a:lnTo>
                  <a:pt x="100458" y="12203"/>
                </a:lnTo>
                <a:lnTo>
                  <a:pt x="967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362513" y="5994908"/>
            <a:ext cx="1541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dirty="0" baseline="-19675" sz="3600">
                <a:latin typeface="Cambria Math"/>
                <a:cs typeface="Cambria Math"/>
              </a:rPr>
              <a:t>CE	</a:t>
            </a:r>
            <a:r>
              <a:rPr dirty="0" baseline="-19675" sz="3600" spc="-30">
                <a:latin typeface="Cambria Math"/>
                <a:cs typeface="Cambria Math"/>
              </a:rPr>
              <a:t>𝒚</a:t>
            </a:r>
            <a:r>
              <a:rPr dirty="0" sz="1800" spc="-20">
                <a:latin typeface="Cambria Math"/>
                <a:cs typeface="Cambria Math"/>
              </a:rPr>
              <a:t>(*)</a:t>
            </a:r>
            <a:r>
              <a:rPr dirty="0" baseline="-19675" sz="3600" spc="-30">
                <a:latin typeface="Cambria Math"/>
                <a:cs typeface="Cambria Math"/>
              </a:rPr>
              <a:t>,</a:t>
            </a:r>
            <a:r>
              <a:rPr dirty="0" baseline="-19675" sz="3600" spc="-277">
                <a:latin typeface="Cambria Math"/>
                <a:cs typeface="Cambria Math"/>
              </a:rPr>
              <a:t> </a:t>
            </a:r>
            <a:r>
              <a:rPr dirty="0" baseline="-19675" sz="3600" spc="-442">
                <a:latin typeface="Cambria Math"/>
                <a:cs typeface="Cambria Math"/>
              </a:rPr>
              <a:t>𝒚3</a:t>
            </a:r>
            <a:r>
              <a:rPr dirty="0" sz="1800" spc="-295">
                <a:latin typeface="Cambria Math"/>
                <a:cs typeface="Cambria Math"/>
              </a:rPr>
              <a:t>(*)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868056" y="2726226"/>
            <a:ext cx="314960" cy="308610"/>
          </a:xfrm>
          <a:custGeom>
            <a:avLst/>
            <a:gdLst/>
            <a:ahLst/>
            <a:cxnLst/>
            <a:rect l="l" t="t" r="r" b="b"/>
            <a:pathLst>
              <a:path w="314959" h="308610">
                <a:moveTo>
                  <a:pt x="0" y="0"/>
                </a:moveTo>
                <a:lnTo>
                  <a:pt x="314453" y="0"/>
                </a:lnTo>
                <a:lnTo>
                  <a:pt x="314453" y="308352"/>
                </a:lnTo>
                <a:lnTo>
                  <a:pt x="0" y="308352"/>
                </a:lnTo>
                <a:lnTo>
                  <a:pt x="0" y="0"/>
                </a:lnTo>
                <a:close/>
              </a:path>
            </a:pathLst>
          </a:custGeom>
          <a:solidFill>
            <a:srgbClr val="C000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856944" y="2715113"/>
            <a:ext cx="337185" cy="330835"/>
          </a:xfrm>
          <a:custGeom>
            <a:avLst/>
            <a:gdLst/>
            <a:ahLst/>
            <a:cxnLst/>
            <a:rect l="l" t="t" r="r" b="b"/>
            <a:pathLst>
              <a:path w="337184" h="330835">
                <a:moveTo>
                  <a:pt x="331703" y="0"/>
                </a:moveTo>
                <a:lnTo>
                  <a:pt x="4974" y="0"/>
                </a:lnTo>
                <a:lnTo>
                  <a:pt x="0" y="4974"/>
                </a:lnTo>
                <a:lnTo>
                  <a:pt x="0" y="325602"/>
                </a:lnTo>
                <a:lnTo>
                  <a:pt x="4974" y="330577"/>
                </a:lnTo>
                <a:lnTo>
                  <a:pt x="331703" y="330577"/>
                </a:lnTo>
                <a:lnTo>
                  <a:pt x="336678" y="325602"/>
                </a:lnTo>
                <a:lnTo>
                  <a:pt x="336678" y="317242"/>
                </a:lnTo>
                <a:lnTo>
                  <a:pt x="13334" y="317242"/>
                </a:lnTo>
                <a:lnTo>
                  <a:pt x="13334" y="13335"/>
                </a:lnTo>
                <a:lnTo>
                  <a:pt x="336678" y="13335"/>
                </a:lnTo>
                <a:lnTo>
                  <a:pt x="336678" y="4974"/>
                </a:lnTo>
                <a:lnTo>
                  <a:pt x="331703" y="0"/>
                </a:lnTo>
                <a:close/>
              </a:path>
              <a:path w="337184" h="330835">
                <a:moveTo>
                  <a:pt x="336678" y="13335"/>
                </a:moveTo>
                <a:lnTo>
                  <a:pt x="323343" y="13335"/>
                </a:lnTo>
                <a:lnTo>
                  <a:pt x="323343" y="317242"/>
                </a:lnTo>
                <a:lnTo>
                  <a:pt x="336678" y="317242"/>
                </a:lnTo>
                <a:lnTo>
                  <a:pt x="336678" y="13335"/>
                </a:lnTo>
                <a:close/>
              </a:path>
              <a:path w="337184" h="330835">
                <a:moveTo>
                  <a:pt x="318898" y="17779"/>
                </a:moveTo>
                <a:lnTo>
                  <a:pt x="17779" y="17779"/>
                </a:lnTo>
                <a:lnTo>
                  <a:pt x="17779" y="312797"/>
                </a:lnTo>
                <a:lnTo>
                  <a:pt x="318898" y="312797"/>
                </a:lnTo>
                <a:lnTo>
                  <a:pt x="318898" y="308352"/>
                </a:lnTo>
                <a:lnTo>
                  <a:pt x="22225" y="308352"/>
                </a:lnTo>
                <a:lnTo>
                  <a:pt x="22225" y="22225"/>
                </a:lnTo>
                <a:lnTo>
                  <a:pt x="318898" y="22225"/>
                </a:lnTo>
                <a:lnTo>
                  <a:pt x="318898" y="17779"/>
                </a:lnTo>
                <a:close/>
              </a:path>
              <a:path w="337184" h="330835">
                <a:moveTo>
                  <a:pt x="318898" y="22225"/>
                </a:moveTo>
                <a:lnTo>
                  <a:pt x="314453" y="22225"/>
                </a:lnTo>
                <a:lnTo>
                  <a:pt x="314453" y="308352"/>
                </a:lnTo>
                <a:lnTo>
                  <a:pt x="318898" y="308352"/>
                </a:lnTo>
                <a:lnTo>
                  <a:pt x="318898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786726" y="3060985"/>
            <a:ext cx="219075" cy="308610"/>
          </a:xfrm>
          <a:custGeom>
            <a:avLst/>
            <a:gdLst/>
            <a:ahLst/>
            <a:cxnLst/>
            <a:rect l="l" t="t" r="r" b="b"/>
            <a:pathLst>
              <a:path w="219075" h="308610">
                <a:moveTo>
                  <a:pt x="0" y="0"/>
                </a:moveTo>
                <a:lnTo>
                  <a:pt x="219012" y="0"/>
                </a:lnTo>
                <a:lnTo>
                  <a:pt x="219012" y="308352"/>
                </a:lnTo>
                <a:lnTo>
                  <a:pt x="0" y="308352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775613" y="3049873"/>
            <a:ext cx="241300" cy="330835"/>
          </a:xfrm>
          <a:custGeom>
            <a:avLst/>
            <a:gdLst/>
            <a:ahLst/>
            <a:cxnLst/>
            <a:rect l="l" t="t" r="r" b="b"/>
            <a:pathLst>
              <a:path w="241300" h="330835">
                <a:moveTo>
                  <a:pt x="236261" y="0"/>
                </a:moveTo>
                <a:lnTo>
                  <a:pt x="4975" y="0"/>
                </a:lnTo>
                <a:lnTo>
                  <a:pt x="0" y="4975"/>
                </a:lnTo>
                <a:lnTo>
                  <a:pt x="0" y="325601"/>
                </a:lnTo>
                <a:lnTo>
                  <a:pt x="4975" y="330577"/>
                </a:lnTo>
                <a:lnTo>
                  <a:pt x="236261" y="330577"/>
                </a:lnTo>
                <a:lnTo>
                  <a:pt x="241237" y="325601"/>
                </a:lnTo>
                <a:lnTo>
                  <a:pt x="241237" y="317242"/>
                </a:lnTo>
                <a:lnTo>
                  <a:pt x="13335" y="317242"/>
                </a:lnTo>
                <a:lnTo>
                  <a:pt x="13335" y="13335"/>
                </a:lnTo>
                <a:lnTo>
                  <a:pt x="241237" y="13335"/>
                </a:lnTo>
                <a:lnTo>
                  <a:pt x="241237" y="4975"/>
                </a:lnTo>
                <a:lnTo>
                  <a:pt x="236261" y="0"/>
                </a:lnTo>
                <a:close/>
              </a:path>
              <a:path w="241300" h="330835">
                <a:moveTo>
                  <a:pt x="241237" y="13335"/>
                </a:moveTo>
                <a:lnTo>
                  <a:pt x="227902" y="13335"/>
                </a:lnTo>
                <a:lnTo>
                  <a:pt x="227902" y="317242"/>
                </a:lnTo>
                <a:lnTo>
                  <a:pt x="241237" y="317242"/>
                </a:lnTo>
                <a:lnTo>
                  <a:pt x="241237" y="13335"/>
                </a:lnTo>
                <a:close/>
              </a:path>
              <a:path w="241300" h="330835">
                <a:moveTo>
                  <a:pt x="223457" y="17780"/>
                </a:moveTo>
                <a:lnTo>
                  <a:pt x="17780" y="17780"/>
                </a:lnTo>
                <a:lnTo>
                  <a:pt x="17780" y="312797"/>
                </a:lnTo>
                <a:lnTo>
                  <a:pt x="223457" y="312797"/>
                </a:lnTo>
                <a:lnTo>
                  <a:pt x="223457" y="308352"/>
                </a:lnTo>
                <a:lnTo>
                  <a:pt x="22225" y="308352"/>
                </a:lnTo>
                <a:lnTo>
                  <a:pt x="22225" y="22225"/>
                </a:lnTo>
                <a:lnTo>
                  <a:pt x="223457" y="22225"/>
                </a:lnTo>
                <a:lnTo>
                  <a:pt x="223457" y="17780"/>
                </a:lnTo>
                <a:close/>
              </a:path>
              <a:path w="241300" h="330835">
                <a:moveTo>
                  <a:pt x="223457" y="22225"/>
                </a:moveTo>
                <a:lnTo>
                  <a:pt x="219012" y="22225"/>
                </a:lnTo>
                <a:lnTo>
                  <a:pt x="219012" y="308352"/>
                </a:lnTo>
                <a:lnTo>
                  <a:pt x="223457" y="308352"/>
                </a:lnTo>
                <a:lnTo>
                  <a:pt x="223457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102783" y="3367532"/>
            <a:ext cx="17322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2945" algn="l"/>
              </a:tabLst>
            </a:pP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Label	</a:t>
            </a:r>
            <a:r>
              <a:rPr dirty="0" baseline="1543" sz="2700" spc="-7" b="1">
                <a:solidFill>
                  <a:srgbClr val="B48200"/>
                </a:solidFill>
                <a:latin typeface="Corbel"/>
                <a:cs typeface="Corbel"/>
              </a:rPr>
              <a:t>Prediction</a:t>
            </a:r>
            <a:endParaRPr baseline="1543" sz="2700">
              <a:latin typeface="Corbel"/>
              <a:cs typeface="Corbe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47</a:t>
            </a:fld>
          </a:p>
        </p:txBody>
      </p:sp>
      <p:sp>
        <p:nvSpPr>
          <p:cNvPr id="27" name="object 27"/>
          <p:cNvSpPr txBox="1"/>
          <p:nvPr/>
        </p:nvSpPr>
        <p:spPr>
          <a:xfrm>
            <a:off x="7261250" y="2611627"/>
            <a:ext cx="1469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Cambria Math"/>
                <a:cs typeface="Cambria Math"/>
              </a:rPr>
              <a:t>𝒊</a:t>
            </a: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-th data</a:t>
            </a:r>
            <a:r>
              <a:rPr dirty="0" sz="1800" spc="-50" b="1">
                <a:solidFill>
                  <a:srgbClr val="C0000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point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57529" y="2926588"/>
            <a:ext cx="11391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3809" sz="4200">
                <a:latin typeface="Cambria Math"/>
                <a:cs typeface="Cambria Math"/>
              </a:rPr>
              <a:t>) </a:t>
            </a:r>
            <a:r>
              <a:rPr dirty="0" sz="1800" spc="-5">
                <a:solidFill>
                  <a:srgbClr val="B48200"/>
                </a:solidFill>
                <a:latin typeface="Cambria Math"/>
                <a:cs typeface="Cambria Math"/>
              </a:rPr>
              <a:t>𝒋</a:t>
            </a:r>
            <a:r>
              <a:rPr dirty="0" sz="1800" spc="-5" b="1">
                <a:solidFill>
                  <a:srgbClr val="B48200"/>
                </a:solidFill>
                <a:latin typeface="Corbel"/>
                <a:cs typeface="Corbel"/>
              </a:rPr>
              <a:t>-th</a:t>
            </a:r>
            <a:r>
              <a:rPr dirty="0" sz="1800" spc="-160" b="1">
                <a:solidFill>
                  <a:srgbClr val="B4820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B48200"/>
                </a:solidFill>
                <a:latin typeface="Corbel"/>
                <a:cs typeface="Corbel"/>
              </a:rPr>
              <a:t>class</a:t>
            </a:r>
            <a:endParaRPr sz="1800">
              <a:latin typeface="Corbel"/>
              <a:cs typeface="Corbel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870443" y="3793425"/>
          <a:ext cx="3143250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840"/>
                <a:gridCol w="624840"/>
                <a:gridCol w="624840"/>
                <a:gridCol w="624840"/>
                <a:gridCol w="624840"/>
              </a:tblGrid>
              <a:tr h="330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873284" y="5053229"/>
          <a:ext cx="3143250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840"/>
                <a:gridCol w="624840"/>
                <a:gridCol w="624840"/>
                <a:gridCol w="624840"/>
                <a:gridCol w="624840"/>
              </a:tblGrid>
              <a:tr h="330200"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0.3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0.4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3295222" y="3808476"/>
            <a:ext cx="4591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Corbel"/>
                <a:cs typeface="Corbel"/>
              </a:rPr>
              <a:t>E.g.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62251" y="4112259"/>
            <a:ext cx="5700395" cy="131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800" spc="-85">
                <a:latin typeface="Cambria Math"/>
                <a:cs typeface="Cambria Math"/>
              </a:rPr>
              <a:t>𝒚</a:t>
            </a:r>
            <a:r>
              <a:rPr dirty="0" baseline="29166" sz="3000" spc="-127">
                <a:latin typeface="Cambria Math"/>
                <a:cs typeface="Cambria Math"/>
              </a:rPr>
              <a:t>(1)  </a:t>
            </a:r>
            <a:r>
              <a:rPr dirty="0" sz="2800">
                <a:latin typeface="Cambria Math"/>
                <a:cs typeface="Cambria Math"/>
              </a:rPr>
              <a:t>𝜖 </a:t>
            </a:r>
            <a:r>
              <a:rPr dirty="0" sz="2800" spc="160">
                <a:latin typeface="Cambria Math"/>
                <a:cs typeface="Cambria Math"/>
              </a:rPr>
              <a:t>ℝ</a:t>
            </a:r>
            <a:r>
              <a:rPr dirty="0" baseline="29166" sz="3000" spc="240">
                <a:latin typeface="Cambria Math"/>
                <a:cs typeface="Cambria Math"/>
              </a:rPr>
              <a:t>4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5">
                <a:latin typeface="Calibri"/>
                <a:cs typeface="Calibri"/>
              </a:rPr>
              <a:t>one-hot label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encoding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dirty="0" sz="2800" spc="-195">
                <a:latin typeface="Cambria Math"/>
                <a:cs typeface="Cambria Math"/>
              </a:rPr>
              <a:t>𝒚</a:t>
            </a:r>
            <a:r>
              <a:rPr dirty="0" sz="2800" spc="-195">
                <a:latin typeface="Cambria Math"/>
                <a:cs typeface="Cambria Math"/>
              </a:rPr>
              <a:t>-</a:t>
            </a:r>
            <a:r>
              <a:rPr dirty="0" baseline="29166" sz="3000" spc="-292">
                <a:latin typeface="Cambria Math"/>
                <a:cs typeface="Cambria Math"/>
              </a:rPr>
              <a:t>(1)</a:t>
            </a:r>
            <a:r>
              <a:rPr dirty="0" sz="2800" spc="-195">
                <a:latin typeface="Cambria Math"/>
                <a:cs typeface="Cambria Math"/>
              </a:rPr>
              <a:t>𝜖  </a:t>
            </a:r>
            <a:r>
              <a:rPr dirty="0" sz="2800" spc="160">
                <a:latin typeface="Cambria Math"/>
                <a:cs typeface="Cambria Math"/>
              </a:rPr>
              <a:t>ℝ</a:t>
            </a:r>
            <a:r>
              <a:rPr dirty="0" baseline="29166" sz="3000" spc="240">
                <a:latin typeface="Cambria Math"/>
                <a:cs typeface="Cambria Math"/>
              </a:rPr>
              <a:t>4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10">
                <a:latin typeface="Calibri"/>
                <a:cs typeface="Calibri"/>
              </a:rPr>
              <a:t>prediction </a:t>
            </a:r>
            <a:r>
              <a:rPr dirty="0" sz="2800" spc="-15">
                <a:latin typeface="Calibri"/>
                <a:cs typeface="Calibri"/>
              </a:rPr>
              <a:t>after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Softmax(⋅)</a:t>
            </a:r>
            <a:endParaRPr sz="2800">
              <a:latin typeface="Cambria Math"/>
              <a:cs typeface="Cambria Math"/>
            </a:endParaRPr>
          </a:p>
          <a:p>
            <a:pPr marL="1533525">
              <a:lnSpc>
                <a:spcPct val="100000"/>
              </a:lnSpc>
              <a:spcBef>
                <a:spcPts val="890"/>
              </a:spcBef>
            </a:pPr>
            <a:r>
              <a:rPr dirty="0" sz="2000" b="1">
                <a:latin typeface="Corbel"/>
                <a:cs typeface="Corbel"/>
              </a:rPr>
              <a:t>E.g.</a:t>
            </a:r>
            <a:endParaRPr sz="20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886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2388" y="1150620"/>
            <a:ext cx="8376920" cy="998219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332740" marR="5080" indent="-320040">
              <a:lnSpc>
                <a:spcPts val="382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For regression tasks we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often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use </a:t>
            </a:r>
            <a:r>
              <a:rPr dirty="0" spc="-5">
                <a:solidFill>
                  <a:srgbClr val="C00000"/>
                </a:solidFill>
              </a:rPr>
              <a:t>Mean </a:t>
            </a:r>
            <a:r>
              <a:rPr dirty="0" spc="-10">
                <a:solidFill>
                  <a:srgbClr val="C00000"/>
                </a:solidFill>
              </a:rPr>
              <a:t>Squared  Error </a:t>
            </a:r>
            <a:r>
              <a:rPr dirty="0" spc="-5">
                <a:solidFill>
                  <a:srgbClr val="C00000"/>
                </a:solidFill>
              </a:rPr>
              <a:t>(MSE)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a.k.a. </a:t>
            </a:r>
            <a:r>
              <a:rPr dirty="0" spc="-5">
                <a:solidFill>
                  <a:srgbClr val="C00000"/>
                </a:solidFill>
              </a:rPr>
              <a:t>L2</a:t>
            </a:r>
            <a:r>
              <a:rPr dirty="0" spc="5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loss</a:t>
            </a:r>
          </a:p>
        </p:txBody>
      </p:sp>
      <p:sp>
        <p:nvSpPr>
          <p:cNvPr id="4" name="object 4"/>
          <p:cNvSpPr/>
          <p:nvPr/>
        </p:nvSpPr>
        <p:spPr>
          <a:xfrm>
            <a:off x="2822412" y="2736138"/>
            <a:ext cx="1320165" cy="384175"/>
          </a:xfrm>
          <a:custGeom>
            <a:avLst/>
            <a:gdLst/>
            <a:ahLst/>
            <a:cxnLst/>
            <a:rect l="l" t="t" r="r" b="b"/>
            <a:pathLst>
              <a:path w="1320164" h="384175">
                <a:moveTo>
                  <a:pt x="1219217" y="0"/>
                </a:moveTo>
                <a:lnTo>
                  <a:pt x="1215341" y="12712"/>
                </a:lnTo>
                <a:lnTo>
                  <a:pt x="1232961" y="21849"/>
                </a:lnTo>
                <a:lnTo>
                  <a:pt x="1248304" y="35152"/>
                </a:lnTo>
                <a:lnTo>
                  <a:pt x="1272160" y="74258"/>
                </a:lnTo>
                <a:lnTo>
                  <a:pt x="1286636" y="127395"/>
                </a:lnTo>
                <a:lnTo>
                  <a:pt x="1291461" y="191926"/>
                </a:lnTo>
                <a:lnTo>
                  <a:pt x="1290255" y="225543"/>
                </a:lnTo>
                <a:lnTo>
                  <a:pt x="1280604" y="284260"/>
                </a:lnTo>
                <a:lnTo>
                  <a:pt x="1261371" y="330963"/>
                </a:lnTo>
                <a:lnTo>
                  <a:pt x="1232961" y="361697"/>
                </a:lnTo>
                <a:lnTo>
                  <a:pt x="1215341" y="370829"/>
                </a:lnTo>
                <a:lnTo>
                  <a:pt x="1219217" y="383542"/>
                </a:lnTo>
                <a:lnTo>
                  <a:pt x="1262045" y="360713"/>
                </a:lnTo>
                <a:lnTo>
                  <a:pt x="1293787" y="317654"/>
                </a:lnTo>
                <a:lnTo>
                  <a:pt x="1313437" y="259596"/>
                </a:lnTo>
                <a:lnTo>
                  <a:pt x="1319987" y="191771"/>
                </a:lnTo>
                <a:lnTo>
                  <a:pt x="1318349" y="156637"/>
                </a:lnTo>
                <a:lnTo>
                  <a:pt x="1305249" y="93695"/>
                </a:lnTo>
                <a:lnTo>
                  <a:pt x="1279301" y="41828"/>
                </a:lnTo>
                <a:lnTo>
                  <a:pt x="1242017" y="8884"/>
                </a:lnTo>
                <a:lnTo>
                  <a:pt x="1219217" y="0"/>
                </a:lnTo>
                <a:close/>
              </a:path>
              <a:path w="1320164" h="384175">
                <a:moveTo>
                  <a:pt x="100769" y="0"/>
                </a:moveTo>
                <a:lnTo>
                  <a:pt x="57943" y="22827"/>
                </a:lnTo>
                <a:lnTo>
                  <a:pt x="26200" y="65887"/>
                </a:lnTo>
                <a:lnTo>
                  <a:pt x="6550" y="123945"/>
                </a:lnTo>
                <a:lnTo>
                  <a:pt x="0" y="191771"/>
                </a:lnTo>
                <a:lnTo>
                  <a:pt x="1637" y="226904"/>
                </a:lnTo>
                <a:lnTo>
                  <a:pt x="14737" y="289846"/>
                </a:lnTo>
                <a:lnTo>
                  <a:pt x="40686" y="341713"/>
                </a:lnTo>
                <a:lnTo>
                  <a:pt x="77970" y="374656"/>
                </a:lnTo>
                <a:lnTo>
                  <a:pt x="100769" y="383542"/>
                </a:lnTo>
                <a:lnTo>
                  <a:pt x="104645" y="370829"/>
                </a:lnTo>
                <a:lnTo>
                  <a:pt x="87025" y="361697"/>
                </a:lnTo>
                <a:lnTo>
                  <a:pt x="71682" y="348408"/>
                </a:lnTo>
                <a:lnTo>
                  <a:pt x="47826" y="309360"/>
                </a:lnTo>
                <a:lnTo>
                  <a:pt x="33350" y="256321"/>
                </a:lnTo>
                <a:lnTo>
                  <a:pt x="28531" y="191771"/>
                </a:lnTo>
                <a:lnTo>
                  <a:pt x="29731" y="158236"/>
                </a:lnTo>
                <a:lnTo>
                  <a:pt x="39382" y="99402"/>
                </a:lnTo>
                <a:lnTo>
                  <a:pt x="58616" y="52622"/>
                </a:lnTo>
                <a:lnTo>
                  <a:pt x="87025" y="21849"/>
                </a:lnTo>
                <a:lnTo>
                  <a:pt x="104645" y="12712"/>
                </a:lnTo>
                <a:lnTo>
                  <a:pt x="1007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83320" y="2687319"/>
            <a:ext cx="18421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3745" algn="l"/>
              </a:tabLst>
            </a:pPr>
            <a:r>
              <a:rPr dirty="0" sz="2500" spc="-5">
                <a:latin typeface="Cambria Math"/>
                <a:cs typeface="Cambria Math"/>
              </a:rPr>
              <a:t>MSE	</a:t>
            </a:r>
            <a:r>
              <a:rPr dirty="0" sz="2500">
                <a:latin typeface="Cambria Math"/>
                <a:cs typeface="Cambria Math"/>
              </a:rPr>
              <a:t>𝒚</a:t>
            </a:r>
            <a:r>
              <a:rPr dirty="0" baseline="27777" sz="2700">
                <a:latin typeface="Cambria Math"/>
                <a:cs typeface="Cambria Math"/>
              </a:rPr>
              <a:t>(*)</a:t>
            </a:r>
            <a:r>
              <a:rPr dirty="0" sz="2500">
                <a:latin typeface="Cambria Math"/>
                <a:cs typeface="Cambria Math"/>
              </a:rPr>
              <a:t>,</a:t>
            </a:r>
            <a:r>
              <a:rPr dirty="0" sz="2500" spc="-180">
                <a:latin typeface="Cambria Math"/>
                <a:cs typeface="Cambria Math"/>
              </a:rPr>
              <a:t> </a:t>
            </a:r>
            <a:r>
              <a:rPr dirty="0" sz="2500" spc="-360">
                <a:latin typeface="Cambria Math"/>
                <a:cs typeface="Cambria Math"/>
              </a:rPr>
              <a:t>𝒚&amp;</a:t>
            </a:r>
            <a:r>
              <a:rPr dirty="0" baseline="27777" sz="2700" spc="-540">
                <a:latin typeface="Cambria Math"/>
                <a:cs typeface="Cambria Math"/>
              </a:rPr>
              <a:t>(*)</a:t>
            </a:r>
            <a:endParaRPr baseline="27777" sz="27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1417" y="3038348"/>
            <a:ext cx="4438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latin typeface="Cambria Math"/>
                <a:cs typeface="Cambria Math"/>
              </a:rPr>
              <a:t>2</a:t>
            </a:r>
            <a:r>
              <a:rPr dirty="0" sz="1800" spc="-25">
                <a:latin typeface="Cambria Math"/>
                <a:cs typeface="Cambria Math"/>
              </a:rPr>
              <a:t>+</a:t>
            </a:r>
            <a:r>
              <a:rPr dirty="0" sz="1800" spc="665">
                <a:latin typeface="Cambria Math"/>
                <a:cs typeface="Cambria Math"/>
              </a:rPr>
              <a:t>,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388" y="2054859"/>
            <a:ext cx="5385435" cy="701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26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60B5CC"/>
                </a:solidFill>
                <a:latin typeface="Cambria Math"/>
                <a:cs typeface="Cambria Math"/>
              </a:rPr>
              <a:t>𝐾</a:t>
            </a:r>
            <a:r>
              <a:rPr dirty="0" sz="2800" spc="-5">
                <a:solidFill>
                  <a:srgbClr val="60B5CC"/>
                </a:solidFill>
                <a:latin typeface="Calibri"/>
                <a:cs typeface="Calibri"/>
              </a:rPr>
              <a:t>-way </a:t>
            </a:r>
            <a:r>
              <a:rPr dirty="0" sz="2800" spc="-15">
                <a:solidFill>
                  <a:srgbClr val="60B5CC"/>
                </a:solidFill>
                <a:latin typeface="Calibri"/>
                <a:cs typeface="Calibri"/>
              </a:rPr>
              <a:t>regression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20">
                <a:latin typeface="Calibri"/>
                <a:cs typeface="Calibri"/>
              </a:rPr>
              <a:t>data </a:t>
            </a:r>
            <a:r>
              <a:rPr dirty="0" sz="2800" spc="-10">
                <a:latin typeface="Calibri"/>
                <a:cs typeface="Calibri"/>
              </a:rPr>
              <a:t>point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(i):</a:t>
            </a:r>
            <a:endParaRPr sz="2800">
              <a:latin typeface="Calibri"/>
              <a:cs typeface="Calibri"/>
            </a:endParaRPr>
          </a:p>
          <a:p>
            <a:pPr algn="r" marR="781050">
              <a:lnSpc>
                <a:spcPts val="2060"/>
              </a:lnSpc>
            </a:pPr>
            <a:r>
              <a:rPr dirty="0" sz="1800" spc="290"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32779" y="2879851"/>
            <a:ext cx="132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5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45800" y="2687319"/>
            <a:ext cx="229997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77290" algn="l"/>
              </a:tabLst>
            </a:pPr>
            <a:r>
              <a:rPr dirty="0" sz="2500">
                <a:latin typeface="Cambria Math"/>
                <a:cs typeface="Cambria Math"/>
              </a:rPr>
              <a:t>=</a:t>
            </a:r>
            <a:r>
              <a:rPr dirty="0" sz="2500" spc="130">
                <a:latin typeface="Cambria Math"/>
                <a:cs typeface="Cambria Math"/>
              </a:rPr>
              <a:t> </a:t>
            </a:r>
            <a:r>
              <a:rPr dirty="0" sz="2500" spc="2275">
                <a:latin typeface="Cambria Math"/>
                <a:cs typeface="Cambria Math"/>
              </a:rPr>
              <a:t>(	</a:t>
            </a:r>
            <a:r>
              <a:rPr dirty="0" sz="2500">
                <a:latin typeface="Cambria Math"/>
                <a:cs typeface="Cambria Math"/>
              </a:rPr>
              <a:t>(𝒚</a:t>
            </a:r>
            <a:r>
              <a:rPr dirty="0" baseline="40123" sz="2700">
                <a:latin typeface="Cambria Math"/>
                <a:cs typeface="Cambria Math"/>
              </a:rPr>
              <a:t>(*)</a:t>
            </a:r>
            <a:r>
              <a:rPr dirty="0" sz="2500">
                <a:latin typeface="Cambria Math"/>
                <a:cs typeface="Cambria Math"/>
              </a:rPr>
              <a:t>−</a:t>
            </a:r>
            <a:r>
              <a:rPr dirty="0" sz="2500" spc="-80">
                <a:latin typeface="Cambria Math"/>
                <a:cs typeface="Cambria Math"/>
              </a:rPr>
              <a:t> </a:t>
            </a:r>
            <a:r>
              <a:rPr dirty="0" sz="2500" spc="-880">
                <a:latin typeface="Cambria Math"/>
                <a:cs typeface="Cambria Math"/>
              </a:rPr>
              <a:t>𝒚&amp;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25450" y="2876804"/>
            <a:ext cx="132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5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58241" y="2687510"/>
            <a:ext cx="240029" cy="212090"/>
          </a:xfrm>
          <a:custGeom>
            <a:avLst/>
            <a:gdLst/>
            <a:ahLst/>
            <a:cxnLst/>
            <a:rect l="l" t="t" r="r" b="b"/>
            <a:pathLst>
              <a:path w="240029" h="212089">
                <a:moveTo>
                  <a:pt x="172265" y="0"/>
                </a:moveTo>
                <a:lnTo>
                  <a:pt x="169251" y="8594"/>
                </a:lnTo>
                <a:lnTo>
                  <a:pt x="181509" y="13913"/>
                </a:lnTo>
                <a:lnTo>
                  <a:pt x="192050" y="21277"/>
                </a:lnTo>
                <a:lnTo>
                  <a:pt x="213453" y="55409"/>
                </a:lnTo>
                <a:lnTo>
                  <a:pt x="220485" y="104811"/>
                </a:lnTo>
                <a:lnTo>
                  <a:pt x="219701" y="123487"/>
                </a:lnTo>
                <a:lnTo>
                  <a:pt x="207928" y="169217"/>
                </a:lnTo>
                <a:lnTo>
                  <a:pt x="181652" y="197806"/>
                </a:lnTo>
                <a:lnTo>
                  <a:pt x="169586" y="203150"/>
                </a:lnTo>
                <a:lnTo>
                  <a:pt x="172265" y="211744"/>
                </a:lnTo>
                <a:lnTo>
                  <a:pt x="212721" y="187708"/>
                </a:lnTo>
                <a:lnTo>
                  <a:pt x="235443" y="143335"/>
                </a:lnTo>
                <a:lnTo>
                  <a:pt x="239796" y="105928"/>
                </a:lnTo>
                <a:lnTo>
                  <a:pt x="238704" y="86516"/>
                </a:lnTo>
                <a:lnTo>
                  <a:pt x="222327" y="37114"/>
                </a:lnTo>
                <a:lnTo>
                  <a:pt x="187617" y="5542"/>
                </a:lnTo>
                <a:lnTo>
                  <a:pt x="172265" y="0"/>
                </a:lnTo>
                <a:close/>
              </a:path>
              <a:path w="24002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7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634353" y="2617723"/>
            <a:ext cx="367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40"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32663" y="2684481"/>
            <a:ext cx="264160" cy="403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10"/>
              </a:lnSpc>
            </a:pPr>
            <a:r>
              <a:rPr dirty="0" baseline="-20000" sz="3750" spc="-7">
                <a:latin typeface="Cambria Math"/>
                <a:cs typeface="Cambria Math"/>
              </a:rPr>
              <a:t>)</a:t>
            </a:r>
            <a:r>
              <a:rPr dirty="0" sz="1800" spc="35">
                <a:latin typeface="Cambria Math"/>
                <a:cs typeface="Cambria Math"/>
              </a:rPr>
              <a:t>4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388" y="3222243"/>
            <a:ext cx="10337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where: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29100" y="5741834"/>
            <a:ext cx="1155700" cy="337820"/>
          </a:xfrm>
          <a:custGeom>
            <a:avLst/>
            <a:gdLst/>
            <a:ahLst/>
            <a:cxnLst/>
            <a:rect l="l" t="t" r="r" b="b"/>
            <a:pathLst>
              <a:path w="1155700" h="337820">
                <a:moveTo>
                  <a:pt x="1066960" y="0"/>
                </a:moveTo>
                <a:lnTo>
                  <a:pt x="1063550" y="11186"/>
                </a:lnTo>
                <a:lnTo>
                  <a:pt x="1079055" y="19227"/>
                </a:lnTo>
                <a:lnTo>
                  <a:pt x="1092557" y="30934"/>
                </a:lnTo>
                <a:lnTo>
                  <a:pt x="1113549" y="65347"/>
                </a:lnTo>
                <a:lnTo>
                  <a:pt x="1126288" y="112107"/>
                </a:lnTo>
                <a:lnTo>
                  <a:pt x="1130534" y="168895"/>
                </a:lnTo>
                <a:lnTo>
                  <a:pt x="1129473" y="198478"/>
                </a:lnTo>
                <a:lnTo>
                  <a:pt x="1120980" y="250149"/>
                </a:lnTo>
                <a:lnTo>
                  <a:pt x="1104055" y="291247"/>
                </a:lnTo>
                <a:lnTo>
                  <a:pt x="1063550" y="326330"/>
                </a:lnTo>
                <a:lnTo>
                  <a:pt x="1066960" y="337517"/>
                </a:lnTo>
                <a:lnTo>
                  <a:pt x="1104648" y="317428"/>
                </a:lnTo>
                <a:lnTo>
                  <a:pt x="1132580" y="279536"/>
                </a:lnTo>
                <a:lnTo>
                  <a:pt x="1149873" y="228444"/>
                </a:lnTo>
                <a:lnTo>
                  <a:pt x="1155637" y="168758"/>
                </a:lnTo>
                <a:lnTo>
                  <a:pt x="1154196" y="137841"/>
                </a:lnTo>
                <a:lnTo>
                  <a:pt x="1142668" y="82452"/>
                </a:lnTo>
                <a:lnTo>
                  <a:pt x="1119834" y="36809"/>
                </a:lnTo>
                <a:lnTo>
                  <a:pt x="1087023" y="7818"/>
                </a:lnTo>
                <a:lnTo>
                  <a:pt x="1066960" y="0"/>
                </a:lnTo>
                <a:close/>
              </a:path>
              <a:path w="1155700" h="337820">
                <a:moveTo>
                  <a:pt x="88670" y="0"/>
                </a:moveTo>
                <a:lnTo>
                  <a:pt x="50982" y="20088"/>
                </a:lnTo>
                <a:lnTo>
                  <a:pt x="23049" y="57980"/>
                </a:lnTo>
                <a:lnTo>
                  <a:pt x="5757" y="109072"/>
                </a:lnTo>
                <a:lnTo>
                  <a:pt x="0" y="168895"/>
                </a:lnTo>
                <a:lnTo>
                  <a:pt x="1434" y="199676"/>
                </a:lnTo>
                <a:lnTo>
                  <a:pt x="12962" y="255065"/>
                </a:lnTo>
                <a:lnTo>
                  <a:pt x="35796" y="300707"/>
                </a:lnTo>
                <a:lnTo>
                  <a:pt x="68606" y="329698"/>
                </a:lnTo>
                <a:lnTo>
                  <a:pt x="88670" y="337517"/>
                </a:lnTo>
                <a:lnTo>
                  <a:pt x="92080" y="326330"/>
                </a:lnTo>
                <a:lnTo>
                  <a:pt x="76574" y="318294"/>
                </a:lnTo>
                <a:lnTo>
                  <a:pt x="63072" y="306599"/>
                </a:lnTo>
                <a:lnTo>
                  <a:pt x="42080" y="272237"/>
                </a:lnTo>
                <a:lnTo>
                  <a:pt x="29341" y="225562"/>
                </a:lnTo>
                <a:lnTo>
                  <a:pt x="25100" y="168758"/>
                </a:lnTo>
                <a:lnTo>
                  <a:pt x="26156" y="139248"/>
                </a:lnTo>
                <a:lnTo>
                  <a:pt x="34649" y="87474"/>
                </a:lnTo>
                <a:lnTo>
                  <a:pt x="51574" y="46307"/>
                </a:lnTo>
                <a:lnTo>
                  <a:pt x="92080" y="11186"/>
                </a:lnTo>
                <a:lnTo>
                  <a:pt x="886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929224" y="3529411"/>
          <a:ext cx="3143250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840"/>
                <a:gridCol w="624840"/>
                <a:gridCol w="624840"/>
                <a:gridCol w="624840"/>
                <a:gridCol w="624840"/>
              </a:tblGrid>
              <a:tr h="3302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1.4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2.3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1.0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0.5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0.6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929224" y="4603408"/>
          <a:ext cx="3143250" cy="391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840"/>
                <a:gridCol w="624840"/>
                <a:gridCol w="624840"/>
                <a:gridCol w="624840"/>
                <a:gridCol w="624840"/>
              </a:tblGrid>
              <a:tr h="31750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0.9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2.8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2.0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0.3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0.8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3354003" y="3543300"/>
            <a:ext cx="4591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Corbel"/>
                <a:cs typeface="Corbel"/>
              </a:rPr>
              <a:t>E.g.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2388" y="3882135"/>
            <a:ext cx="7070725" cy="2517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329055">
              <a:lnSpc>
                <a:spcPts val="275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𝒚</a:t>
            </a:r>
            <a:r>
              <a:rPr dirty="0" baseline="27777" sz="2700">
                <a:latin typeface="Cambria Math"/>
                <a:cs typeface="Cambria Math"/>
              </a:rPr>
              <a:t>(𝒊) </a:t>
            </a:r>
            <a:r>
              <a:rPr dirty="0" sz="2500">
                <a:latin typeface="Cambria Math"/>
                <a:cs typeface="Cambria Math"/>
              </a:rPr>
              <a:t>𝜖 </a:t>
            </a:r>
            <a:r>
              <a:rPr dirty="0" sz="2500" spc="40">
                <a:latin typeface="Cambria Math"/>
                <a:cs typeface="Cambria Math"/>
              </a:rPr>
              <a:t>ℝ</a:t>
            </a:r>
            <a:r>
              <a:rPr dirty="0" baseline="27777" sz="2700" spc="60">
                <a:latin typeface="Cambria Math"/>
                <a:cs typeface="Cambria Math"/>
              </a:rPr>
              <a:t>5  </a:t>
            </a:r>
            <a:r>
              <a:rPr dirty="0" sz="2500">
                <a:latin typeface="Cambria Math"/>
                <a:cs typeface="Cambria Math"/>
              </a:rPr>
              <a:t>= </a:t>
            </a:r>
            <a:r>
              <a:rPr dirty="0" sz="2500" spc="-10">
                <a:latin typeface="Calibri"/>
                <a:cs typeface="Calibri"/>
              </a:rPr>
              <a:t>Real valued </a:t>
            </a:r>
            <a:r>
              <a:rPr dirty="0" sz="2500" spc="-15">
                <a:latin typeface="Calibri"/>
                <a:cs typeface="Calibri"/>
              </a:rPr>
              <a:t>vector </a:t>
            </a:r>
            <a:r>
              <a:rPr dirty="0" sz="2500" spc="-5">
                <a:latin typeface="Calibri"/>
                <a:cs typeface="Calibri"/>
              </a:rPr>
              <a:t>of</a:t>
            </a:r>
            <a:r>
              <a:rPr dirty="0" sz="2500" spc="-105">
                <a:latin typeface="Calibri"/>
                <a:cs typeface="Calibri"/>
              </a:rPr>
              <a:t> </a:t>
            </a:r>
            <a:r>
              <a:rPr dirty="0" sz="2500" spc="-15">
                <a:latin typeface="Calibri"/>
                <a:cs typeface="Calibri"/>
              </a:rPr>
              <a:t>targets</a:t>
            </a:r>
            <a:endParaRPr sz="2500">
              <a:latin typeface="Calibri"/>
              <a:cs typeface="Calibri"/>
            </a:endParaRPr>
          </a:p>
          <a:p>
            <a:pPr algn="ctr" marL="1328420">
              <a:lnSpc>
                <a:spcPts val="2750"/>
              </a:lnSpc>
            </a:pPr>
            <a:r>
              <a:rPr dirty="0" sz="2500" spc="-275">
                <a:latin typeface="Cambria Math"/>
                <a:cs typeface="Cambria Math"/>
              </a:rPr>
              <a:t>𝒚&amp;</a:t>
            </a:r>
            <a:r>
              <a:rPr dirty="0" baseline="27777" sz="2700" spc="-412">
                <a:latin typeface="Cambria Math"/>
                <a:cs typeface="Cambria Math"/>
              </a:rPr>
              <a:t>(𝒊)</a:t>
            </a:r>
            <a:r>
              <a:rPr dirty="0" sz="2500" spc="-275">
                <a:latin typeface="Cambria Math"/>
                <a:cs typeface="Cambria Math"/>
              </a:rPr>
              <a:t>𝜖  </a:t>
            </a:r>
            <a:r>
              <a:rPr dirty="0" sz="2500" spc="40">
                <a:latin typeface="Cambria Math"/>
                <a:cs typeface="Cambria Math"/>
              </a:rPr>
              <a:t>ℝ</a:t>
            </a:r>
            <a:r>
              <a:rPr dirty="0" baseline="27777" sz="2700" spc="60">
                <a:latin typeface="Cambria Math"/>
                <a:cs typeface="Cambria Math"/>
              </a:rPr>
              <a:t>5  </a:t>
            </a:r>
            <a:r>
              <a:rPr dirty="0" sz="2500">
                <a:latin typeface="Cambria Math"/>
                <a:cs typeface="Cambria Math"/>
              </a:rPr>
              <a:t>= </a:t>
            </a:r>
            <a:r>
              <a:rPr dirty="0" sz="2500" spc="-10">
                <a:latin typeface="Calibri"/>
                <a:cs typeface="Calibri"/>
              </a:rPr>
              <a:t>Real valued </a:t>
            </a:r>
            <a:r>
              <a:rPr dirty="0" sz="2500" spc="-15">
                <a:latin typeface="Calibri"/>
                <a:cs typeface="Calibri"/>
              </a:rPr>
              <a:t>vector </a:t>
            </a:r>
            <a:r>
              <a:rPr dirty="0" sz="2500" spc="-5">
                <a:latin typeface="Calibri"/>
                <a:cs typeface="Calibri"/>
              </a:rPr>
              <a:t>of</a:t>
            </a:r>
            <a:r>
              <a:rPr dirty="0" sz="2500" spc="-13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predictions</a:t>
            </a:r>
            <a:endParaRPr sz="2500">
              <a:latin typeface="Calibri"/>
              <a:cs typeface="Calibri"/>
            </a:endParaRPr>
          </a:p>
          <a:p>
            <a:pPr algn="ctr" marR="1070610">
              <a:lnSpc>
                <a:spcPct val="100000"/>
              </a:lnSpc>
              <a:spcBef>
                <a:spcPts val="235"/>
              </a:spcBef>
            </a:pPr>
            <a:r>
              <a:rPr dirty="0" sz="2000" b="1">
                <a:latin typeface="Corbel"/>
                <a:cs typeface="Corbel"/>
              </a:rPr>
              <a:t>E.g.</a:t>
            </a:r>
            <a:endParaRPr sz="2000">
              <a:latin typeface="Corbel"/>
              <a:cs typeface="Corbel"/>
            </a:endParaRPr>
          </a:p>
          <a:p>
            <a:pPr marL="332740" indent="-320040">
              <a:lnSpc>
                <a:spcPts val="3240"/>
              </a:lnSpc>
              <a:spcBef>
                <a:spcPts val="37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60">
                <a:solidFill>
                  <a:srgbClr val="C00000"/>
                </a:solidFill>
                <a:latin typeface="Calibri"/>
                <a:cs typeface="Calibri"/>
              </a:rPr>
              <a:t>Total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loss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over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𝑁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dirty="0" sz="2800" spc="1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Calibri"/>
                <a:cs typeface="Calibri"/>
              </a:rPr>
              <a:t>examples</a:t>
            </a:r>
            <a:endParaRPr sz="2800">
              <a:latin typeface="Calibri"/>
              <a:cs typeface="Calibri"/>
            </a:endParaRPr>
          </a:p>
          <a:p>
            <a:pPr algn="ctr" marR="121285">
              <a:lnSpc>
                <a:spcPts val="1800"/>
              </a:lnSpc>
            </a:pPr>
            <a:r>
              <a:rPr dirty="0" sz="1600" spc="315">
                <a:latin typeface="Cambria Math"/>
                <a:cs typeface="Cambria Math"/>
              </a:rPr>
              <a:t>3</a:t>
            </a:r>
            <a:endParaRPr sz="1600">
              <a:latin typeface="Cambria Math"/>
              <a:cs typeface="Cambria Math"/>
            </a:endParaRPr>
          </a:p>
          <a:p>
            <a:pPr marL="2386330">
              <a:lnSpc>
                <a:spcPct val="100000"/>
              </a:lnSpc>
              <a:spcBef>
                <a:spcPts val="745"/>
              </a:spcBef>
            </a:pPr>
            <a:r>
              <a:rPr dirty="0" sz="2200" spc="-5">
                <a:latin typeface="Cambria Math"/>
                <a:cs typeface="Cambria Math"/>
              </a:rPr>
              <a:t>Loss </a:t>
            </a:r>
            <a:r>
              <a:rPr dirty="0" sz="2200">
                <a:latin typeface="Cambria Math"/>
                <a:cs typeface="Cambria Math"/>
              </a:rPr>
              <a:t>= </a:t>
            </a:r>
            <a:r>
              <a:rPr dirty="0" sz="2200" spc="2235">
                <a:latin typeface="Cambria Math"/>
                <a:cs typeface="Cambria Math"/>
              </a:rPr>
              <a:t>J</a:t>
            </a:r>
            <a:r>
              <a:rPr dirty="0" sz="2200" spc="35">
                <a:latin typeface="Cambria Math"/>
                <a:cs typeface="Cambria Math"/>
              </a:rPr>
              <a:t> </a:t>
            </a:r>
            <a:r>
              <a:rPr dirty="0" sz="2200" spc="-5">
                <a:latin typeface="Cambria Math"/>
                <a:cs typeface="Cambria Math"/>
              </a:rPr>
              <a:t>MSE  </a:t>
            </a:r>
            <a:r>
              <a:rPr dirty="0" sz="2200" spc="-45">
                <a:latin typeface="Cambria Math"/>
                <a:cs typeface="Cambria Math"/>
              </a:rPr>
              <a:t>𝒚</a:t>
            </a:r>
            <a:r>
              <a:rPr dirty="0" baseline="27777" sz="2400" spc="-67">
                <a:latin typeface="Cambria Math"/>
                <a:cs typeface="Cambria Math"/>
              </a:rPr>
              <a:t>(1)</a:t>
            </a:r>
            <a:r>
              <a:rPr dirty="0" sz="2200" spc="-45">
                <a:latin typeface="Cambria Math"/>
                <a:cs typeface="Cambria Math"/>
              </a:rPr>
              <a:t>, </a:t>
            </a:r>
            <a:r>
              <a:rPr dirty="0" sz="2200" spc="-390">
                <a:latin typeface="Cambria Math"/>
                <a:cs typeface="Cambria Math"/>
              </a:rPr>
              <a:t>𝒚+</a:t>
            </a:r>
            <a:r>
              <a:rPr dirty="0" baseline="27777" sz="2400" spc="-585">
                <a:latin typeface="Cambria Math"/>
                <a:cs typeface="Cambria Math"/>
              </a:rPr>
              <a:t>(1)</a:t>
            </a:r>
            <a:endParaRPr baseline="27777" sz="2400">
              <a:latin typeface="Cambria Math"/>
              <a:cs typeface="Cambria Math"/>
            </a:endParaRPr>
          </a:p>
          <a:p>
            <a:pPr algn="ctr" marR="115570">
              <a:lnSpc>
                <a:spcPct val="100000"/>
              </a:lnSpc>
              <a:spcBef>
                <a:spcPts val="770"/>
              </a:spcBef>
            </a:pPr>
            <a:r>
              <a:rPr dirty="0" sz="1600" spc="-25">
                <a:latin typeface="Cambria Math"/>
                <a:cs typeface="Cambria Math"/>
              </a:rPr>
              <a:t>12#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687141" y="2619788"/>
            <a:ext cx="314960" cy="308610"/>
          </a:xfrm>
          <a:custGeom>
            <a:avLst/>
            <a:gdLst/>
            <a:ahLst/>
            <a:cxnLst/>
            <a:rect l="l" t="t" r="r" b="b"/>
            <a:pathLst>
              <a:path w="314959" h="308610">
                <a:moveTo>
                  <a:pt x="0" y="0"/>
                </a:moveTo>
                <a:lnTo>
                  <a:pt x="314454" y="0"/>
                </a:lnTo>
                <a:lnTo>
                  <a:pt x="314454" y="308353"/>
                </a:lnTo>
                <a:lnTo>
                  <a:pt x="0" y="308353"/>
                </a:lnTo>
                <a:lnTo>
                  <a:pt x="0" y="0"/>
                </a:lnTo>
                <a:close/>
              </a:path>
            </a:pathLst>
          </a:custGeom>
          <a:solidFill>
            <a:srgbClr val="C000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76028" y="2608676"/>
            <a:ext cx="337185" cy="330835"/>
          </a:xfrm>
          <a:custGeom>
            <a:avLst/>
            <a:gdLst/>
            <a:ahLst/>
            <a:cxnLst/>
            <a:rect l="l" t="t" r="r" b="b"/>
            <a:pathLst>
              <a:path w="337184" h="330835">
                <a:moveTo>
                  <a:pt x="331703" y="0"/>
                </a:moveTo>
                <a:lnTo>
                  <a:pt x="4975" y="0"/>
                </a:lnTo>
                <a:lnTo>
                  <a:pt x="0" y="4974"/>
                </a:lnTo>
                <a:lnTo>
                  <a:pt x="0" y="325602"/>
                </a:lnTo>
                <a:lnTo>
                  <a:pt x="4975" y="330578"/>
                </a:lnTo>
                <a:lnTo>
                  <a:pt x="331703" y="330578"/>
                </a:lnTo>
                <a:lnTo>
                  <a:pt x="336679" y="325602"/>
                </a:lnTo>
                <a:lnTo>
                  <a:pt x="336679" y="317243"/>
                </a:lnTo>
                <a:lnTo>
                  <a:pt x="13334" y="317243"/>
                </a:lnTo>
                <a:lnTo>
                  <a:pt x="13334" y="13335"/>
                </a:lnTo>
                <a:lnTo>
                  <a:pt x="336679" y="13335"/>
                </a:lnTo>
                <a:lnTo>
                  <a:pt x="336679" y="4974"/>
                </a:lnTo>
                <a:lnTo>
                  <a:pt x="331703" y="0"/>
                </a:lnTo>
                <a:close/>
              </a:path>
              <a:path w="337184" h="330835">
                <a:moveTo>
                  <a:pt x="336679" y="13335"/>
                </a:moveTo>
                <a:lnTo>
                  <a:pt x="323344" y="13335"/>
                </a:lnTo>
                <a:lnTo>
                  <a:pt x="323344" y="317243"/>
                </a:lnTo>
                <a:lnTo>
                  <a:pt x="336679" y="317243"/>
                </a:lnTo>
                <a:lnTo>
                  <a:pt x="336679" y="13335"/>
                </a:lnTo>
                <a:close/>
              </a:path>
              <a:path w="337184" h="330835">
                <a:moveTo>
                  <a:pt x="318899" y="17779"/>
                </a:moveTo>
                <a:lnTo>
                  <a:pt x="17779" y="17779"/>
                </a:lnTo>
                <a:lnTo>
                  <a:pt x="17779" y="312798"/>
                </a:lnTo>
                <a:lnTo>
                  <a:pt x="318899" y="312798"/>
                </a:lnTo>
                <a:lnTo>
                  <a:pt x="318899" y="308353"/>
                </a:lnTo>
                <a:lnTo>
                  <a:pt x="22225" y="308353"/>
                </a:lnTo>
                <a:lnTo>
                  <a:pt x="22225" y="22225"/>
                </a:lnTo>
                <a:lnTo>
                  <a:pt x="318899" y="22225"/>
                </a:lnTo>
                <a:lnTo>
                  <a:pt x="318899" y="17779"/>
                </a:lnTo>
                <a:close/>
              </a:path>
              <a:path w="337184" h="330835">
                <a:moveTo>
                  <a:pt x="318899" y="22225"/>
                </a:moveTo>
                <a:lnTo>
                  <a:pt x="314454" y="22225"/>
                </a:lnTo>
                <a:lnTo>
                  <a:pt x="314454" y="308353"/>
                </a:lnTo>
                <a:lnTo>
                  <a:pt x="318899" y="308353"/>
                </a:lnTo>
                <a:lnTo>
                  <a:pt x="318899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38469" y="2948288"/>
            <a:ext cx="219075" cy="259079"/>
          </a:xfrm>
          <a:custGeom>
            <a:avLst/>
            <a:gdLst/>
            <a:ahLst/>
            <a:cxnLst/>
            <a:rect l="l" t="t" r="r" b="b"/>
            <a:pathLst>
              <a:path w="219075" h="259080">
                <a:moveTo>
                  <a:pt x="0" y="0"/>
                </a:moveTo>
                <a:lnTo>
                  <a:pt x="219011" y="0"/>
                </a:lnTo>
                <a:lnTo>
                  <a:pt x="219011" y="258914"/>
                </a:lnTo>
                <a:lnTo>
                  <a:pt x="0" y="258914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627356" y="2937175"/>
            <a:ext cx="241300" cy="281305"/>
          </a:xfrm>
          <a:custGeom>
            <a:avLst/>
            <a:gdLst/>
            <a:ahLst/>
            <a:cxnLst/>
            <a:rect l="l" t="t" r="r" b="b"/>
            <a:pathLst>
              <a:path w="241300" h="281305">
                <a:moveTo>
                  <a:pt x="236261" y="0"/>
                </a:moveTo>
                <a:lnTo>
                  <a:pt x="4974" y="0"/>
                </a:lnTo>
                <a:lnTo>
                  <a:pt x="0" y="4975"/>
                </a:lnTo>
                <a:lnTo>
                  <a:pt x="0" y="276164"/>
                </a:lnTo>
                <a:lnTo>
                  <a:pt x="4974" y="281139"/>
                </a:lnTo>
                <a:lnTo>
                  <a:pt x="236261" y="281139"/>
                </a:lnTo>
                <a:lnTo>
                  <a:pt x="241236" y="276164"/>
                </a:lnTo>
                <a:lnTo>
                  <a:pt x="241236" y="267804"/>
                </a:lnTo>
                <a:lnTo>
                  <a:pt x="13334" y="267804"/>
                </a:lnTo>
                <a:lnTo>
                  <a:pt x="13334" y="13334"/>
                </a:lnTo>
                <a:lnTo>
                  <a:pt x="241236" y="13334"/>
                </a:lnTo>
                <a:lnTo>
                  <a:pt x="241236" y="4975"/>
                </a:lnTo>
                <a:lnTo>
                  <a:pt x="236261" y="0"/>
                </a:lnTo>
                <a:close/>
              </a:path>
              <a:path w="241300" h="281305">
                <a:moveTo>
                  <a:pt x="241236" y="13334"/>
                </a:moveTo>
                <a:lnTo>
                  <a:pt x="227901" y="13334"/>
                </a:lnTo>
                <a:lnTo>
                  <a:pt x="227901" y="267804"/>
                </a:lnTo>
                <a:lnTo>
                  <a:pt x="241236" y="267804"/>
                </a:lnTo>
                <a:lnTo>
                  <a:pt x="241236" y="13334"/>
                </a:lnTo>
                <a:close/>
              </a:path>
              <a:path w="241300" h="281305">
                <a:moveTo>
                  <a:pt x="223456" y="17779"/>
                </a:moveTo>
                <a:lnTo>
                  <a:pt x="17779" y="17779"/>
                </a:lnTo>
                <a:lnTo>
                  <a:pt x="17779" y="263359"/>
                </a:lnTo>
                <a:lnTo>
                  <a:pt x="223456" y="263359"/>
                </a:lnTo>
                <a:lnTo>
                  <a:pt x="223456" y="258914"/>
                </a:lnTo>
                <a:lnTo>
                  <a:pt x="22225" y="258914"/>
                </a:lnTo>
                <a:lnTo>
                  <a:pt x="22225" y="22225"/>
                </a:lnTo>
                <a:lnTo>
                  <a:pt x="223456" y="22225"/>
                </a:lnTo>
                <a:lnTo>
                  <a:pt x="223456" y="17779"/>
                </a:lnTo>
                <a:close/>
              </a:path>
              <a:path w="241300" h="281305">
                <a:moveTo>
                  <a:pt x="223456" y="22225"/>
                </a:moveTo>
                <a:lnTo>
                  <a:pt x="219011" y="22225"/>
                </a:lnTo>
                <a:lnTo>
                  <a:pt x="219011" y="258914"/>
                </a:lnTo>
                <a:lnTo>
                  <a:pt x="223456" y="258914"/>
                </a:lnTo>
                <a:lnTo>
                  <a:pt x="223456" y="22225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080335" y="2507995"/>
            <a:ext cx="1469390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Cambria Math"/>
                <a:cs typeface="Cambria Math"/>
              </a:rPr>
              <a:t>𝒊</a:t>
            </a: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-th data</a:t>
            </a:r>
            <a:r>
              <a:rPr dirty="0" sz="1800" spc="-50" b="1">
                <a:solidFill>
                  <a:srgbClr val="C0000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point</a:t>
            </a:r>
            <a:endParaRPr sz="1800">
              <a:latin typeface="Corbel"/>
              <a:cs typeface="Corbel"/>
            </a:endParaRPr>
          </a:p>
          <a:p>
            <a:pPr marL="125095">
              <a:lnSpc>
                <a:spcPct val="100000"/>
              </a:lnSpc>
              <a:spcBef>
                <a:spcPts val="1320"/>
              </a:spcBef>
            </a:pPr>
            <a:r>
              <a:rPr dirty="0" sz="1800" spc="-5">
                <a:solidFill>
                  <a:srgbClr val="B48200"/>
                </a:solidFill>
                <a:latin typeface="Cambria Math"/>
                <a:cs typeface="Cambria Math"/>
              </a:rPr>
              <a:t>𝒋</a:t>
            </a:r>
            <a:r>
              <a:rPr dirty="0" sz="1800" spc="-5" b="1">
                <a:solidFill>
                  <a:srgbClr val="B48200"/>
                </a:solidFill>
                <a:latin typeface="Corbel"/>
                <a:cs typeface="Corbel"/>
              </a:rPr>
              <a:t>-th</a:t>
            </a:r>
            <a:r>
              <a:rPr dirty="0" sz="1800" spc="-65" b="1">
                <a:solidFill>
                  <a:srgbClr val="B4820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B48200"/>
                </a:solidFill>
                <a:latin typeface="Corbel"/>
                <a:cs typeface="Corbel"/>
              </a:rPr>
              <a:t>target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47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14172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2185" y="3566053"/>
            <a:ext cx="1145986" cy="1063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33760" y="374035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33761" y="374035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44492" y="3408503"/>
            <a:ext cx="130492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375920" marR="93345" indent="-275590">
              <a:lnSpc>
                <a:spcPct val="100000"/>
              </a:lnSpc>
              <a:spcBef>
                <a:spcPts val="7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Prediction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head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5045" y="340379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383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290"/>
              </a:spcBef>
            </a:pPr>
            <a:r>
              <a:rPr dirty="0" sz="2000" spc="-5" b="1">
                <a:latin typeface="Calibri"/>
                <a:cs typeface="Calibri"/>
              </a:rPr>
              <a:t>Predictions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9740" y="3408503"/>
            <a:ext cx="84645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192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27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4602" y="459234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48285" marR="241300" indent="217170">
              <a:lnSpc>
                <a:spcPct val="100000"/>
              </a:lnSpc>
              <a:spcBef>
                <a:spcPts val="9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Loss  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24602" y="2129477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99085" marR="130810" indent="-161290">
              <a:lnSpc>
                <a:spcPct val="100000"/>
              </a:lnSpc>
              <a:spcBef>
                <a:spcPts val="90"/>
              </a:spcBef>
            </a:pP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Evaluation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metrics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60268" y="3638903"/>
            <a:ext cx="956356" cy="11017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27797" y="256629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40970" marR="129539">
              <a:lnSpc>
                <a:spcPct val="100000"/>
              </a:lnSpc>
              <a:spcBef>
                <a:spcPts val="610"/>
              </a:spcBef>
            </a:pPr>
            <a:r>
              <a:rPr dirty="0" sz="2000" spc="-10" b="1">
                <a:latin typeface="Calibri"/>
                <a:cs typeface="Calibri"/>
              </a:rPr>
              <a:t>Graph  Neural  Network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1717" y="374136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51717" y="374136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18217" y="2566291"/>
            <a:ext cx="140589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9060" rIns="0" bIns="0" rtlCol="0" vert="horz">
            <a:spAutoFit/>
          </a:bodyPr>
          <a:lstStyle/>
          <a:p>
            <a:pPr marL="55244" marR="24130" indent="362585">
              <a:lnSpc>
                <a:spcPct val="100000"/>
              </a:lnSpc>
              <a:spcBef>
                <a:spcPts val="780"/>
              </a:spcBef>
            </a:pPr>
            <a:r>
              <a:rPr dirty="0" sz="2000" spc="-5" b="1">
                <a:latin typeface="Calibri"/>
                <a:cs typeface="Calibri"/>
              </a:rPr>
              <a:t>Node  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03065" y="434158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03064" y="434158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31728" y="437467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31728" y="4374669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41554" y="4395882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41553" y="4395882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73933" y="342399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73932" y="3423989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34808" y="3707080"/>
            <a:ext cx="283845" cy="85725"/>
          </a:xfrm>
          <a:custGeom>
            <a:avLst/>
            <a:gdLst/>
            <a:ahLst/>
            <a:cxnLst/>
            <a:rect l="l" t="t" r="r" b="b"/>
            <a:pathLst>
              <a:path w="283844" h="85725">
                <a:moveTo>
                  <a:pt x="197683" y="57149"/>
                </a:moveTo>
                <a:lnTo>
                  <a:pt x="197683" y="85725"/>
                </a:lnTo>
                <a:lnTo>
                  <a:pt x="254833" y="57150"/>
                </a:lnTo>
                <a:lnTo>
                  <a:pt x="197683" y="57149"/>
                </a:lnTo>
                <a:close/>
              </a:path>
              <a:path w="283844" h="85725">
                <a:moveTo>
                  <a:pt x="197683" y="28574"/>
                </a:moveTo>
                <a:lnTo>
                  <a:pt x="197683" y="57149"/>
                </a:lnTo>
                <a:lnTo>
                  <a:pt x="219862" y="57148"/>
                </a:lnTo>
                <a:lnTo>
                  <a:pt x="226258" y="50753"/>
                </a:lnTo>
                <a:lnTo>
                  <a:pt x="226256" y="34970"/>
                </a:lnTo>
                <a:lnTo>
                  <a:pt x="219861" y="28575"/>
                </a:lnTo>
                <a:lnTo>
                  <a:pt x="197683" y="28574"/>
                </a:lnTo>
                <a:close/>
              </a:path>
              <a:path w="283844" h="85725">
                <a:moveTo>
                  <a:pt x="197683" y="0"/>
                </a:moveTo>
                <a:lnTo>
                  <a:pt x="197683" y="28574"/>
                </a:lnTo>
                <a:lnTo>
                  <a:pt x="211970" y="28575"/>
                </a:lnTo>
                <a:lnTo>
                  <a:pt x="219861" y="28575"/>
                </a:lnTo>
                <a:lnTo>
                  <a:pt x="226256" y="34970"/>
                </a:lnTo>
                <a:lnTo>
                  <a:pt x="226258" y="50753"/>
                </a:lnTo>
                <a:lnTo>
                  <a:pt x="219861" y="57150"/>
                </a:lnTo>
                <a:lnTo>
                  <a:pt x="254835" y="57148"/>
                </a:lnTo>
                <a:lnTo>
                  <a:pt x="283408" y="42862"/>
                </a:lnTo>
                <a:lnTo>
                  <a:pt x="197683" y="0"/>
                </a:lnTo>
                <a:close/>
              </a:path>
              <a:path w="283844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97683" y="57149"/>
                </a:lnTo>
                <a:lnTo>
                  <a:pt x="19768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09615" y="3706943"/>
            <a:ext cx="335280" cy="85725"/>
          </a:xfrm>
          <a:custGeom>
            <a:avLst/>
            <a:gdLst/>
            <a:ahLst/>
            <a:cxnLst/>
            <a:rect l="l" t="t" r="r" b="b"/>
            <a:pathLst>
              <a:path w="335279" h="85725">
                <a:moveTo>
                  <a:pt x="306335" y="28562"/>
                </a:moveTo>
                <a:lnTo>
                  <a:pt x="271322" y="28562"/>
                </a:lnTo>
                <a:lnTo>
                  <a:pt x="277723" y="34955"/>
                </a:lnTo>
                <a:lnTo>
                  <a:pt x="277732" y="50737"/>
                </a:lnTo>
                <a:lnTo>
                  <a:pt x="271339" y="57137"/>
                </a:lnTo>
                <a:lnTo>
                  <a:pt x="249161" y="57150"/>
                </a:lnTo>
                <a:lnTo>
                  <a:pt x="249177" y="85724"/>
                </a:lnTo>
                <a:lnTo>
                  <a:pt x="334877" y="42812"/>
                </a:lnTo>
                <a:lnTo>
                  <a:pt x="306335" y="28562"/>
                </a:lnTo>
                <a:close/>
              </a:path>
              <a:path w="335279" h="85725">
                <a:moveTo>
                  <a:pt x="249144" y="28575"/>
                </a:moveTo>
                <a:lnTo>
                  <a:pt x="6393" y="28715"/>
                </a:lnTo>
                <a:lnTo>
                  <a:pt x="0" y="35115"/>
                </a:lnTo>
                <a:lnTo>
                  <a:pt x="8" y="50897"/>
                </a:lnTo>
                <a:lnTo>
                  <a:pt x="6409" y="57290"/>
                </a:lnTo>
                <a:lnTo>
                  <a:pt x="249161" y="57150"/>
                </a:lnTo>
                <a:lnTo>
                  <a:pt x="249144" y="28575"/>
                </a:lnTo>
                <a:close/>
              </a:path>
              <a:path w="335279" h="85725">
                <a:moveTo>
                  <a:pt x="271322" y="28562"/>
                </a:moveTo>
                <a:lnTo>
                  <a:pt x="249144" y="28575"/>
                </a:lnTo>
                <a:lnTo>
                  <a:pt x="249161" y="57150"/>
                </a:lnTo>
                <a:lnTo>
                  <a:pt x="271339" y="57137"/>
                </a:lnTo>
                <a:lnTo>
                  <a:pt x="277732" y="50737"/>
                </a:lnTo>
                <a:lnTo>
                  <a:pt x="277723" y="34955"/>
                </a:lnTo>
                <a:lnTo>
                  <a:pt x="271322" y="28562"/>
                </a:lnTo>
                <a:close/>
              </a:path>
              <a:path w="335279" h="85725">
                <a:moveTo>
                  <a:pt x="249128" y="0"/>
                </a:moveTo>
                <a:lnTo>
                  <a:pt x="249144" y="28575"/>
                </a:lnTo>
                <a:lnTo>
                  <a:pt x="306335" y="28562"/>
                </a:lnTo>
                <a:lnTo>
                  <a:pt x="249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34710" y="3703551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318" y="50292"/>
                </a:lnTo>
                <a:lnTo>
                  <a:pt x="247023" y="56789"/>
                </a:lnTo>
                <a:lnTo>
                  <a:pt x="224847" y="57142"/>
                </a:lnTo>
                <a:lnTo>
                  <a:pt x="225303" y="85714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251" y="54322"/>
                </a:lnTo>
                <a:lnTo>
                  <a:pt x="6748" y="60617"/>
                </a:lnTo>
                <a:lnTo>
                  <a:pt x="224847" y="5714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847" y="57142"/>
                </a:lnTo>
                <a:lnTo>
                  <a:pt x="247023" y="56789"/>
                </a:lnTo>
                <a:lnTo>
                  <a:pt x="253318" y="50292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32162" y="2811983"/>
            <a:ext cx="595630" cy="607695"/>
          </a:xfrm>
          <a:custGeom>
            <a:avLst/>
            <a:gdLst/>
            <a:ahLst/>
            <a:cxnLst/>
            <a:rect l="l" t="t" r="r" b="b"/>
            <a:pathLst>
              <a:path w="595629" h="607695">
                <a:moveTo>
                  <a:pt x="525097" y="51249"/>
                </a:moveTo>
                <a:lnTo>
                  <a:pt x="0" y="587447"/>
                </a:lnTo>
                <a:lnTo>
                  <a:pt x="93" y="596493"/>
                </a:lnTo>
                <a:lnTo>
                  <a:pt x="11369" y="607534"/>
                </a:lnTo>
                <a:lnTo>
                  <a:pt x="20415" y="607440"/>
                </a:lnTo>
                <a:lnTo>
                  <a:pt x="545514" y="71243"/>
                </a:lnTo>
                <a:lnTo>
                  <a:pt x="525097" y="51249"/>
                </a:lnTo>
                <a:close/>
              </a:path>
              <a:path w="595629" h="607695">
                <a:moveTo>
                  <a:pt x="583924" y="35311"/>
                </a:moveTo>
                <a:lnTo>
                  <a:pt x="549661" y="35311"/>
                </a:lnTo>
                <a:lnTo>
                  <a:pt x="560936" y="46352"/>
                </a:lnTo>
                <a:lnTo>
                  <a:pt x="561031" y="55398"/>
                </a:lnTo>
                <a:lnTo>
                  <a:pt x="545514" y="71243"/>
                </a:lnTo>
                <a:lnTo>
                  <a:pt x="565929" y="91236"/>
                </a:lnTo>
                <a:lnTo>
                  <a:pt x="583924" y="35311"/>
                </a:lnTo>
                <a:close/>
              </a:path>
              <a:path w="595629" h="607695">
                <a:moveTo>
                  <a:pt x="549661" y="35311"/>
                </a:moveTo>
                <a:lnTo>
                  <a:pt x="540614" y="35405"/>
                </a:lnTo>
                <a:lnTo>
                  <a:pt x="525097" y="51249"/>
                </a:lnTo>
                <a:lnTo>
                  <a:pt x="545514" y="71243"/>
                </a:lnTo>
                <a:lnTo>
                  <a:pt x="561031" y="55398"/>
                </a:lnTo>
                <a:lnTo>
                  <a:pt x="560936" y="46352"/>
                </a:lnTo>
                <a:lnTo>
                  <a:pt x="549661" y="35311"/>
                </a:lnTo>
                <a:close/>
              </a:path>
              <a:path w="595629" h="607695">
                <a:moveTo>
                  <a:pt x="595285" y="0"/>
                </a:moveTo>
                <a:lnTo>
                  <a:pt x="504682" y="31257"/>
                </a:lnTo>
                <a:lnTo>
                  <a:pt x="525097" y="51249"/>
                </a:lnTo>
                <a:lnTo>
                  <a:pt x="540614" y="35405"/>
                </a:lnTo>
                <a:lnTo>
                  <a:pt x="549661" y="35311"/>
                </a:lnTo>
                <a:lnTo>
                  <a:pt x="583924" y="35311"/>
                </a:lnTo>
                <a:lnTo>
                  <a:pt x="5952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27448" y="2811983"/>
            <a:ext cx="842010" cy="612775"/>
          </a:xfrm>
          <a:custGeom>
            <a:avLst/>
            <a:gdLst/>
            <a:ahLst/>
            <a:cxnLst/>
            <a:rect l="l" t="t" r="r" b="b"/>
            <a:pathLst>
              <a:path w="842009" h="612775">
                <a:moveTo>
                  <a:pt x="77845" y="38637"/>
                </a:moveTo>
                <a:lnTo>
                  <a:pt x="61106" y="61795"/>
                </a:lnTo>
                <a:lnTo>
                  <a:pt x="823328" y="612722"/>
                </a:lnTo>
                <a:lnTo>
                  <a:pt x="832260" y="611285"/>
                </a:lnTo>
                <a:lnTo>
                  <a:pt x="841504" y="598495"/>
                </a:lnTo>
                <a:lnTo>
                  <a:pt x="840066" y="589563"/>
                </a:lnTo>
                <a:lnTo>
                  <a:pt x="77845" y="38637"/>
                </a:lnTo>
                <a:close/>
              </a:path>
              <a:path w="842009" h="612775">
                <a:moveTo>
                  <a:pt x="0" y="0"/>
                </a:moveTo>
                <a:lnTo>
                  <a:pt x="44367" y="84955"/>
                </a:lnTo>
                <a:lnTo>
                  <a:pt x="61106" y="61795"/>
                </a:lnTo>
                <a:lnTo>
                  <a:pt x="43131" y="48803"/>
                </a:lnTo>
                <a:lnTo>
                  <a:pt x="41694" y="39872"/>
                </a:lnTo>
                <a:lnTo>
                  <a:pt x="50939" y="27082"/>
                </a:lnTo>
                <a:lnTo>
                  <a:pt x="59870" y="25645"/>
                </a:lnTo>
                <a:lnTo>
                  <a:pt x="87236" y="25645"/>
                </a:lnTo>
                <a:lnTo>
                  <a:pt x="94584" y="15478"/>
                </a:lnTo>
                <a:lnTo>
                  <a:pt x="0" y="0"/>
                </a:lnTo>
                <a:close/>
              </a:path>
              <a:path w="842009" h="612775">
                <a:moveTo>
                  <a:pt x="59870" y="25645"/>
                </a:moveTo>
                <a:lnTo>
                  <a:pt x="50939" y="27082"/>
                </a:lnTo>
                <a:lnTo>
                  <a:pt x="41694" y="39872"/>
                </a:lnTo>
                <a:lnTo>
                  <a:pt x="43131" y="48803"/>
                </a:lnTo>
                <a:lnTo>
                  <a:pt x="61106" y="61795"/>
                </a:lnTo>
                <a:lnTo>
                  <a:pt x="77845" y="38637"/>
                </a:lnTo>
                <a:lnTo>
                  <a:pt x="59870" y="25645"/>
                </a:lnTo>
                <a:close/>
              </a:path>
              <a:path w="842009" h="612775">
                <a:moveTo>
                  <a:pt x="87236" y="25645"/>
                </a:moveTo>
                <a:lnTo>
                  <a:pt x="59870" y="25645"/>
                </a:lnTo>
                <a:lnTo>
                  <a:pt x="77845" y="38637"/>
                </a:lnTo>
                <a:lnTo>
                  <a:pt x="87236" y="25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27448" y="4074700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51013" y="436500"/>
                </a:moveTo>
                <a:lnTo>
                  <a:pt x="0" y="517639"/>
                </a:lnTo>
                <a:lnTo>
                  <a:pt x="95519" y="509766"/>
                </a:lnTo>
                <a:lnTo>
                  <a:pt x="87678" y="496858"/>
                </a:lnTo>
                <a:lnTo>
                  <a:pt x="61729" y="496858"/>
                </a:lnTo>
                <a:lnTo>
                  <a:pt x="52941" y="494711"/>
                </a:lnTo>
                <a:lnTo>
                  <a:pt x="44748" y="481224"/>
                </a:lnTo>
                <a:lnTo>
                  <a:pt x="46893" y="472436"/>
                </a:lnTo>
                <a:lnTo>
                  <a:pt x="65848" y="460921"/>
                </a:lnTo>
                <a:lnTo>
                  <a:pt x="51013" y="436500"/>
                </a:lnTo>
                <a:close/>
              </a:path>
              <a:path w="842009" h="518160">
                <a:moveTo>
                  <a:pt x="65848" y="460921"/>
                </a:moveTo>
                <a:lnTo>
                  <a:pt x="46893" y="472436"/>
                </a:lnTo>
                <a:lnTo>
                  <a:pt x="44748" y="481224"/>
                </a:lnTo>
                <a:lnTo>
                  <a:pt x="52941" y="494711"/>
                </a:lnTo>
                <a:lnTo>
                  <a:pt x="61729" y="496858"/>
                </a:lnTo>
                <a:lnTo>
                  <a:pt x="80683" y="485344"/>
                </a:lnTo>
                <a:lnTo>
                  <a:pt x="65848" y="460921"/>
                </a:lnTo>
                <a:close/>
              </a:path>
              <a:path w="842009" h="518160">
                <a:moveTo>
                  <a:pt x="80683" y="485344"/>
                </a:moveTo>
                <a:lnTo>
                  <a:pt x="61729" y="496858"/>
                </a:lnTo>
                <a:lnTo>
                  <a:pt x="87678" y="496858"/>
                </a:lnTo>
                <a:lnTo>
                  <a:pt x="80683" y="485344"/>
                </a:lnTo>
                <a:close/>
              </a:path>
              <a:path w="842009" h="518160">
                <a:moveTo>
                  <a:pt x="824628" y="0"/>
                </a:moveTo>
                <a:lnTo>
                  <a:pt x="65848" y="460921"/>
                </a:lnTo>
                <a:lnTo>
                  <a:pt x="80683" y="485344"/>
                </a:lnTo>
                <a:lnTo>
                  <a:pt x="839464" y="24422"/>
                </a:lnTo>
                <a:lnTo>
                  <a:pt x="841609" y="15633"/>
                </a:lnTo>
                <a:lnTo>
                  <a:pt x="833417" y="2146"/>
                </a:lnTo>
                <a:lnTo>
                  <a:pt x="824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31939" y="4070342"/>
            <a:ext cx="595630" cy="522605"/>
          </a:xfrm>
          <a:custGeom>
            <a:avLst/>
            <a:gdLst/>
            <a:ahLst/>
            <a:cxnLst/>
            <a:rect l="l" t="t" r="r" b="b"/>
            <a:pathLst>
              <a:path w="595629" h="522604">
                <a:moveTo>
                  <a:pt x="521537" y="476376"/>
                </a:moveTo>
                <a:lnTo>
                  <a:pt x="502743" y="497900"/>
                </a:lnTo>
                <a:lnTo>
                  <a:pt x="595509" y="521997"/>
                </a:lnTo>
                <a:lnTo>
                  <a:pt x="582775" y="490964"/>
                </a:lnTo>
                <a:lnTo>
                  <a:pt x="538245" y="490964"/>
                </a:lnTo>
                <a:lnTo>
                  <a:pt x="521537" y="476376"/>
                </a:lnTo>
                <a:close/>
              </a:path>
              <a:path w="595629" h="522604">
                <a:moveTo>
                  <a:pt x="540332" y="454851"/>
                </a:moveTo>
                <a:lnTo>
                  <a:pt x="521537" y="476376"/>
                </a:lnTo>
                <a:lnTo>
                  <a:pt x="538245" y="490964"/>
                </a:lnTo>
                <a:lnTo>
                  <a:pt x="547269" y="490353"/>
                </a:lnTo>
                <a:lnTo>
                  <a:pt x="557649" y="478464"/>
                </a:lnTo>
                <a:lnTo>
                  <a:pt x="557038" y="469438"/>
                </a:lnTo>
                <a:lnTo>
                  <a:pt x="540332" y="454851"/>
                </a:lnTo>
                <a:close/>
              </a:path>
              <a:path w="595629" h="522604">
                <a:moveTo>
                  <a:pt x="559126" y="433327"/>
                </a:moveTo>
                <a:lnTo>
                  <a:pt x="540332" y="454851"/>
                </a:lnTo>
                <a:lnTo>
                  <a:pt x="557038" y="469438"/>
                </a:lnTo>
                <a:lnTo>
                  <a:pt x="557649" y="478464"/>
                </a:lnTo>
                <a:lnTo>
                  <a:pt x="547269" y="490353"/>
                </a:lnTo>
                <a:lnTo>
                  <a:pt x="538245" y="490964"/>
                </a:lnTo>
                <a:lnTo>
                  <a:pt x="582775" y="490964"/>
                </a:lnTo>
                <a:lnTo>
                  <a:pt x="559126" y="433327"/>
                </a:lnTo>
                <a:close/>
              </a:path>
              <a:path w="595629" h="522604">
                <a:moveTo>
                  <a:pt x="19405" y="0"/>
                </a:moveTo>
                <a:lnTo>
                  <a:pt x="10379" y="610"/>
                </a:lnTo>
                <a:lnTo>
                  <a:pt x="0" y="12499"/>
                </a:lnTo>
                <a:lnTo>
                  <a:pt x="610" y="21525"/>
                </a:lnTo>
                <a:lnTo>
                  <a:pt x="521537" y="476376"/>
                </a:lnTo>
                <a:lnTo>
                  <a:pt x="540332" y="454851"/>
                </a:lnTo>
                <a:lnTo>
                  <a:pt x="1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8603" y="3721533"/>
            <a:ext cx="1035141" cy="10474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55488" y="256629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86995" rIns="0" bIns="0" rtlCol="0" vert="horz">
            <a:spAutoFit/>
          </a:bodyPr>
          <a:lstStyle/>
          <a:p>
            <a:pPr marL="250825" marR="291465" indent="40005">
              <a:lnSpc>
                <a:spcPct val="100000"/>
              </a:lnSpc>
              <a:spcBef>
                <a:spcPts val="685"/>
              </a:spcBef>
            </a:pPr>
            <a:r>
              <a:rPr dirty="0" sz="2000" b="1">
                <a:latin typeface="Calibri"/>
                <a:cs typeface="Calibri"/>
              </a:rPr>
              <a:t>Input  </a:t>
            </a:r>
            <a:r>
              <a:rPr dirty="0" sz="2000" spc="-10" b="1">
                <a:latin typeface="Calibri"/>
                <a:cs typeface="Calibri"/>
              </a:rPr>
              <a:t>Graph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10628" y="3707080"/>
            <a:ext cx="217170" cy="85725"/>
          </a:xfrm>
          <a:custGeom>
            <a:avLst/>
            <a:gdLst/>
            <a:ahLst/>
            <a:cxnLst/>
            <a:rect l="l" t="t" r="r" b="b"/>
            <a:pathLst>
              <a:path w="217169" h="85725">
                <a:moveTo>
                  <a:pt x="131443" y="57149"/>
                </a:moveTo>
                <a:lnTo>
                  <a:pt x="131443" y="85725"/>
                </a:lnTo>
                <a:lnTo>
                  <a:pt x="188593" y="57150"/>
                </a:lnTo>
                <a:lnTo>
                  <a:pt x="131443" y="57149"/>
                </a:lnTo>
                <a:close/>
              </a:path>
              <a:path w="217169" h="85725">
                <a:moveTo>
                  <a:pt x="131443" y="28574"/>
                </a:moveTo>
                <a:lnTo>
                  <a:pt x="131443" y="57149"/>
                </a:lnTo>
                <a:lnTo>
                  <a:pt x="153623" y="57148"/>
                </a:lnTo>
                <a:lnTo>
                  <a:pt x="160018" y="50753"/>
                </a:lnTo>
                <a:lnTo>
                  <a:pt x="160018" y="34970"/>
                </a:lnTo>
                <a:lnTo>
                  <a:pt x="153621" y="28575"/>
                </a:lnTo>
                <a:lnTo>
                  <a:pt x="131443" y="28574"/>
                </a:lnTo>
                <a:close/>
              </a:path>
              <a:path w="217169" h="85725">
                <a:moveTo>
                  <a:pt x="131443" y="0"/>
                </a:moveTo>
                <a:lnTo>
                  <a:pt x="131443" y="28574"/>
                </a:lnTo>
                <a:lnTo>
                  <a:pt x="145731" y="28575"/>
                </a:lnTo>
                <a:lnTo>
                  <a:pt x="153621" y="28575"/>
                </a:lnTo>
                <a:lnTo>
                  <a:pt x="160018" y="34970"/>
                </a:lnTo>
                <a:lnTo>
                  <a:pt x="160018" y="50753"/>
                </a:lnTo>
                <a:lnTo>
                  <a:pt x="153621" y="57150"/>
                </a:lnTo>
                <a:lnTo>
                  <a:pt x="188596" y="57148"/>
                </a:lnTo>
                <a:lnTo>
                  <a:pt x="217168" y="42862"/>
                </a:lnTo>
                <a:lnTo>
                  <a:pt x="131443" y="0"/>
                </a:lnTo>
                <a:close/>
              </a:path>
              <a:path w="217169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31443" y="57149"/>
                </a:lnTo>
                <a:lnTo>
                  <a:pt x="13144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04023" y="1925681"/>
            <a:ext cx="1847214" cy="1090295"/>
          </a:xfrm>
          <a:custGeom>
            <a:avLst/>
            <a:gdLst/>
            <a:ahLst/>
            <a:cxnLst/>
            <a:rect l="l" t="t" r="r" b="b"/>
            <a:pathLst>
              <a:path w="1847215" h="1090295">
                <a:moveTo>
                  <a:pt x="0" y="0"/>
                </a:moveTo>
                <a:lnTo>
                  <a:pt x="1846848" y="0"/>
                </a:lnTo>
                <a:lnTo>
                  <a:pt x="1846848" y="1090097"/>
                </a:lnTo>
                <a:lnTo>
                  <a:pt x="0" y="1090097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2778291" y="1182116"/>
            <a:ext cx="58769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</a:rPr>
              <a:t>(4) How do </a:t>
            </a:r>
            <a:r>
              <a:rPr dirty="0" sz="2400" spc="-15">
                <a:solidFill>
                  <a:srgbClr val="C00000"/>
                </a:solidFill>
              </a:rPr>
              <a:t>we </a:t>
            </a:r>
            <a:r>
              <a:rPr dirty="0" sz="2400" spc="-10">
                <a:solidFill>
                  <a:srgbClr val="C00000"/>
                </a:solidFill>
              </a:rPr>
              <a:t>measure </a:t>
            </a:r>
            <a:r>
              <a:rPr dirty="0" sz="2400" spc="-5">
                <a:solidFill>
                  <a:srgbClr val="C00000"/>
                </a:solidFill>
              </a:rPr>
              <a:t>the success of </a:t>
            </a:r>
            <a:r>
              <a:rPr dirty="0" sz="2400">
                <a:solidFill>
                  <a:srgbClr val="C00000"/>
                </a:solidFill>
              </a:rPr>
              <a:t>a</a:t>
            </a:r>
            <a:r>
              <a:rPr dirty="0" sz="2400" spc="25">
                <a:solidFill>
                  <a:srgbClr val="C00000"/>
                </a:solidFill>
              </a:rPr>
              <a:t> </a:t>
            </a:r>
            <a:r>
              <a:rPr dirty="0" sz="2400" spc="-10">
                <a:solidFill>
                  <a:srgbClr val="C00000"/>
                </a:solidFill>
              </a:rPr>
              <a:t>GNN?</a:t>
            </a:r>
            <a:endParaRPr sz="2400"/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6"/>
              </a:rPr>
              <a:t>http://cs224w.stanford.edu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47</a:t>
            </a:fld>
          </a:p>
        </p:txBody>
      </p:sp>
      <p:sp>
        <p:nvSpPr>
          <p:cNvPr id="36" name="object 36"/>
          <p:cNvSpPr txBox="1"/>
          <p:nvPr/>
        </p:nvSpPr>
        <p:spPr>
          <a:xfrm>
            <a:off x="2778291" y="1550924"/>
            <a:ext cx="151193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Calibri"/>
              <a:buChar char="-"/>
              <a:tabLst>
                <a:tab pos="354965" algn="l"/>
                <a:tab pos="355600" algn="l"/>
              </a:tabLst>
            </a:pP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Accuracy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Calibri"/>
              <a:buChar char="-"/>
              <a:tabLst>
                <a:tab pos="354965" algn="l"/>
                <a:tab pos="355600" algn="l"/>
              </a:tabLst>
            </a:pP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ROC</a:t>
            </a:r>
            <a:r>
              <a:rPr dirty="0" sz="24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AUC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04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84732"/>
            <a:ext cx="78390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>
                <a:solidFill>
                  <a:srgbClr val="000000"/>
                </a:solidFill>
              </a:rPr>
              <a:t>We </a:t>
            </a:r>
            <a:r>
              <a:rPr dirty="0" spc="-5">
                <a:solidFill>
                  <a:srgbClr val="000000"/>
                </a:solidFill>
              </a:rPr>
              <a:t>use </a:t>
            </a:r>
            <a:r>
              <a:rPr dirty="0" spc="-20">
                <a:solidFill>
                  <a:srgbClr val="000000"/>
                </a:solidFill>
              </a:rPr>
              <a:t>standard </a:t>
            </a:r>
            <a:r>
              <a:rPr dirty="0" spc="-15">
                <a:solidFill>
                  <a:srgbClr val="000000"/>
                </a:solidFill>
              </a:rPr>
              <a:t>evaluation </a:t>
            </a:r>
            <a:r>
              <a:rPr dirty="0" spc="-5">
                <a:solidFill>
                  <a:srgbClr val="000000"/>
                </a:solidFill>
              </a:rPr>
              <a:t>metrics </a:t>
            </a:r>
            <a:r>
              <a:rPr dirty="0" spc="-20">
                <a:solidFill>
                  <a:srgbClr val="000000"/>
                </a:solidFill>
              </a:rPr>
              <a:t>for</a:t>
            </a:r>
            <a:r>
              <a:rPr dirty="0" spc="85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GNN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762252"/>
            <a:ext cx="7820659" cy="2580005"/>
          </a:xfrm>
          <a:prstGeom prst="rect">
            <a:avLst/>
          </a:prstGeom>
        </p:spPr>
        <p:txBody>
          <a:bodyPr wrap="square" lIns="0" tIns="10731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(Content </a:t>
            </a:r>
            <a:r>
              <a:rPr dirty="0" sz="2800" spc="-10">
                <a:latin typeface="Calibri"/>
                <a:cs typeface="Calibri"/>
              </a:rPr>
              <a:t>below can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15">
                <a:latin typeface="Calibri"/>
                <a:cs typeface="Calibri"/>
              </a:rPr>
              <a:t>found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20">
                <a:latin typeface="Calibri"/>
                <a:cs typeface="Calibri"/>
              </a:rPr>
              <a:t>any </a:t>
            </a:r>
            <a:r>
              <a:rPr dirty="0" sz="2800">
                <a:latin typeface="Calibri"/>
                <a:cs typeface="Calibri"/>
              </a:rPr>
              <a:t>ML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course)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0">
                <a:latin typeface="Calibri"/>
                <a:cs typeface="Calibri"/>
              </a:rPr>
              <a:t>practice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will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800" spc="-5" u="heavy">
                <a:solidFill>
                  <a:srgbClr val="168BBA"/>
                </a:solidFill>
                <a:latin typeface="Calibri"/>
                <a:cs typeface="Calibri"/>
              </a:rPr>
              <a:t>sklearn</a:t>
            </a:r>
            <a:r>
              <a:rPr dirty="0" sz="2800" spc="-5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for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implementation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ts val="334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Suppose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25">
                <a:latin typeface="Calibri"/>
                <a:cs typeface="Calibri"/>
              </a:rPr>
              <a:t>make </a:t>
            </a:r>
            <a:r>
              <a:rPr dirty="0" sz="2800" spc="-10">
                <a:latin typeface="Calibri"/>
                <a:cs typeface="Calibri"/>
              </a:rPr>
              <a:t>predictions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>
                <a:latin typeface="Cambria Math"/>
                <a:cs typeface="Cambria Math"/>
              </a:rPr>
              <a:t>𝑁 </a:t>
            </a:r>
            <a:r>
              <a:rPr dirty="0" sz="2800" spc="-20">
                <a:latin typeface="Calibri"/>
                <a:cs typeface="Calibri"/>
              </a:rPr>
              <a:t>data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points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2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>
                <a:latin typeface="Calibri"/>
                <a:cs typeface="Calibri"/>
              </a:rPr>
              <a:t>Evaluate </a:t>
            </a:r>
            <a:r>
              <a:rPr dirty="0" sz="3200" spc="-10" b="1">
                <a:latin typeface="Calibri"/>
                <a:cs typeface="Calibri"/>
              </a:rPr>
              <a:t>regression </a:t>
            </a:r>
            <a:r>
              <a:rPr dirty="0" sz="3200" spc="-15" b="1">
                <a:latin typeface="Calibri"/>
                <a:cs typeface="Calibri"/>
              </a:rPr>
              <a:t>tasks </a:t>
            </a:r>
            <a:r>
              <a:rPr dirty="0" sz="3200" b="1">
                <a:latin typeface="Calibri"/>
                <a:cs typeface="Calibri"/>
              </a:rPr>
              <a:t>on</a:t>
            </a:r>
            <a:r>
              <a:rPr dirty="0" sz="3200" spc="-2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graphs: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Font typeface="Malgun Gothic"/>
              <a:buChar char="▪"/>
              <a:tabLst>
                <a:tab pos="625475" algn="l"/>
              </a:tabLst>
            </a:pPr>
            <a:r>
              <a:rPr dirty="0" sz="2800" spc="-20" b="1">
                <a:solidFill>
                  <a:srgbClr val="60B5CC"/>
                </a:solidFill>
                <a:latin typeface="Calibri"/>
                <a:cs typeface="Calibri"/>
              </a:rPr>
              <a:t>Root </a:t>
            </a:r>
            <a:r>
              <a:rPr dirty="0" sz="2800" spc="-5" b="1">
                <a:solidFill>
                  <a:srgbClr val="60B5CC"/>
                </a:solidFill>
                <a:latin typeface="Calibri"/>
                <a:cs typeface="Calibri"/>
              </a:rPr>
              <a:t>mean </a:t>
            </a:r>
            <a:r>
              <a:rPr dirty="0" sz="2800" spc="-10" b="1">
                <a:solidFill>
                  <a:srgbClr val="60B5CC"/>
                </a:solidFill>
                <a:latin typeface="Calibri"/>
                <a:cs typeface="Calibri"/>
              </a:rPr>
              <a:t>square error</a:t>
            </a:r>
            <a:r>
              <a:rPr dirty="0" sz="2800" spc="3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60B5CC"/>
                </a:solidFill>
                <a:latin typeface="Calibri"/>
                <a:cs typeface="Calibri"/>
              </a:rPr>
              <a:t>(RMSE)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54592" y="4416370"/>
            <a:ext cx="2739390" cy="1016635"/>
          </a:xfrm>
          <a:custGeom>
            <a:avLst/>
            <a:gdLst/>
            <a:ahLst/>
            <a:cxnLst/>
            <a:rect l="l" t="t" r="r" b="b"/>
            <a:pathLst>
              <a:path w="2739390" h="1016635">
                <a:moveTo>
                  <a:pt x="66523" y="841325"/>
                </a:moveTo>
                <a:lnTo>
                  <a:pt x="33933" y="841325"/>
                </a:lnTo>
                <a:lnTo>
                  <a:pt x="128885" y="1016198"/>
                </a:lnTo>
                <a:lnTo>
                  <a:pt x="142726" y="1016198"/>
                </a:lnTo>
                <a:lnTo>
                  <a:pt x="146621" y="957858"/>
                </a:lnTo>
                <a:lnTo>
                  <a:pt x="129480" y="957858"/>
                </a:lnTo>
                <a:lnTo>
                  <a:pt x="66523" y="841325"/>
                </a:lnTo>
                <a:close/>
              </a:path>
              <a:path w="2739390" h="1016635">
                <a:moveTo>
                  <a:pt x="239017" y="0"/>
                </a:moveTo>
                <a:lnTo>
                  <a:pt x="192584" y="0"/>
                </a:lnTo>
                <a:lnTo>
                  <a:pt x="129480" y="957858"/>
                </a:lnTo>
                <a:lnTo>
                  <a:pt x="146621" y="957858"/>
                </a:lnTo>
                <a:lnTo>
                  <a:pt x="209252" y="19794"/>
                </a:lnTo>
                <a:lnTo>
                  <a:pt x="2739071" y="19794"/>
                </a:lnTo>
                <a:lnTo>
                  <a:pt x="2739071" y="5685"/>
                </a:lnTo>
                <a:lnTo>
                  <a:pt x="239017" y="5685"/>
                </a:lnTo>
                <a:lnTo>
                  <a:pt x="239017" y="0"/>
                </a:lnTo>
                <a:close/>
              </a:path>
              <a:path w="2739390" h="1016635">
                <a:moveTo>
                  <a:pt x="53578" y="817364"/>
                </a:moveTo>
                <a:lnTo>
                  <a:pt x="0" y="845790"/>
                </a:lnTo>
                <a:lnTo>
                  <a:pt x="5805" y="856357"/>
                </a:lnTo>
                <a:lnTo>
                  <a:pt x="33933" y="841325"/>
                </a:lnTo>
                <a:lnTo>
                  <a:pt x="66523" y="841325"/>
                </a:lnTo>
                <a:lnTo>
                  <a:pt x="53578" y="817364"/>
                </a:lnTo>
                <a:close/>
              </a:path>
              <a:path w="2739390" h="1016635">
                <a:moveTo>
                  <a:pt x="2739071" y="19794"/>
                </a:moveTo>
                <a:lnTo>
                  <a:pt x="224471" y="19794"/>
                </a:lnTo>
                <a:lnTo>
                  <a:pt x="224471" y="31085"/>
                </a:lnTo>
                <a:lnTo>
                  <a:pt x="2739071" y="31085"/>
                </a:lnTo>
                <a:lnTo>
                  <a:pt x="2739071" y="19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69729" y="4507484"/>
            <a:ext cx="809625" cy="861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6559">
              <a:lnSpc>
                <a:spcPts val="1989"/>
              </a:lnSpc>
              <a:spcBef>
                <a:spcPts val="100"/>
              </a:spcBef>
            </a:pPr>
            <a:r>
              <a:rPr dirty="0" sz="1800" spc="755">
                <a:latin typeface="Cambria Math"/>
                <a:cs typeface="Cambria Math"/>
              </a:rPr>
              <a:t>-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570"/>
              </a:lnSpc>
            </a:pPr>
            <a:r>
              <a:rPr dirty="0" sz="2400" spc="185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416559">
              <a:lnSpc>
                <a:spcPts val="2014"/>
              </a:lnSpc>
            </a:pPr>
            <a:r>
              <a:rPr dirty="0" sz="1800" spc="-100">
                <a:latin typeface="Cambria Math"/>
                <a:cs typeface="Cambria Math"/>
              </a:rPr>
              <a:t>*</a:t>
            </a:r>
            <a:r>
              <a:rPr dirty="0" sz="1800" spc="-75">
                <a:latin typeface="Cambria Math"/>
                <a:cs typeface="Cambria Math"/>
              </a:rPr>
              <a:t>+</a:t>
            </a:r>
            <a:r>
              <a:rPr dirty="0" sz="1800" spc="665">
                <a:latin typeface="Cambria Math"/>
                <a:cs typeface="Cambria Math"/>
              </a:rPr>
              <a:t>,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17264" y="4968156"/>
            <a:ext cx="1689100" cy="0"/>
          </a:xfrm>
          <a:custGeom>
            <a:avLst/>
            <a:gdLst/>
            <a:ahLst/>
            <a:cxnLst/>
            <a:rect l="l" t="t" r="r" b="b"/>
            <a:pathLst>
              <a:path w="1689100" h="0">
                <a:moveTo>
                  <a:pt x="0" y="0"/>
                </a:moveTo>
                <a:lnTo>
                  <a:pt x="16891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39988" y="4598159"/>
            <a:ext cx="1491615" cy="282575"/>
          </a:xfrm>
          <a:custGeom>
            <a:avLst/>
            <a:gdLst/>
            <a:ahLst/>
            <a:cxnLst/>
            <a:rect l="l" t="t" r="r" b="b"/>
            <a:pathLst>
              <a:path w="1491614" h="282575">
                <a:moveTo>
                  <a:pt x="1401411" y="0"/>
                </a:moveTo>
                <a:lnTo>
                  <a:pt x="1397393" y="11459"/>
                </a:lnTo>
                <a:lnTo>
                  <a:pt x="1413736" y="18552"/>
                </a:lnTo>
                <a:lnTo>
                  <a:pt x="1427791" y="28370"/>
                </a:lnTo>
                <a:lnTo>
                  <a:pt x="1456329" y="73878"/>
                </a:lnTo>
                <a:lnTo>
                  <a:pt x="1464663" y="115662"/>
                </a:lnTo>
                <a:lnTo>
                  <a:pt x="1465705" y="139749"/>
                </a:lnTo>
                <a:lnTo>
                  <a:pt x="1464659" y="164650"/>
                </a:lnTo>
                <a:lnTo>
                  <a:pt x="1456287" y="207587"/>
                </a:lnTo>
                <a:lnTo>
                  <a:pt x="1427809" y="253825"/>
                </a:lnTo>
                <a:lnTo>
                  <a:pt x="1397839" y="270866"/>
                </a:lnTo>
                <a:lnTo>
                  <a:pt x="1401411" y="282327"/>
                </a:lnTo>
                <a:lnTo>
                  <a:pt x="1439921" y="264263"/>
                </a:lnTo>
                <a:lnTo>
                  <a:pt x="1468235" y="232990"/>
                </a:lnTo>
                <a:lnTo>
                  <a:pt x="1485648" y="191113"/>
                </a:lnTo>
                <a:lnTo>
                  <a:pt x="1491452" y="141237"/>
                </a:lnTo>
                <a:lnTo>
                  <a:pt x="1489996" y="115355"/>
                </a:lnTo>
                <a:lnTo>
                  <a:pt x="1478351" y="69479"/>
                </a:lnTo>
                <a:lnTo>
                  <a:pt x="1455255" y="32132"/>
                </a:lnTo>
                <a:lnTo>
                  <a:pt x="1421880" y="7389"/>
                </a:lnTo>
                <a:lnTo>
                  <a:pt x="1401411" y="0"/>
                </a:lnTo>
                <a:close/>
              </a:path>
              <a:path w="1491614" h="282575">
                <a:moveTo>
                  <a:pt x="90041" y="0"/>
                </a:moveTo>
                <a:lnTo>
                  <a:pt x="51625" y="18100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6" y="263741"/>
                </a:lnTo>
                <a:lnTo>
                  <a:pt x="63643" y="253825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5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26991" y="4416044"/>
            <a:ext cx="15767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655" algn="l"/>
              </a:tabLst>
            </a:pPr>
            <a:r>
              <a:rPr dirty="0" baseline="-16203" sz="3600">
                <a:latin typeface="Cambria Math"/>
                <a:cs typeface="Cambria Math"/>
              </a:rPr>
              <a:t>𝒚</a:t>
            </a: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-100">
                <a:latin typeface="Cambria Math"/>
                <a:cs typeface="Cambria Math"/>
              </a:rPr>
              <a:t>*</a:t>
            </a:r>
            <a:r>
              <a:rPr dirty="0" sz="1800">
                <a:latin typeface="Cambria Math"/>
                <a:cs typeface="Cambria Math"/>
              </a:rPr>
              <a:t>)</a:t>
            </a:r>
            <a:r>
              <a:rPr dirty="0" sz="1800" spc="55">
                <a:latin typeface="Cambria Math"/>
                <a:cs typeface="Cambria Math"/>
              </a:rPr>
              <a:t> </a:t>
            </a:r>
            <a:r>
              <a:rPr dirty="0" baseline="-16203" sz="3600">
                <a:latin typeface="Cambria Math"/>
                <a:cs typeface="Cambria Math"/>
              </a:rPr>
              <a:t>−</a:t>
            </a:r>
            <a:r>
              <a:rPr dirty="0" baseline="-16203" sz="3600" spc="-7">
                <a:latin typeface="Cambria Math"/>
                <a:cs typeface="Cambria Math"/>
              </a:rPr>
              <a:t> </a:t>
            </a:r>
            <a:r>
              <a:rPr dirty="0" baseline="-16203" sz="3600" spc="-2100">
                <a:latin typeface="Cambria Math"/>
                <a:cs typeface="Cambria Math"/>
              </a:rPr>
              <a:t>𝒚</a:t>
            </a:r>
            <a:r>
              <a:rPr dirty="0" baseline="-16203" sz="3600" spc="89">
                <a:latin typeface="Cambria Math"/>
                <a:cs typeface="Cambria Math"/>
              </a:rPr>
              <a:t>3</a:t>
            </a: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-100">
                <a:latin typeface="Cambria Math"/>
                <a:cs typeface="Cambria Math"/>
              </a:rPr>
              <a:t>*</a:t>
            </a:r>
            <a:r>
              <a:rPr dirty="0" sz="1800">
                <a:latin typeface="Cambria Math"/>
                <a:cs typeface="Cambria Math"/>
              </a:rPr>
              <a:t>)	</a:t>
            </a:r>
            <a:r>
              <a:rPr dirty="0" sz="1800" spc="35">
                <a:latin typeface="Cambria Math"/>
                <a:cs typeface="Cambria Math"/>
              </a:rPr>
              <a:t>4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7955" y="4943347"/>
            <a:ext cx="248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𝑁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14592" y="5988327"/>
            <a:ext cx="0" cy="368300"/>
          </a:xfrm>
          <a:custGeom>
            <a:avLst/>
            <a:gdLst/>
            <a:ahLst/>
            <a:cxnLst/>
            <a:rect l="l" t="t" r="r" b="b"/>
            <a:pathLst>
              <a:path w="0" h="368300">
                <a:moveTo>
                  <a:pt x="0" y="0"/>
                </a:moveTo>
                <a:lnTo>
                  <a:pt x="0" y="368200"/>
                </a:lnTo>
              </a:path>
            </a:pathLst>
          </a:custGeom>
          <a:ln w="229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26101" y="5988327"/>
            <a:ext cx="0" cy="368300"/>
          </a:xfrm>
          <a:custGeom>
            <a:avLst/>
            <a:gdLst/>
            <a:ahLst/>
            <a:cxnLst/>
            <a:rect l="l" t="t" r="r" b="b"/>
            <a:pathLst>
              <a:path w="0" h="368300">
                <a:moveTo>
                  <a:pt x="0" y="0"/>
                </a:moveTo>
                <a:lnTo>
                  <a:pt x="0" y="368200"/>
                </a:lnTo>
              </a:path>
            </a:pathLst>
          </a:custGeom>
          <a:ln w="229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56563" y="5474715"/>
            <a:ext cx="4343400" cy="74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ts val="3080"/>
              </a:lnSpc>
              <a:spcBef>
                <a:spcPts val="100"/>
              </a:spcBef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60B5CC"/>
                </a:solidFill>
                <a:latin typeface="Calibri"/>
                <a:cs typeface="Calibri"/>
              </a:rPr>
              <a:t>Mean </a:t>
            </a:r>
            <a:r>
              <a:rPr dirty="0" sz="2800" spc="-10" b="1">
                <a:solidFill>
                  <a:srgbClr val="60B5CC"/>
                </a:solidFill>
                <a:latin typeface="Calibri"/>
                <a:cs typeface="Calibri"/>
              </a:rPr>
              <a:t>absolute error</a:t>
            </a:r>
            <a:r>
              <a:rPr dirty="0" sz="2800" spc="-2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800" spc="-114" b="1">
                <a:solidFill>
                  <a:srgbClr val="60B5CC"/>
                </a:solidFill>
                <a:latin typeface="Calibri"/>
                <a:cs typeface="Calibri"/>
              </a:rPr>
              <a:t>(MAE)</a:t>
            </a:r>
            <a:endParaRPr sz="2800">
              <a:latin typeface="Calibri"/>
              <a:cs typeface="Calibri"/>
            </a:endParaRPr>
          </a:p>
          <a:p>
            <a:pPr marL="2329180">
              <a:lnSpc>
                <a:spcPts val="2600"/>
              </a:lnSpc>
              <a:tabLst>
                <a:tab pos="3017520" algn="l"/>
              </a:tabLst>
            </a:pPr>
            <a:r>
              <a:rPr dirty="0" baseline="-18518" sz="3600" spc="562">
                <a:latin typeface="Cambria Math"/>
                <a:cs typeface="Cambria Math"/>
              </a:rPr>
              <a:t>∑</a:t>
            </a:r>
            <a:r>
              <a:rPr dirty="0" baseline="3086" sz="2700" spc="562">
                <a:latin typeface="Cambria Math"/>
                <a:cs typeface="Cambria Math"/>
              </a:rPr>
              <a:t>-	</a:t>
            </a:r>
            <a:r>
              <a:rPr dirty="0" baseline="-20833" sz="3600" spc="-52">
                <a:latin typeface="Cambria Math"/>
                <a:cs typeface="Cambria Math"/>
              </a:rPr>
              <a:t>𝒚</a:t>
            </a:r>
            <a:r>
              <a:rPr dirty="0" sz="1800" spc="-35">
                <a:latin typeface="Cambria Math"/>
                <a:cs typeface="Cambria Math"/>
              </a:rPr>
              <a:t>(*) </a:t>
            </a:r>
            <a:r>
              <a:rPr dirty="0" baseline="-20833" sz="3600">
                <a:latin typeface="Cambria Math"/>
                <a:cs typeface="Cambria Math"/>
              </a:rPr>
              <a:t>−</a:t>
            </a:r>
            <a:r>
              <a:rPr dirty="0" baseline="-20833" sz="3600" spc="37">
                <a:latin typeface="Cambria Math"/>
                <a:cs typeface="Cambria Math"/>
              </a:rPr>
              <a:t> </a:t>
            </a:r>
            <a:r>
              <a:rPr dirty="0" baseline="-20833" sz="3600" spc="-442">
                <a:latin typeface="Cambria Math"/>
                <a:cs typeface="Cambria Math"/>
              </a:rPr>
              <a:t>𝒚</a:t>
            </a:r>
            <a:r>
              <a:rPr dirty="0" baseline="-19675" sz="3600" spc="-442">
                <a:latin typeface="Cambria Math"/>
                <a:cs typeface="Cambria Math"/>
              </a:rPr>
              <a:t>3</a:t>
            </a:r>
            <a:r>
              <a:rPr dirty="0" sz="1800" spc="-295">
                <a:latin typeface="Cambria Math"/>
                <a:cs typeface="Cambria Math"/>
              </a:rPr>
              <a:t>(*)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47</a:t>
            </a:fld>
          </a:p>
        </p:txBody>
      </p:sp>
      <p:sp>
        <p:nvSpPr>
          <p:cNvPr id="14" name="object 14"/>
          <p:cNvSpPr txBox="1"/>
          <p:nvPr/>
        </p:nvSpPr>
        <p:spPr>
          <a:xfrm>
            <a:off x="3267964" y="6092444"/>
            <a:ext cx="2108200" cy="678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220979" algn="l"/>
                <a:tab pos="2082164" algn="l"/>
              </a:tabLst>
            </a:pPr>
            <a:r>
              <a:rPr dirty="0" sz="1800" u="heavy">
                <a:latin typeface="Times New Roman"/>
                <a:cs typeface="Times New Roman"/>
              </a:rPr>
              <a:t> 	</a:t>
            </a:r>
            <a:r>
              <a:rPr dirty="0" sz="1800" spc="160" u="heavy">
                <a:latin typeface="Cambria Math"/>
                <a:cs typeface="Cambria Math"/>
              </a:rPr>
              <a:t>*+,	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latin typeface="Cambria Math"/>
                <a:cs typeface="Cambria Math"/>
              </a:rPr>
              <a:t>𝑁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6615"/>
            <a:ext cx="7336535" cy="3962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6427470" cy="90043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445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30">
                <a:solidFill>
                  <a:srgbClr val="000000"/>
                </a:solidFill>
              </a:rPr>
              <a:t>Evaluate </a:t>
            </a:r>
            <a:r>
              <a:rPr dirty="0" sz="3000" spc="-10">
                <a:solidFill>
                  <a:srgbClr val="000000"/>
                </a:solidFill>
              </a:rPr>
              <a:t>classification </a:t>
            </a:r>
            <a:r>
              <a:rPr dirty="0" sz="3000" spc="-15">
                <a:solidFill>
                  <a:srgbClr val="000000"/>
                </a:solidFill>
              </a:rPr>
              <a:t>tasks </a:t>
            </a:r>
            <a:r>
              <a:rPr dirty="0" sz="3000">
                <a:solidFill>
                  <a:srgbClr val="000000"/>
                </a:solidFill>
              </a:rPr>
              <a:t>on</a:t>
            </a:r>
            <a:r>
              <a:rPr dirty="0" sz="3000" spc="50">
                <a:solidFill>
                  <a:srgbClr val="000000"/>
                </a:solidFill>
              </a:rPr>
              <a:t> </a:t>
            </a:r>
            <a:r>
              <a:rPr dirty="0" sz="3000" spc="-15">
                <a:solidFill>
                  <a:srgbClr val="000000"/>
                </a:solidFill>
              </a:rPr>
              <a:t>graphs:</a:t>
            </a:r>
            <a:endParaRPr sz="3000"/>
          </a:p>
          <a:p>
            <a:pPr marL="332740" indent="-320040">
              <a:lnSpc>
                <a:spcPts val="344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solidFill>
                  <a:srgbClr val="000000"/>
                </a:solidFill>
              </a:rPr>
              <a:t>(1) </a:t>
            </a:r>
            <a:r>
              <a:rPr dirty="0" sz="3000" spc="-5">
                <a:solidFill>
                  <a:srgbClr val="000000"/>
                </a:solidFill>
              </a:rPr>
              <a:t>Multi-class</a:t>
            </a:r>
            <a:r>
              <a:rPr dirty="0" sz="3000" spc="-50">
                <a:solidFill>
                  <a:srgbClr val="000000"/>
                </a:solidFill>
              </a:rPr>
              <a:t> </a:t>
            </a:r>
            <a:r>
              <a:rPr dirty="0" sz="3000" spc="-10">
                <a:solidFill>
                  <a:srgbClr val="000000"/>
                </a:solidFill>
              </a:rPr>
              <a:t>classification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956563" y="2211324"/>
            <a:ext cx="446278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287020" algn="l"/>
              </a:tabLst>
            </a:pPr>
            <a:r>
              <a:rPr dirty="0" sz="2600" spc="-45" b="1">
                <a:solidFill>
                  <a:srgbClr val="60B5CC"/>
                </a:solidFill>
                <a:latin typeface="Calibri"/>
                <a:cs typeface="Calibri"/>
              </a:rPr>
              <a:t>We </a:t>
            </a:r>
            <a:r>
              <a:rPr dirty="0" sz="2600" spc="-5" b="1">
                <a:solidFill>
                  <a:srgbClr val="60B5CC"/>
                </a:solidFill>
                <a:latin typeface="Calibri"/>
                <a:cs typeface="Calibri"/>
              </a:rPr>
              <a:t>simply report the</a:t>
            </a:r>
            <a:r>
              <a:rPr dirty="0" sz="2600" spc="-1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60B5CC"/>
                </a:solidFill>
                <a:latin typeface="Calibri"/>
                <a:cs typeface="Calibri"/>
              </a:rPr>
              <a:t>accuracy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21864" y="3152139"/>
            <a:ext cx="3213100" cy="0"/>
          </a:xfrm>
          <a:custGeom>
            <a:avLst/>
            <a:gdLst/>
            <a:ahLst/>
            <a:cxnLst/>
            <a:rect l="l" t="t" r="r" b="b"/>
            <a:pathLst>
              <a:path w="3213100" h="0">
                <a:moveTo>
                  <a:pt x="0" y="0"/>
                </a:moveTo>
                <a:lnTo>
                  <a:pt x="32131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17632" y="3087370"/>
            <a:ext cx="73660" cy="0"/>
          </a:xfrm>
          <a:custGeom>
            <a:avLst/>
            <a:gdLst/>
            <a:ahLst/>
            <a:cxnLst/>
            <a:rect l="l" t="t" r="r" b="b"/>
            <a:pathLst>
              <a:path w="73660" h="0">
                <a:moveTo>
                  <a:pt x="0" y="0"/>
                </a:moveTo>
                <a:lnTo>
                  <a:pt x="7352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76158" y="2708910"/>
            <a:ext cx="0" cy="372110"/>
          </a:xfrm>
          <a:custGeom>
            <a:avLst/>
            <a:gdLst/>
            <a:ahLst/>
            <a:cxnLst/>
            <a:rect l="l" t="t" r="r" b="b"/>
            <a:pathLst>
              <a:path w="0" h="372110">
                <a:moveTo>
                  <a:pt x="0" y="0"/>
                </a:moveTo>
                <a:lnTo>
                  <a:pt x="0" y="372110"/>
                </a:lnTo>
              </a:path>
            </a:pathLst>
          </a:custGeom>
          <a:ln w="299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17632" y="2701925"/>
            <a:ext cx="73660" cy="0"/>
          </a:xfrm>
          <a:custGeom>
            <a:avLst/>
            <a:gdLst/>
            <a:ahLst/>
            <a:cxnLst/>
            <a:rect l="l" t="t" r="r" b="b"/>
            <a:pathLst>
              <a:path w="73660" h="0">
                <a:moveTo>
                  <a:pt x="0" y="0"/>
                </a:moveTo>
                <a:lnTo>
                  <a:pt x="73520" y="0"/>
                </a:lnTo>
              </a:path>
            </a:pathLst>
          </a:custGeom>
          <a:ln w="139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40234" y="3087370"/>
            <a:ext cx="73660" cy="0"/>
          </a:xfrm>
          <a:custGeom>
            <a:avLst/>
            <a:gdLst/>
            <a:ahLst/>
            <a:cxnLst/>
            <a:rect l="l" t="t" r="r" b="b"/>
            <a:pathLst>
              <a:path w="73660" h="0">
                <a:moveTo>
                  <a:pt x="0" y="0"/>
                </a:moveTo>
                <a:lnTo>
                  <a:pt x="7352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55228" y="2708910"/>
            <a:ext cx="0" cy="372110"/>
          </a:xfrm>
          <a:custGeom>
            <a:avLst/>
            <a:gdLst/>
            <a:ahLst/>
            <a:cxnLst/>
            <a:rect l="l" t="t" r="r" b="b"/>
            <a:pathLst>
              <a:path w="0" h="372110">
                <a:moveTo>
                  <a:pt x="0" y="0"/>
                </a:moveTo>
                <a:lnTo>
                  <a:pt x="0" y="372110"/>
                </a:lnTo>
              </a:path>
            </a:pathLst>
          </a:custGeom>
          <a:ln w="299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40234" y="2701925"/>
            <a:ext cx="73660" cy="0"/>
          </a:xfrm>
          <a:custGeom>
            <a:avLst/>
            <a:gdLst/>
            <a:ahLst/>
            <a:cxnLst/>
            <a:rect l="l" t="t" r="r" b="b"/>
            <a:pathLst>
              <a:path w="73660" h="0">
                <a:moveTo>
                  <a:pt x="0" y="0"/>
                </a:moveTo>
                <a:lnTo>
                  <a:pt x="73521" y="0"/>
                </a:lnTo>
              </a:path>
            </a:pathLst>
          </a:custGeom>
          <a:ln w="139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07308" y="2695182"/>
            <a:ext cx="741680" cy="399415"/>
          </a:xfrm>
          <a:custGeom>
            <a:avLst/>
            <a:gdLst/>
            <a:ahLst/>
            <a:cxnLst/>
            <a:rect l="l" t="t" r="r" b="b"/>
            <a:pathLst>
              <a:path w="741679" h="399414">
                <a:moveTo>
                  <a:pt x="636809" y="0"/>
                </a:moveTo>
                <a:lnTo>
                  <a:pt x="632778" y="13221"/>
                </a:lnTo>
                <a:lnTo>
                  <a:pt x="651103" y="22723"/>
                </a:lnTo>
                <a:lnTo>
                  <a:pt x="667060" y="36559"/>
                </a:lnTo>
                <a:lnTo>
                  <a:pt x="691869" y="77229"/>
                </a:lnTo>
                <a:lnTo>
                  <a:pt x="706924" y="132491"/>
                </a:lnTo>
                <a:lnTo>
                  <a:pt x="711942" y="199603"/>
                </a:lnTo>
                <a:lnTo>
                  <a:pt x="710688" y="234565"/>
                </a:lnTo>
                <a:lnTo>
                  <a:pt x="700651" y="295631"/>
                </a:lnTo>
                <a:lnTo>
                  <a:pt x="680648" y="344201"/>
                </a:lnTo>
                <a:lnTo>
                  <a:pt x="651103" y="376165"/>
                </a:lnTo>
                <a:lnTo>
                  <a:pt x="632778" y="385663"/>
                </a:lnTo>
                <a:lnTo>
                  <a:pt x="636809" y="398884"/>
                </a:lnTo>
                <a:lnTo>
                  <a:pt x="681349" y="375143"/>
                </a:lnTo>
                <a:lnTo>
                  <a:pt x="714361" y="330361"/>
                </a:lnTo>
                <a:lnTo>
                  <a:pt x="734796" y="269980"/>
                </a:lnTo>
                <a:lnTo>
                  <a:pt x="741608" y="199442"/>
                </a:lnTo>
                <a:lnTo>
                  <a:pt x="739905" y="162903"/>
                </a:lnTo>
                <a:lnTo>
                  <a:pt x="726281" y="97443"/>
                </a:lnTo>
                <a:lnTo>
                  <a:pt x="699296" y="43502"/>
                </a:lnTo>
                <a:lnTo>
                  <a:pt x="660520" y="9240"/>
                </a:lnTo>
                <a:lnTo>
                  <a:pt x="636809" y="0"/>
                </a:lnTo>
                <a:close/>
              </a:path>
              <a:path w="741679" h="399414">
                <a:moveTo>
                  <a:pt x="104800" y="0"/>
                </a:moveTo>
                <a:lnTo>
                  <a:pt x="60260" y="23741"/>
                </a:lnTo>
                <a:lnTo>
                  <a:pt x="27247" y="68522"/>
                </a:lnTo>
                <a:lnTo>
                  <a:pt x="6812" y="128903"/>
                </a:lnTo>
                <a:lnTo>
                  <a:pt x="0" y="199442"/>
                </a:lnTo>
                <a:lnTo>
                  <a:pt x="1703" y="235980"/>
                </a:lnTo>
                <a:lnTo>
                  <a:pt x="15327" y="301440"/>
                </a:lnTo>
                <a:lnTo>
                  <a:pt x="42313" y="355382"/>
                </a:lnTo>
                <a:lnTo>
                  <a:pt x="81089" y="389643"/>
                </a:lnTo>
                <a:lnTo>
                  <a:pt x="104800" y="398884"/>
                </a:lnTo>
                <a:lnTo>
                  <a:pt x="108831" y="385663"/>
                </a:lnTo>
                <a:lnTo>
                  <a:pt x="90506" y="376165"/>
                </a:lnTo>
                <a:lnTo>
                  <a:pt x="74549" y="362345"/>
                </a:lnTo>
                <a:lnTo>
                  <a:pt x="49739" y="321735"/>
                </a:lnTo>
                <a:lnTo>
                  <a:pt x="34685" y="266574"/>
                </a:lnTo>
                <a:lnTo>
                  <a:pt x="29672" y="199442"/>
                </a:lnTo>
                <a:lnTo>
                  <a:pt x="30921" y="164565"/>
                </a:lnTo>
                <a:lnTo>
                  <a:pt x="40957" y="103379"/>
                </a:lnTo>
                <a:lnTo>
                  <a:pt x="60960" y="54727"/>
                </a:lnTo>
                <a:lnTo>
                  <a:pt x="90506" y="22723"/>
                </a:lnTo>
                <a:lnTo>
                  <a:pt x="108831" y="13221"/>
                </a:lnTo>
                <a:lnTo>
                  <a:pt x="1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708211" y="2647188"/>
            <a:ext cx="20205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8285" algn="l"/>
              </a:tabLst>
            </a:pPr>
            <a:r>
              <a:rPr dirty="0" sz="2600">
                <a:latin typeface="Cambria Math"/>
                <a:cs typeface="Cambria Math"/>
              </a:rPr>
              <a:t>1 </a:t>
            </a:r>
            <a:r>
              <a:rPr dirty="0" sz="2600" spc="-225">
                <a:latin typeface="Cambria Math"/>
                <a:cs typeface="Cambria Math"/>
              </a:rPr>
              <a:t> </a:t>
            </a:r>
            <a:r>
              <a:rPr dirty="0" sz="2600" spc="0">
                <a:latin typeface="Cambria Math"/>
                <a:cs typeface="Cambria Math"/>
              </a:rPr>
              <a:t>a</a:t>
            </a:r>
            <a:r>
              <a:rPr dirty="0" sz="2600" spc="-20">
                <a:latin typeface="Cambria Math"/>
                <a:cs typeface="Cambria Math"/>
              </a:rPr>
              <a:t>r</a:t>
            </a:r>
            <a:r>
              <a:rPr dirty="0" sz="2600">
                <a:latin typeface="Cambria Math"/>
                <a:cs typeface="Cambria Math"/>
              </a:rPr>
              <a:t>g</a:t>
            </a:r>
            <a:r>
              <a:rPr dirty="0" sz="2600" spc="-5">
                <a:latin typeface="Cambria Math"/>
                <a:cs typeface="Cambria Math"/>
              </a:rPr>
              <a:t>m</a:t>
            </a:r>
            <a:r>
              <a:rPr dirty="0" sz="2600" spc="0">
                <a:latin typeface="Cambria Math"/>
                <a:cs typeface="Cambria Math"/>
              </a:rPr>
              <a:t>a</a:t>
            </a:r>
            <a:r>
              <a:rPr dirty="0" sz="2600">
                <a:latin typeface="Cambria Math"/>
                <a:cs typeface="Cambria Math"/>
              </a:rPr>
              <a:t>x	</a:t>
            </a:r>
            <a:r>
              <a:rPr dirty="0" sz="2600" spc="-1520">
                <a:latin typeface="Cambria Math"/>
                <a:cs typeface="Cambria Math"/>
              </a:rPr>
              <a:t>𝒚</a:t>
            </a:r>
            <a:r>
              <a:rPr dirty="0" baseline="1068" sz="3900" spc="1139">
                <a:latin typeface="Cambria Math"/>
                <a:cs typeface="Cambria Math"/>
              </a:rPr>
              <a:t>!</a:t>
            </a:r>
            <a:r>
              <a:rPr dirty="0" baseline="27777" sz="2850" spc="-7">
                <a:latin typeface="Cambria Math"/>
                <a:cs typeface="Cambria Math"/>
              </a:rPr>
              <a:t>(</a:t>
            </a:r>
            <a:r>
              <a:rPr dirty="0" baseline="27777" sz="2850" spc="-1050">
                <a:latin typeface="Cambria Math"/>
                <a:cs typeface="Cambria Math"/>
              </a:rPr>
              <a:t>+</a:t>
            </a:r>
            <a:r>
              <a:rPr dirty="0" baseline="27777" sz="2850">
                <a:latin typeface="Cambria Math"/>
                <a:cs typeface="Cambria Math"/>
              </a:rPr>
              <a:t>)</a:t>
            </a:r>
            <a:endParaRPr baseline="27777" sz="28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47</a:t>
            </a:fld>
          </a:p>
        </p:txBody>
      </p:sp>
      <p:sp>
        <p:nvSpPr>
          <p:cNvPr id="14" name="object 14"/>
          <p:cNvSpPr txBox="1"/>
          <p:nvPr/>
        </p:nvSpPr>
        <p:spPr>
          <a:xfrm>
            <a:off x="4956936" y="2525267"/>
            <a:ext cx="85280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299" sz="3900">
                <a:latin typeface="Cambria Math"/>
                <a:cs typeface="Cambria Math"/>
              </a:rPr>
              <a:t>=</a:t>
            </a:r>
            <a:r>
              <a:rPr dirty="0" baseline="-20299" sz="3900" spc="75">
                <a:latin typeface="Cambria Math"/>
                <a:cs typeface="Cambria Math"/>
              </a:rPr>
              <a:t> </a:t>
            </a:r>
            <a:r>
              <a:rPr dirty="0" baseline="-20299" sz="3900" spc="-270">
                <a:latin typeface="Cambria Math"/>
                <a:cs typeface="Cambria Math"/>
              </a:rPr>
              <a:t>𝒚</a:t>
            </a:r>
            <a:r>
              <a:rPr dirty="0" sz="1900" spc="-180">
                <a:latin typeface="Cambria Math"/>
                <a:cs typeface="Cambria Math"/>
              </a:rPr>
              <a:t>(+)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86999" y="3119628"/>
            <a:ext cx="26733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Cambria Math"/>
                <a:cs typeface="Cambria Math"/>
              </a:rPr>
              <a:t>𝑁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108" y="3335176"/>
            <a:ext cx="7840345" cy="288163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5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b="1">
                <a:latin typeface="Calibri"/>
                <a:cs typeface="Calibri"/>
              </a:rPr>
              <a:t>(2) </a:t>
            </a:r>
            <a:r>
              <a:rPr dirty="0" sz="3000" spc="-5" b="1">
                <a:latin typeface="Calibri"/>
                <a:cs typeface="Calibri"/>
              </a:rPr>
              <a:t>Binary</a:t>
            </a:r>
            <a:r>
              <a:rPr dirty="0" sz="3000" spc="-4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classification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0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Metrics </a:t>
            </a:r>
            <a:r>
              <a:rPr dirty="0" sz="2600" spc="-10">
                <a:latin typeface="Calibri"/>
                <a:cs typeface="Calibri"/>
              </a:rPr>
              <a:t>sensitive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5">
                <a:latin typeface="Calibri"/>
                <a:cs typeface="Calibri"/>
              </a:rPr>
              <a:t>classification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threshold</a:t>
            </a:r>
            <a:endParaRPr sz="26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27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 spc="-10" b="1">
                <a:solidFill>
                  <a:srgbClr val="60B5CC"/>
                </a:solidFill>
                <a:latin typeface="Calibri"/>
                <a:cs typeface="Calibri"/>
              </a:rPr>
              <a:t>Accuracy</a:t>
            </a:r>
            <a:endParaRPr sz="22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26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 spc="-5" b="1">
                <a:solidFill>
                  <a:srgbClr val="60B5CC"/>
                </a:solidFill>
                <a:latin typeface="Calibri"/>
                <a:cs typeface="Calibri"/>
              </a:rPr>
              <a:t>Precision </a:t>
            </a:r>
            <a:r>
              <a:rPr dirty="0" sz="2200" b="1">
                <a:solidFill>
                  <a:srgbClr val="60B5CC"/>
                </a:solidFill>
                <a:latin typeface="Calibri"/>
                <a:cs typeface="Calibri"/>
              </a:rPr>
              <a:t>/</a:t>
            </a:r>
            <a:r>
              <a:rPr dirty="0" sz="2200" spc="-6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60B5CC"/>
                </a:solidFill>
                <a:latin typeface="Calibri"/>
                <a:cs typeface="Calibri"/>
              </a:rPr>
              <a:t>Recall</a:t>
            </a:r>
            <a:endParaRPr sz="22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26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 spc="-5">
                <a:latin typeface="Calibri"/>
                <a:cs typeface="Calibri"/>
              </a:rPr>
              <a:t>If the </a:t>
            </a:r>
            <a:r>
              <a:rPr dirty="0" sz="2200" spc="-20">
                <a:latin typeface="Calibri"/>
                <a:cs typeface="Calibri"/>
              </a:rPr>
              <a:t>range </a:t>
            </a:r>
            <a:r>
              <a:rPr dirty="0" sz="2200">
                <a:latin typeface="Calibri"/>
                <a:cs typeface="Calibri"/>
              </a:rPr>
              <a:t>of </a:t>
            </a:r>
            <a:r>
              <a:rPr dirty="0" sz="2200" spc="-10">
                <a:latin typeface="Calibri"/>
                <a:cs typeface="Calibri"/>
              </a:rPr>
              <a:t>prediction </a:t>
            </a:r>
            <a:r>
              <a:rPr dirty="0" sz="2200" spc="-5">
                <a:latin typeface="Calibri"/>
                <a:cs typeface="Calibri"/>
              </a:rPr>
              <a:t>is </a:t>
            </a:r>
            <a:r>
              <a:rPr dirty="0" sz="2200" spc="-5">
                <a:latin typeface="Cambria Math"/>
                <a:cs typeface="Cambria Math"/>
              </a:rPr>
              <a:t>[0,1]</a:t>
            </a:r>
            <a:r>
              <a:rPr dirty="0" sz="2200" spc="-5">
                <a:latin typeface="Calibri"/>
                <a:cs typeface="Calibri"/>
              </a:rPr>
              <a:t>, </a:t>
            </a:r>
            <a:r>
              <a:rPr dirty="0" sz="2200" spc="-10">
                <a:latin typeface="Calibri"/>
                <a:cs typeface="Calibri"/>
              </a:rPr>
              <a:t>we </a:t>
            </a:r>
            <a:r>
              <a:rPr dirty="0" sz="2200" spc="-5">
                <a:latin typeface="Calibri"/>
                <a:cs typeface="Calibri"/>
              </a:rPr>
              <a:t>will use 0.5 as</a:t>
            </a:r>
            <a:r>
              <a:rPr dirty="0" sz="2200" spc="135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threshold</a:t>
            </a:r>
            <a:endParaRPr sz="2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4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Metric </a:t>
            </a:r>
            <a:r>
              <a:rPr dirty="0" sz="2600" spc="-10">
                <a:latin typeface="Calibri"/>
                <a:cs typeface="Calibri"/>
              </a:rPr>
              <a:t>Agnostic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5">
                <a:latin typeface="Calibri"/>
                <a:cs typeface="Calibri"/>
              </a:rPr>
              <a:t>classification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threshold</a:t>
            </a:r>
            <a:endParaRPr sz="26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27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 spc="-10" b="1">
                <a:solidFill>
                  <a:srgbClr val="C00000"/>
                </a:solidFill>
                <a:latin typeface="Calibri"/>
                <a:cs typeface="Calibri"/>
              </a:rPr>
              <a:t>ROC</a:t>
            </a:r>
            <a:r>
              <a:rPr dirty="0" sz="22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15" b="1">
                <a:solidFill>
                  <a:srgbClr val="C00000"/>
                </a:solidFill>
                <a:latin typeface="Calibri"/>
                <a:cs typeface="Calibri"/>
              </a:rPr>
              <a:t>AUC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77240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1761489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solidFill>
                  <a:srgbClr val="C00000"/>
                </a:solidFill>
              </a:rPr>
              <a:t>Accuracy</a:t>
            </a:r>
            <a:r>
              <a:rPr dirty="0" sz="2800" spc="-10">
                <a:solidFill>
                  <a:srgbClr val="000000"/>
                </a:solidFill>
              </a:rPr>
              <a:t>: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2442464" y="2199639"/>
            <a:ext cx="2540000" cy="0"/>
          </a:xfrm>
          <a:custGeom>
            <a:avLst/>
            <a:gdLst/>
            <a:ahLst/>
            <a:cxnLst/>
            <a:rect l="l" t="t" r="r" b="b"/>
            <a:pathLst>
              <a:path w="2540000" h="0">
                <a:moveTo>
                  <a:pt x="0" y="0"/>
                </a:moveTo>
                <a:lnTo>
                  <a:pt x="2540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140329" y="1739900"/>
            <a:ext cx="1130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TP +</a:t>
            </a:r>
            <a:r>
              <a:rPr dirty="0" sz="2400" spc="-10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TN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6164" y="2199639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 h="0">
                <a:moveTo>
                  <a:pt x="0" y="0"/>
                </a:moveTo>
                <a:lnTo>
                  <a:pt x="11810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46979" y="1739900"/>
            <a:ext cx="14795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41666" sz="3600">
                <a:latin typeface="Cambria Math"/>
                <a:cs typeface="Cambria Math"/>
              </a:rPr>
              <a:t>=  </a:t>
            </a:r>
            <a:r>
              <a:rPr dirty="0" sz="2400">
                <a:latin typeface="Cambria Math"/>
                <a:cs typeface="Cambria Math"/>
              </a:rPr>
              <a:t>TP +</a:t>
            </a:r>
            <a:r>
              <a:rPr dirty="0" sz="2400" spc="-2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TN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8638" y="2175764"/>
            <a:ext cx="1204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mbria Math"/>
                <a:cs typeface="Cambria Math"/>
              </a:rPr>
              <a:t>|Dataset|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66464" y="3380740"/>
            <a:ext cx="1054100" cy="0"/>
          </a:xfrm>
          <a:custGeom>
            <a:avLst/>
            <a:gdLst/>
            <a:ahLst/>
            <a:cxnLst/>
            <a:rect l="l" t="t" r="r" b="b"/>
            <a:pathLst>
              <a:path w="1054100" h="0">
                <a:moveTo>
                  <a:pt x="0" y="0"/>
                </a:moveTo>
                <a:lnTo>
                  <a:pt x="10540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18108" y="2175764"/>
            <a:ext cx="4369435" cy="1137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8005">
              <a:lnSpc>
                <a:spcPts val="2835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TP + TN + </a:t>
            </a:r>
            <a:r>
              <a:rPr dirty="0" sz="2400" spc="-5">
                <a:latin typeface="Cambria Math"/>
                <a:cs typeface="Cambria Math"/>
              </a:rPr>
              <a:t>FP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FN</a:t>
            </a:r>
            <a:endParaRPr sz="2400">
              <a:latin typeface="Cambria Math"/>
              <a:cs typeface="Cambria Math"/>
            </a:endParaRPr>
          </a:p>
          <a:p>
            <a:pPr marL="332740" indent="-320040">
              <a:lnSpc>
                <a:spcPts val="318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Precision</a:t>
            </a:r>
            <a:r>
              <a:rPr dirty="0" sz="28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(P):</a:t>
            </a:r>
            <a:endParaRPr sz="2800">
              <a:latin typeface="Calibri"/>
              <a:cs typeface="Calibri"/>
            </a:endParaRPr>
          </a:p>
          <a:p>
            <a:pPr algn="r" marR="308610">
              <a:lnSpc>
                <a:spcPts val="2745"/>
              </a:lnSpc>
            </a:pPr>
            <a:r>
              <a:rPr dirty="0" sz="2400">
                <a:latin typeface="Cambria Math"/>
                <a:cs typeface="Cambria Math"/>
              </a:rPr>
              <a:t>TP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54398" y="3355340"/>
            <a:ext cx="1078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TP +</a:t>
            </a:r>
            <a:r>
              <a:rPr dirty="0" sz="2400" spc="-10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FP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108" y="3645915"/>
            <a:ext cx="18205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Recall</a:t>
            </a:r>
            <a:r>
              <a:rPr dirty="0" sz="28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(R):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53764" y="4498340"/>
            <a:ext cx="1092200" cy="0"/>
          </a:xfrm>
          <a:custGeom>
            <a:avLst/>
            <a:gdLst/>
            <a:ahLst/>
            <a:cxnLst/>
            <a:rect l="l" t="t" r="r" b="b"/>
            <a:pathLst>
              <a:path w="1092200" h="0">
                <a:moveTo>
                  <a:pt x="0" y="0"/>
                </a:moveTo>
                <a:lnTo>
                  <a:pt x="10921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80764" y="5615940"/>
            <a:ext cx="812800" cy="0"/>
          </a:xfrm>
          <a:custGeom>
            <a:avLst/>
            <a:gdLst/>
            <a:ahLst/>
            <a:cxnLst/>
            <a:rect l="l" t="t" r="r" b="b"/>
            <a:pathLst>
              <a:path w="812800" h="0">
                <a:moveTo>
                  <a:pt x="0" y="0"/>
                </a:moveTo>
                <a:lnTo>
                  <a:pt x="8128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18108" y="3967988"/>
            <a:ext cx="5249545" cy="2705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31210" marR="822325" indent="366395">
              <a:lnSpc>
                <a:spcPct val="1192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TP  TP +</a:t>
            </a:r>
            <a:r>
              <a:rPr dirty="0" sz="2400" spc="-10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FN</a:t>
            </a:r>
            <a:endParaRPr sz="2400">
              <a:latin typeface="Cambria Math"/>
              <a:cs typeface="Cambria Math"/>
            </a:endParaRPr>
          </a:p>
          <a:p>
            <a:pPr marL="332740" indent="-320040">
              <a:lnSpc>
                <a:spcPts val="263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F1-Score:</a:t>
            </a:r>
            <a:endParaRPr sz="2800">
              <a:latin typeface="Calibri"/>
              <a:cs typeface="Calibri"/>
            </a:endParaRPr>
          </a:p>
          <a:p>
            <a:pPr algn="r" marR="958215">
              <a:lnSpc>
                <a:spcPts val="2745"/>
              </a:lnSpc>
            </a:pPr>
            <a:r>
              <a:rPr dirty="0" sz="2400" spc="-5">
                <a:latin typeface="Cambria Math"/>
                <a:cs typeface="Cambria Math"/>
              </a:rPr>
              <a:t>2P </a:t>
            </a:r>
            <a:r>
              <a:rPr dirty="0" sz="2400">
                <a:latin typeface="Cambria Math"/>
                <a:cs typeface="Cambria Math"/>
              </a:rPr>
              <a:t>∗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R</a:t>
            </a:r>
            <a:endParaRPr sz="2400">
              <a:latin typeface="Cambria Math"/>
              <a:cs typeface="Cambria Math"/>
            </a:endParaRPr>
          </a:p>
          <a:p>
            <a:pPr algn="r" marR="1002665">
              <a:lnSpc>
                <a:spcPct val="100000"/>
              </a:lnSpc>
              <a:spcBef>
                <a:spcPts val="550"/>
              </a:spcBef>
            </a:pPr>
            <a:r>
              <a:rPr dirty="0" sz="2400">
                <a:latin typeface="Cambria Math"/>
                <a:cs typeface="Cambria Math"/>
              </a:rPr>
              <a:t>P +</a:t>
            </a:r>
            <a:r>
              <a:rPr dirty="0" sz="2400" spc="-10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R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>
              <a:latin typeface="Times New Roman"/>
              <a:cs typeface="Times New Roman"/>
            </a:endParaRPr>
          </a:p>
          <a:p>
            <a:pPr algn="ctr" marL="2533650">
              <a:lnSpc>
                <a:spcPct val="100000"/>
              </a:lnSpc>
            </a:pPr>
            <a:r>
              <a:rPr dirty="0" sz="1800" spc="-5" u="sng">
                <a:solidFill>
                  <a:srgbClr val="168BBA"/>
                </a:solidFill>
                <a:latin typeface="Corbel"/>
                <a:cs typeface="Corbel"/>
              </a:rPr>
              <a:t>Sklearn Classification</a:t>
            </a:r>
            <a:r>
              <a:rPr dirty="0" sz="1800" spc="-100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800" spc="-10" u="sng">
                <a:solidFill>
                  <a:srgbClr val="168BBA"/>
                </a:solidFill>
                <a:latin typeface="Corbel"/>
                <a:cs typeface="Corbel"/>
              </a:rPr>
              <a:t>Report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49775" y="3677193"/>
            <a:ext cx="3147236" cy="1905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95723" y="3108451"/>
            <a:ext cx="2190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Confusion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47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30961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15884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C00000"/>
                </a:solidFill>
              </a:rPr>
              <a:t>ROC </a:t>
            </a:r>
            <a:r>
              <a:rPr dirty="0" spc="-5">
                <a:solidFill>
                  <a:srgbClr val="C00000"/>
                </a:solidFill>
              </a:rPr>
              <a:t>Curve: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Captures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tradeoff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TPR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FPR </a:t>
            </a:r>
            <a:r>
              <a:rPr dirty="0" spc="-5">
                <a:solidFill>
                  <a:srgbClr val="C00000"/>
                </a:solidFill>
              </a:rPr>
              <a:t>as the </a:t>
            </a:r>
            <a:r>
              <a:rPr dirty="0" spc="-10">
                <a:solidFill>
                  <a:srgbClr val="C00000"/>
                </a:solidFill>
              </a:rPr>
              <a:t>classification threshold </a:t>
            </a:r>
            <a:r>
              <a:rPr dirty="0">
                <a:solidFill>
                  <a:srgbClr val="C00000"/>
                </a:solidFill>
              </a:rPr>
              <a:t>is </a:t>
            </a:r>
            <a:r>
              <a:rPr dirty="0" spc="-10">
                <a:solidFill>
                  <a:srgbClr val="C00000"/>
                </a:solidFill>
              </a:rPr>
              <a:t>varied  </a:t>
            </a:r>
            <a:r>
              <a:rPr dirty="0" spc="-20">
                <a:solidFill>
                  <a:srgbClr val="C00000"/>
                </a:solidFill>
              </a:rPr>
              <a:t>for </a:t>
            </a:r>
            <a:r>
              <a:rPr dirty="0">
                <a:solidFill>
                  <a:srgbClr val="C00000"/>
                </a:solidFill>
              </a:rPr>
              <a:t>a </a:t>
            </a:r>
            <a:r>
              <a:rPr dirty="0" spc="-5">
                <a:solidFill>
                  <a:srgbClr val="C00000"/>
                </a:solidFill>
              </a:rPr>
              <a:t>binary</a:t>
            </a:r>
            <a:r>
              <a:rPr dirty="0" spc="-40">
                <a:solidFill>
                  <a:srgbClr val="C00000"/>
                </a:solidFill>
              </a:rPr>
              <a:t> </a:t>
            </a:r>
            <a:r>
              <a:rPr dirty="0" spc="-30">
                <a:solidFill>
                  <a:srgbClr val="C00000"/>
                </a:solidFill>
              </a:rPr>
              <a:t>classifier.</a:t>
            </a:r>
          </a:p>
        </p:txBody>
      </p:sp>
      <p:sp>
        <p:nvSpPr>
          <p:cNvPr id="4" name="object 4"/>
          <p:cNvSpPr/>
          <p:nvPr/>
        </p:nvSpPr>
        <p:spPr>
          <a:xfrm>
            <a:off x="1612232" y="2939046"/>
            <a:ext cx="3362491" cy="32548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06121" y="3696715"/>
            <a:ext cx="20599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TPR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= 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Recall</a:t>
            </a:r>
            <a:r>
              <a:rPr dirty="0" sz="2400" spc="32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07730" y="3926726"/>
            <a:ext cx="1092200" cy="0"/>
          </a:xfrm>
          <a:custGeom>
            <a:avLst/>
            <a:gdLst/>
            <a:ahLst/>
            <a:cxnLst/>
            <a:rect l="l" t="t" r="r" b="b"/>
            <a:pathLst>
              <a:path w="1092200" h="0">
                <a:moveTo>
                  <a:pt x="0" y="0"/>
                </a:moveTo>
                <a:lnTo>
                  <a:pt x="10922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57932" y="3468115"/>
            <a:ext cx="3797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TP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90966" y="3900932"/>
            <a:ext cx="11131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TP +</a:t>
            </a:r>
            <a:r>
              <a:rPr dirty="0" sz="2400" spc="-10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FN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01370" y="4856002"/>
            <a:ext cx="1092200" cy="0"/>
          </a:xfrm>
          <a:custGeom>
            <a:avLst/>
            <a:gdLst/>
            <a:ahLst/>
            <a:cxnLst/>
            <a:rect l="l" t="t" r="r" b="b"/>
            <a:pathLst>
              <a:path w="1092200" h="0">
                <a:moveTo>
                  <a:pt x="0" y="0"/>
                </a:moveTo>
                <a:lnTo>
                  <a:pt x="10922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260653" y="4397755"/>
            <a:ext cx="3625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FP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3158" y="4830571"/>
            <a:ext cx="2035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37037" sz="3600" spc="-7">
                <a:solidFill>
                  <a:srgbClr val="C00000"/>
                </a:solidFill>
                <a:latin typeface="Cambria Math"/>
                <a:cs typeface="Cambria Math"/>
              </a:rPr>
              <a:t>FPR </a:t>
            </a:r>
            <a:r>
              <a:rPr dirty="0" baseline="37037" sz="3600">
                <a:solidFill>
                  <a:srgbClr val="C00000"/>
                </a:solidFill>
                <a:latin typeface="Cambria Math"/>
                <a:cs typeface="Cambria Math"/>
              </a:rPr>
              <a:t>= 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FP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+</a:t>
            </a:r>
            <a:r>
              <a:rPr dirty="0" sz="2400" spc="17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TN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27400" y="5506211"/>
            <a:ext cx="28225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00B050"/>
                </a:solidFill>
                <a:latin typeface="Calibri"/>
                <a:cs typeface="Calibri"/>
              </a:rPr>
              <a:t>Note: </a:t>
            </a:r>
            <a:r>
              <a:rPr dirty="0" sz="2000" spc="-5">
                <a:solidFill>
                  <a:srgbClr val="00B050"/>
                </a:solidFill>
                <a:latin typeface="Calibri"/>
                <a:cs typeface="Calibri"/>
              </a:rPr>
              <a:t>the </a:t>
            </a:r>
            <a:r>
              <a:rPr dirty="0" sz="2000" spc="-5">
                <a:solidFill>
                  <a:srgbClr val="B48200"/>
                </a:solidFill>
                <a:latin typeface="Calibri"/>
                <a:cs typeface="Calibri"/>
              </a:rPr>
              <a:t>dashed line  </a:t>
            </a:r>
            <a:r>
              <a:rPr dirty="0" sz="2000" spc="-10">
                <a:solidFill>
                  <a:srgbClr val="00B050"/>
                </a:solidFill>
                <a:latin typeface="Calibri"/>
                <a:cs typeface="Calibri"/>
              </a:rPr>
              <a:t>represents </a:t>
            </a:r>
            <a:r>
              <a:rPr dirty="0" sz="2000" spc="-5" b="1">
                <a:solidFill>
                  <a:srgbClr val="00B050"/>
                </a:solidFill>
                <a:latin typeface="Calibri"/>
                <a:cs typeface="Calibri"/>
              </a:rPr>
              <a:t>performance of  </a:t>
            </a:r>
            <a:r>
              <a:rPr dirty="0" sz="2000" b="1">
                <a:solidFill>
                  <a:srgbClr val="00B050"/>
                </a:solidFill>
                <a:latin typeface="Calibri"/>
                <a:cs typeface="Calibri"/>
              </a:rPr>
              <a:t>a </a:t>
            </a:r>
            <a:r>
              <a:rPr dirty="0" sz="2000" spc="-10" b="1">
                <a:solidFill>
                  <a:srgbClr val="00B050"/>
                </a:solidFill>
                <a:latin typeface="Calibri"/>
                <a:cs typeface="Calibri"/>
              </a:rPr>
              <a:t>random</a:t>
            </a:r>
            <a:r>
              <a:rPr dirty="0" sz="2000" spc="-55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00B050"/>
                </a:solidFill>
                <a:latin typeface="Calibri"/>
                <a:cs typeface="Calibri"/>
              </a:rPr>
              <a:t>classifier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5161" y="6091428"/>
            <a:ext cx="177418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400" spc="-14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400" spc="-5" u="sng">
                <a:solidFill>
                  <a:srgbClr val="168BBA"/>
                </a:solidFill>
                <a:latin typeface="Corbel"/>
                <a:cs typeface="Corbel"/>
              </a:rPr>
              <a:t>Wikipedia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81734" y="6168644"/>
            <a:ext cx="5518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FPR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0502" y="4214876"/>
            <a:ext cx="5689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T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P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R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30961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4282947"/>
            <a:ext cx="7779384" cy="869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325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ROC AUC: </a:t>
            </a:r>
            <a:r>
              <a:rPr dirty="0" sz="2800" spc="-10" b="1">
                <a:latin typeface="Calibri"/>
                <a:cs typeface="Calibri"/>
              </a:rPr>
              <a:t>Area </a:t>
            </a:r>
            <a:r>
              <a:rPr dirty="0" sz="2800" spc="-5" b="1">
                <a:latin typeface="Calibri"/>
                <a:cs typeface="Calibri"/>
              </a:rPr>
              <a:t>under the </a:t>
            </a:r>
            <a:r>
              <a:rPr dirty="0" sz="2800" spc="-15" b="1">
                <a:latin typeface="Calibri"/>
                <a:cs typeface="Calibri"/>
              </a:rPr>
              <a:t>ROC</a:t>
            </a:r>
            <a:r>
              <a:rPr dirty="0" sz="2800" spc="6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Curve</a:t>
            </a:r>
            <a:r>
              <a:rPr dirty="0" sz="2800" spc="-5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325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solidFill>
                  <a:srgbClr val="60B5CC"/>
                </a:solidFill>
                <a:latin typeface="Calibri"/>
                <a:cs typeface="Calibri"/>
              </a:rPr>
              <a:t>Intuition: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probability that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classifier will </a:t>
            </a:r>
            <a:r>
              <a:rPr dirty="0" sz="2800" spc="-20">
                <a:latin typeface="Calibri"/>
                <a:cs typeface="Calibri"/>
              </a:rPr>
              <a:t>rank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8149" y="5133339"/>
            <a:ext cx="7000875" cy="8699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290"/>
              </a:lnSpc>
              <a:spcBef>
                <a:spcPts val="265"/>
              </a:spcBef>
            </a:pPr>
            <a:r>
              <a:rPr dirty="0" sz="2800" spc="-15">
                <a:latin typeface="Calibri"/>
                <a:cs typeface="Calibri"/>
              </a:rPr>
              <a:t>randomly </a:t>
            </a:r>
            <a:r>
              <a:rPr dirty="0" sz="2800" spc="-5">
                <a:latin typeface="Calibri"/>
                <a:cs typeface="Calibri"/>
              </a:rPr>
              <a:t>chosen </a:t>
            </a:r>
            <a:r>
              <a:rPr dirty="0" sz="2800" spc="-10">
                <a:latin typeface="Calibri"/>
                <a:cs typeface="Calibri"/>
              </a:rPr>
              <a:t>positive instance </a:t>
            </a:r>
            <a:r>
              <a:rPr dirty="0" sz="2800" spc="-5">
                <a:latin typeface="Calibri"/>
                <a:cs typeface="Calibri"/>
              </a:rPr>
              <a:t>higher than </a:t>
            </a:r>
            <a:r>
              <a:rPr dirty="0" sz="2800">
                <a:latin typeface="Calibri"/>
                <a:cs typeface="Calibri"/>
              </a:rPr>
              <a:t>a  </a:t>
            </a:r>
            <a:r>
              <a:rPr dirty="0" sz="2800" spc="-15">
                <a:latin typeface="Calibri"/>
                <a:cs typeface="Calibri"/>
              </a:rPr>
              <a:t>randomly </a:t>
            </a:r>
            <a:r>
              <a:rPr dirty="0" sz="2800" spc="-5">
                <a:latin typeface="Calibri"/>
                <a:cs typeface="Calibri"/>
              </a:rPr>
              <a:t>chosen </a:t>
            </a:r>
            <a:r>
              <a:rPr dirty="0" sz="2800" spc="-20">
                <a:latin typeface="Calibri"/>
                <a:cs typeface="Calibri"/>
              </a:rPr>
              <a:t>negative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one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16177" y="1178452"/>
            <a:ext cx="3230144" cy="3126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468971" y="3790188"/>
            <a:ext cx="19126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A6A6A6"/>
                </a:solidFill>
                <a:latin typeface="Corbel"/>
                <a:cs typeface="Corbel"/>
              </a:rPr>
              <a:t>Content Credit:</a:t>
            </a:r>
            <a:r>
              <a:rPr dirty="0" sz="1400" spc="-15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400" spc="-5" u="sng">
                <a:solidFill>
                  <a:srgbClr val="168BBA"/>
                </a:solidFill>
                <a:latin typeface="Corbel"/>
                <a:cs typeface="Corbel"/>
              </a:rPr>
              <a:t>Wikipedia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0831" y="3541776"/>
            <a:ext cx="8369808" cy="1298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12038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2185" y="2874234"/>
            <a:ext cx="1145986" cy="1063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33760" y="304853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33761" y="304853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44492" y="2716684"/>
            <a:ext cx="130492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375920" marR="93345" indent="-275590">
              <a:lnSpc>
                <a:spcPct val="100000"/>
              </a:lnSpc>
              <a:spcBef>
                <a:spcPts val="7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Prediction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head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5045" y="271197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383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290"/>
              </a:spcBef>
            </a:pPr>
            <a:r>
              <a:rPr dirty="0" sz="2000" spc="-5" b="1">
                <a:latin typeface="Calibri"/>
                <a:cs typeface="Calibri"/>
              </a:rPr>
              <a:t>Predictions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9740" y="2716684"/>
            <a:ext cx="84645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192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27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4602" y="390052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48285" marR="241300" indent="217170">
              <a:lnSpc>
                <a:spcPct val="100000"/>
              </a:lnSpc>
              <a:spcBef>
                <a:spcPts val="9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Loss  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024602" y="1437659"/>
            <a:ext cx="1405890" cy="682625"/>
          </a:xfrm>
          <a:prstGeom prst="rect"/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99085" marR="130810" indent="-161290">
              <a:lnSpc>
                <a:spcPct val="100000"/>
              </a:lnSpc>
              <a:spcBef>
                <a:spcPts val="90"/>
              </a:spcBef>
            </a:pPr>
            <a:r>
              <a:rPr dirty="0" sz="2000" spc="-15">
                <a:solidFill>
                  <a:srgbClr val="C00000"/>
                </a:solidFill>
              </a:rPr>
              <a:t>Evaluation  </a:t>
            </a:r>
            <a:r>
              <a:rPr dirty="0" sz="2000" spc="-5">
                <a:solidFill>
                  <a:srgbClr val="C00000"/>
                </a:solidFill>
              </a:rPr>
              <a:t>metrics</a:t>
            </a:r>
            <a:endParaRPr sz="2000"/>
          </a:p>
        </p:txBody>
      </p:sp>
      <p:sp>
        <p:nvSpPr>
          <p:cNvPr id="11" name="object 11"/>
          <p:cNvSpPr/>
          <p:nvPr/>
        </p:nvSpPr>
        <p:spPr>
          <a:xfrm>
            <a:off x="1760268" y="2947084"/>
            <a:ext cx="956356" cy="11017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27797" y="187447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40970" marR="129539">
              <a:lnSpc>
                <a:spcPct val="100000"/>
              </a:lnSpc>
              <a:spcBef>
                <a:spcPts val="610"/>
              </a:spcBef>
            </a:pPr>
            <a:r>
              <a:rPr dirty="0" sz="2000" spc="-10" b="1">
                <a:latin typeface="Calibri"/>
                <a:cs typeface="Calibri"/>
              </a:rPr>
              <a:t>Graph  Neural  Network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1717" y="304954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51717" y="304954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18217" y="1874471"/>
            <a:ext cx="140589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9060" rIns="0" bIns="0" rtlCol="0" vert="horz">
            <a:spAutoFit/>
          </a:bodyPr>
          <a:lstStyle/>
          <a:p>
            <a:pPr marL="55244" marR="24130" indent="362585">
              <a:lnSpc>
                <a:spcPct val="100000"/>
              </a:lnSpc>
              <a:spcBef>
                <a:spcPts val="780"/>
              </a:spcBef>
            </a:pPr>
            <a:r>
              <a:rPr dirty="0" sz="2000" spc="-5" b="1">
                <a:latin typeface="Calibri"/>
                <a:cs typeface="Calibri"/>
              </a:rPr>
              <a:t>Node  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03065" y="364976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03064" y="3649762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31728" y="368285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31728" y="368285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41554" y="370406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41553" y="370406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73933" y="273217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73932" y="273217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34808" y="3015260"/>
            <a:ext cx="283845" cy="85725"/>
          </a:xfrm>
          <a:custGeom>
            <a:avLst/>
            <a:gdLst/>
            <a:ahLst/>
            <a:cxnLst/>
            <a:rect l="l" t="t" r="r" b="b"/>
            <a:pathLst>
              <a:path w="283844" h="85725">
                <a:moveTo>
                  <a:pt x="197683" y="0"/>
                </a:moveTo>
                <a:lnTo>
                  <a:pt x="197683" y="85725"/>
                </a:lnTo>
                <a:lnTo>
                  <a:pt x="254834" y="57150"/>
                </a:lnTo>
                <a:lnTo>
                  <a:pt x="219861" y="57150"/>
                </a:lnTo>
                <a:lnTo>
                  <a:pt x="226258" y="50754"/>
                </a:lnTo>
                <a:lnTo>
                  <a:pt x="226258" y="34971"/>
                </a:lnTo>
                <a:lnTo>
                  <a:pt x="219861" y="28575"/>
                </a:lnTo>
                <a:lnTo>
                  <a:pt x="254831" y="28575"/>
                </a:lnTo>
                <a:lnTo>
                  <a:pt x="197683" y="0"/>
                </a:lnTo>
                <a:close/>
              </a:path>
              <a:path w="283844" h="85725">
                <a:moveTo>
                  <a:pt x="197683" y="28575"/>
                </a:moveTo>
                <a:lnTo>
                  <a:pt x="6396" y="28575"/>
                </a:lnTo>
                <a:lnTo>
                  <a:pt x="0" y="34971"/>
                </a:lnTo>
                <a:lnTo>
                  <a:pt x="1" y="50754"/>
                </a:lnTo>
                <a:lnTo>
                  <a:pt x="6396" y="57150"/>
                </a:lnTo>
                <a:lnTo>
                  <a:pt x="197683" y="57150"/>
                </a:lnTo>
                <a:lnTo>
                  <a:pt x="197683" y="28575"/>
                </a:lnTo>
                <a:close/>
              </a:path>
              <a:path w="283844" h="85725">
                <a:moveTo>
                  <a:pt x="254831" y="28575"/>
                </a:moveTo>
                <a:lnTo>
                  <a:pt x="219861" y="28575"/>
                </a:lnTo>
                <a:lnTo>
                  <a:pt x="226258" y="34971"/>
                </a:lnTo>
                <a:lnTo>
                  <a:pt x="226258" y="50754"/>
                </a:lnTo>
                <a:lnTo>
                  <a:pt x="219861" y="57150"/>
                </a:lnTo>
                <a:lnTo>
                  <a:pt x="254834" y="57150"/>
                </a:lnTo>
                <a:lnTo>
                  <a:pt x="283408" y="42863"/>
                </a:lnTo>
                <a:lnTo>
                  <a:pt x="25483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09615" y="3015124"/>
            <a:ext cx="335280" cy="85725"/>
          </a:xfrm>
          <a:custGeom>
            <a:avLst/>
            <a:gdLst/>
            <a:ahLst/>
            <a:cxnLst/>
            <a:rect l="l" t="t" r="r" b="b"/>
            <a:pathLst>
              <a:path w="335279" h="85725">
                <a:moveTo>
                  <a:pt x="306335" y="28562"/>
                </a:moveTo>
                <a:lnTo>
                  <a:pt x="271322" y="28562"/>
                </a:lnTo>
                <a:lnTo>
                  <a:pt x="277723" y="34955"/>
                </a:lnTo>
                <a:lnTo>
                  <a:pt x="277732" y="50736"/>
                </a:lnTo>
                <a:lnTo>
                  <a:pt x="271339" y="57137"/>
                </a:lnTo>
                <a:lnTo>
                  <a:pt x="249161" y="57150"/>
                </a:lnTo>
                <a:lnTo>
                  <a:pt x="249177" y="85725"/>
                </a:lnTo>
                <a:lnTo>
                  <a:pt x="334877" y="42812"/>
                </a:lnTo>
                <a:lnTo>
                  <a:pt x="306335" y="28562"/>
                </a:lnTo>
                <a:close/>
              </a:path>
              <a:path w="335279" h="85725">
                <a:moveTo>
                  <a:pt x="249144" y="28575"/>
                </a:moveTo>
                <a:lnTo>
                  <a:pt x="6393" y="28714"/>
                </a:lnTo>
                <a:lnTo>
                  <a:pt x="0" y="35115"/>
                </a:lnTo>
                <a:lnTo>
                  <a:pt x="8" y="50896"/>
                </a:lnTo>
                <a:lnTo>
                  <a:pt x="6409" y="57289"/>
                </a:lnTo>
                <a:lnTo>
                  <a:pt x="249161" y="57150"/>
                </a:lnTo>
                <a:lnTo>
                  <a:pt x="249144" y="28575"/>
                </a:lnTo>
                <a:close/>
              </a:path>
              <a:path w="335279" h="85725">
                <a:moveTo>
                  <a:pt x="271322" y="28562"/>
                </a:moveTo>
                <a:lnTo>
                  <a:pt x="249144" y="28575"/>
                </a:lnTo>
                <a:lnTo>
                  <a:pt x="249161" y="57150"/>
                </a:lnTo>
                <a:lnTo>
                  <a:pt x="271339" y="57137"/>
                </a:lnTo>
                <a:lnTo>
                  <a:pt x="277732" y="50736"/>
                </a:lnTo>
                <a:lnTo>
                  <a:pt x="277723" y="34955"/>
                </a:lnTo>
                <a:lnTo>
                  <a:pt x="271322" y="28562"/>
                </a:lnTo>
                <a:close/>
              </a:path>
              <a:path w="335279" h="85725">
                <a:moveTo>
                  <a:pt x="249128" y="0"/>
                </a:moveTo>
                <a:lnTo>
                  <a:pt x="249144" y="28575"/>
                </a:lnTo>
                <a:lnTo>
                  <a:pt x="306335" y="28562"/>
                </a:lnTo>
                <a:lnTo>
                  <a:pt x="249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34710" y="3011732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6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318" y="50290"/>
                </a:lnTo>
                <a:lnTo>
                  <a:pt x="247023" y="56789"/>
                </a:lnTo>
                <a:lnTo>
                  <a:pt x="224848" y="57142"/>
                </a:lnTo>
                <a:lnTo>
                  <a:pt x="225303" y="85713"/>
                </a:lnTo>
                <a:lnTo>
                  <a:pt x="310334" y="41490"/>
                </a:lnTo>
                <a:lnTo>
                  <a:pt x="282696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251" y="54322"/>
                </a:lnTo>
                <a:lnTo>
                  <a:pt x="6748" y="60617"/>
                </a:lnTo>
                <a:lnTo>
                  <a:pt x="224848" y="5714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848" y="57142"/>
                </a:lnTo>
                <a:lnTo>
                  <a:pt x="247023" y="56789"/>
                </a:lnTo>
                <a:lnTo>
                  <a:pt x="253318" y="50290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92" y="28571"/>
                </a:lnTo>
                <a:lnTo>
                  <a:pt x="246569" y="28218"/>
                </a:lnTo>
                <a:lnTo>
                  <a:pt x="282696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32162" y="2120163"/>
            <a:ext cx="595630" cy="607695"/>
          </a:xfrm>
          <a:custGeom>
            <a:avLst/>
            <a:gdLst/>
            <a:ahLst/>
            <a:cxnLst/>
            <a:rect l="l" t="t" r="r" b="b"/>
            <a:pathLst>
              <a:path w="595629" h="607694">
                <a:moveTo>
                  <a:pt x="525097" y="51251"/>
                </a:moveTo>
                <a:lnTo>
                  <a:pt x="0" y="587448"/>
                </a:lnTo>
                <a:lnTo>
                  <a:pt x="93" y="596494"/>
                </a:lnTo>
                <a:lnTo>
                  <a:pt x="11369" y="607536"/>
                </a:lnTo>
                <a:lnTo>
                  <a:pt x="20415" y="607442"/>
                </a:lnTo>
                <a:lnTo>
                  <a:pt x="545514" y="71245"/>
                </a:lnTo>
                <a:lnTo>
                  <a:pt x="525097" y="51251"/>
                </a:lnTo>
                <a:close/>
              </a:path>
              <a:path w="595629" h="607694">
                <a:moveTo>
                  <a:pt x="583924" y="35311"/>
                </a:moveTo>
                <a:lnTo>
                  <a:pt x="549661" y="35311"/>
                </a:lnTo>
                <a:lnTo>
                  <a:pt x="560936" y="46353"/>
                </a:lnTo>
                <a:lnTo>
                  <a:pt x="561031" y="55399"/>
                </a:lnTo>
                <a:lnTo>
                  <a:pt x="545514" y="71245"/>
                </a:lnTo>
                <a:lnTo>
                  <a:pt x="565929" y="91238"/>
                </a:lnTo>
                <a:lnTo>
                  <a:pt x="583924" y="35311"/>
                </a:lnTo>
                <a:close/>
              </a:path>
              <a:path w="595629" h="607694">
                <a:moveTo>
                  <a:pt x="549661" y="35311"/>
                </a:moveTo>
                <a:lnTo>
                  <a:pt x="540614" y="35406"/>
                </a:lnTo>
                <a:lnTo>
                  <a:pt x="525097" y="51251"/>
                </a:lnTo>
                <a:lnTo>
                  <a:pt x="545514" y="71245"/>
                </a:lnTo>
                <a:lnTo>
                  <a:pt x="561031" y="55399"/>
                </a:lnTo>
                <a:lnTo>
                  <a:pt x="560936" y="46353"/>
                </a:lnTo>
                <a:lnTo>
                  <a:pt x="549661" y="35311"/>
                </a:lnTo>
                <a:close/>
              </a:path>
              <a:path w="595629" h="607694">
                <a:moveTo>
                  <a:pt x="595285" y="0"/>
                </a:moveTo>
                <a:lnTo>
                  <a:pt x="504682" y="31258"/>
                </a:lnTo>
                <a:lnTo>
                  <a:pt x="525097" y="51251"/>
                </a:lnTo>
                <a:lnTo>
                  <a:pt x="540614" y="35406"/>
                </a:lnTo>
                <a:lnTo>
                  <a:pt x="549661" y="35311"/>
                </a:lnTo>
                <a:lnTo>
                  <a:pt x="583924" y="35311"/>
                </a:lnTo>
                <a:lnTo>
                  <a:pt x="5952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27448" y="2120163"/>
            <a:ext cx="842010" cy="612775"/>
          </a:xfrm>
          <a:custGeom>
            <a:avLst/>
            <a:gdLst/>
            <a:ahLst/>
            <a:cxnLst/>
            <a:rect l="l" t="t" r="r" b="b"/>
            <a:pathLst>
              <a:path w="842009" h="612775">
                <a:moveTo>
                  <a:pt x="77845" y="38638"/>
                </a:moveTo>
                <a:lnTo>
                  <a:pt x="61106" y="61796"/>
                </a:lnTo>
                <a:lnTo>
                  <a:pt x="823328" y="612722"/>
                </a:lnTo>
                <a:lnTo>
                  <a:pt x="832260" y="611286"/>
                </a:lnTo>
                <a:lnTo>
                  <a:pt x="841504" y="598496"/>
                </a:lnTo>
                <a:lnTo>
                  <a:pt x="840066" y="589564"/>
                </a:lnTo>
                <a:lnTo>
                  <a:pt x="77845" y="38638"/>
                </a:lnTo>
                <a:close/>
              </a:path>
              <a:path w="842009" h="612775">
                <a:moveTo>
                  <a:pt x="0" y="0"/>
                </a:moveTo>
                <a:lnTo>
                  <a:pt x="44367" y="84956"/>
                </a:lnTo>
                <a:lnTo>
                  <a:pt x="61106" y="61796"/>
                </a:lnTo>
                <a:lnTo>
                  <a:pt x="43131" y="48804"/>
                </a:lnTo>
                <a:lnTo>
                  <a:pt x="41694" y="39872"/>
                </a:lnTo>
                <a:lnTo>
                  <a:pt x="50939" y="27082"/>
                </a:lnTo>
                <a:lnTo>
                  <a:pt x="59870" y="25646"/>
                </a:lnTo>
                <a:lnTo>
                  <a:pt x="87235" y="25646"/>
                </a:lnTo>
                <a:lnTo>
                  <a:pt x="94584" y="15478"/>
                </a:lnTo>
                <a:lnTo>
                  <a:pt x="0" y="0"/>
                </a:lnTo>
                <a:close/>
              </a:path>
              <a:path w="842009" h="612775">
                <a:moveTo>
                  <a:pt x="59870" y="25646"/>
                </a:moveTo>
                <a:lnTo>
                  <a:pt x="50939" y="27082"/>
                </a:lnTo>
                <a:lnTo>
                  <a:pt x="41694" y="39872"/>
                </a:lnTo>
                <a:lnTo>
                  <a:pt x="43131" y="48804"/>
                </a:lnTo>
                <a:lnTo>
                  <a:pt x="61106" y="61796"/>
                </a:lnTo>
                <a:lnTo>
                  <a:pt x="77845" y="38638"/>
                </a:lnTo>
                <a:lnTo>
                  <a:pt x="59870" y="25646"/>
                </a:lnTo>
                <a:close/>
              </a:path>
              <a:path w="842009" h="612775">
                <a:moveTo>
                  <a:pt x="87235" y="25646"/>
                </a:moveTo>
                <a:lnTo>
                  <a:pt x="59870" y="25646"/>
                </a:lnTo>
                <a:lnTo>
                  <a:pt x="77845" y="38638"/>
                </a:lnTo>
                <a:lnTo>
                  <a:pt x="87235" y="25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27448" y="3382882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51013" y="436499"/>
                </a:moveTo>
                <a:lnTo>
                  <a:pt x="0" y="517638"/>
                </a:lnTo>
                <a:lnTo>
                  <a:pt x="95519" y="509766"/>
                </a:lnTo>
                <a:lnTo>
                  <a:pt x="87678" y="496858"/>
                </a:lnTo>
                <a:lnTo>
                  <a:pt x="61729" y="496858"/>
                </a:lnTo>
                <a:lnTo>
                  <a:pt x="52941" y="494711"/>
                </a:lnTo>
                <a:lnTo>
                  <a:pt x="44748" y="481223"/>
                </a:lnTo>
                <a:lnTo>
                  <a:pt x="46893" y="472436"/>
                </a:lnTo>
                <a:lnTo>
                  <a:pt x="65848" y="460921"/>
                </a:lnTo>
                <a:lnTo>
                  <a:pt x="51013" y="436499"/>
                </a:lnTo>
                <a:close/>
              </a:path>
              <a:path w="842009" h="518160">
                <a:moveTo>
                  <a:pt x="65848" y="460921"/>
                </a:moveTo>
                <a:lnTo>
                  <a:pt x="46893" y="472436"/>
                </a:lnTo>
                <a:lnTo>
                  <a:pt x="44748" y="481223"/>
                </a:lnTo>
                <a:lnTo>
                  <a:pt x="52941" y="494711"/>
                </a:lnTo>
                <a:lnTo>
                  <a:pt x="61729" y="496858"/>
                </a:lnTo>
                <a:lnTo>
                  <a:pt x="80684" y="485344"/>
                </a:lnTo>
                <a:lnTo>
                  <a:pt x="65848" y="460921"/>
                </a:lnTo>
                <a:close/>
              </a:path>
              <a:path w="842009" h="518160">
                <a:moveTo>
                  <a:pt x="80684" y="485344"/>
                </a:moveTo>
                <a:lnTo>
                  <a:pt x="61729" y="496858"/>
                </a:lnTo>
                <a:lnTo>
                  <a:pt x="87678" y="496858"/>
                </a:lnTo>
                <a:lnTo>
                  <a:pt x="80684" y="485344"/>
                </a:lnTo>
                <a:close/>
              </a:path>
              <a:path w="842009" h="518160">
                <a:moveTo>
                  <a:pt x="824628" y="0"/>
                </a:moveTo>
                <a:lnTo>
                  <a:pt x="65848" y="460921"/>
                </a:lnTo>
                <a:lnTo>
                  <a:pt x="80684" y="485344"/>
                </a:lnTo>
                <a:lnTo>
                  <a:pt x="839464" y="24422"/>
                </a:lnTo>
                <a:lnTo>
                  <a:pt x="841609" y="15633"/>
                </a:lnTo>
                <a:lnTo>
                  <a:pt x="833417" y="2146"/>
                </a:lnTo>
                <a:lnTo>
                  <a:pt x="824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31939" y="3378524"/>
            <a:ext cx="595630" cy="522605"/>
          </a:xfrm>
          <a:custGeom>
            <a:avLst/>
            <a:gdLst/>
            <a:ahLst/>
            <a:cxnLst/>
            <a:rect l="l" t="t" r="r" b="b"/>
            <a:pathLst>
              <a:path w="595629" h="522604">
                <a:moveTo>
                  <a:pt x="521538" y="476375"/>
                </a:moveTo>
                <a:lnTo>
                  <a:pt x="502743" y="497900"/>
                </a:lnTo>
                <a:lnTo>
                  <a:pt x="595509" y="521996"/>
                </a:lnTo>
                <a:lnTo>
                  <a:pt x="582775" y="490962"/>
                </a:lnTo>
                <a:lnTo>
                  <a:pt x="538245" y="490962"/>
                </a:lnTo>
                <a:lnTo>
                  <a:pt x="521538" y="476375"/>
                </a:lnTo>
                <a:close/>
              </a:path>
              <a:path w="595629" h="522604">
                <a:moveTo>
                  <a:pt x="540332" y="454851"/>
                </a:moveTo>
                <a:lnTo>
                  <a:pt x="521538" y="476375"/>
                </a:lnTo>
                <a:lnTo>
                  <a:pt x="538245" y="490962"/>
                </a:lnTo>
                <a:lnTo>
                  <a:pt x="547269" y="490352"/>
                </a:lnTo>
                <a:lnTo>
                  <a:pt x="557649" y="478464"/>
                </a:lnTo>
                <a:lnTo>
                  <a:pt x="557038" y="469438"/>
                </a:lnTo>
                <a:lnTo>
                  <a:pt x="540332" y="454851"/>
                </a:lnTo>
                <a:close/>
              </a:path>
              <a:path w="595629" h="522604">
                <a:moveTo>
                  <a:pt x="559126" y="433327"/>
                </a:moveTo>
                <a:lnTo>
                  <a:pt x="540332" y="454851"/>
                </a:lnTo>
                <a:lnTo>
                  <a:pt x="557038" y="469438"/>
                </a:lnTo>
                <a:lnTo>
                  <a:pt x="557649" y="478464"/>
                </a:lnTo>
                <a:lnTo>
                  <a:pt x="547269" y="490352"/>
                </a:lnTo>
                <a:lnTo>
                  <a:pt x="538245" y="490962"/>
                </a:lnTo>
                <a:lnTo>
                  <a:pt x="582775" y="490962"/>
                </a:lnTo>
                <a:lnTo>
                  <a:pt x="559126" y="433327"/>
                </a:lnTo>
                <a:close/>
              </a:path>
              <a:path w="595629" h="522604">
                <a:moveTo>
                  <a:pt x="19405" y="0"/>
                </a:moveTo>
                <a:lnTo>
                  <a:pt x="10379" y="610"/>
                </a:lnTo>
                <a:lnTo>
                  <a:pt x="0" y="12499"/>
                </a:lnTo>
                <a:lnTo>
                  <a:pt x="610" y="21523"/>
                </a:lnTo>
                <a:lnTo>
                  <a:pt x="521538" y="476375"/>
                </a:lnTo>
                <a:lnTo>
                  <a:pt x="540332" y="454851"/>
                </a:lnTo>
                <a:lnTo>
                  <a:pt x="1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8603" y="3029714"/>
            <a:ext cx="1035141" cy="10474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55488" y="187447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86995" rIns="0" bIns="0" rtlCol="0" vert="horz">
            <a:spAutoFit/>
          </a:bodyPr>
          <a:lstStyle/>
          <a:p>
            <a:pPr marL="250825" marR="291465" indent="40005">
              <a:lnSpc>
                <a:spcPct val="100000"/>
              </a:lnSpc>
              <a:spcBef>
                <a:spcPts val="685"/>
              </a:spcBef>
            </a:pPr>
            <a:r>
              <a:rPr dirty="0" sz="2000" b="1">
                <a:latin typeface="Calibri"/>
                <a:cs typeface="Calibri"/>
              </a:rPr>
              <a:t>Input  </a:t>
            </a:r>
            <a:r>
              <a:rPr dirty="0" sz="2000" spc="-10" b="1">
                <a:latin typeface="Calibri"/>
                <a:cs typeface="Calibri"/>
              </a:rPr>
              <a:t>Graph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10628" y="3015260"/>
            <a:ext cx="217170" cy="85725"/>
          </a:xfrm>
          <a:custGeom>
            <a:avLst/>
            <a:gdLst/>
            <a:ahLst/>
            <a:cxnLst/>
            <a:rect l="l" t="t" r="r" b="b"/>
            <a:pathLst>
              <a:path w="217169" h="85725">
                <a:moveTo>
                  <a:pt x="131443" y="0"/>
                </a:moveTo>
                <a:lnTo>
                  <a:pt x="131443" y="85725"/>
                </a:lnTo>
                <a:lnTo>
                  <a:pt x="188595" y="57150"/>
                </a:lnTo>
                <a:lnTo>
                  <a:pt x="153621" y="57150"/>
                </a:lnTo>
                <a:lnTo>
                  <a:pt x="160018" y="50754"/>
                </a:lnTo>
                <a:lnTo>
                  <a:pt x="160017" y="34970"/>
                </a:lnTo>
                <a:lnTo>
                  <a:pt x="153621" y="28575"/>
                </a:lnTo>
                <a:lnTo>
                  <a:pt x="188592" y="28575"/>
                </a:lnTo>
                <a:lnTo>
                  <a:pt x="131443" y="0"/>
                </a:lnTo>
                <a:close/>
              </a:path>
              <a:path w="217169" h="85725">
                <a:moveTo>
                  <a:pt x="131443" y="28575"/>
                </a:moveTo>
                <a:lnTo>
                  <a:pt x="6396" y="28575"/>
                </a:lnTo>
                <a:lnTo>
                  <a:pt x="0" y="34970"/>
                </a:lnTo>
                <a:lnTo>
                  <a:pt x="1" y="50754"/>
                </a:lnTo>
                <a:lnTo>
                  <a:pt x="6396" y="57150"/>
                </a:lnTo>
                <a:lnTo>
                  <a:pt x="131443" y="57150"/>
                </a:lnTo>
                <a:lnTo>
                  <a:pt x="131443" y="28575"/>
                </a:lnTo>
                <a:close/>
              </a:path>
              <a:path w="217169" h="85725">
                <a:moveTo>
                  <a:pt x="188592" y="28575"/>
                </a:moveTo>
                <a:lnTo>
                  <a:pt x="153621" y="28575"/>
                </a:lnTo>
                <a:lnTo>
                  <a:pt x="160017" y="34970"/>
                </a:lnTo>
                <a:lnTo>
                  <a:pt x="160018" y="50754"/>
                </a:lnTo>
                <a:lnTo>
                  <a:pt x="153621" y="57150"/>
                </a:lnTo>
                <a:lnTo>
                  <a:pt x="188595" y="57150"/>
                </a:lnTo>
                <a:lnTo>
                  <a:pt x="217168" y="42863"/>
                </a:lnTo>
                <a:lnTo>
                  <a:pt x="188592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12126" y="5478219"/>
            <a:ext cx="1035141" cy="10474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606177" y="5437097"/>
            <a:ext cx="1035141" cy="10474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975095" y="5437097"/>
            <a:ext cx="1035141" cy="10474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48814" y="5436181"/>
            <a:ext cx="1035141" cy="10474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641795" y="5436181"/>
            <a:ext cx="1035141" cy="104741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203065" y="5406673"/>
            <a:ext cx="1229360" cy="1151255"/>
          </a:xfrm>
          <a:custGeom>
            <a:avLst/>
            <a:gdLst/>
            <a:ahLst/>
            <a:cxnLst/>
            <a:rect l="l" t="t" r="r" b="b"/>
            <a:pathLst>
              <a:path w="1229360" h="1151254">
                <a:moveTo>
                  <a:pt x="0" y="0"/>
                </a:moveTo>
                <a:lnTo>
                  <a:pt x="1229293" y="0"/>
                </a:lnTo>
                <a:lnTo>
                  <a:pt x="1229293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574958" y="5399844"/>
            <a:ext cx="1183640" cy="1151255"/>
          </a:xfrm>
          <a:custGeom>
            <a:avLst/>
            <a:gdLst/>
            <a:ahLst/>
            <a:cxnLst/>
            <a:rect l="l" t="t" r="r" b="b"/>
            <a:pathLst>
              <a:path w="1183640" h="1151254">
                <a:moveTo>
                  <a:pt x="0" y="0"/>
                </a:moveTo>
                <a:lnTo>
                  <a:pt x="1183584" y="0"/>
                </a:lnTo>
                <a:lnTo>
                  <a:pt x="1183584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57313" y="5399844"/>
            <a:ext cx="3837304" cy="1151255"/>
          </a:xfrm>
          <a:custGeom>
            <a:avLst/>
            <a:gdLst/>
            <a:ahLst/>
            <a:cxnLst/>
            <a:rect l="l" t="t" r="r" b="b"/>
            <a:pathLst>
              <a:path w="3837304" h="1151254">
                <a:moveTo>
                  <a:pt x="0" y="0"/>
                </a:moveTo>
                <a:lnTo>
                  <a:pt x="3836751" y="0"/>
                </a:lnTo>
                <a:lnTo>
                  <a:pt x="3836751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542357" y="4480052"/>
            <a:ext cx="6743065" cy="167386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268732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(5) How do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split our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dataset 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into train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validation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set?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1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Dataset</a:t>
            </a:r>
            <a:r>
              <a:rPr dirty="0" sz="20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split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1"/>
              </a:rPr>
              <a:t>http://cs224w.stanford.edu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53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775448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1361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6BB76D"/>
                </a:solidFill>
              </a:rPr>
              <a:t>Fixed </a:t>
            </a:r>
            <a:r>
              <a:rPr dirty="0" spc="-5">
                <a:solidFill>
                  <a:srgbClr val="6BB76D"/>
                </a:solidFill>
              </a:rPr>
              <a:t>split: </a:t>
            </a:r>
            <a:r>
              <a:rPr dirty="0" spc="-60" b="0">
                <a:solidFill>
                  <a:srgbClr val="6BB76D"/>
                </a:solidFill>
                <a:latin typeface="Calibri"/>
                <a:cs typeface="Calibri"/>
              </a:rPr>
              <a:t>We </a:t>
            </a:r>
            <a:r>
              <a:rPr dirty="0" b="0">
                <a:solidFill>
                  <a:srgbClr val="6BB76D"/>
                </a:solidFill>
                <a:latin typeface="Calibri"/>
                <a:cs typeface="Calibri"/>
              </a:rPr>
              <a:t>will </a:t>
            </a:r>
            <a:r>
              <a:rPr dirty="0" spc="-5" b="0">
                <a:solidFill>
                  <a:srgbClr val="6BB76D"/>
                </a:solidFill>
                <a:latin typeface="Calibri"/>
                <a:cs typeface="Calibri"/>
              </a:rPr>
              <a:t>split our </a:t>
            </a:r>
            <a:r>
              <a:rPr dirty="0" spc="-15" b="0">
                <a:solidFill>
                  <a:srgbClr val="6BB76D"/>
                </a:solidFill>
                <a:latin typeface="Calibri"/>
                <a:cs typeface="Calibri"/>
              </a:rPr>
              <a:t>dataset</a:t>
            </a:r>
            <a:r>
              <a:rPr dirty="0" spc="105" b="0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pc="-5">
                <a:solidFill>
                  <a:srgbClr val="6BB76D"/>
                </a:solidFill>
              </a:rPr>
              <a:t>once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53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826259"/>
            <a:ext cx="8024495" cy="445770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0" b="1">
                <a:latin typeface="Calibri"/>
                <a:cs typeface="Calibri"/>
              </a:rPr>
              <a:t>Training </a:t>
            </a:r>
            <a:r>
              <a:rPr dirty="0" sz="2800" spc="-10" b="1">
                <a:latin typeface="Calibri"/>
                <a:cs typeface="Calibri"/>
              </a:rPr>
              <a:t>set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used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optimizing GNN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parameters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 b="1">
                <a:latin typeface="Calibri"/>
                <a:cs typeface="Calibri"/>
              </a:rPr>
              <a:t>Validation </a:t>
            </a:r>
            <a:r>
              <a:rPr dirty="0" sz="2800" spc="-10" b="1">
                <a:latin typeface="Calibri"/>
                <a:cs typeface="Calibri"/>
              </a:rPr>
              <a:t>set</a:t>
            </a:r>
            <a:r>
              <a:rPr dirty="0" sz="2800" spc="-10">
                <a:latin typeface="Calibri"/>
                <a:cs typeface="Calibri"/>
              </a:rPr>
              <a:t>: develop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model/hyperparameters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ts val="3329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75" b="1">
                <a:latin typeface="Calibri"/>
                <a:cs typeface="Calibri"/>
              </a:rPr>
              <a:t>Test </a:t>
            </a:r>
            <a:r>
              <a:rPr dirty="0" sz="2800" spc="-10" b="1">
                <a:latin typeface="Calibri"/>
                <a:cs typeface="Calibri"/>
              </a:rPr>
              <a:t>set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held out </a:t>
            </a:r>
            <a:r>
              <a:rPr dirty="0" sz="2800" spc="-10">
                <a:latin typeface="Calibri"/>
                <a:cs typeface="Calibri"/>
              </a:rPr>
              <a:t>until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report </a:t>
            </a:r>
            <a:r>
              <a:rPr dirty="0" sz="2800" spc="-5">
                <a:latin typeface="Calibri"/>
                <a:cs typeface="Calibri"/>
              </a:rPr>
              <a:t>final  </a:t>
            </a:r>
            <a:r>
              <a:rPr dirty="0" sz="2800" spc="-45">
                <a:latin typeface="Calibri"/>
                <a:cs typeface="Calibri"/>
              </a:rPr>
              <a:t>performance</a:t>
            </a:r>
            <a:endParaRPr sz="2800">
              <a:latin typeface="Calibri"/>
              <a:cs typeface="Calibri"/>
            </a:endParaRPr>
          </a:p>
          <a:p>
            <a:pPr marL="332740" marR="401955" indent="-320040">
              <a:lnSpc>
                <a:spcPts val="3910"/>
              </a:lnSpc>
              <a:spcBef>
                <a:spcPts val="3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0070C0"/>
                </a:solidFill>
                <a:latin typeface="Calibri"/>
                <a:cs typeface="Calibri"/>
              </a:rPr>
              <a:t>A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concern: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sometimes </a:t>
            </a:r>
            <a:r>
              <a:rPr dirty="0" sz="3200" spc="-15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cannot </a:t>
            </a:r>
            <a:r>
              <a:rPr dirty="0" sz="3200" spc="-15">
                <a:solidFill>
                  <a:srgbClr val="0070C0"/>
                </a:solidFill>
                <a:latin typeface="Calibri"/>
                <a:cs typeface="Calibri"/>
              </a:rPr>
              <a:t>guarantee  </a:t>
            </a:r>
            <a:r>
              <a:rPr dirty="0" sz="3200" spc="-10">
                <a:solidFill>
                  <a:srgbClr val="0070C0"/>
                </a:solidFill>
                <a:latin typeface="Calibri"/>
                <a:cs typeface="Calibri"/>
              </a:rPr>
              <a:t>that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dirty="0" sz="3200" spc="-25">
                <a:solidFill>
                  <a:srgbClr val="0070C0"/>
                </a:solidFill>
                <a:latin typeface="Calibri"/>
                <a:cs typeface="Calibri"/>
              </a:rPr>
              <a:t>test </a:t>
            </a:r>
            <a:r>
              <a:rPr dirty="0" sz="3200" spc="-10">
                <a:solidFill>
                  <a:srgbClr val="0070C0"/>
                </a:solidFill>
                <a:latin typeface="Calibri"/>
                <a:cs typeface="Calibri"/>
              </a:rPr>
              <a:t>set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will </a:t>
            </a:r>
            <a:r>
              <a:rPr dirty="0" sz="3200" spc="-10">
                <a:solidFill>
                  <a:srgbClr val="0070C0"/>
                </a:solidFill>
                <a:latin typeface="Calibri"/>
                <a:cs typeface="Calibri"/>
              </a:rPr>
              <a:t>really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be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held</a:t>
            </a:r>
            <a:r>
              <a:rPr dirty="0" sz="3200" spc="3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out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6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Random split: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will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randomly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split</a:t>
            </a:r>
            <a:r>
              <a:rPr dirty="0" sz="320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our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70"/>
              </a:spcBef>
            </a:pP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dataset into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training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validation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dirty="0" sz="320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endParaRPr sz="3200">
              <a:latin typeface="Calibri"/>
              <a:cs typeface="Calibri"/>
            </a:endParaRPr>
          </a:p>
          <a:p>
            <a:pPr lvl="1" marL="625475" marR="582930" indent="-274320">
              <a:lnSpc>
                <a:spcPts val="3290"/>
              </a:lnSpc>
              <a:spcBef>
                <a:spcPts val="8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report </a:t>
            </a: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average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performance over </a:t>
            </a:r>
            <a:r>
              <a:rPr dirty="0" sz="2800" spc="-80" b="1">
                <a:solidFill>
                  <a:srgbClr val="C00000"/>
                </a:solidFill>
                <a:latin typeface="Calibri"/>
                <a:cs typeface="Calibri"/>
              </a:rPr>
              <a:t>different 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random</a:t>
            </a:r>
            <a:r>
              <a:rPr dirty="0" sz="28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seeds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75712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507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70C0"/>
                </a:solidFill>
              </a:rPr>
              <a:t>Suppose </a:t>
            </a:r>
            <a:r>
              <a:rPr dirty="0" spc="-15">
                <a:solidFill>
                  <a:srgbClr val="0070C0"/>
                </a:solidFill>
              </a:rPr>
              <a:t>we </a:t>
            </a:r>
            <a:r>
              <a:rPr dirty="0" spc="-20">
                <a:solidFill>
                  <a:srgbClr val="0070C0"/>
                </a:solidFill>
              </a:rPr>
              <a:t>want </a:t>
            </a:r>
            <a:r>
              <a:rPr dirty="0" spc="-15">
                <a:solidFill>
                  <a:srgbClr val="0070C0"/>
                </a:solidFill>
              </a:rPr>
              <a:t>to </a:t>
            </a:r>
            <a:r>
              <a:rPr dirty="0" spc="-5">
                <a:solidFill>
                  <a:srgbClr val="0070C0"/>
                </a:solidFill>
              </a:rPr>
              <a:t>split an </a:t>
            </a:r>
            <a:r>
              <a:rPr dirty="0" spc="-10">
                <a:solidFill>
                  <a:srgbClr val="0070C0"/>
                </a:solidFill>
              </a:rPr>
              <a:t>image</a:t>
            </a:r>
            <a:r>
              <a:rPr dirty="0" spc="10">
                <a:solidFill>
                  <a:srgbClr val="0070C0"/>
                </a:solidFill>
              </a:rPr>
              <a:t> </a:t>
            </a:r>
            <a:r>
              <a:rPr dirty="0" spc="-20">
                <a:solidFill>
                  <a:srgbClr val="0070C0"/>
                </a:solidFill>
              </a:rPr>
              <a:t>dataset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7377430" cy="14998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Image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classification: </a:t>
            </a:r>
            <a:r>
              <a:rPr dirty="0" sz="2800" spc="-15" b="1">
                <a:latin typeface="Calibri"/>
                <a:cs typeface="Calibri"/>
              </a:rPr>
              <a:t>Each data </a:t>
            </a:r>
            <a:r>
              <a:rPr dirty="0" sz="2800" spc="-10" b="1">
                <a:latin typeface="Calibri"/>
                <a:cs typeface="Calibri"/>
              </a:rPr>
              <a:t>point </a:t>
            </a:r>
            <a:r>
              <a:rPr dirty="0" sz="2800" spc="-5" b="1">
                <a:latin typeface="Calibri"/>
                <a:cs typeface="Calibri"/>
              </a:rPr>
              <a:t>is </a:t>
            </a:r>
            <a:r>
              <a:rPr dirty="0" sz="2800" b="1">
                <a:latin typeface="Calibri"/>
                <a:cs typeface="Calibri"/>
              </a:rPr>
              <a:t>an</a:t>
            </a:r>
            <a:r>
              <a:rPr dirty="0" sz="2800" spc="30" b="1">
                <a:latin typeface="Calibri"/>
                <a:cs typeface="Calibri"/>
              </a:rPr>
              <a:t> </a:t>
            </a:r>
            <a:r>
              <a:rPr dirty="0" sz="2800" spc="-110" b="1">
                <a:latin typeface="Calibri"/>
                <a:cs typeface="Calibri"/>
              </a:rPr>
              <a:t>image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Here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data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points are</a:t>
            </a:r>
            <a:r>
              <a:rPr dirty="0" sz="28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independent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2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0" b="1">
                <a:latin typeface="Calibri"/>
                <a:cs typeface="Calibri"/>
              </a:rPr>
              <a:t>Image </a:t>
            </a:r>
            <a:r>
              <a:rPr dirty="0" sz="2400" b="1">
                <a:latin typeface="Calibri"/>
                <a:cs typeface="Calibri"/>
              </a:rPr>
              <a:t>5 </a:t>
            </a:r>
            <a:r>
              <a:rPr dirty="0" sz="2400" spc="-5" b="1">
                <a:latin typeface="Calibri"/>
                <a:cs typeface="Calibri"/>
              </a:rPr>
              <a:t>will not </a:t>
            </a:r>
            <a:r>
              <a:rPr dirty="0" sz="2400" spc="-10" b="1">
                <a:latin typeface="Calibri"/>
                <a:cs typeface="Calibri"/>
              </a:rPr>
              <a:t>affect </a:t>
            </a:r>
            <a:r>
              <a:rPr dirty="0" sz="2400" spc="-5" b="1">
                <a:latin typeface="Calibri"/>
                <a:cs typeface="Calibri"/>
              </a:rPr>
              <a:t>our </a:t>
            </a:r>
            <a:r>
              <a:rPr dirty="0" sz="2400" spc="-10" b="1">
                <a:latin typeface="Calibri"/>
                <a:cs typeface="Calibri"/>
              </a:rPr>
              <a:t>prediction </a:t>
            </a:r>
            <a:r>
              <a:rPr dirty="0" sz="2400" spc="-5" b="1">
                <a:latin typeface="Calibri"/>
                <a:cs typeface="Calibri"/>
              </a:rPr>
              <a:t>on </a:t>
            </a:r>
            <a:r>
              <a:rPr dirty="0" sz="2400" spc="-10" b="1">
                <a:latin typeface="Calibri"/>
                <a:cs typeface="Calibri"/>
              </a:rPr>
              <a:t>image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5933" y="4299204"/>
            <a:ext cx="122491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  </a:t>
            </a: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  </a:t>
            </a:r>
            <a:r>
              <a:rPr dirty="0" sz="2000" spc="-40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0" y="4407408"/>
            <a:ext cx="359663" cy="353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02475" y="44247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02475" y="44247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42688" y="5349239"/>
            <a:ext cx="356615" cy="356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84985" y="536786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84985" y="536786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30240" y="5349239"/>
            <a:ext cx="359663" cy="356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75142" y="536786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75142" y="536786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78879" y="4593335"/>
            <a:ext cx="356616" cy="3535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21155" y="46101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321155" y="46101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95215" y="4547615"/>
            <a:ext cx="356615" cy="3566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38633" y="456585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438633" y="456585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400957" y="460908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73316" y="44201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43178" y="536498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66519" y="5368035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14316" y="456336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42814" y="4335184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932935" y="586578"/>
                </a:moveTo>
                <a:lnTo>
                  <a:pt x="864432" y="600535"/>
                </a:lnTo>
                <a:lnTo>
                  <a:pt x="797034" y="612638"/>
                </a:lnTo>
                <a:lnTo>
                  <a:pt x="730949" y="622904"/>
                </a:lnTo>
                <a:lnTo>
                  <a:pt x="666383" y="631349"/>
                </a:lnTo>
                <a:lnTo>
                  <a:pt x="603543" y="637991"/>
                </a:lnTo>
                <a:lnTo>
                  <a:pt x="542637" y="642844"/>
                </a:lnTo>
                <a:lnTo>
                  <a:pt x="483871" y="645926"/>
                </a:lnTo>
                <a:lnTo>
                  <a:pt x="427452" y="647254"/>
                </a:lnTo>
                <a:lnTo>
                  <a:pt x="373588" y="646843"/>
                </a:lnTo>
                <a:lnTo>
                  <a:pt x="322485" y="644711"/>
                </a:lnTo>
                <a:lnTo>
                  <a:pt x="274350" y="640873"/>
                </a:lnTo>
                <a:lnTo>
                  <a:pt x="229391" y="635347"/>
                </a:lnTo>
                <a:lnTo>
                  <a:pt x="187814" y="628148"/>
                </a:lnTo>
                <a:lnTo>
                  <a:pt x="149826" y="619294"/>
                </a:lnTo>
                <a:lnTo>
                  <a:pt x="85447" y="596685"/>
                </a:lnTo>
                <a:lnTo>
                  <a:pt x="37910" y="567651"/>
                </a:lnTo>
                <a:lnTo>
                  <a:pt x="8870" y="532325"/>
                </a:lnTo>
                <a:lnTo>
                  <a:pt x="0" y="491226"/>
                </a:lnTo>
                <a:lnTo>
                  <a:pt x="3420" y="469434"/>
                </a:lnTo>
                <a:lnTo>
                  <a:pt x="25210" y="424226"/>
                </a:lnTo>
                <a:lnTo>
                  <a:pt x="65718" y="377523"/>
                </a:lnTo>
                <a:lnTo>
                  <a:pt x="123492" y="330128"/>
                </a:lnTo>
                <a:lnTo>
                  <a:pt x="158399" y="306422"/>
                </a:lnTo>
                <a:lnTo>
                  <a:pt x="197077" y="282844"/>
                </a:lnTo>
                <a:lnTo>
                  <a:pt x="239344" y="259495"/>
                </a:lnTo>
                <a:lnTo>
                  <a:pt x="285018" y="236475"/>
                </a:lnTo>
                <a:lnTo>
                  <a:pt x="333918" y="213885"/>
                </a:lnTo>
                <a:lnTo>
                  <a:pt x="385862" y="191825"/>
                </a:lnTo>
                <a:lnTo>
                  <a:pt x="440668" y="170395"/>
                </a:lnTo>
                <a:lnTo>
                  <a:pt x="498155" y="149696"/>
                </a:lnTo>
                <a:lnTo>
                  <a:pt x="558140" y="129828"/>
                </a:lnTo>
                <a:lnTo>
                  <a:pt x="620441" y="110891"/>
                </a:lnTo>
                <a:lnTo>
                  <a:pt x="684878" y="92987"/>
                </a:lnTo>
                <a:lnTo>
                  <a:pt x="751268" y="76215"/>
                </a:lnTo>
                <a:lnTo>
                  <a:pt x="819429" y="60675"/>
                </a:lnTo>
                <a:lnTo>
                  <a:pt x="887932" y="46718"/>
                </a:lnTo>
                <a:lnTo>
                  <a:pt x="955330" y="34615"/>
                </a:lnTo>
                <a:lnTo>
                  <a:pt x="1021415" y="24349"/>
                </a:lnTo>
                <a:lnTo>
                  <a:pt x="1085981" y="15904"/>
                </a:lnTo>
                <a:lnTo>
                  <a:pt x="1148821" y="9263"/>
                </a:lnTo>
                <a:lnTo>
                  <a:pt x="1209727" y="4409"/>
                </a:lnTo>
                <a:lnTo>
                  <a:pt x="1268493" y="1327"/>
                </a:lnTo>
                <a:lnTo>
                  <a:pt x="1324912" y="0"/>
                </a:lnTo>
                <a:lnTo>
                  <a:pt x="1378776" y="410"/>
                </a:lnTo>
                <a:lnTo>
                  <a:pt x="1429879" y="2543"/>
                </a:lnTo>
                <a:lnTo>
                  <a:pt x="1478014" y="6380"/>
                </a:lnTo>
                <a:lnTo>
                  <a:pt x="1522973" y="11906"/>
                </a:lnTo>
                <a:lnTo>
                  <a:pt x="1564550" y="19105"/>
                </a:lnTo>
                <a:lnTo>
                  <a:pt x="1602538" y="27959"/>
                </a:lnTo>
                <a:lnTo>
                  <a:pt x="1666917" y="50568"/>
                </a:lnTo>
                <a:lnTo>
                  <a:pt x="1714454" y="79602"/>
                </a:lnTo>
                <a:lnTo>
                  <a:pt x="1743494" y="114928"/>
                </a:lnTo>
                <a:lnTo>
                  <a:pt x="1752365" y="156027"/>
                </a:lnTo>
                <a:lnTo>
                  <a:pt x="1748944" y="177820"/>
                </a:lnTo>
                <a:lnTo>
                  <a:pt x="1727154" y="223028"/>
                </a:lnTo>
                <a:lnTo>
                  <a:pt x="1686646" y="269731"/>
                </a:lnTo>
                <a:lnTo>
                  <a:pt x="1628872" y="317126"/>
                </a:lnTo>
                <a:lnTo>
                  <a:pt x="1593965" y="340832"/>
                </a:lnTo>
                <a:lnTo>
                  <a:pt x="1555287" y="364409"/>
                </a:lnTo>
                <a:lnTo>
                  <a:pt x="1513020" y="387758"/>
                </a:lnTo>
                <a:lnTo>
                  <a:pt x="1467346" y="410778"/>
                </a:lnTo>
                <a:lnTo>
                  <a:pt x="1418446" y="433368"/>
                </a:lnTo>
                <a:lnTo>
                  <a:pt x="1366502" y="455428"/>
                </a:lnTo>
                <a:lnTo>
                  <a:pt x="1311696" y="476858"/>
                </a:lnTo>
                <a:lnTo>
                  <a:pt x="1254209" y="497558"/>
                </a:lnTo>
                <a:lnTo>
                  <a:pt x="1194224" y="517426"/>
                </a:lnTo>
                <a:lnTo>
                  <a:pt x="1131923" y="536362"/>
                </a:lnTo>
                <a:lnTo>
                  <a:pt x="1067486" y="554267"/>
                </a:lnTo>
                <a:lnTo>
                  <a:pt x="1001096" y="571039"/>
                </a:lnTo>
                <a:lnTo>
                  <a:pt x="932935" y="586578"/>
                </a:lnTo>
                <a:close/>
              </a:path>
            </a:pathLst>
          </a:custGeom>
          <a:ln w="253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695544" y="4498234"/>
            <a:ext cx="969010" cy="1268730"/>
          </a:xfrm>
          <a:custGeom>
            <a:avLst/>
            <a:gdLst/>
            <a:ahLst/>
            <a:cxnLst/>
            <a:rect l="l" t="t" r="r" b="b"/>
            <a:pathLst>
              <a:path w="969009" h="1268729">
                <a:moveTo>
                  <a:pt x="251766" y="473070"/>
                </a:moveTo>
                <a:lnTo>
                  <a:pt x="291405" y="417900"/>
                </a:lnTo>
                <a:lnTo>
                  <a:pt x="331917" y="365415"/>
                </a:lnTo>
                <a:lnTo>
                  <a:pt x="373072" y="315774"/>
                </a:lnTo>
                <a:lnTo>
                  <a:pt x="414636" y="269136"/>
                </a:lnTo>
                <a:lnTo>
                  <a:pt x="456377" y="225661"/>
                </a:lnTo>
                <a:lnTo>
                  <a:pt x="498063" y="185509"/>
                </a:lnTo>
                <a:lnTo>
                  <a:pt x="539463" y="148840"/>
                </a:lnTo>
                <a:lnTo>
                  <a:pt x="580343" y="115812"/>
                </a:lnTo>
                <a:lnTo>
                  <a:pt x="620471" y="86586"/>
                </a:lnTo>
                <a:lnTo>
                  <a:pt x="659616" y="61321"/>
                </a:lnTo>
                <a:lnTo>
                  <a:pt x="697546" y="40176"/>
                </a:lnTo>
                <a:lnTo>
                  <a:pt x="734027" y="23313"/>
                </a:lnTo>
                <a:lnTo>
                  <a:pt x="801716" y="3065"/>
                </a:lnTo>
                <a:lnTo>
                  <a:pt x="832460" y="0"/>
                </a:lnTo>
                <a:lnTo>
                  <a:pt x="860826" y="1853"/>
                </a:lnTo>
                <a:lnTo>
                  <a:pt x="909501" y="20956"/>
                </a:lnTo>
                <a:lnTo>
                  <a:pt x="944479" y="59822"/>
                </a:lnTo>
                <a:lnTo>
                  <a:pt x="964102" y="115594"/>
                </a:lnTo>
                <a:lnTo>
                  <a:pt x="968913" y="186083"/>
                </a:lnTo>
                <a:lnTo>
                  <a:pt x="965933" y="226162"/>
                </a:lnTo>
                <a:lnTo>
                  <a:pt x="959455" y="269101"/>
                </a:lnTo>
                <a:lnTo>
                  <a:pt x="949545" y="314625"/>
                </a:lnTo>
                <a:lnTo>
                  <a:pt x="936271" y="362461"/>
                </a:lnTo>
                <a:lnTo>
                  <a:pt x="919702" y="412336"/>
                </a:lnTo>
                <a:lnTo>
                  <a:pt x="899905" y="463976"/>
                </a:lnTo>
                <a:lnTo>
                  <a:pt x="876949" y="517107"/>
                </a:lnTo>
                <a:lnTo>
                  <a:pt x="850900" y="571456"/>
                </a:lnTo>
                <a:lnTo>
                  <a:pt x="821828" y="626750"/>
                </a:lnTo>
                <a:lnTo>
                  <a:pt x="789799" y="682716"/>
                </a:lnTo>
                <a:lnTo>
                  <a:pt x="754883" y="739079"/>
                </a:lnTo>
                <a:lnTo>
                  <a:pt x="717146" y="795566"/>
                </a:lnTo>
                <a:lnTo>
                  <a:pt x="677507" y="850736"/>
                </a:lnTo>
                <a:lnTo>
                  <a:pt x="636995" y="903221"/>
                </a:lnTo>
                <a:lnTo>
                  <a:pt x="595840" y="952862"/>
                </a:lnTo>
                <a:lnTo>
                  <a:pt x="554277" y="999500"/>
                </a:lnTo>
                <a:lnTo>
                  <a:pt x="512535" y="1042975"/>
                </a:lnTo>
                <a:lnTo>
                  <a:pt x="470849" y="1083127"/>
                </a:lnTo>
                <a:lnTo>
                  <a:pt x="429450" y="1119797"/>
                </a:lnTo>
                <a:lnTo>
                  <a:pt x="388570" y="1152824"/>
                </a:lnTo>
                <a:lnTo>
                  <a:pt x="348441" y="1182050"/>
                </a:lnTo>
                <a:lnTo>
                  <a:pt x="309296" y="1207315"/>
                </a:lnTo>
                <a:lnTo>
                  <a:pt x="271367" y="1228460"/>
                </a:lnTo>
                <a:lnTo>
                  <a:pt x="234886" y="1245324"/>
                </a:lnTo>
                <a:lnTo>
                  <a:pt x="167196" y="1265572"/>
                </a:lnTo>
                <a:lnTo>
                  <a:pt x="136453" y="1268637"/>
                </a:lnTo>
                <a:lnTo>
                  <a:pt x="108086" y="1266783"/>
                </a:lnTo>
                <a:lnTo>
                  <a:pt x="59411" y="1247681"/>
                </a:lnTo>
                <a:lnTo>
                  <a:pt x="24433" y="1208814"/>
                </a:lnTo>
                <a:lnTo>
                  <a:pt x="4810" y="1153042"/>
                </a:lnTo>
                <a:lnTo>
                  <a:pt x="0" y="1082553"/>
                </a:lnTo>
                <a:lnTo>
                  <a:pt x="2979" y="1042474"/>
                </a:lnTo>
                <a:lnTo>
                  <a:pt x="9458" y="999535"/>
                </a:lnTo>
                <a:lnTo>
                  <a:pt x="19368" y="954011"/>
                </a:lnTo>
                <a:lnTo>
                  <a:pt x="32641" y="906175"/>
                </a:lnTo>
                <a:lnTo>
                  <a:pt x="49210" y="856300"/>
                </a:lnTo>
                <a:lnTo>
                  <a:pt x="69007" y="804661"/>
                </a:lnTo>
                <a:lnTo>
                  <a:pt x="91964" y="751529"/>
                </a:lnTo>
                <a:lnTo>
                  <a:pt x="118012" y="697180"/>
                </a:lnTo>
                <a:lnTo>
                  <a:pt x="147084" y="641886"/>
                </a:lnTo>
                <a:lnTo>
                  <a:pt x="179113" y="585920"/>
                </a:lnTo>
                <a:lnTo>
                  <a:pt x="214029" y="529557"/>
                </a:lnTo>
                <a:lnTo>
                  <a:pt x="251766" y="473070"/>
                </a:lnTo>
                <a:close/>
              </a:path>
            </a:pathLst>
          </a:custGeom>
          <a:ln w="25399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913632" y="5172455"/>
            <a:ext cx="359663" cy="3535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957880" y="51892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957880" y="51892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039412" y="518820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25574" y="5068027"/>
            <a:ext cx="1357630" cy="729615"/>
          </a:xfrm>
          <a:custGeom>
            <a:avLst/>
            <a:gdLst/>
            <a:ahLst/>
            <a:cxnLst/>
            <a:rect l="l" t="t" r="r" b="b"/>
            <a:pathLst>
              <a:path w="1357629" h="729614">
                <a:moveTo>
                  <a:pt x="4974" y="184179"/>
                </a:moveTo>
                <a:lnTo>
                  <a:pt x="31091" y="130131"/>
                </a:lnTo>
                <a:lnTo>
                  <a:pt x="76756" y="84911"/>
                </a:lnTo>
                <a:lnTo>
                  <a:pt x="139823" y="48902"/>
                </a:lnTo>
                <a:lnTo>
                  <a:pt x="177213" y="34473"/>
                </a:lnTo>
                <a:lnTo>
                  <a:pt x="218151" y="22491"/>
                </a:lnTo>
                <a:lnTo>
                  <a:pt x="262368" y="13004"/>
                </a:lnTo>
                <a:lnTo>
                  <a:pt x="309597" y="6062"/>
                </a:lnTo>
                <a:lnTo>
                  <a:pt x="359570" y="1711"/>
                </a:lnTo>
                <a:lnTo>
                  <a:pt x="412018" y="0"/>
                </a:lnTo>
                <a:lnTo>
                  <a:pt x="466674" y="976"/>
                </a:lnTo>
                <a:lnTo>
                  <a:pt x="523271" y="4690"/>
                </a:lnTo>
                <a:lnTo>
                  <a:pt x="581540" y="11187"/>
                </a:lnTo>
                <a:lnTo>
                  <a:pt x="641213" y="20517"/>
                </a:lnTo>
                <a:lnTo>
                  <a:pt x="702023" y="32727"/>
                </a:lnTo>
                <a:lnTo>
                  <a:pt x="763702" y="47866"/>
                </a:lnTo>
                <a:lnTo>
                  <a:pt x="824687" y="65594"/>
                </a:lnTo>
                <a:lnTo>
                  <a:pt x="883455" y="85425"/>
                </a:lnTo>
                <a:lnTo>
                  <a:pt x="939799" y="107182"/>
                </a:lnTo>
                <a:lnTo>
                  <a:pt x="993510" y="130690"/>
                </a:lnTo>
                <a:lnTo>
                  <a:pt x="1044380" y="155772"/>
                </a:lnTo>
                <a:lnTo>
                  <a:pt x="1092203" y="182254"/>
                </a:lnTo>
                <a:lnTo>
                  <a:pt x="1136769" y="209960"/>
                </a:lnTo>
                <a:lnTo>
                  <a:pt x="1177871" y="238715"/>
                </a:lnTo>
                <a:lnTo>
                  <a:pt x="1215301" y="268342"/>
                </a:lnTo>
                <a:lnTo>
                  <a:pt x="1248851" y="298666"/>
                </a:lnTo>
                <a:lnTo>
                  <a:pt x="1278313" y="329511"/>
                </a:lnTo>
                <a:lnTo>
                  <a:pt x="1303479" y="360703"/>
                </a:lnTo>
                <a:lnTo>
                  <a:pt x="1340093" y="423421"/>
                </a:lnTo>
                <a:lnTo>
                  <a:pt x="1357029" y="485415"/>
                </a:lnTo>
                <a:lnTo>
                  <a:pt x="1357598" y="515702"/>
                </a:lnTo>
                <a:lnTo>
                  <a:pt x="1352624" y="545281"/>
                </a:lnTo>
                <a:lnTo>
                  <a:pt x="1326506" y="599329"/>
                </a:lnTo>
                <a:lnTo>
                  <a:pt x="1280842" y="644549"/>
                </a:lnTo>
                <a:lnTo>
                  <a:pt x="1217774" y="680558"/>
                </a:lnTo>
                <a:lnTo>
                  <a:pt x="1180384" y="694987"/>
                </a:lnTo>
                <a:lnTo>
                  <a:pt x="1139446" y="706969"/>
                </a:lnTo>
                <a:lnTo>
                  <a:pt x="1095229" y="716456"/>
                </a:lnTo>
                <a:lnTo>
                  <a:pt x="1048000" y="723398"/>
                </a:lnTo>
                <a:lnTo>
                  <a:pt x="998028" y="727749"/>
                </a:lnTo>
                <a:lnTo>
                  <a:pt x="945579" y="729460"/>
                </a:lnTo>
                <a:lnTo>
                  <a:pt x="890923" y="728483"/>
                </a:lnTo>
                <a:lnTo>
                  <a:pt x="834326" y="724770"/>
                </a:lnTo>
                <a:lnTo>
                  <a:pt x="776057" y="718273"/>
                </a:lnTo>
                <a:lnTo>
                  <a:pt x="716384" y="708943"/>
                </a:lnTo>
                <a:lnTo>
                  <a:pt x="655574" y="696733"/>
                </a:lnTo>
                <a:lnTo>
                  <a:pt x="593895" y="681594"/>
                </a:lnTo>
                <a:lnTo>
                  <a:pt x="532910" y="663865"/>
                </a:lnTo>
                <a:lnTo>
                  <a:pt x="474142" y="644035"/>
                </a:lnTo>
                <a:lnTo>
                  <a:pt x="417799" y="622278"/>
                </a:lnTo>
                <a:lnTo>
                  <a:pt x="364088" y="598770"/>
                </a:lnTo>
                <a:lnTo>
                  <a:pt x="313217" y="573688"/>
                </a:lnTo>
                <a:lnTo>
                  <a:pt x="265395" y="547205"/>
                </a:lnTo>
                <a:lnTo>
                  <a:pt x="220829" y="519499"/>
                </a:lnTo>
                <a:lnTo>
                  <a:pt x="179727" y="490745"/>
                </a:lnTo>
                <a:lnTo>
                  <a:pt x="142297" y="461118"/>
                </a:lnTo>
                <a:lnTo>
                  <a:pt x="108747" y="430794"/>
                </a:lnTo>
                <a:lnTo>
                  <a:pt x="79285" y="399948"/>
                </a:lnTo>
                <a:lnTo>
                  <a:pt x="54118" y="368757"/>
                </a:lnTo>
                <a:lnTo>
                  <a:pt x="17504" y="306039"/>
                </a:lnTo>
                <a:lnTo>
                  <a:pt x="568" y="244045"/>
                </a:lnTo>
                <a:lnTo>
                  <a:pt x="0" y="213758"/>
                </a:lnTo>
                <a:lnTo>
                  <a:pt x="4974" y="184179"/>
                </a:lnTo>
                <a:close/>
              </a:path>
            </a:pathLst>
          </a:custGeom>
          <a:ln w="25399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9"/>
              </a:rPr>
              <a:t>http://cs224w.stanford.edu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53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75712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4865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70C0"/>
                </a:solidFill>
              </a:rPr>
              <a:t>Splitting </a:t>
            </a:r>
            <a:r>
              <a:rPr dirty="0">
                <a:solidFill>
                  <a:srgbClr val="0070C0"/>
                </a:solidFill>
              </a:rPr>
              <a:t>a </a:t>
            </a:r>
            <a:r>
              <a:rPr dirty="0" spc="-20">
                <a:solidFill>
                  <a:srgbClr val="0070C0"/>
                </a:solidFill>
              </a:rPr>
              <a:t>graph dataset </a:t>
            </a:r>
            <a:r>
              <a:rPr dirty="0">
                <a:solidFill>
                  <a:srgbClr val="0070C0"/>
                </a:solidFill>
              </a:rPr>
              <a:t>is</a:t>
            </a:r>
            <a:r>
              <a:rPr dirty="0" spc="5">
                <a:solidFill>
                  <a:srgbClr val="0070C0"/>
                </a:solidFill>
              </a:rPr>
              <a:t> </a:t>
            </a:r>
            <a:r>
              <a:rPr dirty="0" spc="-15">
                <a:solidFill>
                  <a:srgbClr val="0070C0"/>
                </a:solidFill>
              </a:rPr>
              <a:t>different!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8038465" cy="186880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 classification: </a:t>
            </a:r>
            <a:r>
              <a:rPr dirty="0" sz="2800" spc="-15" b="1">
                <a:latin typeface="Calibri"/>
                <a:cs typeface="Calibri"/>
              </a:rPr>
              <a:t>Each data </a:t>
            </a:r>
            <a:r>
              <a:rPr dirty="0" sz="2800" spc="-10" b="1">
                <a:latin typeface="Calibri"/>
                <a:cs typeface="Calibri"/>
              </a:rPr>
              <a:t>point </a:t>
            </a:r>
            <a:r>
              <a:rPr dirty="0" sz="2800" spc="-5" b="1">
                <a:latin typeface="Calibri"/>
                <a:cs typeface="Calibri"/>
              </a:rPr>
              <a:t>is 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2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Here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data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points are </a:t>
            </a: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dirty="0" sz="2800" spc="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independent</a:t>
            </a:r>
            <a:endParaRPr sz="28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49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 b="1">
                <a:latin typeface="Calibri"/>
                <a:cs typeface="Calibri"/>
              </a:rPr>
              <a:t>Node </a:t>
            </a:r>
            <a:r>
              <a:rPr dirty="0" sz="2400" b="1">
                <a:latin typeface="Calibri"/>
                <a:cs typeface="Calibri"/>
              </a:rPr>
              <a:t>5 </a:t>
            </a:r>
            <a:r>
              <a:rPr dirty="0" sz="2400" spc="-5" b="1">
                <a:latin typeface="Calibri"/>
                <a:cs typeface="Calibri"/>
              </a:rPr>
              <a:t>will </a:t>
            </a:r>
            <a:r>
              <a:rPr dirty="0" sz="2400" spc="-15" b="1">
                <a:latin typeface="Calibri"/>
                <a:cs typeface="Calibri"/>
              </a:rPr>
              <a:t>affect </a:t>
            </a:r>
            <a:r>
              <a:rPr dirty="0" sz="2400" spc="-5" b="1">
                <a:latin typeface="Calibri"/>
                <a:cs typeface="Calibri"/>
              </a:rPr>
              <a:t>our </a:t>
            </a:r>
            <a:r>
              <a:rPr dirty="0" sz="2400" spc="-10" b="1">
                <a:latin typeface="Calibri"/>
                <a:cs typeface="Calibri"/>
              </a:rPr>
              <a:t>prediction </a:t>
            </a:r>
            <a:r>
              <a:rPr dirty="0" sz="2400" spc="-5" b="1">
                <a:latin typeface="Calibri"/>
                <a:cs typeface="Calibri"/>
              </a:rPr>
              <a:t>on node 1, </a:t>
            </a:r>
            <a:r>
              <a:rPr dirty="0" sz="2400" spc="-5">
                <a:latin typeface="Calibri"/>
                <a:cs typeface="Calibri"/>
              </a:rPr>
              <a:t>because it will  </a:t>
            </a:r>
            <a:r>
              <a:rPr dirty="0" sz="2400" spc="-10">
                <a:latin typeface="Calibri"/>
                <a:cs typeface="Calibri"/>
              </a:rPr>
              <a:t>participate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10">
                <a:latin typeface="Calibri"/>
                <a:cs typeface="Calibri"/>
              </a:rPr>
              <a:t>message </a:t>
            </a:r>
            <a:r>
              <a:rPr dirty="0" sz="2400" spc="-5">
                <a:latin typeface="Calibri"/>
                <a:cs typeface="Calibri"/>
              </a:rPr>
              <a:t>passing </a:t>
            </a:r>
            <a:r>
              <a:rPr dirty="0" sz="2400" spc="1010">
                <a:latin typeface="Arial"/>
                <a:cs typeface="Arial"/>
              </a:rPr>
              <a:t>à</a:t>
            </a:r>
            <a:r>
              <a:rPr dirty="0" sz="2400" spc="10">
                <a:latin typeface="Arial"/>
                <a:cs typeface="Arial"/>
              </a:rPr>
              <a:t> </a:t>
            </a:r>
            <a:r>
              <a:rPr dirty="0" sz="2400" spc="-20">
                <a:latin typeface="Calibri"/>
                <a:cs typeface="Calibri"/>
              </a:rPr>
              <a:t>affect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 spc="-50">
                <a:latin typeface="Calibri"/>
                <a:cs typeface="Calibri"/>
              </a:rPr>
              <a:t>1’s </a:t>
            </a:r>
            <a:r>
              <a:rPr dirty="0" sz="2400" spc="-5">
                <a:latin typeface="Calibri"/>
                <a:cs typeface="Calibri"/>
              </a:rPr>
              <a:t>embedding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5716523"/>
            <a:ext cx="41332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What are </a:t>
            </a:r>
            <a:r>
              <a:rPr dirty="0" sz="3200" spc="-5" b="1">
                <a:latin typeface="Calibri"/>
                <a:cs typeface="Calibri"/>
              </a:rPr>
              <a:t>our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options?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0212" y="3930395"/>
            <a:ext cx="122491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  </a:t>
            </a: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  </a:t>
            </a:r>
            <a:r>
              <a:rPr dirty="0" sz="2000" spc="-40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02504" y="4207855"/>
            <a:ext cx="766445" cy="118110"/>
          </a:xfrm>
          <a:custGeom>
            <a:avLst/>
            <a:gdLst/>
            <a:ahLst/>
            <a:cxnLst/>
            <a:rect l="l" t="t" r="r" b="b"/>
            <a:pathLst>
              <a:path w="766445" h="118110">
                <a:moveTo>
                  <a:pt x="766212" y="0"/>
                </a:moveTo>
                <a:lnTo>
                  <a:pt x="0" y="11792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15462" y="4969607"/>
            <a:ext cx="749935" cy="191135"/>
          </a:xfrm>
          <a:custGeom>
            <a:avLst/>
            <a:gdLst/>
            <a:ahLst/>
            <a:cxnLst/>
            <a:rect l="l" t="t" r="r" b="b"/>
            <a:pathLst>
              <a:path w="749935" h="191135">
                <a:moveTo>
                  <a:pt x="749589" y="19067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73870" y="4427234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93522" y="5122690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83873" y="4284405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38858" y="4389856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97289" y="4224619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12079" y="4038600"/>
            <a:ext cx="359663" cy="356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56754" y="405722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56754" y="405722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96967" y="4983479"/>
            <a:ext cx="356615" cy="3535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39265" y="500029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739265" y="500029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84520" y="4983479"/>
            <a:ext cx="359663" cy="3535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729420" y="500029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29420" y="500029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33159" y="4224528"/>
            <a:ext cx="356615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75434" y="424261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75434" y="424261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349496" y="4178808"/>
            <a:ext cx="356615" cy="3566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392912" y="419828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392912" y="419828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355236" y="424027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27596" y="405130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97457" y="4996179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20797" y="499922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8595" y="419760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535829" y="4220588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097093" y="3967611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932935" y="586578"/>
                </a:moveTo>
                <a:lnTo>
                  <a:pt x="864432" y="600535"/>
                </a:lnTo>
                <a:lnTo>
                  <a:pt x="797034" y="612638"/>
                </a:lnTo>
                <a:lnTo>
                  <a:pt x="730949" y="622904"/>
                </a:lnTo>
                <a:lnTo>
                  <a:pt x="666383" y="631349"/>
                </a:lnTo>
                <a:lnTo>
                  <a:pt x="603543" y="637991"/>
                </a:lnTo>
                <a:lnTo>
                  <a:pt x="542637" y="642844"/>
                </a:lnTo>
                <a:lnTo>
                  <a:pt x="483871" y="645926"/>
                </a:lnTo>
                <a:lnTo>
                  <a:pt x="427452" y="647254"/>
                </a:lnTo>
                <a:lnTo>
                  <a:pt x="373588" y="646843"/>
                </a:lnTo>
                <a:lnTo>
                  <a:pt x="322485" y="644711"/>
                </a:lnTo>
                <a:lnTo>
                  <a:pt x="274350" y="640873"/>
                </a:lnTo>
                <a:lnTo>
                  <a:pt x="229391" y="635347"/>
                </a:lnTo>
                <a:lnTo>
                  <a:pt x="187814" y="628148"/>
                </a:lnTo>
                <a:lnTo>
                  <a:pt x="149826" y="619294"/>
                </a:lnTo>
                <a:lnTo>
                  <a:pt x="85447" y="596685"/>
                </a:lnTo>
                <a:lnTo>
                  <a:pt x="37910" y="567651"/>
                </a:lnTo>
                <a:lnTo>
                  <a:pt x="8870" y="532325"/>
                </a:lnTo>
                <a:lnTo>
                  <a:pt x="0" y="491226"/>
                </a:lnTo>
                <a:lnTo>
                  <a:pt x="3420" y="469434"/>
                </a:lnTo>
                <a:lnTo>
                  <a:pt x="25210" y="424226"/>
                </a:lnTo>
                <a:lnTo>
                  <a:pt x="65718" y="377523"/>
                </a:lnTo>
                <a:lnTo>
                  <a:pt x="123492" y="330128"/>
                </a:lnTo>
                <a:lnTo>
                  <a:pt x="158399" y="306422"/>
                </a:lnTo>
                <a:lnTo>
                  <a:pt x="197077" y="282844"/>
                </a:lnTo>
                <a:lnTo>
                  <a:pt x="239344" y="259495"/>
                </a:lnTo>
                <a:lnTo>
                  <a:pt x="285018" y="236475"/>
                </a:lnTo>
                <a:lnTo>
                  <a:pt x="333918" y="213885"/>
                </a:lnTo>
                <a:lnTo>
                  <a:pt x="385862" y="191825"/>
                </a:lnTo>
                <a:lnTo>
                  <a:pt x="440668" y="170395"/>
                </a:lnTo>
                <a:lnTo>
                  <a:pt x="498155" y="149696"/>
                </a:lnTo>
                <a:lnTo>
                  <a:pt x="558140" y="129828"/>
                </a:lnTo>
                <a:lnTo>
                  <a:pt x="620441" y="110891"/>
                </a:lnTo>
                <a:lnTo>
                  <a:pt x="684878" y="92987"/>
                </a:lnTo>
                <a:lnTo>
                  <a:pt x="751268" y="76215"/>
                </a:lnTo>
                <a:lnTo>
                  <a:pt x="819429" y="60675"/>
                </a:lnTo>
                <a:lnTo>
                  <a:pt x="887932" y="46718"/>
                </a:lnTo>
                <a:lnTo>
                  <a:pt x="955330" y="34615"/>
                </a:lnTo>
                <a:lnTo>
                  <a:pt x="1021415" y="24349"/>
                </a:lnTo>
                <a:lnTo>
                  <a:pt x="1085981" y="15904"/>
                </a:lnTo>
                <a:lnTo>
                  <a:pt x="1148821" y="9263"/>
                </a:lnTo>
                <a:lnTo>
                  <a:pt x="1209727" y="4409"/>
                </a:lnTo>
                <a:lnTo>
                  <a:pt x="1268493" y="1327"/>
                </a:lnTo>
                <a:lnTo>
                  <a:pt x="1324912" y="0"/>
                </a:lnTo>
                <a:lnTo>
                  <a:pt x="1378776" y="410"/>
                </a:lnTo>
                <a:lnTo>
                  <a:pt x="1429879" y="2543"/>
                </a:lnTo>
                <a:lnTo>
                  <a:pt x="1478014" y="6380"/>
                </a:lnTo>
                <a:lnTo>
                  <a:pt x="1522973" y="11906"/>
                </a:lnTo>
                <a:lnTo>
                  <a:pt x="1564550" y="19105"/>
                </a:lnTo>
                <a:lnTo>
                  <a:pt x="1602538" y="27959"/>
                </a:lnTo>
                <a:lnTo>
                  <a:pt x="1666917" y="50568"/>
                </a:lnTo>
                <a:lnTo>
                  <a:pt x="1714454" y="79602"/>
                </a:lnTo>
                <a:lnTo>
                  <a:pt x="1743494" y="114928"/>
                </a:lnTo>
                <a:lnTo>
                  <a:pt x="1752365" y="156027"/>
                </a:lnTo>
                <a:lnTo>
                  <a:pt x="1748944" y="177820"/>
                </a:lnTo>
                <a:lnTo>
                  <a:pt x="1727154" y="223028"/>
                </a:lnTo>
                <a:lnTo>
                  <a:pt x="1686646" y="269731"/>
                </a:lnTo>
                <a:lnTo>
                  <a:pt x="1628872" y="317126"/>
                </a:lnTo>
                <a:lnTo>
                  <a:pt x="1593965" y="340832"/>
                </a:lnTo>
                <a:lnTo>
                  <a:pt x="1555287" y="364409"/>
                </a:lnTo>
                <a:lnTo>
                  <a:pt x="1513020" y="387758"/>
                </a:lnTo>
                <a:lnTo>
                  <a:pt x="1467346" y="410778"/>
                </a:lnTo>
                <a:lnTo>
                  <a:pt x="1418446" y="433368"/>
                </a:lnTo>
                <a:lnTo>
                  <a:pt x="1366502" y="455428"/>
                </a:lnTo>
                <a:lnTo>
                  <a:pt x="1311696" y="476858"/>
                </a:lnTo>
                <a:lnTo>
                  <a:pt x="1254209" y="497558"/>
                </a:lnTo>
                <a:lnTo>
                  <a:pt x="1194224" y="517426"/>
                </a:lnTo>
                <a:lnTo>
                  <a:pt x="1131923" y="536362"/>
                </a:lnTo>
                <a:lnTo>
                  <a:pt x="1067486" y="554267"/>
                </a:lnTo>
                <a:lnTo>
                  <a:pt x="1001096" y="571039"/>
                </a:lnTo>
                <a:lnTo>
                  <a:pt x="932935" y="586578"/>
                </a:lnTo>
                <a:close/>
              </a:path>
            </a:pathLst>
          </a:custGeom>
          <a:ln w="253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649823" y="4130661"/>
            <a:ext cx="969010" cy="1268730"/>
          </a:xfrm>
          <a:custGeom>
            <a:avLst/>
            <a:gdLst/>
            <a:ahLst/>
            <a:cxnLst/>
            <a:rect l="l" t="t" r="r" b="b"/>
            <a:pathLst>
              <a:path w="969009" h="1268729">
                <a:moveTo>
                  <a:pt x="251766" y="473070"/>
                </a:moveTo>
                <a:lnTo>
                  <a:pt x="291405" y="417900"/>
                </a:lnTo>
                <a:lnTo>
                  <a:pt x="331917" y="365415"/>
                </a:lnTo>
                <a:lnTo>
                  <a:pt x="373072" y="315774"/>
                </a:lnTo>
                <a:lnTo>
                  <a:pt x="414636" y="269136"/>
                </a:lnTo>
                <a:lnTo>
                  <a:pt x="456377" y="225661"/>
                </a:lnTo>
                <a:lnTo>
                  <a:pt x="498063" y="185509"/>
                </a:lnTo>
                <a:lnTo>
                  <a:pt x="539463" y="148840"/>
                </a:lnTo>
                <a:lnTo>
                  <a:pt x="580343" y="115812"/>
                </a:lnTo>
                <a:lnTo>
                  <a:pt x="620471" y="86586"/>
                </a:lnTo>
                <a:lnTo>
                  <a:pt x="659616" y="61321"/>
                </a:lnTo>
                <a:lnTo>
                  <a:pt x="697546" y="40176"/>
                </a:lnTo>
                <a:lnTo>
                  <a:pt x="734027" y="23313"/>
                </a:lnTo>
                <a:lnTo>
                  <a:pt x="801716" y="3065"/>
                </a:lnTo>
                <a:lnTo>
                  <a:pt x="832460" y="0"/>
                </a:lnTo>
                <a:lnTo>
                  <a:pt x="860826" y="1853"/>
                </a:lnTo>
                <a:lnTo>
                  <a:pt x="909501" y="20956"/>
                </a:lnTo>
                <a:lnTo>
                  <a:pt x="944479" y="59822"/>
                </a:lnTo>
                <a:lnTo>
                  <a:pt x="964102" y="115594"/>
                </a:lnTo>
                <a:lnTo>
                  <a:pt x="968913" y="186083"/>
                </a:lnTo>
                <a:lnTo>
                  <a:pt x="965933" y="226162"/>
                </a:lnTo>
                <a:lnTo>
                  <a:pt x="959455" y="269101"/>
                </a:lnTo>
                <a:lnTo>
                  <a:pt x="949545" y="314625"/>
                </a:lnTo>
                <a:lnTo>
                  <a:pt x="936271" y="362461"/>
                </a:lnTo>
                <a:lnTo>
                  <a:pt x="919702" y="412336"/>
                </a:lnTo>
                <a:lnTo>
                  <a:pt x="899905" y="463976"/>
                </a:lnTo>
                <a:lnTo>
                  <a:pt x="876949" y="517107"/>
                </a:lnTo>
                <a:lnTo>
                  <a:pt x="850900" y="571456"/>
                </a:lnTo>
                <a:lnTo>
                  <a:pt x="821828" y="626750"/>
                </a:lnTo>
                <a:lnTo>
                  <a:pt x="789799" y="682716"/>
                </a:lnTo>
                <a:lnTo>
                  <a:pt x="754883" y="739079"/>
                </a:lnTo>
                <a:lnTo>
                  <a:pt x="717146" y="795566"/>
                </a:lnTo>
                <a:lnTo>
                  <a:pt x="677507" y="850736"/>
                </a:lnTo>
                <a:lnTo>
                  <a:pt x="636995" y="903221"/>
                </a:lnTo>
                <a:lnTo>
                  <a:pt x="595840" y="952862"/>
                </a:lnTo>
                <a:lnTo>
                  <a:pt x="554277" y="999500"/>
                </a:lnTo>
                <a:lnTo>
                  <a:pt x="512535" y="1042975"/>
                </a:lnTo>
                <a:lnTo>
                  <a:pt x="470849" y="1083127"/>
                </a:lnTo>
                <a:lnTo>
                  <a:pt x="429450" y="1119797"/>
                </a:lnTo>
                <a:lnTo>
                  <a:pt x="388570" y="1152824"/>
                </a:lnTo>
                <a:lnTo>
                  <a:pt x="348441" y="1182050"/>
                </a:lnTo>
                <a:lnTo>
                  <a:pt x="309296" y="1207315"/>
                </a:lnTo>
                <a:lnTo>
                  <a:pt x="271367" y="1228460"/>
                </a:lnTo>
                <a:lnTo>
                  <a:pt x="234886" y="1245324"/>
                </a:lnTo>
                <a:lnTo>
                  <a:pt x="167196" y="1265572"/>
                </a:lnTo>
                <a:lnTo>
                  <a:pt x="136453" y="1268637"/>
                </a:lnTo>
                <a:lnTo>
                  <a:pt x="108086" y="1266783"/>
                </a:lnTo>
                <a:lnTo>
                  <a:pt x="59411" y="1247681"/>
                </a:lnTo>
                <a:lnTo>
                  <a:pt x="24433" y="1208814"/>
                </a:lnTo>
                <a:lnTo>
                  <a:pt x="4810" y="1153042"/>
                </a:lnTo>
                <a:lnTo>
                  <a:pt x="0" y="1082553"/>
                </a:lnTo>
                <a:lnTo>
                  <a:pt x="2979" y="1042474"/>
                </a:lnTo>
                <a:lnTo>
                  <a:pt x="9458" y="999535"/>
                </a:lnTo>
                <a:lnTo>
                  <a:pt x="19368" y="954011"/>
                </a:lnTo>
                <a:lnTo>
                  <a:pt x="32641" y="906175"/>
                </a:lnTo>
                <a:lnTo>
                  <a:pt x="49210" y="856300"/>
                </a:lnTo>
                <a:lnTo>
                  <a:pt x="69007" y="804661"/>
                </a:lnTo>
                <a:lnTo>
                  <a:pt x="91964" y="751529"/>
                </a:lnTo>
                <a:lnTo>
                  <a:pt x="118012" y="697180"/>
                </a:lnTo>
                <a:lnTo>
                  <a:pt x="147084" y="641886"/>
                </a:lnTo>
                <a:lnTo>
                  <a:pt x="179113" y="585920"/>
                </a:lnTo>
                <a:lnTo>
                  <a:pt x="214029" y="529557"/>
                </a:lnTo>
                <a:lnTo>
                  <a:pt x="251766" y="473070"/>
                </a:lnTo>
                <a:close/>
              </a:path>
            </a:pathLst>
          </a:custGeom>
          <a:ln w="25399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867911" y="4803647"/>
            <a:ext cx="359663" cy="3566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912158" y="48217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912158" y="48217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993691" y="48193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779854" y="4700453"/>
            <a:ext cx="1357630" cy="729615"/>
          </a:xfrm>
          <a:custGeom>
            <a:avLst/>
            <a:gdLst/>
            <a:ahLst/>
            <a:cxnLst/>
            <a:rect l="l" t="t" r="r" b="b"/>
            <a:pathLst>
              <a:path w="1357629" h="729614">
                <a:moveTo>
                  <a:pt x="4974" y="184179"/>
                </a:moveTo>
                <a:lnTo>
                  <a:pt x="31091" y="130131"/>
                </a:lnTo>
                <a:lnTo>
                  <a:pt x="76756" y="84911"/>
                </a:lnTo>
                <a:lnTo>
                  <a:pt x="139823" y="48902"/>
                </a:lnTo>
                <a:lnTo>
                  <a:pt x="177213" y="34473"/>
                </a:lnTo>
                <a:lnTo>
                  <a:pt x="218151" y="22491"/>
                </a:lnTo>
                <a:lnTo>
                  <a:pt x="262368" y="13004"/>
                </a:lnTo>
                <a:lnTo>
                  <a:pt x="309597" y="6062"/>
                </a:lnTo>
                <a:lnTo>
                  <a:pt x="359570" y="1711"/>
                </a:lnTo>
                <a:lnTo>
                  <a:pt x="412018" y="0"/>
                </a:lnTo>
                <a:lnTo>
                  <a:pt x="466674" y="976"/>
                </a:lnTo>
                <a:lnTo>
                  <a:pt x="523271" y="4690"/>
                </a:lnTo>
                <a:lnTo>
                  <a:pt x="581540" y="11187"/>
                </a:lnTo>
                <a:lnTo>
                  <a:pt x="641213" y="20517"/>
                </a:lnTo>
                <a:lnTo>
                  <a:pt x="702023" y="32727"/>
                </a:lnTo>
                <a:lnTo>
                  <a:pt x="763702" y="47866"/>
                </a:lnTo>
                <a:lnTo>
                  <a:pt x="824687" y="65594"/>
                </a:lnTo>
                <a:lnTo>
                  <a:pt x="883455" y="85425"/>
                </a:lnTo>
                <a:lnTo>
                  <a:pt x="939799" y="107182"/>
                </a:lnTo>
                <a:lnTo>
                  <a:pt x="993510" y="130690"/>
                </a:lnTo>
                <a:lnTo>
                  <a:pt x="1044380" y="155772"/>
                </a:lnTo>
                <a:lnTo>
                  <a:pt x="1092203" y="182254"/>
                </a:lnTo>
                <a:lnTo>
                  <a:pt x="1136769" y="209960"/>
                </a:lnTo>
                <a:lnTo>
                  <a:pt x="1177871" y="238715"/>
                </a:lnTo>
                <a:lnTo>
                  <a:pt x="1215301" y="268342"/>
                </a:lnTo>
                <a:lnTo>
                  <a:pt x="1248851" y="298666"/>
                </a:lnTo>
                <a:lnTo>
                  <a:pt x="1278313" y="329511"/>
                </a:lnTo>
                <a:lnTo>
                  <a:pt x="1303479" y="360703"/>
                </a:lnTo>
                <a:lnTo>
                  <a:pt x="1340093" y="423421"/>
                </a:lnTo>
                <a:lnTo>
                  <a:pt x="1357029" y="485415"/>
                </a:lnTo>
                <a:lnTo>
                  <a:pt x="1357598" y="515702"/>
                </a:lnTo>
                <a:lnTo>
                  <a:pt x="1352624" y="545281"/>
                </a:lnTo>
                <a:lnTo>
                  <a:pt x="1326506" y="599329"/>
                </a:lnTo>
                <a:lnTo>
                  <a:pt x="1280842" y="644549"/>
                </a:lnTo>
                <a:lnTo>
                  <a:pt x="1217774" y="680558"/>
                </a:lnTo>
                <a:lnTo>
                  <a:pt x="1180384" y="694987"/>
                </a:lnTo>
                <a:lnTo>
                  <a:pt x="1139446" y="706969"/>
                </a:lnTo>
                <a:lnTo>
                  <a:pt x="1095229" y="716456"/>
                </a:lnTo>
                <a:lnTo>
                  <a:pt x="1048000" y="723398"/>
                </a:lnTo>
                <a:lnTo>
                  <a:pt x="998028" y="727749"/>
                </a:lnTo>
                <a:lnTo>
                  <a:pt x="945579" y="729460"/>
                </a:lnTo>
                <a:lnTo>
                  <a:pt x="890923" y="728483"/>
                </a:lnTo>
                <a:lnTo>
                  <a:pt x="834326" y="724770"/>
                </a:lnTo>
                <a:lnTo>
                  <a:pt x="776057" y="718273"/>
                </a:lnTo>
                <a:lnTo>
                  <a:pt x="716384" y="708943"/>
                </a:lnTo>
                <a:lnTo>
                  <a:pt x="655574" y="696733"/>
                </a:lnTo>
                <a:lnTo>
                  <a:pt x="593895" y="681594"/>
                </a:lnTo>
                <a:lnTo>
                  <a:pt x="532910" y="663865"/>
                </a:lnTo>
                <a:lnTo>
                  <a:pt x="474142" y="644035"/>
                </a:lnTo>
                <a:lnTo>
                  <a:pt x="417799" y="622278"/>
                </a:lnTo>
                <a:lnTo>
                  <a:pt x="364088" y="598770"/>
                </a:lnTo>
                <a:lnTo>
                  <a:pt x="313217" y="573688"/>
                </a:lnTo>
                <a:lnTo>
                  <a:pt x="265395" y="547205"/>
                </a:lnTo>
                <a:lnTo>
                  <a:pt x="220829" y="519499"/>
                </a:lnTo>
                <a:lnTo>
                  <a:pt x="179727" y="490745"/>
                </a:lnTo>
                <a:lnTo>
                  <a:pt x="142297" y="461118"/>
                </a:lnTo>
                <a:lnTo>
                  <a:pt x="108747" y="430794"/>
                </a:lnTo>
                <a:lnTo>
                  <a:pt x="79285" y="399948"/>
                </a:lnTo>
                <a:lnTo>
                  <a:pt x="54118" y="368757"/>
                </a:lnTo>
                <a:lnTo>
                  <a:pt x="17504" y="306039"/>
                </a:lnTo>
                <a:lnTo>
                  <a:pt x="568" y="244045"/>
                </a:lnTo>
                <a:lnTo>
                  <a:pt x="0" y="213758"/>
                </a:lnTo>
                <a:lnTo>
                  <a:pt x="4974" y="184179"/>
                </a:lnTo>
                <a:close/>
              </a:path>
            </a:pathLst>
          </a:custGeom>
          <a:ln w="25399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9"/>
              </a:rPr>
              <a:t>http://cs224w.stanford.edu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53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75712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8029575" cy="1836420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332740" marR="5080" indent="-320040">
              <a:lnSpc>
                <a:spcPct val="90000"/>
              </a:lnSpc>
              <a:spcBef>
                <a:spcPts val="48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70C0"/>
                </a:solidFill>
              </a:rPr>
              <a:t>Solution </a:t>
            </a:r>
            <a:r>
              <a:rPr dirty="0">
                <a:solidFill>
                  <a:srgbClr val="0070C0"/>
                </a:solidFill>
              </a:rPr>
              <a:t>1 </a:t>
            </a:r>
            <a:r>
              <a:rPr dirty="0" spc="-25">
                <a:solidFill>
                  <a:srgbClr val="0070C0"/>
                </a:solidFill>
              </a:rPr>
              <a:t>(Transductive </a:t>
            </a:r>
            <a:r>
              <a:rPr dirty="0" spc="-10">
                <a:solidFill>
                  <a:srgbClr val="0070C0"/>
                </a:solidFill>
              </a:rPr>
              <a:t>setting): </a:t>
            </a:r>
            <a:r>
              <a:rPr dirty="0" spc="-5">
                <a:solidFill>
                  <a:srgbClr val="C00000"/>
                </a:solidFill>
              </a:rPr>
              <a:t>The input  </a:t>
            </a:r>
            <a:r>
              <a:rPr dirty="0" spc="-20">
                <a:solidFill>
                  <a:srgbClr val="C00000"/>
                </a:solidFill>
              </a:rPr>
              <a:t>graph </a:t>
            </a:r>
            <a:r>
              <a:rPr dirty="0" spc="-15">
                <a:solidFill>
                  <a:srgbClr val="C00000"/>
                </a:solidFill>
              </a:rPr>
              <a:t>can </a:t>
            </a:r>
            <a:r>
              <a:rPr dirty="0" spc="-5">
                <a:solidFill>
                  <a:srgbClr val="C00000"/>
                </a:solidFill>
              </a:rPr>
              <a:t>be observed </a:t>
            </a:r>
            <a:r>
              <a:rPr dirty="0">
                <a:solidFill>
                  <a:srgbClr val="C00000"/>
                </a:solidFill>
              </a:rPr>
              <a:t>in </a:t>
            </a:r>
            <a:r>
              <a:rPr dirty="0" spc="-5">
                <a:solidFill>
                  <a:srgbClr val="C00000"/>
                </a:solidFill>
              </a:rPr>
              <a:t>all the </a:t>
            </a:r>
            <a:r>
              <a:rPr dirty="0" spc="-20">
                <a:solidFill>
                  <a:srgbClr val="C00000"/>
                </a:solidFill>
              </a:rPr>
              <a:t>dataset </a:t>
            </a:r>
            <a:r>
              <a:rPr dirty="0" spc="-5">
                <a:solidFill>
                  <a:srgbClr val="C00000"/>
                </a:solidFill>
              </a:rPr>
              <a:t>splits </a:t>
            </a:r>
            <a:r>
              <a:rPr dirty="0" spc="-5">
                <a:solidFill>
                  <a:srgbClr val="000000"/>
                </a:solidFill>
              </a:rPr>
              <a:t> (training, </a:t>
            </a:r>
            <a:r>
              <a:rPr dirty="0" spc="-15">
                <a:solidFill>
                  <a:srgbClr val="000000"/>
                </a:solidFill>
              </a:rPr>
              <a:t>validation </a:t>
            </a:r>
            <a:r>
              <a:rPr dirty="0" spc="-5">
                <a:solidFill>
                  <a:srgbClr val="000000"/>
                </a:solidFill>
              </a:rPr>
              <a:t>and </a:t>
            </a:r>
            <a:r>
              <a:rPr dirty="0" spc="-20">
                <a:solidFill>
                  <a:srgbClr val="000000"/>
                </a:solidFill>
              </a:rPr>
              <a:t>test</a:t>
            </a:r>
            <a:r>
              <a:rPr dirty="0" spc="-10">
                <a:solidFill>
                  <a:srgbClr val="000000"/>
                </a:solidFill>
              </a:rPr>
              <a:t> set)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.</a:t>
            </a:r>
          </a:p>
          <a:p>
            <a:pPr marL="332740" indent="-320040">
              <a:lnSpc>
                <a:spcPts val="3504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>
                <a:solidFill>
                  <a:srgbClr val="C00000"/>
                </a:solidFill>
              </a:rPr>
              <a:t>We </a:t>
            </a:r>
            <a:r>
              <a:rPr dirty="0">
                <a:solidFill>
                  <a:srgbClr val="C00000"/>
                </a:solidFill>
              </a:rPr>
              <a:t>will </a:t>
            </a:r>
            <a:r>
              <a:rPr dirty="0" spc="-5">
                <a:solidFill>
                  <a:srgbClr val="C00000"/>
                </a:solidFill>
              </a:rPr>
              <a:t>only split the (node)</a:t>
            </a:r>
            <a:r>
              <a:rPr dirty="0" spc="65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labels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3152139"/>
            <a:ext cx="7886700" cy="168402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87020" marR="23495" indent="-274320">
              <a:lnSpc>
                <a:spcPts val="30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45" b="1">
                <a:solidFill>
                  <a:srgbClr val="0070C0"/>
                </a:solidFill>
                <a:latin typeface="Calibri"/>
                <a:cs typeface="Calibri"/>
              </a:rPr>
              <a:t>At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training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time</a:t>
            </a:r>
            <a:r>
              <a:rPr dirty="0" sz="2800" spc="-5" b="1">
                <a:latin typeface="Calibri"/>
                <a:cs typeface="Calibri"/>
              </a:rPr>
              <a:t>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 spc="-5">
                <a:latin typeface="Calibri"/>
                <a:cs typeface="Calibri"/>
              </a:rPr>
              <a:t>embeddings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using </a:t>
            </a:r>
            <a:r>
              <a:rPr dirty="0" sz="2800" spc="-130" b="1">
                <a:solidFill>
                  <a:srgbClr val="0070C0"/>
                </a:solidFill>
                <a:latin typeface="Calibri"/>
                <a:cs typeface="Calibri"/>
              </a:rPr>
              <a:t>the 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entire graph</a:t>
            </a:r>
            <a:r>
              <a:rPr dirty="0" sz="2800" spc="-1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20">
                <a:latin typeface="Calibri"/>
                <a:cs typeface="Calibri"/>
              </a:rPr>
              <a:t>train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using node </a:t>
            </a:r>
            <a:r>
              <a:rPr dirty="0" sz="2800" spc="-35" b="1">
                <a:solidFill>
                  <a:srgbClr val="0070C0"/>
                </a:solidFill>
                <a:latin typeface="Calibri"/>
                <a:cs typeface="Calibri"/>
              </a:rPr>
              <a:t>1&amp;2’s</a:t>
            </a:r>
            <a:r>
              <a:rPr dirty="0" sz="2800" spc="15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labels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ts val="3000"/>
              </a:lnSpc>
              <a:spcBef>
                <a:spcPts val="69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45" b="1">
                <a:solidFill>
                  <a:srgbClr val="6BB76D"/>
                </a:solidFill>
                <a:latin typeface="Calibri"/>
                <a:cs typeface="Calibri"/>
              </a:rPr>
              <a:t>At </a:t>
            </a:r>
            <a:r>
              <a:rPr dirty="0" sz="2800" spc="-10" b="1">
                <a:solidFill>
                  <a:srgbClr val="6BB76D"/>
                </a:solidFill>
                <a:latin typeface="Calibri"/>
                <a:cs typeface="Calibri"/>
              </a:rPr>
              <a:t>validation 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time</a:t>
            </a:r>
            <a:r>
              <a:rPr dirty="0" sz="2800" spc="-5" b="1">
                <a:latin typeface="Calibri"/>
                <a:cs typeface="Calibri"/>
              </a:rPr>
              <a:t>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 spc="-5">
                <a:latin typeface="Calibri"/>
                <a:cs typeface="Calibri"/>
              </a:rPr>
              <a:t>embeddings 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using  the </a:t>
            </a:r>
            <a:r>
              <a:rPr dirty="0" sz="2800" spc="-15" b="1">
                <a:solidFill>
                  <a:srgbClr val="6BB76D"/>
                </a:solidFill>
                <a:latin typeface="Calibri"/>
                <a:cs typeface="Calibri"/>
              </a:rPr>
              <a:t>entire graph</a:t>
            </a:r>
            <a:r>
              <a:rPr dirty="0" sz="2800" spc="-1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20" b="1">
                <a:solidFill>
                  <a:srgbClr val="6BB76D"/>
                </a:solidFill>
                <a:latin typeface="Calibri"/>
                <a:cs typeface="Calibri"/>
              </a:rPr>
              <a:t>evaluate 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on node </a:t>
            </a:r>
            <a:r>
              <a:rPr dirty="0" sz="2800" spc="-35" b="1">
                <a:solidFill>
                  <a:srgbClr val="6BB76D"/>
                </a:solidFill>
                <a:latin typeface="Calibri"/>
                <a:cs typeface="Calibri"/>
              </a:rPr>
              <a:t>3&amp;4’s</a:t>
            </a:r>
            <a:r>
              <a:rPr dirty="0" sz="2800" spc="140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labels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24948" y="5450065"/>
            <a:ext cx="766445" cy="118110"/>
          </a:xfrm>
          <a:custGeom>
            <a:avLst/>
            <a:gdLst/>
            <a:ahLst/>
            <a:cxnLst/>
            <a:rect l="l" t="t" r="r" b="b"/>
            <a:pathLst>
              <a:path w="766445" h="118110">
                <a:moveTo>
                  <a:pt x="766212" y="0"/>
                </a:moveTo>
                <a:lnTo>
                  <a:pt x="0" y="11792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37905" y="6211816"/>
            <a:ext cx="749935" cy="191135"/>
          </a:xfrm>
          <a:custGeom>
            <a:avLst/>
            <a:gdLst/>
            <a:ahLst/>
            <a:cxnLst/>
            <a:rect l="l" t="t" r="r" b="b"/>
            <a:pathLst>
              <a:path w="749935" h="191135">
                <a:moveTo>
                  <a:pt x="749589" y="19067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96312" y="5669443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15965" y="6364899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06317" y="5526615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61300" y="563206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19731" y="5466829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36464" y="5282183"/>
            <a:ext cx="356615" cy="353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79198" y="529943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79198" y="529943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18303" y="6224015"/>
            <a:ext cx="356615" cy="356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61707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61707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08903" y="6224015"/>
            <a:ext cx="356615" cy="356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51864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751864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254496" y="5465063"/>
            <a:ext cx="356616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97877" y="54848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97877" y="54848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70832" y="5422391"/>
            <a:ext cx="359663" cy="3566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415355" y="54404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15355" y="54404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58271" y="5462798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19535" y="5209820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932935" y="586578"/>
                </a:moveTo>
                <a:lnTo>
                  <a:pt x="864432" y="600535"/>
                </a:lnTo>
                <a:lnTo>
                  <a:pt x="797034" y="612638"/>
                </a:lnTo>
                <a:lnTo>
                  <a:pt x="730949" y="622904"/>
                </a:lnTo>
                <a:lnTo>
                  <a:pt x="666383" y="631349"/>
                </a:lnTo>
                <a:lnTo>
                  <a:pt x="603543" y="637991"/>
                </a:lnTo>
                <a:lnTo>
                  <a:pt x="542637" y="642844"/>
                </a:lnTo>
                <a:lnTo>
                  <a:pt x="483871" y="645926"/>
                </a:lnTo>
                <a:lnTo>
                  <a:pt x="427452" y="647254"/>
                </a:lnTo>
                <a:lnTo>
                  <a:pt x="373588" y="646843"/>
                </a:lnTo>
                <a:lnTo>
                  <a:pt x="322485" y="644711"/>
                </a:lnTo>
                <a:lnTo>
                  <a:pt x="274350" y="640873"/>
                </a:lnTo>
                <a:lnTo>
                  <a:pt x="229391" y="635347"/>
                </a:lnTo>
                <a:lnTo>
                  <a:pt x="187814" y="628148"/>
                </a:lnTo>
                <a:lnTo>
                  <a:pt x="149826" y="619294"/>
                </a:lnTo>
                <a:lnTo>
                  <a:pt x="85447" y="596685"/>
                </a:lnTo>
                <a:lnTo>
                  <a:pt x="37910" y="567651"/>
                </a:lnTo>
                <a:lnTo>
                  <a:pt x="8870" y="532325"/>
                </a:lnTo>
                <a:lnTo>
                  <a:pt x="0" y="491226"/>
                </a:lnTo>
                <a:lnTo>
                  <a:pt x="3420" y="469434"/>
                </a:lnTo>
                <a:lnTo>
                  <a:pt x="25210" y="424226"/>
                </a:lnTo>
                <a:lnTo>
                  <a:pt x="65718" y="377523"/>
                </a:lnTo>
                <a:lnTo>
                  <a:pt x="123492" y="330128"/>
                </a:lnTo>
                <a:lnTo>
                  <a:pt x="158399" y="306422"/>
                </a:lnTo>
                <a:lnTo>
                  <a:pt x="197077" y="282844"/>
                </a:lnTo>
                <a:lnTo>
                  <a:pt x="239344" y="259495"/>
                </a:lnTo>
                <a:lnTo>
                  <a:pt x="285018" y="236475"/>
                </a:lnTo>
                <a:lnTo>
                  <a:pt x="333918" y="213885"/>
                </a:lnTo>
                <a:lnTo>
                  <a:pt x="385862" y="191825"/>
                </a:lnTo>
                <a:lnTo>
                  <a:pt x="440668" y="170395"/>
                </a:lnTo>
                <a:lnTo>
                  <a:pt x="498155" y="149696"/>
                </a:lnTo>
                <a:lnTo>
                  <a:pt x="558140" y="129828"/>
                </a:lnTo>
                <a:lnTo>
                  <a:pt x="620441" y="110891"/>
                </a:lnTo>
                <a:lnTo>
                  <a:pt x="684878" y="92987"/>
                </a:lnTo>
                <a:lnTo>
                  <a:pt x="751268" y="76215"/>
                </a:lnTo>
                <a:lnTo>
                  <a:pt x="819429" y="60675"/>
                </a:lnTo>
                <a:lnTo>
                  <a:pt x="887932" y="46718"/>
                </a:lnTo>
                <a:lnTo>
                  <a:pt x="955330" y="34615"/>
                </a:lnTo>
                <a:lnTo>
                  <a:pt x="1021415" y="24349"/>
                </a:lnTo>
                <a:lnTo>
                  <a:pt x="1085981" y="15904"/>
                </a:lnTo>
                <a:lnTo>
                  <a:pt x="1148821" y="9263"/>
                </a:lnTo>
                <a:lnTo>
                  <a:pt x="1209727" y="4409"/>
                </a:lnTo>
                <a:lnTo>
                  <a:pt x="1268493" y="1327"/>
                </a:lnTo>
                <a:lnTo>
                  <a:pt x="1324912" y="0"/>
                </a:lnTo>
                <a:lnTo>
                  <a:pt x="1378776" y="410"/>
                </a:lnTo>
                <a:lnTo>
                  <a:pt x="1429879" y="2543"/>
                </a:lnTo>
                <a:lnTo>
                  <a:pt x="1478014" y="6380"/>
                </a:lnTo>
                <a:lnTo>
                  <a:pt x="1522973" y="11906"/>
                </a:lnTo>
                <a:lnTo>
                  <a:pt x="1564550" y="19105"/>
                </a:lnTo>
                <a:lnTo>
                  <a:pt x="1602538" y="27959"/>
                </a:lnTo>
                <a:lnTo>
                  <a:pt x="1666917" y="50568"/>
                </a:lnTo>
                <a:lnTo>
                  <a:pt x="1714454" y="79602"/>
                </a:lnTo>
                <a:lnTo>
                  <a:pt x="1743494" y="114928"/>
                </a:lnTo>
                <a:lnTo>
                  <a:pt x="1752365" y="156027"/>
                </a:lnTo>
                <a:lnTo>
                  <a:pt x="1748944" y="177820"/>
                </a:lnTo>
                <a:lnTo>
                  <a:pt x="1727154" y="223028"/>
                </a:lnTo>
                <a:lnTo>
                  <a:pt x="1686646" y="269731"/>
                </a:lnTo>
                <a:lnTo>
                  <a:pt x="1628872" y="317126"/>
                </a:lnTo>
                <a:lnTo>
                  <a:pt x="1593965" y="340832"/>
                </a:lnTo>
                <a:lnTo>
                  <a:pt x="1555287" y="364409"/>
                </a:lnTo>
                <a:lnTo>
                  <a:pt x="1513020" y="387758"/>
                </a:lnTo>
                <a:lnTo>
                  <a:pt x="1467346" y="410778"/>
                </a:lnTo>
                <a:lnTo>
                  <a:pt x="1418446" y="433368"/>
                </a:lnTo>
                <a:lnTo>
                  <a:pt x="1366502" y="455428"/>
                </a:lnTo>
                <a:lnTo>
                  <a:pt x="1311696" y="476858"/>
                </a:lnTo>
                <a:lnTo>
                  <a:pt x="1254209" y="497558"/>
                </a:lnTo>
                <a:lnTo>
                  <a:pt x="1194224" y="517426"/>
                </a:lnTo>
                <a:lnTo>
                  <a:pt x="1131923" y="536362"/>
                </a:lnTo>
                <a:lnTo>
                  <a:pt x="1067486" y="554267"/>
                </a:lnTo>
                <a:lnTo>
                  <a:pt x="1001096" y="571039"/>
                </a:lnTo>
                <a:lnTo>
                  <a:pt x="932935" y="586578"/>
                </a:lnTo>
                <a:close/>
              </a:path>
            </a:pathLst>
          </a:custGeom>
          <a:ln w="253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672266" y="5372869"/>
            <a:ext cx="969010" cy="1268730"/>
          </a:xfrm>
          <a:custGeom>
            <a:avLst/>
            <a:gdLst/>
            <a:ahLst/>
            <a:cxnLst/>
            <a:rect l="l" t="t" r="r" b="b"/>
            <a:pathLst>
              <a:path w="969009" h="1268729">
                <a:moveTo>
                  <a:pt x="251766" y="473070"/>
                </a:moveTo>
                <a:lnTo>
                  <a:pt x="291405" y="417900"/>
                </a:lnTo>
                <a:lnTo>
                  <a:pt x="331917" y="365415"/>
                </a:lnTo>
                <a:lnTo>
                  <a:pt x="373072" y="315774"/>
                </a:lnTo>
                <a:lnTo>
                  <a:pt x="414636" y="269136"/>
                </a:lnTo>
                <a:lnTo>
                  <a:pt x="456377" y="225661"/>
                </a:lnTo>
                <a:lnTo>
                  <a:pt x="498063" y="185509"/>
                </a:lnTo>
                <a:lnTo>
                  <a:pt x="539463" y="148840"/>
                </a:lnTo>
                <a:lnTo>
                  <a:pt x="580343" y="115812"/>
                </a:lnTo>
                <a:lnTo>
                  <a:pt x="620471" y="86586"/>
                </a:lnTo>
                <a:lnTo>
                  <a:pt x="659616" y="61321"/>
                </a:lnTo>
                <a:lnTo>
                  <a:pt x="697546" y="40176"/>
                </a:lnTo>
                <a:lnTo>
                  <a:pt x="734027" y="23313"/>
                </a:lnTo>
                <a:lnTo>
                  <a:pt x="801716" y="3065"/>
                </a:lnTo>
                <a:lnTo>
                  <a:pt x="832460" y="0"/>
                </a:lnTo>
                <a:lnTo>
                  <a:pt x="860826" y="1853"/>
                </a:lnTo>
                <a:lnTo>
                  <a:pt x="909501" y="20956"/>
                </a:lnTo>
                <a:lnTo>
                  <a:pt x="944479" y="59822"/>
                </a:lnTo>
                <a:lnTo>
                  <a:pt x="964102" y="115594"/>
                </a:lnTo>
                <a:lnTo>
                  <a:pt x="968913" y="186083"/>
                </a:lnTo>
                <a:lnTo>
                  <a:pt x="965933" y="226162"/>
                </a:lnTo>
                <a:lnTo>
                  <a:pt x="959455" y="269101"/>
                </a:lnTo>
                <a:lnTo>
                  <a:pt x="949545" y="314625"/>
                </a:lnTo>
                <a:lnTo>
                  <a:pt x="936271" y="362461"/>
                </a:lnTo>
                <a:lnTo>
                  <a:pt x="919702" y="412336"/>
                </a:lnTo>
                <a:lnTo>
                  <a:pt x="899905" y="463976"/>
                </a:lnTo>
                <a:lnTo>
                  <a:pt x="876949" y="517107"/>
                </a:lnTo>
                <a:lnTo>
                  <a:pt x="850900" y="571456"/>
                </a:lnTo>
                <a:lnTo>
                  <a:pt x="821828" y="626750"/>
                </a:lnTo>
                <a:lnTo>
                  <a:pt x="789799" y="682716"/>
                </a:lnTo>
                <a:lnTo>
                  <a:pt x="754883" y="739079"/>
                </a:lnTo>
                <a:lnTo>
                  <a:pt x="717146" y="795566"/>
                </a:lnTo>
                <a:lnTo>
                  <a:pt x="677507" y="850736"/>
                </a:lnTo>
                <a:lnTo>
                  <a:pt x="636995" y="903221"/>
                </a:lnTo>
                <a:lnTo>
                  <a:pt x="595840" y="952862"/>
                </a:lnTo>
                <a:lnTo>
                  <a:pt x="554277" y="999500"/>
                </a:lnTo>
                <a:lnTo>
                  <a:pt x="512535" y="1042975"/>
                </a:lnTo>
                <a:lnTo>
                  <a:pt x="470849" y="1083127"/>
                </a:lnTo>
                <a:lnTo>
                  <a:pt x="429450" y="1119797"/>
                </a:lnTo>
                <a:lnTo>
                  <a:pt x="388570" y="1152824"/>
                </a:lnTo>
                <a:lnTo>
                  <a:pt x="348441" y="1182050"/>
                </a:lnTo>
                <a:lnTo>
                  <a:pt x="309296" y="1207315"/>
                </a:lnTo>
                <a:lnTo>
                  <a:pt x="271367" y="1228460"/>
                </a:lnTo>
                <a:lnTo>
                  <a:pt x="234886" y="1245324"/>
                </a:lnTo>
                <a:lnTo>
                  <a:pt x="167196" y="1265572"/>
                </a:lnTo>
                <a:lnTo>
                  <a:pt x="136453" y="1268637"/>
                </a:lnTo>
                <a:lnTo>
                  <a:pt x="108086" y="1266783"/>
                </a:lnTo>
                <a:lnTo>
                  <a:pt x="59411" y="1247681"/>
                </a:lnTo>
                <a:lnTo>
                  <a:pt x="24433" y="1208814"/>
                </a:lnTo>
                <a:lnTo>
                  <a:pt x="4810" y="1153042"/>
                </a:lnTo>
                <a:lnTo>
                  <a:pt x="0" y="1082553"/>
                </a:lnTo>
                <a:lnTo>
                  <a:pt x="2979" y="1042474"/>
                </a:lnTo>
                <a:lnTo>
                  <a:pt x="9458" y="999535"/>
                </a:lnTo>
                <a:lnTo>
                  <a:pt x="19368" y="954011"/>
                </a:lnTo>
                <a:lnTo>
                  <a:pt x="32641" y="906175"/>
                </a:lnTo>
                <a:lnTo>
                  <a:pt x="49210" y="856300"/>
                </a:lnTo>
                <a:lnTo>
                  <a:pt x="69007" y="804661"/>
                </a:lnTo>
                <a:lnTo>
                  <a:pt x="91964" y="751529"/>
                </a:lnTo>
                <a:lnTo>
                  <a:pt x="118012" y="697180"/>
                </a:lnTo>
                <a:lnTo>
                  <a:pt x="147084" y="641886"/>
                </a:lnTo>
                <a:lnTo>
                  <a:pt x="179113" y="585920"/>
                </a:lnTo>
                <a:lnTo>
                  <a:pt x="214029" y="529557"/>
                </a:lnTo>
                <a:lnTo>
                  <a:pt x="251766" y="473070"/>
                </a:lnTo>
                <a:close/>
              </a:path>
            </a:pathLst>
          </a:custGeom>
          <a:ln w="25399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92296" y="6044183"/>
            <a:ext cx="356615" cy="356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934602" y="60639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934602" y="60639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02296" y="5942662"/>
            <a:ext cx="1357630" cy="729615"/>
          </a:xfrm>
          <a:custGeom>
            <a:avLst/>
            <a:gdLst/>
            <a:ahLst/>
            <a:cxnLst/>
            <a:rect l="l" t="t" r="r" b="b"/>
            <a:pathLst>
              <a:path w="1357629" h="729615">
                <a:moveTo>
                  <a:pt x="4974" y="184179"/>
                </a:moveTo>
                <a:lnTo>
                  <a:pt x="31091" y="130131"/>
                </a:lnTo>
                <a:lnTo>
                  <a:pt x="76756" y="84911"/>
                </a:lnTo>
                <a:lnTo>
                  <a:pt x="139823" y="48902"/>
                </a:lnTo>
                <a:lnTo>
                  <a:pt x="177213" y="34473"/>
                </a:lnTo>
                <a:lnTo>
                  <a:pt x="218151" y="22491"/>
                </a:lnTo>
                <a:lnTo>
                  <a:pt x="262368" y="13004"/>
                </a:lnTo>
                <a:lnTo>
                  <a:pt x="309597" y="6062"/>
                </a:lnTo>
                <a:lnTo>
                  <a:pt x="359570" y="1711"/>
                </a:lnTo>
                <a:lnTo>
                  <a:pt x="412018" y="0"/>
                </a:lnTo>
                <a:lnTo>
                  <a:pt x="466674" y="976"/>
                </a:lnTo>
                <a:lnTo>
                  <a:pt x="523271" y="4690"/>
                </a:lnTo>
                <a:lnTo>
                  <a:pt x="581540" y="11187"/>
                </a:lnTo>
                <a:lnTo>
                  <a:pt x="641213" y="20517"/>
                </a:lnTo>
                <a:lnTo>
                  <a:pt x="702023" y="32727"/>
                </a:lnTo>
                <a:lnTo>
                  <a:pt x="763702" y="47866"/>
                </a:lnTo>
                <a:lnTo>
                  <a:pt x="824687" y="65594"/>
                </a:lnTo>
                <a:lnTo>
                  <a:pt x="883455" y="85425"/>
                </a:lnTo>
                <a:lnTo>
                  <a:pt x="939799" y="107182"/>
                </a:lnTo>
                <a:lnTo>
                  <a:pt x="993510" y="130690"/>
                </a:lnTo>
                <a:lnTo>
                  <a:pt x="1044380" y="155772"/>
                </a:lnTo>
                <a:lnTo>
                  <a:pt x="1092203" y="182254"/>
                </a:lnTo>
                <a:lnTo>
                  <a:pt x="1136769" y="209960"/>
                </a:lnTo>
                <a:lnTo>
                  <a:pt x="1177871" y="238715"/>
                </a:lnTo>
                <a:lnTo>
                  <a:pt x="1215301" y="268342"/>
                </a:lnTo>
                <a:lnTo>
                  <a:pt x="1248851" y="298666"/>
                </a:lnTo>
                <a:lnTo>
                  <a:pt x="1278313" y="329511"/>
                </a:lnTo>
                <a:lnTo>
                  <a:pt x="1303479" y="360703"/>
                </a:lnTo>
                <a:lnTo>
                  <a:pt x="1340093" y="423421"/>
                </a:lnTo>
                <a:lnTo>
                  <a:pt x="1357029" y="485415"/>
                </a:lnTo>
                <a:lnTo>
                  <a:pt x="1357598" y="515702"/>
                </a:lnTo>
                <a:lnTo>
                  <a:pt x="1352624" y="545281"/>
                </a:lnTo>
                <a:lnTo>
                  <a:pt x="1326506" y="599329"/>
                </a:lnTo>
                <a:lnTo>
                  <a:pt x="1280842" y="644549"/>
                </a:lnTo>
                <a:lnTo>
                  <a:pt x="1217774" y="680558"/>
                </a:lnTo>
                <a:lnTo>
                  <a:pt x="1180384" y="694987"/>
                </a:lnTo>
                <a:lnTo>
                  <a:pt x="1139446" y="706969"/>
                </a:lnTo>
                <a:lnTo>
                  <a:pt x="1095229" y="716456"/>
                </a:lnTo>
                <a:lnTo>
                  <a:pt x="1048000" y="723398"/>
                </a:lnTo>
                <a:lnTo>
                  <a:pt x="998028" y="727749"/>
                </a:lnTo>
                <a:lnTo>
                  <a:pt x="945579" y="729460"/>
                </a:lnTo>
                <a:lnTo>
                  <a:pt x="890923" y="728483"/>
                </a:lnTo>
                <a:lnTo>
                  <a:pt x="834326" y="724770"/>
                </a:lnTo>
                <a:lnTo>
                  <a:pt x="776057" y="718273"/>
                </a:lnTo>
                <a:lnTo>
                  <a:pt x="716384" y="708943"/>
                </a:lnTo>
                <a:lnTo>
                  <a:pt x="655574" y="696733"/>
                </a:lnTo>
                <a:lnTo>
                  <a:pt x="593895" y="681594"/>
                </a:lnTo>
                <a:lnTo>
                  <a:pt x="532910" y="663865"/>
                </a:lnTo>
                <a:lnTo>
                  <a:pt x="474142" y="644035"/>
                </a:lnTo>
                <a:lnTo>
                  <a:pt x="417799" y="622278"/>
                </a:lnTo>
                <a:lnTo>
                  <a:pt x="364088" y="598770"/>
                </a:lnTo>
                <a:lnTo>
                  <a:pt x="313217" y="573688"/>
                </a:lnTo>
                <a:lnTo>
                  <a:pt x="265395" y="547205"/>
                </a:lnTo>
                <a:lnTo>
                  <a:pt x="220829" y="519499"/>
                </a:lnTo>
                <a:lnTo>
                  <a:pt x="179727" y="490745"/>
                </a:lnTo>
                <a:lnTo>
                  <a:pt x="142297" y="461118"/>
                </a:lnTo>
                <a:lnTo>
                  <a:pt x="108747" y="430794"/>
                </a:lnTo>
                <a:lnTo>
                  <a:pt x="79285" y="399948"/>
                </a:lnTo>
                <a:lnTo>
                  <a:pt x="54118" y="368757"/>
                </a:lnTo>
                <a:lnTo>
                  <a:pt x="17504" y="306039"/>
                </a:lnTo>
                <a:lnTo>
                  <a:pt x="568" y="244045"/>
                </a:lnTo>
                <a:lnTo>
                  <a:pt x="0" y="213758"/>
                </a:lnTo>
                <a:lnTo>
                  <a:pt x="4974" y="184179"/>
                </a:lnTo>
                <a:close/>
              </a:path>
            </a:pathLst>
          </a:custGeom>
          <a:ln w="25399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932655" y="5350440"/>
            <a:ext cx="1224915" cy="1223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  </a:t>
            </a:r>
            <a:r>
              <a:rPr dirty="0" sz="2000" spc="-40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0038" y="5341616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91038" y="5484872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77678" y="5530591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16135" y="6109711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43241" y="6289544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19899" y="6286496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9"/>
              </a:rPr>
              <a:t>http://cs224w.stanford.edu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57</a:t>
            </a:fld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75712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821944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solidFill>
                  <a:srgbClr val="0070C0"/>
                </a:solidFill>
              </a:rPr>
              <a:t>Solution </a:t>
            </a:r>
            <a:r>
              <a:rPr dirty="0" sz="3000">
                <a:solidFill>
                  <a:srgbClr val="0070C0"/>
                </a:solidFill>
              </a:rPr>
              <a:t>2 </a:t>
            </a:r>
            <a:r>
              <a:rPr dirty="0" sz="3000" spc="-5">
                <a:solidFill>
                  <a:srgbClr val="0070C0"/>
                </a:solidFill>
              </a:rPr>
              <a:t>(Inductive </a:t>
            </a:r>
            <a:r>
              <a:rPr dirty="0" sz="3000" spc="-10">
                <a:solidFill>
                  <a:srgbClr val="0070C0"/>
                </a:solidFill>
              </a:rPr>
              <a:t>setting): </a:t>
            </a:r>
            <a:r>
              <a:rPr dirty="0" sz="3000" spc="-55">
                <a:solidFill>
                  <a:srgbClr val="000000"/>
                </a:solidFill>
              </a:rPr>
              <a:t>We </a:t>
            </a:r>
            <a:r>
              <a:rPr dirty="0" sz="3000" spc="-10">
                <a:solidFill>
                  <a:srgbClr val="000000"/>
                </a:solidFill>
              </a:rPr>
              <a:t>break </a:t>
            </a:r>
            <a:r>
              <a:rPr dirty="0" sz="3000" spc="-5">
                <a:solidFill>
                  <a:srgbClr val="000000"/>
                </a:solidFill>
              </a:rPr>
              <a:t>the </a:t>
            </a:r>
            <a:r>
              <a:rPr dirty="0" sz="3000" spc="-10">
                <a:solidFill>
                  <a:srgbClr val="000000"/>
                </a:solidFill>
              </a:rPr>
              <a:t>edges  between </a:t>
            </a:r>
            <a:r>
              <a:rPr dirty="0" sz="3000" spc="-5">
                <a:solidFill>
                  <a:srgbClr val="000000"/>
                </a:solidFill>
              </a:rPr>
              <a:t>splits </a:t>
            </a:r>
            <a:r>
              <a:rPr dirty="0" sz="3000" spc="-20">
                <a:solidFill>
                  <a:srgbClr val="C00000"/>
                </a:solidFill>
              </a:rPr>
              <a:t>to get </a:t>
            </a:r>
            <a:r>
              <a:rPr dirty="0" sz="3000" spc="-5">
                <a:solidFill>
                  <a:srgbClr val="C00000"/>
                </a:solidFill>
              </a:rPr>
              <a:t>multiple</a:t>
            </a:r>
            <a:r>
              <a:rPr dirty="0" sz="3000" spc="5">
                <a:solidFill>
                  <a:srgbClr val="C00000"/>
                </a:solidFill>
              </a:rPr>
              <a:t> </a:t>
            </a:r>
            <a:r>
              <a:rPr dirty="0" sz="3000" spc="-15">
                <a:solidFill>
                  <a:srgbClr val="C00000"/>
                </a:solidFill>
              </a:rPr>
              <a:t>graphs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956563" y="2351532"/>
            <a:ext cx="8092440" cy="255524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287020" marR="5080" indent="-274320">
              <a:lnSpc>
                <a:spcPts val="3100"/>
              </a:lnSpc>
              <a:spcBef>
                <a:spcPts val="219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Now </a:t>
            </a: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600" spc="-20" b="1">
                <a:solidFill>
                  <a:srgbClr val="C00000"/>
                </a:solidFill>
                <a:latin typeface="Calibri"/>
                <a:cs typeface="Calibri"/>
              </a:rPr>
              <a:t>have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3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graphs that are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independent. </a:t>
            </a:r>
            <a:r>
              <a:rPr dirty="0" sz="2600" b="1">
                <a:latin typeface="Calibri"/>
                <a:cs typeface="Calibri"/>
              </a:rPr>
              <a:t>Node 5 </a:t>
            </a:r>
            <a:r>
              <a:rPr dirty="0" sz="2600" spc="-5" b="1">
                <a:latin typeface="Calibri"/>
                <a:cs typeface="Calibri"/>
              </a:rPr>
              <a:t>will  </a:t>
            </a:r>
            <a:r>
              <a:rPr dirty="0" sz="2600" b="1">
                <a:latin typeface="Calibri"/>
                <a:cs typeface="Calibri"/>
              </a:rPr>
              <a:t>not </a:t>
            </a:r>
            <a:r>
              <a:rPr dirty="0" sz="2600" spc="-15" b="1">
                <a:latin typeface="Calibri"/>
                <a:cs typeface="Calibri"/>
              </a:rPr>
              <a:t>affect </a:t>
            </a:r>
            <a:r>
              <a:rPr dirty="0" sz="2600" b="1">
                <a:latin typeface="Calibri"/>
                <a:cs typeface="Calibri"/>
              </a:rPr>
              <a:t>our </a:t>
            </a:r>
            <a:r>
              <a:rPr dirty="0" sz="2600" spc="-5" b="1">
                <a:latin typeface="Calibri"/>
                <a:cs typeface="Calibri"/>
              </a:rPr>
              <a:t>prediction </a:t>
            </a:r>
            <a:r>
              <a:rPr dirty="0" sz="2600" b="1">
                <a:latin typeface="Calibri"/>
                <a:cs typeface="Calibri"/>
              </a:rPr>
              <a:t>on node 1 </a:t>
            </a:r>
            <a:r>
              <a:rPr dirty="0" sz="2600" spc="-15" b="1">
                <a:latin typeface="Calibri"/>
                <a:cs typeface="Calibri"/>
              </a:rPr>
              <a:t>any</a:t>
            </a:r>
            <a:r>
              <a:rPr dirty="0" sz="2600" spc="-6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more</a:t>
            </a:r>
            <a:endParaRPr sz="2600">
              <a:latin typeface="Calibri"/>
              <a:cs typeface="Calibri"/>
            </a:endParaRPr>
          </a:p>
          <a:p>
            <a:pPr marL="287020" marR="250190" indent="-274320">
              <a:lnSpc>
                <a:spcPct val="100000"/>
              </a:lnSpc>
              <a:spcBef>
                <a:spcPts val="47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600" spc="-45" b="1">
                <a:solidFill>
                  <a:srgbClr val="0070C0"/>
                </a:solidFill>
                <a:latin typeface="Calibri"/>
                <a:cs typeface="Calibri"/>
              </a:rPr>
              <a:t>At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training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time</a:t>
            </a:r>
            <a:r>
              <a:rPr dirty="0" sz="2600" spc="-5" b="1">
                <a:latin typeface="Calibri"/>
                <a:cs typeface="Calibri"/>
              </a:rPr>
              <a:t>, </a:t>
            </a:r>
            <a:r>
              <a:rPr dirty="0" sz="2600" spc="-10">
                <a:latin typeface="Calibri"/>
                <a:cs typeface="Calibri"/>
              </a:rPr>
              <a:t>we compute </a:t>
            </a:r>
            <a:r>
              <a:rPr dirty="0" sz="2600" spc="-5">
                <a:latin typeface="Calibri"/>
                <a:cs typeface="Calibri"/>
              </a:rPr>
              <a:t>embeddings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using the  </a:t>
            </a:r>
            <a:r>
              <a:rPr dirty="0" sz="2600" spc="-15" b="1">
                <a:solidFill>
                  <a:srgbClr val="0070C0"/>
                </a:solidFill>
                <a:latin typeface="Calibri"/>
                <a:cs typeface="Calibri"/>
              </a:rPr>
              <a:t>graph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over </a:t>
            </a: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node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1&amp;2</a:t>
            </a:r>
            <a:r>
              <a:rPr dirty="0" sz="2600" spc="-5">
                <a:latin typeface="Calibri"/>
                <a:cs typeface="Calibri"/>
              </a:rPr>
              <a:t>, and </a:t>
            </a:r>
            <a:r>
              <a:rPr dirty="0" sz="2600" spc="-10">
                <a:latin typeface="Calibri"/>
                <a:cs typeface="Calibri"/>
              </a:rPr>
              <a:t>train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using </a:t>
            </a: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node </a:t>
            </a:r>
            <a:r>
              <a:rPr dirty="0" sz="2600" spc="-35" b="1">
                <a:solidFill>
                  <a:srgbClr val="0070C0"/>
                </a:solidFill>
                <a:latin typeface="Calibri"/>
                <a:cs typeface="Calibri"/>
              </a:rPr>
              <a:t>1&amp;2’s</a:t>
            </a:r>
            <a:r>
              <a:rPr dirty="0" sz="2600" spc="1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labels</a:t>
            </a:r>
            <a:endParaRPr sz="2600">
              <a:latin typeface="Calibri"/>
              <a:cs typeface="Calibri"/>
            </a:endParaRPr>
          </a:p>
          <a:p>
            <a:pPr marL="287020" marR="72390" indent="-274320">
              <a:lnSpc>
                <a:spcPts val="3100"/>
              </a:lnSpc>
              <a:spcBef>
                <a:spcPts val="79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600" spc="-45" b="1">
                <a:solidFill>
                  <a:srgbClr val="6BB76D"/>
                </a:solidFill>
                <a:latin typeface="Calibri"/>
                <a:cs typeface="Calibri"/>
              </a:rPr>
              <a:t>At </a:t>
            </a:r>
            <a:r>
              <a:rPr dirty="0" sz="2600" spc="-10" b="1">
                <a:solidFill>
                  <a:srgbClr val="6BB76D"/>
                </a:solidFill>
                <a:latin typeface="Calibri"/>
                <a:cs typeface="Calibri"/>
              </a:rPr>
              <a:t>validation </a:t>
            </a:r>
            <a:r>
              <a:rPr dirty="0" sz="2600" spc="-5" b="1">
                <a:solidFill>
                  <a:srgbClr val="6BB76D"/>
                </a:solidFill>
                <a:latin typeface="Calibri"/>
                <a:cs typeface="Calibri"/>
              </a:rPr>
              <a:t>time</a:t>
            </a:r>
            <a:r>
              <a:rPr dirty="0" sz="2600" spc="-5" b="1">
                <a:latin typeface="Calibri"/>
                <a:cs typeface="Calibri"/>
              </a:rPr>
              <a:t>, </a:t>
            </a:r>
            <a:r>
              <a:rPr dirty="0" sz="2600" spc="-10">
                <a:latin typeface="Calibri"/>
                <a:cs typeface="Calibri"/>
              </a:rPr>
              <a:t>we compute </a:t>
            </a:r>
            <a:r>
              <a:rPr dirty="0" sz="2600" spc="-5">
                <a:latin typeface="Calibri"/>
                <a:cs typeface="Calibri"/>
              </a:rPr>
              <a:t>embeddings </a:t>
            </a:r>
            <a:r>
              <a:rPr dirty="0" sz="2600" spc="-5" b="1">
                <a:solidFill>
                  <a:srgbClr val="6BB76D"/>
                </a:solidFill>
                <a:latin typeface="Calibri"/>
                <a:cs typeface="Calibri"/>
              </a:rPr>
              <a:t>using the  </a:t>
            </a:r>
            <a:r>
              <a:rPr dirty="0" sz="2600" spc="-15" b="1">
                <a:solidFill>
                  <a:srgbClr val="6BB76D"/>
                </a:solidFill>
                <a:latin typeface="Calibri"/>
                <a:cs typeface="Calibri"/>
              </a:rPr>
              <a:t>graph </a:t>
            </a:r>
            <a:r>
              <a:rPr dirty="0" sz="2600" spc="-10" b="1">
                <a:solidFill>
                  <a:srgbClr val="6BB76D"/>
                </a:solidFill>
                <a:latin typeface="Calibri"/>
                <a:cs typeface="Calibri"/>
              </a:rPr>
              <a:t>over </a:t>
            </a:r>
            <a:r>
              <a:rPr dirty="0" sz="2600" b="1">
                <a:solidFill>
                  <a:srgbClr val="6BB76D"/>
                </a:solidFill>
                <a:latin typeface="Calibri"/>
                <a:cs typeface="Calibri"/>
              </a:rPr>
              <a:t>node </a:t>
            </a:r>
            <a:r>
              <a:rPr dirty="0" sz="2600" spc="-5" b="1">
                <a:solidFill>
                  <a:srgbClr val="6BB76D"/>
                </a:solidFill>
                <a:latin typeface="Calibri"/>
                <a:cs typeface="Calibri"/>
              </a:rPr>
              <a:t>3&amp;4</a:t>
            </a:r>
            <a:r>
              <a:rPr dirty="0" sz="2600" spc="-5">
                <a:latin typeface="Calibri"/>
                <a:cs typeface="Calibri"/>
              </a:rPr>
              <a:t>, and </a:t>
            </a:r>
            <a:r>
              <a:rPr dirty="0" sz="2600" spc="-15" b="1">
                <a:solidFill>
                  <a:srgbClr val="6BB76D"/>
                </a:solidFill>
                <a:latin typeface="Calibri"/>
                <a:cs typeface="Calibri"/>
              </a:rPr>
              <a:t>evaluate </a:t>
            </a:r>
            <a:r>
              <a:rPr dirty="0" sz="2600" b="1">
                <a:solidFill>
                  <a:srgbClr val="6BB76D"/>
                </a:solidFill>
                <a:latin typeface="Calibri"/>
                <a:cs typeface="Calibri"/>
              </a:rPr>
              <a:t>on node </a:t>
            </a:r>
            <a:r>
              <a:rPr dirty="0" sz="2600" spc="-35" b="1">
                <a:solidFill>
                  <a:srgbClr val="6BB76D"/>
                </a:solidFill>
                <a:latin typeface="Calibri"/>
                <a:cs typeface="Calibri"/>
              </a:rPr>
              <a:t>3&amp;4’s</a:t>
            </a:r>
            <a:r>
              <a:rPr dirty="0" sz="2600" spc="5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6BB76D"/>
                </a:solidFill>
                <a:latin typeface="Calibri"/>
                <a:cs typeface="Calibri"/>
              </a:rPr>
              <a:t>labels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24948" y="5450065"/>
            <a:ext cx="766445" cy="118110"/>
          </a:xfrm>
          <a:custGeom>
            <a:avLst/>
            <a:gdLst/>
            <a:ahLst/>
            <a:cxnLst/>
            <a:rect l="l" t="t" r="r" b="b"/>
            <a:pathLst>
              <a:path w="766445" h="118110">
                <a:moveTo>
                  <a:pt x="766212" y="0"/>
                </a:moveTo>
                <a:lnTo>
                  <a:pt x="0" y="11792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37905" y="6211816"/>
            <a:ext cx="749935" cy="191135"/>
          </a:xfrm>
          <a:custGeom>
            <a:avLst/>
            <a:gdLst/>
            <a:ahLst/>
            <a:cxnLst/>
            <a:rect l="l" t="t" r="r" b="b"/>
            <a:pathLst>
              <a:path w="749935" h="191135">
                <a:moveTo>
                  <a:pt x="749589" y="19067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92194" y="5682609"/>
            <a:ext cx="294005" cy="667385"/>
          </a:xfrm>
          <a:custGeom>
            <a:avLst/>
            <a:gdLst/>
            <a:ahLst/>
            <a:cxnLst/>
            <a:rect l="l" t="t" r="r" b="b"/>
            <a:pathLst>
              <a:path w="294004" h="667385">
                <a:moveTo>
                  <a:pt x="279294" y="634471"/>
                </a:moveTo>
                <a:lnTo>
                  <a:pt x="264701" y="640479"/>
                </a:lnTo>
                <a:lnTo>
                  <a:pt x="261222" y="648829"/>
                </a:lnTo>
                <a:lnTo>
                  <a:pt x="267241" y="663449"/>
                </a:lnTo>
                <a:lnTo>
                  <a:pt x="275591" y="666929"/>
                </a:lnTo>
                <a:lnTo>
                  <a:pt x="290184" y="660920"/>
                </a:lnTo>
                <a:lnTo>
                  <a:pt x="293664" y="652570"/>
                </a:lnTo>
                <a:lnTo>
                  <a:pt x="287644" y="637950"/>
                </a:lnTo>
                <a:lnTo>
                  <a:pt x="279294" y="634471"/>
                </a:lnTo>
                <a:close/>
              </a:path>
              <a:path w="294004" h="667385">
                <a:moveTo>
                  <a:pt x="257525" y="581598"/>
                </a:moveTo>
                <a:lnTo>
                  <a:pt x="242933" y="587607"/>
                </a:lnTo>
                <a:lnTo>
                  <a:pt x="239453" y="595957"/>
                </a:lnTo>
                <a:lnTo>
                  <a:pt x="245473" y="610576"/>
                </a:lnTo>
                <a:lnTo>
                  <a:pt x="253823" y="614056"/>
                </a:lnTo>
                <a:lnTo>
                  <a:pt x="268415" y="608047"/>
                </a:lnTo>
                <a:lnTo>
                  <a:pt x="271895" y="599697"/>
                </a:lnTo>
                <a:lnTo>
                  <a:pt x="265875" y="585078"/>
                </a:lnTo>
                <a:lnTo>
                  <a:pt x="257525" y="581598"/>
                </a:lnTo>
                <a:close/>
              </a:path>
              <a:path w="294004" h="667385">
                <a:moveTo>
                  <a:pt x="235757" y="528725"/>
                </a:moveTo>
                <a:lnTo>
                  <a:pt x="221164" y="534734"/>
                </a:lnTo>
                <a:lnTo>
                  <a:pt x="217684" y="543084"/>
                </a:lnTo>
                <a:lnTo>
                  <a:pt x="223704" y="557704"/>
                </a:lnTo>
                <a:lnTo>
                  <a:pt x="232054" y="561183"/>
                </a:lnTo>
                <a:lnTo>
                  <a:pt x="246647" y="555175"/>
                </a:lnTo>
                <a:lnTo>
                  <a:pt x="250126" y="546824"/>
                </a:lnTo>
                <a:lnTo>
                  <a:pt x="244107" y="532205"/>
                </a:lnTo>
                <a:lnTo>
                  <a:pt x="235757" y="528725"/>
                </a:lnTo>
                <a:close/>
              </a:path>
              <a:path w="294004" h="667385">
                <a:moveTo>
                  <a:pt x="213988" y="475853"/>
                </a:moveTo>
                <a:lnTo>
                  <a:pt x="199396" y="481861"/>
                </a:lnTo>
                <a:lnTo>
                  <a:pt x="195916" y="490212"/>
                </a:lnTo>
                <a:lnTo>
                  <a:pt x="201935" y="504831"/>
                </a:lnTo>
                <a:lnTo>
                  <a:pt x="210286" y="508311"/>
                </a:lnTo>
                <a:lnTo>
                  <a:pt x="224878" y="502302"/>
                </a:lnTo>
                <a:lnTo>
                  <a:pt x="228358" y="493952"/>
                </a:lnTo>
                <a:lnTo>
                  <a:pt x="222338" y="479332"/>
                </a:lnTo>
                <a:lnTo>
                  <a:pt x="213988" y="475853"/>
                </a:lnTo>
                <a:close/>
              </a:path>
              <a:path w="294004" h="667385">
                <a:moveTo>
                  <a:pt x="192222" y="422980"/>
                </a:moveTo>
                <a:lnTo>
                  <a:pt x="177628" y="428987"/>
                </a:lnTo>
                <a:lnTo>
                  <a:pt x="174147" y="437337"/>
                </a:lnTo>
                <a:lnTo>
                  <a:pt x="180166" y="451957"/>
                </a:lnTo>
                <a:lnTo>
                  <a:pt x="188514" y="455438"/>
                </a:lnTo>
                <a:lnTo>
                  <a:pt x="203108" y="449431"/>
                </a:lnTo>
                <a:lnTo>
                  <a:pt x="206589" y="441081"/>
                </a:lnTo>
                <a:lnTo>
                  <a:pt x="200572" y="426461"/>
                </a:lnTo>
                <a:lnTo>
                  <a:pt x="192222" y="422980"/>
                </a:lnTo>
                <a:close/>
              </a:path>
              <a:path w="294004" h="667385">
                <a:moveTo>
                  <a:pt x="170456" y="370108"/>
                </a:moveTo>
                <a:lnTo>
                  <a:pt x="155862" y="376112"/>
                </a:lnTo>
                <a:lnTo>
                  <a:pt x="152379" y="384461"/>
                </a:lnTo>
                <a:lnTo>
                  <a:pt x="158394" y="399082"/>
                </a:lnTo>
                <a:lnTo>
                  <a:pt x="166743" y="402565"/>
                </a:lnTo>
                <a:lnTo>
                  <a:pt x="181338" y="396561"/>
                </a:lnTo>
                <a:lnTo>
                  <a:pt x="184820" y="388212"/>
                </a:lnTo>
                <a:lnTo>
                  <a:pt x="178805" y="373590"/>
                </a:lnTo>
                <a:lnTo>
                  <a:pt x="170456" y="370108"/>
                </a:lnTo>
                <a:close/>
              </a:path>
              <a:path w="294004" h="667385">
                <a:moveTo>
                  <a:pt x="148689" y="317235"/>
                </a:moveTo>
                <a:lnTo>
                  <a:pt x="134092" y="323239"/>
                </a:lnTo>
                <a:lnTo>
                  <a:pt x="130610" y="331588"/>
                </a:lnTo>
                <a:lnTo>
                  <a:pt x="136625" y="346210"/>
                </a:lnTo>
                <a:lnTo>
                  <a:pt x="144974" y="349692"/>
                </a:lnTo>
                <a:lnTo>
                  <a:pt x="159570" y="343688"/>
                </a:lnTo>
                <a:lnTo>
                  <a:pt x="163052" y="335339"/>
                </a:lnTo>
                <a:lnTo>
                  <a:pt x="157038" y="320718"/>
                </a:lnTo>
                <a:lnTo>
                  <a:pt x="148689" y="317235"/>
                </a:lnTo>
                <a:close/>
              </a:path>
              <a:path w="294004" h="667385">
                <a:moveTo>
                  <a:pt x="126919" y="264363"/>
                </a:moveTo>
                <a:lnTo>
                  <a:pt x="112325" y="270366"/>
                </a:lnTo>
                <a:lnTo>
                  <a:pt x="108842" y="278715"/>
                </a:lnTo>
                <a:lnTo>
                  <a:pt x="114857" y="293337"/>
                </a:lnTo>
                <a:lnTo>
                  <a:pt x="123206" y="296819"/>
                </a:lnTo>
                <a:lnTo>
                  <a:pt x="137801" y="290816"/>
                </a:lnTo>
                <a:lnTo>
                  <a:pt x="141283" y="282466"/>
                </a:lnTo>
                <a:lnTo>
                  <a:pt x="135268" y="267845"/>
                </a:lnTo>
                <a:lnTo>
                  <a:pt x="126919" y="264363"/>
                </a:lnTo>
                <a:close/>
              </a:path>
              <a:path w="294004" h="667385">
                <a:moveTo>
                  <a:pt x="105150" y="211490"/>
                </a:moveTo>
                <a:lnTo>
                  <a:pt x="90556" y="217494"/>
                </a:lnTo>
                <a:lnTo>
                  <a:pt x="87073" y="225843"/>
                </a:lnTo>
                <a:lnTo>
                  <a:pt x="93088" y="240464"/>
                </a:lnTo>
                <a:lnTo>
                  <a:pt x="101437" y="243947"/>
                </a:lnTo>
                <a:lnTo>
                  <a:pt x="116032" y="237943"/>
                </a:lnTo>
                <a:lnTo>
                  <a:pt x="119514" y="229594"/>
                </a:lnTo>
                <a:lnTo>
                  <a:pt x="113501" y="214972"/>
                </a:lnTo>
                <a:lnTo>
                  <a:pt x="105150" y="211490"/>
                </a:lnTo>
                <a:close/>
              </a:path>
              <a:path w="294004" h="667385">
                <a:moveTo>
                  <a:pt x="83383" y="158617"/>
                </a:moveTo>
                <a:lnTo>
                  <a:pt x="68788" y="164621"/>
                </a:lnTo>
                <a:lnTo>
                  <a:pt x="65305" y="172970"/>
                </a:lnTo>
                <a:lnTo>
                  <a:pt x="71320" y="187592"/>
                </a:lnTo>
                <a:lnTo>
                  <a:pt x="79669" y="191074"/>
                </a:lnTo>
                <a:lnTo>
                  <a:pt x="94264" y="185070"/>
                </a:lnTo>
                <a:lnTo>
                  <a:pt x="97746" y="176721"/>
                </a:lnTo>
                <a:lnTo>
                  <a:pt x="91732" y="162100"/>
                </a:lnTo>
                <a:lnTo>
                  <a:pt x="83383" y="158617"/>
                </a:lnTo>
                <a:close/>
              </a:path>
              <a:path w="294004" h="667385">
                <a:moveTo>
                  <a:pt x="61614" y="105745"/>
                </a:moveTo>
                <a:lnTo>
                  <a:pt x="47019" y="111748"/>
                </a:lnTo>
                <a:lnTo>
                  <a:pt x="43536" y="120098"/>
                </a:lnTo>
                <a:lnTo>
                  <a:pt x="49551" y="134719"/>
                </a:lnTo>
                <a:lnTo>
                  <a:pt x="57900" y="138201"/>
                </a:lnTo>
                <a:lnTo>
                  <a:pt x="72495" y="132198"/>
                </a:lnTo>
                <a:lnTo>
                  <a:pt x="75977" y="123849"/>
                </a:lnTo>
                <a:lnTo>
                  <a:pt x="69963" y="109227"/>
                </a:lnTo>
                <a:lnTo>
                  <a:pt x="61614" y="105745"/>
                </a:lnTo>
                <a:close/>
              </a:path>
              <a:path w="294004" h="667385">
                <a:moveTo>
                  <a:pt x="39846" y="52872"/>
                </a:moveTo>
                <a:lnTo>
                  <a:pt x="25251" y="58876"/>
                </a:lnTo>
                <a:lnTo>
                  <a:pt x="21769" y="67225"/>
                </a:lnTo>
                <a:lnTo>
                  <a:pt x="27782" y="81846"/>
                </a:lnTo>
                <a:lnTo>
                  <a:pt x="36132" y="85329"/>
                </a:lnTo>
                <a:lnTo>
                  <a:pt x="50727" y="79325"/>
                </a:lnTo>
                <a:lnTo>
                  <a:pt x="54209" y="70976"/>
                </a:lnTo>
                <a:lnTo>
                  <a:pt x="48195" y="56354"/>
                </a:lnTo>
                <a:lnTo>
                  <a:pt x="39846" y="52872"/>
                </a:lnTo>
                <a:close/>
              </a:path>
              <a:path w="294004" h="667385">
                <a:moveTo>
                  <a:pt x="18077" y="0"/>
                </a:moveTo>
                <a:lnTo>
                  <a:pt x="3482" y="6003"/>
                </a:lnTo>
                <a:lnTo>
                  <a:pt x="0" y="14352"/>
                </a:lnTo>
                <a:lnTo>
                  <a:pt x="6014" y="28974"/>
                </a:lnTo>
                <a:lnTo>
                  <a:pt x="14363" y="32456"/>
                </a:lnTo>
                <a:lnTo>
                  <a:pt x="28958" y="26452"/>
                </a:lnTo>
                <a:lnTo>
                  <a:pt x="32440" y="18103"/>
                </a:lnTo>
                <a:lnTo>
                  <a:pt x="26426" y="3482"/>
                </a:lnTo>
                <a:lnTo>
                  <a:pt x="1807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24603" y="6351047"/>
            <a:ext cx="886460" cy="53340"/>
          </a:xfrm>
          <a:custGeom>
            <a:avLst/>
            <a:gdLst/>
            <a:ahLst/>
            <a:cxnLst/>
            <a:rect l="l" t="t" r="r" b="b"/>
            <a:pathLst>
              <a:path w="886460" h="53339">
                <a:moveTo>
                  <a:pt x="864356" y="24192"/>
                </a:moveTo>
                <a:lnTo>
                  <a:pt x="857782" y="30406"/>
                </a:lnTo>
                <a:lnTo>
                  <a:pt x="857336" y="46181"/>
                </a:lnTo>
                <a:lnTo>
                  <a:pt x="863550" y="52755"/>
                </a:lnTo>
                <a:lnTo>
                  <a:pt x="879354" y="53201"/>
                </a:lnTo>
                <a:lnTo>
                  <a:pt x="885929" y="46988"/>
                </a:lnTo>
                <a:lnTo>
                  <a:pt x="886374" y="31212"/>
                </a:lnTo>
                <a:lnTo>
                  <a:pt x="880160" y="24638"/>
                </a:lnTo>
                <a:lnTo>
                  <a:pt x="864356" y="24192"/>
                </a:lnTo>
                <a:close/>
              </a:path>
              <a:path w="886460" h="53339">
                <a:moveTo>
                  <a:pt x="807200" y="22579"/>
                </a:moveTo>
                <a:lnTo>
                  <a:pt x="800625" y="28793"/>
                </a:lnTo>
                <a:lnTo>
                  <a:pt x="800181" y="44568"/>
                </a:lnTo>
                <a:lnTo>
                  <a:pt x="806395" y="51143"/>
                </a:lnTo>
                <a:lnTo>
                  <a:pt x="822199" y="51589"/>
                </a:lnTo>
                <a:lnTo>
                  <a:pt x="828772" y="45375"/>
                </a:lnTo>
                <a:lnTo>
                  <a:pt x="829218" y="29600"/>
                </a:lnTo>
                <a:lnTo>
                  <a:pt x="823004" y="23025"/>
                </a:lnTo>
                <a:lnTo>
                  <a:pt x="807200" y="22579"/>
                </a:lnTo>
                <a:close/>
              </a:path>
              <a:path w="886460" h="53339">
                <a:moveTo>
                  <a:pt x="750045" y="20966"/>
                </a:moveTo>
                <a:lnTo>
                  <a:pt x="743470" y="27180"/>
                </a:lnTo>
                <a:lnTo>
                  <a:pt x="743024" y="42955"/>
                </a:lnTo>
                <a:lnTo>
                  <a:pt x="749239" y="49530"/>
                </a:lnTo>
                <a:lnTo>
                  <a:pt x="765042" y="49976"/>
                </a:lnTo>
                <a:lnTo>
                  <a:pt x="771617" y="43762"/>
                </a:lnTo>
                <a:lnTo>
                  <a:pt x="772062" y="27987"/>
                </a:lnTo>
                <a:lnTo>
                  <a:pt x="765849" y="21412"/>
                </a:lnTo>
                <a:lnTo>
                  <a:pt x="750045" y="20966"/>
                </a:lnTo>
                <a:close/>
              </a:path>
              <a:path w="886460" h="53339">
                <a:moveTo>
                  <a:pt x="692889" y="19353"/>
                </a:moveTo>
                <a:lnTo>
                  <a:pt x="686314" y="25567"/>
                </a:lnTo>
                <a:lnTo>
                  <a:pt x="685869" y="41342"/>
                </a:lnTo>
                <a:lnTo>
                  <a:pt x="692082" y="47917"/>
                </a:lnTo>
                <a:lnTo>
                  <a:pt x="707886" y="48363"/>
                </a:lnTo>
                <a:lnTo>
                  <a:pt x="714461" y="42149"/>
                </a:lnTo>
                <a:lnTo>
                  <a:pt x="714907" y="26374"/>
                </a:lnTo>
                <a:lnTo>
                  <a:pt x="708693" y="19799"/>
                </a:lnTo>
                <a:lnTo>
                  <a:pt x="692889" y="19353"/>
                </a:lnTo>
                <a:close/>
              </a:path>
              <a:path w="886460" h="53339">
                <a:moveTo>
                  <a:pt x="635734" y="17741"/>
                </a:moveTo>
                <a:lnTo>
                  <a:pt x="629159" y="23954"/>
                </a:lnTo>
                <a:lnTo>
                  <a:pt x="628713" y="39730"/>
                </a:lnTo>
                <a:lnTo>
                  <a:pt x="634927" y="46304"/>
                </a:lnTo>
                <a:lnTo>
                  <a:pt x="650731" y="46750"/>
                </a:lnTo>
                <a:lnTo>
                  <a:pt x="657306" y="40537"/>
                </a:lnTo>
                <a:lnTo>
                  <a:pt x="657750" y="24761"/>
                </a:lnTo>
                <a:lnTo>
                  <a:pt x="651537" y="18187"/>
                </a:lnTo>
                <a:lnTo>
                  <a:pt x="635734" y="17741"/>
                </a:lnTo>
                <a:close/>
              </a:path>
              <a:path w="886460" h="53339">
                <a:moveTo>
                  <a:pt x="578577" y="16128"/>
                </a:moveTo>
                <a:lnTo>
                  <a:pt x="572002" y="22341"/>
                </a:lnTo>
                <a:lnTo>
                  <a:pt x="571558" y="38117"/>
                </a:lnTo>
                <a:lnTo>
                  <a:pt x="577771" y="44691"/>
                </a:lnTo>
                <a:lnTo>
                  <a:pt x="593575" y="45137"/>
                </a:lnTo>
                <a:lnTo>
                  <a:pt x="600149" y="38924"/>
                </a:lnTo>
                <a:lnTo>
                  <a:pt x="600595" y="23148"/>
                </a:lnTo>
                <a:lnTo>
                  <a:pt x="594381" y="16574"/>
                </a:lnTo>
                <a:lnTo>
                  <a:pt x="578577" y="16128"/>
                </a:lnTo>
                <a:close/>
              </a:path>
              <a:path w="886460" h="53339">
                <a:moveTo>
                  <a:pt x="521421" y="14515"/>
                </a:moveTo>
                <a:lnTo>
                  <a:pt x="514846" y="20729"/>
                </a:lnTo>
                <a:lnTo>
                  <a:pt x="514402" y="36504"/>
                </a:lnTo>
                <a:lnTo>
                  <a:pt x="520616" y="43079"/>
                </a:lnTo>
                <a:lnTo>
                  <a:pt x="536420" y="43524"/>
                </a:lnTo>
                <a:lnTo>
                  <a:pt x="542994" y="37311"/>
                </a:lnTo>
                <a:lnTo>
                  <a:pt x="543439" y="21535"/>
                </a:lnTo>
                <a:lnTo>
                  <a:pt x="537225" y="14961"/>
                </a:lnTo>
                <a:lnTo>
                  <a:pt x="521421" y="14515"/>
                </a:lnTo>
                <a:close/>
              </a:path>
              <a:path w="886460" h="53339">
                <a:moveTo>
                  <a:pt x="464266" y="12902"/>
                </a:moveTo>
                <a:lnTo>
                  <a:pt x="457691" y="19116"/>
                </a:lnTo>
                <a:lnTo>
                  <a:pt x="457245" y="34891"/>
                </a:lnTo>
                <a:lnTo>
                  <a:pt x="463459" y="41466"/>
                </a:lnTo>
                <a:lnTo>
                  <a:pt x="479263" y="41912"/>
                </a:lnTo>
                <a:lnTo>
                  <a:pt x="485838" y="35698"/>
                </a:lnTo>
                <a:lnTo>
                  <a:pt x="486282" y="19923"/>
                </a:lnTo>
                <a:lnTo>
                  <a:pt x="480070" y="13348"/>
                </a:lnTo>
                <a:lnTo>
                  <a:pt x="464266" y="12902"/>
                </a:lnTo>
                <a:close/>
              </a:path>
              <a:path w="886460" h="53339">
                <a:moveTo>
                  <a:pt x="407109" y="11289"/>
                </a:moveTo>
                <a:lnTo>
                  <a:pt x="400535" y="17503"/>
                </a:lnTo>
                <a:lnTo>
                  <a:pt x="400090" y="33279"/>
                </a:lnTo>
                <a:lnTo>
                  <a:pt x="406304" y="39853"/>
                </a:lnTo>
                <a:lnTo>
                  <a:pt x="422108" y="40299"/>
                </a:lnTo>
                <a:lnTo>
                  <a:pt x="428682" y="34085"/>
                </a:lnTo>
                <a:lnTo>
                  <a:pt x="429127" y="18310"/>
                </a:lnTo>
                <a:lnTo>
                  <a:pt x="422913" y="11735"/>
                </a:lnTo>
                <a:lnTo>
                  <a:pt x="407109" y="11289"/>
                </a:lnTo>
                <a:close/>
              </a:path>
              <a:path w="886460" h="53339">
                <a:moveTo>
                  <a:pt x="349954" y="9677"/>
                </a:moveTo>
                <a:lnTo>
                  <a:pt x="343380" y="15891"/>
                </a:lnTo>
                <a:lnTo>
                  <a:pt x="342934" y="31666"/>
                </a:lnTo>
                <a:lnTo>
                  <a:pt x="349148" y="38240"/>
                </a:lnTo>
                <a:lnTo>
                  <a:pt x="364952" y="38686"/>
                </a:lnTo>
                <a:lnTo>
                  <a:pt x="371527" y="32472"/>
                </a:lnTo>
                <a:lnTo>
                  <a:pt x="371971" y="16697"/>
                </a:lnTo>
                <a:lnTo>
                  <a:pt x="365757" y="10122"/>
                </a:lnTo>
                <a:lnTo>
                  <a:pt x="349954" y="9677"/>
                </a:lnTo>
                <a:close/>
              </a:path>
              <a:path w="886460" h="53339">
                <a:moveTo>
                  <a:pt x="292798" y="8064"/>
                </a:moveTo>
                <a:lnTo>
                  <a:pt x="286223" y="14278"/>
                </a:lnTo>
                <a:lnTo>
                  <a:pt x="285779" y="30053"/>
                </a:lnTo>
                <a:lnTo>
                  <a:pt x="291993" y="36627"/>
                </a:lnTo>
                <a:lnTo>
                  <a:pt x="307797" y="37073"/>
                </a:lnTo>
                <a:lnTo>
                  <a:pt x="314370" y="30859"/>
                </a:lnTo>
                <a:lnTo>
                  <a:pt x="314816" y="15084"/>
                </a:lnTo>
                <a:lnTo>
                  <a:pt x="308602" y="8510"/>
                </a:lnTo>
                <a:lnTo>
                  <a:pt x="292798" y="8064"/>
                </a:lnTo>
                <a:close/>
              </a:path>
              <a:path w="886460" h="53339">
                <a:moveTo>
                  <a:pt x="235643" y="6451"/>
                </a:moveTo>
                <a:lnTo>
                  <a:pt x="229068" y="12664"/>
                </a:lnTo>
                <a:lnTo>
                  <a:pt x="228622" y="28440"/>
                </a:lnTo>
                <a:lnTo>
                  <a:pt x="234836" y="35014"/>
                </a:lnTo>
                <a:lnTo>
                  <a:pt x="250640" y="35461"/>
                </a:lnTo>
                <a:lnTo>
                  <a:pt x="257215" y="29247"/>
                </a:lnTo>
                <a:lnTo>
                  <a:pt x="257660" y="13472"/>
                </a:lnTo>
                <a:lnTo>
                  <a:pt x="251447" y="6897"/>
                </a:lnTo>
                <a:lnTo>
                  <a:pt x="235643" y="6451"/>
                </a:lnTo>
                <a:close/>
              </a:path>
              <a:path w="886460" h="53339">
                <a:moveTo>
                  <a:pt x="178487" y="4838"/>
                </a:moveTo>
                <a:lnTo>
                  <a:pt x="171912" y="11052"/>
                </a:lnTo>
                <a:lnTo>
                  <a:pt x="171466" y="26827"/>
                </a:lnTo>
                <a:lnTo>
                  <a:pt x="177680" y="33402"/>
                </a:lnTo>
                <a:lnTo>
                  <a:pt x="193484" y="33848"/>
                </a:lnTo>
                <a:lnTo>
                  <a:pt x="200059" y="27634"/>
                </a:lnTo>
                <a:lnTo>
                  <a:pt x="200505" y="11859"/>
                </a:lnTo>
                <a:lnTo>
                  <a:pt x="194290" y="5284"/>
                </a:lnTo>
                <a:lnTo>
                  <a:pt x="178487" y="4838"/>
                </a:lnTo>
                <a:close/>
              </a:path>
              <a:path w="886460" h="53339">
                <a:moveTo>
                  <a:pt x="121331" y="3225"/>
                </a:moveTo>
                <a:lnTo>
                  <a:pt x="114757" y="9439"/>
                </a:lnTo>
                <a:lnTo>
                  <a:pt x="114311" y="25214"/>
                </a:lnTo>
                <a:lnTo>
                  <a:pt x="120524" y="31789"/>
                </a:lnTo>
                <a:lnTo>
                  <a:pt x="136328" y="32235"/>
                </a:lnTo>
                <a:lnTo>
                  <a:pt x="142902" y="26021"/>
                </a:lnTo>
                <a:lnTo>
                  <a:pt x="143348" y="10246"/>
                </a:lnTo>
                <a:lnTo>
                  <a:pt x="137135" y="3671"/>
                </a:lnTo>
                <a:lnTo>
                  <a:pt x="121331" y="3225"/>
                </a:lnTo>
                <a:close/>
              </a:path>
              <a:path w="886460" h="53339">
                <a:moveTo>
                  <a:pt x="64175" y="1612"/>
                </a:moveTo>
                <a:lnTo>
                  <a:pt x="57600" y="7826"/>
                </a:lnTo>
                <a:lnTo>
                  <a:pt x="57155" y="23601"/>
                </a:lnTo>
                <a:lnTo>
                  <a:pt x="63369" y="30176"/>
                </a:lnTo>
                <a:lnTo>
                  <a:pt x="79173" y="30622"/>
                </a:lnTo>
                <a:lnTo>
                  <a:pt x="85747" y="24409"/>
                </a:lnTo>
                <a:lnTo>
                  <a:pt x="86193" y="8633"/>
                </a:lnTo>
                <a:lnTo>
                  <a:pt x="79979" y="2059"/>
                </a:lnTo>
                <a:lnTo>
                  <a:pt x="64175" y="1612"/>
                </a:lnTo>
                <a:close/>
              </a:path>
              <a:path w="886460" h="53339">
                <a:moveTo>
                  <a:pt x="7019" y="0"/>
                </a:moveTo>
                <a:lnTo>
                  <a:pt x="444" y="6213"/>
                </a:lnTo>
                <a:lnTo>
                  <a:pt x="0" y="21988"/>
                </a:lnTo>
                <a:lnTo>
                  <a:pt x="6212" y="28563"/>
                </a:lnTo>
                <a:lnTo>
                  <a:pt x="22016" y="29009"/>
                </a:lnTo>
                <a:lnTo>
                  <a:pt x="28591" y="22796"/>
                </a:lnTo>
                <a:lnTo>
                  <a:pt x="29037" y="7021"/>
                </a:lnTo>
                <a:lnTo>
                  <a:pt x="22823" y="446"/>
                </a:lnTo>
                <a:lnTo>
                  <a:pt x="7019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90020" y="5557146"/>
            <a:ext cx="429895" cy="857250"/>
          </a:xfrm>
          <a:custGeom>
            <a:avLst/>
            <a:gdLst/>
            <a:ahLst/>
            <a:cxnLst/>
            <a:rect l="l" t="t" r="r" b="b"/>
            <a:pathLst>
              <a:path w="429895" h="857250">
                <a:moveTo>
                  <a:pt x="15394" y="824337"/>
                </a:moveTo>
                <a:lnTo>
                  <a:pt x="6856" y="827327"/>
                </a:lnTo>
                <a:lnTo>
                  <a:pt x="0" y="841572"/>
                </a:lnTo>
                <a:lnTo>
                  <a:pt x="2989" y="850111"/>
                </a:lnTo>
                <a:lnTo>
                  <a:pt x="17209" y="856955"/>
                </a:lnTo>
                <a:lnTo>
                  <a:pt x="25747" y="853966"/>
                </a:lnTo>
                <a:lnTo>
                  <a:pt x="32604" y="839720"/>
                </a:lnTo>
                <a:lnTo>
                  <a:pt x="29615" y="831182"/>
                </a:lnTo>
                <a:lnTo>
                  <a:pt x="15394" y="824337"/>
                </a:lnTo>
                <a:close/>
              </a:path>
              <a:path w="429895" h="857250">
                <a:moveTo>
                  <a:pt x="40194" y="772816"/>
                </a:moveTo>
                <a:lnTo>
                  <a:pt x="31656" y="775806"/>
                </a:lnTo>
                <a:lnTo>
                  <a:pt x="24799" y="790051"/>
                </a:lnTo>
                <a:lnTo>
                  <a:pt x="27787" y="798589"/>
                </a:lnTo>
                <a:lnTo>
                  <a:pt x="42007" y="805434"/>
                </a:lnTo>
                <a:lnTo>
                  <a:pt x="50546" y="802445"/>
                </a:lnTo>
                <a:lnTo>
                  <a:pt x="57402" y="788199"/>
                </a:lnTo>
                <a:lnTo>
                  <a:pt x="54414" y="779661"/>
                </a:lnTo>
                <a:lnTo>
                  <a:pt x="40194" y="772816"/>
                </a:lnTo>
                <a:close/>
              </a:path>
              <a:path w="429895" h="857250">
                <a:moveTo>
                  <a:pt x="64992" y="721295"/>
                </a:moveTo>
                <a:lnTo>
                  <a:pt x="56454" y="724284"/>
                </a:lnTo>
                <a:lnTo>
                  <a:pt x="49597" y="738530"/>
                </a:lnTo>
                <a:lnTo>
                  <a:pt x="52586" y="747068"/>
                </a:lnTo>
                <a:lnTo>
                  <a:pt x="66807" y="753913"/>
                </a:lnTo>
                <a:lnTo>
                  <a:pt x="75345" y="750924"/>
                </a:lnTo>
                <a:lnTo>
                  <a:pt x="82202" y="736678"/>
                </a:lnTo>
                <a:lnTo>
                  <a:pt x="79212" y="728140"/>
                </a:lnTo>
                <a:lnTo>
                  <a:pt x="64992" y="721295"/>
                </a:lnTo>
                <a:close/>
              </a:path>
              <a:path w="429895" h="857250">
                <a:moveTo>
                  <a:pt x="89788" y="669774"/>
                </a:moveTo>
                <a:lnTo>
                  <a:pt x="81250" y="672764"/>
                </a:lnTo>
                <a:lnTo>
                  <a:pt x="74395" y="687011"/>
                </a:lnTo>
                <a:lnTo>
                  <a:pt x="77386" y="695549"/>
                </a:lnTo>
                <a:lnTo>
                  <a:pt x="91607" y="702392"/>
                </a:lnTo>
                <a:lnTo>
                  <a:pt x="100144" y="699401"/>
                </a:lnTo>
                <a:lnTo>
                  <a:pt x="107000" y="685155"/>
                </a:lnTo>
                <a:lnTo>
                  <a:pt x="104009" y="676617"/>
                </a:lnTo>
                <a:lnTo>
                  <a:pt x="89788" y="669774"/>
                </a:lnTo>
                <a:close/>
              </a:path>
              <a:path w="429895" h="857250">
                <a:moveTo>
                  <a:pt x="114587" y="618253"/>
                </a:moveTo>
                <a:lnTo>
                  <a:pt x="106050" y="621243"/>
                </a:lnTo>
                <a:lnTo>
                  <a:pt x="99194" y="635490"/>
                </a:lnTo>
                <a:lnTo>
                  <a:pt x="102184" y="644028"/>
                </a:lnTo>
                <a:lnTo>
                  <a:pt x="116405" y="650871"/>
                </a:lnTo>
                <a:lnTo>
                  <a:pt x="124943" y="647880"/>
                </a:lnTo>
                <a:lnTo>
                  <a:pt x="131798" y="633634"/>
                </a:lnTo>
                <a:lnTo>
                  <a:pt x="128808" y="625096"/>
                </a:lnTo>
                <a:lnTo>
                  <a:pt x="114587" y="618253"/>
                </a:lnTo>
                <a:close/>
              </a:path>
              <a:path w="429895" h="857250">
                <a:moveTo>
                  <a:pt x="139386" y="566732"/>
                </a:moveTo>
                <a:lnTo>
                  <a:pt x="130848" y="569722"/>
                </a:lnTo>
                <a:lnTo>
                  <a:pt x="123992" y="583969"/>
                </a:lnTo>
                <a:lnTo>
                  <a:pt x="126983" y="592507"/>
                </a:lnTo>
                <a:lnTo>
                  <a:pt x="141203" y="599350"/>
                </a:lnTo>
                <a:lnTo>
                  <a:pt x="149741" y="596359"/>
                </a:lnTo>
                <a:lnTo>
                  <a:pt x="156597" y="582113"/>
                </a:lnTo>
                <a:lnTo>
                  <a:pt x="153606" y="573575"/>
                </a:lnTo>
                <a:lnTo>
                  <a:pt x="139386" y="566732"/>
                </a:lnTo>
                <a:close/>
              </a:path>
              <a:path w="429895" h="857250">
                <a:moveTo>
                  <a:pt x="164184" y="515211"/>
                </a:moveTo>
                <a:lnTo>
                  <a:pt x="155646" y="518201"/>
                </a:lnTo>
                <a:lnTo>
                  <a:pt x="148791" y="532448"/>
                </a:lnTo>
                <a:lnTo>
                  <a:pt x="151781" y="540986"/>
                </a:lnTo>
                <a:lnTo>
                  <a:pt x="166002" y="547828"/>
                </a:lnTo>
                <a:lnTo>
                  <a:pt x="174539" y="544838"/>
                </a:lnTo>
                <a:lnTo>
                  <a:pt x="181395" y="530591"/>
                </a:lnTo>
                <a:lnTo>
                  <a:pt x="178405" y="522054"/>
                </a:lnTo>
                <a:lnTo>
                  <a:pt x="164184" y="515211"/>
                </a:lnTo>
                <a:close/>
              </a:path>
              <a:path w="429895" h="857250">
                <a:moveTo>
                  <a:pt x="188982" y="463690"/>
                </a:moveTo>
                <a:lnTo>
                  <a:pt x="180445" y="466680"/>
                </a:lnTo>
                <a:lnTo>
                  <a:pt x="173589" y="480927"/>
                </a:lnTo>
                <a:lnTo>
                  <a:pt x="176580" y="489464"/>
                </a:lnTo>
                <a:lnTo>
                  <a:pt x="190800" y="496307"/>
                </a:lnTo>
                <a:lnTo>
                  <a:pt x="199339" y="493317"/>
                </a:lnTo>
                <a:lnTo>
                  <a:pt x="206194" y="479070"/>
                </a:lnTo>
                <a:lnTo>
                  <a:pt x="203203" y="470533"/>
                </a:lnTo>
                <a:lnTo>
                  <a:pt x="188982" y="463690"/>
                </a:lnTo>
                <a:close/>
              </a:path>
              <a:path w="429895" h="857250">
                <a:moveTo>
                  <a:pt x="213781" y="412169"/>
                </a:moveTo>
                <a:lnTo>
                  <a:pt x="205243" y="415159"/>
                </a:lnTo>
                <a:lnTo>
                  <a:pt x="198387" y="429406"/>
                </a:lnTo>
                <a:lnTo>
                  <a:pt x="201378" y="437943"/>
                </a:lnTo>
                <a:lnTo>
                  <a:pt x="215599" y="444786"/>
                </a:lnTo>
                <a:lnTo>
                  <a:pt x="224137" y="441796"/>
                </a:lnTo>
                <a:lnTo>
                  <a:pt x="230992" y="427549"/>
                </a:lnTo>
                <a:lnTo>
                  <a:pt x="228001" y="419011"/>
                </a:lnTo>
                <a:lnTo>
                  <a:pt x="213781" y="412169"/>
                </a:lnTo>
                <a:close/>
              </a:path>
              <a:path w="429895" h="857250">
                <a:moveTo>
                  <a:pt x="238579" y="360647"/>
                </a:moveTo>
                <a:lnTo>
                  <a:pt x="230042" y="363638"/>
                </a:lnTo>
                <a:lnTo>
                  <a:pt x="223187" y="377885"/>
                </a:lnTo>
                <a:lnTo>
                  <a:pt x="226176" y="386422"/>
                </a:lnTo>
                <a:lnTo>
                  <a:pt x="240398" y="393265"/>
                </a:lnTo>
                <a:lnTo>
                  <a:pt x="248936" y="390275"/>
                </a:lnTo>
                <a:lnTo>
                  <a:pt x="255790" y="376028"/>
                </a:lnTo>
                <a:lnTo>
                  <a:pt x="252801" y="367490"/>
                </a:lnTo>
                <a:lnTo>
                  <a:pt x="238579" y="360647"/>
                </a:lnTo>
                <a:close/>
              </a:path>
              <a:path w="429895" h="857250">
                <a:moveTo>
                  <a:pt x="263378" y="309126"/>
                </a:moveTo>
                <a:lnTo>
                  <a:pt x="254840" y="312117"/>
                </a:lnTo>
                <a:lnTo>
                  <a:pt x="247985" y="326363"/>
                </a:lnTo>
                <a:lnTo>
                  <a:pt x="250976" y="334901"/>
                </a:lnTo>
                <a:lnTo>
                  <a:pt x="265196" y="341744"/>
                </a:lnTo>
                <a:lnTo>
                  <a:pt x="273734" y="338754"/>
                </a:lnTo>
                <a:lnTo>
                  <a:pt x="280589" y="324507"/>
                </a:lnTo>
                <a:lnTo>
                  <a:pt x="277599" y="315969"/>
                </a:lnTo>
                <a:lnTo>
                  <a:pt x="263378" y="309126"/>
                </a:lnTo>
                <a:close/>
              </a:path>
              <a:path w="429895" h="857250">
                <a:moveTo>
                  <a:pt x="288184" y="257605"/>
                </a:moveTo>
                <a:lnTo>
                  <a:pt x="279645" y="260591"/>
                </a:lnTo>
                <a:lnTo>
                  <a:pt x="272783" y="274834"/>
                </a:lnTo>
                <a:lnTo>
                  <a:pt x="275769" y="283374"/>
                </a:lnTo>
                <a:lnTo>
                  <a:pt x="289986" y="290223"/>
                </a:lnTo>
                <a:lnTo>
                  <a:pt x="298526" y="287237"/>
                </a:lnTo>
                <a:lnTo>
                  <a:pt x="305389" y="272994"/>
                </a:lnTo>
                <a:lnTo>
                  <a:pt x="302402" y="264455"/>
                </a:lnTo>
                <a:lnTo>
                  <a:pt x="288184" y="257605"/>
                </a:lnTo>
                <a:close/>
              </a:path>
              <a:path w="429895" h="857250">
                <a:moveTo>
                  <a:pt x="312983" y="206084"/>
                </a:moveTo>
                <a:lnTo>
                  <a:pt x="304444" y="209070"/>
                </a:lnTo>
                <a:lnTo>
                  <a:pt x="297581" y="223313"/>
                </a:lnTo>
                <a:lnTo>
                  <a:pt x="300568" y="231852"/>
                </a:lnTo>
                <a:lnTo>
                  <a:pt x="314786" y="238702"/>
                </a:lnTo>
                <a:lnTo>
                  <a:pt x="323325" y="235716"/>
                </a:lnTo>
                <a:lnTo>
                  <a:pt x="330187" y="221473"/>
                </a:lnTo>
                <a:lnTo>
                  <a:pt x="327201" y="212934"/>
                </a:lnTo>
                <a:lnTo>
                  <a:pt x="312983" y="206084"/>
                </a:lnTo>
                <a:close/>
              </a:path>
              <a:path w="429895" h="857250">
                <a:moveTo>
                  <a:pt x="337781" y="154563"/>
                </a:moveTo>
                <a:lnTo>
                  <a:pt x="329242" y="157549"/>
                </a:lnTo>
                <a:lnTo>
                  <a:pt x="322380" y="171792"/>
                </a:lnTo>
                <a:lnTo>
                  <a:pt x="325366" y="180331"/>
                </a:lnTo>
                <a:lnTo>
                  <a:pt x="339584" y="187181"/>
                </a:lnTo>
                <a:lnTo>
                  <a:pt x="348123" y="184195"/>
                </a:lnTo>
                <a:lnTo>
                  <a:pt x="354985" y="169952"/>
                </a:lnTo>
                <a:lnTo>
                  <a:pt x="351999" y="161413"/>
                </a:lnTo>
                <a:lnTo>
                  <a:pt x="337781" y="154563"/>
                </a:lnTo>
                <a:close/>
              </a:path>
              <a:path w="429895" h="857250">
                <a:moveTo>
                  <a:pt x="362579" y="103042"/>
                </a:moveTo>
                <a:lnTo>
                  <a:pt x="354041" y="106028"/>
                </a:lnTo>
                <a:lnTo>
                  <a:pt x="347178" y="120271"/>
                </a:lnTo>
                <a:lnTo>
                  <a:pt x="350165" y="128810"/>
                </a:lnTo>
                <a:lnTo>
                  <a:pt x="364382" y="135660"/>
                </a:lnTo>
                <a:lnTo>
                  <a:pt x="372921" y="132674"/>
                </a:lnTo>
                <a:lnTo>
                  <a:pt x="379784" y="118431"/>
                </a:lnTo>
                <a:lnTo>
                  <a:pt x="376797" y="109892"/>
                </a:lnTo>
                <a:lnTo>
                  <a:pt x="362579" y="103042"/>
                </a:lnTo>
                <a:close/>
              </a:path>
              <a:path w="429895" h="857250">
                <a:moveTo>
                  <a:pt x="387379" y="51521"/>
                </a:moveTo>
                <a:lnTo>
                  <a:pt x="378839" y="54507"/>
                </a:lnTo>
                <a:lnTo>
                  <a:pt x="371977" y="68750"/>
                </a:lnTo>
                <a:lnTo>
                  <a:pt x="374963" y="77289"/>
                </a:lnTo>
                <a:lnTo>
                  <a:pt x="389181" y="84139"/>
                </a:lnTo>
                <a:lnTo>
                  <a:pt x="397720" y="81153"/>
                </a:lnTo>
                <a:lnTo>
                  <a:pt x="404582" y="66910"/>
                </a:lnTo>
                <a:lnTo>
                  <a:pt x="401596" y="58370"/>
                </a:lnTo>
                <a:lnTo>
                  <a:pt x="387379" y="51521"/>
                </a:lnTo>
                <a:close/>
              </a:path>
              <a:path w="429895" h="857250">
                <a:moveTo>
                  <a:pt x="412177" y="0"/>
                </a:moveTo>
                <a:lnTo>
                  <a:pt x="403637" y="2985"/>
                </a:lnTo>
                <a:lnTo>
                  <a:pt x="396775" y="17230"/>
                </a:lnTo>
                <a:lnTo>
                  <a:pt x="399761" y="25768"/>
                </a:lnTo>
                <a:lnTo>
                  <a:pt x="413979" y="32618"/>
                </a:lnTo>
                <a:lnTo>
                  <a:pt x="422518" y="29631"/>
                </a:lnTo>
                <a:lnTo>
                  <a:pt x="429380" y="15388"/>
                </a:lnTo>
                <a:lnTo>
                  <a:pt x="426394" y="6850"/>
                </a:lnTo>
                <a:lnTo>
                  <a:pt x="41217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61300" y="563206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03427" y="5450523"/>
            <a:ext cx="414020" cy="801370"/>
          </a:xfrm>
          <a:custGeom>
            <a:avLst/>
            <a:gdLst/>
            <a:ahLst/>
            <a:cxnLst/>
            <a:rect l="l" t="t" r="r" b="b"/>
            <a:pathLst>
              <a:path w="414020" h="801370">
                <a:moveTo>
                  <a:pt x="17031" y="0"/>
                </a:moveTo>
                <a:lnTo>
                  <a:pt x="2891" y="7006"/>
                </a:lnTo>
                <a:lnTo>
                  <a:pt x="0" y="15577"/>
                </a:lnTo>
                <a:lnTo>
                  <a:pt x="7018" y="29744"/>
                </a:lnTo>
                <a:lnTo>
                  <a:pt x="15590" y="32636"/>
                </a:lnTo>
                <a:lnTo>
                  <a:pt x="29730" y="25629"/>
                </a:lnTo>
                <a:lnTo>
                  <a:pt x="32622" y="17058"/>
                </a:lnTo>
                <a:lnTo>
                  <a:pt x="25604" y="2891"/>
                </a:lnTo>
                <a:lnTo>
                  <a:pt x="17031" y="0"/>
                </a:lnTo>
                <a:close/>
              </a:path>
              <a:path w="414020" h="801370">
                <a:moveTo>
                  <a:pt x="42417" y="51234"/>
                </a:moveTo>
                <a:lnTo>
                  <a:pt x="28276" y="58240"/>
                </a:lnTo>
                <a:lnTo>
                  <a:pt x="25384" y="66812"/>
                </a:lnTo>
                <a:lnTo>
                  <a:pt x="32402" y="80979"/>
                </a:lnTo>
                <a:lnTo>
                  <a:pt x="40974" y="83870"/>
                </a:lnTo>
                <a:lnTo>
                  <a:pt x="55115" y="76865"/>
                </a:lnTo>
                <a:lnTo>
                  <a:pt x="58008" y="68292"/>
                </a:lnTo>
                <a:lnTo>
                  <a:pt x="50989" y="54126"/>
                </a:lnTo>
                <a:lnTo>
                  <a:pt x="42417" y="51234"/>
                </a:lnTo>
                <a:close/>
              </a:path>
              <a:path w="414020" h="801370">
                <a:moveTo>
                  <a:pt x="67800" y="102468"/>
                </a:moveTo>
                <a:lnTo>
                  <a:pt x="53660" y="109476"/>
                </a:lnTo>
                <a:lnTo>
                  <a:pt x="50769" y="118049"/>
                </a:lnTo>
                <a:lnTo>
                  <a:pt x="57790" y="132214"/>
                </a:lnTo>
                <a:lnTo>
                  <a:pt x="66361" y="135105"/>
                </a:lnTo>
                <a:lnTo>
                  <a:pt x="80501" y="128098"/>
                </a:lnTo>
                <a:lnTo>
                  <a:pt x="83393" y="119526"/>
                </a:lnTo>
                <a:lnTo>
                  <a:pt x="76372" y="105360"/>
                </a:lnTo>
                <a:lnTo>
                  <a:pt x="67800" y="102468"/>
                </a:lnTo>
                <a:close/>
              </a:path>
              <a:path w="414020" h="801370">
                <a:moveTo>
                  <a:pt x="93187" y="153703"/>
                </a:moveTo>
                <a:lnTo>
                  <a:pt x="79046" y="160709"/>
                </a:lnTo>
                <a:lnTo>
                  <a:pt x="76154" y="169281"/>
                </a:lnTo>
                <a:lnTo>
                  <a:pt x="83173" y="183448"/>
                </a:lnTo>
                <a:lnTo>
                  <a:pt x="91744" y="186340"/>
                </a:lnTo>
                <a:lnTo>
                  <a:pt x="105886" y="179334"/>
                </a:lnTo>
                <a:lnTo>
                  <a:pt x="108778" y="170762"/>
                </a:lnTo>
                <a:lnTo>
                  <a:pt x="101758" y="156595"/>
                </a:lnTo>
                <a:lnTo>
                  <a:pt x="93187" y="153703"/>
                </a:lnTo>
                <a:close/>
              </a:path>
              <a:path w="414020" h="801370">
                <a:moveTo>
                  <a:pt x="118572" y="204938"/>
                </a:moveTo>
                <a:lnTo>
                  <a:pt x="104432" y="211944"/>
                </a:lnTo>
                <a:lnTo>
                  <a:pt x="101539" y="220515"/>
                </a:lnTo>
                <a:lnTo>
                  <a:pt x="108558" y="234682"/>
                </a:lnTo>
                <a:lnTo>
                  <a:pt x="117129" y="237574"/>
                </a:lnTo>
                <a:lnTo>
                  <a:pt x="131271" y="230569"/>
                </a:lnTo>
                <a:lnTo>
                  <a:pt x="134162" y="221997"/>
                </a:lnTo>
                <a:lnTo>
                  <a:pt x="127144" y="207830"/>
                </a:lnTo>
                <a:lnTo>
                  <a:pt x="118572" y="204938"/>
                </a:lnTo>
                <a:close/>
              </a:path>
              <a:path w="414020" h="801370">
                <a:moveTo>
                  <a:pt x="143958" y="256173"/>
                </a:moveTo>
                <a:lnTo>
                  <a:pt x="129816" y="263179"/>
                </a:lnTo>
                <a:lnTo>
                  <a:pt x="126923" y="271750"/>
                </a:lnTo>
                <a:lnTo>
                  <a:pt x="133943" y="285917"/>
                </a:lnTo>
                <a:lnTo>
                  <a:pt x="142514" y="288809"/>
                </a:lnTo>
                <a:lnTo>
                  <a:pt x="156655" y="281803"/>
                </a:lnTo>
                <a:lnTo>
                  <a:pt x="159547" y="273232"/>
                </a:lnTo>
                <a:lnTo>
                  <a:pt x="152529" y="259065"/>
                </a:lnTo>
                <a:lnTo>
                  <a:pt x="143958" y="256173"/>
                </a:lnTo>
                <a:close/>
              </a:path>
              <a:path w="414020" h="801370">
                <a:moveTo>
                  <a:pt x="169339" y="307407"/>
                </a:moveTo>
                <a:lnTo>
                  <a:pt x="155199" y="314416"/>
                </a:lnTo>
                <a:lnTo>
                  <a:pt x="152308" y="322989"/>
                </a:lnTo>
                <a:lnTo>
                  <a:pt x="159331" y="337154"/>
                </a:lnTo>
                <a:lnTo>
                  <a:pt x="167902" y="340044"/>
                </a:lnTo>
                <a:lnTo>
                  <a:pt x="182043" y="333035"/>
                </a:lnTo>
                <a:lnTo>
                  <a:pt x="184933" y="324462"/>
                </a:lnTo>
                <a:lnTo>
                  <a:pt x="177910" y="310297"/>
                </a:lnTo>
                <a:lnTo>
                  <a:pt x="169339" y="307407"/>
                </a:lnTo>
                <a:close/>
              </a:path>
              <a:path w="414020" h="801370">
                <a:moveTo>
                  <a:pt x="194724" y="358642"/>
                </a:moveTo>
                <a:lnTo>
                  <a:pt x="180583" y="365651"/>
                </a:lnTo>
                <a:lnTo>
                  <a:pt x="177694" y="374223"/>
                </a:lnTo>
                <a:lnTo>
                  <a:pt x="184716" y="388388"/>
                </a:lnTo>
                <a:lnTo>
                  <a:pt x="193288" y="391279"/>
                </a:lnTo>
                <a:lnTo>
                  <a:pt x="207427" y="384269"/>
                </a:lnTo>
                <a:lnTo>
                  <a:pt x="210318" y="375697"/>
                </a:lnTo>
                <a:lnTo>
                  <a:pt x="203296" y="361532"/>
                </a:lnTo>
                <a:lnTo>
                  <a:pt x="194724" y="358642"/>
                </a:lnTo>
                <a:close/>
              </a:path>
              <a:path w="414020" h="801370">
                <a:moveTo>
                  <a:pt x="220108" y="409877"/>
                </a:moveTo>
                <a:lnTo>
                  <a:pt x="205968" y="416886"/>
                </a:lnTo>
                <a:lnTo>
                  <a:pt x="203079" y="425458"/>
                </a:lnTo>
                <a:lnTo>
                  <a:pt x="210101" y="439623"/>
                </a:lnTo>
                <a:lnTo>
                  <a:pt x="218673" y="442513"/>
                </a:lnTo>
                <a:lnTo>
                  <a:pt x="232812" y="435504"/>
                </a:lnTo>
                <a:lnTo>
                  <a:pt x="235703" y="426932"/>
                </a:lnTo>
                <a:lnTo>
                  <a:pt x="228681" y="412767"/>
                </a:lnTo>
                <a:lnTo>
                  <a:pt x="220108" y="409877"/>
                </a:lnTo>
                <a:close/>
              </a:path>
              <a:path w="414020" h="801370">
                <a:moveTo>
                  <a:pt x="245493" y="461111"/>
                </a:moveTo>
                <a:lnTo>
                  <a:pt x="231354" y="468120"/>
                </a:lnTo>
                <a:lnTo>
                  <a:pt x="228464" y="476693"/>
                </a:lnTo>
                <a:lnTo>
                  <a:pt x="235485" y="490858"/>
                </a:lnTo>
                <a:lnTo>
                  <a:pt x="244058" y="493748"/>
                </a:lnTo>
                <a:lnTo>
                  <a:pt x="258197" y="486739"/>
                </a:lnTo>
                <a:lnTo>
                  <a:pt x="261087" y="478166"/>
                </a:lnTo>
                <a:lnTo>
                  <a:pt x="254066" y="464001"/>
                </a:lnTo>
                <a:lnTo>
                  <a:pt x="245493" y="461111"/>
                </a:lnTo>
                <a:close/>
              </a:path>
              <a:path w="414020" h="801370">
                <a:moveTo>
                  <a:pt x="270878" y="512346"/>
                </a:moveTo>
                <a:lnTo>
                  <a:pt x="256739" y="519355"/>
                </a:lnTo>
                <a:lnTo>
                  <a:pt x="253848" y="527927"/>
                </a:lnTo>
                <a:lnTo>
                  <a:pt x="260870" y="542092"/>
                </a:lnTo>
                <a:lnTo>
                  <a:pt x="269443" y="544983"/>
                </a:lnTo>
                <a:lnTo>
                  <a:pt x="283583" y="537973"/>
                </a:lnTo>
                <a:lnTo>
                  <a:pt x="286472" y="529401"/>
                </a:lnTo>
                <a:lnTo>
                  <a:pt x="279450" y="515236"/>
                </a:lnTo>
                <a:lnTo>
                  <a:pt x="270878" y="512346"/>
                </a:lnTo>
                <a:close/>
              </a:path>
              <a:path w="414020" h="801370">
                <a:moveTo>
                  <a:pt x="296271" y="563581"/>
                </a:moveTo>
                <a:lnTo>
                  <a:pt x="282129" y="570583"/>
                </a:lnTo>
                <a:lnTo>
                  <a:pt x="279234" y="579154"/>
                </a:lnTo>
                <a:lnTo>
                  <a:pt x="286249" y="593323"/>
                </a:lnTo>
                <a:lnTo>
                  <a:pt x="294820" y="596217"/>
                </a:lnTo>
                <a:lnTo>
                  <a:pt x="308963" y="589214"/>
                </a:lnTo>
                <a:lnTo>
                  <a:pt x="311857" y="580644"/>
                </a:lnTo>
                <a:lnTo>
                  <a:pt x="304841" y="566475"/>
                </a:lnTo>
                <a:lnTo>
                  <a:pt x="296271" y="563581"/>
                </a:lnTo>
                <a:close/>
              </a:path>
              <a:path w="414020" h="801370">
                <a:moveTo>
                  <a:pt x="321656" y="614815"/>
                </a:moveTo>
                <a:lnTo>
                  <a:pt x="307513" y="621818"/>
                </a:lnTo>
                <a:lnTo>
                  <a:pt x="304619" y="630389"/>
                </a:lnTo>
                <a:lnTo>
                  <a:pt x="311635" y="644557"/>
                </a:lnTo>
                <a:lnTo>
                  <a:pt x="320205" y="647452"/>
                </a:lnTo>
                <a:lnTo>
                  <a:pt x="334347" y="640449"/>
                </a:lnTo>
                <a:lnTo>
                  <a:pt x="337242" y="631878"/>
                </a:lnTo>
                <a:lnTo>
                  <a:pt x="330227" y="617710"/>
                </a:lnTo>
                <a:lnTo>
                  <a:pt x="321656" y="614815"/>
                </a:lnTo>
                <a:close/>
              </a:path>
              <a:path w="414020" h="801370">
                <a:moveTo>
                  <a:pt x="347041" y="666050"/>
                </a:moveTo>
                <a:lnTo>
                  <a:pt x="332898" y="673053"/>
                </a:lnTo>
                <a:lnTo>
                  <a:pt x="330004" y="681623"/>
                </a:lnTo>
                <a:lnTo>
                  <a:pt x="337019" y="695792"/>
                </a:lnTo>
                <a:lnTo>
                  <a:pt x="345589" y="698686"/>
                </a:lnTo>
                <a:lnTo>
                  <a:pt x="359733" y="691684"/>
                </a:lnTo>
                <a:lnTo>
                  <a:pt x="362626" y="683113"/>
                </a:lnTo>
                <a:lnTo>
                  <a:pt x="355612" y="668944"/>
                </a:lnTo>
                <a:lnTo>
                  <a:pt x="347041" y="666050"/>
                </a:lnTo>
                <a:close/>
              </a:path>
              <a:path w="414020" h="801370">
                <a:moveTo>
                  <a:pt x="372426" y="717285"/>
                </a:moveTo>
                <a:lnTo>
                  <a:pt x="358283" y="724287"/>
                </a:lnTo>
                <a:lnTo>
                  <a:pt x="355389" y="732858"/>
                </a:lnTo>
                <a:lnTo>
                  <a:pt x="362404" y="747027"/>
                </a:lnTo>
                <a:lnTo>
                  <a:pt x="370975" y="749921"/>
                </a:lnTo>
                <a:lnTo>
                  <a:pt x="385118" y="742918"/>
                </a:lnTo>
                <a:lnTo>
                  <a:pt x="388012" y="734348"/>
                </a:lnTo>
                <a:lnTo>
                  <a:pt x="380997" y="720179"/>
                </a:lnTo>
                <a:lnTo>
                  <a:pt x="372426" y="717285"/>
                </a:lnTo>
                <a:close/>
              </a:path>
              <a:path w="414020" h="801370">
                <a:moveTo>
                  <a:pt x="397810" y="768520"/>
                </a:moveTo>
                <a:lnTo>
                  <a:pt x="383668" y="775522"/>
                </a:lnTo>
                <a:lnTo>
                  <a:pt x="380773" y="784093"/>
                </a:lnTo>
                <a:lnTo>
                  <a:pt x="387789" y="798261"/>
                </a:lnTo>
                <a:lnTo>
                  <a:pt x="396360" y="801156"/>
                </a:lnTo>
                <a:lnTo>
                  <a:pt x="410503" y="794153"/>
                </a:lnTo>
                <a:lnTo>
                  <a:pt x="413397" y="785582"/>
                </a:lnTo>
                <a:lnTo>
                  <a:pt x="406382" y="771414"/>
                </a:lnTo>
                <a:lnTo>
                  <a:pt x="397810" y="76852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36464" y="5282183"/>
            <a:ext cx="356615" cy="353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79198" y="529943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79198" y="529943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18303" y="6224015"/>
            <a:ext cx="356615" cy="356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61707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61707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08903" y="6224015"/>
            <a:ext cx="356615" cy="356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51864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751864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254496" y="5465063"/>
            <a:ext cx="356616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97877" y="54848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97877" y="54848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70832" y="5422391"/>
            <a:ext cx="359663" cy="3566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415355" y="54404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15355" y="54404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42842" y="5447369"/>
            <a:ext cx="763270" cy="158750"/>
          </a:xfrm>
          <a:custGeom>
            <a:avLst/>
            <a:gdLst/>
            <a:ahLst/>
            <a:cxnLst/>
            <a:rect l="l" t="t" r="r" b="b"/>
            <a:pathLst>
              <a:path w="763270" h="158750">
                <a:moveTo>
                  <a:pt x="10105" y="0"/>
                </a:moveTo>
                <a:lnTo>
                  <a:pt x="2706" y="5204"/>
                </a:lnTo>
                <a:lnTo>
                  <a:pt x="0" y="20753"/>
                </a:lnTo>
                <a:lnTo>
                  <a:pt x="5205" y="28152"/>
                </a:lnTo>
                <a:lnTo>
                  <a:pt x="20781" y="30862"/>
                </a:lnTo>
                <a:lnTo>
                  <a:pt x="28180" y="25657"/>
                </a:lnTo>
                <a:lnTo>
                  <a:pt x="30886" y="10109"/>
                </a:lnTo>
                <a:lnTo>
                  <a:pt x="25680" y="2711"/>
                </a:lnTo>
                <a:lnTo>
                  <a:pt x="10105" y="0"/>
                </a:lnTo>
                <a:close/>
              </a:path>
              <a:path w="763270" h="158750">
                <a:moveTo>
                  <a:pt x="66436" y="9804"/>
                </a:moveTo>
                <a:lnTo>
                  <a:pt x="59038" y="15010"/>
                </a:lnTo>
                <a:lnTo>
                  <a:pt x="56332" y="30557"/>
                </a:lnTo>
                <a:lnTo>
                  <a:pt x="61537" y="37956"/>
                </a:lnTo>
                <a:lnTo>
                  <a:pt x="77113" y="40666"/>
                </a:lnTo>
                <a:lnTo>
                  <a:pt x="84512" y="35462"/>
                </a:lnTo>
                <a:lnTo>
                  <a:pt x="87218" y="19913"/>
                </a:lnTo>
                <a:lnTo>
                  <a:pt x="82012" y="12514"/>
                </a:lnTo>
                <a:lnTo>
                  <a:pt x="66436" y="9804"/>
                </a:lnTo>
                <a:close/>
              </a:path>
              <a:path w="763270" h="158750">
                <a:moveTo>
                  <a:pt x="122769" y="19608"/>
                </a:moveTo>
                <a:lnTo>
                  <a:pt x="115370" y="24813"/>
                </a:lnTo>
                <a:lnTo>
                  <a:pt x="112664" y="40360"/>
                </a:lnTo>
                <a:lnTo>
                  <a:pt x="117868" y="47759"/>
                </a:lnTo>
                <a:lnTo>
                  <a:pt x="133443" y="50472"/>
                </a:lnTo>
                <a:lnTo>
                  <a:pt x="140842" y="45266"/>
                </a:lnTo>
                <a:lnTo>
                  <a:pt x="143550" y="29719"/>
                </a:lnTo>
                <a:lnTo>
                  <a:pt x="138344" y="22320"/>
                </a:lnTo>
                <a:lnTo>
                  <a:pt x="122769" y="19608"/>
                </a:lnTo>
                <a:close/>
              </a:path>
              <a:path w="763270" h="158750">
                <a:moveTo>
                  <a:pt x="179100" y="29413"/>
                </a:moveTo>
                <a:lnTo>
                  <a:pt x="171701" y="34618"/>
                </a:lnTo>
                <a:lnTo>
                  <a:pt x="168995" y="50166"/>
                </a:lnTo>
                <a:lnTo>
                  <a:pt x="174200" y="57565"/>
                </a:lnTo>
                <a:lnTo>
                  <a:pt x="189776" y="60275"/>
                </a:lnTo>
                <a:lnTo>
                  <a:pt x="197175" y="55071"/>
                </a:lnTo>
                <a:lnTo>
                  <a:pt x="199881" y="39522"/>
                </a:lnTo>
                <a:lnTo>
                  <a:pt x="194675" y="32124"/>
                </a:lnTo>
                <a:lnTo>
                  <a:pt x="179100" y="29413"/>
                </a:lnTo>
                <a:close/>
              </a:path>
              <a:path w="763270" h="158750">
                <a:moveTo>
                  <a:pt x="235431" y="39217"/>
                </a:moveTo>
                <a:lnTo>
                  <a:pt x="228032" y="44423"/>
                </a:lnTo>
                <a:lnTo>
                  <a:pt x="225327" y="59971"/>
                </a:lnTo>
                <a:lnTo>
                  <a:pt x="230532" y="67369"/>
                </a:lnTo>
                <a:lnTo>
                  <a:pt x="246109" y="70079"/>
                </a:lnTo>
                <a:lnTo>
                  <a:pt x="253508" y="64874"/>
                </a:lnTo>
                <a:lnTo>
                  <a:pt x="256212" y="49326"/>
                </a:lnTo>
                <a:lnTo>
                  <a:pt x="251006" y="41927"/>
                </a:lnTo>
                <a:lnTo>
                  <a:pt x="235431" y="39217"/>
                </a:lnTo>
                <a:close/>
              </a:path>
              <a:path w="763270" h="158750">
                <a:moveTo>
                  <a:pt x="291762" y="49022"/>
                </a:moveTo>
                <a:lnTo>
                  <a:pt x="284364" y="54227"/>
                </a:lnTo>
                <a:lnTo>
                  <a:pt x="281659" y="69776"/>
                </a:lnTo>
                <a:lnTo>
                  <a:pt x="286865" y="77174"/>
                </a:lnTo>
                <a:lnTo>
                  <a:pt x="302441" y="79884"/>
                </a:lnTo>
                <a:lnTo>
                  <a:pt x="309839" y="74678"/>
                </a:lnTo>
                <a:lnTo>
                  <a:pt x="312544" y="59131"/>
                </a:lnTo>
                <a:lnTo>
                  <a:pt x="307338" y="51732"/>
                </a:lnTo>
                <a:lnTo>
                  <a:pt x="291762" y="49022"/>
                </a:lnTo>
                <a:close/>
              </a:path>
              <a:path w="763270" h="158750">
                <a:moveTo>
                  <a:pt x="348094" y="58826"/>
                </a:moveTo>
                <a:lnTo>
                  <a:pt x="340696" y="64032"/>
                </a:lnTo>
                <a:lnTo>
                  <a:pt x="337991" y="79580"/>
                </a:lnTo>
                <a:lnTo>
                  <a:pt x="343197" y="86979"/>
                </a:lnTo>
                <a:lnTo>
                  <a:pt x="358772" y="89688"/>
                </a:lnTo>
                <a:lnTo>
                  <a:pt x="366171" y="84482"/>
                </a:lnTo>
                <a:lnTo>
                  <a:pt x="368876" y="68935"/>
                </a:lnTo>
                <a:lnTo>
                  <a:pt x="363670" y="61536"/>
                </a:lnTo>
                <a:lnTo>
                  <a:pt x="348094" y="58826"/>
                </a:lnTo>
                <a:close/>
              </a:path>
              <a:path w="763270" h="158750">
                <a:moveTo>
                  <a:pt x="404426" y="68632"/>
                </a:moveTo>
                <a:lnTo>
                  <a:pt x="397027" y="73836"/>
                </a:lnTo>
                <a:lnTo>
                  <a:pt x="394322" y="89385"/>
                </a:lnTo>
                <a:lnTo>
                  <a:pt x="399528" y="96784"/>
                </a:lnTo>
                <a:lnTo>
                  <a:pt x="415104" y="99493"/>
                </a:lnTo>
                <a:lnTo>
                  <a:pt x="422503" y="94287"/>
                </a:lnTo>
                <a:lnTo>
                  <a:pt x="425207" y="78740"/>
                </a:lnTo>
                <a:lnTo>
                  <a:pt x="420002" y="71340"/>
                </a:lnTo>
                <a:lnTo>
                  <a:pt x="404426" y="68632"/>
                </a:lnTo>
                <a:close/>
              </a:path>
              <a:path w="763270" h="158750">
                <a:moveTo>
                  <a:pt x="460757" y="78436"/>
                </a:moveTo>
                <a:lnTo>
                  <a:pt x="453359" y="83642"/>
                </a:lnTo>
                <a:lnTo>
                  <a:pt x="450654" y="99189"/>
                </a:lnTo>
                <a:lnTo>
                  <a:pt x="455860" y="106588"/>
                </a:lnTo>
                <a:lnTo>
                  <a:pt x="471436" y="109297"/>
                </a:lnTo>
                <a:lnTo>
                  <a:pt x="478834" y="104091"/>
                </a:lnTo>
                <a:lnTo>
                  <a:pt x="481539" y="88544"/>
                </a:lnTo>
                <a:lnTo>
                  <a:pt x="476333" y="81145"/>
                </a:lnTo>
                <a:lnTo>
                  <a:pt x="460757" y="78436"/>
                </a:lnTo>
                <a:close/>
              </a:path>
              <a:path w="763270" h="158750">
                <a:moveTo>
                  <a:pt x="517089" y="88240"/>
                </a:moveTo>
                <a:lnTo>
                  <a:pt x="509691" y="93446"/>
                </a:lnTo>
                <a:lnTo>
                  <a:pt x="506986" y="108993"/>
                </a:lnTo>
                <a:lnTo>
                  <a:pt x="512192" y="116392"/>
                </a:lnTo>
                <a:lnTo>
                  <a:pt x="527767" y="119101"/>
                </a:lnTo>
                <a:lnTo>
                  <a:pt x="535166" y="113896"/>
                </a:lnTo>
                <a:lnTo>
                  <a:pt x="537871" y="98348"/>
                </a:lnTo>
                <a:lnTo>
                  <a:pt x="532665" y="90949"/>
                </a:lnTo>
                <a:lnTo>
                  <a:pt x="517089" y="88240"/>
                </a:lnTo>
                <a:close/>
              </a:path>
              <a:path w="763270" h="158750">
                <a:moveTo>
                  <a:pt x="573424" y="98044"/>
                </a:moveTo>
                <a:lnTo>
                  <a:pt x="566025" y="103248"/>
                </a:lnTo>
                <a:lnTo>
                  <a:pt x="563317" y="118795"/>
                </a:lnTo>
                <a:lnTo>
                  <a:pt x="568520" y="126194"/>
                </a:lnTo>
                <a:lnTo>
                  <a:pt x="584097" y="128907"/>
                </a:lnTo>
                <a:lnTo>
                  <a:pt x="591496" y="123703"/>
                </a:lnTo>
                <a:lnTo>
                  <a:pt x="594203" y="108155"/>
                </a:lnTo>
                <a:lnTo>
                  <a:pt x="588999" y="100756"/>
                </a:lnTo>
                <a:lnTo>
                  <a:pt x="573424" y="98044"/>
                </a:lnTo>
                <a:close/>
              </a:path>
              <a:path w="763270" h="158750">
                <a:moveTo>
                  <a:pt x="629756" y="107848"/>
                </a:moveTo>
                <a:lnTo>
                  <a:pt x="622355" y="113052"/>
                </a:lnTo>
                <a:lnTo>
                  <a:pt x="619648" y="128600"/>
                </a:lnTo>
                <a:lnTo>
                  <a:pt x="624852" y="135999"/>
                </a:lnTo>
                <a:lnTo>
                  <a:pt x="640427" y="138711"/>
                </a:lnTo>
                <a:lnTo>
                  <a:pt x="647828" y="133507"/>
                </a:lnTo>
                <a:lnTo>
                  <a:pt x="650535" y="117960"/>
                </a:lnTo>
                <a:lnTo>
                  <a:pt x="645331" y="110561"/>
                </a:lnTo>
                <a:lnTo>
                  <a:pt x="629756" y="107848"/>
                </a:lnTo>
                <a:close/>
              </a:path>
              <a:path w="763270" h="158750">
                <a:moveTo>
                  <a:pt x="686087" y="117652"/>
                </a:moveTo>
                <a:lnTo>
                  <a:pt x="678688" y="122857"/>
                </a:lnTo>
                <a:lnTo>
                  <a:pt x="675980" y="138404"/>
                </a:lnTo>
                <a:lnTo>
                  <a:pt x="681184" y="145803"/>
                </a:lnTo>
                <a:lnTo>
                  <a:pt x="696760" y="148516"/>
                </a:lnTo>
                <a:lnTo>
                  <a:pt x="704159" y="143312"/>
                </a:lnTo>
                <a:lnTo>
                  <a:pt x="706868" y="127764"/>
                </a:lnTo>
                <a:lnTo>
                  <a:pt x="701663" y="120365"/>
                </a:lnTo>
                <a:lnTo>
                  <a:pt x="686087" y="117652"/>
                </a:lnTo>
                <a:close/>
              </a:path>
              <a:path w="763270" h="158750">
                <a:moveTo>
                  <a:pt x="742419" y="127457"/>
                </a:moveTo>
                <a:lnTo>
                  <a:pt x="735020" y="132661"/>
                </a:lnTo>
                <a:lnTo>
                  <a:pt x="732312" y="148208"/>
                </a:lnTo>
                <a:lnTo>
                  <a:pt x="737515" y="155608"/>
                </a:lnTo>
                <a:lnTo>
                  <a:pt x="753092" y="158321"/>
                </a:lnTo>
                <a:lnTo>
                  <a:pt x="760491" y="153116"/>
                </a:lnTo>
                <a:lnTo>
                  <a:pt x="763198" y="137568"/>
                </a:lnTo>
                <a:lnTo>
                  <a:pt x="757994" y="130169"/>
                </a:lnTo>
                <a:lnTo>
                  <a:pt x="742419" y="12745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19535" y="5209820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932935" y="586578"/>
                </a:moveTo>
                <a:lnTo>
                  <a:pt x="864432" y="600535"/>
                </a:lnTo>
                <a:lnTo>
                  <a:pt x="797034" y="612638"/>
                </a:lnTo>
                <a:lnTo>
                  <a:pt x="730949" y="622904"/>
                </a:lnTo>
                <a:lnTo>
                  <a:pt x="666383" y="631349"/>
                </a:lnTo>
                <a:lnTo>
                  <a:pt x="603543" y="637991"/>
                </a:lnTo>
                <a:lnTo>
                  <a:pt x="542637" y="642844"/>
                </a:lnTo>
                <a:lnTo>
                  <a:pt x="483871" y="645926"/>
                </a:lnTo>
                <a:lnTo>
                  <a:pt x="427452" y="647254"/>
                </a:lnTo>
                <a:lnTo>
                  <a:pt x="373588" y="646843"/>
                </a:lnTo>
                <a:lnTo>
                  <a:pt x="322485" y="644711"/>
                </a:lnTo>
                <a:lnTo>
                  <a:pt x="274350" y="640873"/>
                </a:lnTo>
                <a:lnTo>
                  <a:pt x="229391" y="635347"/>
                </a:lnTo>
                <a:lnTo>
                  <a:pt x="187814" y="628148"/>
                </a:lnTo>
                <a:lnTo>
                  <a:pt x="149826" y="619294"/>
                </a:lnTo>
                <a:lnTo>
                  <a:pt x="85447" y="596685"/>
                </a:lnTo>
                <a:lnTo>
                  <a:pt x="37910" y="567651"/>
                </a:lnTo>
                <a:lnTo>
                  <a:pt x="8870" y="532325"/>
                </a:lnTo>
                <a:lnTo>
                  <a:pt x="0" y="491226"/>
                </a:lnTo>
                <a:lnTo>
                  <a:pt x="3420" y="469434"/>
                </a:lnTo>
                <a:lnTo>
                  <a:pt x="25210" y="424226"/>
                </a:lnTo>
                <a:lnTo>
                  <a:pt x="65718" y="377523"/>
                </a:lnTo>
                <a:lnTo>
                  <a:pt x="123492" y="330128"/>
                </a:lnTo>
                <a:lnTo>
                  <a:pt x="158399" y="306422"/>
                </a:lnTo>
                <a:lnTo>
                  <a:pt x="197077" y="282844"/>
                </a:lnTo>
                <a:lnTo>
                  <a:pt x="239344" y="259495"/>
                </a:lnTo>
                <a:lnTo>
                  <a:pt x="285018" y="236475"/>
                </a:lnTo>
                <a:lnTo>
                  <a:pt x="333918" y="213885"/>
                </a:lnTo>
                <a:lnTo>
                  <a:pt x="385862" y="191825"/>
                </a:lnTo>
                <a:lnTo>
                  <a:pt x="440668" y="170395"/>
                </a:lnTo>
                <a:lnTo>
                  <a:pt x="498155" y="149696"/>
                </a:lnTo>
                <a:lnTo>
                  <a:pt x="558140" y="129828"/>
                </a:lnTo>
                <a:lnTo>
                  <a:pt x="620441" y="110891"/>
                </a:lnTo>
                <a:lnTo>
                  <a:pt x="684878" y="92987"/>
                </a:lnTo>
                <a:lnTo>
                  <a:pt x="751268" y="76215"/>
                </a:lnTo>
                <a:lnTo>
                  <a:pt x="819429" y="60675"/>
                </a:lnTo>
                <a:lnTo>
                  <a:pt x="887932" y="46718"/>
                </a:lnTo>
                <a:lnTo>
                  <a:pt x="955330" y="34615"/>
                </a:lnTo>
                <a:lnTo>
                  <a:pt x="1021415" y="24349"/>
                </a:lnTo>
                <a:lnTo>
                  <a:pt x="1085981" y="15904"/>
                </a:lnTo>
                <a:lnTo>
                  <a:pt x="1148821" y="9263"/>
                </a:lnTo>
                <a:lnTo>
                  <a:pt x="1209727" y="4409"/>
                </a:lnTo>
                <a:lnTo>
                  <a:pt x="1268493" y="1327"/>
                </a:lnTo>
                <a:lnTo>
                  <a:pt x="1324912" y="0"/>
                </a:lnTo>
                <a:lnTo>
                  <a:pt x="1378776" y="410"/>
                </a:lnTo>
                <a:lnTo>
                  <a:pt x="1429879" y="2543"/>
                </a:lnTo>
                <a:lnTo>
                  <a:pt x="1478014" y="6380"/>
                </a:lnTo>
                <a:lnTo>
                  <a:pt x="1522973" y="11906"/>
                </a:lnTo>
                <a:lnTo>
                  <a:pt x="1564550" y="19105"/>
                </a:lnTo>
                <a:lnTo>
                  <a:pt x="1602538" y="27959"/>
                </a:lnTo>
                <a:lnTo>
                  <a:pt x="1666917" y="50568"/>
                </a:lnTo>
                <a:lnTo>
                  <a:pt x="1714454" y="79602"/>
                </a:lnTo>
                <a:lnTo>
                  <a:pt x="1743494" y="114928"/>
                </a:lnTo>
                <a:lnTo>
                  <a:pt x="1752365" y="156027"/>
                </a:lnTo>
                <a:lnTo>
                  <a:pt x="1748944" y="177820"/>
                </a:lnTo>
                <a:lnTo>
                  <a:pt x="1727154" y="223028"/>
                </a:lnTo>
                <a:lnTo>
                  <a:pt x="1686646" y="269731"/>
                </a:lnTo>
                <a:lnTo>
                  <a:pt x="1628872" y="317126"/>
                </a:lnTo>
                <a:lnTo>
                  <a:pt x="1593965" y="340832"/>
                </a:lnTo>
                <a:lnTo>
                  <a:pt x="1555287" y="364409"/>
                </a:lnTo>
                <a:lnTo>
                  <a:pt x="1513020" y="387758"/>
                </a:lnTo>
                <a:lnTo>
                  <a:pt x="1467346" y="410778"/>
                </a:lnTo>
                <a:lnTo>
                  <a:pt x="1418446" y="433368"/>
                </a:lnTo>
                <a:lnTo>
                  <a:pt x="1366502" y="455428"/>
                </a:lnTo>
                <a:lnTo>
                  <a:pt x="1311696" y="476858"/>
                </a:lnTo>
                <a:lnTo>
                  <a:pt x="1254209" y="497558"/>
                </a:lnTo>
                <a:lnTo>
                  <a:pt x="1194224" y="517426"/>
                </a:lnTo>
                <a:lnTo>
                  <a:pt x="1131923" y="536362"/>
                </a:lnTo>
                <a:lnTo>
                  <a:pt x="1067486" y="554267"/>
                </a:lnTo>
                <a:lnTo>
                  <a:pt x="1001096" y="571039"/>
                </a:lnTo>
                <a:lnTo>
                  <a:pt x="932935" y="586578"/>
                </a:lnTo>
                <a:close/>
              </a:path>
            </a:pathLst>
          </a:custGeom>
          <a:ln w="253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672266" y="5372869"/>
            <a:ext cx="969010" cy="1268730"/>
          </a:xfrm>
          <a:custGeom>
            <a:avLst/>
            <a:gdLst/>
            <a:ahLst/>
            <a:cxnLst/>
            <a:rect l="l" t="t" r="r" b="b"/>
            <a:pathLst>
              <a:path w="969009" h="1268729">
                <a:moveTo>
                  <a:pt x="251766" y="473070"/>
                </a:moveTo>
                <a:lnTo>
                  <a:pt x="291405" y="417900"/>
                </a:lnTo>
                <a:lnTo>
                  <a:pt x="331917" y="365415"/>
                </a:lnTo>
                <a:lnTo>
                  <a:pt x="373072" y="315774"/>
                </a:lnTo>
                <a:lnTo>
                  <a:pt x="414636" y="269136"/>
                </a:lnTo>
                <a:lnTo>
                  <a:pt x="456377" y="225661"/>
                </a:lnTo>
                <a:lnTo>
                  <a:pt x="498063" y="185509"/>
                </a:lnTo>
                <a:lnTo>
                  <a:pt x="539463" y="148840"/>
                </a:lnTo>
                <a:lnTo>
                  <a:pt x="580343" y="115812"/>
                </a:lnTo>
                <a:lnTo>
                  <a:pt x="620471" y="86586"/>
                </a:lnTo>
                <a:lnTo>
                  <a:pt x="659616" y="61321"/>
                </a:lnTo>
                <a:lnTo>
                  <a:pt x="697546" y="40176"/>
                </a:lnTo>
                <a:lnTo>
                  <a:pt x="734027" y="23313"/>
                </a:lnTo>
                <a:lnTo>
                  <a:pt x="801716" y="3065"/>
                </a:lnTo>
                <a:lnTo>
                  <a:pt x="832460" y="0"/>
                </a:lnTo>
                <a:lnTo>
                  <a:pt x="860826" y="1853"/>
                </a:lnTo>
                <a:lnTo>
                  <a:pt x="909501" y="20956"/>
                </a:lnTo>
                <a:lnTo>
                  <a:pt x="944479" y="59822"/>
                </a:lnTo>
                <a:lnTo>
                  <a:pt x="964102" y="115594"/>
                </a:lnTo>
                <a:lnTo>
                  <a:pt x="968913" y="186083"/>
                </a:lnTo>
                <a:lnTo>
                  <a:pt x="965933" y="226162"/>
                </a:lnTo>
                <a:lnTo>
                  <a:pt x="959455" y="269101"/>
                </a:lnTo>
                <a:lnTo>
                  <a:pt x="949545" y="314625"/>
                </a:lnTo>
                <a:lnTo>
                  <a:pt x="936271" y="362461"/>
                </a:lnTo>
                <a:lnTo>
                  <a:pt x="919702" y="412336"/>
                </a:lnTo>
                <a:lnTo>
                  <a:pt x="899905" y="463976"/>
                </a:lnTo>
                <a:lnTo>
                  <a:pt x="876949" y="517107"/>
                </a:lnTo>
                <a:lnTo>
                  <a:pt x="850900" y="571456"/>
                </a:lnTo>
                <a:lnTo>
                  <a:pt x="821828" y="626750"/>
                </a:lnTo>
                <a:lnTo>
                  <a:pt x="789799" y="682716"/>
                </a:lnTo>
                <a:lnTo>
                  <a:pt x="754883" y="739079"/>
                </a:lnTo>
                <a:lnTo>
                  <a:pt x="717146" y="795566"/>
                </a:lnTo>
                <a:lnTo>
                  <a:pt x="677507" y="850736"/>
                </a:lnTo>
                <a:lnTo>
                  <a:pt x="636995" y="903221"/>
                </a:lnTo>
                <a:lnTo>
                  <a:pt x="595840" y="952862"/>
                </a:lnTo>
                <a:lnTo>
                  <a:pt x="554277" y="999500"/>
                </a:lnTo>
                <a:lnTo>
                  <a:pt x="512535" y="1042975"/>
                </a:lnTo>
                <a:lnTo>
                  <a:pt x="470849" y="1083127"/>
                </a:lnTo>
                <a:lnTo>
                  <a:pt x="429450" y="1119797"/>
                </a:lnTo>
                <a:lnTo>
                  <a:pt x="388570" y="1152824"/>
                </a:lnTo>
                <a:lnTo>
                  <a:pt x="348441" y="1182050"/>
                </a:lnTo>
                <a:lnTo>
                  <a:pt x="309296" y="1207315"/>
                </a:lnTo>
                <a:lnTo>
                  <a:pt x="271367" y="1228460"/>
                </a:lnTo>
                <a:lnTo>
                  <a:pt x="234886" y="1245324"/>
                </a:lnTo>
                <a:lnTo>
                  <a:pt x="167196" y="1265572"/>
                </a:lnTo>
                <a:lnTo>
                  <a:pt x="136453" y="1268637"/>
                </a:lnTo>
                <a:lnTo>
                  <a:pt x="108086" y="1266783"/>
                </a:lnTo>
                <a:lnTo>
                  <a:pt x="59411" y="1247681"/>
                </a:lnTo>
                <a:lnTo>
                  <a:pt x="24433" y="1208814"/>
                </a:lnTo>
                <a:lnTo>
                  <a:pt x="4810" y="1153042"/>
                </a:lnTo>
                <a:lnTo>
                  <a:pt x="0" y="1082553"/>
                </a:lnTo>
                <a:lnTo>
                  <a:pt x="2979" y="1042474"/>
                </a:lnTo>
                <a:lnTo>
                  <a:pt x="9458" y="999535"/>
                </a:lnTo>
                <a:lnTo>
                  <a:pt x="19368" y="954011"/>
                </a:lnTo>
                <a:lnTo>
                  <a:pt x="32641" y="906175"/>
                </a:lnTo>
                <a:lnTo>
                  <a:pt x="49210" y="856300"/>
                </a:lnTo>
                <a:lnTo>
                  <a:pt x="69007" y="804661"/>
                </a:lnTo>
                <a:lnTo>
                  <a:pt x="91964" y="751529"/>
                </a:lnTo>
                <a:lnTo>
                  <a:pt x="118012" y="697180"/>
                </a:lnTo>
                <a:lnTo>
                  <a:pt x="147084" y="641886"/>
                </a:lnTo>
                <a:lnTo>
                  <a:pt x="179113" y="585920"/>
                </a:lnTo>
                <a:lnTo>
                  <a:pt x="214029" y="529557"/>
                </a:lnTo>
                <a:lnTo>
                  <a:pt x="251766" y="473070"/>
                </a:lnTo>
                <a:close/>
              </a:path>
            </a:pathLst>
          </a:custGeom>
          <a:ln w="25399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92296" y="6044183"/>
            <a:ext cx="356615" cy="356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934602" y="60639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934602" y="60639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02296" y="5942662"/>
            <a:ext cx="1357630" cy="729615"/>
          </a:xfrm>
          <a:custGeom>
            <a:avLst/>
            <a:gdLst/>
            <a:ahLst/>
            <a:cxnLst/>
            <a:rect l="l" t="t" r="r" b="b"/>
            <a:pathLst>
              <a:path w="1357629" h="729615">
                <a:moveTo>
                  <a:pt x="4974" y="184179"/>
                </a:moveTo>
                <a:lnTo>
                  <a:pt x="31091" y="130131"/>
                </a:lnTo>
                <a:lnTo>
                  <a:pt x="76756" y="84911"/>
                </a:lnTo>
                <a:lnTo>
                  <a:pt x="139823" y="48902"/>
                </a:lnTo>
                <a:lnTo>
                  <a:pt x="177213" y="34473"/>
                </a:lnTo>
                <a:lnTo>
                  <a:pt x="218151" y="22491"/>
                </a:lnTo>
                <a:lnTo>
                  <a:pt x="262368" y="13004"/>
                </a:lnTo>
                <a:lnTo>
                  <a:pt x="309597" y="6062"/>
                </a:lnTo>
                <a:lnTo>
                  <a:pt x="359570" y="1711"/>
                </a:lnTo>
                <a:lnTo>
                  <a:pt x="412018" y="0"/>
                </a:lnTo>
                <a:lnTo>
                  <a:pt x="466674" y="976"/>
                </a:lnTo>
                <a:lnTo>
                  <a:pt x="523271" y="4690"/>
                </a:lnTo>
                <a:lnTo>
                  <a:pt x="581540" y="11187"/>
                </a:lnTo>
                <a:lnTo>
                  <a:pt x="641213" y="20517"/>
                </a:lnTo>
                <a:lnTo>
                  <a:pt x="702023" y="32727"/>
                </a:lnTo>
                <a:lnTo>
                  <a:pt x="763702" y="47866"/>
                </a:lnTo>
                <a:lnTo>
                  <a:pt x="824687" y="65594"/>
                </a:lnTo>
                <a:lnTo>
                  <a:pt x="883455" y="85425"/>
                </a:lnTo>
                <a:lnTo>
                  <a:pt x="939799" y="107182"/>
                </a:lnTo>
                <a:lnTo>
                  <a:pt x="993510" y="130690"/>
                </a:lnTo>
                <a:lnTo>
                  <a:pt x="1044380" y="155772"/>
                </a:lnTo>
                <a:lnTo>
                  <a:pt x="1092203" y="182254"/>
                </a:lnTo>
                <a:lnTo>
                  <a:pt x="1136769" y="209960"/>
                </a:lnTo>
                <a:lnTo>
                  <a:pt x="1177871" y="238715"/>
                </a:lnTo>
                <a:lnTo>
                  <a:pt x="1215301" y="268342"/>
                </a:lnTo>
                <a:lnTo>
                  <a:pt x="1248851" y="298666"/>
                </a:lnTo>
                <a:lnTo>
                  <a:pt x="1278313" y="329511"/>
                </a:lnTo>
                <a:lnTo>
                  <a:pt x="1303479" y="360703"/>
                </a:lnTo>
                <a:lnTo>
                  <a:pt x="1340093" y="423421"/>
                </a:lnTo>
                <a:lnTo>
                  <a:pt x="1357029" y="485415"/>
                </a:lnTo>
                <a:lnTo>
                  <a:pt x="1357598" y="515702"/>
                </a:lnTo>
                <a:lnTo>
                  <a:pt x="1352624" y="545281"/>
                </a:lnTo>
                <a:lnTo>
                  <a:pt x="1326506" y="599329"/>
                </a:lnTo>
                <a:lnTo>
                  <a:pt x="1280842" y="644549"/>
                </a:lnTo>
                <a:lnTo>
                  <a:pt x="1217774" y="680558"/>
                </a:lnTo>
                <a:lnTo>
                  <a:pt x="1180384" y="694987"/>
                </a:lnTo>
                <a:lnTo>
                  <a:pt x="1139446" y="706969"/>
                </a:lnTo>
                <a:lnTo>
                  <a:pt x="1095229" y="716456"/>
                </a:lnTo>
                <a:lnTo>
                  <a:pt x="1048000" y="723398"/>
                </a:lnTo>
                <a:lnTo>
                  <a:pt x="998028" y="727749"/>
                </a:lnTo>
                <a:lnTo>
                  <a:pt x="945579" y="729460"/>
                </a:lnTo>
                <a:lnTo>
                  <a:pt x="890923" y="728483"/>
                </a:lnTo>
                <a:lnTo>
                  <a:pt x="834326" y="724770"/>
                </a:lnTo>
                <a:lnTo>
                  <a:pt x="776057" y="718273"/>
                </a:lnTo>
                <a:lnTo>
                  <a:pt x="716384" y="708943"/>
                </a:lnTo>
                <a:lnTo>
                  <a:pt x="655574" y="696733"/>
                </a:lnTo>
                <a:lnTo>
                  <a:pt x="593895" y="681594"/>
                </a:lnTo>
                <a:lnTo>
                  <a:pt x="532910" y="663865"/>
                </a:lnTo>
                <a:lnTo>
                  <a:pt x="474142" y="644035"/>
                </a:lnTo>
                <a:lnTo>
                  <a:pt x="417799" y="622278"/>
                </a:lnTo>
                <a:lnTo>
                  <a:pt x="364088" y="598770"/>
                </a:lnTo>
                <a:lnTo>
                  <a:pt x="313217" y="573688"/>
                </a:lnTo>
                <a:lnTo>
                  <a:pt x="265395" y="547205"/>
                </a:lnTo>
                <a:lnTo>
                  <a:pt x="220829" y="519499"/>
                </a:lnTo>
                <a:lnTo>
                  <a:pt x="179727" y="490745"/>
                </a:lnTo>
                <a:lnTo>
                  <a:pt x="142297" y="461118"/>
                </a:lnTo>
                <a:lnTo>
                  <a:pt x="108747" y="430794"/>
                </a:lnTo>
                <a:lnTo>
                  <a:pt x="79285" y="399948"/>
                </a:lnTo>
                <a:lnTo>
                  <a:pt x="54118" y="368757"/>
                </a:lnTo>
                <a:lnTo>
                  <a:pt x="17504" y="306039"/>
                </a:lnTo>
                <a:lnTo>
                  <a:pt x="568" y="244045"/>
                </a:lnTo>
                <a:lnTo>
                  <a:pt x="0" y="213758"/>
                </a:lnTo>
                <a:lnTo>
                  <a:pt x="4974" y="184179"/>
                </a:lnTo>
                <a:close/>
              </a:path>
            </a:pathLst>
          </a:custGeom>
          <a:ln w="25399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932655" y="5350440"/>
            <a:ext cx="1224915" cy="1223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  </a:t>
            </a:r>
            <a:r>
              <a:rPr dirty="0" sz="2000" spc="-40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0038" y="5341616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91038" y="5484872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77678" y="5530591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16135" y="6109711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43241" y="6289544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19899" y="6286496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9"/>
              </a:rPr>
              <a:t>http://cs224w.stanford.edu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57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80162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7635240" cy="900430"/>
          </a:xfrm>
          <a:prstGeom prst="rect"/>
        </p:spPr>
        <p:txBody>
          <a:bodyPr wrap="square" lIns="0" tIns="59055" rIns="0" bIns="0" rtlCol="0" vert="horz">
            <a:spAutoFit/>
          </a:bodyPr>
          <a:lstStyle/>
          <a:p>
            <a:pPr marL="332740" marR="5080" indent="-320040">
              <a:lnSpc>
                <a:spcPts val="3290"/>
              </a:lnSpc>
              <a:spcBef>
                <a:spcPts val="46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5">
                <a:solidFill>
                  <a:srgbClr val="0070C0"/>
                </a:solidFill>
              </a:rPr>
              <a:t>Transductive </a:t>
            </a:r>
            <a:r>
              <a:rPr dirty="0" sz="3000" spc="-10">
                <a:solidFill>
                  <a:srgbClr val="0070C0"/>
                </a:solidFill>
              </a:rPr>
              <a:t>setting: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training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/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validation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/ </a:t>
            </a:r>
            <a:r>
              <a:rPr dirty="0" sz="3000" spc="-25" b="0">
                <a:solidFill>
                  <a:srgbClr val="000000"/>
                </a:solidFill>
                <a:latin typeface="Calibri"/>
                <a:cs typeface="Calibri"/>
              </a:rPr>
              <a:t>test  </a:t>
            </a:r>
            <a:r>
              <a:rPr dirty="0" sz="3000" spc="-10" b="0">
                <a:solidFill>
                  <a:srgbClr val="000000"/>
                </a:solidFill>
                <a:latin typeface="Calibri"/>
                <a:cs typeface="Calibri"/>
              </a:rPr>
              <a:t>sets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are </a:t>
            </a:r>
            <a:r>
              <a:rPr dirty="0" sz="3000" spc="-5">
                <a:solidFill>
                  <a:srgbClr val="0070C0"/>
                </a:solidFill>
              </a:rPr>
              <a:t>on the same</a:t>
            </a:r>
            <a:r>
              <a:rPr dirty="0" sz="3000" spc="-40">
                <a:solidFill>
                  <a:srgbClr val="0070C0"/>
                </a:solidFill>
              </a:rPr>
              <a:t> </a:t>
            </a:r>
            <a:r>
              <a:rPr dirty="0" sz="3000" spc="-20">
                <a:solidFill>
                  <a:srgbClr val="0070C0"/>
                </a:solidFill>
              </a:rPr>
              <a:t>graph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162555"/>
            <a:ext cx="8246745" cy="419227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484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dataset consists </a:t>
            </a: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of one</a:t>
            </a:r>
            <a:r>
              <a:rPr dirty="0" sz="2600" spc="-4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15" b="1">
                <a:solidFill>
                  <a:srgbClr val="0070C0"/>
                </a:solidFill>
                <a:latin typeface="Calibri"/>
                <a:cs typeface="Calibri"/>
              </a:rPr>
              <a:t>graph</a:t>
            </a:r>
            <a:endParaRPr sz="2600">
              <a:latin typeface="Calibri"/>
              <a:cs typeface="Calibri"/>
            </a:endParaRPr>
          </a:p>
          <a:p>
            <a:pPr marL="625475" marR="327660" indent="-274320">
              <a:lnSpc>
                <a:spcPts val="2810"/>
              </a:lnSpc>
              <a:spcBef>
                <a:spcPts val="73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entire </a:t>
            </a:r>
            <a:r>
              <a:rPr dirty="0" sz="2600" spc="-15" b="1">
                <a:solidFill>
                  <a:srgbClr val="0070C0"/>
                </a:solidFill>
                <a:latin typeface="Calibri"/>
                <a:cs typeface="Calibri"/>
              </a:rPr>
              <a:t>graph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can </a:t>
            </a: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be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observed in all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dataset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splits,  </a:t>
            </a:r>
            <a:r>
              <a:rPr dirty="0" sz="2600" spc="-15" b="1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only split the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labels</a:t>
            </a:r>
            <a:endParaRPr sz="2600">
              <a:latin typeface="Calibri"/>
              <a:cs typeface="Calibri"/>
            </a:endParaRPr>
          </a:p>
          <a:p>
            <a:pPr marL="625475" indent="-274320">
              <a:lnSpc>
                <a:spcPts val="2920"/>
              </a:lnSpc>
              <a:spcBef>
                <a:spcPts val="22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Only applicable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node /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edge </a:t>
            </a:r>
            <a:r>
              <a:rPr dirty="0" sz="2600" spc="-5">
                <a:latin typeface="Calibri"/>
                <a:cs typeface="Calibri"/>
              </a:rPr>
              <a:t>prediction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tasks</a:t>
            </a:r>
            <a:endParaRPr sz="2600">
              <a:latin typeface="Calibri"/>
              <a:cs typeface="Calibri"/>
            </a:endParaRPr>
          </a:p>
          <a:p>
            <a:pPr marL="332740" marR="453390" indent="-320040">
              <a:lnSpc>
                <a:spcPts val="3290"/>
              </a:lnSpc>
              <a:spcBef>
                <a:spcPts val="16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Inductive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setting: </a:t>
            </a:r>
            <a:r>
              <a:rPr dirty="0" sz="3000" spc="-15">
                <a:latin typeface="Calibri"/>
                <a:cs typeface="Calibri"/>
              </a:rPr>
              <a:t>training </a:t>
            </a:r>
            <a:r>
              <a:rPr dirty="0" sz="3000">
                <a:latin typeface="Calibri"/>
                <a:cs typeface="Calibri"/>
              </a:rPr>
              <a:t>/ </a:t>
            </a:r>
            <a:r>
              <a:rPr dirty="0" sz="3000" spc="-15">
                <a:latin typeface="Calibri"/>
                <a:cs typeface="Calibri"/>
              </a:rPr>
              <a:t>validation </a:t>
            </a:r>
            <a:r>
              <a:rPr dirty="0" sz="3000">
                <a:latin typeface="Calibri"/>
                <a:cs typeface="Calibri"/>
              </a:rPr>
              <a:t>/ </a:t>
            </a:r>
            <a:r>
              <a:rPr dirty="0" sz="3000" spc="-25">
                <a:latin typeface="Calibri"/>
                <a:cs typeface="Calibri"/>
              </a:rPr>
              <a:t>test </a:t>
            </a:r>
            <a:r>
              <a:rPr dirty="0" sz="3000" spc="-10">
                <a:latin typeface="Calibri"/>
                <a:cs typeface="Calibri"/>
              </a:rPr>
              <a:t>sets  </a:t>
            </a:r>
            <a:r>
              <a:rPr dirty="0" sz="3000" spc="-15">
                <a:latin typeface="Calibri"/>
                <a:cs typeface="Calibri"/>
              </a:rPr>
              <a:t>are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on 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different</a:t>
            </a:r>
            <a:r>
              <a:rPr dirty="0" sz="30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4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dataset consists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multiple</a:t>
            </a:r>
            <a:r>
              <a:rPr dirty="0" sz="26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ts val="3000"/>
              </a:lnSpc>
              <a:spcBef>
                <a:spcPts val="28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Each </a:t>
            </a:r>
            <a:r>
              <a:rPr dirty="0" sz="2600" spc="-5">
                <a:latin typeface="Calibri"/>
                <a:cs typeface="Calibri"/>
              </a:rPr>
              <a:t>split </a:t>
            </a:r>
            <a:r>
              <a:rPr dirty="0" sz="2600" spc="-10">
                <a:latin typeface="Calibri"/>
                <a:cs typeface="Calibri"/>
              </a:rPr>
              <a:t>can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only observe the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graph(s)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within the</a:t>
            </a:r>
            <a:r>
              <a:rPr dirty="0" sz="2600" spc="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split</a:t>
            </a:r>
            <a:r>
              <a:rPr dirty="0" sz="2600" spc="-5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algn="ctr" marL="412750">
              <a:lnSpc>
                <a:spcPts val="3000"/>
              </a:lnSpc>
            </a:pP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10">
                <a:latin typeface="Calibri"/>
                <a:cs typeface="Calibri"/>
              </a:rPr>
              <a:t>successful </a:t>
            </a:r>
            <a:r>
              <a:rPr dirty="0" sz="2600" spc="-5">
                <a:latin typeface="Calibri"/>
                <a:cs typeface="Calibri"/>
              </a:rPr>
              <a:t>model should </a:t>
            </a: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generalize to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unseen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8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Applicable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node /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edge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r>
              <a:rPr dirty="0" sz="26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tasks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08050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079499"/>
            <a:ext cx="495681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25">
                <a:solidFill>
                  <a:srgbClr val="000000"/>
                </a:solidFill>
              </a:rPr>
              <a:t>Transductive </a:t>
            </a:r>
            <a:r>
              <a:rPr dirty="0" sz="2800" spc="-5" b="0">
                <a:solidFill>
                  <a:srgbClr val="000000"/>
                </a:solidFill>
                <a:latin typeface="Calibri"/>
                <a:cs typeface="Calibri"/>
              </a:rPr>
              <a:t>node</a:t>
            </a:r>
            <a:r>
              <a:rPr dirty="0" sz="2800" spc="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150" y="5146671"/>
            <a:ext cx="1449392" cy="12253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81215" y="5146668"/>
            <a:ext cx="1449392" cy="12253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89496" y="5146669"/>
            <a:ext cx="1449392" cy="12253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6236" y="4921377"/>
            <a:ext cx="1706245" cy="1706245"/>
          </a:xfrm>
          <a:custGeom>
            <a:avLst/>
            <a:gdLst/>
            <a:ahLst/>
            <a:cxnLst/>
            <a:rect l="l" t="t" r="r" b="b"/>
            <a:pathLst>
              <a:path w="1706245" h="1706245">
                <a:moveTo>
                  <a:pt x="0" y="852922"/>
                </a:moveTo>
                <a:lnTo>
                  <a:pt x="1350" y="804522"/>
                </a:lnTo>
                <a:lnTo>
                  <a:pt x="5352" y="756831"/>
                </a:lnTo>
                <a:lnTo>
                  <a:pt x="11935" y="709920"/>
                </a:lnTo>
                <a:lnTo>
                  <a:pt x="21026" y="663861"/>
                </a:lnTo>
                <a:lnTo>
                  <a:pt x="32554" y="618726"/>
                </a:lnTo>
                <a:lnTo>
                  <a:pt x="46446" y="574588"/>
                </a:lnTo>
                <a:lnTo>
                  <a:pt x="62631" y="531518"/>
                </a:lnTo>
                <a:lnTo>
                  <a:pt x="81035" y="489589"/>
                </a:lnTo>
                <a:lnTo>
                  <a:pt x="101588" y="448871"/>
                </a:lnTo>
                <a:lnTo>
                  <a:pt x="124218" y="409439"/>
                </a:lnTo>
                <a:lnTo>
                  <a:pt x="148852" y="371362"/>
                </a:lnTo>
                <a:lnTo>
                  <a:pt x="175418" y="334714"/>
                </a:lnTo>
                <a:lnTo>
                  <a:pt x="203844" y="299566"/>
                </a:lnTo>
                <a:lnTo>
                  <a:pt x="234059" y="265990"/>
                </a:lnTo>
                <a:lnTo>
                  <a:pt x="265990" y="234059"/>
                </a:lnTo>
                <a:lnTo>
                  <a:pt x="299566" y="203844"/>
                </a:lnTo>
                <a:lnTo>
                  <a:pt x="334714" y="175418"/>
                </a:lnTo>
                <a:lnTo>
                  <a:pt x="371362" y="148852"/>
                </a:lnTo>
                <a:lnTo>
                  <a:pt x="409439" y="124218"/>
                </a:lnTo>
                <a:lnTo>
                  <a:pt x="448871" y="101588"/>
                </a:lnTo>
                <a:lnTo>
                  <a:pt x="489589" y="81035"/>
                </a:lnTo>
                <a:lnTo>
                  <a:pt x="531518" y="62631"/>
                </a:lnTo>
                <a:lnTo>
                  <a:pt x="574588" y="46446"/>
                </a:lnTo>
                <a:lnTo>
                  <a:pt x="618726" y="32554"/>
                </a:lnTo>
                <a:lnTo>
                  <a:pt x="663861" y="21026"/>
                </a:lnTo>
                <a:lnTo>
                  <a:pt x="709920" y="11935"/>
                </a:lnTo>
                <a:lnTo>
                  <a:pt x="756831" y="5352"/>
                </a:lnTo>
                <a:lnTo>
                  <a:pt x="804522" y="1350"/>
                </a:lnTo>
                <a:lnTo>
                  <a:pt x="852922" y="0"/>
                </a:lnTo>
                <a:lnTo>
                  <a:pt x="901322" y="1350"/>
                </a:lnTo>
                <a:lnTo>
                  <a:pt x="949013" y="5352"/>
                </a:lnTo>
                <a:lnTo>
                  <a:pt x="995925" y="11935"/>
                </a:lnTo>
                <a:lnTo>
                  <a:pt x="1041983" y="21026"/>
                </a:lnTo>
                <a:lnTo>
                  <a:pt x="1087118" y="32554"/>
                </a:lnTo>
                <a:lnTo>
                  <a:pt x="1131256" y="46446"/>
                </a:lnTo>
                <a:lnTo>
                  <a:pt x="1174326" y="62631"/>
                </a:lnTo>
                <a:lnTo>
                  <a:pt x="1216256" y="81035"/>
                </a:lnTo>
                <a:lnTo>
                  <a:pt x="1256973" y="101588"/>
                </a:lnTo>
                <a:lnTo>
                  <a:pt x="1296406" y="124218"/>
                </a:lnTo>
                <a:lnTo>
                  <a:pt x="1334482" y="148852"/>
                </a:lnTo>
                <a:lnTo>
                  <a:pt x="1371130" y="175418"/>
                </a:lnTo>
                <a:lnTo>
                  <a:pt x="1406278" y="203844"/>
                </a:lnTo>
                <a:lnTo>
                  <a:pt x="1439854" y="234059"/>
                </a:lnTo>
                <a:lnTo>
                  <a:pt x="1471785" y="265990"/>
                </a:lnTo>
                <a:lnTo>
                  <a:pt x="1502000" y="299566"/>
                </a:lnTo>
                <a:lnTo>
                  <a:pt x="1530426" y="334714"/>
                </a:lnTo>
                <a:lnTo>
                  <a:pt x="1556992" y="371362"/>
                </a:lnTo>
                <a:lnTo>
                  <a:pt x="1581626" y="409439"/>
                </a:lnTo>
                <a:lnTo>
                  <a:pt x="1604256" y="448871"/>
                </a:lnTo>
                <a:lnTo>
                  <a:pt x="1624809" y="489589"/>
                </a:lnTo>
                <a:lnTo>
                  <a:pt x="1643214" y="531518"/>
                </a:lnTo>
                <a:lnTo>
                  <a:pt x="1659398" y="574588"/>
                </a:lnTo>
                <a:lnTo>
                  <a:pt x="1673290" y="618726"/>
                </a:lnTo>
                <a:lnTo>
                  <a:pt x="1684818" y="663861"/>
                </a:lnTo>
                <a:lnTo>
                  <a:pt x="1693909" y="709920"/>
                </a:lnTo>
                <a:lnTo>
                  <a:pt x="1700492" y="756831"/>
                </a:lnTo>
                <a:lnTo>
                  <a:pt x="1704494" y="804522"/>
                </a:lnTo>
                <a:lnTo>
                  <a:pt x="1705845" y="852922"/>
                </a:lnTo>
                <a:lnTo>
                  <a:pt x="1704494" y="901322"/>
                </a:lnTo>
                <a:lnTo>
                  <a:pt x="1700492" y="949013"/>
                </a:lnTo>
                <a:lnTo>
                  <a:pt x="1693909" y="995925"/>
                </a:lnTo>
                <a:lnTo>
                  <a:pt x="1684818" y="1041983"/>
                </a:lnTo>
                <a:lnTo>
                  <a:pt x="1673290" y="1087118"/>
                </a:lnTo>
                <a:lnTo>
                  <a:pt x="1659398" y="1131256"/>
                </a:lnTo>
                <a:lnTo>
                  <a:pt x="1643214" y="1174326"/>
                </a:lnTo>
                <a:lnTo>
                  <a:pt x="1624809" y="1216256"/>
                </a:lnTo>
                <a:lnTo>
                  <a:pt x="1604256" y="1256973"/>
                </a:lnTo>
                <a:lnTo>
                  <a:pt x="1581626" y="1296406"/>
                </a:lnTo>
                <a:lnTo>
                  <a:pt x="1556992" y="1334482"/>
                </a:lnTo>
                <a:lnTo>
                  <a:pt x="1530426" y="1371130"/>
                </a:lnTo>
                <a:lnTo>
                  <a:pt x="1502000" y="1406278"/>
                </a:lnTo>
                <a:lnTo>
                  <a:pt x="1471785" y="1439854"/>
                </a:lnTo>
                <a:lnTo>
                  <a:pt x="1439854" y="1471785"/>
                </a:lnTo>
                <a:lnTo>
                  <a:pt x="1406278" y="1502000"/>
                </a:lnTo>
                <a:lnTo>
                  <a:pt x="1371130" y="1530426"/>
                </a:lnTo>
                <a:lnTo>
                  <a:pt x="1334482" y="1556992"/>
                </a:lnTo>
                <a:lnTo>
                  <a:pt x="1296406" y="1581626"/>
                </a:lnTo>
                <a:lnTo>
                  <a:pt x="1256973" y="1604256"/>
                </a:lnTo>
                <a:lnTo>
                  <a:pt x="1216256" y="1624809"/>
                </a:lnTo>
                <a:lnTo>
                  <a:pt x="1174326" y="1643214"/>
                </a:lnTo>
                <a:lnTo>
                  <a:pt x="1131256" y="1659398"/>
                </a:lnTo>
                <a:lnTo>
                  <a:pt x="1087118" y="1673290"/>
                </a:lnTo>
                <a:lnTo>
                  <a:pt x="1041983" y="1684818"/>
                </a:lnTo>
                <a:lnTo>
                  <a:pt x="995925" y="1693909"/>
                </a:lnTo>
                <a:lnTo>
                  <a:pt x="949013" y="1700492"/>
                </a:lnTo>
                <a:lnTo>
                  <a:pt x="901322" y="1704494"/>
                </a:lnTo>
                <a:lnTo>
                  <a:pt x="852922" y="1705845"/>
                </a:lnTo>
                <a:lnTo>
                  <a:pt x="804522" y="1704494"/>
                </a:lnTo>
                <a:lnTo>
                  <a:pt x="756831" y="1700492"/>
                </a:lnTo>
                <a:lnTo>
                  <a:pt x="709920" y="1693909"/>
                </a:lnTo>
                <a:lnTo>
                  <a:pt x="663861" y="1684818"/>
                </a:lnTo>
                <a:lnTo>
                  <a:pt x="618726" y="1673290"/>
                </a:lnTo>
                <a:lnTo>
                  <a:pt x="574588" y="1659398"/>
                </a:lnTo>
                <a:lnTo>
                  <a:pt x="531518" y="1643214"/>
                </a:lnTo>
                <a:lnTo>
                  <a:pt x="489589" y="1624809"/>
                </a:lnTo>
                <a:lnTo>
                  <a:pt x="448871" y="1604256"/>
                </a:lnTo>
                <a:lnTo>
                  <a:pt x="409439" y="1581626"/>
                </a:lnTo>
                <a:lnTo>
                  <a:pt x="371362" y="1556992"/>
                </a:lnTo>
                <a:lnTo>
                  <a:pt x="334714" y="1530426"/>
                </a:lnTo>
                <a:lnTo>
                  <a:pt x="299566" y="1502000"/>
                </a:lnTo>
                <a:lnTo>
                  <a:pt x="265990" y="1471785"/>
                </a:lnTo>
                <a:lnTo>
                  <a:pt x="234059" y="1439854"/>
                </a:lnTo>
                <a:lnTo>
                  <a:pt x="203844" y="1406278"/>
                </a:lnTo>
                <a:lnTo>
                  <a:pt x="175418" y="1371130"/>
                </a:lnTo>
                <a:lnTo>
                  <a:pt x="148852" y="1334482"/>
                </a:lnTo>
                <a:lnTo>
                  <a:pt x="124218" y="1296406"/>
                </a:lnTo>
                <a:lnTo>
                  <a:pt x="101588" y="1256973"/>
                </a:lnTo>
                <a:lnTo>
                  <a:pt x="81035" y="1216256"/>
                </a:lnTo>
                <a:lnTo>
                  <a:pt x="62631" y="1174326"/>
                </a:lnTo>
                <a:lnTo>
                  <a:pt x="46446" y="1131256"/>
                </a:lnTo>
                <a:lnTo>
                  <a:pt x="32554" y="1087118"/>
                </a:lnTo>
                <a:lnTo>
                  <a:pt x="21026" y="1041983"/>
                </a:lnTo>
                <a:lnTo>
                  <a:pt x="11935" y="995925"/>
                </a:lnTo>
                <a:lnTo>
                  <a:pt x="5352" y="949013"/>
                </a:lnTo>
                <a:lnTo>
                  <a:pt x="1350" y="901322"/>
                </a:lnTo>
                <a:lnTo>
                  <a:pt x="0" y="852922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10306" y="4906429"/>
            <a:ext cx="1706245" cy="1706245"/>
          </a:xfrm>
          <a:custGeom>
            <a:avLst/>
            <a:gdLst/>
            <a:ahLst/>
            <a:cxnLst/>
            <a:rect l="l" t="t" r="r" b="b"/>
            <a:pathLst>
              <a:path w="1706245" h="1706245">
                <a:moveTo>
                  <a:pt x="0" y="852922"/>
                </a:moveTo>
                <a:lnTo>
                  <a:pt x="1350" y="804522"/>
                </a:lnTo>
                <a:lnTo>
                  <a:pt x="5352" y="756831"/>
                </a:lnTo>
                <a:lnTo>
                  <a:pt x="11935" y="709920"/>
                </a:lnTo>
                <a:lnTo>
                  <a:pt x="21026" y="663861"/>
                </a:lnTo>
                <a:lnTo>
                  <a:pt x="32554" y="618726"/>
                </a:lnTo>
                <a:lnTo>
                  <a:pt x="46446" y="574588"/>
                </a:lnTo>
                <a:lnTo>
                  <a:pt x="62631" y="531518"/>
                </a:lnTo>
                <a:lnTo>
                  <a:pt x="81035" y="489589"/>
                </a:lnTo>
                <a:lnTo>
                  <a:pt x="101588" y="448871"/>
                </a:lnTo>
                <a:lnTo>
                  <a:pt x="124218" y="409439"/>
                </a:lnTo>
                <a:lnTo>
                  <a:pt x="148852" y="371362"/>
                </a:lnTo>
                <a:lnTo>
                  <a:pt x="175418" y="334714"/>
                </a:lnTo>
                <a:lnTo>
                  <a:pt x="203844" y="299566"/>
                </a:lnTo>
                <a:lnTo>
                  <a:pt x="234059" y="265990"/>
                </a:lnTo>
                <a:lnTo>
                  <a:pt x="265990" y="234059"/>
                </a:lnTo>
                <a:lnTo>
                  <a:pt x="299566" y="203844"/>
                </a:lnTo>
                <a:lnTo>
                  <a:pt x="334714" y="175418"/>
                </a:lnTo>
                <a:lnTo>
                  <a:pt x="371362" y="148852"/>
                </a:lnTo>
                <a:lnTo>
                  <a:pt x="409439" y="124218"/>
                </a:lnTo>
                <a:lnTo>
                  <a:pt x="448871" y="101588"/>
                </a:lnTo>
                <a:lnTo>
                  <a:pt x="489589" y="81035"/>
                </a:lnTo>
                <a:lnTo>
                  <a:pt x="531518" y="62631"/>
                </a:lnTo>
                <a:lnTo>
                  <a:pt x="574588" y="46446"/>
                </a:lnTo>
                <a:lnTo>
                  <a:pt x="618726" y="32554"/>
                </a:lnTo>
                <a:lnTo>
                  <a:pt x="663861" y="21026"/>
                </a:lnTo>
                <a:lnTo>
                  <a:pt x="709920" y="11935"/>
                </a:lnTo>
                <a:lnTo>
                  <a:pt x="756831" y="5352"/>
                </a:lnTo>
                <a:lnTo>
                  <a:pt x="804522" y="1350"/>
                </a:lnTo>
                <a:lnTo>
                  <a:pt x="852922" y="0"/>
                </a:lnTo>
                <a:lnTo>
                  <a:pt x="901322" y="1350"/>
                </a:lnTo>
                <a:lnTo>
                  <a:pt x="949013" y="5352"/>
                </a:lnTo>
                <a:lnTo>
                  <a:pt x="995925" y="11935"/>
                </a:lnTo>
                <a:lnTo>
                  <a:pt x="1041983" y="21026"/>
                </a:lnTo>
                <a:lnTo>
                  <a:pt x="1087118" y="32554"/>
                </a:lnTo>
                <a:lnTo>
                  <a:pt x="1131256" y="46446"/>
                </a:lnTo>
                <a:lnTo>
                  <a:pt x="1174326" y="62631"/>
                </a:lnTo>
                <a:lnTo>
                  <a:pt x="1216256" y="81035"/>
                </a:lnTo>
                <a:lnTo>
                  <a:pt x="1256973" y="101588"/>
                </a:lnTo>
                <a:lnTo>
                  <a:pt x="1296406" y="124218"/>
                </a:lnTo>
                <a:lnTo>
                  <a:pt x="1334482" y="148852"/>
                </a:lnTo>
                <a:lnTo>
                  <a:pt x="1371130" y="175418"/>
                </a:lnTo>
                <a:lnTo>
                  <a:pt x="1406278" y="203844"/>
                </a:lnTo>
                <a:lnTo>
                  <a:pt x="1439854" y="234059"/>
                </a:lnTo>
                <a:lnTo>
                  <a:pt x="1471785" y="265990"/>
                </a:lnTo>
                <a:lnTo>
                  <a:pt x="1502000" y="299566"/>
                </a:lnTo>
                <a:lnTo>
                  <a:pt x="1530426" y="334714"/>
                </a:lnTo>
                <a:lnTo>
                  <a:pt x="1556992" y="371362"/>
                </a:lnTo>
                <a:lnTo>
                  <a:pt x="1581626" y="409439"/>
                </a:lnTo>
                <a:lnTo>
                  <a:pt x="1604256" y="448871"/>
                </a:lnTo>
                <a:lnTo>
                  <a:pt x="1624809" y="489589"/>
                </a:lnTo>
                <a:lnTo>
                  <a:pt x="1643214" y="531518"/>
                </a:lnTo>
                <a:lnTo>
                  <a:pt x="1659398" y="574588"/>
                </a:lnTo>
                <a:lnTo>
                  <a:pt x="1673290" y="618726"/>
                </a:lnTo>
                <a:lnTo>
                  <a:pt x="1684818" y="663861"/>
                </a:lnTo>
                <a:lnTo>
                  <a:pt x="1693909" y="709920"/>
                </a:lnTo>
                <a:lnTo>
                  <a:pt x="1700492" y="756831"/>
                </a:lnTo>
                <a:lnTo>
                  <a:pt x="1704494" y="804522"/>
                </a:lnTo>
                <a:lnTo>
                  <a:pt x="1705845" y="852922"/>
                </a:lnTo>
                <a:lnTo>
                  <a:pt x="1704494" y="901322"/>
                </a:lnTo>
                <a:lnTo>
                  <a:pt x="1700492" y="949013"/>
                </a:lnTo>
                <a:lnTo>
                  <a:pt x="1693909" y="995925"/>
                </a:lnTo>
                <a:lnTo>
                  <a:pt x="1684818" y="1041983"/>
                </a:lnTo>
                <a:lnTo>
                  <a:pt x="1673290" y="1087118"/>
                </a:lnTo>
                <a:lnTo>
                  <a:pt x="1659398" y="1131256"/>
                </a:lnTo>
                <a:lnTo>
                  <a:pt x="1643214" y="1174326"/>
                </a:lnTo>
                <a:lnTo>
                  <a:pt x="1624809" y="1216256"/>
                </a:lnTo>
                <a:lnTo>
                  <a:pt x="1604256" y="1256973"/>
                </a:lnTo>
                <a:lnTo>
                  <a:pt x="1581626" y="1296406"/>
                </a:lnTo>
                <a:lnTo>
                  <a:pt x="1556992" y="1334482"/>
                </a:lnTo>
                <a:lnTo>
                  <a:pt x="1530426" y="1371130"/>
                </a:lnTo>
                <a:lnTo>
                  <a:pt x="1502000" y="1406278"/>
                </a:lnTo>
                <a:lnTo>
                  <a:pt x="1471785" y="1439854"/>
                </a:lnTo>
                <a:lnTo>
                  <a:pt x="1439854" y="1471785"/>
                </a:lnTo>
                <a:lnTo>
                  <a:pt x="1406278" y="1502000"/>
                </a:lnTo>
                <a:lnTo>
                  <a:pt x="1371130" y="1530426"/>
                </a:lnTo>
                <a:lnTo>
                  <a:pt x="1334482" y="1556992"/>
                </a:lnTo>
                <a:lnTo>
                  <a:pt x="1296406" y="1581626"/>
                </a:lnTo>
                <a:lnTo>
                  <a:pt x="1256973" y="1604256"/>
                </a:lnTo>
                <a:lnTo>
                  <a:pt x="1216256" y="1624809"/>
                </a:lnTo>
                <a:lnTo>
                  <a:pt x="1174326" y="1643214"/>
                </a:lnTo>
                <a:lnTo>
                  <a:pt x="1131256" y="1659398"/>
                </a:lnTo>
                <a:lnTo>
                  <a:pt x="1087118" y="1673290"/>
                </a:lnTo>
                <a:lnTo>
                  <a:pt x="1041983" y="1684818"/>
                </a:lnTo>
                <a:lnTo>
                  <a:pt x="995925" y="1693909"/>
                </a:lnTo>
                <a:lnTo>
                  <a:pt x="949013" y="1700492"/>
                </a:lnTo>
                <a:lnTo>
                  <a:pt x="901322" y="1704494"/>
                </a:lnTo>
                <a:lnTo>
                  <a:pt x="852922" y="1705845"/>
                </a:lnTo>
                <a:lnTo>
                  <a:pt x="804522" y="1704494"/>
                </a:lnTo>
                <a:lnTo>
                  <a:pt x="756831" y="1700492"/>
                </a:lnTo>
                <a:lnTo>
                  <a:pt x="709920" y="1693909"/>
                </a:lnTo>
                <a:lnTo>
                  <a:pt x="663861" y="1684818"/>
                </a:lnTo>
                <a:lnTo>
                  <a:pt x="618726" y="1673290"/>
                </a:lnTo>
                <a:lnTo>
                  <a:pt x="574588" y="1659398"/>
                </a:lnTo>
                <a:lnTo>
                  <a:pt x="531518" y="1643214"/>
                </a:lnTo>
                <a:lnTo>
                  <a:pt x="489589" y="1624809"/>
                </a:lnTo>
                <a:lnTo>
                  <a:pt x="448871" y="1604256"/>
                </a:lnTo>
                <a:lnTo>
                  <a:pt x="409439" y="1581626"/>
                </a:lnTo>
                <a:lnTo>
                  <a:pt x="371362" y="1556992"/>
                </a:lnTo>
                <a:lnTo>
                  <a:pt x="334714" y="1530426"/>
                </a:lnTo>
                <a:lnTo>
                  <a:pt x="299566" y="1502000"/>
                </a:lnTo>
                <a:lnTo>
                  <a:pt x="265990" y="1471785"/>
                </a:lnTo>
                <a:lnTo>
                  <a:pt x="234059" y="1439854"/>
                </a:lnTo>
                <a:lnTo>
                  <a:pt x="203844" y="1406278"/>
                </a:lnTo>
                <a:lnTo>
                  <a:pt x="175418" y="1371130"/>
                </a:lnTo>
                <a:lnTo>
                  <a:pt x="148852" y="1334482"/>
                </a:lnTo>
                <a:lnTo>
                  <a:pt x="124218" y="1296406"/>
                </a:lnTo>
                <a:lnTo>
                  <a:pt x="101588" y="1256973"/>
                </a:lnTo>
                <a:lnTo>
                  <a:pt x="81035" y="1216256"/>
                </a:lnTo>
                <a:lnTo>
                  <a:pt x="62631" y="1174326"/>
                </a:lnTo>
                <a:lnTo>
                  <a:pt x="46446" y="1131256"/>
                </a:lnTo>
                <a:lnTo>
                  <a:pt x="32554" y="1087118"/>
                </a:lnTo>
                <a:lnTo>
                  <a:pt x="21026" y="1041983"/>
                </a:lnTo>
                <a:lnTo>
                  <a:pt x="11935" y="995925"/>
                </a:lnTo>
                <a:lnTo>
                  <a:pt x="5352" y="949013"/>
                </a:lnTo>
                <a:lnTo>
                  <a:pt x="1350" y="901322"/>
                </a:lnTo>
                <a:lnTo>
                  <a:pt x="0" y="852922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04375" y="4891481"/>
            <a:ext cx="1706245" cy="1706245"/>
          </a:xfrm>
          <a:custGeom>
            <a:avLst/>
            <a:gdLst/>
            <a:ahLst/>
            <a:cxnLst/>
            <a:rect l="l" t="t" r="r" b="b"/>
            <a:pathLst>
              <a:path w="1706245" h="1706245">
                <a:moveTo>
                  <a:pt x="0" y="852922"/>
                </a:moveTo>
                <a:lnTo>
                  <a:pt x="1350" y="804522"/>
                </a:lnTo>
                <a:lnTo>
                  <a:pt x="5352" y="756831"/>
                </a:lnTo>
                <a:lnTo>
                  <a:pt x="11935" y="709920"/>
                </a:lnTo>
                <a:lnTo>
                  <a:pt x="21026" y="663861"/>
                </a:lnTo>
                <a:lnTo>
                  <a:pt x="32554" y="618726"/>
                </a:lnTo>
                <a:lnTo>
                  <a:pt x="46446" y="574588"/>
                </a:lnTo>
                <a:lnTo>
                  <a:pt x="62631" y="531518"/>
                </a:lnTo>
                <a:lnTo>
                  <a:pt x="81035" y="489589"/>
                </a:lnTo>
                <a:lnTo>
                  <a:pt x="101588" y="448871"/>
                </a:lnTo>
                <a:lnTo>
                  <a:pt x="124218" y="409439"/>
                </a:lnTo>
                <a:lnTo>
                  <a:pt x="148852" y="371362"/>
                </a:lnTo>
                <a:lnTo>
                  <a:pt x="175418" y="334714"/>
                </a:lnTo>
                <a:lnTo>
                  <a:pt x="203844" y="299566"/>
                </a:lnTo>
                <a:lnTo>
                  <a:pt x="234059" y="265990"/>
                </a:lnTo>
                <a:lnTo>
                  <a:pt x="265990" y="234059"/>
                </a:lnTo>
                <a:lnTo>
                  <a:pt x="299566" y="203844"/>
                </a:lnTo>
                <a:lnTo>
                  <a:pt x="334714" y="175418"/>
                </a:lnTo>
                <a:lnTo>
                  <a:pt x="371362" y="148852"/>
                </a:lnTo>
                <a:lnTo>
                  <a:pt x="409439" y="124218"/>
                </a:lnTo>
                <a:lnTo>
                  <a:pt x="448871" y="101588"/>
                </a:lnTo>
                <a:lnTo>
                  <a:pt x="489589" y="81035"/>
                </a:lnTo>
                <a:lnTo>
                  <a:pt x="531518" y="62631"/>
                </a:lnTo>
                <a:lnTo>
                  <a:pt x="574588" y="46446"/>
                </a:lnTo>
                <a:lnTo>
                  <a:pt x="618726" y="32554"/>
                </a:lnTo>
                <a:lnTo>
                  <a:pt x="663861" y="21026"/>
                </a:lnTo>
                <a:lnTo>
                  <a:pt x="709920" y="11935"/>
                </a:lnTo>
                <a:lnTo>
                  <a:pt x="756831" y="5352"/>
                </a:lnTo>
                <a:lnTo>
                  <a:pt x="804522" y="1350"/>
                </a:lnTo>
                <a:lnTo>
                  <a:pt x="852922" y="0"/>
                </a:lnTo>
                <a:lnTo>
                  <a:pt x="901322" y="1350"/>
                </a:lnTo>
                <a:lnTo>
                  <a:pt x="949013" y="5352"/>
                </a:lnTo>
                <a:lnTo>
                  <a:pt x="995925" y="11935"/>
                </a:lnTo>
                <a:lnTo>
                  <a:pt x="1041983" y="21026"/>
                </a:lnTo>
                <a:lnTo>
                  <a:pt x="1087118" y="32554"/>
                </a:lnTo>
                <a:lnTo>
                  <a:pt x="1131256" y="46446"/>
                </a:lnTo>
                <a:lnTo>
                  <a:pt x="1174326" y="62631"/>
                </a:lnTo>
                <a:lnTo>
                  <a:pt x="1216256" y="81035"/>
                </a:lnTo>
                <a:lnTo>
                  <a:pt x="1256973" y="101588"/>
                </a:lnTo>
                <a:lnTo>
                  <a:pt x="1296406" y="124218"/>
                </a:lnTo>
                <a:lnTo>
                  <a:pt x="1334482" y="148852"/>
                </a:lnTo>
                <a:lnTo>
                  <a:pt x="1371130" y="175418"/>
                </a:lnTo>
                <a:lnTo>
                  <a:pt x="1406278" y="203844"/>
                </a:lnTo>
                <a:lnTo>
                  <a:pt x="1439854" y="234059"/>
                </a:lnTo>
                <a:lnTo>
                  <a:pt x="1471785" y="265990"/>
                </a:lnTo>
                <a:lnTo>
                  <a:pt x="1502000" y="299566"/>
                </a:lnTo>
                <a:lnTo>
                  <a:pt x="1530426" y="334714"/>
                </a:lnTo>
                <a:lnTo>
                  <a:pt x="1556992" y="371362"/>
                </a:lnTo>
                <a:lnTo>
                  <a:pt x="1581626" y="409439"/>
                </a:lnTo>
                <a:lnTo>
                  <a:pt x="1604256" y="448871"/>
                </a:lnTo>
                <a:lnTo>
                  <a:pt x="1624809" y="489589"/>
                </a:lnTo>
                <a:lnTo>
                  <a:pt x="1643214" y="531518"/>
                </a:lnTo>
                <a:lnTo>
                  <a:pt x="1659398" y="574588"/>
                </a:lnTo>
                <a:lnTo>
                  <a:pt x="1673290" y="618726"/>
                </a:lnTo>
                <a:lnTo>
                  <a:pt x="1684818" y="663861"/>
                </a:lnTo>
                <a:lnTo>
                  <a:pt x="1693909" y="709920"/>
                </a:lnTo>
                <a:lnTo>
                  <a:pt x="1700492" y="756831"/>
                </a:lnTo>
                <a:lnTo>
                  <a:pt x="1704494" y="804522"/>
                </a:lnTo>
                <a:lnTo>
                  <a:pt x="1705845" y="852922"/>
                </a:lnTo>
                <a:lnTo>
                  <a:pt x="1704494" y="901322"/>
                </a:lnTo>
                <a:lnTo>
                  <a:pt x="1700492" y="949013"/>
                </a:lnTo>
                <a:lnTo>
                  <a:pt x="1693909" y="995925"/>
                </a:lnTo>
                <a:lnTo>
                  <a:pt x="1684818" y="1041983"/>
                </a:lnTo>
                <a:lnTo>
                  <a:pt x="1673290" y="1087118"/>
                </a:lnTo>
                <a:lnTo>
                  <a:pt x="1659398" y="1131256"/>
                </a:lnTo>
                <a:lnTo>
                  <a:pt x="1643214" y="1174326"/>
                </a:lnTo>
                <a:lnTo>
                  <a:pt x="1624809" y="1216256"/>
                </a:lnTo>
                <a:lnTo>
                  <a:pt x="1604256" y="1256973"/>
                </a:lnTo>
                <a:lnTo>
                  <a:pt x="1581626" y="1296406"/>
                </a:lnTo>
                <a:lnTo>
                  <a:pt x="1556992" y="1334482"/>
                </a:lnTo>
                <a:lnTo>
                  <a:pt x="1530426" y="1371130"/>
                </a:lnTo>
                <a:lnTo>
                  <a:pt x="1502000" y="1406278"/>
                </a:lnTo>
                <a:lnTo>
                  <a:pt x="1471785" y="1439854"/>
                </a:lnTo>
                <a:lnTo>
                  <a:pt x="1439854" y="1471785"/>
                </a:lnTo>
                <a:lnTo>
                  <a:pt x="1406278" y="1502000"/>
                </a:lnTo>
                <a:lnTo>
                  <a:pt x="1371130" y="1530426"/>
                </a:lnTo>
                <a:lnTo>
                  <a:pt x="1334482" y="1556992"/>
                </a:lnTo>
                <a:lnTo>
                  <a:pt x="1296406" y="1581626"/>
                </a:lnTo>
                <a:lnTo>
                  <a:pt x="1256973" y="1604256"/>
                </a:lnTo>
                <a:lnTo>
                  <a:pt x="1216256" y="1624809"/>
                </a:lnTo>
                <a:lnTo>
                  <a:pt x="1174326" y="1643214"/>
                </a:lnTo>
                <a:lnTo>
                  <a:pt x="1131256" y="1659398"/>
                </a:lnTo>
                <a:lnTo>
                  <a:pt x="1087118" y="1673290"/>
                </a:lnTo>
                <a:lnTo>
                  <a:pt x="1041983" y="1684818"/>
                </a:lnTo>
                <a:lnTo>
                  <a:pt x="995925" y="1693909"/>
                </a:lnTo>
                <a:lnTo>
                  <a:pt x="949013" y="1700492"/>
                </a:lnTo>
                <a:lnTo>
                  <a:pt x="901322" y="1704494"/>
                </a:lnTo>
                <a:lnTo>
                  <a:pt x="852922" y="1705845"/>
                </a:lnTo>
                <a:lnTo>
                  <a:pt x="804522" y="1704494"/>
                </a:lnTo>
                <a:lnTo>
                  <a:pt x="756831" y="1700492"/>
                </a:lnTo>
                <a:lnTo>
                  <a:pt x="709920" y="1693909"/>
                </a:lnTo>
                <a:lnTo>
                  <a:pt x="663861" y="1684818"/>
                </a:lnTo>
                <a:lnTo>
                  <a:pt x="618726" y="1673290"/>
                </a:lnTo>
                <a:lnTo>
                  <a:pt x="574588" y="1659398"/>
                </a:lnTo>
                <a:lnTo>
                  <a:pt x="531518" y="1643214"/>
                </a:lnTo>
                <a:lnTo>
                  <a:pt x="489589" y="1624809"/>
                </a:lnTo>
                <a:lnTo>
                  <a:pt x="448871" y="1604256"/>
                </a:lnTo>
                <a:lnTo>
                  <a:pt x="409439" y="1581626"/>
                </a:lnTo>
                <a:lnTo>
                  <a:pt x="371362" y="1556992"/>
                </a:lnTo>
                <a:lnTo>
                  <a:pt x="334714" y="1530426"/>
                </a:lnTo>
                <a:lnTo>
                  <a:pt x="299566" y="1502000"/>
                </a:lnTo>
                <a:lnTo>
                  <a:pt x="265990" y="1471785"/>
                </a:lnTo>
                <a:lnTo>
                  <a:pt x="234059" y="1439854"/>
                </a:lnTo>
                <a:lnTo>
                  <a:pt x="203844" y="1406278"/>
                </a:lnTo>
                <a:lnTo>
                  <a:pt x="175418" y="1371130"/>
                </a:lnTo>
                <a:lnTo>
                  <a:pt x="148852" y="1334482"/>
                </a:lnTo>
                <a:lnTo>
                  <a:pt x="124218" y="1296406"/>
                </a:lnTo>
                <a:lnTo>
                  <a:pt x="101588" y="1256973"/>
                </a:lnTo>
                <a:lnTo>
                  <a:pt x="81035" y="1216256"/>
                </a:lnTo>
                <a:lnTo>
                  <a:pt x="62631" y="1174326"/>
                </a:lnTo>
                <a:lnTo>
                  <a:pt x="46446" y="1131256"/>
                </a:lnTo>
                <a:lnTo>
                  <a:pt x="32554" y="1087118"/>
                </a:lnTo>
                <a:lnTo>
                  <a:pt x="21026" y="1041983"/>
                </a:lnTo>
                <a:lnTo>
                  <a:pt x="11935" y="995925"/>
                </a:lnTo>
                <a:lnTo>
                  <a:pt x="5352" y="949013"/>
                </a:lnTo>
                <a:lnTo>
                  <a:pt x="1350" y="901322"/>
                </a:lnTo>
                <a:lnTo>
                  <a:pt x="0" y="852922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82622" y="2453820"/>
            <a:ext cx="1449392" cy="12253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37004" y="2354912"/>
            <a:ext cx="757555" cy="1169035"/>
          </a:xfrm>
          <a:custGeom>
            <a:avLst/>
            <a:gdLst/>
            <a:ahLst/>
            <a:cxnLst/>
            <a:rect l="l" t="t" r="r" b="b"/>
            <a:pathLst>
              <a:path w="757554" h="1169035">
                <a:moveTo>
                  <a:pt x="56892" y="696716"/>
                </a:moveTo>
                <a:lnTo>
                  <a:pt x="38101" y="637495"/>
                </a:lnTo>
                <a:lnTo>
                  <a:pt x="23115" y="578848"/>
                </a:lnTo>
                <a:lnTo>
                  <a:pt x="11873" y="521117"/>
                </a:lnTo>
                <a:lnTo>
                  <a:pt x="4314" y="464650"/>
                </a:lnTo>
                <a:lnTo>
                  <a:pt x="376" y="409789"/>
                </a:lnTo>
                <a:lnTo>
                  <a:pt x="0" y="356880"/>
                </a:lnTo>
                <a:lnTo>
                  <a:pt x="3122" y="306267"/>
                </a:lnTo>
                <a:lnTo>
                  <a:pt x="9682" y="258295"/>
                </a:lnTo>
                <a:lnTo>
                  <a:pt x="19620" y="213309"/>
                </a:lnTo>
                <a:lnTo>
                  <a:pt x="32873" y="171653"/>
                </a:lnTo>
                <a:lnTo>
                  <a:pt x="49381" y="133673"/>
                </a:lnTo>
                <a:lnTo>
                  <a:pt x="69082" y="99712"/>
                </a:lnTo>
                <a:lnTo>
                  <a:pt x="117821" y="45229"/>
                </a:lnTo>
                <a:lnTo>
                  <a:pt x="178599" y="10962"/>
                </a:lnTo>
                <a:lnTo>
                  <a:pt x="247504" y="0"/>
                </a:lnTo>
                <a:lnTo>
                  <a:pt x="283267" y="3379"/>
                </a:lnTo>
                <a:lnTo>
                  <a:pt x="356102" y="26698"/>
                </a:lnTo>
                <a:lnTo>
                  <a:pt x="392649" y="46174"/>
                </a:lnTo>
                <a:lnTo>
                  <a:pt x="428933" y="70553"/>
                </a:lnTo>
                <a:lnTo>
                  <a:pt x="464692" y="99601"/>
                </a:lnTo>
                <a:lnTo>
                  <a:pt x="499662" y="133088"/>
                </a:lnTo>
                <a:lnTo>
                  <a:pt x="533583" y="170782"/>
                </a:lnTo>
                <a:lnTo>
                  <a:pt x="566192" y="212449"/>
                </a:lnTo>
                <a:lnTo>
                  <a:pt x="597226" y="257860"/>
                </a:lnTo>
                <a:lnTo>
                  <a:pt x="626424" y="306781"/>
                </a:lnTo>
                <a:lnTo>
                  <a:pt x="653522" y="358981"/>
                </a:lnTo>
                <a:lnTo>
                  <a:pt x="678259" y="414227"/>
                </a:lnTo>
                <a:lnTo>
                  <a:pt x="700372" y="472289"/>
                </a:lnTo>
                <a:lnTo>
                  <a:pt x="719163" y="531510"/>
                </a:lnTo>
                <a:lnTo>
                  <a:pt x="734149" y="590157"/>
                </a:lnTo>
                <a:lnTo>
                  <a:pt x="745391" y="647887"/>
                </a:lnTo>
                <a:lnTo>
                  <a:pt x="752950" y="704355"/>
                </a:lnTo>
                <a:lnTo>
                  <a:pt x="756888" y="759216"/>
                </a:lnTo>
                <a:lnTo>
                  <a:pt x="757265" y="812125"/>
                </a:lnTo>
                <a:lnTo>
                  <a:pt x="754142" y="862738"/>
                </a:lnTo>
                <a:lnTo>
                  <a:pt x="747582" y="910710"/>
                </a:lnTo>
                <a:lnTo>
                  <a:pt x="737644" y="955696"/>
                </a:lnTo>
                <a:lnTo>
                  <a:pt x="724391" y="997352"/>
                </a:lnTo>
                <a:lnTo>
                  <a:pt x="707883" y="1035332"/>
                </a:lnTo>
                <a:lnTo>
                  <a:pt x="688182" y="1069293"/>
                </a:lnTo>
                <a:lnTo>
                  <a:pt x="639444" y="1123776"/>
                </a:lnTo>
                <a:lnTo>
                  <a:pt x="578666" y="1158043"/>
                </a:lnTo>
                <a:lnTo>
                  <a:pt x="509760" y="1169005"/>
                </a:lnTo>
                <a:lnTo>
                  <a:pt x="473997" y="1165626"/>
                </a:lnTo>
                <a:lnTo>
                  <a:pt x="401162" y="1142307"/>
                </a:lnTo>
                <a:lnTo>
                  <a:pt x="364615" y="1122831"/>
                </a:lnTo>
                <a:lnTo>
                  <a:pt x="328331" y="1098452"/>
                </a:lnTo>
                <a:lnTo>
                  <a:pt x="292573" y="1069403"/>
                </a:lnTo>
                <a:lnTo>
                  <a:pt x="257602" y="1035917"/>
                </a:lnTo>
                <a:lnTo>
                  <a:pt x="223681" y="998223"/>
                </a:lnTo>
                <a:lnTo>
                  <a:pt x="191072" y="956556"/>
                </a:lnTo>
                <a:lnTo>
                  <a:pt x="160038" y="911145"/>
                </a:lnTo>
                <a:lnTo>
                  <a:pt x="130841" y="862224"/>
                </a:lnTo>
                <a:lnTo>
                  <a:pt x="103742" y="810024"/>
                </a:lnTo>
                <a:lnTo>
                  <a:pt x="79005" y="754778"/>
                </a:lnTo>
                <a:lnTo>
                  <a:pt x="56892" y="696716"/>
                </a:lnTo>
                <a:close/>
              </a:path>
            </a:pathLst>
          </a:custGeom>
          <a:ln w="253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40431" y="3399081"/>
            <a:ext cx="360680" cy="356235"/>
          </a:xfrm>
          <a:custGeom>
            <a:avLst/>
            <a:gdLst/>
            <a:ahLst/>
            <a:cxnLst/>
            <a:rect l="l" t="t" r="r" b="b"/>
            <a:pathLst>
              <a:path w="360679" h="356235">
                <a:moveTo>
                  <a:pt x="0" y="177962"/>
                </a:moveTo>
                <a:lnTo>
                  <a:pt x="6440" y="130652"/>
                </a:lnTo>
                <a:lnTo>
                  <a:pt x="24615" y="88141"/>
                </a:lnTo>
                <a:lnTo>
                  <a:pt x="52806" y="52123"/>
                </a:lnTo>
                <a:lnTo>
                  <a:pt x="89295" y="24297"/>
                </a:lnTo>
                <a:lnTo>
                  <a:pt x="132363" y="6356"/>
                </a:lnTo>
                <a:lnTo>
                  <a:pt x="180292" y="0"/>
                </a:lnTo>
                <a:lnTo>
                  <a:pt x="228221" y="6356"/>
                </a:lnTo>
                <a:lnTo>
                  <a:pt x="271289" y="24297"/>
                </a:lnTo>
                <a:lnTo>
                  <a:pt x="307778" y="52123"/>
                </a:lnTo>
                <a:lnTo>
                  <a:pt x="335969" y="88141"/>
                </a:lnTo>
                <a:lnTo>
                  <a:pt x="354144" y="130652"/>
                </a:lnTo>
                <a:lnTo>
                  <a:pt x="360585" y="177962"/>
                </a:lnTo>
                <a:lnTo>
                  <a:pt x="354144" y="225271"/>
                </a:lnTo>
                <a:lnTo>
                  <a:pt x="335969" y="267782"/>
                </a:lnTo>
                <a:lnTo>
                  <a:pt x="307778" y="303800"/>
                </a:lnTo>
                <a:lnTo>
                  <a:pt x="271289" y="331626"/>
                </a:lnTo>
                <a:lnTo>
                  <a:pt x="228221" y="349567"/>
                </a:lnTo>
                <a:lnTo>
                  <a:pt x="180292" y="355924"/>
                </a:lnTo>
                <a:lnTo>
                  <a:pt x="132363" y="349567"/>
                </a:lnTo>
                <a:lnTo>
                  <a:pt x="89295" y="331626"/>
                </a:lnTo>
                <a:lnTo>
                  <a:pt x="52806" y="303800"/>
                </a:lnTo>
                <a:lnTo>
                  <a:pt x="24615" y="267782"/>
                </a:lnTo>
                <a:lnTo>
                  <a:pt x="6440" y="225271"/>
                </a:lnTo>
                <a:lnTo>
                  <a:pt x="0" y="177962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94126" y="2767898"/>
            <a:ext cx="673100" cy="871855"/>
          </a:xfrm>
          <a:custGeom>
            <a:avLst/>
            <a:gdLst/>
            <a:ahLst/>
            <a:cxnLst/>
            <a:rect l="l" t="t" r="r" b="b"/>
            <a:pathLst>
              <a:path w="673100" h="871854">
                <a:moveTo>
                  <a:pt x="98962" y="298661"/>
                </a:moveTo>
                <a:lnTo>
                  <a:pt x="130805" y="247783"/>
                </a:lnTo>
                <a:lnTo>
                  <a:pt x="165089" y="200882"/>
                </a:lnTo>
                <a:lnTo>
                  <a:pt x="201368" y="158218"/>
                </a:lnTo>
                <a:lnTo>
                  <a:pt x="239196" y="120050"/>
                </a:lnTo>
                <a:lnTo>
                  <a:pt x="278126" y="86638"/>
                </a:lnTo>
                <a:lnTo>
                  <a:pt x="317711" y="58241"/>
                </a:lnTo>
                <a:lnTo>
                  <a:pt x="357504" y="35120"/>
                </a:lnTo>
                <a:lnTo>
                  <a:pt x="397059" y="17532"/>
                </a:lnTo>
                <a:lnTo>
                  <a:pt x="435929" y="5739"/>
                </a:lnTo>
                <a:lnTo>
                  <a:pt x="473667" y="0"/>
                </a:lnTo>
                <a:lnTo>
                  <a:pt x="509827" y="573"/>
                </a:lnTo>
                <a:lnTo>
                  <a:pt x="575625" y="21698"/>
                </a:lnTo>
                <a:lnTo>
                  <a:pt x="626818" y="68118"/>
                </a:lnTo>
                <a:lnTo>
                  <a:pt x="659293" y="134698"/>
                </a:lnTo>
                <a:lnTo>
                  <a:pt x="668515" y="174257"/>
                </a:lnTo>
                <a:lnTo>
                  <a:pt x="673061" y="217306"/>
                </a:lnTo>
                <a:lnTo>
                  <a:pt x="672934" y="263329"/>
                </a:lnTo>
                <a:lnTo>
                  <a:pt x="668134" y="311809"/>
                </a:lnTo>
                <a:lnTo>
                  <a:pt x="658663" y="362229"/>
                </a:lnTo>
                <a:lnTo>
                  <a:pt x="644523" y="414073"/>
                </a:lnTo>
                <a:lnTo>
                  <a:pt x="625714" y="466824"/>
                </a:lnTo>
                <a:lnTo>
                  <a:pt x="602239" y="519966"/>
                </a:lnTo>
                <a:lnTo>
                  <a:pt x="574098" y="572981"/>
                </a:lnTo>
                <a:lnTo>
                  <a:pt x="542256" y="623859"/>
                </a:lnTo>
                <a:lnTo>
                  <a:pt x="507972" y="670760"/>
                </a:lnTo>
                <a:lnTo>
                  <a:pt x="471692" y="713424"/>
                </a:lnTo>
                <a:lnTo>
                  <a:pt x="433864" y="751592"/>
                </a:lnTo>
                <a:lnTo>
                  <a:pt x="394934" y="785004"/>
                </a:lnTo>
                <a:lnTo>
                  <a:pt x="355350" y="813401"/>
                </a:lnTo>
                <a:lnTo>
                  <a:pt x="315556" y="836523"/>
                </a:lnTo>
                <a:lnTo>
                  <a:pt x="276001" y="854110"/>
                </a:lnTo>
                <a:lnTo>
                  <a:pt x="237132" y="865903"/>
                </a:lnTo>
                <a:lnTo>
                  <a:pt x="199393" y="871643"/>
                </a:lnTo>
                <a:lnTo>
                  <a:pt x="163234" y="871069"/>
                </a:lnTo>
                <a:lnTo>
                  <a:pt x="97436" y="849945"/>
                </a:lnTo>
                <a:lnTo>
                  <a:pt x="46243" y="803524"/>
                </a:lnTo>
                <a:lnTo>
                  <a:pt x="13768" y="736944"/>
                </a:lnTo>
                <a:lnTo>
                  <a:pt x="4546" y="697385"/>
                </a:lnTo>
                <a:lnTo>
                  <a:pt x="0" y="654336"/>
                </a:lnTo>
                <a:lnTo>
                  <a:pt x="127" y="608313"/>
                </a:lnTo>
                <a:lnTo>
                  <a:pt x="4927" y="559833"/>
                </a:lnTo>
                <a:lnTo>
                  <a:pt x="14398" y="509413"/>
                </a:lnTo>
                <a:lnTo>
                  <a:pt x="28538" y="457569"/>
                </a:lnTo>
                <a:lnTo>
                  <a:pt x="47346" y="404818"/>
                </a:lnTo>
                <a:lnTo>
                  <a:pt x="70822" y="351676"/>
                </a:lnTo>
                <a:lnTo>
                  <a:pt x="98962" y="298661"/>
                </a:lnTo>
                <a:close/>
              </a:path>
            </a:pathLst>
          </a:custGeom>
          <a:ln w="25399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60782" y="1587500"/>
            <a:ext cx="7976870" cy="4745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2295" marR="3505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582295" algn="l"/>
                <a:tab pos="582930" algn="l"/>
              </a:tabLst>
            </a:pPr>
            <a:r>
              <a:rPr dirty="0" sz="2400" spc="-5" b="1">
                <a:latin typeface="Calibri"/>
                <a:cs typeface="Calibri"/>
              </a:rPr>
              <a:t>All the splits </a:t>
            </a:r>
            <a:r>
              <a:rPr dirty="0" sz="2400" spc="-10" b="1">
                <a:latin typeface="Calibri"/>
                <a:cs typeface="Calibri"/>
              </a:rPr>
              <a:t>can </a:t>
            </a:r>
            <a:r>
              <a:rPr dirty="0" sz="2400" spc="-5" b="1">
                <a:latin typeface="Calibri"/>
                <a:cs typeface="Calibri"/>
              </a:rPr>
              <a:t>observe the </a:t>
            </a:r>
            <a:r>
              <a:rPr dirty="0" sz="2400" spc="-15" b="1">
                <a:latin typeface="Calibri"/>
                <a:cs typeface="Calibri"/>
              </a:rPr>
              <a:t>entire graph </a:t>
            </a:r>
            <a:r>
              <a:rPr dirty="0" sz="2400" spc="-10" b="1">
                <a:latin typeface="Calibri"/>
                <a:cs typeface="Calibri"/>
              </a:rPr>
              <a:t>structure</a:t>
            </a:r>
            <a:r>
              <a:rPr dirty="0" sz="2400" spc="-10">
                <a:latin typeface="Calibri"/>
                <a:cs typeface="Calibri"/>
              </a:rPr>
              <a:t>, </a:t>
            </a:r>
            <a:r>
              <a:rPr dirty="0" sz="2400">
                <a:latin typeface="Calibri"/>
                <a:cs typeface="Calibri"/>
              </a:rPr>
              <a:t>but 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 spc="-5">
                <a:latin typeface="Calibri"/>
                <a:cs typeface="Calibri"/>
              </a:rPr>
              <a:t>only observe the labels of their </a:t>
            </a:r>
            <a:r>
              <a:rPr dirty="0" sz="2400" spc="-10">
                <a:latin typeface="Calibri"/>
                <a:cs typeface="Calibri"/>
              </a:rPr>
              <a:t>respective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  <a:p>
            <a:pPr marL="5078730">
              <a:lnSpc>
                <a:spcPct val="100000"/>
              </a:lnSpc>
              <a:spcBef>
                <a:spcPts val="710"/>
              </a:spcBef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endParaRPr sz="2000">
              <a:latin typeface="Arial"/>
              <a:cs typeface="Arial"/>
            </a:endParaRPr>
          </a:p>
          <a:p>
            <a:pPr marL="5078730" marR="1690370">
              <a:lnSpc>
                <a:spcPct val="150000"/>
              </a:lnSpc>
            </a:pP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  </a:t>
            </a:r>
            <a:r>
              <a:rPr dirty="0" sz="2000" spc="-40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6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latin typeface="Calibri"/>
                <a:cs typeface="Calibri"/>
              </a:rPr>
              <a:t>Inductive </a:t>
            </a: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Suppose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20">
                <a:latin typeface="Calibri"/>
                <a:cs typeface="Calibri"/>
              </a:rPr>
              <a:t>have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5">
                <a:latin typeface="Calibri"/>
                <a:cs typeface="Calibri"/>
              </a:rPr>
              <a:t>dataset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>
                <a:latin typeface="Calibri"/>
                <a:cs typeface="Calibri"/>
              </a:rPr>
              <a:t>3 </a:t>
            </a:r>
            <a:r>
              <a:rPr dirty="0" sz="2400" spc="-10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0" b="1">
                <a:latin typeface="Calibri"/>
                <a:cs typeface="Calibri"/>
              </a:rPr>
              <a:t>Each </a:t>
            </a:r>
            <a:r>
              <a:rPr dirty="0" sz="2400" spc="-5" b="1">
                <a:latin typeface="Calibri"/>
                <a:cs typeface="Calibri"/>
              </a:rPr>
              <a:t>split </a:t>
            </a:r>
            <a:r>
              <a:rPr dirty="0" sz="2400" spc="-10" b="1">
                <a:latin typeface="Calibri"/>
                <a:cs typeface="Calibri"/>
              </a:rPr>
              <a:t>contains </a:t>
            </a:r>
            <a:r>
              <a:rPr dirty="0" sz="2400" b="1">
                <a:latin typeface="Calibri"/>
                <a:cs typeface="Calibri"/>
              </a:rPr>
              <a:t>an </a:t>
            </a:r>
            <a:r>
              <a:rPr dirty="0" sz="2400" spc="-5" b="1">
                <a:latin typeface="Calibri"/>
                <a:cs typeface="Calibri"/>
              </a:rPr>
              <a:t>independent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  <a:p>
            <a:pPr marL="6764655" marR="5080">
              <a:lnSpc>
                <a:spcPct val="150000"/>
              </a:lnSpc>
              <a:spcBef>
                <a:spcPts val="375"/>
              </a:spcBef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  </a:t>
            </a: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  </a:t>
            </a:r>
            <a:r>
              <a:rPr dirty="0" sz="2000" spc="-40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7"/>
              </a:rPr>
              <a:t>http://cs224w.stanford.edu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223759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7270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Only the </a:t>
            </a:r>
            <a:r>
              <a:rPr dirty="0" spc="-10">
                <a:solidFill>
                  <a:srgbClr val="C00000"/>
                </a:solidFill>
              </a:rPr>
              <a:t>inductive setting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well defined</a:t>
            </a:r>
            <a:r>
              <a:rPr dirty="0" spc="1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</a:p>
          <a:p>
            <a:pPr marL="332740">
              <a:lnSpc>
                <a:spcPts val="3815"/>
              </a:lnSpc>
            </a:pPr>
            <a:r>
              <a:rPr dirty="0" spc="-20">
                <a:solidFill>
                  <a:srgbClr val="C00000"/>
                </a:solidFill>
              </a:rPr>
              <a:t>graph</a:t>
            </a:r>
            <a:r>
              <a:rPr dirty="0" spc="-45">
                <a:solidFill>
                  <a:srgbClr val="C00000"/>
                </a:solidFill>
              </a:rPr>
              <a:t> </a:t>
            </a:r>
            <a:r>
              <a:rPr dirty="0" spc="-10">
                <a:solidFill>
                  <a:srgbClr val="C00000"/>
                </a:solidFill>
              </a:rPr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332227"/>
            <a:ext cx="7428865" cy="147637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Because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2800" spc="-20" b="1">
                <a:solidFill>
                  <a:srgbClr val="0070C0"/>
                </a:solidFill>
                <a:latin typeface="Calibri"/>
                <a:cs typeface="Calibri"/>
              </a:rPr>
              <a:t>have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to </a:t>
            </a:r>
            <a:r>
              <a:rPr dirty="0" sz="2800" spc="-20" b="1">
                <a:solidFill>
                  <a:srgbClr val="0070C0"/>
                </a:solidFill>
                <a:latin typeface="Calibri"/>
                <a:cs typeface="Calibri"/>
              </a:rPr>
              <a:t>test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on unseen</a:t>
            </a:r>
            <a:r>
              <a:rPr dirty="0" sz="2800" spc="8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ct val="101400"/>
              </a:lnSpc>
              <a:spcBef>
                <a:spcPts val="59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Suppose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dataset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5 </a:t>
            </a:r>
            <a:r>
              <a:rPr dirty="0" sz="2800" spc="-15">
                <a:latin typeface="Calibri"/>
                <a:cs typeface="Calibri"/>
              </a:rPr>
              <a:t>graphs. Each </a:t>
            </a:r>
            <a:r>
              <a:rPr dirty="0" sz="2800" spc="-120">
                <a:latin typeface="Calibri"/>
                <a:cs typeface="Calibri"/>
              </a:rPr>
              <a:t>split  </a:t>
            </a:r>
            <a:r>
              <a:rPr dirty="0" sz="2800" spc="-5">
                <a:latin typeface="Calibri"/>
                <a:cs typeface="Calibri"/>
              </a:rPr>
              <a:t>will </a:t>
            </a:r>
            <a:r>
              <a:rPr dirty="0" sz="2800" spc="-15">
                <a:latin typeface="Calibri"/>
                <a:cs typeface="Calibri"/>
              </a:rPr>
              <a:t>contain </a:t>
            </a:r>
            <a:r>
              <a:rPr dirty="0" sz="2800" spc="-10">
                <a:latin typeface="Calibri"/>
                <a:cs typeface="Calibri"/>
              </a:rPr>
              <a:t>independent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graph(s).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6613" y="4356686"/>
            <a:ext cx="1315612" cy="1331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01288" y="4304422"/>
            <a:ext cx="1315612" cy="1331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41113" y="4304422"/>
            <a:ext cx="1315612" cy="13312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87038" y="4303258"/>
            <a:ext cx="1315613" cy="13312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30353" y="4303258"/>
            <a:ext cx="1315613" cy="13312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01798" y="4265754"/>
            <a:ext cx="1562735" cy="1463040"/>
          </a:xfrm>
          <a:custGeom>
            <a:avLst/>
            <a:gdLst/>
            <a:ahLst/>
            <a:cxnLst/>
            <a:rect l="l" t="t" r="r" b="b"/>
            <a:pathLst>
              <a:path w="1562734" h="1463039">
                <a:moveTo>
                  <a:pt x="0" y="0"/>
                </a:moveTo>
                <a:lnTo>
                  <a:pt x="1562369" y="0"/>
                </a:lnTo>
                <a:lnTo>
                  <a:pt x="1562369" y="1462571"/>
                </a:lnTo>
                <a:lnTo>
                  <a:pt x="0" y="1462571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245405" y="4257074"/>
            <a:ext cx="1504315" cy="1463040"/>
          </a:xfrm>
          <a:custGeom>
            <a:avLst/>
            <a:gdLst/>
            <a:ahLst/>
            <a:cxnLst/>
            <a:rect l="l" t="t" r="r" b="b"/>
            <a:pathLst>
              <a:path w="1504315" h="1463039">
                <a:moveTo>
                  <a:pt x="0" y="0"/>
                </a:moveTo>
                <a:lnTo>
                  <a:pt x="1504275" y="0"/>
                </a:lnTo>
                <a:lnTo>
                  <a:pt x="1504275" y="1462571"/>
                </a:lnTo>
                <a:lnTo>
                  <a:pt x="0" y="1462571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6949" y="4257074"/>
            <a:ext cx="4876800" cy="1463040"/>
          </a:xfrm>
          <a:custGeom>
            <a:avLst/>
            <a:gdLst/>
            <a:ahLst/>
            <a:cxnLst/>
            <a:rect l="l" t="t" r="r" b="b"/>
            <a:pathLst>
              <a:path w="4876800" h="1463039">
                <a:moveTo>
                  <a:pt x="0" y="0"/>
                </a:moveTo>
                <a:lnTo>
                  <a:pt x="4876316" y="0"/>
                </a:lnTo>
                <a:lnTo>
                  <a:pt x="4876316" y="1462571"/>
                </a:lnTo>
                <a:lnTo>
                  <a:pt x="0" y="1462571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056720" y="5905500"/>
            <a:ext cx="10128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8"/>
              </a:rPr>
              <a:t>http://cs224w.stanford.edu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14" name="object 14"/>
          <p:cNvSpPr txBox="1"/>
          <p:nvPr/>
        </p:nvSpPr>
        <p:spPr>
          <a:xfrm>
            <a:off x="5628849" y="5905500"/>
            <a:ext cx="12249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05566" y="5905500"/>
            <a:ext cx="5295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50" b="1">
                <a:solidFill>
                  <a:srgbClr val="6BB76D"/>
                </a:solidFill>
                <a:latin typeface="Arial"/>
                <a:cs typeface="Arial"/>
              </a:rPr>
              <a:t>T</a:t>
            </a:r>
            <a:r>
              <a:rPr dirty="0" sz="2000" b="1">
                <a:solidFill>
                  <a:srgbClr val="6BB76D"/>
                </a:solidFill>
                <a:latin typeface="Arial"/>
                <a:cs typeface="Arial"/>
              </a:rPr>
              <a:t>est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09600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0765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Goal </a:t>
            </a:r>
            <a:r>
              <a:rPr dirty="0"/>
              <a:t>of </a:t>
            </a:r>
            <a:r>
              <a:rPr dirty="0" spc="-5"/>
              <a:t>link </a:t>
            </a:r>
            <a:r>
              <a:rPr dirty="0" spc="-10"/>
              <a:t>prediction</a:t>
            </a:r>
            <a:r>
              <a:rPr dirty="0" spc="-10">
                <a:solidFill>
                  <a:srgbClr val="000000"/>
                </a:solidFill>
              </a:rPr>
              <a:t>: predict </a:t>
            </a:r>
            <a:r>
              <a:rPr dirty="0" spc="-5">
                <a:solidFill>
                  <a:srgbClr val="000000"/>
                </a:solidFill>
              </a:rPr>
              <a:t>missing</a:t>
            </a:r>
            <a:r>
              <a:rPr dirty="0" spc="3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edges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C00000"/>
                </a:solidFill>
              </a:rPr>
              <a:t>Setting </a:t>
            </a:r>
            <a:r>
              <a:rPr dirty="0" spc="-5">
                <a:solidFill>
                  <a:srgbClr val="C00000"/>
                </a:solidFill>
              </a:rPr>
              <a:t>up link </a:t>
            </a:r>
            <a:r>
              <a:rPr dirty="0" spc="-10">
                <a:solidFill>
                  <a:srgbClr val="C00000"/>
                </a:solidFill>
              </a:rPr>
              <a:t>prediction </a:t>
            </a:r>
            <a:r>
              <a:rPr dirty="0">
                <a:solidFill>
                  <a:srgbClr val="C00000"/>
                </a:solidFill>
              </a:rPr>
              <a:t>is</a:t>
            </a:r>
            <a:r>
              <a:rPr dirty="0" spc="5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tricky: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7690484" cy="2244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87020" marR="33655" indent="-274320">
              <a:lnSpc>
                <a:spcPct val="99600"/>
              </a:lnSpc>
              <a:spcBef>
                <a:spcPts val="11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Link </a:t>
            </a:r>
            <a:r>
              <a:rPr dirty="0" sz="2800" spc="-10">
                <a:latin typeface="Calibri"/>
                <a:cs typeface="Calibri"/>
              </a:rPr>
              <a:t>prediction </a:t>
            </a:r>
            <a:r>
              <a:rPr dirty="0" sz="2800" spc="-5">
                <a:latin typeface="Calibri"/>
                <a:cs typeface="Calibri"/>
              </a:rPr>
              <a:t>is an unsupervised </a:t>
            </a:r>
            <a:r>
              <a:rPr dirty="0" sz="2800">
                <a:latin typeface="Calibri"/>
                <a:cs typeface="Calibri"/>
              </a:rPr>
              <a:t>/ </a:t>
            </a:r>
            <a:r>
              <a:rPr dirty="0" sz="2800" spc="-45">
                <a:latin typeface="Calibri"/>
                <a:cs typeface="Calibri"/>
              </a:rPr>
              <a:t>self-supervised  </a:t>
            </a:r>
            <a:r>
              <a:rPr dirty="0" sz="2800" spc="-10">
                <a:latin typeface="Calibri"/>
                <a:cs typeface="Calibri"/>
              </a:rPr>
              <a:t>task. </a:t>
            </a: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need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create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labels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5" b="1">
                <a:solidFill>
                  <a:srgbClr val="60B5CC"/>
                </a:solidFill>
                <a:latin typeface="Calibri"/>
                <a:cs typeface="Calibri"/>
              </a:rPr>
              <a:t>dataset  </a:t>
            </a:r>
            <a:r>
              <a:rPr dirty="0" sz="2800" spc="-5" b="1">
                <a:solidFill>
                  <a:srgbClr val="60B5CC"/>
                </a:solidFill>
                <a:latin typeface="Calibri"/>
                <a:cs typeface="Calibri"/>
              </a:rPr>
              <a:t>splits </a:t>
            </a:r>
            <a:r>
              <a:rPr dirty="0" sz="2800" spc="-5">
                <a:latin typeface="Calibri"/>
                <a:cs typeface="Calibri"/>
              </a:rPr>
              <a:t>on our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own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ct val="101400"/>
              </a:lnSpc>
              <a:spcBef>
                <a:spcPts val="59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35">
                <a:latin typeface="Calibri"/>
                <a:cs typeface="Calibri"/>
              </a:rPr>
              <a:t>Concretely,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need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 b="1">
                <a:latin typeface="Calibri"/>
                <a:cs typeface="Calibri"/>
              </a:rPr>
              <a:t>hide some </a:t>
            </a:r>
            <a:r>
              <a:rPr dirty="0" sz="2800" spc="-10" b="1">
                <a:latin typeface="Calibri"/>
                <a:cs typeface="Calibri"/>
              </a:rPr>
              <a:t>edges </a:t>
            </a:r>
            <a:r>
              <a:rPr dirty="0" sz="2800" spc="-15" b="1">
                <a:latin typeface="Calibri"/>
                <a:cs typeface="Calibri"/>
              </a:rPr>
              <a:t>from </a:t>
            </a:r>
            <a:r>
              <a:rPr dirty="0" sz="2800" spc="-5" b="1">
                <a:latin typeface="Calibri"/>
                <a:cs typeface="Calibri"/>
              </a:rPr>
              <a:t>the  </a:t>
            </a:r>
            <a:r>
              <a:rPr dirty="0" sz="2800" b="1">
                <a:latin typeface="Calibri"/>
                <a:cs typeface="Calibri"/>
              </a:rPr>
              <a:t>GNN </a:t>
            </a:r>
            <a:r>
              <a:rPr dirty="0" sz="2800" spc="-5">
                <a:latin typeface="Calibri"/>
                <a:cs typeface="Calibri"/>
              </a:rPr>
              <a:t>and the </a:t>
            </a:r>
            <a:r>
              <a:rPr dirty="0" sz="2800" spc="-10" b="1">
                <a:latin typeface="Calibri"/>
                <a:cs typeface="Calibri"/>
              </a:rPr>
              <a:t>let </a:t>
            </a:r>
            <a:r>
              <a:rPr dirty="0" sz="2800" spc="-5" b="1">
                <a:latin typeface="Calibri"/>
                <a:cs typeface="Calibri"/>
              </a:rPr>
              <a:t>the </a:t>
            </a:r>
            <a:r>
              <a:rPr dirty="0" sz="2800" b="1">
                <a:latin typeface="Calibri"/>
                <a:cs typeface="Calibri"/>
              </a:rPr>
              <a:t>GNN </a:t>
            </a:r>
            <a:r>
              <a:rPr dirty="0" sz="2800" spc="-10" b="1">
                <a:latin typeface="Calibri"/>
                <a:cs typeface="Calibri"/>
              </a:rPr>
              <a:t>predict </a:t>
            </a:r>
            <a:r>
              <a:rPr dirty="0" sz="2800" spc="-5" b="1">
                <a:latin typeface="Calibri"/>
                <a:cs typeface="Calibri"/>
              </a:rPr>
              <a:t>if the </a:t>
            </a:r>
            <a:r>
              <a:rPr dirty="0" sz="2800" spc="-10" b="1">
                <a:latin typeface="Calibri"/>
                <a:cs typeface="Calibri"/>
              </a:rPr>
              <a:t>edges</a:t>
            </a:r>
            <a:r>
              <a:rPr dirty="0" sz="2800" spc="105" b="1">
                <a:latin typeface="Calibri"/>
                <a:cs typeface="Calibri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exist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88160" y="5393952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07813" y="6089408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4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98164" y="5251124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53149" y="5356574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5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11580" y="5191337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27047" y="5004815"/>
            <a:ext cx="359664" cy="356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71045" y="502394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71045" y="502394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08888" y="5949695"/>
            <a:ext cx="359663" cy="3535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53555" y="59670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0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53555" y="59670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99488" y="5949695"/>
            <a:ext cx="359663" cy="3535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43711" y="59670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43711" y="59670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45079" y="5190744"/>
            <a:ext cx="359663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89725" y="52093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89725" y="52093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4463" y="5148071"/>
            <a:ext cx="356616" cy="353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7203" y="51649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07203" y="51649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669527" y="52095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41886" y="502056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2886" y="516382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50119" y="5187306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058936" y="5895904"/>
            <a:ext cx="1363980" cy="69151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 marR="88265">
              <a:lnSpc>
                <a:spcPct val="100000"/>
              </a:lnSpc>
              <a:spcBef>
                <a:spcPts val="645"/>
              </a:spcBef>
              <a:tabLst>
                <a:tab pos="975994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1800" spc="-10" b="1">
                <a:latin typeface="Calibri"/>
                <a:cs typeface="Calibri"/>
              </a:rPr>
              <a:t>Original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5" b="1">
                <a:latin typeface="Calibri"/>
                <a:cs typeface="Calibri"/>
              </a:rPr>
              <a:t>graph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27130" y="5422517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46783" y="6117971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137134" y="5279687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465320" y="5035296"/>
            <a:ext cx="359663" cy="3535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510015" y="505250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510015" y="505250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950208" y="5977127"/>
            <a:ext cx="356615" cy="3566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992524" y="599557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992524" y="599557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937759" y="5977127"/>
            <a:ext cx="359663" cy="3566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982681" y="599557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982681" y="599557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486400" y="5218176"/>
            <a:ext cx="356615" cy="35661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528694" y="523789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528694" y="523789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02735" y="5175503"/>
            <a:ext cx="356615" cy="3566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46172" y="519356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46172" y="519356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608495" y="5236972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80855" y="50479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623502" y="5953477"/>
            <a:ext cx="1877060" cy="63436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462915">
              <a:lnSpc>
                <a:spcPct val="100000"/>
              </a:lnSpc>
              <a:spcBef>
                <a:spcPts val="434"/>
              </a:spcBef>
              <a:tabLst>
                <a:tab pos="1439545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800" spc="-5" b="1">
                <a:latin typeface="Calibri"/>
                <a:cs typeface="Calibri"/>
              </a:rPr>
              <a:t>Input </a:t>
            </a:r>
            <a:r>
              <a:rPr dirty="0" sz="1800" spc="-15" b="1">
                <a:latin typeface="Calibri"/>
                <a:cs typeface="Calibri"/>
              </a:rPr>
              <a:t>graph </a:t>
            </a:r>
            <a:r>
              <a:rPr dirty="0" sz="1800" spc="-10" b="1">
                <a:latin typeface="Calibri"/>
                <a:cs typeface="Calibri"/>
              </a:rPr>
              <a:t>to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721855" y="5191252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789088" y="5215870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545675" y="5389740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965328" y="6085195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855679" y="5246911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926113" y="5336153"/>
            <a:ext cx="466090" cy="636905"/>
          </a:xfrm>
          <a:custGeom>
            <a:avLst/>
            <a:gdLst/>
            <a:ahLst/>
            <a:cxnLst/>
            <a:rect l="l" t="t" r="r" b="b"/>
            <a:pathLst>
              <a:path w="466090" h="636904">
                <a:moveTo>
                  <a:pt x="451352" y="0"/>
                </a:moveTo>
                <a:lnTo>
                  <a:pt x="442426" y="1470"/>
                </a:lnTo>
                <a:lnTo>
                  <a:pt x="433212" y="14317"/>
                </a:lnTo>
                <a:lnTo>
                  <a:pt x="434682" y="23243"/>
                </a:lnTo>
                <a:lnTo>
                  <a:pt x="447506" y="32440"/>
                </a:lnTo>
                <a:lnTo>
                  <a:pt x="456432" y="30971"/>
                </a:lnTo>
                <a:lnTo>
                  <a:pt x="465646" y="18124"/>
                </a:lnTo>
                <a:lnTo>
                  <a:pt x="464177" y="9197"/>
                </a:lnTo>
                <a:lnTo>
                  <a:pt x="451352" y="0"/>
                </a:lnTo>
                <a:close/>
              </a:path>
              <a:path w="466090" h="636904">
                <a:moveTo>
                  <a:pt x="418028" y="46464"/>
                </a:moveTo>
                <a:lnTo>
                  <a:pt x="409102" y="47933"/>
                </a:lnTo>
                <a:lnTo>
                  <a:pt x="399888" y="60782"/>
                </a:lnTo>
                <a:lnTo>
                  <a:pt x="401358" y="69707"/>
                </a:lnTo>
                <a:lnTo>
                  <a:pt x="414182" y="78905"/>
                </a:lnTo>
                <a:lnTo>
                  <a:pt x="423109" y="77435"/>
                </a:lnTo>
                <a:lnTo>
                  <a:pt x="432323" y="64588"/>
                </a:lnTo>
                <a:lnTo>
                  <a:pt x="430852" y="55661"/>
                </a:lnTo>
                <a:lnTo>
                  <a:pt x="418028" y="46464"/>
                </a:lnTo>
                <a:close/>
              </a:path>
              <a:path w="466090" h="636904">
                <a:moveTo>
                  <a:pt x="384707" y="92928"/>
                </a:moveTo>
                <a:lnTo>
                  <a:pt x="375780" y="94397"/>
                </a:lnTo>
                <a:lnTo>
                  <a:pt x="366565" y="107243"/>
                </a:lnTo>
                <a:lnTo>
                  <a:pt x="368033" y="116170"/>
                </a:lnTo>
                <a:lnTo>
                  <a:pt x="380856" y="125369"/>
                </a:lnTo>
                <a:lnTo>
                  <a:pt x="389783" y="123899"/>
                </a:lnTo>
                <a:lnTo>
                  <a:pt x="398998" y="111053"/>
                </a:lnTo>
                <a:lnTo>
                  <a:pt x="397530" y="102127"/>
                </a:lnTo>
                <a:lnTo>
                  <a:pt x="384707" y="92928"/>
                </a:lnTo>
                <a:close/>
              </a:path>
              <a:path w="466090" h="636904">
                <a:moveTo>
                  <a:pt x="351382" y="139392"/>
                </a:moveTo>
                <a:lnTo>
                  <a:pt x="342456" y="140862"/>
                </a:lnTo>
                <a:lnTo>
                  <a:pt x="333240" y="153708"/>
                </a:lnTo>
                <a:lnTo>
                  <a:pt x="334709" y="162633"/>
                </a:lnTo>
                <a:lnTo>
                  <a:pt x="347532" y="171833"/>
                </a:lnTo>
                <a:lnTo>
                  <a:pt x="356459" y="170364"/>
                </a:lnTo>
                <a:lnTo>
                  <a:pt x="365674" y="157518"/>
                </a:lnTo>
                <a:lnTo>
                  <a:pt x="364205" y="148591"/>
                </a:lnTo>
                <a:lnTo>
                  <a:pt x="351382" y="139392"/>
                </a:lnTo>
                <a:close/>
              </a:path>
              <a:path w="466090" h="636904">
                <a:moveTo>
                  <a:pt x="318058" y="185856"/>
                </a:moveTo>
                <a:lnTo>
                  <a:pt x="309131" y="187325"/>
                </a:lnTo>
                <a:lnTo>
                  <a:pt x="299916" y="200172"/>
                </a:lnTo>
                <a:lnTo>
                  <a:pt x="301386" y="209097"/>
                </a:lnTo>
                <a:lnTo>
                  <a:pt x="314209" y="218297"/>
                </a:lnTo>
                <a:lnTo>
                  <a:pt x="323134" y="216828"/>
                </a:lnTo>
                <a:lnTo>
                  <a:pt x="332351" y="203981"/>
                </a:lnTo>
                <a:lnTo>
                  <a:pt x="330881" y="195055"/>
                </a:lnTo>
                <a:lnTo>
                  <a:pt x="318058" y="185856"/>
                </a:lnTo>
                <a:close/>
              </a:path>
              <a:path w="466090" h="636904">
                <a:moveTo>
                  <a:pt x="284735" y="232321"/>
                </a:moveTo>
                <a:lnTo>
                  <a:pt x="275808" y="233789"/>
                </a:lnTo>
                <a:lnTo>
                  <a:pt x="266593" y="246636"/>
                </a:lnTo>
                <a:lnTo>
                  <a:pt x="268061" y="255562"/>
                </a:lnTo>
                <a:lnTo>
                  <a:pt x="280885" y="264761"/>
                </a:lnTo>
                <a:lnTo>
                  <a:pt x="289811" y="263292"/>
                </a:lnTo>
                <a:lnTo>
                  <a:pt x="299026" y="250445"/>
                </a:lnTo>
                <a:lnTo>
                  <a:pt x="297558" y="241519"/>
                </a:lnTo>
                <a:lnTo>
                  <a:pt x="284735" y="232321"/>
                </a:lnTo>
                <a:close/>
              </a:path>
              <a:path w="466090" h="636904">
                <a:moveTo>
                  <a:pt x="251410" y="278784"/>
                </a:moveTo>
                <a:lnTo>
                  <a:pt x="242484" y="280253"/>
                </a:lnTo>
                <a:lnTo>
                  <a:pt x="233268" y="293100"/>
                </a:lnTo>
                <a:lnTo>
                  <a:pt x="234737" y="302026"/>
                </a:lnTo>
                <a:lnTo>
                  <a:pt x="247561" y="311225"/>
                </a:lnTo>
                <a:lnTo>
                  <a:pt x="256487" y="309756"/>
                </a:lnTo>
                <a:lnTo>
                  <a:pt x="265703" y="296909"/>
                </a:lnTo>
                <a:lnTo>
                  <a:pt x="264233" y="287983"/>
                </a:lnTo>
                <a:lnTo>
                  <a:pt x="251410" y="278784"/>
                </a:lnTo>
                <a:close/>
              </a:path>
              <a:path w="466090" h="636904">
                <a:moveTo>
                  <a:pt x="218086" y="325248"/>
                </a:moveTo>
                <a:lnTo>
                  <a:pt x="209160" y="326717"/>
                </a:lnTo>
                <a:lnTo>
                  <a:pt x="199944" y="339564"/>
                </a:lnTo>
                <a:lnTo>
                  <a:pt x="201414" y="348490"/>
                </a:lnTo>
                <a:lnTo>
                  <a:pt x="214237" y="357689"/>
                </a:lnTo>
                <a:lnTo>
                  <a:pt x="223163" y="356220"/>
                </a:lnTo>
                <a:lnTo>
                  <a:pt x="232379" y="343373"/>
                </a:lnTo>
                <a:lnTo>
                  <a:pt x="230910" y="334447"/>
                </a:lnTo>
                <a:lnTo>
                  <a:pt x="218086" y="325248"/>
                </a:lnTo>
                <a:close/>
              </a:path>
              <a:path w="466090" h="636904">
                <a:moveTo>
                  <a:pt x="184763" y="371712"/>
                </a:moveTo>
                <a:lnTo>
                  <a:pt x="175836" y="373181"/>
                </a:lnTo>
                <a:lnTo>
                  <a:pt x="166621" y="386028"/>
                </a:lnTo>
                <a:lnTo>
                  <a:pt x="168090" y="394954"/>
                </a:lnTo>
                <a:lnTo>
                  <a:pt x="180914" y="404153"/>
                </a:lnTo>
                <a:lnTo>
                  <a:pt x="189839" y="402684"/>
                </a:lnTo>
                <a:lnTo>
                  <a:pt x="199055" y="389837"/>
                </a:lnTo>
                <a:lnTo>
                  <a:pt x="197586" y="380911"/>
                </a:lnTo>
                <a:lnTo>
                  <a:pt x="184763" y="371712"/>
                </a:lnTo>
                <a:close/>
              </a:path>
              <a:path w="466090" h="636904">
                <a:moveTo>
                  <a:pt x="151438" y="418176"/>
                </a:moveTo>
                <a:lnTo>
                  <a:pt x="142513" y="419645"/>
                </a:lnTo>
                <a:lnTo>
                  <a:pt x="133297" y="432492"/>
                </a:lnTo>
                <a:lnTo>
                  <a:pt x="134766" y="441418"/>
                </a:lnTo>
                <a:lnTo>
                  <a:pt x="147589" y="450617"/>
                </a:lnTo>
                <a:lnTo>
                  <a:pt x="156516" y="449148"/>
                </a:lnTo>
                <a:lnTo>
                  <a:pt x="165731" y="436301"/>
                </a:lnTo>
                <a:lnTo>
                  <a:pt x="164263" y="427375"/>
                </a:lnTo>
                <a:lnTo>
                  <a:pt x="151438" y="418176"/>
                </a:lnTo>
                <a:close/>
              </a:path>
              <a:path w="466090" h="636904">
                <a:moveTo>
                  <a:pt x="118115" y="464640"/>
                </a:moveTo>
                <a:lnTo>
                  <a:pt x="109189" y="466109"/>
                </a:lnTo>
                <a:lnTo>
                  <a:pt x="99973" y="478956"/>
                </a:lnTo>
                <a:lnTo>
                  <a:pt x="101442" y="487882"/>
                </a:lnTo>
                <a:lnTo>
                  <a:pt x="114265" y="497081"/>
                </a:lnTo>
                <a:lnTo>
                  <a:pt x="123192" y="495612"/>
                </a:lnTo>
                <a:lnTo>
                  <a:pt x="132407" y="482765"/>
                </a:lnTo>
                <a:lnTo>
                  <a:pt x="130938" y="473839"/>
                </a:lnTo>
                <a:lnTo>
                  <a:pt x="118115" y="464640"/>
                </a:lnTo>
                <a:close/>
              </a:path>
              <a:path w="466090" h="636904">
                <a:moveTo>
                  <a:pt x="84791" y="511104"/>
                </a:moveTo>
                <a:lnTo>
                  <a:pt x="75864" y="512573"/>
                </a:lnTo>
                <a:lnTo>
                  <a:pt x="66649" y="525420"/>
                </a:lnTo>
                <a:lnTo>
                  <a:pt x="68118" y="534346"/>
                </a:lnTo>
                <a:lnTo>
                  <a:pt x="80942" y="543545"/>
                </a:lnTo>
                <a:lnTo>
                  <a:pt x="89867" y="542076"/>
                </a:lnTo>
                <a:lnTo>
                  <a:pt x="99084" y="529229"/>
                </a:lnTo>
                <a:lnTo>
                  <a:pt x="97614" y="520303"/>
                </a:lnTo>
                <a:lnTo>
                  <a:pt x="84791" y="511104"/>
                </a:lnTo>
                <a:close/>
              </a:path>
              <a:path w="466090" h="636904">
                <a:moveTo>
                  <a:pt x="51456" y="557567"/>
                </a:moveTo>
                <a:lnTo>
                  <a:pt x="42532" y="559042"/>
                </a:lnTo>
                <a:lnTo>
                  <a:pt x="33324" y="571894"/>
                </a:lnTo>
                <a:lnTo>
                  <a:pt x="34799" y="580819"/>
                </a:lnTo>
                <a:lnTo>
                  <a:pt x="47628" y="590010"/>
                </a:lnTo>
                <a:lnTo>
                  <a:pt x="56553" y="588535"/>
                </a:lnTo>
                <a:lnTo>
                  <a:pt x="65760" y="575683"/>
                </a:lnTo>
                <a:lnTo>
                  <a:pt x="64286" y="566758"/>
                </a:lnTo>
                <a:lnTo>
                  <a:pt x="51456" y="557567"/>
                </a:lnTo>
                <a:close/>
              </a:path>
              <a:path w="466090" h="636904">
                <a:moveTo>
                  <a:pt x="18133" y="604031"/>
                </a:moveTo>
                <a:lnTo>
                  <a:pt x="9207" y="605506"/>
                </a:lnTo>
                <a:lnTo>
                  <a:pt x="0" y="618358"/>
                </a:lnTo>
                <a:lnTo>
                  <a:pt x="1475" y="627283"/>
                </a:lnTo>
                <a:lnTo>
                  <a:pt x="14304" y="636474"/>
                </a:lnTo>
                <a:lnTo>
                  <a:pt x="23229" y="635000"/>
                </a:lnTo>
                <a:lnTo>
                  <a:pt x="32437" y="622147"/>
                </a:lnTo>
                <a:lnTo>
                  <a:pt x="30962" y="613222"/>
                </a:lnTo>
                <a:lnTo>
                  <a:pt x="18133" y="604031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352789" y="5170820"/>
            <a:ext cx="414020" cy="801370"/>
          </a:xfrm>
          <a:custGeom>
            <a:avLst/>
            <a:gdLst/>
            <a:ahLst/>
            <a:cxnLst/>
            <a:rect l="l" t="t" r="r" b="b"/>
            <a:pathLst>
              <a:path w="414020" h="801370">
                <a:moveTo>
                  <a:pt x="17033" y="0"/>
                </a:moveTo>
                <a:lnTo>
                  <a:pt x="2891" y="7006"/>
                </a:lnTo>
                <a:lnTo>
                  <a:pt x="0" y="15577"/>
                </a:lnTo>
                <a:lnTo>
                  <a:pt x="7019" y="29744"/>
                </a:lnTo>
                <a:lnTo>
                  <a:pt x="15590" y="32636"/>
                </a:lnTo>
                <a:lnTo>
                  <a:pt x="29731" y="25629"/>
                </a:lnTo>
                <a:lnTo>
                  <a:pt x="32623" y="17058"/>
                </a:lnTo>
                <a:lnTo>
                  <a:pt x="25604" y="2891"/>
                </a:lnTo>
                <a:lnTo>
                  <a:pt x="17033" y="0"/>
                </a:lnTo>
                <a:close/>
              </a:path>
              <a:path w="414020" h="801370">
                <a:moveTo>
                  <a:pt x="42418" y="51234"/>
                </a:moveTo>
                <a:lnTo>
                  <a:pt x="28277" y="58240"/>
                </a:lnTo>
                <a:lnTo>
                  <a:pt x="25384" y="66812"/>
                </a:lnTo>
                <a:lnTo>
                  <a:pt x="32404" y="80979"/>
                </a:lnTo>
                <a:lnTo>
                  <a:pt x="40975" y="83870"/>
                </a:lnTo>
                <a:lnTo>
                  <a:pt x="55116" y="76865"/>
                </a:lnTo>
                <a:lnTo>
                  <a:pt x="58008" y="68294"/>
                </a:lnTo>
                <a:lnTo>
                  <a:pt x="50990" y="54127"/>
                </a:lnTo>
                <a:lnTo>
                  <a:pt x="42418" y="51234"/>
                </a:lnTo>
                <a:close/>
              </a:path>
              <a:path w="414020" h="801370">
                <a:moveTo>
                  <a:pt x="67801" y="102469"/>
                </a:moveTo>
                <a:lnTo>
                  <a:pt x="53661" y="109476"/>
                </a:lnTo>
                <a:lnTo>
                  <a:pt x="50769" y="118049"/>
                </a:lnTo>
                <a:lnTo>
                  <a:pt x="57790" y="132214"/>
                </a:lnTo>
                <a:lnTo>
                  <a:pt x="66362" y="135106"/>
                </a:lnTo>
                <a:lnTo>
                  <a:pt x="80502" y="128098"/>
                </a:lnTo>
                <a:lnTo>
                  <a:pt x="83393" y="119526"/>
                </a:lnTo>
                <a:lnTo>
                  <a:pt x="76373" y="105360"/>
                </a:lnTo>
                <a:lnTo>
                  <a:pt x="67801" y="102469"/>
                </a:lnTo>
                <a:close/>
              </a:path>
              <a:path w="414020" h="801370">
                <a:moveTo>
                  <a:pt x="93188" y="153704"/>
                </a:moveTo>
                <a:lnTo>
                  <a:pt x="79047" y="160709"/>
                </a:lnTo>
                <a:lnTo>
                  <a:pt x="76155" y="169282"/>
                </a:lnTo>
                <a:lnTo>
                  <a:pt x="83173" y="183448"/>
                </a:lnTo>
                <a:lnTo>
                  <a:pt x="91744" y="186340"/>
                </a:lnTo>
                <a:lnTo>
                  <a:pt x="105886" y="179334"/>
                </a:lnTo>
                <a:lnTo>
                  <a:pt x="108778" y="170762"/>
                </a:lnTo>
                <a:lnTo>
                  <a:pt x="101760" y="156596"/>
                </a:lnTo>
                <a:lnTo>
                  <a:pt x="93188" y="153704"/>
                </a:lnTo>
                <a:close/>
              </a:path>
              <a:path w="414020" h="801370">
                <a:moveTo>
                  <a:pt x="118573" y="204938"/>
                </a:moveTo>
                <a:lnTo>
                  <a:pt x="104432" y="211945"/>
                </a:lnTo>
                <a:lnTo>
                  <a:pt x="101540" y="220516"/>
                </a:lnTo>
                <a:lnTo>
                  <a:pt x="108558" y="234683"/>
                </a:lnTo>
                <a:lnTo>
                  <a:pt x="117129" y="237575"/>
                </a:lnTo>
                <a:lnTo>
                  <a:pt x="131271" y="230569"/>
                </a:lnTo>
                <a:lnTo>
                  <a:pt x="134164" y="221997"/>
                </a:lnTo>
                <a:lnTo>
                  <a:pt x="127144" y="207830"/>
                </a:lnTo>
                <a:lnTo>
                  <a:pt x="118573" y="204938"/>
                </a:lnTo>
                <a:close/>
              </a:path>
              <a:path w="414020" h="801370">
                <a:moveTo>
                  <a:pt x="143958" y="256172"/>
                </a:moveTo>
                <a:lnTo>
                  <a:pt x="129816" y="263179"/>
                </a:lnTo>
                <a:lnTo>
                  <a:pt x="126925" y="271750"/>
                </a:lnTo>
                <a:lnTo>
                  <a:pt x="133943" y="285917"/>
                </a:lnTo>
                <a:lnTo>
                  <a:pt x="142515" y="288809"/>
                </a:lnTo>
                <a:lnTo>
                  <a:pt x="156655" y="281804"/>
                </a:lnTo>
                <a:lnTo>
                  <a:pt x="159548" y="273232"/>
                </a:lnTo>
                <a:lnTo>
                  <a:pt x="152529" y="259066"/>
                </a:lnTo>
                <a:lnTo>
                  <a:pt x="143958" y="256172"/>
                </a:lnTo>
                <a:close/>
              </a:path>
              <a:path w="414020" h="801370">
                <a:moveTo>
                  <a:pt x="169339" y="307408"/>
                </a:moveTo>
                <a:lnTo>
                  <a:pt x="155200" y="314417"/>
                </a:lnTo>
                <a:lnTo>
                  <a:pt x="152309" y="322990"/>
                </a:lnTo>
                <a:lnTo>
                  <a:pt x="159331" y="337154"/>
                </a:lnTo>
                <a:lnTo>
                  <a:pt x="167904" y="340045"/>
                </a:lnTo>
                <a:lnTo>
                  <a:pt x="182043" y="333035"/>
                </a:lnTo>
                <a:lnTo>
                  <a:pt x="184933" y="324463"/>
                </a:lnTo>
                <a:lnTo>
                  <a:pt x="177911" y="310297"/>
                </a:lnTo>
                <a:lnTo>
                  <a:pt x="169339" y="307408"/>
                </a:lnTo>
                <a:close/>
              </a:path>
              <a:path w="414020" h="801370">
                <a:moveTo>
                  <a:pt x="194724" y="358642"/>
                </a:moveTo>
                <a:lnTo>
                  <a:pt x="180585" y="365652"/>
                </a:lnTo>
                <a:lnTo>
                  <a:pt x="177694" y="374224"/>
                </a:lnTo>
                <a:lnTo>
                  <a:pt x="184716" y="388388"/>
                </a:lnTo>
                <a:lnTo>
                  <a:pt x="193288" y="391279"/>
                </a:lnTo>
                <a:lnTo>
                  <a:pt x="207429" y="384270"/>
                </a:lnTo>
                <a:lnTo>
                  <a:pt x="210318" y="375697"/>
                </a:lnTo>
                <a:lnTo>
                  <a:pt x="203296" y="361532"/>
                </a:lnTo>
                <a:lnTo>
                  <a:pt x="194724" y="358642"/>
                </a:lnTo>
                <a:close/>
              </a:path>
              <a:path w="414020" h="801370">
                <a:moveTo>
                  <a:pt x="220108" y="409877"/>
                </a:moveTo>
                <a:lnTo>
                  <a:pt x="205969" y="416886"/>
                </a:lnTo>
                <a:lnTo>
                  <a:pt x="203079" y="425459"/>
                </a:lnTo>
                <a:lnTo>
                  <a:pt x="210101" y="439624"/>
                </a:lnTo>
                <a:lnTo>
                  <a:pt x="218673" y="442514"/>
                </a:lnTo>
                <a:lnTo>
                  <a:pt x="232813" y="435504"/>
                </a:lnTo>
                <a:lnTo>
                  <a:pt x="235703" y="426932"/>
                </a:lnTo>
                <a:lnTo>
                  <a:pt x="228681" y="412767"/>
                </a:lnTo>
                <a:lnTo>
                  <a:pt x="220108" y="409877"/>
                </a:lnTo>
                <a:close/>
              </a:path>
              <a:path w="414020" h="801370">
                <a:moveTo>
                  <a:pt x="245494" y="461111"/>
                </a:moveTo>
                <a:lnTo>
                  <a:pt x="231354" y="468121"/>
                </a:lnTo>
                <a:lnTo>
                  <a:pt x="228465" y="476693"/>
                </a:lnTo>
                <a:lnTo>
                  <a:pt x="235487" y="490858"/>
                </a:lnTo>
                <a:lnTo>
                  <a:pt x="244058" y="493748"/>
                </a:lnTo>
                <a:lnTo>
                  <a:pt x="258198" y="486739"/>
                </a:lnTo>
                <a:lnTo>
                  <a:pt x="261089" y="478167"/>
                </a:lnTo>
                <a:lnTo>
                  <a:pt x="254066" y="464002"/>
                </a:lnTo>
                <a:lnTo>
                  <a:pt x="245494" y="461111"/>
                </a:lnTo>
                <a:close/>
              </a:path>
              <a:path w="414020" h="801370">
                <a:moveTo>
                  <a:pt x="270879" y="512346"/>
                </a:moveTo>
                <a:lnTo>
                  <a:pt x="256739" y="519355"/>
                </a:lnTo>
                <a:lnTo>
                  <a:pt x="253850" y="527928"/>
                </a:lnTo>
                <a:lnTo>
                  <a:pt x="260871" y="542093"/>
                </a:lnTo>
                <a:lnTo>
                  <a:pt x="269444" y="544983"/>
                </a:lnTo>
                <a:lnTo>
                  <a:pt x="283583" y="537974"/>
                </a:lnTo>
                <a:lnTo>
                  <a:pt x="286473" y="529401"/>
                </a:lnTo>
                <a:lnTo>
                  <a:pt x="279452" y="515236"/>
                </a:lnTo>
                <a:lnTo>
                  <a:pt x="270879" y="512346"/>
                </a:lnTo>
                <a:close/>
              </a:path>
              <a:path w="414020" h="801370">
                <a:moveTo>
                  <a:pt x="296271" y="563581"/>
                </a:moveTo>
                <a:lnTo>
                  <a:pt x="282129" y="570584"/>
                </a:lnTo>
                <a:lnTo>
                  <a:pt x="279234" y="579155"/>
                </a:lnTo>
                <a:lnTo>
                  <a:pt x="286250" y="593323"/>
                </a:lnTo>
                <a:lnTo>
                  <a:pt x="294821" y="596217"/>
                </a:lnTo>
                <a:lnTo>
                  <a:pt x="308964" y="589215"/>
                </a:lnTo>
                <a:lnTo>
                  <a:pt x="311858" y="580644"/>
                </a:lnTo>
                <a:lnTo>
                  <a:pt x="304843" y="566475"/>
                </a:lnTo>
                <a:lnTo>
                  <a:pt x="296271" y="563581"/>
                </a:lnTo>
                <a:close/>
              </a:path>
              <a:path w="414020" h="801370">
                <a:moveTo>
                  <a:pt x="321656" y="614816"/>
                </a:moveTo>
                <a:lnTo>
                  <a:pt x="307513" y="621818"/>
                </a:lnTo>
                <a:lnTo>
                  <a:pt x="304619" y="630389"/>
                </a:lnTo>
                <a:lnTo>
                  <a:pt x="311635" y="644558"/>
                </a:lnTo>
                <a:lnTo>
                  <a:pt x="320206" y="647452"/>
                </a:lnTo>
                <a:lnTo>
                  <a:pt x="334349" y="640449"/>
                </a:lnTo>
                <a:lnTo>
                  <a:pt x="337243" y="631879"/>
                </a:lnTo>
                <a:lnTo>
                  <a:pt x="330227" y="617710"/>
                </a:lnTo>
                <a:lnTo>
                  <a:pt x="321656" y="614816"/>
                </a:lnTo>
                <a:close/>
              </a:path>
              <a:path w="414020" h="801370">
                <a:moveTo>
                  <a:pt x="347042" y="666050"/>
                </a:moveTo>
                <a:lnTo>
                  <a:pt x="332898" y="673053"/>
                </a:lnTo>
                <a:lnTo>
                  <a:pt x="330004" y="681624"/>
                </a:lnTo>
                <a:lnTo>
                  <a:pt x="337019" y="695792"/>
                </a:lnTo>
                <a:lnTo>
                  <a:pt x="345591" y="698687"/>
                </a:lnTo>
                <a:lnTo>
                  <a:pt x="359733" y="691684"/>
                </a:lnTo>
                <a:lnTo>
                  <a:pt x="362628" y="683113"/>
                </a:lnTo>
                <a:lnTo>
                  <a:pt x="355612" y="668945"/>
                </a:lnTo>
                <a:lnTo>
                  <a:pt x="347042" y="666050"/>
                </a:lnTo>
                <a:close/>
              </a:path>
              <a:path w="414020" h="801370">
                <a:moveTo>
                  <a:pt x="372427" y="717285"/>
                </a:moveTo>
                <a:lnTo>
                  <a:pt x="358284" y="724288"/>
                </a:lnTo>
                <a:lnTo>
                  <a:pt x="355390" y="732859"/>
                </a:lnTo>
                <a:lnTo>
                  <a:pt x="362404" y="747027"/>
                </a:lnTo>
                <a:lnTo>
                  <a:pt x="370975" y="749921"/>
                </a:lnTo>
                <a:lnTo>
                  <a:pt x="385118" y="742919"/>
                </a:lnTo>
                <a:lnTo>
                  <a:pt x="388012" y="734348"/>
                </a:lnTo>
                <a:lnTo>
                  <a:pt x="380997" y="720180"/>
                </a:lnTo>
                <a:lnTo>
                  <a:pt x="372427" y="717285"/>
                </a:lnTo>
                <a:close/>
              </a:path>
              <a:path w="414020" h="801370">
                <a:moveTo>
                  <a:pt x="397812" y="768520"/>
                </a:moveTo>
                <a:lnTo>
                  <a:pt x="383669" y="775522"/>
                </a:lnTo>
                <a:lnTo>
                  <a:pt x="380775" y="784093"/>
                </a:lnTo>
                <a:lnTo>
                  <a:pt x="387790" y="798262"/>
                </a:lnTo>
                <a:lnTo>
                  <a:pt x="396360" y="801156"/>
                </a:lnTo>
                <a:lnTo>
                  <a:pt x="410503" y="794153"/>
                </a:lnTo>
                <a:lnTo>
                  <a:pt x="413397" y="785583"/>
                </a:lnTo>
                <a:lnTo>
                  <a:pt x="406383" y="771414"/>
                </a:lnTo>
                <a:lnTo>
                  <a:pt x="397812" y="76852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184135" y="5001767"/>
            <a:ext cx="359664" cy="3535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228560" y="50197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228560" y="50197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665976" y="5943600"/>
            <a:ext cx="359664" cy="3566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711070" y="59627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711070" y="59627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656576" y="5943600"/>
            <a:ext cx="359664" cy="35661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701226" y="59627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701226" y="59627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202168" y="5187696"/>
            <a:ext cx="359664" cy="35356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247241" y="520512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8" y="242152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247241" y="520512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321552" y="5141976"/>
            <a:ext cx="356616" cy="35661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364719" y="516078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364719" y="516078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327042" y="520344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299402" y="501446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92603" y="59623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440402" y="5160772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7507633" y="5183094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4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6331808" y="6278371"/>
            <a:ext cx="2451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Predictions </a:t>
            </a:r>
            <a:r>
              <a:rPr dirty="0" sz="1800" spc="-5" b="1">
                <a:latin typeface="Calibri"/>
                <a:cs typeface="Calibri"/>
              </a:rPr>
              <a:t>made </a:t>
            </a:r>
            <a:r>
              <a:rPr dirty="0" sz="1800" spc="-10" b="1">
                <a:latin typeface="Calibri"/>
                <a:cs typeface="Calibri"/>
              </a:rPr>
              <a:t>by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1" name="object 8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8"/>
              </a:rPr>
              <a:t>http://cs224w.stanford.edu</a:t>
            </a:r>
          </a:p>
        </p:txBody>
      </p:sp>
      <p:sp>
        <p:nvSpPr>
          <p:cNvPr id="82" name="object 8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79" name="object 79"/>
          <p:cNvSpPr txBox="1"/>
          <p:nvPr/>
        </p:nvSpPr>
        <p:spPr>
          <a:xfrm>
            <a:off x="7756469" y="5391403"/>
            <a:ext cx="162560" cy="837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88651"/>
                </a:solidFill>
                <a:latin typeface="Corbel"/>
                <a:cs typeface="Corbel"/>
              </a:rPr>
              <a:t>?</a:t>
            </a:r>
            <a:endParaRPr sz="2400">
              <a:latin typeface="Corbel"/>
              <a:cs typeface="Corbel"/>
            </a:endParaRPr>
          </a:p>
          <a:p>
            <a:pPr marL="25400">
              <a:lnSpc>
                <a:spcPct val="100000"/>
              </a:lnSpc>
              <a:spcBef>
                <a:spcPts val="159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98746" y="1745450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18398" y="2440906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08750" y="1602621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19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63733" y="1708072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22165" y="1542835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36720" y="1356360"/>
            <a:ext cx="359663" cy="356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81630" y="137544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81630" y="137544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21608" y="2301239"/>
            <a:ext cx="356615" cy="3535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64140" y="231850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64140" y="231850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09159" y="2301239"/>
            <a:ext cx="359663" cy="3535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54297" y="231850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54297" y="231850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57800" y="1542288"/>
            <a:ext cx="356615" cy="356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300310" y="15608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300310" y="15608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74135" y="1499616"/>
            <a:ext cx="359663" cy="353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17788" y="151649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17788" y="151649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380112" y="156108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52471" y="13721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93471" y="151536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60704" y="1538804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5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18108" y="2247448"/>
            <a:ext cx="7909559" cy="431355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 marR="331470">
              <a:lnSpc>
                <a:spcPct val="100000"/>
              </a:lnSpc>
              <a:spcBef>
                <a:spcPts val="645"/>
              </a:spcBef>
              <a:tabLst>
                <a:tab pos="975994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algn="ctr" marR="234950">
              <a:lnSpc>
                <a:spcPct val="100000"/>
              </a:lnSpc>
              <a:spcBef>
                <a:spcPts val="610"/>
              </a:spcBef>
            </a:pPr>
            <a:r>
              <a:rPr dirty="0" sz="1800" spc="-10" b="1">
                <a:latin typeface="Calibri"/>
                <a:cs typeface="Calibri"/>
              </a:rPr>
              <a:t>Original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5" b="1">
                <a:latin typeface="Calibri"/>
                <a:cs typeface="Calibri"/>
              </a:rPr>
              <a:t>graph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For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link prediction,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will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split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edges</a:t>
            </a:r>
            <a:r>
              <a:rPr dirty="0" sz="2800" spc="2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twice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Step </a:t>
            </a:r>
            <a:r>
              <a:rPr dirty="0" sz="2800" b="1">
                <a:latin typeface="Calibri"/>
                <a:cs typeface="Calibri"/>
              </a:rPr>
              <a:t>1: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Assign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2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types of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edges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in the original</a:t>
            </a:r>
            <a:r>
              <a:rPr dirty="0" sz="2800" spc="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4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 b="1">
                <a:latin typeface="Calibri"/>
                <a:cs typeface="Calibri"/>
              </a:rPr>
              <a:t>Message </a:t>
            </a:r>
            <a:r>
              <a:rPr dirty="0" sz="2400" spc="-10" b="1">
                <a:latin typeface="Calibri"/>
                <a:cs typeface="Calibri"/>
              </a:rPr>
              <a:t>edges: </a:t>
            </a:r>
            <a:r>
              <a:rPr dirty="0" sz="2400" spc="-5" b="1">
                <a:latin typeface="Calibri"/>
                <a:cs typeface="Calibri"/>
              </a:rPr>
              <a:t>Used </a:t>
            </a:r>
            <a:r>
              <a:rPr dirty="0" sz="2400" spc="-15" b="1">
                <a:latin typeface="Calibri"/>
                <a:cs typeface="Calibri"/>
              </a:rPr>
              <a:t>for </a:t>
            </a:r>
            <a:r>
              <a:rPr dirty="0" sz="2400" spc="-5" b="1">
                <a:latin typeface="Calibri"/>
                <a:cs typeface="Calibri"/>
              </a:rPr>
              <a:t>GNN message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passing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Supervision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edges: </a:t>
            </a: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Use </a:t>
            </a:r>
            <a:r>
              <a:rPr dirty="0" sz="2400" spc="-15" b="1">
                <a:solidFill>
                  <a:srgbClr val="E88651"/>
                </a:solidFill>
                <a:latin typeface="Calibri"/>
                <a:cs typeface="Calibri"/>
              </a:rPr>
              <a:t>for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computing</a:t>
            </a:r>
            <a:r>
              <a:rPr dirty="0" sz="2400" spc="25" b="1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objectives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0" b="1">
                <a:latin typeface="Calibri"/>
                <a:cs typeface="Calibri"/>
              </a:rPr>
              <a:t>After </a:t>
            </a:r>
            <a:r>
              <a:rPr dirty="0" sz="2400" spc="-15" b="1">
                <a:latin typeface="Calibri"/>
                <a:cs typeface="Calibri"/>
              </a:rPr>
              <a:t>step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1:</a:t>
            </a:r>
            <a:endParaRPr sz="24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50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 spc="-5" b="1">
                <a:latin typeface="Calibri"/>
                <a:cs typeface="Calibri"/>
              </a:rPr>
              <a:t>Only </a:t>
            </a:r>
            <a:r>
              <a:rPr dirty="0" sz="2200" spc="-10" b="1">
                <a:latin typeface="Calibri"/>
                <a:cs typeface="Calibri"/>
              </a:rPr>
              <a:t>message edges </a:t>
            </a:r>
            <a:r>
              <a:rPr dirty="0" sz="2200" spc="-5" b="1">
                <a:latin typeface="Calibri"/>
                <a:cs typeface="Calibri"/>
              </a:rPr>
              <a:t>will remain in the</a:t>
            </a:r>
            <a:r>
              <a:rPr dirty="0" sz="2200" spc="0" b="1">
                <a:latin typeface="Calibri"/>
                <a:cs typeface="Calibri"/>
              </a:rPr>
              <a:t> </a:t>
            </a:r>
            <a:r>
              <a:rPr dirty="0" sz="2200" spc="-15" b="1">
                <a:latin typeface="Calibri"/>
                <a:cs typeface="Calibri"/>
              </a:rPr>
              <a:t>graph</a:t>
            </a:r>
            <a:endParaRPr sz="2200">
              <a:latin typeface="Calibri"/>
              <a:cs typeface="Calibri"/>
            </a:endParaRPr>
          </a:p>
          <a:p>
            <a:pPr lvl="2" marL="890905" marR="372745" indent="-228600">
              <a:lnSpc>
                <a:spcPct val="102699"/>
              </a:lnSpc>
              <a:spcBef>
                <a:spcPts val="38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Supervision </a:t>
            </a:r>
            <a:r>
              <a:rPr dirty="0" sz="2200" spc="-10" b="1">
                <a:solidFill>
                  <a:srgbClr val="E88651"/>
                </a:solidFill>
                <a:latin typeface="Calibri"/>
                <a:cs typeface="Calibri"/>
              </a:rPr>
              <a:t>edges are </a:t>
            </a: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used </a:t>
            </a:r>
            <a:r>
              <a:rPr dirty="0" sz="2200" b="1">
                <a:solidFill>
                  <a:srgbClr val="E88651"/>
                </a:solidFill>
                <a:latin typeface="Calibri"/>
                <a:cs typeface="Calibri"/>
              </a:rPr>
              <a:t>as </a:t>
            </a: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supervision </a:t>
            </a:r>
            <a:r>
              <a:rPr dirty="0" sz="2200" spc="-15" b="1">
                <a:solidFill>
                  <a:srgbClr val="E88651"/>
                </a:solidFill>
                <a:latin typeface="Calibri"/>
                <a:cs typeface="Calibri"/>
              </a:rPr>
              <a:t>for </a:t>
            </a:r>
            <a:r>
              <a:rPr dirty="0" sz="2200" spc="-10" b="1">
                <a:solidFill>
                  <a:srgbClr val="E88651"/>
                </a:solidFill>
                <a:latin typeface="Calibri"/>
                <a:cs typeface="Calibri"/>
              </a:rPr>
              <a:t>edge  predictions </a:t>
            </a: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made </a:t>
            </a:r>
            <a:r>
              <a:rPr dirty="0" sz="2200" spc="-10" b="1">
                <a:solidFill>
                  <a:srgbClr val="E88651"/>
                </a:solidFill>
                <a:latin typeface="Calibri"/>
                <a:cs typeface="Calibri"/>
              </a:rPr>
              <a:t>by </a:t>
            </a: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the model, will not be </a:t>
            </a:r>
            <a:r>
              <a:rPr dirty="0" sz="2200" spc="-15" b="1">
                <a:solidFill>
                  <a:srgbClr val="E88651"/>
                </a:solidFill>
                <a:latin typeface="Calibri"/>
                <a:cs typeface="Calibri"/>
              </a:rPr>
              <a:t>fed into</a:t>
            </a:r>
            <a:r>
              <a:rPr dirty="0" sz="2200" spc="100" b="1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GNN!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28429" y="2008123"/>
            <a:ext cx="1518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rbel"/>
                <a:cs typeface="Corbel"/>
              </a:rPr>
              <a:t>Message</a:t>
            </a:r>
            <a:r>
              <a:rPr dirty="0" sz="1800" spc="-65" b="1">
                <a:latin typeface="Corbel"/>
                <a:cs typeface="Corbel"/>
              </a:rPr>
              <a:t> </a:t>
            </a:r>
            <a:r>
              <a:rPr dirty="0" sz="1800" spc="-5" b="1">
                <a:latin typeface="Corbel"/>
                <a:cs typeface="Corbel"/>
              </a:rPr>
              <a:t>edges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80608" y="2029460"/>
            <a:ext cx="1813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E88651"/>
                </a:solidFill>
                <a:latin typeface="Corbel"/>
                <a:cs typeface="Corbel"/>
              </a:rPr>
              <a:t>Supervision</a:t>
            </a:r>
            <a:r>
              <a:rPr dirty="0" sz="1800" spc="-55" b="1">
                <a:solidFill>
                  <a:srgbClr val="E88651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E88651"/>
                </a:solidFill>
                <a:latin typeface="Corbel"/>
                <a:cs typeface="Corbel"/>
              </a:rPr>
              <a:t>edges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10693" y="2150666"/>
            <a:ext cx="492759" cy="85725"/>
          </a:xfrm>
          <a:custGeom>
            <a:avLst/>
            <a:gdLst/>
            <a:ahLst/>
            <a:cxnLst/>
            <a:rect l="l" t="t" r="r" b="b"/>
            <a:pathLst>
              <a:path w="492760" h="85725">
                <a:moveTo>
                  <a:pt x="22207" y="28576"/>
                </a:moveTo>
                <a:lnTo>
                  <a:pt x="6396" y="28576"/>
                </a:lnTo>
                <a:lnTo>
                  <a:pt x="0" y="34973"/>
                </a:lnTo>
                <a:lnTo>
                  <a:pt x="0" y="50754"/>
                </a:lnTo>
                <a:lnTo>
                  <a:pt x="6396" y="57151"/>
                </a:lnTo>
                <a:lnTo>
                  <a:pt x="22207" y="57151"/>
                </a:lnTo>
                <a:lnTo>
                  <a:pt x="28602" y="50754"/>
                </a:lnTo>
                <a:lnTo>
                  <a:pt x="28602" y="34973"/>
                </a:lnTo>
                <a:lnTo>
                  <a:pt x="22207" y="28576"/>
                </a:lnTo>
                <a:close/>
              </a:path>
              <a:path w="492760" h="85725">
                <a:moveTo>
                  <a:pt x="79385" y="28576"/>
                </a:moveTo>
                <a:lnTo>
                  <a:pt x="63574" y="28576"/>
                </a:lnTo>
                <a:lnTo>
                  <a:pt x="57177" y="34973"/>
                </a:lnTo>
                <a:lnTo>
                  <a:pt x="57177" y="50754"/>
                </a:lnTo>
                <a:lnTo>
                  <a:pt x="63574" y="57151"/>
                </a:lnTo>
                <a:lnTo>
                  <a:pt x="79385" y="57151"/>
                </a:lnTo>
                <a:lnTo>
                  <a:pt x="85782" y="50754"/>
                </a:lnTo>
                <a:lnTo>
                  <a:pt x="85782" y="34973"/>
                </a:lnTo>
                <a:lnTo>
                  <a:pt x="79385" y="28576"/>
                </a:lnTo>
                <a:close/>
              </a:path>
              <a:path w="492760" h="85725">
                <a:moveTo>
                  <a:pt x="136564" y="28576"/>
                </a:moveTo>
                <a:lnTo>
                  <a:pt x="120754" y="28576"/>
                </a:lnTo>
                <a:lnTo>
                  <a:pt x="114358" y="34971"/>
                </a:lnTo>
                <a:lnTo>
                  <a:pt x="114357" y="50754"/>
                </a:lnTo>
                <a:lnTo>
                  <a:pt x="120754" y="57151"/>
                </a:lnTo>
                <a:lnTo>
                  <a:pt x="136564" y="57151"/>
                </a:lnTo>
                <a:lnTo>
                  <a:pt x="142960" y="50754"/>
                </a:lnTo>
                <a:lnTo>
                  <a:pt x="142960" y="34971"/>
                </a:lnTo>
                <a:lnTo>
                  <a:pt x="136564" y="28576"/>
                </a:lnTo>
                <a:close/>
              </a:path>
              <a:path w="492760" h="85725">
                <a:moveTo>
                  <a:pt x="193742" y="28576"/>
                </a:moveTo>
                <a:lnTo>
                  <a:pt x="177932" y="28576"/>
                </a:lnTo>
                <a:lnTo>
                  <a:pt x="171535" y="34971"/>
                </a:lnTo>
                <a:lnTo>
                  <a:pt x="171535" y="50754"/>
                </a:lnTo>
                <a:lnTo>
                  <a:pt x="177932" y="57151"/>
                </a:lnTo>
                <a:lnTo>
                  <a:pt x="193742" y="57151"/>
                </a:lnTo>
                <a:lnTo>
                  <a:pt x="200139" y="50754"/>
                </a:lnTo>
                <a:lnTo>
                  <a:pt x="200139" y="34971"/>
                </a:lnTo>
                <a:lnTo>
                  <a:pt x="193742" y="28576"/>
                </a:lnTo>
                <a:close/>
              </a:path>
              <a:path w="492760" h="85725">
                <a:moveTo>
                  <a:pt x="250921" y="28575"/>
                </a:moveTo>
                <a:lnTo>
                  <a:pt x="243029" y="28576"/>
                </a:lnTo>
                <a:lnTo>
                  <a:pt x="235111" y="28576"/>
                </a:lnTo>
                <a:lnTo>
                  <a:pt x="228714" y="34971"/>
                </a:lnTo>
                <a:lnTo>
                  <a:pt x="228714" y="50754"/>
                </a:lnTo>
                <a:lnTo>
                  <a:pt x="235111" y="57151"/>
                </a:lnTo>
                <a:lnTo>
                  <a:pt x="250921" y="57150"/>
                </a:lnTo>
                <a:lnTo>
                  <a:pt x="257317" y="50754"/>
                </a:lnTo>
                <a:lnTo>
                  <a:pt x="257317" y="34971"/>
                </a:lnTo>
                <a:lnTo>
                  <a:pt x="250921" y="28575"/>
                </a:lnTo>
                <a:close/>
              </a:path>
              <a:path w="492760" h="85725">
                <a:moveTo>
                  <a:pt x="308099" y="28575"/>
                </a:moveTo>
                <a:lnTo>
                  <a:pt x="292289" y="28575"/>
                </a:lnTo>
                <a:lnTo>
                  <a:pt x="285892" y="34971"/>
                </a:lnTo>
                <a:lnTo>
                  <a:pt x="285892" y="50754"/>
                </a:lnTo>
                <a:lnTo>
                  <a:pt x="292289" y="57150"/>
                </a:lnTo>
                <a:lnTo>
                  <a:pt x="308099" y="57150"/>
                </a:lnTo>
                <a:lnTo>
                  <a:pt x="314496" y="50754"/>
                </a:lnTo>
                <a:lnTo>
                  <a:pt x="314496" y="34971"/>
                </a:lnTo>
                <a:lnTo>
                  <a:pt x="308099" y="28575"/>
                </a:lnTo>
                <a:close/>
              </a:path>
              <a:path w="492760" h="85725">
                <a:moveTo>
                  <a:pt x="365278" y="28575"/>
                </a:moveTo>
                <a:lnTo>
                  <a:pt x="349468" y="28575"/>
                </a:lnTo>
                <a:lnTo>
                  <a:pt x="343071" y="34971"/>
                </a:lnTo>
                <a:lnTo>
                  <a:pt x="343071" y="50754"/>
                </a:lnTo>
                <a:lnTo>
                  <a:pt x="349468" y="57150"/>
                </a:lnTo>
                <a:lnTo>
                  <a:pt x="365278" y="57150"/>
                </a:lnTo>
                <a:lnTo>
                  <a:pt x="371673" y="50754"/>
                </a:lnTo>
                <a:lnTo>
                  <a:pt x="371674" y="34971"/>
                </a:lnTo>
                <a:lnTo>
                  <a:pt x="365278" y="28575"/>
                </a:lnTo>
                <a:close/>
              </a:path>
              <a:path w="492760" h="85725">
                <a:moveTo>
                  <a:pt x="407024" y="0"/>
                </a:moveTo>
                <a:lnTo>
                  <a:pt x="407024" y="85725"/>
                </a:lnTo>
                <a:lnTo>
                  <a:pt x="464174" y="57150"/>
                </a:lnTo>
                <a:lnTo>
                  <a:pt x="422456" y="57150"/>
                </a:lnTo>
                <a:lnTo>
                  <a:pt x="428853" y="50753"/>
                </a:lnTo>
                <a:lnTo>
                  <a:pt x="428853" y="34971"/>
                </a:lnTo>
                <a:lnTo>
                  <a:pt x="422456" y="28575"/>
                </a:lnTo>
                <a:lnTo>
                  <a:pt x="464174" y="28575"/>
                </a:lnTo>
                <a:lnTo>
                  <a:pt x="407024" y="0"/>
                </a:lnTo>
                <a:close/>
              </a:path>
              <a:path w="492760" h="85725">
                <a:moveTo>
                  <a:pt x="407024" y="28575"/>
                </a:moveTo>
                <a:lnTo>
                  <a:pt x="406646" y="28575"/>
                </a:lnTo>
                <a:lnTo>
                  <a:pt x="400249" y="34971"/>
                </a:lnTo>
                <a:lnTo>
                  <a:pt x="400249" y="50753"/>
                </a:lnTo>
                <a:lnTo>
                  <a:pt x="406646" y="57150"/>
                </a:lnTo>
                <a:lnTo>
                  <a:pt x="407024" y="57150"/>
                </a:lnTo>
                <a:lnTo>
                  <a:pt x="407024" y="28575"/>
                </a:lnTo>
                <a:close/>
              </a:path>
              <a:path w="492760" h="85725">
                <a:moveTo>
                  <a:pt x="464174" y="28575"/>
                </a:moveTo>
                <a:lnTo>
                  <a:pt x="422456" y="28575"/>
                </a:lnTo>
                <a:lnTo>
                  <a:pt x="428853" y="34971"/>
                </a:lnTo>
                <a:lnTo>
                  <a:pt x="428853" y="50753"/>
                </a:lnTo>
                <a:lnTo>
                  <a:pt x="422456" y="57150"/>
                </a:lnTo>
                <a:lnTo>
                  <a:pt x="464174" y="57150"/>
                </a:lnTo>
                <a:lnTo>
                  <a:pt x="492749" y="42862"/>
                </a:lnTo>
                <a:lnTo>
                  <a:pt x="464174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246063" y="2150666"/>
            <a:ext cx="570230" cy="85725"/>
          </a:xfrm>
          <a:custGeom>
            <a:avLst/>
            <a:gdLst/>
            <a:ahLst/>
            <a:cxnLst/>
            <a:rect l="l" t="t" r="r" b="b"/>
            <a:pathLst>
              <a:path w="570229" h="85725">
                <a:moveTo>
                  <a:pt x="563694" y="28576"/>
                </a:moveTo>
                <a:lnTo>
                  <a:pt x="547884" y="28576"/>
                </a:lnTo>
                <a:lnTo>
                  <a:pt x="541487" y="34973"/>
                </a:lnTo>
                <a:lnTo>
                  <a:pt x="541487" y="50754"/>
                </a:lnTo>
                <a:lnTo>
                  <a:pt x="547884" y="57151"/>
                </a:lnTo>
                <a:lnTo>
                  <a:pt x="563694" y="57151"/>
                </a:lnTo>
                <a:lnTo>
                  <a:pt x="570091" y="50754"/>
                </a:lnTo>
                <a:lnTo>
                  <a:pt x="570091" y="34973"/>
                </a:lnTo>
                <a:lnTo>
                  <a:pt x="563694" y="28576"/>
                </a:lnTo>
                <a:close/>
              </a:path>
              <a:path w="570229" h="85725">
                <a:moveTo>
                  <a:pt x="506516" y="28576"/>
                </a:moveTo>
                <a:lnTo>
                  <a:pt x="490706" y="28576"/>
                </a:lnTo>
                <a:lnTo>
                  <a:pt x="484309" y="34973"/>
                </a:lnTo>
                <a:lnTo>
                  <a:pt x="484309" y="50754"/>
                </a:lnTo>
                <a:lnTo>
                  <a:pt x="490706" y="57151"/>
                </a:lnTo>
                <a:lnTo>
                  <a:pt x="506516" y="57151"/>
                </a:lnTo>
                <a:lnTo>
                  <a:pt x="512912" y="50754"/>
                </a:lnTo>
                <a:lnTo>
                  <a:pt x="512912" y="34973"/>
                </a:lnTo>
                <a:lnTo>
                  <a:pt x="506516" y="28576"/>
                </a:lnTo>
                <a:close/>
              </a:path>
              <a:path w="570229" h="85725">
                <a:moveTo>
                  <a:pt x="449337" y="28576"/>
                </a:moveTo>
                <a:lnTo>
                  <a:pt x="433527" y="28576"/>
                </a:lnTo>
                <a:lnTo>
                  <a:pt x="427130" y="34971"/>
                </a:lnTo>
                <a:lnTo>
                  <a:pt x="427130" y="50754"/>
                </a:lnTo>
                <a:lnTo>
                  <a:pt x="433527" y="57151"/>
                </a:lnTo>
                <a:lnTo>
                  <a:pt x="449337" y="57151"/>
                </a:lnTo>
                <a:lnTo>
                  <a:pt x="455734" y="50754"/>
                </a:lnTo>
                <a:lnTo>
                  <a:pt x="455733" y="34971"/>
                </a:lnTo>
                <a:lnTo>
                  <a:pt x="449337" y="28576"/>
                </a:lnTo>
                <a:close/>
              </a:path>
              <a:path w="570229" h="85725">
                <a:moveTo>
                  <a:pt x="392159" y="28576"/>
                </a:moveTo>
                <a:lnTo>
                  <a:pt x="376349" y="28576"/>
                </a:lnTo>
                <a:lnTo>
                  <a:pt x="369952" y="34971"/>
                </a:lnTo>
                <a:lnTo>
                  <a:pt x="369952" y="50754"/>
                </a:lnTo>
                <a:lnTo>
                  <a:pt x="376349" y="57151"/>
                </a:lnTo>
                <a:lnTo>
                  <a:pt x="392159" y="57151"/>
                </a:lnTo>
                <a:lnTo>
                  <a:pt x="398555" y="50754"/>
                </a:lnTo>
                <a:lnTo>
                  <a:pt x="398555" y="34971"/>
                </a:lnTo>
                <a:lnTo>
                  <a:pt x="392159" y="28576"/>
                </a:lnTo>
                <a:close/>
              </a:path>
              <a:path w="570229" h="85725">
                <a:moveTo>
                  <a:pt x="334980" y="28576"/>
                </a:moveTo>
                <a:lnTo>
                  <a:pt x="319170" y="28576"/>
                </a:lnTo>
                <a:lnTo>
                  <a:pt x="312773" y="34971"/>
                </a:lnTo>
                <a:lnTo>
                  <a:pt x="312773" y="50754"/>
                </a:lnTo>
                <a:lnTo>
                  <a:pt x="319170" y="57151"/>
                </a:lnTo>
                <a:lnTo>
                  <a:pt x="334980" y="57151"/>
                </a:lnTo>
                <a:lnTo>
                  <a:pt x="341377" y="50754"/>
                </a:lnTo>
                <a:lnTo>
                  <a:pt x="341377" y="34971"/>
                </a:lnTo>
                <a:lnTo>
                  <a:pt x="334980" y="28576"/>
                </a:lnTo>
                <a:close/>
              </a:path>
              <a:path w="570229" h="85725">
                <a:moveTo>
                  <a:pt x="277802" y="28575"/>
                </a:moveTo>
                <a:lnTo>
                  <a:pt x="261992" y="28575"/>
                </a:lnTo>
                <a:lnTo>
                  <a:pt x="255595" y="34971"/>
                </a:lnTo>
                <a:lnTo>
                  <a:pt x="255595" y="50754"/>
                </a:lnTo>
                <a:lnTo>
                  <a:pt x="261992" y="57150"/>
                </a:lnTo>
                <a:lnTo>
                  <a:pt x="277802" y="57150"/>
                </a:lnTo>
                <a:lnTo>
                  <a:pt x="284198" y="50754"/>
                </a:lnTo>
                <a:lnTo>
                  <a:pt x="284198" y="34971"/>
                </a:lnTo>
                <a:lnTo>
                  <a:pt x="277802" y="28575"/>
                </a:lnTo>
                <a:close/>
              </a:path>
              <a:path w="570229" h="85725">
                <a:moveTo>
                  <a:pt x="220623" y="28575"/>
                </a:moveTo>
                <a:lnTo>
                  <a:pt x="204812" y="28575"/>
                </a:lnTo>
                <a:lnTo>
                  <a:pt x="198415" y="34971"/>
                </a:lnTo>
                <a:lnTo>
                  <a:pt x="198415" y="50754"/>
                </a:lnTo>
                <a:lnTo>
                  <a:pt x="204812" y="57150"/>
                </a:lnTo>
                <a:lnTo>
                  <a:pt x="220623" y="57150"/>
                </a:lnTo>
                <a:lnTo>
                  <a:pt x="227020" y="50754"/>
                </a:lnTo>
                <a:lnTo>
                  <a:pt x="227020" y="34971"/>
                </a:lnTo>
                <a:lnTo>
                  <a:pt x="220623" y="28575"/>
                </a:lnTo>
                <a:close/>
              </a:path>
              <a:path w="570229" h="85725">
                <a:moveTo>
                  <a:pt x="163445" y="28575"/>
                </a:moveTo>
                <a:lnTo>
                  <a:pt x="147634" y="28575"/>
                </a:lnTo>
                <a:lnTo>
                  <a:pt x="141237" y="34971"/>
                </a:lnTo>
                <a:lnTo>
                  <a:pt x="141239" y="50754"/>
                </a:lnTo>
                <a:lnTo>
                  <a:pt x="147634" y="57150"/>
                </a:lnTo>
                <a:lnTo>
                  <a:pt x="163445" y="57150"/>
                </a:lnTo>
                <a:lnTo>
                  <a:pt x="169840" y="50754"/>
                </a:lnTo>
                <a:lnTo>
                  <a:pt x="169840" y="34971"/>
                </a:lnTo>
                <a:lnTo>
                  <a:pt x="163445" y="28575"/>
                </a:lnTo>
                <a:close/>
              </a:path>
              <a:path w="570229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2419"/>
                </a:lnTo>
                <a:lnTo>
                  <a:pt x="84058" y="50753"/>
                </a:lnTo>
                <a:lnTo>
                  <a:pt x="84058" y="34971"/>
                </a:lnTo>
                <a:lnTo>
                  <a:pt x="85725" y="33305"/>
                </a:lnTo>
                <a:lnTo>
                  <a:pt x="85725" y="0"/>
                </a:lnTo>
                <a:close/>
              </a:path>
              <a:path w="570229" h="85725">
                <a:moveTo>
                  <a:pt x="106265" y="28575"/>
                </a:moveTo>
                <a:lnTo>
                  <a:pt x="90455" y="28575"/>
                </a:lnTo>
                <a:lnTo>
                  <a:pt x="85725" y="33305"/>
                </a:lnTo>
                <a:lnTo>
                  <a:pt x="85725" y="52419"/>
                </a:lnTo>
                <a:lnTo>
                  <a:pt x="90455" y="57150"/>
                </a:lnTo>
                <a:lnTo>
                  <a:pt x="106265" y="57150"/>
                </a:lnTo>
                <a:lnTo>
                  <a:pt x="112662" y="50753"/>
                </a:lnTo>
                <a:lnTo>
                  <a:pt x="112662" y="34971"/>
                </a:lnTo>
                <a:lnTo>
                  <a:pt x="106265" y="28575"/>
                </a:lnTo>
                <a:close/>
              </a:path>
              <a:path w="570229" h="85725">
                <a:moveTo>
                  <a:pt x="85725" y="33305"/>
                </a:moveTo>
                <a:lnTo>
                  <a:pt x="84058" y="34971"/>
                </a:lnTo>
                <a:lnTo>
                  <a:pt x="84058" y="50753"/>
                </a:lnTo>
                <a:lnTo>
                  <a:pt x="85725" y="52419"/>
                </a:lnTo>
                <a:lnTo>
                  <a:pt x="85725" y="33305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8"/>
              </a:rPr>
              <a:t>http://cs224w.stanford.edu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383" y="1202436"/>
            <a:ext cx="8100059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00"/>
                </a:solidFill>
              </a:rPr>
              <a:t>Step </a:t>
            </a:r>
            <a:r>
              <a:rPr dirty="0">
                <a:solidFill>
                  <a:srgbClr val="000000"/>
                </a:solidFill>
              </a:rPr>
              <a:t>2: </a:t>
            </a:r>
            <a:r>
              <a:rPr dirty="0" spc="-5">
                <a:solidFill>
                  <a:srgbClr val="C00000"/>
                </a:solidFill>
              </a:rPr>
              <a:t>Split </a:t>
            </a:r>
            <a:r>
              <a:rPr dirty="0" spc="-10">
                <a:solidFill>
                  <a:srgbClr val="C00000"/>
                </a:solidFill>
              </a:rPr>
              <a:t>edges </a:t>
            </a:r>
            <a:r>
              <a:rPr dirty="0" spc="-20">
                <a:solidFill>
                  <a:srgbClr val="C00000"/>
                </a:solidFill>
              </a:rPr>
              <a:t>into train </a:t>
            </a:r>
            <a:r>
              <a:rPr dirty="0">
                <a:solidFill>
                  <a:srgbClr val="C00000"/>
                </a:solidFill>
              </a:rPr>
              <a:t>/ </a:t>
            </a:r>
            <a:r>
              <a:rPr dirty="0" spc="-15">
                <a:solidFill>
                  <a:srgbClr val="C00000"/>
                </a:solidFill>
              </a:rPr>
              <a:t>validation </a:t>
            </a:r>
            <a:r>
              <a:rPr dirty="0">
                <a:solidFill>
                  <a:srgbClr val="C00000"/>
                </a:solidFill>
              </a:rPr>
              <a:t>/</a:t>
            </a:r>
            <a:r>
              <a:rPr dirty="0" spc="65">
                <a:solidFill>
                  <a:srgbClr val="C00000"/>
                </a:solidFill>
              </a:rPr>
              <a:t> </a:t>
            </a:r>
            <a:r>
              <a:rPr dirty="0" spc="-20">
                <a:solidFill>
                  <a:srgbClr val="C00000"/>
                </a:solidFill>
              </a:rPr>
              <a:t>test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70C0"/>
                </a:solidFill>
              </a:rPr>
              <a:t>Option </a:t>
            </a:r>
            <a:r>
              <a:rPr dirty="0">
                <a:solidFill>
                  <a:srgbClr val="0070C0"/>
                </a:solidFill>
              </a:rPr>
              <a:t>1: </a:t>
            </a:r>
            <a:r>
              <a:rPr dirty="0" spc="-10">
                <a:solidFill>
                  <a:srgbClr val="C00000"/>
                </a:solidFill>
              </a:rPr>
              <a:t>Inductive </a:t>
            </a:r>
            <a:r>
              <a:rPr dirty="0" spc="-5">
                <a:solidFill>
                  <a:srgbClr val="0070C0"/>
                </a:solidFill>
              </a:rPr>
              <a:t>link </a:t>
            </a:r>
            <a:r>
              <a:rPr dirty="0" spc="-10">
                <a:solidFill>
                  <a:srgbClr val="0070C0"/>
                </a:solidFill>
              </a:rPr>
              <a:t>prediction</a:t>
            </a:r>
            <a:r>
              <a:rPr dirty="0" spc="25">
                <a:solidFill>
                  <a:srgbClr val="0070C0"/>
                </a:solidFill>
              </a:rPr>
              <a:t> </a:t>
            </a:r>
            <a:r>
              <a:rPr dirty="0" spc="-5">
                <a:solidFill>
                  <a:srgbClr val="0070C0"/>
                </a:solidFill>
              </a:rPr>
              <a:t>split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5838" y="2268219"/>
            <a:ext cx="7506334" cy="8731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508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Suppose </a:t>
            </a:r>
            <a:r>
              <a:rPr dirty="0" sz="2800" spc="-15" b="1">
                <a:latin typeface="Calibri"/>
                <a:cs typeface="Calibri"/>
              </a:rPr>
              <a:t>we </a:t>
            </a:r>
            <a:r>
              <a:rPr dirty="0" sz="2800" spc="-20" b="1">
                <a:latin typeface="Calibri"/>
                <a:cs typeface="Calibri"/>
              </a:rPr>
              <a:t>have </a:t>
            </a:r>
            <a:r>
              <a:rPr dirty="0" sz="2800" b="1">
                <a:latin typeface="Calibri"/>
                <a:cs typeface="Calibri"/>
              </a:rPr>
              <a:t>a </a:t>
            </a:r>
            <a:r>
              <a:rPr dirty="0" sz="2800" spc="-15" b="1">
                <a:latin typeface="Calibri"/>
                <a:cs typeface="Calibri"/>
              </a:rPr>
              <a:t>dataset </a:t>
            </a:r>
            <a:r>
              <a:rPr dirty="0" sz="2800" spc="-5" b="1">
                <a:latin typeface="Calibri"/>
                <a:cs typeface="Calibri"/>
              </a:rPr>
              <a:t>of </a:t>
            </a:r>
            <a:r>
              <a:rPr dirty="0" sz="2800" b="1">
                <a:latin typeface="Calibri"/>
                <a:cs typeface="Calibri"/>
              </a:rPr>
              <a:t>3 </a:t>
            </a:r>
            <a:r>
              <a:rPr dirty="0" sz="2800" spc="-15" b="1">
                <a:latin typeface="Calibri"/>
                <a:cs typeface="Calibri"/>
              </a:rPr>
              <a:t>graphs. Each  </a:t>
            </a:r>
            <a:r>
              <a:rPr dirty="0" sz="2800" spc="-10" b="1">
                <a:latin typeface="Calibri"/>
                <a:cs typeface="Calibri"/>
              </a:rPr>
              <a:t>inductive </a:t>
            </a:r>
            <a:r>
              <a:rPr dirty="0" sz="2800" spc="-5" b="1">
                <a:latin typeface="Calibri"/>
                <a:cs typeface="Calibri"/>
              </a:rPr>
              <a:t>split </a:t>
            </a:r>
            <a:r>
              <a:rPr dirty="0" sz="2800" b="1">
                <a:latin typeface="Calibri"/>
                <a:cs typeface="Calibri"/>
              </a:rPr>
              <a:t>will </a:t>
            </a:r>
            <a:r>
              <a:rPr dirty="0" sz="2800" spc="-15" b="1">
                <a:latin typeface="Calibri"/>
                <a:cs typeface="Calibri"/>
              </a:rPr>
              <a:t>contain </a:t>
            </a:r>
            <a:r>
              <a:rPr dirty="0" sz="2800" b="1">
                <a:latin typeface="Calibri"/>
                <a:cs typeface="Calibri"/>
              </a:rPr>
              <a:t>an </a:t>
            </a:r>
            <a:r>
              <a:rPr dirty="0" sz="2800" spc="-10" b="1">
                <a:latin typeface="Calibri"/>
                <a:cs typeface="Calibri"/>
              </a:rPr>
              <a:t>independent</a:t>
            </a:r>
            <a:r>
              <a:rPr dirty="0" sz="2800" spc="80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90173" y="5302399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00178" y="5159570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55161" y="5265021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13592" y="5099785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29839" y="4913376"/>
            <a:ext cx="356615" cy="356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73059" y="49323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73059" y="49323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11679" y="5858255"/>
            <a:ext cx="359663" cy="353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55568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55568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02279" y="5858255"/>
            <a:ext cx="356616" cy="353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45725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45725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47871" y="5099303"/>
            <a:ext cx="359663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91738" y="511777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591738" y="511777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64207" y="5056632"/>
            <a:ext cx="359663" cy="3535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09216" y="507344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09216" y="507344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684239" y="5118100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56600" y="4929123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97599" y="5072379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852132" y="5095754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305567" y="5335306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725220" y="6030761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615570" y="5192478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670555" y="5297928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28984" y="5132692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943855" y="4946903"/>
            <a:ext cx="359663" cy="356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988452" y="49652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988452" y="49652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428744" y="5888735"/>
            <a:ext cx="356615" cy="3566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470961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470961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416296" y="5888735"/>
            <a:ext cx="359663" cy="35661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461118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461118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964935" y="5132832"/>
            <a:ext cx="356615" cy="3535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007131" y="515068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007131" y="515068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081271" y="5087111"/>
            <a:ext cx="356615" cy="3566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124609" y="510635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124609" y="510635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6099632" y="5148579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71992" y="4959603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212992" y="5105908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733064" y="5368213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152716" y="6063669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098052" y="533083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556483" y="5165599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373111" y="4980432"/>
            <a:ext cx="356616" cy="3535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415948" y="499820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415948" y="499820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854952" y="5922263"/>
            <a:ext cx="359664" cy="3566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898458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898458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845552" y="5922263"/>
            <a:ext cx="356616" cy="35661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888613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888613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391143" y="5166359"/>
            <a:ext cx="359664" cy="35356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434628" y="518359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8434628" y="518359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507480" y="5120640"/>
            <a:ext cx="359664" cy="35661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552106" y="513926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552106" y="513926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8455407" y="5176011"/>
            <a:ext cx="2387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433739" y="4987035"/>
            <a:ext cx="2387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588827" y="5130291"/>
            <a:ext cx="2159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90" b="1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695022" y="5161568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4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2095141" y="5834176"/>
            <a:ext cx="1227455" cy="66421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409"/>
              </a:spcBef>
              <a:tabLst>
                <a:tab pos="103124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dirty="0" sz="20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427174" y="5876848"/>
            <a:ext cx="1534160" cy="63627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315"/>
              </a:spcBef>
              <a:tabLst>
                <a:tab pos="1114425" algn="l"/>
              </a:tabLst>
            </a:pPr>
            <a:r>
              <a:rPr dirty="0" baseline="1736" sz="2400" spc="-7" b="1">
                <a:solidFill>
                  <a:srgbClr val="FFFFFF"/>
                </a:solidFill>
                <a:latin typeface="Arial"/>
                <a:cs typeface="Arial"/>
              </a:rPr>
              <a:t>10	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r>
              <a:rPr dirty="0" sz="2000" spc="-5" b="1">
                <a:solidFill>
                  <a:srgbClr val="60B5CC"/>
                </a:solidFill>
                <a:latin typeface="Corbel"/>
                <a:cs typeface="Corbel"/>
              </a:rPr>
              <a:t>Validation</a:t>
            </a:r>
            <a:r>
              <a:rPr dirty="0" sz="2000" spc="-70" b="1">
                <a:solidFill>
                  <a:srgbClr val="60B5CC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60B5CC"/>
                </a:solidFill>
                <a:latin typeface="Corbel"/>
                <a:cs typeface="Corbel"/>
              </a:rPr>
              <a:t>set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639254" y="4898086"/>
            <a:ext cx="2281555" cy="1640839"/>
          </a:xfrm>
          <a:custGeom>
            <a:avLst/>
            <a:gdLst/>
            <a:ahLst/>
            <a:cxnLst/>
            <a:rect l="l" t="t" r="r" b="b"/>
            <a:pathLst>
              <a:path w="2281554" h="1640840">
                <a:moveTo>
                  <a:pt x="0" y="0"/>
                </a:moveTo>
                <a:lnTo>
                  <a:pt x="2280964" y="0"/>
                </a:lnTo>
                <a:lnTo>
                  <a:pt x="2280964" y="1640368"/>
                </a:lnTo>
                <a:lnTo>
                  <a:pt x="0" y="164036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042266" y="4907536"/>
            <a:ext cx="2281555" cy="1640839"/>
          </a:xfrm>
          <a:custGeom>
            <a:avLst/>
            <a:gdLst/>
            <a:ahLst/>
            <a:cxnLst/>
            <a:rect l="l" t="t" r="r" b="b"/>
            <a:pathLst>
              <a:path w="2281554" h="1640840">
                <a:moveTo>
                  <a:pt x="0" y="0"/>
                </a:moveTo>
                <a:lnTo>
                  <a:pt x="2280964" y="0"/>
                </a:lnTo>
                <a:lnTo>
                  <a:pt x="2280964" y="1640368"/>
                </a:lnTo>
                <a:lnTo>
                  <a:pt x="0" y="164036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445276" y="4916986"/>
            <a:ext cx="2281555" cy="1640839"/>
          </a:xfrm>
          <a:custGeom>
            <a:avLst/>
            <a:gdLst/>
            <a:ahLst/>
            <a:cxnLst/>
            <a:rect l="l" t="t" r="r" b="b"/>
            <a:pathLst>
              <a:path w="2281554" h="1640840">
                <a:moveTo>
                  <a:pt x="0" y="0"/>
                </a:moveTo>
                <a:lnTo>
                  <a:pt x="2280964" y="0"/>
                </a:lnTo>
                <a:lnTo>
                  <a:pt x="2280964" y="1640368"/>
                </a:lnTo>
                <a:lnTo>
                  <a:pt x="0" y="164036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2600232" y="5452364"/>
            <a:ext cx="241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95">
                <a:latin typeface="Cambria Math"/>
                <a:cs typeface="Cambria Math"/>
              </a:rPr>
              <a:t>𝐺</a:t>
            </a:r>
            <a:r>
              <a:rPr dirty="0" baseline="-14957" sz="1950" spc="562">
                <a:latin typeface="Cambria Math"/>
                <a:cs typeface="Cambria Math"/>
              </a:rPr>
              <a:t>!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8"/>
              </a:rPr>
              <a:t>http://cs224w.stanford.edu</a:t>
            </a:r>
          </a:p>
        </p:txBody>
      </p:sp>
      <p:sp>
        <p:nvSpPr>
          <p:cNvPr id="84" name="object 84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011585" y="5452364"/>
            <a:ext cx="2463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𝐺</a:t>
            </a:r>
            <a:r>
              <a:rPr dirty="0" baseline="-14957" sz="1950" spc="127">
                <a:latin typeface="Cambria Math"/>
                <a:cs typeface="Cambria Math"/>
              </a:rPr>
              <a:t>$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913661" y="5452364"/>
            <a:ext cx="1241425" cy="105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795">
              <a:lnSpc>
                <a:spcPct val="100000"/>
              </a:lnSpc>
              <a:spcBef>
                <a:spcPts val="100"/>
              </a:spcBef>
            </a:pPr>
            <a:r>
              <a:rPr dirty="0" sz="1800" spc="-229">
                <a:latin typeface="Cambria Math"/>
                <a:cs typeface="Cambria Math"/>
              </a:rPr>
              <a:t>𝐺</a:t>
            </a:r>
            <a:r>
              <a:rPr dirty="0" baseline="-14957" sz="1950" spc="-345">
                <a:latin typeface="Cambria Math"/>
                <a:cs typeface="Cambria Math"/>
              </a:rPr>
              <a:t>%</a:t>
            </a:r>
            <a:endParaRPr baseline="-14957" sz="1950">
              <a:latin typeface="Cambria Math"/>
              <a:cs typeface="Cambria Math"/>
            </a:endParaRPr>
          </a:p>
          <a:p>
            <a:pPr algn="ctr" marR="5080">
              <a:lnSpc>
                <a:spcPts val="1864"/>
              </a:lnSpc>
              <a:spcBef>
                <a:spcPts val="1710"/>
              </a:spcBef>
              <a:tabLst>
                <a:tab pos="1002665" algn="l"/>
              </a:tabLst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1600">
              <a:latin typeface="Arial"/>
              <a:cs typeface="Arial"/>
            </a:endParaRPr>
          </a:p>
          <a:p>
            <a:pPr algn="ctr" marL="77470">
              <a:lnSpc>
                <a:spcPts val="2345"/>
              </a:lnSpc>
            </a:pPr>
            <a:r>
              <a:rPr dirty="0" sz="2000" spc="-35" b="1">
                <a:solidFill>
                  <a:srgbClr val="6BB76D"/>
                </a:solidFill>
                <a:latin typeface="Corbel"/>
                <a:cs typeface="Corbel"/>
              </a:rPr>
              <a:t>Test</a:t>
            </a:r>
            <a:r>
              <a:rPr dirty="0" sz="2000" spc="-90" b="1">
                <a:solidFill>
                  <a:srgbClr val="6BB76D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6BB76D"/>
                </a:solidFill>
                <a:latin typeface="Corbel"/>
                <a:cs typeface="Corbel"/>
              </a:rPr>
              <a:t>set</a:t>
            </a:r>
            <a:endParaRPr sz="20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383" y="1202436"/>
            <a:ext cx="8100059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00"/>
                </a:solidFill>
              </a:rPr>
              <a:t>Step </a:t>
            </a:r>
            <a:r>
              <a:rPr dirty="0">
                <a:solidFill>
                  <a:srgbClr val="000000"/>
                </a:solidFill>
              </a:rPr>
              <a:t>2: </a:t>
            </a:r>
            <a:r>
              <a:rPr dirty="0" spc="-5">
                <a:solidFill>
                  <a:srgbClr val="C00000"/>
                </a:solidFill>
              </a:rPr>
              <a:t>Split </a:t>
            </a:r>
            <a:r>
              <a:rPr dirty="0" spc="-10">
                <a:solidFill>
                  <a:srgbClr val="C00000"/>
                </a:solidFill>
              </a:rPr>
              <a:t>edges </a:t>
            </a:r>
            <a:r>
              <a:rPr dirty="0" spc="-20">
                <a:solidFill>
                  <a:srgbClr val="C00000"/>
                </a:solidFill>
              </a:rPr>
              <a:t>into train </a:t>
            </a:r>
            <a:r>
              <a:rPr dirty="0">
                <a:solidFill>
                  <a:srgbClr val="C00000"/>
                </a:solidFill>
              </a:rPr>
              <a:t>/ </a:t>
            </a:r>
            <a:r>
              <a:rPr dirty="0" spc="-15">
                <a:solidFill>
                  <a:srgbClr val="C00000"/>
                </a:solidFill>
              </a:rPr>
              <a:t>validation </a:t>
            </a:r>
            <a:r>
              <a:rPr dirty="0">
                <a:solidFill>
                  <a:srgbClr val="C00000"/>
                </a:solidFill>
              </a:rPr>
              <a:t>/</a:t>
            </a:r>
            <a:r>
              <a:rPr dirty="0" spc="65">
                <a:solidFill>
                  <a:srgbClr val="C00000"/>
                </a:solidFill>
              </a:rPr>
              <a:t> </a:t>
            </a:r>
            <a:r>
              <a:rPr dirty="0" spc="-20">
                <a:solidFill>
                  <a:srgbClr val="C00000"/>
                </a:solidFill>
              </a:rPr>
              <a:t>test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70C0"/>
                </a:solidFill>
              </a:rPr>
              <a:t>Option </a:t>
            </a:r>
            <a:r>
              <a:rPr dirty="0">
                <a:solidFill>
                  <a:srgbClr val="0070C0"/>
                </a:solidFill>
              </a:rPr>
              <a:t>1: </a:t>
            </a:r>
            <a:r>
              <a:rPr dirty="0" spc="-10">
                <a:solidFill>
                  <a:srgbClr val="0070C0"/>
                </a:solidFill>
              </a:rPr>
              <a:t>Inductive </a:t>
            </a:r>
            <a:r>
              <a:rPr dirty="0" spc="-5">
                <a:solidFill>
                  <a:srgbClr val="0070C0"/>
                </a:solidFill>
              </a:rPr>
              <a:t>link </a:t>
            </a:r>
            <a:r>
              <a:rPr dirty="0" spc="-10">
                <a:solidFill>
                  <a:srgbClr val="0070C0"/>
                </a:solidFill>
              </a:rPr>
              <a:t>prediction</a:t>
            </a:r>
            <a:r>
              <a:rPr dirty="0" spc="25">
                <a:solidFill>
                  <a:srgbClr val="0070C0"/>
                </a:solidFill>
              </a:rPr>
              <a:t> </a:t>
            </a:r>
            <a:r>
              <a:rPr dirty="0" spc="-5">
                <a:solidFill>
                  <a:srgbClr val="0070C0"/>
                </a:solidFill>
              </a:rPr>
              <a:t>split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5838" y="2268219"/>
            <a:ext cx="7778750" cy="225869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27686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Suppose </a:t>
            </a:r>
            <a:r>
              <a:rPr dirty="0" sz="2800" spc="-15" b="1">
                <a:latin typeface="Calibri"/>
                <a:cs typeface="Calibri"/>
              </a:rPr>
              <a:t>we </a:t>
            </a:r>
            <a:r>
              <a:rPr dirty="0" sz="2800" spc="-20" b="1">
                <a:latin typeface="Calibri"/>
                <a:cs typeface="Calibri"/>
              </a:rPr>
              <a:t>have </a:t>
            </a:r>
            <a:r>
              <a:rPr dirty="0" sz="2800" b="1">
                <a:latin typeface="Calibri"/>
                <a:cs typeface="Calibri"/>
              </a:rPr>
              <a:t>a </a:t>
            </a:r>
            <a:r>
              <a:rPr dirty="0" sz="2800" spc="-15" b="1">
                <a:latin typeface="Calibri"/>
                <a:cs typeface="Calibri"/>
              </a:rPr>
              <a:t>dataset </a:t>
            </a:r>
            <a:r>
              <a:rPr dirty="0" sz="2800" spc="-5" b="1">
                <a:latin typeface="Calibri"/>
                <a:cs typeface="Calibri"/>
              </a:rPr>
              <a:t>of </a:t>
            </a:r>
            <a:r>
              <a:rPr dirty="0" sz="2800" b="1">
                <a:latin typeface="Calibri"/>
                <a:cs typeface="Calibri"/>
              </a:rPr>
              <a:t>3 </a:t>
            </a:r>
            <a:r>
              <a:rPr dirty="0" sz="2800" spc="-15" b="1">
                <a:latin typeface="Calibri"/>
                <a:cs typeface="Calibri"/>
              </a:rPr>
              <a:t>graphs. Each  </a:t>
            </a:r>
            <a:r>
              <a:rPr dirty="0" sz="2800" spc="-10" b="1">
                <a:latin typeface="Calibri"/>
                <a:cs typeface="Calibri"/>
              </a:rPr>
              <a:t>inductive </a:t>
            </a:r>
            <a:r>
              <a:rPr dirty="0" sz="2800" spc="-5" b="1">
                <a:latin typeface="Calibri"/>
                <a:cs typeface="Calibri"/>
              </a:rPr>
              <a:t>split </a:t>
            </a:r>
            <a:r>
              <a:rPr dirty="0" sz="2800" b="1">
                <a:latin typeface="Calibri"/>
                <a:cs typeface="Calibri"/>
              </a:rPr>
              <a:t>will </a:t>
            </a:r>
            <a:r>
              <a:rPr dirty="0" sz="2800" spc="-15" b="1">
                <a:latin typeface="Calibri"/>
                <a:cs typeface="Calibri"/>
              </a:rPr>
              <a:t>contain </a:t>
            </a:r>
            <a:r>
              <a:rPr dirty="0" sz="2800" b="1">
                <a:latin typeface="Calibri"/>
                <a:cs typeface="Calibri"/>
              </a:rPr>
              <a:t>an </a:t>
            </a:r>
            <a:r>
              <a:rPr dirty="0" sz="2800" spc="-10" b="1">
                <a:latin typeface="Calibri"/>
                <a:cs typeface="Calibri"/>
              </a:rPr>
              <a:t>independent</a:t>
            </a:r>
            <a:r>
              <a:rPr dirty="0" sz="2800" spc="80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ts val="3290"/>
              </a:lnSpc>
              <a:spcBef>
                <a:spcPts val="8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latin typeface="Calibri"/>
                <a:cs typeface="Calibri"/>
              </a:rPr>
              <a:t>In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train </a:t>
            </a:r>
            <a:r>
              <a:rPr dirty="0" sz="2800" spc="-5">
                <a:latin typeface="Calibri"/>
                <a:cs typeface="Calibri"/>
              </a:rPr>
              <a:t>or </a:t>
            </a:r>
            <a:r>
              <a:rPr dirty="0" sz="2800" spc="-15" b="1">
                <a:solidFill>
                  <a:srgbClr val="60B5CC"/>
                </a:solidFill>
                <a:latin typeface="Calibri"/>
                <a:cs typeface="Calibri"/>
              </a:rPr>
              <a:t>val </a:t>
            </a:r>
            <a:r>
              <a:rPr dirty="0" sz="2800" spc="-5">
                <a:latin typeface="Calibri"/>
                <a:cs typeface="Calibri"/>
              </a:rPr>
              <a:t>or </a:t>
            </a:r>
            <a:r>
              <a:rPr dirty="0" sz="2800" spc="-20" b="1">
                <a:solidFill>
                  <a:srgbClr val="6BB76D"/>
                </a:solidFill>
                <a:latin typeface="Calibri"/>
                <a:cs typeface="Calibri"/>
              </a:rPr>
              <a:t>test </a:t>
            </a:r>
            <a:r>
              <a:rPr dirty="0" sz="2800" spc="-10">
                <a:latin typeface="Calibri"/>
                <a:cs typeface="Calibri"/>
              </a:rPr>
              <a:t>set, </a:t>
            </a:r>
            <a:r>
              <a:rPr dirty="0" sz="2800" b="1">
                <a:latin typeface="Calibri"/>
                <a:cs typeface="Calibri"/>
              </a:rPr>
              <a:t>each </a:t>
            </a:r>
            <a:r>
              <a:rPr dirty="0" sz="2800" spc="-15" b="1">
                <a:latin typeface="Calibri"/>
                <a:cs typeface="Calibri"/>
              </a:rPr>
              <a:t>graph </a:t>
            </a:r>
            <a:r>
              <a:rPr dirty="0" sz="2800" spc="-5" b="1">
                <a:latin typeface="Calibri"/>
                <a:cs typeface="Calibri"/>
              </a:rPr>
              <a:t>will </a:t>
            </a:r>
            <a:r>
              <a:rPr dirty="0" sz="2800" spc="-20" b="1">
                <a:latin typeface="Calibri"/>
                <a:cs typeface="Calibri"/>
              </a:rPr>
              <a:t>have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2 </a:t>
            </a:r>
            <a:r>
              <a:rPr dirty="0" sz="280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types of </a:t>
            </a:r>
            <a:r>
              <a:rPr dirty="0" sz="2800" spc="-10" b="1">
                <a:latin typeface="Calibri"/>
                <a:cs typeface="Calibri"/>
              </a:rPr>
              <a:t>edges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10" b="1">
                <a:latin typeface="Calibri"/>
                <a:cs typeface="Calibri"/>
              </a:rPr>
              <a:t>message edges </a:t>
            </a:r>
            <a:r>
              <a:rPr dirty="0" sz="2800">
                <a:latin typeface="Calibri"/>
                <a:cs typeface="Calibri"/>
              </a:rPr>
              <a:t>+ </a:t>
            </a:r>
            <a:r>
              <a:rPr dirty="0" sz="2800" spc="-5" b="1">
                <a:solidFill>
                  <a:srgbClr val="E88651"/>
                </a:solidFill>
                <a:latin typeface="Calibri"/>
                <a:cs typeface="Calibri"/>
              </a:rPr>
              <a:t>supervision</a:t>
            </a:r>
            <a:r>
              <a:rPr dirty="0" sz="2800" spc="75" b="1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E88651"/>
                </a:solidFill>
                <a:latin typeface="Calibri"/>
                <a:cs typeface="Calibri"/>
              </a:rPr>
              <a:t>edges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Supervision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edges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5">
                <a:latin typeface="Calibri"/>
                <a:cs typeface="Calibri"/>
              </a:rPr>
              <a:t>not the input </a:t>
            </a:r>
            <a:r>
              <a:rPr dirty="0" sz="2400" spc="-15">
                <a:latin typeface="Calibri"/>
                <a:cs typeface="Calibri"/>
              </a:rPr>
              <a:t>to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GNN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90173" y="5302399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00178" y="5159570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70611" y="5248812"/>
            <a:ext cx="466090" cy="636905"/>
          </a:xfrm>
          <a:custGeom>
            <a:avLst/>
            <a:gdLst/>
            <a:ahLst/>
            <a:cxnLst/>
            <a:rect l="l" t="t" r="r" b="b"/>
            <a:pathLst>
              <a:path w="466089" h="636904">
                <a:moveTo>
                  <a:pt x="451351" y="0"/>
                </a:moveTo>
                <a:lnTo>
                  <a:pt x="442426" y="1470"/>
                </a:lnTo>
                <a:lnTo>
                  <a:pt x="433210" y="14317"/>
                </a:lnTo>
                <a:lnTo>
                  <a:pt x="434681" y="23244"/>
                </a:lnTo>
                <a:lnTo>
                  <a:pt x="447506" y="32442"/>
                </a:lnTo>
                <a:lnTo>
                  <a:pt x="456431" y="30971"/>
                </a:lnTo>
                <a:lnTo>
                  <a:pt x="465645" y="18124"/>
                </a:lnTo>
                <a:lnTo>
                  <a:pt x="464176" y="9198"/>
                </a:lnTo>
                <a:lnTo>
                  <a:pt x="451351" y="0"/>
                </a:lnTo>
                <a:close/>
              </a:path>
              <a:path w="466089" h="636904">
                <a:moveTo>
                  <a:pt x="418028" y="46464"/>
                </a:moveTo>
                <a:lnTo>
                  <a:pt x="409101" y="47934"/>
                </a:lnTo>
                <a:lnTo>
                  <a:pt x="399887" y="60782"/>
                </a:lnTo>
                <a:lnTo>
                  <a:pt x="401358" y="69707"/>
                </a:lnTo>
                <a:lnTo>
                  <a:pt x="414181" y="78906"/>
                </a:lnTo>
                <a:lnTo>
                  <a:pt x="423108" y="77435"/>
                </a:lnTo>
                <a:lnTo>
                  <a:pt x="432321" y="64588"/>
                </a:lnTo>
                <a:lnTo>
                  <a:pt x="430852" y="55661"/>
                </a:lnTo>
                <a:lnTo>
                  <a:pt x="418028" y="46464"/>
                </a:lnTo>
                <a:close/>
              </a:path>
              <a:path w="466089" h="636904">
                <a:moveTo>
                  <a:pt x="384705" y="92928"/>
                </a:moveTo>
                <a:lnTo>
                  <a:pt x="375779" y="94397"/>
                </a:lnTo>
                <a:lnTo>
                  <a:pt x="366563" y="107243"/>
                </a:lnTo>
                <a:lnTo>
                  <a:pt x="368033" y="116170"/>
                </a:lnTo>
                <a:lnTo>
                  <a:pt x="380856" y="125369"/>
                </a:lnTo>
                <a:lnTo>
                  <a:pt x="389782" y="123899"/>
                </a:lnTo>
                <a:lnTo>
                  <a:pt x="398998" y="111053"/>
                </a:lnTo>
                <a:lnTo>
                  <a:pt x="397529" y="102128"/>
                </a:lnTo>
                <a:lnTo>
                  <a:pt x="384705" y="92928"/>
                </a:lnTo>
                <a:close/>
              </a:path>
              <a:path w="466089" h="636904">
                <a:moveTo>
                  <a:pt x="351382" y="139392"/>
                </a:moveTo>
                <a:lnTo>
                  <a:pt x="342455" y="140862"/>
                </a:lnTo>
                <a:lnTo>
                  <a:pt x="333240" y="153708"/>
                </a:lnTo>
                <a:lnTo>
                  <a:pt x="334708" y="162634"/>
                </a:lnTo>
                <a:lnTo>
                  <a:pt x="347531" y="171833"/>
                </a:lnTo>
                <a:lnTo>
                  <a:pt x="356458" y="170364"/>
                </a:lnTo>
                <a:lnTo>
                  <a:pt x="365673" y="157518"/>
                </a:lnTo>
                <a:lnTo>
                  <a:pt x="364205" y="148591"/>
                </a:lnTo>
                <a:lnTo>
                  <a:pt x="351382" y="139392"/>
                </a:lnTo>
                <a:close/>
              </a:path>
              <a:path w="466089" h="636904">
                <a:moveTo>
                  <a:pt x="318057" y="185856"/>
                </a:moveTo>
                <a:lnTo>
                  <a:pt x="309131" y="187326"/>
                </a:lnTo>
                <a:lnTo>
                  <a:pt x="299915" y="200172"/>
                </a:lnTo>
                <a:lnTo>
                  <a:pt x="301384" y="209099"/>
                </a:lnTo>
                <a:lnTo>
                  <a:pt x="314208" y="218297"/>
                </a:lnTo>
                <a:lnTo>
                  <a:pt x="323134" y="216828"/>
                </a:lnTo>
                <a:lnTo>
                  <a:pt x="332350" y="203982"/>
                </a:lnTo>
                <a:lnTo>
                  <a:pt x="330880" y="195055"/>
                </a:lnTo>
                <a:lnTo>
                  <a:pt x="318057" y="185856"/>
                </a:lnTo>
                <a:close/>
              </a:path>
              <a:path w="466089" h="636904">
                <a:moveTo>
                  <a:pt x="284734" y="232321"/>
                </a:moveTo>
                <a:lnTo>
                  <a:pt x="275807" y="233790"/>
                </a:lnTo>
                <a:lnTo>
                  <a:pt x="266592" y="246636"/>
                </a:lnTo>
                <a:lnTo>
                  <a:pt x="268061" y="255563"/>
                </a:lnTo>
                <a:lnTo>
                  <a:pt x="280884" y="264761"/>
                </a:lnTo>
                <a:lnTo>
                  <a:pt x="289810" y="263292"/>
                </a:lnTo>
                <a:lnTo>
                  <a:pt x="299026" y="250446"/>
                </a:lnTo>
                <a:lnTo>
                  <a:pt x="297557" y="241519"/>
                </a:lnTo>
                <a:lnTo>
                  <a:pt x="284734" y="232321"/>
                </a:lnTo>
                <a:close/>
              </a:path>
              <a:path w="466089" h="636904">
                <a:moveTo>
                  <a:pt x="251410" y="278785"/>
                </a:moveTo>
                <a:lnTo>
                  <a:pt x="242483" y="280253"/>
                </a:lnTo>
                <a:lnTo>
                  <a:pt x="233268" y="293100"/>
                </a:lnTo>
                <a:lnTo>
                  <a:pt x="234736" y="302026"/>
                </a:lnTo>
                <a:lnTo>
                  <a:pt x="247561" y="311226"/>
                </a:lnTo>
                <a:lnTo>
                  <a:pt x="256486" y="309756"/>
                </a:lnTo>
                <a:lnTo>
                  <a:pt x="265701" y="296910"/>
                </a:lnTo>
                <a:lnTo>
                  <a:pt x="264233" y="287983"/>
                </a:lnTo>
                <a:lnTo>
                  <a:pt x="251410" y="278785"/>
                </a:lnTo>
                <a:close/>
              </a:path>
              <a:path w="466089" h="636904">
                <a:moveTo>
                  <a:pt x="218085" y="325249"/>
                </a:moveTo>
                <a:lnTo>
                  <a:pt x="209160" y="326717"/>
                </a:lnTo>
                <a:lnTo>
                  <a:pt x="199943" y="339564"/>
                </a:lnTo>
                <a:lnTo>
                  <a:pt x="201413" y="348490"/>
                </a:lnTo>
                <a:lnTo>
                  <a:pt x="214236" y="357689"/>
                </a:lnTo>
                <a:lnTo>
                  <a:pt x="223163" y="356220"/>
                </a:lnTo>
                <a:lnTo>
                  <a:pt x="232378" y="343374"/>
                </a:lnTo>
                <a:lnTo>
                  <a:pt x="230908" y="334448"/>
                </a:lnTo>
                <a:lnTo>
                  <a:pt x="218085" y="325249"/>
                </a:lnTo>
                <a:close/>
              </a:path>
              <a:path w="466089" h="636904">
                <a:moveTo>
                  <a:pt x="184762" y="371712"/>
                </a:moveTo>
                <a:lnTo>
                  <a:pt x="175835" y="373182"/>
                </a:lnTo>
                <a:lnTo>
                  <a:pt x="166620" y="386028"/>
                </a:lnTo>
                <a:lnTo>
                  <a:pt x="168089" y="394954"/>
                </a:lnTo>
                <a:lnTo>
                  <a:pt x="180912" y="404153"/>
                </a:lnTo>
                <a:lnTo>
                  <a:pt x="189838" y="402684"/>
                </a:lnTo>
                <a:lnTo>
                  <a:pt x="199054" y="389838"/>
                </a:lnTo>
                <a:lnTo>
                  <a:pt x="197585" y="380911"/>
                </a:lnTo>
                <a:lnTo>
                  <a:pt x="184762" y="371712"/>
                </a:lnTo>
                <a:close/>
              </a:path>
              <a:path w="466089" h="636904">
                <a:moveTo>
                  <a:pt x="151438" y="418176"/>
                </a:moveTo>
                <a:lnTo>
                  <a:pt x="142511" y="419646"/>
                </a:lnTo>
                <a:lnTo>
                  <a:pt x="133296" y="432492"/>
                </a:lnTo>
                <a:lnTo>
                  <a:pt x="134766" y="441418"/>
                </a:lnTo>
                <a:lnTo>
                  <a:pt x="147589" y="450617"/>
                </a:lnTo>
                <a:lnTo>
                  <a:pt x="156514" y="449148"/>
                </a:lnTo>
                <a:lnTo>
                  <a:pt x="165731" y="436302"/>
                </a:lnTo>
                <a:lnTo>
                  <a:pt x="164261" y="427375"/>
                </a:lnTo>
                <a:lnTo>
                  <a:pt x="151438" y="418176"/>
                </a:lnTo>
                <a:close/>
              </a:path>
              <a:path w="466089" h="636904">
                <a:moveTo>
                  <a:pt x="118113" y="464641"/>
                </a:moveTo>
                <a:lnTo>
                  <a:pt x="109188" y="466110"/>
                </a:lnTo>
                <a:lnTo>
                  <a:pt x="99973" y="478956"/>
                </a:lnTo>
                <a:lnTo>
                  <a:pt x="101441" y="487882"/>
                </a:lnTo>
                <a:lnTo>
                  <a:pt x="114264" y="497081"/>
                </a:lnTo>
                <a:lnTo>
                  <a:pt x="123191" y="495612"/>
                </a:lnTo>
                <a:lnTo>
                  <a:pt x="132406" y="482766"/>
                </a:lnTo>
                <a:lnTo>
                  <a:pt x="130938" y="473839"/>
                </a:lnTo>
                <a:lnTo>
                  <a:pt x="118113" y="464641"/>
                </a:lnTo>
                <a:close/>
              </a:path>
              <a:path w="466089" h="636904">
                <a:moveTo>
                  <a:pt x="84790" y="511105"/>
                </a:moveTo>
                <a:lnTo>
                  <a:pt x="75864" y="512574"/>
                </a:lnTo>
                <a:lnTo>
                  <a:pt x="66648" y="525420"/>
                </a:lnTo>
                <a:lnTo>
                  <a:pt x="68117" y="534346"/>
                </a:lnTo>
                <a:lnTo>
                  <a:pt x="80940" y="543545"/>
                </a:lnTo>
                <a:lnTo>
                  <a:pt x="89867" y="542076"/>
                </a:lnTo>
                <a:lnTo>
                  <a:pt x="99082" y="529230"/>
                </a:lnTo>
                <a:lnTo>
                  <a:pt x="97613" y="520304"/>
                </a:lnTo>
                <a:lnTo>
                  <a:pt x="84790" y="511105"/>
                </a:lnTo>
                <a:close/>
              </a:path>
              <a:path w="466089" h="636904">
                <a:moveTo>
                  <a:pt x="51456" y="557567"/>
                </a:moveTo>
                <a:lnTo>
                  <a:pt x="42531" y="559042"/>
                </a:lnTo>
                <a:lnTo>
                  <a:pt x="33323" y="571894"/>
                </a:lnTo>
                <a:lnTo>
                  <a:pt x="34798" y="580820"/>
                </a:lnTo>
                <a:lnTo>
                  <a:pt x="47627" y="590011"/>
                </a:lnTo>
                <a:lnTo>
                  <a:pt x="56553" y="588536"/>
                </a:lnTo>
                <a:lnTo>
                  <a:pt x="65760" y="575684"/>
                </a:lnTo>
                <a:lnTo>
                  <a:pt x="64284" y="566758"/>
                </a:lnTo>
                <a:lnTo>
                  <a:pt x="51456" y="557567"/>
                </a:lnTo>
                <a:close/>
              </a:path>
              <a:path w="466089" h="636904">
                <a:moveTo>
                  <a:pt x="18131" y="604031"/>
                </a:moveTo>
                <a:lnTo>
                  <a:pt x="9207" y="605506"/>
                </a:lnTo>
                <a:lnTo>
                  <a:pt x="0" y="618359"/>
                </a:lnTo>
                <a:lnTo>
                  <a:pt x="1474" y="627284"/>
                </a:lnTo>
                <a:lnTo>
                  <a:pt x="14304" y="636475"/>
                </a:lnTo>
                <a:lnTo>
                  <a:pt x="23228" y="635000"/>
                </a:lnTo>
                <a:lnTo>
                  <a:pt x="32435" y="622147"/>
                </a:lnTo>
                <a:lnTo>
                  <a:pt x="30961" y="613222"/>
                </a:lnTo>
                <a:lnTo>
                  <a:pt x="18131" y="604031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97286" y="5083479"/>
            <a:ext cx="414020" cy="801370"/>
          </a:xfrm>
          <a:custGeom>
            <a:avLst/>
            <a:gdLst/>
            <a:ahLst/>
            <a:cxnLst/>
            <a:rect l="l" t="t" r="r" b="b"/>
            <a:pathLst>
              <a:path w="414019" h="801370">
                <a:moveTo>
                  <a:pt x="17033" y="0"/>
                </a:moveTo>
                <a:lnTo>
                  <a:pt x="2893" y="7006"/>
                </a:lnTo>
                <a:lnTo>
                  <a:pt x="0" y="15577"/>
                </a:lnTo>
                <a:lnTo>
                  <a:pt x="7019" y="29744"/>
                </a:lnTo>
                <a:lnTo>
                  <a:pt x="15591" y="32636"/>
                </a:lnTo>
                <a:lnTo>
                  <a:pt x="29731" y="25629"/>
                </a:lnTo>
                <a:lnTo>
                  <a:pt x="32623" y="17058"/>
                </a:lnTo>
                <a:lnTo>
                  <a:pt x="25605" y="2891"/>
                </a:lnTo>
                <a:lnTo>
                  <a:pt x="17033" y="0"/>
                </a:lnTo>
                <a:close/>
              </a:path>
              <a:path w="414019" h="801370">
                <a:moveTo>
                  <a:pt x="42419" y="51234"/>
                </a:moveTo>
                <a:lnTo>
                  <a:pt x="28277" y="58240"/>
                </a:lnTo>
                <a:lnTo>
                  <a:pt x="25386" y="66812"/>
                </a:lnTo>
                <a:lnTo>
                  <a:pt x="32404" y="80979"/>
                </a:lnTo>
                <a:lnTo>
                  <a:pt x="40975" y="83870"/>
                </a:lnTo>
                <a:lnTo>
                  <a:pt x="55116" y="76865"/>
                </a:lnTo>
                <a:lnTo>
                  <a:pt x="58008" y="68292"/>
                </a:lnTo>
                <a:lnTo>
                  <a:pt x="50990" y="54126"/>
                </a:lnTo>
                <a:lnTo>
                  <a:pt x="42419" y="51234"/>
                </a:lnTo>
                <a:close/>
              </a:path>
              <a:path w="414019" h="801370">
                <a:moveTo>
                  <a:pt x="67801" y="102468"/>
                </a:moveTo>
                <a:lnTo>
                  <a:pt x="53661" y="109476"/>
                </a:lnTo>
                <a:lnTo>
                  <a:pt x="50770" y="118049"/>
                </a:lnTo>
                <a:lnTo>
                  <a:pt x="57791" y="132214"/>
                </a:lnTo>
                <a:lnTo>
                  <a:pt x="66362" y="135105"/>
                </a:lnTo>
                <a:lnTo>
                  <a:pt x="80502" y="128098"/>
                </a:lnTo>
                <a:lnTo>
                  <a:pt x="83394" y="119526"/>
                </a:lnTo>
                <a:lnTo>
                  <a:pt x="76373" y="105360"/>
                </a:lnTo>
                <a:lnTo>
                  <a:pt x="67801" y="102468"/>
                </a:lnTo>
                <a:close/>
              </a:path>
              <a:path w="414019" h="801370">
                <a:moveTo>
                  <a:pt x="93188" y="153704"/>
                </a:moveTo>
                <a:lnTo>
                  <a:pt x="79047" y="160709"/>
                </a:lnTo>
                <a:lnTo>
                  <a:pt x="76155" y="169280"/>
                </a:lnTo>
                <a:lnTo>
                  <a:pt x="83173" y="183447"/>
                </a:lnTo>
                <a:lnTo>
                  <a:pt x="91746" y="186340"/>
                </a:lnTo>
                <a:lnTo>
                  <a:pt x="105887" y="179334"/>
                </a:lnTo>
                <a:lnTo>
                  <a:pt x="108779" y="170762"/>
                </a:lnTo>
                <a:lnTo>
                  <a:pt x="101760" y="156596"/>
                </a:lnTo>
                <a:lnTo>
                  <a:pt x="93188" y="153704"/>
                </a:lnTo>
                <a:close/>
              </a:path>
              <a:path w="414019" h="801370">
                <a:moveTo>
                  <a:pt x="118573" y="204938"/>
                </a:moveTo>
                <a:lnTo>
                  <a:pt x="104432" y="211943"/>
                </a:lnTo>
                <a:lnTo>
                  <a:pt x="101540" y="220516"/>
                </a:lnTo>
                <a:lnTo>
                  <a:pt x="108559" y="234683"/>
                </a:lnTo>
                <a:lnTo>
                  <a:pt x="117130" y="237575"/>
                </a:lnTo>
                <a:lnTo>
                  <a:pt x="131272" y="230568"/>
                </a:lnTo>
                <a:lnTo>
                  <a:pt x="134164" y="221997"/>
                </a:lnTo>
                <a:lnTo>
                  <a:pt x="127146" y="207830"/>
                </a:lnTo>
                <a:lnTo>
                  <a:pt x="118573" y="204938"/>
                </a:lnTo>
                <a:close/>
              </a:path>
              <a:path w="414019" h="801370">
                <a:moveTo>
                  <a:pt x="143958" y="256172"/>
                </a:moveTo>
                <a:lnTo>
                  <a:pt x="129818" y="263179"/>
                </a:lnTo>
                <a:lnTo>
                  <a:pt x="126925" y="271750"/>
                </a:lnTo>
                <a:lnTo>
                  <a:pt x="133944" y="285917"/>
                </a:lnTo>
                <a:lnTo>
                  <a:pt x="142515" y="288809"/>
                </a:lnTo>
                <a:lnTo>
                  <a:pt x="156657" y="281804"/>
                </a:lnTo>
                <a:lnTo>
                  <a:pt x="159548" y="273231"/>
                </a:lnTo>
                <a:lnTo>
                  <a:pt x="152530" y="259064"/>
                </a:lnTo>
                <a:lnTo>
                  <a:pt x="143958" y="256172"/>
                </a:lnTo>
                <a:close/>
              </a:path>
              <a:path w="414019" h="801370">
                <a:moveTo>
                  <a:pt x="169340" y="307407"/>
                </a:moveTo>
                <a:lnTo>
                  <a:pt x="155200" y="314416"/>
                </a:lnTo>
                <a:lnTo>
                  <a:pt x="152309" y="322988"/>
                </a:lnTo>
                <a:lnTo>
                  <a:pt x="159332" y="337154"/>
                </a:lnTo>
                <a:lnTo>
                  <a:pt x="167904" y="340043"/>
                </a:lnTo>
                <a:lnTo>
                  <a:pt x="182044" y="333034"/>
                </a:lnTo>
                <a:lnTo>
                  <a:pt x="184934" y="324463"/>
                </a:lnTo>
                <a:lnTo>
                  <a:pt x="177911" y="310297"/>
                </a:lnTo>
                <a:lnTo>
                  <a:pt x="169340" y="307407"/>
                </a:lnTo>
                <a:close/>
              </a:path>
              <a:path w="414019" h="801370">
                <a:moveTo>
                  <a:pt x="194725" y="358641"/>
                </a:moveTo>
                <a:lnTo>
                  <a:pt x="180585" y="365652"/>
                </a:lnTo>
                <a:lnTo>
                  <a:pt x="177695" y="374223"/>
                </a:lnTo>
                <a:lnTo>
                  <a:pt x="184717" y="388388"/>
                </a:lnTo>
                <a:lnTo>
                  <a:pt x="193290" y="391279"/>
                </a:lnTo>
                <a:lnTo>
                  <a:pt x="207429" y="384270"/>
                </a:lnTo>
                <a:lnTo>
                  <a:pt x="210319" y="375697"/>
                </a:lnTo>
                <a:lnTo>
                  <a:pt x="203297" y="361532"/>
                </a:lnTo>
                <a:lnTo>
                  <a:pt x="194725" y="358641"/>
                </a:lnTo>
                <a:close/>
              </a:path>
              <a:path w="414019" h="801370">
                <a:moveTo>
                  <a:pt x="220110" y="409877"/>
                </a:moveTo>
                <a:lnTo>
                  <a:pt x="205969" y="416886"/>
                </a:lnTo>
                <a:lnTo>
                  <a:pt x="203080" y="425458"/>
                </a:lnTo>
                <a:lnTo>
                  <a:pt x="210102" y="439623"/>
                </a:lnTo>
                <a:lnTo>
                  <a:pt x="218674" y="442513"/>
                </a:lnTo>
                <a:lnTo>
                  <a:pt x="232813" y="435504"/>
                </a:lnTo>
                <a:lnTo>
                  <a:pt x="235704" y="426932"/>
                </a:lnTo>
                <a:lnTo>
                  <a:pt x="228682" y="412766"/>
                </a:lnTo>
                <a:lnTo>
                  <a:pt x="220110" y="409877"/>
                </a:lnTo>
                <a:close/>
              </a:path>
              <a:path w="414019" h="801370">
                <a:moveTo>
                  <a:pt x="245494" y="461111"/>
                </a:moveTo>
                <a:lnTo>
                  <a:pt x="231355" y="468120"/>
                </a:lnTo>
                <a:lnTo>
                  <a:pt x="228465" y="476693"/>
                </a:lnTo>
                <a:lnTo>
                  <a:pt x="235487" y="490858"/>
                </a:lnTo>
                <a:lnTo>
                  <a:pt x="244059" y="493748"/>
                </a:lnTo>
                <a:lnTo>
                  <a:pt x="258198" y="486738"/>
                </a:lnTo>
                <a:lnTo>
                  <a:pt x="261089" y="478166"/>
                </a:lnTo>
                <a:lnTo>
                  <a:pt x="254067" y="464002"/>
                </a:lnTo>
                <a:lnTo>
                  <a:pt x="245494" y="461111"/>
                </a:lnTo>
                <a:close/>
              </a:path>
              <a:path w="414019" h="801370">
                <a:moveTo>
                  <a:pt x="270879" y="512346"/>
                </a:moveTo>
                <a:lnTo>
                  <a:pt x="256740" y="519355"/>
                </a:lnTo>
                <a:lnTo>
                  <a:pt x="253850" y="527927"/>
                </a:lnTo>
                <a:lnTo>
                  <a:pt x="260871" y="542092"/>
                </a:lnTo>
                <a:lnTo>
                  <a:pt x="269444" y="544983"/>
                </a:lnTo>
                <a:lnTo>
                  <a:pt x="283584" y="537973"/>
                </a:lnTo>
                <a:lnTo>
                  <a:pt x="286473" y="529401"/>
                </a:lnTo>
                <a:lnTo>
                  <a:pt x="279452" y="515236"/>
                </a:lnTo>
                <a:lnTo>
                  <a:pt x="270879" y="512346"/>
                </a:lnTo>
                <a:close/>
              </a:path>
              <a:path w="414019" h="801370">
                <a:moveTo>
                  <a:pt x="296273" y="563581"/>
                </a:moveTo>
                <a:lnTo>
                  <a:pt x="282129" y="570583"/>
                </a:lnTo>
                <a:lnTo>
                  <a:pt x="279236" y="579154"/>
                </a:lnTo>
                <a:lnTo>
                  <a:pt x="286250" y="593323"/>
                </a:lnTo>
                <a:lnTo>
                  <a:pt x="294821" y="596217"/>
                </a:lnTo>
                <a:lnTo>
                  <a:pt x="308964" y="589214"/>
                </a:lnTo>
                <a:lnTo>
                  <a:pt x="311858" y="580644"/>
                </a:lnTo>
                <a:lnTo>
                  <a:pt x="304843" y="566475"/>
                </a:lnTo>
                <a:lnTo>
                  <a:pt x="296273" y="563581"/>
                </a:lnTo>
                <a:close/>
              </a:path>
              <a:path w="414019" h="801370">
                <a:moveTo>
                  <a:pt x="321657" y="614815"/>
                </a:moveTo>
                <a:lnTo>
                  <a:pt x="307515" y="621818"/>
                </a:lnTo>
                <a:lnTo>
                  <a:pt x="304620" y="630389"/>
                </a:lnTo>
                <a:lnTo>
                  <a:pt x="311635" y="644557"/>
                </a:lnTo>
                <a:lnTo>
                  <a:pt x="320206" y="647451"/>
                </a:lnTo>
                <a:lnTo>
                  <a:pt x="334349" y="640449"/>
                </a:lnTo>
                <a:lnTo>
                  <a:pt x="337243" y="631878"/>
                </a:lnTo>
                <a:lnTo>
                  <a:pt x="330229" y="617710"/>
                </a:lnTo>
                <a:lnTo>
                  <a:pt x="321657" y="614815"/>
                </a:lnTo>
                <a:close/>
              </a:path>
              <a:path w="414019" h="801370">
                <a:moveTo>
                  <a:pt x="347042" y="666050"/>
                </a:moveTo>
                <a:lnTo>
                  <a:pt x="332900" y="673053"/>
                </a:lnTo>
                <a:lnTo>
                  <a:pt x="330005" y="681623"/>
                </a:lnTo>
                <a:lnTo>
                  <a:pt x="337021" y="695792"/>
                </a:lnTo>
                <a:lnTo>
                  <a:pt x="345591" y="698686"/>
                </a:lnTo>
                <a:lnTo>
                  <a:pt x="359733" y="691684"/>
                </a:lnTo>
                <a:lnTo>
                  <a:pt x="362628" y="683113"/>
                </a:lnTo>
                <a:lnTo>
                  <a:pt x="355613" y="668944"/>
                </a:lnTo>
                <a:lnTo>
                  <a:pt x="347042" y="666050"/>
                </a:lnTo>
                <a:close/>
              </a:path>
              <a:path w="414019" h="801370">
                <a:moveTo>
                  <a:pt x="372427" y="717285"/>
                </a:moveTo>
                <a:lnTo>
                  <a:pt x="358284" y="724287"/>
                </a:lnTo>
                <a:lnTo>
                  <a:pt x="355390" y="732858"/>
                </a:lnTo>
                <a:lnTo>
                  <a:pt x="362405" y="747027"/>
                </a:lnTo>
                <a:lnTo>
                  <a:pt x="370977" y="749921"/>
                </a:lnTo>
                <a:lnTo>
                  <a:pt x="385119" y="742918"/>
                </a:lnTo>
                <a:lnTo>
                  <a:pt x="388014" y="734348"/>
                </a:lnTo>
                <a:lnTo>
                  <a:pt x="380998" y="720179"/>
                </a:lnTo>
                <a:lnTo>
                  <a:pt x="372427" y="717285"/>
                </a:lnTo>
                <a:close/>
              </a:path>
              <a:path w="414019" h="801370">
                <a:moveTo>
                  <a:pt x="397812" y="768519"/>
                </a:moveTo>
                <a:lnTo>
                  <a:pt x="383669" y="775522"/>
                </a:lnTo>
                <a:lnTo>
                  <a:pt x="380775" y="784093"/>
                </a:lnTo>
                <a:lnTo>
                  <a:pt x="387790" y="798261"/>
                </a:lnTo>
                <a:lnTo>
                  <a:pt x="396361" y="801156"/>
                </a:lnTo>
                <a:lnTo>
                  <a:pt x="410504" y="794153"/>
                </a:lnTo>
                <a:lnTo>
                  <a:pt x="413398" y="785582"/>
                </a:lnTo>
                <a:lnTo>
                  <a:pt x="406383" y="771414"/>
                </a:lnTo>
                <a:lnTo>
                  <a:pt x="397812" y="768519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29839" y="4913376"/>
            <a:ext cx="356615" cy="356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73059" y="49323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73059" y="49323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11679" y="5858255"/>
            <a:ext cx="359663" cy="353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55568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55568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02279" y="5858255"/>
            <a:ext cx="356616" cy="353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45725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45725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47871" y="5099303"/>
            <a:ext cx="359663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91738" y="511777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591738" y="511777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64207" y="5056632"/>
            <a:ext cx="359663" cy="3535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09216" y="507344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09216" y="507344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52132" y="5095754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05567" y="5335306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733857" y="6016910"/>
            <a:ext cx="886460" cy="53340"/>
          </a:xfrm>
          <a:custGeom>
            <a:avLst/>
            <a:gdLst/>
            <a:ahLst/>
            <a:cxnLst/>
            <a:rect l="l" t="t" r="r" b="b"/>
            <a:pathLst>
              <a:path w="886460" h="53339">
                <a:moveTo>
                  <a:pt x="864356" y="24192"/>
                </a:moveTo>
                <a:lnTo>
                  <a:pt x="857782" y="30406"/>
                </a:lnTo>
                <a:lnTo>
                  <a:pt x="857337" y="46181"/>
                </a:lnTo>
                <a:lnTo>
                  <a:pt x="863551" y="52755"/>
                </a:lnTo>
                <a:lnTo>
                  <a:pt x="879354" y="53201"/>
                </a:lnTo>
                <a:lnTo>
                  <a:pt x="885929" y="46988"/>
                </a:lnTo>
                <a:lnTo>
                  <a:pt x="886374" y="31212"/>
                </a:lnTo>
                <a:lnTo>
                  <a:pt x="880160" y="24638"/>
                </a:lnTo>
                <a:lnTo>
                  <a:pt x="864356" y="24192"/>
                </a:lnTo>
                <a:close/>
              </a:path>
              <a:path w="886460" h="53339">
                <a:moveTo>
                  <a:pt x="807201" y="22579"/>
                </a:moveTo>
                <a:lnTo>
                  <a:pt x="800627" y="28793"/>
                </a:lnTo>
                <a:lnTo>
                  <a:pt x="800181" y="44568"/>
                </a:lnTo>
                <a:lnTo>
                  <a:pt x="806395" y="51143"/>
                </a:lnTo>
                <a:lnTo>
                  <a:pt x="822199" y="51589"/>
                </a:lnTo>
                <a:lnTo>
                  <a:pt x="828774" y="45375"/>
                </a:lnTo>
                <a:lnTo>
                  <a:pt x="829218" y="29600"/>
                </a:lnTo>
                <a:lnTo>
                  <a:pt x="823005" y="23025"/>
                </a:lnTo>
                <a:lnTo>
                  <a:pt x="807201" y="22579"/>
                </a:lnTo>
                <a:close/>
              </a:path>
              <a:path w="886460" h="53339">
                <a:moveTo>
                  <a:pt x="750045" y="20966"/>
                </a:moveTo>
                <a:lnTo>
                  <a:pt x="743470" y="27180"/>
                </a:lnTo>
                <a:lnTo>
                  <a:pt x="743026" y="42955"/>
                </a:lnTo>
                <a:lnTo>
                  <a:pt x="749239" y="49530"/>
                </a:lnTo>
                <a:lnTo>
                  <a:pt x="765042" y="49976"/>
                </a:lnTo>
                <a:lnTo>
                  <a:pt x="771617" y="43762"/>
                </a:lnTo>
                <a:lnTo>
                  <a:pt x="772063" y="27987"/>
                </a:lnTo>
                <a:lnTo>
                  <a:pt x="765849" y="21412"/>
                </a:lnTo>
                <a:lnTo>
                  <a:pt x="750045" y="20966"/>
                </a:lnTo>
                <a:close/>
              </a:path>
              <a:path w="886460" h="53339">
                <a:moveTo>
                  <a:pt x="692890" y="19353"/>
                </a:moveTo>
                <a:lnTo>
                  <a:pt x="686315" y="25567"/>
                </a:lnTo>
                <a:lnTo>
                  <a:pt x="685869" y="41342"/>
                </a:lnTo>
                <a:lnTo>
                  <a:pt x="692083" y="47917"/>
                </a:lnTo>
                <a:lnTo>
                  <a:pt x="707887" y="48363"/>
                </a:lnTo>
                <a:lnTo>
                  <a:pt x="714462" y="42149"/>
                </a:lnTo>
                <a:lnTo>
                  <a:pt x="714907" y="26374"/>
                </a:lnTo>
                <a:lnTo>
                  <a:pt x="708693" y="19799"/>
                </a:lnTo>
                <a:lnTo>
                  <a:pt x="692890" y="19353"/>
                </a:lnTo>
                <a:close/>
              </a:path>
              <a:path w="886460" h="53339">
                <a:moveTo>
                  <a:pt x="635734" y="17741"/>
                </a:moveTo>
                <a:lnTo>
                  <a:pt x="629159" y="23954"/>
                </a:lnTo>
                <a:lnTo>
                  <a:pt x="628713" y="39730"/>
                </a:lnTo>
                <a:lnTo>
                  <a:pt x="634927" y="46304"/>
                </a:lnTo>
                <a:lnTo>
                  <a:pt x="650731" y="46750"/>
                </a:lnTo>
                <a:lnTo>
                  <a:pt x="657306" y="40537"/>
                </a:lnTo>
                <a:lnTo>
                  <a:pt x="657752" y="24761"/>
                </a:lnTo>
                <a:lnTo>
                  <a:pt x="651537" y="18187"/>
                </a:lnTo>
                <a:lnTo>
                  <a:pt x="635734" y="17741"/>
                </a:lnTo>
                <a:close/>
              </a:path>
              <a:path w="886460" h="53339">
                <a:moveTo>
                  <a:pt x="578577" y="16128"/>
                </a:moveTo>
                <a:lnTo>
                  <a:pt x="572002" y="22341"/>
                </a:lnTo>
                <a:lnTo>
                  <a:pt x="571558" y="38117"/>
                </a:lnTo>
                <a:lnTo>
                  <a:pt x="577772" y="44691"/>
                </a:lnTo>
                <a:lnTo>
                  <a:pt x="593575" y="45137"/>
                </a:lnTo>
                <a:lnTo>
                  <a:pt x="600149" y="38924"/>
                </a:lnTo>
                <a:lnTo>
                  <a:pt x="600595" y="23148"/>
                </a:lnTo>
                <a:lnTo>
                  <a:pt x="594381" y="16574"/>
                </a:lnTo>
                <a:lnTo>
                  <a:pt x="578577" y="16128"/>
                </a:lnTo>
                <a:close/>
              </a:path>
              <a:path w="886460" h="53339">
                <a:moveTo>
                  <a:pt x="521422" y="14515"/>
                </a:moveTo>
                <a:lnTo>
                  <a:pt x="514847" y="20729"/>
                </a:lnTo>
                <a:lnTo>
                  <a:pt x="514402" y="36504"/>
                </a:lnTo>
                <a:lnTo>
                  <a:pt x="520616" y="43079"/>
                </a:lnTo>
                <a:lnTo>
                  <a:pt x="536420" y="43524"/>
                </a:lnTo>
                <a:lnTo>
                  <a:pt x="542994" y="37311"/>
                </a:lnTo>
                <a:lnTo>
                  <a:pt x="543439" y="21535"/>
                </a:lnTo>
                <a:lnTo>
                  <a:pt x="537226" y="14961"/>
                </a:lnTo>
                <a:lnTo>
                  <a:pt x="521422" y="14515"/>
                </a:lnTo>
                <a:close/>
              </a:path>
              <a:path w="886460" h="53339">
                <a:moveTo>
                  <a:pt x="464266" y="12902"/>
                </a:moveTo>
                <a:lnTo>
                  <a:pt x="457691" y="19116"/>
                </a:lnTo>
                <a:lnTo>
                  <a:pt x="457246" y="34891"/>
                </a:lnTo>
                <a:lnTo>
                  <a:pt x="463461" y="41466"/>
                </a:lnTo>
                <a:lnTo>
                  <a:pt x="479264" y="41912"/>
                </a:lnTo>
                <a:lnTo>
                  <a:pt x="485838" y="35698"/>
                </a:lnTo>
                <a:lnTo>
                  <a:pt x="486284" y="19923"/>
                </a:lnTo>
                <a:lnTo>
                  <a:pt x="480070" y="13348"/>
                </a:lnTo>
                <a:lnTo>
                  <a:pt x="464266" y="12902"/>
                </a:lnTo>
                <a:close/>
              </a:path>
              <a:path w="886460" h="53339">
                <a:moveTo>
                  <a:pt x="407109" y="11289"/>
                </a:moveTo>
                <a:lnTo>
                  <a:pt x="400536" y="17503"/>
                </a:lnTo>
                <a:lnTo>
                  <a:pt x="400090" y="33279"/>
                </a:lnTo>
                <a:lnTo>
                  <a:pt x="406304" y="39853"/>
                </a:lnTo>
                <a:lnTo>
                  <a:pt x="422108" y="40299"/>
                </a:lnTo>
                <a:lnTo>
                  <a:pt x="428683" y="34085"/>
                </a:lnTo>
                <a:lnTo>
                  <a:pt x="429127" y="18310"/>
                </a:lnTo>
                <a:lnTo>
                  <a:pt x="422913" y="11735"/>
                </a:lnTo>
                <a:lnTo>
                  <a:pt x="407109" y="11289"/>
                </a:lnTo>
                <a:close/>
              </a:path>
              <a:path w="886460" h="53339">
                <a:moveTo>
                  <a:pt x="349954" y="9677"/>
                </a:moveTo>
                <a:lnTo>
                  <a:pt x="343380" y="15891"/>
                </a:lnTo>
                <a:lnTo>
                  <a:pt x="342935" y="31666"/>
                </a:lnTo>
                <a:lnTo>
                  <a:pt x="349148" y="38240"/>
                </a:lnTo>
                <a:lnTo>
                  <a:pt x="364952" y="38686"/>
                </a:lnTo>
                <a:lnTo>
                  <a:pt x="371527" y="32472"/>
                </a:lnTo>
                <a:lnTo>
                  <a:pt x="371972" y="16697"/>
                </a:lnTo>
                <a:lnTo>
                  <a:pt x="365758" y="10122"/>
                </a:lnTo>
                <a:lnTo>
                  <a:pt x="349954" y="9677"/>
                </a:lnTo>
                <a:close/>
              </a:path>
              <a:path w="886460" h="53339">
                <a:moveTo>
                  <a:pt x="292798" y="8064"/>
                </a:moveTo>
                <a:lnTo>
                  <a:pt x="286223" y="14278"/>
                </a:lnTo>
                <a:lnTo>
                  <a:pt x="285779" y="30053"/>
                </a:lnTo>
                <a:lnTo>
                  <a:pt x="291993" y="36627"/>
                </a:lnTo>
                <a:lnTo>
                  <a:pt x="307797" y="37073"/>
                </a:lnTo>
                <a:lnTo>
                  <a:pt x="314371" y="30859"/>
                </a:lnTo>
                <a:lnTo>
                  <a:pt x="314816" y="15084"/>
                </a:lnTo>
                <a:lnTo>
                  <a:pt x="308602" y="8510"/>
                </a:lnTo>
                <a:lnTo>
                  <a:pt x="292798" y="8064"/>
                </a:lnTo>
                <a:close/>
              </a:path>
              <a:path w="886460" h="53339">
                <a:moveTo>
                  <a:pt x="235643" y="6451"/>
                </a:moveTo>
                <a:lnTo>
                  <a:pt x="229068" y="12664"/>
                </a:lnTo>
                <a:lnTo>
                  <a:pt x="228622" y="28440"/>
                </a:lnTo>
                <a:lnTo>
                  <a:pt x="234836" y="35014"/>
                </a:lnTo>
                <a:lnTo>
                  <a:pt x="250640" y="35461"/>
                </a:lnTo>
                <a:lnTo>
                  <a:pt x="257215" y="29247"/>
                </a:lnTo>
                <a:lnTo>
                  <a:pt x="257661" y="13472"/>
                </a:lnTo>
                <a:lnTo>
                  <a:pt x="251447" y="6897"/>
                </a:lnTo>
                <a:lnTo>
                  <a:pt x="235643" y="6451"/>
                </a:lnTo>
                <a:close/>
              </a:path>
              <a:path w="886460" h="53339">
                <a:moveTo>
                  <a:pt x="178487" y="4838"/>
                </a:moveTo>
                <a:lnTo>
                  <a:pt x="171913" y="11052"/>
                </a:lnTo>
                <a:lnTo>
                  <a:pt x="171467" y="26827"/>
                </a:lnTo>
                <a:lnTo>
                  <a:pt x="177680" y="33402"/>
                </a:lnTo>
                <a:lnTo>
                  <a:pt x="193484" y="33848"/>
                </a:lnTo>
                <a:lnTo>
                  <a:pt x="200059" y="27634"/>
                </a:lnTo>
                <a:lnTo>
                  <a:pt x="200505" y="11859"/>
                </a:lnTo>
                <a:lnTo>
                  <a:pt x="194290" y="5284"/>
                </a:lnTo>
                <a:lnTo>
                  <a:pt x="178487" y="4838"/>
                </a:lnTo>
                <a:close/>
              </a:path>
              <a:path w="886460" h="53339">
                <a:moveTo>
                  <a:pt x="121331" y="3225"/>
                </a:moveTo>
                <a:lnTo>
                  <a:pt x="114757" y="9439"/>
                </a:lnTo>
                <a:lnTo>
                  <a:pt x="114311" y="25214"/>
                </a:lnTo>
                <a:lnTo>
                  <a:pt x="120525" y="31789"/>
                </a:lnTo>
                <a:lnTo>
                  <a:pt x="136329" y="32235"/>
                </a:lnTo>
                <a:lnTo>
                  <a:pt x="142904" y="26021"/>
                </a:lnTo>
                <a:lnTo>
                  <a:pt x="143348" y="10246"/>
                </a:lnTo>
                <a:lnTo>
                  <a:pt x="137135" y="3671"/>
                </a:lnTo>
                <a:lnTo>
                  <a:pt x="121331" y="3225"/>
                </a:lnTo>
                <a:close/>
              </a:path>
              <a:path w="886460" h="53339">
                <a:moveTo>
                  <a:pt x="64175" y="1612"/>
                </a:moveTo>
                <a:lnTo>
                  <a:pt x="57600" y="7826"/>
                </a:lnTo>
                <a:lnTo>
                  <a:pt x="57156" y="23601"/>
                </a:lnTo>
                <a:lnTo>
                  <a:pt x="63369" y="30176"/>
                </a:lnTo>
                <a:lnTo>
                  <a:pt x="79173" y="30622"/>
                </a:lnTo>
                <a:lnTo>
                  <a:pt x="85747" y="24409"/>
                </a:lnTo>
                <a:lnTo>
                  <a:pt x="86193" y="8633"/>
                </a:lnTo>
                <a:lnTo>
                  <a:pt x="79979" y="2059"/>
                </a:lnTo>
                <a:lnTo>
                  <a:pt x="64175" y="1612"/>
                </a:lnTo>
                <a:close/>
              </a:path>
              <a:path w="886460" h="53339">
                <a:moveTo>
                  <a:pt x="7020" y="0"/>
                </a:moveTo>
                <a:lnTo>
                  <a:pt x="445" y="6213"/>
                </a:lnTo>
                <a:lnTo>
                  <a:pt x="0" y="21988"/>
                </a:lnTo>
                <a:lnTo>
                  <a:pt x="6214" y="28563"/>
                </a:lnTo>
                <a:lnTo>
                  <a:pt x="22017" y="29009"/>
                </a:lnTo>
                <a:lnTo>
                  <a:pt x="28592" y="22796"/>
                </a:lnTo>
                <a:lnTo>
                  <a:pt x="29037" y="7021"/>
                </a:lnTo>
                <a:lnTo>
                  <a:pt x="22824" y="446"/>
                </a:lnTo>
                <a:lnTo>
                  <a:pt x="7020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99274" y="5223009"/>
            <a:ext cx="429895" cy="857250"/>
          </a:xfrm>
          <a:custGeom>
            <a:avLst/>
            <a:gdLst/>
            <a:ahLst/>
            <a:cxnLst/>
            <a:rect l="l" t="t" r="r" b="b"/>
            <a:pathLst>
              <a:path w="429895" h="857250">
                <a:moveTo>
                  <a:pt x="15394" y="824337"/>
                </a:moveTo>
                <a:lnTo>
                  <a:pt x="6856" y="827326"/>
                </a:lnTo>
                <a:lnTo>
                  <a:pt x="0" y="841572"/>
                </a:lnTo>
                <a:lnTo>
                  <a:pt x="2989" y="850110"/>
                </a:lnTo>
                <a:lnTo>
                  <a:pt x="17209" y="856955"/>
                </a:lnTo>
                <a:lnTo>
                  <a:pt x="25747" y="853965"/>
                </a:lnTo>
                <a:lnTo>
                  <a:pt x="32604" y="839719"/>
                </a:lnTo>
                <a:lnTo>
                  <a:pt x="29615" y="831181"/>
                </a:lnTo>
                <a:lnTo>
                  <a:pt x="15394" y="824337"/>
                </a:lnTo>
                <a:close/>
              </a:path>
              <a:path w="429895" h="857250">
                <a:moveTo>
                  <a:pt x="40194" y="772816"/>
                </a:moveTo>
                <a:lnTo>
                  <a:pt x="31656" y="775805"/>
                </a:lnTo>
                <a:lnTo>
                  <a:pt x="24799" y="790051"/>
                </a:lnTo>
                <a:lnTo>
                  <a:pt x="27787" y="798589"/>
                </a:lnTo>
                <a:lnTo>
                  <a:pt x="42007" y="805434"/>
                </a:lnTo>
                <a:lnTo>
                  <a:pt x="50545" y="802444"/>
                </a:lnTo>
                <a:lnTo>
                  <a:pt x="57402" y="788198"/>
                </a:lnTo>
                <a:lnTo>
                  <a:pt x="54414" y="779660"/>
                </a:lnTo>
                <a:lnTo>
                  <a:pt x="40194" y="772816"/>
                </a:lnTo>
                <a:close/>
              </a:path>
              <a:path w="429895" h="857250">
                <a:moveTo>
                  <a:pt x="64992" y="721295"/>
                </a:moveTo>
                <a:lnTo>
                  <a:pt x="56454" y="724284"/>
                </a:lnTo>
                <a:lnTo>
                  <a:pt x="49597" y="738530"/>
                </a:lnTo>
                <a:lnTo>
                  <a:pt x="52586" y="747068"/>
                </a:lnTo>
                <a:lnTo>
                  <a:pt x="66807" y="753913"/>
                </a:lnTo>
                <a:lnTo>
                  <a:pt x="75345" y="750923"/>
                </a:lnTo>
                <a:lnTo>
                  <a:pt x="82202" y="736677"/>
                </a:lnTo>
                <a:lnTo>
                  <a:pt x="79212" y="728139"/>
                </a:lnTo>
                <a:lnTo>
                  <a:pt x="64992" y="721295"/>
                </a:lnTo>
                <a:close/>
              </a:path>
              <a:path w="429895" h="857250">
                <a:moveTo>
                  <a:pt x="89788" y="669774"/>
                </a:moveTo>
                <a:lnTo>
                  <a:pt x="81250" y="672764"/>
                </a:lnTo>
                <a:lnTo>
                  <a:pt x="74395" y="687011"/>
                </a:lnTo>
                <a:lnTo>
                  <a:pt x="77386" y="695549"/>
                </a:lnTo>
                <a:lnTo>
                  <a:pt x="91607" y="702391"/>
                </a:lnTo>
                <a:lnTo>
                  <a:pt x="100144" y="699401"/>
                </a:lnTo>
                <a:lnTo>
                  <a:pt x="107000" y="685154"/>
                </a:lnTo>
                <a:lnTo>
                  <a:pt x="104009" y="676617"/>
                </a:lnTo>
                <a:lnTo>
                  <a:pt x="89788" y="669774"/>
                </a:lnTo>
                <a:close/>
              </a:path>
              <a:path w="429895" h="857250">
                <a:moveTo>
                  <a:pt x="114587" y="618253"/>
                </a:moveTo>
                <a:lnTo>
                  <a:pt x="106050" y="621243"/>
                </a:lnTo>
                <a:lnTo>
                  <a:pt x="99194" y="635490"/>
                </a:lnTo>
                <a:lnTo>
                  <a:pt x="102185" y="644027"/>
                </a:lnTo>
                <a:lnTo>
                  <a:pt x="116405" y="650870"/>
                </a:lnTo>
                <a:lnTo>
                  <a:pt x="124943" y="647880"/>
                </a:lnTo>
                <a:lnTo>
                  <a:pt x="131799" y="633633"/>
                </a:lnTo>
                <a:lnTo>
                  <a:pt x="128808" y="625096"/>
                </a:lnTo>
                <a:lnTo>
                  <a:pt x="114587" y="618253"/>
                </a:lnTo>
                <a:close/>
              </a:path>
              <a:path w="429895" h="857250">
                <a:moveTo>
                  <a:pt x="139386" y="566732"/>
                </a:moveTo>
                <a:lnTo>
                  <a:pt x="130848" y="569722"/>
                </a:lnTo>
                <a:lnTo>
                  <a:pt x="123992" y="583969"/>
                </a:lnTo>
                <a:lnTo>
                  <a:pt x="126983" y="592506"/>
                </a:lnTo>
                <a:lnTo>
                  <a:pt x="141203" y="599349"/>
                </a:lnTo>
                <a:lnTo>
                  <a:pt x="149741" y="596359"/>
                </a:lnTo>
                <a:lnTo>
                  <a:pt x="156597" y="582112"/>
                </a:lnTo>
                <a:lnTo>
                  <a:pt x="153606" y="573574"/>
                </a:lnTo>
                <a:lnTo>
                  <a:pt x="139386" y="566732"/>
                </a:lnTo>
                <a:close/>
              </a:path>
              <a:path w="429895" h="857250">
                <a:moveTo>
                  <a:pt x="164184" y="515210"/>
                </a:moveTo>
                <a:lnTo>
                  <a:pt x="155646" y="518201"/>
                </a:lnTo>
                <a:lnTo>
                  <a:pt x="148791" y="532448"/>
                </a:lnTo>
                <a:lnTo>
                  <a:pt x="151781" y="540985"/>
                </a:lnTo>
                <a:lnTo>
                  <a:pt x="166002" y="547828"/>
                </a:lnTo>
                <a:lnTo>
                  <a:pt x="174539" y="544838"/>
                </a:lnTo>
                <a:lnTo>
                  <a:pt x="181395" y="530591"/>
                </a:lnTo>
                <a:lnTo>
                  <a:pt x="178405" y="522053"/>
                </a:lnTo>
                <a:lnTo>
                  <a:pt x="164184" y="515210"/>
                </a:lnTo>
                <a:close/>
              </a:path>
              <a:path w="429895" h="857250">
                <a:moveTo>
                  <a:pt x="188982" y="463689"/>
                </a:moveTo>
                <a:lnTo>
                  <a:pt x="180445" y="466680"/>
                </a:lnTo>
                <a:lnTo>
                  <a:pt x="173589" y="480926"/>
                </a:lnTo>
                <a:lnTo>
                  <a:pt x="176580" y="489464"/>
                </a:lnTo>
                <a:lnTo>
                  <a:pt x="190800" y="496307"/>
                </a:lnTo>
                <a:lnTo>
                  <a:pt x="199339" y="493317"/>
                </a:lnTo>
                <a:lnTo>
                  <a:pt x="206194" y="479070"/>
                </a:lnTo>
                <a:lnTo>
                  <a:pt x="203203" y="470532"/>
                </a:lnTo>
                <a:lnTo>
                  <a:pt x="188982" y="463689"/>
                </a:lnTo>
                <a:close/>
              </a:path>
              <a:path w="429895" h="857250">
                <a:moveTo>
                  <a:pt x="213781" y="412168"/>
                </a:moveTo>
                <a:lnTo>
                  <a:pt x="205243" y="415159"/>
                </a:lnTo>
                <a:lnTo>
                  <a:pt x="198387" y="429405"/>
                </a:lnTo>
                <a:lnTo>
                  <a:pt x="201378" y="437943"/>
                </a:lnTo>
                <a:lnTo>
                  <a:pt x="215600" y="444786"/>
                </a:lnTo>
                <a:lnTo>
                  <a:pt x="224137" y="441795"/>
                </a:lnTo>
                <a:lnTo>
                  <a:pt x="230992" y="427549"/>
                </a:lnTo>
                <a:lnTo>
                  <a:pt x="228001" y="419011"/>
                </a:lnTo>
                <a:lnTo>
                  <a:pt x="213781" y="412168"/>
                </a:lnTo>
                <a:close/>
              </a:path>
              <a:path w="429895" h="857250">
                <a:moveTo>
                  <a:pt x="238579" y="360648"/>
                </a:moveTo>
                <a:lnTo>
                  <a:pt x="230042" y="363637"/>
                </a:lnTo>
                <a:lnTo>
                  <a:pt x="223187" y="377884"/>
                </a:lnTo>
                <a:lnTo>
                  <a:pt x="226176" y="386422"/>
                </a:lnTo>
                <a:lnTo>
                  <a:pt x="240398" y="393265"/>
                </a:lnTo>
                <a:lnTo>
                  <a:pt x="248936" y="390274"/>
                </a:lnTo>
                <a:lnTo>
                  <a:pt x="255790" y="376028"/>
                </a:lnTo>
                <a:lnTo>
                  <a:pt x="252801" y="367490"/>
                </a:lnTo>
                <a:lnTo>
                  <a:pt x="238579" y="360648"/>
                </a:lnTo>
                <a:close/>
              </a:path>
              <a:path w="429895" h="857250">
                <a:moveTo>
                  <a:pt x="263378" y="309126"/>
                </a:moveTo>
                <a:lnTo>
                  <a:pt x="254840" y="312116"/>
                </a:lnTo>
                <a:lnTo>
                  <a:pt x="247985" y="326363"/>
                </a:lnTo>
                <a:lnTo>
                  <a:pt x="250976" y="334901"/>
                </a:lnTo>
                <a:lnTo>
                  <a:pt x="265196" y="341744"/>
                </a:lnTo>
                <a:lnTo>
                  <a:pt x="273734" y="338753"/>
                </a:lnTo>
                <a:lnTo>
                  <a:pt x="280589" y="324506"/>
                </a:lnTo>
                <a:lnTo>
                  <a:pt x="277599" y="315969"/>
                </a:lnTo>
                <a:lnTo>
                  <a:pt x="263378" y="309126"/>
                </a:lnTo>
                <a:close/>
              </a:path>
              <a:path w="429895" h="857250">
                <a:moveTo>
                  <a:pt x="288184" y="257605"/>
                </a:moveTo>
                <a:lnTo>
                  <a:pt x="279645" y="260591"/>
                </a:lnTo>
                <a:lnTo>
                  <a:pt x="272783" y="274834"/>
                </a:lnTo>
                <a:lnTo>
                  <a:pt x="275769" y="283373"/>
                </a:lnTo>
                <a:lnTo>
                  <a:pt x="289986" y="290224"/>
                </a:lnTo>
                <a:lnTo>
                  <a:pt x="298526" y="287237"/>
                </a:lnTo>
                <a:lnTo>
                  <a:pt x="305389" y="272994"/>
                </a:lnTo>
                <a:lnTo>
                  <a:pt x="302402" y="264454"/>
                </a:lnTo>
                <a:lnTo>
                  <a:pt x="288184" y="257605"/>
                </a:lnTo>
                <a:close/>
              </a:path>
              <a:path w="429895" h="857250">
                <a:moveTo>
                  <a:pt x="312983" y="206084"/>
                </a:moveTo>
                <a:lnTo>
                  <a:pt x="304444" y="209069"/>
                </a:lnTo>
                <a:lnTo>
                  <a:pt x="297581" y="223312"/>
                </a:lnTo>
                <a:lnTo>
                  <a:pt x="300568" y="231852"/>
                </a:lnTo>
                <a:lnTo>
                  <a:pt x="314786" y="238702"/>
                </a:lnTo>
                <a:lnTo>
                  <a:pt x="323325" y="235715"/>
                </a:lnTo>
                <a:lnTo>
                  <a:pt x="330187" y="221472"/>
                </a:lnTo>
                <a:lnTo>
                  <a:pt x="327201" y="212933"/>
                </a:lnTo>
                <a:lnTo>
                  <a:pt x="312983" y="206084"/>
                </a:lnTo>
                <a:close/>
              </a:path>
              <a:path w="429895" h="857250">
                <a:moveTo>
                  <a:pt x="337781" y="154562"/>
                </a:moveTo>
                <a:lnTo>
                  <a:pt x="329242" y="157548"/>
                </a:lnTo>
                <a:lnTo>
                  <a:pt x="322380" y="171792"/>
                </a:lnTo>
                <a:lnTo>
                  <a:pt x="325366" y="180331"/>
                </a:lnTo>
                <a:lnTo>
                  <a:pt x="339584" y="187181"/>
                </a:lnTo>
                <a:lnTo>
                  <a:pt x="348123" y="184195"/>
                </a:lnTo>
                <a:lnTo>
                  <a:pt x="354985" y="169951"/>
                </a:lnTo>
                <a:lnTo>
                  <a:pt x="351999" y="161413"/>
                </a:lnTo>
                <a:lnTo>
                  <a:pt x="337781" y="154562"/>
                </a:lnTo>
                <a:close/>
              </a:path>
              <a:path w="429895" h="857250">
                <a:moveTo>
                  <a:pt x="362579" y="103041"/>
                </a:moveTo>
                <a:lnTo>
                  <a:pt x="354041" y="106028"/>
                </a:lnTo>
                <a:lnTo>
                  <a:pt x="347178" y="120271"/>
                </a:lnTo>
                <a:lnTo>
                  <a:pt x="350165" y="128811"/>
                </a:lnTo>
                <a:lnTo>
                  <a:pt x="364382" y="135660"/>
                </a:lnTo>
                <a:lnTo>
                  <a:pt x="372921" y="132674"/>
                </a:lnTo>
                <a:lnTo>
                  <a:pt x="379784" y="118431"/>
                </a:lnTo>
                <a:lnTo>
                  <a:pt x="376797" y="109891"/>
                </a:lnTo>
                <a:lnTo>
                  <a:pt x="362579" y="103041"/>
                </a:lnTo>
                <a:close/>
              </a:path>
              <a:path w="429895" h="857250">
                <a:moveTo>
                  <a:pt x="387379" y="51520"/>
                </a:moveTo>
                <a:lnTo>
                  <a:pt x="378839" y="54507"/>
                </a:lnTo>
                <a:lnTo>
                  <a:pt x="371977" y="68750"/>
                </a:lnTo>
                <a:lnTo>
                  <a:pt x="374963" y="77289"/>
                </a:lnTo>
                <a:lnTo>
                  <a:pt x="389181" y="84138"/>
                </a:lnTo>
                <a:lnTo>
                  <a:pt x="397720" y="81152"/>
                </a:lnTo>
                <a:lnTo>
                  <a:pt x="404582" y="66909"/>
                </a:lnTo>
                <a:lnTo>
                  <a:pt x="401596" y="58370"/>
                </a:lnTo>
                <a:lnTo>
                  <a:pt x="387379" y="51520"/>
                </a:lnTo>
                <a:close/>
              </a:path>
              <a:path w="429895" h="857250">
                <a:moveTo>
                  <a:pt x="412177" y="0"/>
                </a:moveTo>
                <a:lnTo>
                  <a:pt x="403637" y="2985"/>
                </a:lnTo>
                <a:lnTo>
                  <a:pt x="396775" y="17228"/>
                </a:lnTo>
                <a:lnTo>
                  <a:pt x="399761" y="25768"/>
                </a:lnTo>
                <a:lnTo>
                  <a:pt x="413979" y="32618"/>
                </a:lnTo>
                <a:lnTo>
                  <a:pt x="422518" y="29631"/>
                </a:lnTo>
                <a:lnTo>
                  <a:pt x="429380" y="15388"/>
                </a:lnTo>
                <a:lnTo>
                  <a:pt x="426394" y="6849"/>
                </a:lnTo>
                <a:lnTo>
                  <a:pt x="412177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670555" y="5297928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28984" y="5132692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943855" y="4946903"/>
            <a:ext cx="359663" cy="356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88452" y="49652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988452" y="49652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428744" y="5888735"/>
            <a:ext cx="356615" cy="3566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470961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470961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416296" y="5888735"/>
            <a:ext cx="359663" cy="35661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461118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461118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964935" y="5132832"/>
            <a:ext cx="356615" cy="3535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07131" y="515068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007131" y="515068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081271" y="5087111"/>
            <a:ext cx="356615" cy="3566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124609" y="510635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124609" y="510635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728945" y="5381380"/>
            <a:ext cx="294005" cy="667385"/>
          </a:xfrm>
          <a:custGeom>
            <a:avLst/>
            <a:gdLst/>
            <a:ahLst/>
            <a:cxnLst/>
            <a:rect l="l" t="t" r="r" b="b"/>
            <a:pathLst>
              <a:path w="294004" h="667385">
                <a:moveTo>
                  <a:pt x="279295" y="634470"/>
                </a:moveTo>
                <a:lnTo>
                  <a:pt x="264702" y="640478"/>
                </a:lnTo>
                <a:lnTo>
                  <a:pt x="261222" y="648829"/>
                </a:lnTo>
                <a:lnTo>
                  <a:pt x="267241" y="663448"/>
                </a:lnTo>
                <a:lnTo>
                  <a:pt x="275591" y="666928"/>
                </a:lnTo>
                <a:lnTo>
                  <a:pt x="290184" y="660920"/>
                </a:lnTo>
                <a:lnTo>
                  <a:pt x="293664" y="652569"/>
                </a:lnTo>
                <a:lnTo>
                  <a:pt x="287646" y="637950"/>
                </a:lnTo>
                <a:lnTo>
                  <a:pt x="279295" y="634470"/>
                </a:lnTo>
                <a:close/>
              </a:path>
              <a:path w="294004" h="667385">
                <a:moveTo>
                  <a:pt x="257526" y="581598"/>
                </a:moveTo>
                <a:lnTo>
                  <a:pt x="242933" y="587606"/>
                </a:lnTo>
                <a:lnTo>
                  <a:pt x="239453" y="595956"/>
                </a:lnTo>
                <a:lnTo>
                  <a:pt x="245473" y="610576"/>
                </a:lnTo>
                <a:lnTo>
                  <a:pt x="253823" y="614055"/>
                </a:lnTo>
                <a:lnTo>
                  <a:pt x="268417" y="608047"/>
                </a:lnTo>
                <a:lnTo>
                  <a:pt x="271895" y="599696"/>
                </a:lnTo>
                <a:lnTo>
                  <a:pt x="265877" y="585077"/>
                </a:lnTo>
                <a:lnTo>
                  <a:pt x="257526" y="581598"/>
                </a:lnTo>
                <a:close/>
              </a:path>
              <a:path w="294004" h="667385">
                <a:moveTo>
                  <a:pt x="235757" y="528725"/>
                </a:moveTo>
                <a:lnTo>
                  <a:pt x="221165" y="534733"/>
                </a:lnTo>
                <a:lnTo>
                  <a:pt x="217685" y="543084"/>
                </a:lnTo>
                <a:lnTo>
                  <a:pt x="223704" y="557703"/>
                </a:lnTo>
                <a:lnTo>
                  <a:pt x="232055" y="561183"/>
                </a:lnTo>
                <a:lnTo>
                  <a:pt x="246647" y="555174"/>
                </a:lnTo>
                <a:lnTo>
                  <a:pt x="250127" y="546824"/>
                </a:lnTo>
                <a:lnTo>
                  <a:pt x="244107" y="532204"/>
                </a:lnTo>
                <a:lnTo>
                  <a:pt x="235757" y="528725"/>
                </a:lnTo>
                <a:close/>
              </a:path>
              <a:path w="294004" h="667385">
                <a:moveTo>
                  <a:pt x="213988" y="475852"/>
                </a:moveTo>
                <a:lnTo>
                  <a:pt x="199396" y="481861"/>
                </a:lnTo>
                <a:lnTo>
                  <a:pt x="195916" y="490211"/>
                </a:lnTo>
                <a:lnTo>
                  <a:pt x="201936" y="504830"/>
                </a:lnTo>
                <a:lnTo>
                  <a:pt x="210286" y="508310"/>
                </a:lnTo>
                <a:lnTo>
                  <a:pt x="224878" y="502302"/>
                </a:lnTo>
                <a:lnTo>
                  <a:pt x="228358" y="493951"/>
                </a:lnTo>
                <a:lnTo>
                  <a:pt x="222340" y="479332"/>
                </a:lnTo>
                <a:lnTo>
                  <a:pt x="213988" y="475852"/>
                </a:lnTo>
                <a:close/>
              </a:path>
              <a:path w="294004" h="667385">
                <a:moveTo>
                  <a:pt x="192223" y="422980"/>
                </a:moveTo>
                <a:lnTo>
                  <a:pt x="177628" y="428986"/>
                </a:lnTo>
                <a:lnTo>
                  <a:pt x="174148" y="437336"/>
                </a:lnTo>
                <a:lnTo>
                  <a:pt x="180166" y="451957"/>
                </a:lnTo>
                <a:lnTo>
                  <a:pt x="188516" y="455437"/>
                </a:lnTo>
                <a:lnTo>
                  <a:pt x="203109" y="449431"/>
                </a:lnTo>
                <a:lnTo>
                  <a:pt x="206589" y="441081"/>
                </a:lnTo>
                <a:lnTo>
                  <a:pt x="200572" y="426460"/>
                </a:lnTo>
                <a:lnTo>
                  <a:pt x="192223" y="422980"/>
                </a:lnTo>
                <a:close/>
              </a:path>
              <a:path w="294004" h="667385">
                <a:moveTo>
                  <a:pt x="170458" y="370107"/>
                </a:moveTo>
                <a:lnTo>
                  <a:pt x="155862" y="376111"/>
                </a:lnTo>
                <a:lnTo>
                  <a:pt x="152379" y="384460"/>
                </a:lnTo>
                <a:lnTo>
                  <a:pt x="158394" y="399082"/>
                </a:lnTo>
                <a:lnTo>
                  <a:pt x="166743" y="402564"/>
                </a:lnTo>
                <a:lnTo>
                  <a:pt x="181339" y="396560"/>
                </a:lnTo>
                <a:lnTo>
                  <a:pt x="184821" y="388211"/>
                </a:lnTo>
                <a:lnTo>
                  <a:pt x="178807" y="373590"/>
                </a:lnTo>
                <a:lnTo>
                  <a:pt x="170458" y="370107"/>
                </a:lnTo>
                <a:close/>
              </a:path>
              <a:path w="294004" h="667385">
                <a:moveTo>
                  <a:pt x="148689" y="317235"/>
                </a:moveTo>
                <a:lnTo>
                  <a:pt x="134094" y="323238"/>
                </a:lnTo>
                <a:lnTo>
                  <a:pt x="130611" y="331588"/>
                </a:lnTo>
                <a:lnTo>
                  <a:pt x="136626" y="346209"/>
                </a:lnTo>
                <a:lnTo>
                  <a:pt x="144975" y="349691"/>
                </a:lnTo>
                <a:lnTo>
                  <a:pt x="159570" y="343688"/>
                </a:lnTo>
                <a:lnTo>
                  <a:pt x="163052" y="335339"/>
                </a:lnTo>
                <a:lnTo>
                  <a:pt x="157038" y="320717"/>
                </a:lnTo>
                <a:lnTo>
                  <a:pt x="148689" y="317235"/>
                </a:lnTo>
                <a:close/>
              </a:path>
              <a:path w="294004" h="667385">
                <a:moveTo>
                  <a:pt x="126919" y="264362"/>
                </a:moveTo>
                <a:lnTo>
                  <a:pt x="112325" y="270366"/>
                </a:lnTo>
                <a:lnTo>
                  <a:pt x="108842" y="278715"/>
                </a:lnTo>
                <a:lnTo>
                  <a:pt x="114857" y="293336"/>
                </a:lnTo>
                <a:lnTo>
                  <a:pt x="123206" y="296819"/>
                </a:lnTo>
                <a:lnTo>
                  <a:pt x="137801" y="290815"/>
                </a:lnTo>
                <a:lnTo>
                  <a:pt x="141283" y="282466"/>
                </a:lnTo>
                <a:lnTo>
                  <a:pt x="135270" y="267844"/>
                </a:lnTo>
                <a:lnTo>
                  <a:pt x="126919" y="264362"/>
                </a:lnTo>
                <a:close/>
              </a:path>
              <a:path w="294004" h="667385">
                <a:moveTo>
                  <a:pt x="105152" y="211489"/>
                </a:moveTo>
                <a:lnTo>
                  <a:pt x="90557" y="217493"/>
                </a:lnTo>
                <a:lnTo>
                  <a:pt x="87075" y="225842"/>
                </a:lnTo>
                <a:lnTo>
                  <a:pt x="93089" y="240464"/>
                </a:lnTo>
                <a:lnTo>
                  <a:pt x="101438" y="243946"/>
                </a:lnTo>
                <a:lnTo>
                  <a:pt x="116033" y="237942"/>
                </a:lnTo>
                <a:lnTo>
                  <a:pt x="119515" y="229593"/>
                </a:lnTo>
                <a:lnTo>
                  <a:pt x="113501" y="214972"/>
                </a:lnTo>
                <a:lnTo>
                  <a:pt x="105152" y="211489"/>
                </a:lnTo>
                <a:close/>
              </a:path>
              <a:path w="294004" h="667385">
                <a:moveTo>
                  <a:pt x="83383" y="158617"/>
                </a:moveTo>
                <a:lnTo>
                  <a:pt x="68788" y="164621"/>
                </a:lnTo>
                <a:lnTo>
                  <a:pt x="65305" y="172970"/>
                </a:lnTo>
                <a:lnTo>
                  <a:pt x="71320" y="187591"/>
                </a:lnTo>
                <a:lnTo>
                  <a:pt x="79669" y="191074"/>
                </a:lnTo>
                <a:lnTo>
                  <a:pt x="94264" y="185070"/>
                </a:lnTo>
                <a:lnTo>
                  <a:pt x="97746" y="176720"/>
                </a:lnTo>
                <a:lnTo>
                  <a:pt x="91732" y="162100"/>
                </a:lnTo>
                <a:lnTo>
                  <a:pt x="83383" y="158617"/>
                </a:lnTo>
                <a:close/>
              </a:path>
              <a:path w="294004" h="667385">
                <a:moveTo>
                  <a:pt x="61615" y="105744"/>
                </a:moveTo>
                <a:lnTo>
                  <a:pt x="47020" y="111748"/>
                </a:lnTo>
                <a:lnTo>
                  <a:pt x="43538" y="120097"/>
                </a:lnTo>
                <a:lnTo>
                  <a:pt x="49551" y="134719"/>
                </a:lnTo>
                <a:lnTo>
                  <a:pt x="57901" y="138201"/>
                </a:lnTo>
                <a:lnTo>
                  <a:pt x="72496" y="132198"/>
                </a:lnTo>
                <a:lnTo>
                  <a:pt x="75979" y="123847"/>
                </a:lnTo>
                <a:lnTo>
                  <a:pt x="69964" y="109226"/>
                </a:lnTo>
                <a:lnTo>
                  <a:pt x="61615" y="105744"/>
                </a:lnTo>
                <a:close/>
              </a:path>
              <a:path w="294004" h="667385">
                <a:moveTo>
                  <a:pt x="39846" y="52872"/>
                </a:moveTo>
                <a:lnTo>
                  <a:pt x="25251" y="58875"/>
                </a:lnTo>
                <a:lnTo>
                  <a:pt x="21769" y="67224"/>
                </a:lnTo>
                <a:lnTo>
                  <a:pt x="27783" y="81846"/>
                </a:lnTo>
                <a:lnTo>
                  <a:pt x="36132" y="85328"/>
                </a:lnTo>
                <a:lnTo>
                  <a:pt x="50727" y="79325"/>
                </a:lnTo>
                <a:lnTo>
                  <a:pt x="54209" y="70975"/>
                </a:lnTo>
                <a:lnTo>
                  <a:pt x="48195" y="56353"/>
                </a:lnTo>
                <a:lnTo>
                  <a:pt x="39846" y="52872"/>
                </a:lnTo>
                <a:close/>
              </a:path>
              <a:path w="294004" h="667385">
                <a:moveTo>
                  <a:pt x="18077" y="0"/>
                </a:moveTo>
                <a:lnTo>
                  <a:pt x="3482" y="6003"/>
                </a:lnTo>
                <a:lnTo>
                  <a:pt x="0" y="14352"/>
                </a:lnTo>
                <a:lnTo>
                  <a:pt x="6014" y="28973"/>
                </a:lnTo>
                <a:lnTo>
                  <a:pt x="14363" y="32456"/>
                </a:lnTo>
                <a:lnTo>
                  <a:pt x="28958" y="26452"/>
                </a:lnTo>
                <a:lnTo>
                  <a:pt x="32440" y="18102"/>
                </a:lnTo>
                <a:lnTo>
                  <a:pt x="26427" y="3481"/>
                </a:lnTo>
                <a:lnTo>
                  <a:pt x="18077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61355" y="6049817"/>
            <a:ext cx="886460" cy="53340"/>
          </a:xfrm>
          <a:custGeom>
            <a:avLst/>
            <a:gdLst/>
            <a:ahLst/>
            <a:cxnLst/>
            <a:rect l="l" t="t" r="r" b="b"/>
            <a:pathLst>
              <a:path w="886459" h="53339">
                <a:moveTo>
                  <a:pt x="864356" y="24192"/>
                </a:moveTo>
                <a:lnTo>
                  <a:pt x="857782" y="30406"/>
                </a:lnTo>
                <a:lnTo>
                  <a:pt x="857337" y="46181"/>
                </a:lnTo>
                <a:lnTo>
                  <a:pt x="863550" y="52756"/>
                </a:lnTo>
                <a:lnTo>
                  <a:pt x="879354" y="53201"/>
                </a:lnTo>
                <a:lnTo>
                  <a:pt x="885929" y="46988"/>
                </a:lnTo>
                <a:lnTo>
                  <a:pt x="886374" y="31212"/>
                </a:lnTo>
                <a:lnTo>
                  <a:pt x="880160" y="24638"/>
                </a:lnTo>
                <a:lnTo>
                  <a:pt x="864356" y="24192"/>
                </a:lnTo>
                <a:close/>
              </a:path>
              <a:path w="886459" h="53339">
                <a:moveTo>
                  <a:pt x="807200" y="22579"/>
                </a:moveTo>
                <a:lnTo>
                  <a:pt x="800627" y="28793"/>
                </a:lnTo>
                <a:lnTo>
                  <a:pt x="800181" y="44568"/>
                </a:lnTo>
                <a:lnTo>
                  <a:pt x="806395" y="51143"/>
                </a:lnTo>
                <a:lnTo>
                  <a:pt x="822199" y="51589"/>
                </a:lnTo>
                <a:lnTo>
                  <a:pt x="828774" y="45375"/>
                </a:lnTo>
                <a:lnTo>
                  <a:pt x="829218" y="29600"/>
                </a:lnTo>
                <a:lnTo>
                  <a:pt x="823004" y="23025"/>
                </a:lnTo>
                <a:lnTo>
                  <a:pt x="807200" y="22579"/>
                </a:lnTo>
                <a:close/>
              </a:path>
              <a:path w="886459" h="53339">
                <a:moveTo>
                  <a:pt x="750045" y="20966"/>
                </a:moveTo>
                <a:lnTo>
                  <a:pt x="743470" y="27180"/>
                </a:lnTo>
                <a:lnTo>
                  <a:pt x="743024" y="42955"/>
                </a:lnTo>
                <a:lnTo>
                  <a:pt x="749239" y="49530"/>
                </a:lnTo>
                <a:lnTo>
                  <a:pt x="765042" y="49976"/>
                </a:lnTo>
                <a:lnTo>
                  <a:pt x="771617" y="43762"/>
                </a:lnTo>
                <a:lnTo>
                  <a:pt x="772062" y="27987"/>
                </a:lnTo>
                <a:lnTo>
                  <a:pt x="765849" y="21412"/>
                </a:lnTo>
                <a:lnTo>
                  <a:pt x="750045" y="20966"/>
                </a:lnTo>
                <a:close/>
              </a:path>
              <a:path w="886459" h="53339">
                <a:moveTo>
                  <a:pt x="692889" y="19353"/>
                </a:moveTo>
                <a:lnTo>
                  <a:pt x="686314" y="25567"/>
                </a:lnTo>
                <a:lnTo>
                  <a:pt x="685869" y="41342"/>
                </a:lnTo>
                <a:lnTo>
                  <a:pt x="692083" y="47917"/>
                </a:lnTo>
                <a:lnTo>
                  <a:pt x="707886" y="48363"/>
                </a:lnTo>
                <a:lnTo>
                  <a:pt x="714461" y="42149"/>
                </a:lnTo>
                <a:lnTo>
                  <a:pt x="714907" y="26374"/>
                </a:lnTo>
                <a:lnTo>
                  <a:pt x="708693" y="19799"/>
                </a:lnTo>
                <a:lnTo>
                  <a:pt x="692889" y="19353"/>
                </a:lnTo>
                <a:close/>
              </a:path>
              <a:path w="886459" h="53339">
                <a:moveTo>
                  <a:pt x="635734" y="17741"/>
                </a:moveTo>
                <a:lnTo>
                  <a:pt x="629159" y="23954"/>
                </a:lnTo>
                <a:lnTo>
                  <a:pt x="628713" y="39730"/>
                </a:lnTo>
                <a:lnTo>
                  <a:pt x="634927" y="46304"/>
                </a:lnTo>
                <a:lnTo>
                  <a:pt x="650731" y="46750"/>
                </a:lnTo>
                <a:lnTo>
                  <a:pt x="657306" y="40537"/>
                </a:lnTo>
                <a:lnTo>
                  <a:pt x="657750" y="24761"/>
                </a:lnTo>
                <a:lnTo>
                  <a:pt x="651537" y="18187"/>
                </a:lnTo>
                <a:lnTo>
                  <a:pt x="635734" y="17741"/>
                </a:lnTo>
                <a:close/>
              </a:path>
              <a:path w="886459" h="53339">
                <a:moveTo>
                  <a:pt x="578577" y="16128"/>
                </a:moveTo>
                <a:lnTo>
                  <a:pt x="572002" y="22341"/>
                </a:lnTo>
                <a:lnTo>
                  <a:pt x="571558" y="38117"/>
                </a:lnTo>
                <a:lnTo>
                  <a:pt x="577771" y="44691"/>
                </a:lnTo>
                <a:lnTo>
                  <a:pt x="593575" y="45137"/>
                </a:lnTo>
                <a:lnTo>
                  <a:pt x="600149" y="38924"/>
                </a:lnTo>
                <a:lnTo>
                  <a:pt x="600595" y="23149"/>
                </a:lnTo>
                <a:lnTo>
                  <a:pt x="594381" y="16574"/>
                </a:lnTo>
                <a:lnTo>
                  <a:pt x="578577" y="16128"/>
                </a:lnTo>
                <a:close/>
              </a:path>
              <a:path w="886459" h="53339">
                <a:moveTo>
                  <a:pt x="521421" y="14515"/>
                </a:moveTo>
                <a:lnTo>
                  <a:pt x="514847" y="20729"/>
                </a:lnTo>
                <a:lnTo>
                  <a:pt x="514402" y="36504"/>
                </a:lnTo>
                <a:lnTo>
                  <a:pt x="520616" y="43079"/>
                </a:lnTo>
                <a:lnTo>
                  <a:pt x="536420" y="43525"/>
                </a:lnTo>
                <a:lnTo>
                  <a:pt x="542994" y="37311"/>
                </a:lnTo>
                <a:lnTo>
                  <a:pt x="543439" y="21535"/>
                </a:lnTo>
                <a:lnTo>
                  <a:pt x="537225" y="14961"/>
                </a:lnTo>
                <a:lnTo>
                  <a:pt x="521421" y="14515"/>
                </a:lnTo>
                <a:close/>
              </a:path>
              <a:path w="886459" h="53339">
                <a:moveTo>
                  <a:pt x="464266" y="12902"/>
                </a:moveTo>
                <a:lnTo>
                  <a:pt x="457691" y="19116"/>
                </a:lnTo>
                <a:lnTo>
                  <a:pt x="457246" y="34891"/>
                </a:lnTo>
                <a:lnTo>
                  <a:pt x="463459" y="41466"/>
                </a:lnTo>
                <a:lnTo>
                  <a:pt x="479263" y="41912"/>
                </a:lnTo>
                <a:lnTo>
                  <a:pt x="485838" y="35698"/>
                </a:lnTo>
                <a:lnTo>
                  <a:pt x="486284" y="19923"/>
                </a:lnTo>
                <a:lnTo>
                  <a:pt x="480070" y="13348"/>
                </a:lnTo>
                <a:lnTo>
                  <a:pt x="464266" y="12902"/>
                </a:lnTo>
                <a:close/>
              </a:path>
              <a:path w="886459" h="53339">
                <a:moveTo>
                  <a:pt x="407109" y="11289"/>
                </a:moveTo>
                <a:lnTo>
                  <a:pt x="400535" y="17503"/>
                </a:lnTo>
                <a:lnTo>
                  <a:pt x="400090" y="33279"/>
                </a:lnTo>
                <a:lnTo>
                  <a:pt x="406304" y="39853"/>
                </a:lnTo>
                <a:lnTo>
                  <a:pt x="422108" y="40299"/>
                </a:lnTo>
                <a:lnTo>
                  <a:pt x="428683" y="34085"/>
                </a:lnTo>
                <a:lnTo>
                  <a:pt x="429127" y="18310"/>
                </a:lnTo>
                <a:lnTo>
                  <a:pt x="422913" y="11735"/>
                </a:lnTo>
                <a:lnTo>
                  <a:pt x="407109" y="11289"/>
                </a:lnTo>
                <a:close/>
              </a:path>
              <a:path w="886459" h="53339">
                <a:moveTo>
                  <a:pt x="349954" y="9677"/>
                </a:moveTo>
                <a:lnTo>
                  <a:pt x="343380" y="15891"/>
                </a:lnTo>
                <a:lnTo>
                  <a:pt x="342934" y="31666"/>
                </a:lnTo>
                <a:lnTo>
                  <a:pt x="349148" y="38240"/>
                </a:lnTo>
                <a:lnTo>
                  <a:pt x="364952" y="38686"/>
                </a:lnTo>
                <a:lnTo>
                  <a:pt x="371527" y="32472"/>
                </a:lnTo>
                <a:lnTo>
                  <a:pt x="371971" y="16697"/>
                </a:lnTo>
                <a:lnTo>
                  <a:pt x="365758" y="10122"/>
                </a:lnTo>
                <a:lnTo>
                  <a:pt x="349954" y="9677"/>
                </a:lnTo>
                <a:close/>
              </a:path>
              <a:path w="886459" h="53339">
                <a:moveTo>
                  <a:pt x="292798" y="8064"/>
                </a:moveTo>
                <a:lnTo>
                  <a:pt x="286223" y="14278"/>
                </a:lnTo>
                <a:lnTo>
                  <a:pt x="285779" y="30053"/>
                </a:lnTo>
                <a:lnTo>
                  <a:pt x="291993" y="36627"/>
                </a:lnTo>
                <a:lnTo>
                  <a:pt x="307797" y="37073"/>
                </a:lnTo>
                <a:lnTo>
                  <a:pt x="314370" y="30859"/>
                </a:lnTo>
                <a:lnTo>
                  <a:pt x="314816" y="15084"/>
                </a:lnTo>
                <a:lnTo>
                  <a:pt x="308602" y="8510"/>
                </a:lnTo>
                <a:lnTo>
                  <a:pt x="292798" y="8064"/>
                </a:lnTo>
                <a:close/>
              </a:path>
              <a:path w="886459" h="53339">
                <a:moveTo>
                  <a:pt x="235643" y="6451"/>
                </a:moveTo>
                <a:lnTo>
                  <a:pt x="229068" y="12664"/>
                </a:lnTo>
                <a:lnTo>
                  <a:pt x="228622" y="28440"/>
                </a:lnTo>
                <a:lnTo>
                  <a:pt x="234836" y="35014"/>
                </a:lnTo>
                <a:lnTo>
                  <a:pt x="250640" y="35461"/>
                </a:lnTo>
                <a:lnTo>
                  <a:pt x="257215" y="29247"/>
                </a:lnTo>
                <a:lnTo>
                  <a:pt x="257660" y="13472"/>
                </a:lnTo>
                <a:lnTo>
                  <a:pt x="251447" y="6897"/>
                </a:lnTo>
                <a:lnTo>
                  <a:pt x="235643" y="6451"/>
                </a:lnTo>
                <a:close/>
              </a:path>
              <a:path w="886459" h="53339">
                <a:moveTo>
                  <a:pt x="178487" y="4838"/>
                </a:moveTo>
                <a:lnTo>
                  <a:pt x="171912" y="11052"/>
                </a:lnTo>
                <a:lnTo>
                  <a:pt x="171467" y="26827"/>
                </a:lnTo>
                <a:lnTo>
                  <a:pt x="177680" y="33402"/>
                </a:lnTo>
                <a:lnTo>
                  <a:pt x="193484" y="33848"/>
                </a:lnTo>
                <a:lnTo>
                  <a:pt x="200059" y="27634"/>
                </a:lnTo>
                <a:lnTo>
                  <a:pt x="200505" y="11859"/>
                </a:lnTo>
                <a:lnTo>
                  <a:pt x="194290" y="5284"/>
                </a:lnTo>
                <a:lnTo>
                  <a:pt x="178487" y="4838"/>
                </a:lnTo>
                <a:close/>
              </a:path>
              <a:path w="886459" h="53339">
                <a:moveTo>
                  <a:pt x="121331" y="3225"/>
                </a:moveTo>
                <a:lnTo>
                  <a:pt x="114757" y="9439"/>
                </a:lnTo>
                <a:lnTo>
                  <a:pt x="114311" y="25214"/>
                </a:lnTo>
                <a:lnTo>
                  <a:pt x="120525" y="31789"/>
                </a:lnTo>
                <a:lnTo>
                  <a:pt x="136329" y="32235"/>
                </a:lnTo>
                <a:lnTo>
                  <a:pt x="142902" y="26022"/>
                </a:lnTo>
                <a:lnTo>
                  <a:pt x="143348" y="10246"/>
                </a:lnTo>
                <a:lnTo>
                  <a:pt x="137135" y="3671"/>
                </a:lnTo>
                <a:lnTo>
                  <a:pt x="121331" y="3225"/>
                </a:lnTo>
                <a:close/>
              </a:path>
              <a:path w="886459" h="53339">
                <a:moveTo>
                  <a:pt x="64175" y="1612"/>
                </a:moveTo>
                <a:lnTo>
                  <a:pt x="57600" y="7826"/>
                </a:lnTo>
                <a:lnTo>
                  <a:pt x="57155" y="23601"/>
                </a:lnTo>
                <a:lnTo>
                  <a:pt x="63369" y="30176"/>
                </a:lnTo>
                <a:lnTo>
                  <a:pt x="79173" y="30622"/>
                </a:lnTo>
                <a:lnTo>
                  <a:pt x="85747" y="24409"/>
                </a:lnTo>
                <a:lnTo>
                  <a:pt x="86193" y="8633"/>
                </a:lnTo>
                <a:lnTo>
                  <a:pt x="79979" y="2059"/>
                </a:lnTo>
                <a:lnTo>
                  <a:pt x="64175" y="1612"/>
                </a:lnTo>
                <a:close/>
              </a:path>
              <a:path w="886459" h="53339">
                <a:moveTo>
                  <a:pt x="7020" y="0"/>
                </a:moveTo>
                <a:lnTo>
                  <a:pt x="445" y="6213"/>
                </a:lnTo>
                <a:lnTo>
                  <a:pt x="0" y="21988"/>
                </a:lnTo>
                <a:lnTo>
                  <a:pt x="6212" y="28563"/>
                </a:lnTo>
                <a:lnTo>
                  <a:pt x="22016" y="29009"/>
                </a:lnTo>
                <a:lnTo>
                  <a:pt x="28591" y="22796"/>
                </a:lnTo>
                <a:lnTo>
                  <a:pt x="29037" y="7021"/>
                </a:lnTo>
                <a:lnTo>
                  <a:pt x="22823" y="446"/>
                </a:lnTo>
                <a:lnTo>
                  <a:pt x="7020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098052" y="533083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556483" y="5165599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373111" y="4980432"/>
            <a:ext cx="356616" cy="3535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415948" y="499820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415948" y="499820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854952" y="5922263"/>
            <a:ext cx="359664" cy="3566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898458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898458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845552" y="5922263"/>
            <a:ext cx="356616" cy="35661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888613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888613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391143" y="5166359"/>
            <a:ext cx="359664" cy="35356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434628" y="518359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434628" y="518359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507480" y="5120640"/>
            <a:ext cx="359664" cy="35661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552106" y="513926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552106" y="513926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695022" y="5161568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4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98774" y="4912867"/>
            <a:ext cx="991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M</a:t>
            </a:r>
            <a:r>
              <a:rPr dirty="0" sz="1800" spc="-5" b="1">
                <a:latin typeface="Arial"/>
                <a:cs typeface="Arial"/>
              </a:rPr>
              <a:t>essa</a:t>
            </a:r>
            <a:r>
              <a:rPr dirty="0" sz="1800" b="1">
                <a:latin typeface="Arial"/>
                <a:cs typeface="Arial"/>
              </a:rPr>
              <a:t>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8774" y="5181091"/>
            <a:ext cx="559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e</a:t>
            </a:r>
            <a:r>
              <a:rPr dirty="0" sz="1800" b="1">
                <a:latin typeface="Arial"/>
                <a:cs typeface="Arial"/>
              </a:rPr>
              <a:t>dge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8774" y="5726684"/>
            <a:ext cx="1333500" cy="5803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50"/>
              </a:spcBef>
            </a:pP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Supervision  edge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639254" y="4898086"/>
            <a:ext cx="2281555" cy="1640839"/>
          </a:xfrm>
          <a:custGeom>
            <a:avLst/>
            <a:gdLst/>
            <a:ahLst/>
            <a:cxnLst/>
            <a:rect l="l" t="t" r="r" b="b"/>
            <a:pathLst>
              <a:path w="2281554" h="1640840">
                <a:moveTo>
                  <a:pt x="0" y="0"/>
                </a:moveTo>
                <a:lnTo>
                  <a:pt x="2280964" y="0"/>
                </a:lnTo>
                <a:lnTo>
                  <a:pt x="2280964" y="1640368"/>
                </a:lnTo>
                <a:lnTo>
                  <a:pt x="0" y="164036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042266" y="4907536"/>
            <a:ext cx="2281555" cy="1640839"/>
          </a:xfrm>
          <a:custGeom>
            <a:avLst/>
            <a:gdLst/>
            <a:ahLst/>
            <a:cxnLst/>
            <a:rect l="l" t="t" r="r" b="b"/>
            <a:pathLst>
              <a:path w="2281554" h="1640840">
                <a:moveTo>
                  <a:pt x="0" y="0"/>
                </a:moveTo>
                <a:lnTo>
                  <a:pt x="2280964" y="0"/>
                </a:lnTo>
                <a:lnTo>
                  <a:pt x="2280964" y="1640368"/>
                </a:lnTo>
                <a:lnTo>
                  <a:pt x="0" y="164036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445276" y="4916986"/>
            <a:ext cx="2281555" cy="1640839"/>
          </a:xfrm>
          <a:custGeom>
            <a:avLst/>
            <a:gdLst/>
            <a:ahLst/>
            <a:cxnLst/>
            <a:rect l="l" t="t" r="r" b="b"/>
            <a:pathLst>
              <a:path w="2281554" h="1640840">
                <a:moveTo>
                  <a:pt x="0" y="0"/>
                </a:moveTo>
                <a:lnTo>
                  <a:pt x="2280964" y="0"/>
                </a:lnTo>
                <a:lnTo>
                  <a:pt x="2280964" y="1640368"/>
                </a:lnTo>
                <a:lnTo>
                  <a:pt x="0" y="164036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03192" y="5374047"/>
            <a:ext cx="515620" cy="0"/>
          </a:xfrm>
          <a:custGeom>
            <a:avLst/>
            <a:gdLst/>
            <a:ahLst/>
            <a:cxnLst/>
            <a:rect l="l" t="t" r="r" b="b"/>
            <a:pathLst>
              <a:path w="515619" h="0">
                <a:moveTo>
                  <a:pt x="515027" y="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88904" y="6169674"/>
            <a:ext cx="543560" cy="28575"/>
          </a:xfrm>
          <a:custGeom>
            <a:avLst/>
            <a:gdLst/>
            <a:ahLst/>
            <a:cxnLst/>
            <a:rect l="l" t="t" r="r" b="b"/>
            <a:pathLst>
              <a:path w="543560" h="28575">
                <a:moveTo>
                  <a:pt x="22206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22178"/>
                </a:lnTo>
                <a:lnTo>
                  <a:pt x="6396" y="28575"/>
                </a:lnTo>
                <a:lnTo>
                  <a:pt x="22206" y="28575"/>
                </a:lnTo>
                <a:lnTo>
                  <a:pt x="28603" y="22178"/>
                </a:lnTo>
                <a:lnTo>
                  <a:pt x="28603" y="6396"/>
                </a:lnTo>
                <a:lnTo>
                  <a:pt x="22206" y="0"/>
                </a:lnTo>
                <a:close/>
              </a:path>
              <a:path w="543560" h="28575">
                <a:moveTo>
                  <a:pt x="79385" y="0"/>
                </a:moveTo>
                <a:lnTo>
                  <a:pt x="63575" y="0"/>
                </a:lnTo>
                <a:lnTo>
                  <a:pt x="57178" y="6396"/>
                </a:lnTo>
                <a:lnTo>
                  <a:pt x="57178" y="22178"/>
                </a:lnTo>
                <a:lnTo>
                  <a:pt x="63575" y="28575"/>
                </a:lnTo>
                <a:lnTo>
                  <a:pt x="79385" y="28575"/>
                </a:lnTo>
                <a:lnTo>
                  <a:pt x="85782" y="22178"/>
                </a:lnTo>
                <a:lnTo>
                  <a:pt x="85782" y="6396"/>
                </a:lnTo>
                <a:lnTo>
                  <a:pt x="79385" y="0"/>
                </a:lnTo>
                <a:close/>
              </a:path>
              <a:path w="543560" h="28575">
                <a:moveTo>
                  <a:pt x="136563" y="0"/>
                </a:moveTo>
                <a:lnTo>
                  <a:pt x="120753" y="0"/>
                </a:lnTo>
                <a:lnTo>
                  <a:pt x="114357" y="6396"/>
                </a:lnTo>
                <a:lnTo>
                  <a:pt x="114357" y="22178"/>
                </a:lnTo>
                <a:lnTo>
                  <a:pt x="120753" y="28575"/>
                </a:lnTo>
                <a:lnTo>
                  <a:pt x="136563" y="28575"/>
                </a:lnTo>
                <a:lnTo>
                  <a:pt x="142960" y="22178"/>
                </a:lnTo>
                <a:lnTo>
                  <a:pt x="142960" y="6396"/>
                </a:lnTo>
                <a:lnTo>
                  <a:pt x="136563" y="0"/>
                </a:lnTo>
                <a:close/>
              </a:path>
              <a:path w="543560" h="28575">
                <a:moveTo>
                  <a:pt x="193742" y="0"/>
                </a:moveTo>
                <a:lnTo>
                  <a:pt x="177932" y="0"/>
                </a:lnTo>
                <a:lnTo>
                  <a:pt x="171535" y="6396"/>
                </a:lnTo>
                <a:lnTo>
                  <a:pt x="171535" y="22178"/>
                </a:lnTo>
                <a:lnTo>
                  <a:pt x="177932" y="28575"/>
                </a:lnTo>
                <a:lnTo>
                  <a:pt x="193742" y="28575"/>
                </a:lnTo>
                <a:lnTo>
                  <a:pt x="200139" y="22178"/>
                </a:lnTo>
                <a:lnTo>
                  <a:pt x="200139" y="6396"/>
                </a:lnTo>
                <a:lnTo>
                  <a:pt x="193742" y="0"/>
                </a:lnTo>
                <a:close/>
              </a:path>
              <a:path w="543560" h="28575">
                <a:moveTo>
                  <a:pt x="235111" y="0"/>
                </a:moveTo>
                <a:lnTo>
                  <a:pt x="228714" y="6397"/>
                </a:lnTo>
                <a:lnTo>
                  <a:pt x="228714" y="22178"/>
                </a:lnTo>
                <a:lnTo>
                  <a:pt x="235111" y="28575"/>
                </a:lnTo>
                <a:lnTo>
                  <a:pt x="250921" y="28575"/>
                </a:lnTo>
                <a:lnTo>
                  <a:pt x="257317" y="22178"/>
                </a:lnTo>
                <a:lnTo>
                  <a:pt x="257317" y="6397"/>
                </a:lnTo>
                <a:lnTo>
                  <a:pt x="250921" y="0"/>
                </a:lnTo>
                <a:lnTo>
                  <a:pt x="235111" y="0"/>
                </a:lnTo>
                <a:close/>
              </a:path>
              <a:path w="543560" h="28575">
                <a:moveTo>
                  <a:pt x="300180" y="0"/>
                </a:moveTo>
                <a:lnTo>
                  <a:pt x="292289" y="0"/>
                </a:lnTo>
                <a:lnTo>
                  <a:pt x="285892" y="6397"/>
                </a:lnTo>
                <a:lnTo>
                  <a:pt x="285893" y="22178"/>
                </a:lnTo>
                <a:lnTo>
                  <a:pt x="292289" y="28575"/>
                </a:lnTo>
                <a:lnTo>
                  <a:pt x="308099" y="28575"/>
                </a:lnTo>
                <a:lnTo>
                  <a:pt x="314496" y="22178"/>
                </a:lnTo>
                <a:lnTo>
                  <a:pt x="314496" y="6397"/>
                </a:lnTo>
                <a:lnTo>
                  <a:pt x="308099" y="0"/>
                </a:lnTo>
                <a:lnTo>
                  <a:pt x="300180" y="0"/>
                </a:lnTo>
                <a:close/>
              </a:path>
              <a:path w="543560" h="28575">
                <a:moveTo>
                  <a:pt x="365278" y="0"/>
                </a:moveTo>
                <a:lnTo>
                  <a:pt x="349468" y="0"/>
                </a:lnTo>
                <a:lnTo>
                  <a:pt x="343071" y="6397"/>
                </a:lnTo>
                <a:lnTo>
                  <a:pt x="343071" y="22179"/>
                </a:lnTo>
                <a:lnTo>
                  <a:pt x="349468" y="28575"/>
                </a:lnTo>
                <a:lnTo>
                  <a:pt x="365278" y="28575"/>
                </a:lnTo>
                <a:lnTo>
                  <a:pt x="371675" y="22179"/>
                </a:lnTo>
                <a:lnTo>
                  <a:pt x="371675" y="6397"/>
                </a:lnTo>
                <a:lnTo>
                  <a:pt x="365278" y="0"/>
                </a:lnTo>
                <a:close/>
              </a:path>
              <a:path w="543560" h="28575">
                <a:moveTo>
                  <a:pt x="422456" y="0"/>
                </a:moveTo>
                <a:lnTo>
                  <a:pt x="406646" y="0"/>
                </a:lnTo>
                <a:lnTo>
                  <a:pt x="400250" y="6397"/>
                </a:lnTo>
                <a:lnTo>
                  <a:pt x="400250" y="22179"/>
                </a:lnTo>
                <a:lnTo>
                  <a:pt x="406646" y="28575"/>
                </a:lnTo>
                <a:lnTo>
                  <a:pt x="422456" y="28575"/>
                </a:lnTo>
                <a:lnTo>
                  <a:pt x="428853" y="22179"/>
                </a:lnTo>
                <a:lnTo>
                  <a:pt x="428853" y="6397"/>
                </a:lnTo>
                <a:lnTo>
                  <a:pt x="422456" y="0"/>
                </a:lnTo>
                <a:close/>
              </a:path>
              <a:path w="543560" h="28575">
                <a:moveTo>
                  <a:pt x="479635" y="0"/>
                </a:moveTo>
                <a:lnTo>
                  <a:pt x="463825" y="0"/>
                </a:lnTo>
                <a:lnTo>
                  <a:pt x="457428" y="6397"/>
                </a:lnTo>
                <a:lnTo>
                  <a:pt x="457428" y="22179"/>
                </a:lnTo>
                <a:lnTo>
                  <a:pt x="463825" y="28575"/>
                </a:lnTo>
                <a:lnTo>
                  <a:pt x="479635" y="28575"/>
                </a:lnTo>
                <a:lnTo>
                  <a:pt x="486032" y="22179"/>
                </a:lnTo>
                <a:lnTo>
                  <a:pt x="486032" y="6397"/>
                </a:lnTo>
                <a:lnTo>
                  <a:pt x="479635" y="0"/>
                </a:lnTo>
                <a:close/>
              </a:path>
              <a:path w="543560" h="28575">
                <a:moveTo>
                  <a:pt x="536814" y="1"/>
                </a:moveTo>
                <a:lnTo>
                  <a:pt x="521004" y="1"/>
                </a:lnTo>
                <a:lnTo>
                  <a:pt x="514607" y="6397"/>
                </a:lnTo>
                <a:lnTo>
                  <a:pt x="514607" y="22179"/>
                </a:lnTo>
                <a:lnTo>
                  <a:pt x="521004" y="28576"/>
                </a:lnTo>
                <a:lnTo>
                  <a:pt x="536814" y="28576"/>
                </a:lnTo>
                <a:lnTo>
                  <a:pt x="543211" y="22179"/>
                </a:lnTo>
                <a:lnTo>
                  <a:pt x="543211" y="6397"/>
                </a:lnTo>
                <a:lnTo>
                  <a:pt x="536814" y="1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2600232" y="5452364"/>
            <a:ext cx="241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95">
                <a:latin typeface="Cambria Math"/>
                <a:cs typeface="Cambria Math"/>
              </a:rPr>
              <a:t>𝐺</a:t>
            </a:r>
            <a:r>
              <a:rPr dirty="0" baseline="-14957" sz="1950" spc="562">
                <a:latin typeface="Cambria Math"/>
                <a:cs typeface="Cambria Math"/>
              </a:rPr>
              <a:t>!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87" name="object 8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8" name="object 8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8"/>
              </a:rPr>
              <a:t>http://cs224w.stanford.edu</a:t>
            </a:r>
          </a:p>
        </p:txBody>
      </p:sp>
      <p:sp>
        <p:nvSpPr>
          <p:cNvPr id="89" name="object 8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65</a:t>
            </a:fld>
          </a:p>
        </p:txBody>
      </p:sp>
      <p:sp>
        <p:nvSpPr>
          <p:cNvPr id="74" name="object 74"/>
          <p:cNvSpPr txBox="1"/>
          <p:nvPr/>
        </p:nvSpPr>
        <p:spPr>
          <a:xfrm>
            <a:off x="5011585" y="5452364"/>
            <a:ext cx="2463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𝐺</a:t>
            </a:r>
            <a:r>
              <a:rPr dirty="0" baseline="-14957" sz="1950" spc="127">
                <a:latin typeface="Cambria Math"/>
                <a:cs typeface="Cambria Math"/>
              </a:rPr>
              <a:t>$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684239" y="5118100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56600" y="4929123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095141" y="5834176"/>
            <a:ext cx="1227455" cy="66421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409"/>
              </a:spcBef>
              <a:tabLst>
                <a:tab pos="103124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dirty="0" sz="20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797599" y="5072379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099632" y="5148579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071992" y="4959603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427174" y="5876848"/>
            <a:ext cx="1534160" cy="63627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315"/>
              </a:spcBef>
              <a:tabLst>
                <a:tab pos="1114425" algn="l"/>
              </a:tabLst>
            </a:pPr>
            <a:r>
              <a:rPr dirty="0" baseline="1736" sz="2400" spc="-7" b="1">
                <a:solidFill>
                  <a:srgbClr val="FFFFFF"/>
                </a:solidFill>
                <a:latin typeface="Arial"/>
                <a:cs typeface="Arial"/>
              </a:rPr>
              <a:t>10	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r>
              <a:rPr dirty="0" sz="2000" spc="-5" b="1">
                <a:solidFill>
                  <a:srgbClr val="60B5CC"/>
                </a:solidFill>
                <a:latin typeface="Corbel"/>
                <a:cs typeface="Corbel"/>
              </a:rPr>
              <a:t>Validation</a:t>
            </a:r>
            <a:r>
              <a:rPr dirty="0" sz="2000" spc="-70" b="1">
                <a:solidFill>
                  <a:srgbClr val="60B5CC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60B5CC"/>
                </a:solidFill>
                <a:latin typeface="Corbel"/>
                <a:cs typeface="Corbel"/>
              </a:rPr>
              <a:t>set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212992" y="5105908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455407" y="5176011"/>
            <a:ext cx="2387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16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433739" y="4987035"/>
            <a:ext cx="2387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6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913661" y="5452364"/>
            <a:ext cx="1241425" cy="105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795">
              <a:lnSpc>
                <a:spcPct val="100000"/>
              </a:lnSpc>
              <a:spcBef>
                <a:spcPts val="100"/>
              </a:spcBef>
            </a:pPr>
            <a:r>
              <a:rPr dirty="0" sz="1800" spc="-229">
                <a:latin typeface="Cambria Math"/>
                <a:cs typeface="Cambria Math"/>
              </a:rPr>
              <a:t>𝐺</a:t>
            </a:r>
            <a:r>
              <a:rPr dirty="0" baseline="-14957" sz="1950" spc="-345">
                <a:latin typeface="Cambria Math"/>
                <a:cs typeface="Cambria Math"/>
              </a:rPr>
              <a:t>%</a:t>
            </a:r>
            <a:endParaRPr baseline="-14957" sz="1950">
              <a:latin typeface="Cambria Math"/>
              <a:cs typeface="Cambria Math"/>
            </a:endParaRPr>
          </a:p>
          <a:p>
            <a:pPr algn="ctr" marR="5080">
              <a:lnSpc>
                <a:spcPts val="1864"/>
              </a:lnSpc>
              <a:spcBef>
                <a:spcPts val="1710"/>
              </a:spcBef>
              <a:tabLst>
                <a:tab pos="1002665" algn="l"/>
              </a:tabLst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1600">
              <a:latin typeface="Arial"/>
              <a:cs typeface="Arial"/>
            </a:endParaRPr>
          </a:p>
          <a:p>
            <a:pPr algn="ctr" marL="77470">
              <a:lnSpc>
                <a:spcPts val="2345"/>
              </a:lnSpc>
            </a:pPr>
            <a:r>
              <a:rPr dirty="0" sz="2000" spc="-35" b="1">
                <a:solidFill>
                  <a:srgbClr val="6BB76D"/>
                </a:solidFill>
                <a:latin typeface="Corbel"/>
                <a:cs typeface="Corbel"/>
              </a:rPr>
              <a:t>Test</a:t>
            </a:r>
            <a:r>
              <a:rPr dirty="0" sz="2000" spc="-90" b="1">
                <a:solidFill>
                  <a:srgbClr val="6BB76D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6BB76D"/>
                </a:solidFill>
                <a:latin typeface="Corbel"/>
                <a:cs typeface="Corbel"/>
              </a:rPr>
              <a:t>set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588827" y="5130291"/>
            <a:ext cx="2159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90" b="1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32" y="1248156"/>
            <a:ext cx="76015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Option </a:t>
            </a:r>
            <a:r>
              <a:rPr dirty="0"/>
              <a:t>2: </a:t>
            </a:r>
            <a:r>
              <a:rPr dirty="0" spc="-30">
                <a:solidFill>
                  <a:srgbClr val="C00000"/>
                </a:solidFill>
              </a:rPr>
              <a:t>Transductive </a:t>
            </a:r>
            <a:r>
              <a:rPr dirty="0" spc="-5"/>
              <a:t>link </a:t>
            </a:r>
            <a:r>
              <a:rPr dirty="0" spc="-10"/>
              <a:t>prediction</a:t>
            </a:r>
            <a:r>
              <a:rPr dirty="0" spc="75"/>
              <a:t> </a:t>
            </a:r>
            <a:r>
              <a:rPr dirty="0" spc="-5"/>
              <a:t>split: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0787" y="1817115"/>
            <a:ext cx="7593330" cy="13944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This is the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default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setting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when people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talk </a:t>
            </a:r>
            <a:r>
              <a:rPr dirty="0" sz="2800" spc="-125" b="1">
                <a:solidFill>
                  <a:srgbClr val="C00000"/>
                </a:solidFill>
                <a:latin typeface="Calibri"/>
                <a:cs typeface="Calibri"/>
              </a:rPr>
              <a:t>about 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link</a:t>
            </a:r>
            <a:r>
              <a:rPr dirty="0" sz="28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prediction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Suppose </a:t>
            </a:r>
            <a:r>
              <a:rPr dirty="0" sz="2800" spc="-15" b="1">
                <a:latin typeface="Calibri"/>
                <a:cs typeface="Calibri"/>
              </a:rPr>
              <a:t>we </a:t>
            </a:r>
            <a:r>
              <a:rPr dirty="0" sz="2800" spc="-20" b="1">
                <a:latin typeface="Calibri"/>
                <a:cs typeface="Calibri"/>
              </a:rPr>
              <a:t>have </a:t>
            </a:r>
            <a:r>
              <a:rPr dirty="0" sz="2800" b="1">
                <a:latin typeface="Calibri"/>
                <a:cs typeface="Calibri"/>
              </a:rPr>
              <a:t>a </a:t>
            </a:r>
            <a:r>
              <a:rPr dirty="0" sz="2800" spc="-15" b="1">
                <a:latin typeface="Calibri"/>
                <a:cs typeface="Calibri"/>
              </a:rPr>
              <a:t>dataset </a:t>
            </a:r>
            <a:r>
              <a:rPr dirty="0" sz="2800" spc="-5" b="1">
                <a:latin typeface="Calibri"/>
                <a:cs typeface="Calibri"/>
              </a:rPr>
              <a:t>of </a:t>
            </a:r>
            <a:r>
              <a:rPr dirty="0" sz="2800" b="1">
                <a:latin typeface="Calibri"/>
                <a:cs typeface="Calibri"/>
              </a:rPr>
              <a:t>1</a:t>
            </a:r>
            <a:r>
              <a:rPr dirty="0" sz="2800" spc="55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6778" y="4333050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66431" y="5028505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56782" y="4190222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11766" y="4295673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470198" y="4130436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85488" y="3944111"/>
            <a:ext cx="359663" cy="356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29663" y="396304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29663" y="396304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67328" y="4888991"/>
            <a:ext cx="359663" cy="3535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12174" y="490611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8" y="242152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12174" y="490611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57928" y="4888991"/>
            <a:ext cx="359663" cy="3535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802329" y="490611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2"/>
                </a:lnTo>
                <a:lnTo>
                  <a:pt x="244828" y="213144"/>
                </a:lnTo>
                <a:lnTo>
                  <a:pt x="264062" y="176359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2"/>
                </a:lnTo>
                <a:lnTo>
                  <a:pt x="215500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802329" y="490611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303520" y="4130040"/>
            <a:ext cx="359663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48343" y="414843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348343" y="414843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22903" y="4084320"/>
            <a:ext cx="356615" cy="3566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65822" y="41040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465822" y="41040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428145" y="4148835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0504" y="3959859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70366" y="4901691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93706" y="49047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41505" y="410311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608737" y="4126405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8"/>
              </a:rPr>
              <a:t>http://cs224w.stanford.edu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65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32" y="1248156"/>
            <a:ext cx="76015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Option </a:t>
            </a:r>
            <a:r>
              <a:rPr dirty="0"/>
              <a:t>2: </a:t>
            </a:r>
            <a:r>
              <a:rPr dirty="0" spc="-30"/>
              <a:t>Transductive </a:t>
            </a:r>
            <a:r>
              <a:rPr dirty="0" spc="-5"/>
              <a:t>link </a:t>
            </a:r>
            <a:r>
              <a:rPr dirty="0" spc="-10"/>
              <a:t>prediction</a:t>
            </a:r>
            <a:r>
              <a:rPr dirty="0" spc="75"/>
              <a:t> </a:t>
            </a:r>
            <a:r>
              <a:rPr dirty="0" spc="-5"/>
              <a:t>split:</a:t>
            </a:r>
          </a:p>
        </p:txBody>
      </p:sp>
      <p:sp>
        <p:nvSpPr>
          <p:cNvPr id="4" name="object 4"/>
          <p:cNvSpPr/>
          <p:nvPr/>
        </p:nvSpPr>
        <p:spPr>
          <a:xfrm>
            <a:off x="3712092" y="4861272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31746" y="5556726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22096" y="4718442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77080" y="4823894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35511" y="4658657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52544" y="4474464"/>
            <a:ext cx="356615" cy="353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94977" y="449126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94977" y="449126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34384" y="5416295"/>
            <a:ext cx="356615" cy="356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77487" y="54343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77487" y="54343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24984" y="5416295"/>
            <a:ext cx="356615" cy="356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867644" y="54343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867644" y="54343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370576" y="4657344"/>
            <a:ext cx="356615" cy="356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13658" y="467665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413658" y="467665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86911" y="4614671"/>
            <a:ext cx="359663" cy="3535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31136" y="463231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31136" y="463231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493458" y="46761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0787" y="1817115"/>
            <a:ext cx="7908925" cy="293941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By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definition of </a:t>
            </a:r>
            <a:r>
              <a:rPr dirty="0" sz="2800" spc="-30" b="1">
                <a:solidFill>
                  <a:srgbClr val="0070C0"/>
                </a:solidFill>
                <a:latin typeface="Calibri"/>
                <a:cs typeface="Calibri"/>
              </a:rPr>
              <a:t>“transductive”,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entire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graph </a:t>
            </a:r>
            <a:r>
              <a:rPr dirty="0" sz="2800" spc="-204" b="1">
                <a:solidFill>
                  <a:srgbClr val="0070C0"/>
                </a:solidFill>
                <a:latin typeface="Calibri"/>
                <a:cs typeface="Calibri"/>
              </a:rPr>
              <a:t>can 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be observed 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in all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dataset</a:t>
            </a:r>
            <a:r>
              <a:rPr dirty="0" sz="2800" spc="-3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splits</a:t>
            </a:r>
            <a:endParaRPr sz="2800">
              <a:latin typeface="Calibri"/>
              <a:cs typeface="Calibri"/>
            </a:endParaRPr>
          </a:p>
          <a:p>
            <a:pPr lvl="1" marL="552450" marR="275590" indent="-228600">
              <a:lnSpc>
                <a:spcPts val="2810"/>
              </a:lnSpc>
              <a:spcBef>
                <a:spcPts val="79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 b="1">
                <a:latin typeface="Calibri"/>
                <a:cs typeface="Calibri"/>
              </a:rPr>
              <a:t>But since </a:t>
            </a:r>
            <a:r>
              <a:rPr dirty="0" sz="2400" spc="-10" b="1">
                <a:latin typeface="Calibri"/>
                <a:cs typeface="Calibri"/>
              </a:rPr>
              <a:t>edges </a:t>
            </a:r>
            <a:r>
              <a:rPr dirty="0" sz="2400" spc="-15" b="1">
                <a:latin typeface="Calibri"/>
                <a:cs typeface="Calibri"/>
              </a:rPr>
              <a:t>are </a:t>
            </a:r>
            <a:r>
              <a:rPr dirty="0" sz="2400" spc="-5" b="1">
                <a:latin typeface="Calibri"/>
                <a:cs typeface="Calibri"/>
              </a:rPr>
              <a:t>both part of </a:t>
            </a:r>
            <a:r>
              <a:rPr dirty="0" sz="2400" spc="-15" b="1">
                <a:latin typeface="Calibri"/>
                <a:cs typeface="Calibri"/>
              </a:rPr>
              <a:t>graph </a:t>
            </a:r>
            <a:r>
              <a:rPr dirty="0" sz="2400" spc="-10" b="1">
                <a:latin typeface="Calibri"/>
                <a:cs typeface="Calibri"/>
              </a:rPr>
              <a:t>structure </a:t>
            </a:r>
            <a:r>
              <a:rPr dirty="0" sz="2400" spc="-5" b="1">
                <a:latin typeface="Calibri"/>
                <a:cs typeface="Calibri"/>
              </a:rPr>
              <a:t>and the  supervision, </a:t>
            </a:r>
            <a:r>
              <a:rPr dirty="0" sz="2400" spc="-10" b="1">
                <a:latin typeface="Calibri"/>
                <a:cs typeface="Calibri"/>
              </a:rPr>
              <a:t>we </a:t>
            </a:r>
            <a:r>
              <a:rPr dirty="0" sz="2400" spc="-5" b="1">
                <a:latin typeface="Calibri"/>
                <a:cs typeface="Calibri"/>
              </a:rPr>
              <a:t>need </a:t>
            </a:r>
            <a:r>
              <a:rPr dirty="0" sz="2400" spc="-10" b="1">
                <a:latin typeface="Calibri"/>
                <a:cs typeface="Calibri"/>
              </a:rPr>
              <a:t>to </a:t>
            </a:r>
            <a:r>
              <a:rPr dirty="0" sz="2400" spc="-5" b="1">
                <a:latin typeface="Calibri"/>
                <a:cs typeface="Calibri"/>
              </a:rPr>
              <a:t>hold out </a:t>
            </a:r>
            <a:r>
              <a:rPr dirty="0" sz="2400" spc="-10" b="1">
                <a:solidFill>
                  <a:srgbClr val="60B5CC"/>
                </a:solidFill>
                <a:latin typeface="Calibri"/>
                <a:cs typeface="Calibri"/>
              </a:rPr>
              <a:t>validation </a:t>
            </a:r>
            <a:r>
              <a:rPr dirty="0" sz="2400" b="1">
                <a:latin typeface="Calibri"/>
                <a:cs typeface="Calibri"/>
              </a:rPr>
              <a:t>/ </a:t>
            </a:r>
            <a:r>
              <a:rPr dirty="0" sz="2400" spc="-15" b="1">
                <a:solidFill>
                  <a:srgbClr val="6BB76D"/>
                </a:solidFill>
                <a:latin typeface="Calibri"/>
                <a:cs typeface="Calibri"/>
              </a:rPr>
              <a:t>test</a:t>
            </a:r>
            <a:r>
              <a:rPr dirty="0" sz="2400" spc="40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edges</a:t>
            </a:r>
            <a:endParaRPr sz="2400">
              <a:latin typeface="Calibri"/>
              <a:cs typeface="Calibri"/>
            </a:endParaRPr>
          </a:p>
          <a:p>
            <a:pPr lvl="1" marL="552450" marR="741680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05" b="1">
                <a:latin typeface="Calibri"/>
                <a:cs typeface="Calibri"/>
              </a:rPr>
              <a:t>To </a:t>
            </a:r>
            <a:r>
              <a:rPr dirty="0" sz="2400" spc="-15" b="1">
                <a:latin typeface="Calibri"/>
                <a:cs typeface="Calibri"/>
              </a:rPr>
              <a:t>train </a:t>
            </a:r>
            <a:r>
              <a:rPr dirty="0" sz="2400" spc="-5" b="1">
                <a:latin typeface="Calibri"/>
                <a:cs typeface="Calibri"/>
              </a:rPr>
              <a:t>the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training </a:t>
            </a:r>
            <a:r>
              <a:rPr dirty="0" sz="2400" spc="-5" b="1">
                <a:latin typeface="Calibri"/>
                <a:cs typeface="Calibri"/>
              </a:rPr>
              <a:t>set, </a:t>
            </a:r>
            <a:r>
              <a:rPr dirty="0" sz="2400" spc="-10" b="1">
                <a:latin typeface="Calibri"/>
                <a:cs typeface="Calibri"/>
              </a:rPr>
              <a:t>we </a:t>
            </a:r>
            <a:r>
              <a:rPr dirty="0" sz="2400" spc="-5" b="1">
                <a:latin typeface="Calibri"/>
                <a:cs typeface="Calibri"/>
              </a:rPr>
              <a:t>further need </a:t>
            </a:r>
            <a:r>
              <a:rPr dirty="0" sz="2400" spc="-10" b="1">
                <a:latin typeface="Calibri"/>
                <a:cs typeface="Calibri"/>
              </a:rPr>
              <a:t>to </a:t>
            </a:r>
            <a:r>
              <a:rPr dirty="0" sz="2400" spc="-5" b="1">
                <a:latin typeface="Calibri"/>
                <a:cs typeface="Calibri"/>
              </a:rPr>
              <a:t>hold out </a:t>
            </a: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 supervision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edges </a:t>
            </a:r>
            <a:r>
              <a:rPr dirty="0" sz="2400" spc="-15" b="1">
                <a:latin typeface="Calibri"/>
                <a:cs typeface="Calibri"/>
              </a:rPr>
              <a:t>for </a:t>
            </a:r>
            <a:r>
              <a:rPr dirty="0" sz="2400" spc="-5" b="1">
                <a:latin typeface="Calibri"/>
                <a:cs typeface="Calibri"/>
              </a:rPr>
              <a:t>the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set</a:t>
            </a:r>
            <a:endParaRPr sz="2400">
              <a:latin typeface="Calibri"/>
              <a:cs typeface="Calibri"/>
            </a:endParaRPr>
          </a:p>
          <a:p>
            <a:pPr algn="ctr" marR="692150">
              <a:lnSpc>
                <a:spcPct val="100000"/>
              </a:lnSpc>
              <a:spcBef>
                <a:spcPts val="154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30787" y="5299673"/>
            <a:ext cx="5631180" cy="1060450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3040380">
              <a:lnSpc>
                <a:spcPct val="100000"/>
              </a:lnSpc>
              <a:spcBef>
                <a:spcPts val="1140"/>
              </a:spcBef>
              <a:tabLst>
                <a:tab pos="401701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Next: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will </a:t>
            </a:r>
            <a:r>
              <a:rPr dirty="0" sz="2800" spc="-5">
                <a:latin typeface="Calibri"/>
                <a:cs typeface="Calibri"/>
              </a:rPr>
              <a:t>show the </a:t>
            </a:r>
            <a:r>
              <a:rPr dirty="0" sz="2800" spc="-25">
                <a:latin typeface="Calibri"/>
                <a:cs typeface="Calibri"/>
              </a:rPr>
              <a:t>exact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80">
                <a:latin typeface="Calibri"/>
                <a:cs typeface="Calibri"/>
              </a:rPr>
              <a:t>settings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06818" y="463042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674052" y="4654626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8"/>
              </a:rPr>
              <a:t>http://cs224w.stanford.edu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65</a:t>
            </a:fld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32" y="1248156"/>
            <a:ext cx="76015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Option </a:t>
            </a:r>
            <a:r>
              <a:rPr dirty="0"/>
              <a:t>2: </a:t>
            </a:r>
            <a:r>
              <a:rPr dirty="0" spc="-30"/>
              <a:t>Transductive </a:t>
            </a:r>
            <a:r>
              <a:rPr dirty="0" spc="-5"/>
              <a:t>link </a:t>
            </a:r>
            <a:r>
              <a:rPr dirty="0" spc="-10"/>
              <a:t>prediction</a:t>
            </a:r>
            <a:r>
              <a:rPr dirty="0" spc="75"/>
              <a:t> </a:t>
            </a:r>
            <a:r>
              <a:rPr dirty="0" spc="-5"/>
              <a:t>split:</a:t>
            </a:r>
          </a:p>
        </p:txBody>
      </p:sp>
      <p:sp>
        <p:nvSpPr>
          <p:cNvPr id="4" name="object 4"/>
          <p:cNvSpPr/>
          <p:nvPr/>
        </p:nvSpPr>
        <p:spPr>
          <a:xfrm>
            <a:off x="3594527" y="2255231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14181" y="2950686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04532" y="2112403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19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59515" y="2217854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17946" y="2052617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33671" y="1868423"/>
            <a:ext cx="359663" cy="3535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77413" y="18852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3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8" y="242152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2"/>
                </a:lnTo>
                <a:lnTo>
                  <a:pt x="244827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2"/>
                </a:lnTo>
                <a:lnTo>
                  <a:pt x="215499" y="25854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77413" y="18852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15511" y="2810255"/>
            <a:ext cx="359663" cy="3566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59922" y="282829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9922" y="282829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06111" y="2810255"/>
            <a:ext cx="359663" cy="3566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50079" y="282829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50079" y="282829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51703" y="2051304"/>
            <a:ext cx="359663" cy="356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96093" y="207061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96093" y="207061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371088" y="2008632"/>
            <a:ext cx="356615" cy="353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13570" y="202627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13570" y="202627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375893" y="207010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48253" y="188112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89253" y="202438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556486" y="2048586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5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423623" y="2770010"/>
            <a:ext cx="2019935" cy="66294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ctr" marR="60960">
              <a:lnSpc>
                <a:spcPct val="100000"/>
              </a:lnSpc>
              <a:spcBef>
                <a:spcPts val="540"/>
              </a:spcBef>
              <a:tabLst>
                <a:tab pos="975994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dirty="0" sz="1800" b="1">
                <a:latin typeface="Arial"/>
                <a:cs typeface="Arial"/>
              </a:rPr>
              <a:t>The </a:t>
            </a:r>
            <a:r>
              <a:rPr dirty="0" sz="1800" spc="-5" b="1">
                <a:latin typeface="Arial"/>
                <a:cs typeface="Arial"/>
              </a:rPr>
              <a:t>original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68061" y="4032997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978065" y="3890168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048499" y="3979410"/>
            <a:ext cx="466090" cy="636905"/>
          </a:xfrm>
          <a:custGeom>
            <a:avLst/>
            <a:gdLst/>
            <a:ahLst/>
            <a:cxnLst/>
            <a:rect l="l" t="t" r="r" b="b"/>
            <a:pathLst>
              <a:path w="466089" h="636904">
                <a:moveTo>
                  <a:pt x="451351" y="0"/>
                </a:moveTo>
                <a:lnTo>
                  <a:pt x="442426" y="1470"/>
                </a:lnTo>
                <a:lnTo>
                  <a:pt x="433210" y="14317"/>
                </a:lnTo>
                <a:lnTo>
                  <a:pt x="434681" y="23243"/>
                </a:lnTo>
                <a:lnTo>
                  <a:pt x="447506" y="32442"/>
                </a:lnTo>
                <a:lnTo>
                  <a:pt x="456431" y="30971"/>
                </a:lnTo>
                <a:lnTo>
                  <a:pt x="465645" y="18124"/>
                </a:lnTo>
                <a:lnTo>
                  <a:pt x="464176" y="9198"/>
                </a:lnTo>
                <a:lnTo>
                  <a:pt x="451351" y="0"/>
                </a:lnTo>
                <a:close/>
              </a:path>
              <a:path w="466089" h="636904">
                <a:moveTo>
                  <a:pt x="418028" y="46464"/>
                </a:moveTo>
                <a:lnTo>
                  <a:pt x="409101" y="47934"/>
                </a:lnTo>
                <a:lnTo>
                  <a:pt x="399887" y="60782"/>
                </a:lnTo>
                <a:lnTo>
                  <a:pt x="401358" y="69707"/>
                </a:lnTo>
                <a:lnTo>
                  <a:pt x="414182" y="78905"/>
                </a:lnTo>
                <a:lnTo>
                  <a:pt x="423108" y="77435"/>
                </a:lnTo>
                <a:lnTo>
                  <a:pt x="432321" y="64588"/>
                </a:lnTo>
                <a:lnTo>
                  <a:pt x="430852" y="55661"/>
                </a:lnTo>
                <a:lnTo>
                  <a:pt x="418028" y="46464"/>
                </a:lnTo>
                <a:close/>
              </a:path>
              <a:path w="466089" h="636904">
                <a:moveTo>
                  <a:pt x="384705" y="92928"/>
                </a:moveTo>
                <a:lnTo>
                  <a:pt x="375779" y="94397"/>
                </a:lnTo>
                <a:lnTo>
                  <a:pt x="366563" y="107243"/>
                </a:lnTo>
                <a:lnTo>
                  <a:pt x="368033" y="116170"/>
                </a:lnTo>
                <a:lnTo>
                  <a:pt x="380856" y="125369"/>
                </a:lnTo>
                <a:lnTo>
                  <a:pt x="389782" y="123899"/>
                </a:lnTo>
                <a:lnTo>
                  <a:pt x="398998" y="111053"/>
                </a:lnTo>
                <a:lnTo>
                  <a:pt x="397529" y="102127"/>
                </a:lnTo>
                <a:lnTo>
                  <a:pt x="384705" y="92928"/>
                </a:lnTo>
                <a:close/>
              </a:path>
              <a:path w="466089" h="636904">
                <a:moveTo>
                  <a:pt x="351382" y="139392"/>
                </a:moveTo>
                <a:lnTo>
                  <a:pt x="342455" y="140862"/>
                </a:lnTo>
                <a:lnTo>
                  <a:pt x="333240" y="153708"/>
                </a:lnTo>
                <a:lnTo>
                  <a:pt x="334708" y="162634"/>
                </a:lnTo>
                <a:lnTo>
                  <a:pt x="347531" y="171833"/>
                </a:lnTo>
                <a:lnTo>
                  <a:pt x="356458" y="170364"/>
                </a:lnTo>
                <a:lnTo>
                  <a:pt x="365673" y="157518"/>
                </a:lnTo>
                <a:lnTo>
                  <a:pt x="364205" y="148591"/>
                </a:lnTo>
                <a:lnTo>
                  <a:pt x="351382" y="139392"/>
                </a:lnTo>
                <a:close/>
              </a:path>
              <a:path w="466089" h="636904">
                <a:moveTo>
                  <a:pt x="318057" y="185856"/>
                </a:moveTo>
                <a:lnTo>
                  <a:pt x="309131" y="187326"/>
                </a:lnTo>
                <a:lnTo>
                  <a:pt x="299915" y="200172"/>
                </a:lnTo>
                <a:lnTo>
                  <a:pt x="301384" y="209099"/>
                </a:lnTo>
                <a:lnTo>
                  <a:pt x="314208" y="218297"/>
                </a:lnTo>
                <a:lnTo>
                  <a:pt x="323134" y="216828"/>
                </a:lnTo>
                <a:lnTo>
                  <a:pt x="332350" y="203982"/>
                </a:lnTo>
                <a:lnTo>
                  <a:pt x="330880" y="195055"/>
                </a:lnTo>
                <a:lnTo>
                  <a:pt x="318057" y="185856"/>
                </a:lnTo>
                <a:close/>
              </a:path>
              <a:path w="466089" h="636904">
                <a:moveTo>
                  <a:pt x="284733" y="232321"/>
                </a:moveTo>
                <a:lnTo>
                  <a:pt x="275807" y="233790"/>
                </a:lnTo>
                <a:lnTo>
                  <a:pt x="266592" y="246636"/>
                </a:lnTo>
                <a:lnTo>
                  <a:pt x="268061" y="255562"/>
                </a:lnTo>
                <a:lnTo>
                  <a:pt x="280884" y="264761"/>
                </a:lnTo>
                <a:lnTo>
                  <a:pt x="289810" y="263292"/>
                </a:lnTo>
                <a:lnTo>
                  <a:pt x="299026" y="250446"/>
                </a:lnTo>
                <a:lnTo>
                  <a:pt x="297557" y="241519"/>
                </a:lnTo>
                <a:lnTo>
                  <a:pt x="284733" y="232321"/>
                </a:lnTo>
                <a:close/>
              </a:path>
              <a:path w="466089" h="636904">
                <a:moveTo>
                  <a:pt x="251410" y="278785"/>
                </a:moveTo>
                <a:lnTo>
                  <a:pt x="242483" y="280253"/>
                </a:lnTo>
                <a:lnTo>
                  <a:pt x="233268" y="293100"/>
                </a:lnTo>
                <a:lnTo>
                  <a:pt x="234737" y="302026"/>
                </a:lnTo>
                <a:lnTo>
                  <a:pt x="247561" y="311226"/>
                </a:lnTo>
                <a:lnTo>
                  <a:pt x="256486" y="309756"/>
                </a:lnTo>
                <a:lnTo>
                  <a:pt x="265703" y="296909"/>
                </a:lnTo>
                <a:lnTo>
                  <a:pt x="264233" y="287983"/>
                </a:lnTo>
                <a:lnTo>
                  <a:pt x="251410" y="278785"/>
                </a:lnTo>
                <a:close/>
              </a:path>
              <a:path w="466089" h="636904">
                <a:moveTo>
                  <a:pt x="218085" y="325248"/>
                </a:moveTo>
                <a:lnTo>
                  <a:pt x="209160" y="326717"/>
                </a:lnTo>
                <a:lnTo>
                  <a:pt x="199944" y="339564"/>
                </a:lnTo>
                <a:lnTo>
                  <a:pt x="201413" y="348490"/>
                </a:lnTo>
                <a:lnTo>
                  <a:pt x="214236" y="357689"/>
                </a:lnTo>
                <a:lnTo>
                  <a:pt x="223163" y="356221"/>
                </a:lnTo>
                <a:lnTo>
                  <a:pt x="232378" y="343373"/>
                </a:lnTo>
                <a:lnTo>
                  <a:pt x="230910" y="334448"/>
                </a:lnTo>
                <a:lnTo>
                  <a:pt x="218085" y="325248"/>
                </a:lnTo>
                <a:close/>
              </a:path>
              <a:path w="466089" h="636904">
                <a:moveTo>
                  <a:pt x="184762" y="371712"/>
                </a:moveTo>
                <a:lnTo>
                  <a:pt x="175836" y="373181"/>
                </a:lnTo>
                <a:lnTo>
                  <a:pt x="166620" y="386027"/>
                </a:lnTo>
                <a:lnTo>
                  <a:pt x="168089" y="394954"/>
                </a:lnTo>
                <a:lnTo>
                  <a:pt x="180912" y="404153"/>
                </a:lnTo>
                <a:lnTo>
                  <a:pt x="189839" y="402685"/>
                </a:lnTo>
                <a:lnTo>
                  <a:pt x="199054" y="389837"/>
                </a:lnTo>
                <a:lnTo>
                  <a:pt x="197585" y="380912"/>
                </a:lnTo>
                <a:lnTo>
                  <a:pt x="184762" y="371712"/>
                </a:lnTo>
                <a:close/>
              </a:path>
              <a:path w="466089" h="636904">
                <a:moveTo>
                  <a:pt x="151438" y="418176"/>
                </a:moveTo>
                <a:lnTo>
                  <a:pt x="142511" y="419646"/>
                </a:lnTo>
                <a:lnTo>
                  <a:pt x="133296" y="432492"/>
                </a:lnTo>
                <a:lnTo>
                  <a:pt x="134766" y="441418"/>
                </a:lnTo>
                <a:lnTo>
                  <a:pt x="147589" y="450617"/>
                </a:lnTo>
                <a:lnTo>
                  <a:pt x="156514" y="449148"/>
                </a:lnTo>
                <a:lnTo>
                  <a:pt x="165731" y="436302"/>
                </a:lnTo>
                <a:lnTo>
                  <a:pt x="164261" y="427375"/>
                </a:lnTo>
                <a:lnTo>
                  <a:pt x="151438" y="418176"/>
                </a:lnTo>
                <a:close/>
              </a:path>
              <a:path w="466089" h="636904">
                <a:moveTo>
                  <a:pt x="118115" y="464640"/>
                </a:moveTo>
                <a:lnTo>
                  <a:pt x="109188" y="466110"/>
                </a:lnTo>
                <a:lnTo>
                  <a:pt x="99973" y="478956"/>
                </a:lnTo>
                <a:lnTo>
                  <a:pt x="101441" y="487883"/>
                </a:lnTo>
                <a:lnTo>
                  <a:pt x="114264" y="497081"/>
                </a:lnTo>
                <a:lnTo>
                  <a:pt x="123191" y="495612"/>
                </a:lnTo>
                <a:lnTo>
                  <a:pt x="132406" y="482766"/>
                </a:lnTo>
                <a:lnTo>
                  <a:pt x="130938" y="473839"/>
                </a:lnTo>
                <a:lnTo>
                  <a:pt x="118115" y="464640"/>
                </a:lnTo>
                <a:close/>
              </a:path>
              <a:path w="466089" h="636904">
                <a:moveTo>
                  <a:pt x="84790" y="511105"/>
                </a:moveTo>
                <a:lnTo>
                  <a:pt x="75864" y="512574"/>
                </a:lnTo>
                <a:lnTo>
                  <a:pt x="66648" y="525420"/>
                </a:lnTo>
                <a:lnTo>
                  <a:pt x="68117" y="534347"/>
                </a:lnTo>
                <a:lnTo>
                  <a:pt x="80940" y="543546"/>
                </a:lnTo>
                <a:lnTo>
                  <a:pt x="89867" y="542076"/>
                </a:lnTo>
                <a:lnTo>
                  <a:pt x="99082" y="529230"/>
                </a:lnTo>
                <a:lnTo>
                  <a:pt x="97613" y="520303"/>
                </a:lnTo>
                <a:lnTo>
                  <a:pt x="84790" y="511105"/>
                </a:lnTo>
                <a:close/>
              </a:path>
              <a:path w="466089" h="636904">
                <a:moveTo>
                  <a:pt x="51456" y="557568"/>
                </a:moveTo>
                <a:lnTo>
                  <a:pt x="42531" y="559042"/>
                </a:lnTo>
                <a:lnTo>
                  <a:pt x="33323" y="571894"/>
                </a:lnTo>
                <a:lnTo>
                  <a:pt x="34797" y="580820"/>
                </a:lnTo>
                <a:lnTo>
                  <a:pt x="47627" y="590011"/>
                </a:lnTo>
                <a:lnTo>
                  <a:pt x="56553" y="588535"/>
                </a:lnTo>
                <a:lnTo>
                  <a:pt x="65760" y="575683"/>
                </a:lnTo>
                <a:lnTo>
                  <a:pt x="64286" y="566759"/>
                </a:lnTo>
                <a:lnTo>
                  <a:pt x="51456" y="557568"/>
                </a:lnTo>
                <a:close/>
              </a:path>
              <a:path w="466089" h="636904">
                <a:moveTo>
                  <a:pt x="18133" y="604032"/>
                </a:moveTo>
                <a:lnTo>
                  <a:pt x="9207" y="605506"/>
                </a:lnTo>
                <a:lnTo>
                  <a:pt x="0" y="618359"/>
                </a:lnTo>
                <a:lnTo>
                  <a:pt x="1474" y="627284"/>
                </a:lnTo>
                <a:lnTo>
                  <a:pt x="14304" y="636474"/>
                </a:lnTo>
                <a:lnTo>
                  <a:pt x="23228" y="635000"/>
                </a:lnTo>
                <a:lnTo>
                  <a:pt x="32435" y="622147"/>
                </a:lnTo>
                <a:lnTo>
                  <a:pt x="30961" y="613222"/>
                </a:lnTo>
                <a:lnTo>
                  <a:pt x="18133" y="604032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491480" y="3830383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307591" y="3645408"/>
            <a:ext cx="356616" cy="3535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50947" y="36629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50947" y="36629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9431" y="4587240"/>
            <a:ext cx="359663" cy="3566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33457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0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33457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80032" y="4587240"/>
            <a:ext cx="359663" cy="35661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823613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3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8" y="242152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823613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325623" y="3831335"/>
            <a:ext cx="359663" cy="3535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369626" y="384837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369626" y="384837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41959" y="3785615"/>
            <a:ext cx="359664" cy="3566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87104" y="38040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87104" y="38040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2449427" y="384708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21787" y="36581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2787" y="380136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659354" y="4060452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087646" y="4742056"/>
            <a:ext cx="886460" cy="53340"/>
          </a:xfrm>
          <a:custGeom>
            <a:avLst/>
            <a:gdLst/>
            <a:ahLst/>
            <a:cxnLst/>
            <a:rect l="l" t="t" r="r" b="b"/>
            <a:pathLst>
              <a:path w="886460" h="53339">
                <a:moveTo>
                  <a:pt x="864356" y="24192"/>
                </a:moveTo>
                <a:lnTo>
                  <a:pt x="857782" y="30406"/>
                </a:lnTo>
                <a:lnTo>
                  <a:pt x="857336" y="46181"/>
                </a:lnTo>
                <a:lnTo>
                  <a:pt x="863550" y="52755"/>
                </a:lnTo>
                <a:lnTo>
                  <a:pt x="879354" y="53201"/>
                </a:lnTo>
                <a:lnTo>
                  <a:pt x="885929" y="46987"/>
                </a:lnTo>
                <a:lnTo>
                  <a:pt x="886373" y="31212"/>
                </a:lnTo>
                <a:lnTo>
                  <a:pt x="880160" y="24637"/>
                </a:lnTo>
                <a:lnTo>
                  <a:pt x="864356" y="24192"/>
                </a:lnTo>
                <a:close/>
              </a:path>
              <a:path w="886460" h="53339">
                <a:moveTo>
                  <a:pt x="807200" y="22579"/>
                </a:moveTo>
                <a:lnTo>
                  <a:pt x="800625" y="28793"/>
                </a:lnTo>
                <a:lnTo>
                  <a:pt x="800181" y="44568"/>
                </a:lnTo>
                <a:lnTo>
                  <a:pt x="806395" y="51142"/>
                </a:lnTo>
                <a:lnTo>
                  <a:pt x="822198" y="51588"/>
                </a:lnTo>
                <a:lnTo>
                  <a:pt x="828772" y="45374"/>
                </a:lnTo>
                <a:lnTo>
                  <a:pt x="829218" y="29599"/>
                </a:lnTo>
                <a:lnTo>
                  <a:pt x="823004" y="23025"/>
                </a:lnTo>
                <a:lnTo>
                  <a:pt x="807200" y="22579"/>
                </a:lnTo>
                <a:close/>
              </a:path>
              <a:path w="886460" h="53339">
                <a:moveTo>
                  <a:pt x="750045" y="20966"/>
                </a:moveTo>
                <a:lnTo>
                  <a:pt x="743470" y="27180"/>
                </a:lnTo>
                <a:lnTo>
                  <a:pt x="743024" y="42955"/>
                </a:lnTo>
                <a:lnTo>
                  <a:pt x="749239" y="49529"/>
                </a:lnTo>
                <a:lnTo>
                  <a:pt x="765042" y="49975"/>
                </a:lnTo>
                <a:lnTo>
                  <a:pt x="771617" y="43761"/>
                </a:lnTo>
                <a:lnTo>
                  <a:pt x="772062" y="27986"/>
                </a:lnTo>
                <a:lnTo>
                  <a:pt x="765849" y="21412"/>
                </a:lnTo>
                <a:lnTo>
                  <a:pt x="750045" y="20966"/>
                </a:lnTo>
                <a:close/>
              </a:path>
              <a:path w="886460" h="53339">
                <a:moveTo>
                  <a:pt x="692889" y="19353"/>
                </a:moveTo>
                <a:lnTo>
                  <a:pt x="686314" y="25567"/>
                </a:lnTo>
                <a:lnTo>
                  <a:pt x="685869" y="41342"/>
                </a:lnTo>
                <a:lnTo>
                  <a:pt x="692082" y="47917"/>
                </a:lnTo>
                <a:lnTo>
                  <a:pt x="707886" y="48362"/>
                </a:lnTo>
                <a:lnTo>
                  <a:pt x="714461" y="42150"/>
                </a:lnTo>
                <a:lnTo>
                  <a:pt x="714907" y="26374"/>
                </a:lnTo>
                <a:lnTo>
                  <a:pt x="708693" y="19799"/>
                </a:lnTo>
                <a:lnTo>
                  <a:pt x="692889" y="19353"/>
                </a:lnTo>
                <a:close/>
              </a:path>
              <a:path w="886460" h="53339">
                <a:moveTo>
                  <a:pt x="635734" y="17740"/>
                </a:moveTo>
                <a:lnTo>
                  <a:pt x="629159" y="23954"/>
                </a:lnTo>
                <a:lnTo>
                  <a:pt x="628713" y="39729"/>
                </a:lnTo>
                <a:lnTo>
                  <a:pt x="634927" y="46304"/>
                </a:lnTo>
                <a:lnTo>
                  <a:pt x="650731" y="46749"/>
                </a:lnTo>
                <a:lnTo>
                  <a:pt x="657306" y="40537"/>
                </a:lnTo>
                <a:lnTo>
                  <a:pt x="657750" y="24761"/>
                </a:lnTo>
                <a:lnTo>
                  <a:pt x="651536" y="18186"/>
                </a:lnTo>
                <a:lnTo>
                  <a:pt x="635734" y="17740"/>
                </a:lnTo>
                <a:close/>
              </a:path>
              <a:path w="886460" h="53339">
                <a:moveTo>
                  <a:pt x="578577" y="16127"/>
                </a:moveTo>
                <a:lnTo>
                  <a:pt x="572002" y="22341"/>
                </a:lnTo>
                <a:lnTo>
                  <a:pt x="571557" y="38116"/>
                </a:lnTo>
                <a:lnTo>
                  <a:pt x="577771" y="44691"/>
                </a:lnTo>
                <a:lnTo>
                  <a:pt x="593575" y="45137"/>
                </a:lnTo>
                <a:lnTo>
                  <a:pt x="600149" y="38924"/>
                </a:lnTo>
                <a:lnTo>
                  <a:pt x="600595" y="23148"/>
                </a:lnTo>
                <a:lnTo>
                  <a:pt x="594381" y="16573"/>
                </a:lnTo>
                <a:lnTo>
                  <a:pt x="578577" y="16127"/>
                </a:lnTo>
                <a:close/>
              </a:path>
              <a:path w="886460" h="53339">
                <a:moveTo>
                  <a:pt x="521421" y="14514"/>
                </a:moveTo>
                <a:lnTo>
                  <a:pt x="514846" y="20728"/>
                </a:lnTo>
                <a:lnTo>
                  <a:pt x="514402" y="36504"/>
                </a:lnTo>
                <a:lnTo>
                  <a:pt x="520616" y="43078"/>
                </a:lnTo>
                <a:lnTo>
                  <a:pt x="536420" y="43524"/>
                </a:lnTo>
                <a:lnTo>
                  <a:pt x="542994" y="37311"/>
                </a:lnTo>
                <a:lnTo>
                  <a:pt x="543439" y="21535"/>
                </a:lnTo>
                <a:lnTo>
                  <a:pt x="537225" y="14960"/>
                </a:lnTo>
                <a:lnTo>
                  <a:pt x="521421" y="14514"/>
                </a:lnTo>
                <a:close/>
              </a:path>
              <a:path w="886460" h="53339">
                <a:moveTo>
                  <a:pt x="464266" y="12901"/>
                </a:moveTo>
                <a:lnTo>
                  <a:pt x="457691" y="19116"/>
                </a:lnTo>
                <a:lnTo>
                  <a:pt x="457245" y="34891"/>
                </a:lnTo>
                <a:lnTo>
                  <a:pt x="463459" y="41465"/>
                </a:lnTo>
                <a:lnTo>
                  <a:pt x="479263" y="41911"/>
                </a:lnTo>
                <a:lnTo>
                  <a:pt x="485838" y="35698"/>
                </a:lnTo>
                <a:lnTo>
                  <a:pt x="486283" y="19922"/>
                </a:lnTo>
                <a:lnTo>
                  <a:pt x="480070" y="13347"/>
                </a:lnTo>
                <a:lnTo>
                  <a:pt x="464266" y="12901"/>
                </a:lnTo>
                <a:close/>
              </a:path>
              <a:path w="886460" h="53339">
                <a:moveTo>
                  <a:pt x="407109" y="11289"/>
                </a:moveTo>
                <a:lnTo>
                  <a:pt x="400535" y="17503"/>
                </a:lnTo>
                <a:lnTo>
                  <a:pt x="400090" y="33279"/>
                </a:lnTo>
                <a:lnTo>
                  <a:pt x="406304" y="39853"/>
                </a:lnTo>
                <a:lnTo>
                  <a:pt x="422108" y="40299"/>
                </a:lnTo>
                <a:lnTo>
                  <a:pt x="428682" y="34085"/>
                </a:lnTo>
                <a:lnTo>
                  <a:pt x="429127" y="18309"/>
                </a:lnTo>
                <a:lnTo>
                  <a:pt x="422913" y="11734"/>
                </a:lnTo>
                <a:lnTo>
                  <a:pt x="407109" y="11289"/>
                </a:lnTo>
                <a:close/>
              </a:path>
              <a:path w="886460" h="53339">
                <a:moveTo>
                  <a:pt x="349953" y="9677"/>
                </a:moveTo>
                <a:lnTo>
                  <a:pt x="343380" y="15890"/>
                </a:lnTo>
                <a:lnTo>
                  <a:pt x="342934" y="31666"/>
                </a:lnTo>
                <a:lnTo>
                  <a:pt x="349148" y="38240"/>
                </a:lnTo>
                <a:lnTo>
                  <a:pt x="364952" y="38686"/>
                </a:lnTo>
                <a:lnTo>
                  <a:pt x="371527" y="32472"/>
                </a:lnTo>
                <a:lnTo>
                  <a:pt x="371971" y="16696"/>
                </a:lnTo>
                <a:lnTo>
                  <a:pt x="365757" y="10123"/>
                </a:lnTo>
                <a:lnTo>
                  <a:pt x="349953" y="9677"/>
                </a:lnTo>
                <a:close/>
              </a:path>
              <a:path w="886460" h="53339">
                <a:moveTo>
                  <a:pt x="292798" y="8064"/>
                </a:moveTo>
                <a:lnTo>
                  <a:pt x="286223" y="14277"/>
                </a:lnTo>
                <a:lnTo>
                  <a:pt x="285779" y="30053"/>
                </a:lnTo>
                <a:lnTo>
                  <a:pt x="291992" y="36628"/>
                </a:lnTo>
                <a:lnTo>
                  <a:pt x="307795" y="37073"/>
                </a:lnTo>
                <a:lnTo>
                  <a:pt x="314370" y="30859"/>
                </a:lnTo>
                <a:lnTo>
                  <a:pt x="314816" y="15083"/>
                </a:lnTo>
                <a:lnTo>
                  <a:pt x="308602" y="8510"/>
                </a:lnTo>
                <a:lnTo>
                  <a:pt x="292798" y="8064"/>
                </a:lnTo>
                <a:close/>
              </a:path>
              <a:path w="886460" h="53339">
                <a:moveTo>
                  <a:pt x="235643" y="6450"/>
                </a:moveTo>
                <a:lnTo>
                  <a:pt x="229068" y="12664"/>
                </a:lnTo>
                <a:lnTo>
                  <a:pt x="228622" y="28440"/>
                </a:lnTo>
                <a:lnTo>
                  <a:pt x="234836" y="35015"/>
                </a:lnTo>
                <a:lnTo>
                  <a:pt x="250639" y="35460"/>
                </a:lnTo>
                <a:lnTo>
                  <a:pt x="257214" y="29246"/>
                </a:lnTo>
                <a:lnTo>
                  <a:pt x="257660" y="13472"/>
                </a:lnTo>
                <a:lnTo>
                  <a:pt x="251447" y="6897"/>
                </a:lnTo>
                <a:lnTo>
                  <a:pt x="235643" y="6450"/>
                </a:lnTo>
                <a:close/>
              </a:path>
              <a:path w="886460" h="53339">
                <a:moveTo>
                  <a:pt x="178487" y="4838"/>
                </a:moveTo>
                <a:lnTo>
                  <a:pt x="171912" y="11051"/>
                </a:lnTo>
                <a:lnTo>
                  <a:pt x="171466" y="26827"/>
                </a:lnTo>
                <a:lnTo>
                  <a:pt x="177680" y="33402"/>
                </a:lnTo>
                <a:lnTo>
                  <a:pt x="193484" y="33848"/>
                </a:lnTo>
                <a:lnTo>
                  <a:pt x="200059" y="27633"/>
                </a:lnTo>
                <a:lnTo>
                  <a:pt x="200505" y="11859"/>
                </a:lnTo>
                <a:lnTo>
                  <a:pt x="194290" y="5284"/>
                </a:lnTo>
                <a:lnTo>
                  <a:pt x="178487" y="4838"/>
                </a:lnTo>
                <a:close/>
              </a:path>
              <a:path w="886460" h="53339">
                <a:moveTo>
                  <a:pt x="121330" y="3225"/>
                </a:moveTo>
                <a:lnTo>
                  <a:pt x="114757" y="9438"/>
                </a:lnTo>
                <a:lnTo>
                  <a:pt x="114311" y="25214"/>
                </a:lnTo>
                <a:lnTo>
                  <a:pt x="120524" y="31789"/>
                </a:lnTo>
                <a:lnTo>
                  <a:pt x="136328" y="32235"/>
                </a:lnTo>
                <a:lnTo>
                  <a:pt x="142902" y="26021"/>
                </a:lnTo>
                <a:lnTo>
                  <a:pt x="143348" y="10246"/>
                </a:lnTo>
                <a:lnTo>
                  <a:pt x="137134" y="3671"/>
                </a:lnTo>
                <a:lnTo>
                  <a:pt x="121330" y="3225"/>
                </a:lnTo>
                <a:close/>
              </a:path>
              <a:path w="886460" h="53339">
                <a:moveTo>
                  <a:pt x="64175" y="1612"/>
                </a:moveTo>
                <a:lnTo>
                  <a:pt x="57600" y="7825"/>
                </a:lnTo>
                <a:lnTo>
                  <a:pt x="57155" y="23601"/>
                </a:lnTo>
                <a:lnTo>
                  <a:pt x="63369" y="30176"/>
                </a:lnTo>
                <a:lnTo>
                  <a:pt x="79173" y="30622"/>
                </a:lnTo>
                <a:lnTo>
                  <a:pt x="85747" y="24409"/>
                </a:lnTo>
                <a:lnTo>
                  <a:pt x="86192" y="8633"/>
                </a:lnTo>
                <a:lnTo>
                  <a:pt x="79979" y="2058"/>
                </a:lnTo>
                <a:lnTo>
                  <a:pt x="64175" y="1612"/>
                </a:lnTo>
                <a:close/>
              </a:path>
              <a:path w="886460" h="53339">
                <a:moveTo>
                  <a:pt x="7019" y="0"/>
                </a:moveTo>
                <a:lnTo>
                  <a:pt x="444" y="6212"/>
                </a:lnTo>
                <a:lnTo>
                  <a:pt x="0" y="21988"/>
                </a:lnTo>
                <a:lnTo>
                  <a:pt x="6212" y="28563"/>
                </a:lnTo>
                <a:lnTo>
                  <a:pt x="22016" y="29009"/>
                </a:lnTo>
                <a:lnTo>
                  <a:pt x="28591" y="22796"/>
                </a:lnTo>
                <a:lnTo>
                  <a:pt x="29037" y="7020"/>
                </a:lnTo>
                <a:lnTo>
                  <a:pt x="22823" y="445"/>
                </a:lnTo>
                <a:lnTo>
                  <a:pt x="701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969358" y="3917623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024342" y="402307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482773" y="3857838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297679" y="3672840"/>
            <a:ext cx="359663" cy="3535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342239" y="369044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342239" y="369044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782567" y="4614671"/>
            <a:ext cx="356615" cy="3566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824749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824749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770120" y="4614671"/>
            <a:ext cx="359663" cy="3566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814906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814906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315711" y="3858767"/>
            <a:ext cx="359663" cy="35356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360920" y="38758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360920" y="38758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435096" y="3813047"/>
            <a:ext cx="356615" cy="35661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78397" y="38314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478397" y="38314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5440720" y="387451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413081" y="36855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554081" y="38287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6783327" y="4052497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202979" y="4747952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093331" y="3909667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148315" y="4015118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606746" y="3849881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421880" y="3663696"/>
            <a:ext cx="359664" cy="35661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466211" y="36824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466211" y="36824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903719" y="4608576"/>
            <a:ext cx="359664" cy="35356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948720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948720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894319" y="4608576"/>
            <a:ext cx="359664" cy="35356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938878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7938878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439911" y="3849623"/>
            <a:ext cx="359664" cy="35661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8484891" y="386787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8484891" y="386787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559295" y="3803903"/>
            <a:ext cx="356616" cy="35661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602369" y="38235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2"/>
                </a:lnTo>
                <a:lnTo>
                  <a:pt x="244828" y="213144"/>
                </a:lnTo>
                <a:lnTo>
                  <a:pt x="264062" y="176359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2"/>
                </a:lnTo>
                <a:lnTo>
                  <a:pt x="215500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6602369" y="38235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8564691" y="3865372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537052" y="367944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678052" y="382270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729856" y="3830421"/>
            <a:ext cx="763270" cy="158750"/>
          </a:xfrm>
          <a:custGeom>
            <a:avLst/>
            <a:gdLst/>
            <a:ahLst/>
            <a:cxnLst/>
            <a:rect l="l" t="t" r="r" b="b"/>
            <a:pathLst>
              <a:path w="763270" h="158750">
                <a:moveTo>
                  <a:pt x="10105" y="0"/>
                </a:moveTo>
                <a:lnTo>
                  <a:pt x="2706" y="5205"/>
                </a:lnTo>
                <a:lnTo>
                  <a:pt x="0" y="20753"/>
                </a:lnTo>
                <a:lnTo>
                  <a:pt x="5205" y="28152"/>
                </a:lnTo>
                <a:lnTo>
                  <a:pt x="20781" y="30863"/>
                </a:lnTo>
                <a:lnTo>
                  <a:pt x="28180" y="25657"/>
                </a:lnTo>
                <a:lnTo>
                  <a:pt x="30886" y="10110"/>
                </a:lnTo>
                <a:lnTo>
                  <a:pt x="25680" y="2711"/>
                </a:lnTo>
                <a:lnTo>
                  <a:pt x="10105" y="0"/>
                </a:lnTo>
                <a:close/>
              </a:path>
              <a:path w="763270" h="158750">
                <a:moveTo>
                  <a:pt x="66436" y="9804"/>
                </a:moveTo>
                <a:lnTo>
                  <a:pt x="59038" y="15010"/>
                </a:lnTo>
                <a:lnTo>
                  <a:pt x="56332" y="30557"/>
                </a:lnTo>
                <a:lnTo>
                  <a:pt x="61537" y="37956"/>
                </a:lnTo>
                <a:lnTo>
                  <a:pt x="77113" y="40667"/>
                </a:lnTo>
                <a:lnTo>
                  <a:pt x="84512" y="35462"/>
                </a:lnTo>
                <a:lnTo>
                  <a:pt x="87218" y="19914"/>
                </a:lnTo>
                <a:lnTo>
                  <a:pt x="82012" y="12515"/>
                </a:lnTo>
                <a:lnTo>
                  <a:pt x="66436" y="9804"/>
                </a:lnTo>
                <a:close/>
              </a:path>
              <a:path w="763270" h="158750">
                <a:moveTo>
                  <a:pt x="122769" y="19608"/>
                </a:moveTo>
                <a:lnTo>
                  <a:pt x="115370" y="24813"/>
                </a:lnTo>
                <a:lnTo>
                  <a:pt x="112662" y="40361"/>
                </a:lnTo>
                <a:lnTo>
                  <a:pt x="117868" y="47760"/>
                </a:lnTo>
                <a:lnTo>
                  <a:pt x="133443" y="50472"/>
                </a:lnTo>
                <a:lnTo>
                  <a:pt x="140843" y="45267"/>
                </a:lnTo>
                <a:lnTo>
                  <a:pt x="143550" y="29719"/>
                </a:lnTo>
                <a:lnTo>
                  <a:pt x="138344" y="22320"/>
                </a:lnTo>
                <a:lnTo>
                  <a:pt x="122769" y="19608"/>
                </a:lnTo>
                <a:close/>
              </a:path>
              <a:path w="763270" h="158750">
                <a:moveTo>
                  <a:pt x="179100" y="29413"/>
                </a:moveTo>
                <a:lnTo>
                  <a:pt x="171701" y="34618"/>
                </a:lnTo>
                <a:lnTo>
                  <a:pt x="168995" y="50166"/>
                </a:lnTo>
                <a:lnTo>
                  <a:pt x="174200" y="57565"/>
                </a:lnTo>
                <a:lnTo>
                  <a:pt x="189776" y="60276"/>
                </a:lnTo>
                <a:lnTo>
                  <a:pt x="197175" y="55071"/>
                </a:lnTo>
                <a:lnTo>
                  <a:pt x="199881" y="39523"/>
                </a:lnTo>
                <a:lnTo>
                  <a:pt x="194675" y="32124"/>
                </a:lnTo>
                <a:lnTo>
                  <a:pt x="179100" y="29413"/>
                </a:lnTo>
                <a:close/>
              </a:path>
              <a:path w="763270" h="158750">
                <a:moveTo>
                  <a:pt x="235431" y="39218"/>
                </a:moveTo>
                <a:lnTo>
                  <a:pt x="228032" y="44424"/>
                </a:lnTo>
                <a:lnTo>
                  <a:pt x="225327" y="59971"/>
                </a:lnTo>
                <a:lnTo>
                  <a:pt x="230532" y="67370"/>
                </a:lnTo>
                <a:lnTo>
                  <a:pt x="246109" y="70079"/>
                </a:lnTo>
                <a:lnTo>
                  <a:pt x="253508" y="64874"/>
                </a:lnTo>
                <a:lnTo>
                  <a:pt x="256212" y="49326"/>
                </a:lnTo>
                <a:lnTo>
                  <a:pt x="251006" y="41927"/>
                </a:lnTo>
                <a:lnTo>
                  <a:pt x="235431" y="39218"/>
                </a:lnTo>
                <a:close/>
              </a:path>
              <a:path w="763270" h="158750">
                <a:moveTo>
                  <a:pt x="291762" y="49023"/>
                </a:moveTo>
                <a:lnTo>
                  <a:pt x="284364" y="54228"/>
                </a:lnTo>
                <a:lnTo>
                  <a:pt x="281659" y="69776"/>
                </a:lnTo>
                <a:lnTo>
                  <a:pt x="286865" y="77175"/>
                </a:lnTo>
                <a:lnTo>
                  <a:pt x="302441" y="79884"/>
                </a:lnTo>
                <a:lnTo>
                  <a:pt x="309839" y="74678"/>
                </a:lnTo>
                <a:lnTo>
                  <a:pt x="312544" y="59131"/>
                </a:lnTo>
                <a:lnTo>
                  <a:pt x="307338" y="51732"/>
                </a:lnTo>
                <a:lnTo>
                  <a:pt x="291762" y="49023"/>
                </a:lnTo>
                <a:close/>
              </a:path>
              <a:path w="763270" h="158750">
                <a:moveTo>
                  <a:pt x="348094" y="58827"/>
                </a:moveTo>
                <a:lnTo>
                  <a:pt x="340696" y="64033"/>
                </a:lnTo>
                <a:lnTo>
                  <a:pt x="337991" y="79580"/>
                </a:lnTo>
                <a:lnTo>
                  <a:pt x="343197" y="86979"/>
                </a:lnTo>
                <a:lnTo>
                  <a:pt x="358772" y="89688"/>
                </a:lnTo>
                <a:lnTo>
                  <a:pt x="366171" y="84482"/>
                </a:lnTo>
                <a:lnTo>
                  <a:pt x="368876" y="68935"/>
                </a:lnTo>
                <a:lnTo>
                  <a:pt x="363670" y="61536"/>
                </a:lnTo>
                <a:lnTo>
                  <a:pt x="348094" y="58827"/>
                </a:lnTo>
                <a:close/>
              </a:path>
              <a:path w="763270" h="158750">
                <a:moveTo>
                  <a:pt x="404426" y="68632"/>
                </a:moveTo>
                <a:lnTo>
                  <a:pt x="397027" y="73837"/>
                </a:lnTo>
                <a:lnTo>
                  <a:pt x="394322" y="89385"/>
                </a:lnTo>
                <a:lnTo>
                  <a:pt x="399528" y="96784"/>
                </a:lnTo>
                <a:lnTo>
                  <a:pt x="415104" y="99493"/>
                </a:lnTo>
                <a:lnTo>
                  <a:pt x="422503" y="94288"/>
                </a:lnTo>
                <a:lnTo>
                  <a:pt x="425207" y="78739"/>
                </a:lnTo>
                <a:lnTo>
                  <a:pt x="420001" y="71340"/>
                </a:lnTo>
                <a:lnTo>
                  <a:pt x="404426" y="68632"/>
                </a:lnTo>
                <a:close/>
              </a:path>
              <a:path w="763270" h="158750">
                <a:moveTo>
                  <a:pt x="460757" y="78436"/>
                </a:moveTo>
                <a:lnTo>
                  <a:pt x="453359" y="83642"/>
                </a:lnTo>
                <a:lnTo>
                  <a:pt x="450654" y="99189"/>
                </a:lnTo>
                <a:lnTo>
                  <a:pt x="455860" y="106588"/>
                </a:lnTo>
                <a:lnTo>
                  <a:pt x="471436" y="109298"/>
                </a:lnTo>
                <a:lnTo>
                  <a:pt x="478834" y="104093"/>
                </a:lnTo>
                <a:lnTo>
                  <a:pt x="481539" y="88544"/>
                </a:lnTo>
                <a:lnTo>
                  <a:pt x="476333" y="81145"/>
                </a:lnTo>
                <a:lnTo>
                  <a:pt x="460757" y="78436"/>
                </a:lnTo>
                <a:close/>
              </a:path>
              <a:path w="763270" h="158750">
                <a:moveTo>
                  <a:pt x="517089" y="88240"/>
                </a:moveTo>
                <a:lnTo>
                  <a:pt x="509691" y="93446"/>
                </a:lnTo>
                <a:lnTo>
                  <a:pt x="506986" y="108993"/>
                </a:lnTo>
                <a:lnTo>
                  <a:pt x="512192" y="116392"/>
                </a:lnTo>
                <a:lnTo>
                  <a:pt x="527767" y="119103"/>
                </a:lnTo>
                <a:lnTo>
                  <a:pt x="535166" y="113897"/>
                </a:lnTo>
                <a:lnTo>
                  <a:pt x="537871" y="98348"/>
                </a:lnTo>
                <a:lnTo>
                  <a:pt x="532665" y="90951"/>
                </a:lnTo>
                <a:lnTo>
                  <a:pt x="517089" y="88240"/>
                </a:lnTo>
                <a:close/>
              </a:path>
              <a:path w="763270" h="158750">
                <a:moveTo>
                  <a:pt x="573424" y="98043"/>
                </a:moveTo>
                <a:lnTo>
                  <a:pt x="566025" y="103248"/>
                </a:lnTo>
                <a:lnTo>
                  <a:pt x="563317" y="118795"/>
                </a:lnTo>
                <a:lnTo>
                  <a:pt x="568520" y="126194"/>
                </a:lnTo>
                <a:lnTo>
                  <a:pt x="584097" y="128907"/>
                </a:lnTo>
                <a:lnTo>
                  <a:pt x="591496" y="123704"/>
                </a:lnTo>
                <a:lnTo>
                  <a:pt x="594203" y="108155"/>
                </a:lnTo>
                <a:lnTo>
                  <a:pt x="588999" y="100756"/>
                </a:lnTo>
                <a:lnTo>
                  <a:pt x="573424" y="98043"/>
                </a:lnTo>
                <a:close/>
              </a:path>
              <a:path w="763270" h="158750">
                <a:moveTo>
                  <a:pt x="629756" y="107848"/>
                </a:moveTo>
                <a:lnTo>
                  <a:pt x="622355" y="113052"/>
                </a:lnTo>
                <a:lnTo>
                  <a:pt x="619648" y="128600"/>
                </a:lnTo>
                <a:lnTo>
                  <a:pt x="624852" y="135999"/>
                </a:lnTo>
                <a:lnTo>
                  <a:pt x="640427" y="138711"/>
                </a:lnTo>
                <a:lnTo>
                  <a:pt x="647828" y="133508"/>
                </a:lnTo>
                <a:lnTo>
                  <a:pt x="650535" y="117960"/>
                </a:lnTo>
                <a:lnTo>
                  <a:pt x="645331" y="110561"/>
                </a:lnTo>
                <a:lnTo>
                  <a:pt x="629756" y="107848"/>
                </a:lnTo>
                <a:close/>
              </a:path>
              <a:path w="763270" h="158750">
                <a:moveTo>
                  <a:pt x="686087" y="117652"/>
                </a:moveTo>
                <a:lnTo>
                  <a:pt x="678688" y="122857"/>
                </a:lnTo>
                <a:lnTo>
                  <a:pt x="675980" y="138404"/>
                </a:lnTo>
                <a:lnTo>
                  <a:pt x="681184" y="145803"/>
                </a:lnTo>
                <a:lnTo>
                  <a:pt x="696760" y="148516"/>
                </a:lnTo>
                <a:lnTo>
                  <a:pt x="704159" y="143313"/>
                </a:lnTo>
                <a:lnTo>
                  <a:pt x="706868" y="127764"/>
                </a:lnTo>
                <a:lnTo>
                  <a:pt x="701663" y="120365"/>
                </a:lnTo>
                <a:lnTo>
                  <a:pt x="686087" y="117652"/>
                </a:lnTo>
                <a:close/>
              </a:path>
              <a:path w="763270" h="158750">
                <a:moveTo>
                  <a:pt x="742419" y="127457"/>
                </a:moveTo>
                <a:lnTo>
                  <a:pt x="735020" y="132661"/>
                </a:lnTo>
                <a:lnTo>
                  <a:pt x="732312" y="148208"/>
                </a:lnTo>
                <a:lnTo>
                  <a:pt x="737515" y="155608"/>
                </a:lnTo>
                <a:lnTo>
                  <a:pt x="753092" y="158320"/>
                </a:lnTo>
                <a:lnTo>
                  <a:pt x="760491" y="153117"/>
                </a:lnTo>
                <a:lnTo>
                  <a:pt x="763198" y="137570"/>
                </a:lnTo>
                <a:lnTo>
                  <a:pt x="757994" y="130169"/>
                </a:lnTo>
                <a:lnTo>
                  <a:pt x="742419" y="127457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914989" y="4652767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891648" y="4649720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882941" y="4677152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279834" y="4671055"/>
            <a:ext cx="1680210" cy="638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32384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800" spc="-5" b="1">
                <a:latin typeface="Arial"/>
                <a:cs typeface="Arial"/>
              </a:rPr>
              <a:t>(3) At test</a:t>
            </a:r>
            <a:r>
              <a:rPr dirty="0" sz="1800" spc="-13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8006912" y="4668008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906282" y="4680199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284745" y="5029010"/>
            <a:ext cx="2591435" cy="1091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55"/>
              </a:lnSpc>
            </a:pPr>
            <a:r>
              <a:rPr dirty="0" sz="1800" spc="-5" b="1">
                <a:latin typeface="Arial"/>
                <a:cs typeface="Arial"/>
              </a:rPr>
              <a:t>(1) At training</a:t>
            </a:r>
            <a:r>
              <a:rPr dirty="0" sz="1800" spc="-11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090"/>
              </a:lnSpc>
              <a:spcBef>
                <a:spcPts val="175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edges </a:t>
            </a:r>
            <a:r>
              <a:rPr dirty="0" sz="1800" spc="-5">
                <a:latin typeface="Arial"/>
                <a:cs typeface="Arial"/>
              </a:rPr>
              <a:t>to predict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</a:t>
            </a:r>
            <a:r>
              <a:rPr dirty="0" sz="1800" spc="-70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282290" y="5029010"/>
            <a:ext cx="2566035" cy="137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55"/>
              </a:lnSpc>
            </a:pPr>
            <a:r>
              <a:rPr dirty="0" sz="1800" spc="-5" b="1">
                <a:latin typeface="Arial"/>
                <a:cs typeface="Arial"/>
              </a:rPr>
              <a:t>(2) At validation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99400"/>
              </a:lnSpc>
              <a:spcBef>
                <a:spcPts val="6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edges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&amp;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 edges </a:t>
            </a:r>
            <a:r>
              <a:rPr dirty="0" sz="1800">
                <a:latin typeface="Arial"/>
                <a:cs typeface="Arial"/>
              </a:rPr>
              <a:t>to  </a:t>
            </a:r>
            <a:r>
              <a:rPr dirty="0" sz="1800" spc="-5">
                <a:latin typeface="Arial"/>
                <a:cs typeface="Arial"/>
              </a:rPr>
              <a:t>predict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validation</a:t>
            </a:r>
            <a:r>
              <a:rPr dirty="0" sz="1800" spc="-50" b="1">
                <a:solidFill>
                  <a:srgbClr val="60B5CC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6279834" y="5294186"/>
            <a:ext cx="2375535" cy="13874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119380">
              <a:lnSpc>
                <a:spcPct val="100400"/>
              </a:lnSpc>
              <a:spcBef>
                <a:spcPts val="4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edges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&amp;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 edges</a:t>
            </a:r>
            <a:r>
              <a:rPr dirty="0" sz="1800" spc="-65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E88651"/>
                </a:solidFill>
                <a:latin typeface="Arial"/>
                <a:cs typeface="Arial"/>
              </a:rPr>
              <a:t>&amp; 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validation edges </a:t>
            </a:r>
            <a:r>
              <a:rPr dirty="0" sz="1800">
                <a:latin typeface="Arial"/>
                <a:cs typeface="Arial"/>
              </a:rPr>
              <a:t>to  </a:t>
            </a:r>
            <a:r>
              <a:rPr dirty="0" sz="1800" spc="-5">
                <a:latin typeface="Arial"/>
                <a:cs typeface="Arial"/>
              </a:rPr>
              <a:t>predict </a:t>
            </a:r>
            <a:r>
              <a:rPr dirty="0" sz="1800" spc="-5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r>
              <a:rPr dirty="0" sz="1800" spc="-60" b="1">
                <a:solidFill>
                  <a:srgbClr val="6BB76D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6BB76D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7" name="object 10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08" name="object 10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23"/>
              </a:rPr>
              <a:t>http://cs224w.stanford.edu</a:t>
            </a:r>
          </a:p>
        </p:txBody>
      </p:sp>
      <p:sp>
        <p:nvSpPr>
          <p:cNvPr id="109" name="object 10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68</a:t>
            </a:fld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32" y="1248156"/>
            <a:ext cx="76015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Option </a:t>
            </a:r>
            <a:r>
              <a:rPr dirty="0"/>
              <a:t>2: </a:t>
            </a:r>
            <a:r>
              <a:rPr dirty="0" spc="-30"/>
              <a:t>Transductive </a:t>
            </a:r>
            <a:r>
              <a:rPr dirty="0" spc="-5"/>
              <a:t>link </a:t>
            </a:r>
            <a:r>
              <a:rPr dirty="0" spc="-10"/>
              <a:t>prediction</a:t>
            </a:r>
            <a:r>
              <a:rPr dirty="0" spc="75"/>
              <a:t> </a:t>
            </a:r>
            <a:r>
              <a:rPr dirty="0" spc="-5"/>
              <a:t>split:</a:t>
            </a:r>
          </a:p>
        </p:txBody>
      </p:sp>
      <p:sp>
        <p:nvSpPr>
          <p:cNvPr id="4" name="object 4"/>
          <p:cNvSpPr/>
          <p:nvPr/>
        </p:nvSpPr>
        <p:spPr>
          <a:xfrm>
            <a:off x="668061" y="4032997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8065" y="3890168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48499" y="3979410"/>
            <a:ext cx="466090" cy="636905"/>
          </a:xfrm>
          <a:custGeom>
            <a:avLst/>
            <a:gdLst/>
            <a:ahLst/>
            <a:cxnLst/>
            <a:rect l="l" t="t" r="r" b="b"/>
            <a:pathLst>
              <a:path w="466089" h="636904">
                <a:moveTo>
                  <a:pt x="451351" y="0"/>
                </a:moveTo>
                <a:lnTo>
                  <a:pt x="442426" y="1470"/>
                </a:lnTo>
                <a:lnTo>
                  <a:pt x="433210" y="14317"/>
                </a:lnTo>
                <a:lnTo>
                  <a:pt x="434681" y="23243"/>
                </a:lnTo>
                <a:lnTo>
                  <a:pt x="447506" y="32442"/>
                </a:lnTo>
                <a:lnTo>
                  <a:pt x="456431" y="30971"/>
                </a:lnTo>
                <a:lnTo>
                  <a:pt x="465645" y="18124"/>
                </a:lnTo>
                <a:lnTo>
                  <a:pt x="464176" y="9198"/>
                </a:lnTo>
                <a:lnTo>
                  <a:pt x="451351" y="0"/>
                </a:lnTo>
                <a:close/>
              </a:path>
              <a:path w="466089" h="636904">
                <a:moveTo>
                  <a:pt x="418028" y="46464"/>
                </a:moveTo>
                <a:lnTo>
                  <a:pt x="409101" y="47934"/>
                </a:lnTo>
                <a:lnTo>
                  <a:pt x="399887" y="60782"/>
                </a:lnTo>
                <a:lnTo>
                  <a:pt x="401358" y="69707"/>
                </a:lnTo>
                <a:lnTo>
                  <a:pt x="414182" y="78905"/>
                </a:lnTo>
                <a:lnTo>
                  <a:pt x="423108" y="77435"/>
                </a:lnTo>
                <a:lnTo>
                  <a:pt x="432321" y="64588"/>
                </a:lnTo>
                <a:lnTo>
                  <a:pt x="430852" y="55661"/>
                </a:lnTo>
                <a:lnTo>
                  <a:pt x="418028" y="46464"/>
                </a:lnTo>
                <a:close/>
              </a:path>
              <a:path w="466089" h="636904">
                <a:moveTo>
                  <a:pt x="384705" y="92928"/>
                </a:moveTo>
                <a:lnTo>
                  <a:pt x="375779" y="94397"/>
                </a:lnTo>
                <a:lnTo>
                  <a:pt x="366563" y="107243"/>
                </a:lnTo>
                <a:lnTo>
                  <a:pt x="368033" y="116170"/>
                </a:lnTo>
                <a:lnTo>
                  <a:pt x="380856" y="125369"/>
                </a:lnTo>
                <a:lnTo>
                  <a:pt x="389782" y="123899"/>
                </a:lnTo>
                <a:lnTo>
                  <a:pt x="398998" y="111053"/>
                </a:lnTo>
                <a:lnTo>
                  <a:pt x="397529" y="102127"/>
                </a:lnTo>
                <a:lnTo>
                  <a:pt x="384705" y="92928"/>
                </a:lnTo>
                <a:close/>
              </a:path>
              <a:path w="466089" h="636904">
                <a:moveTo>
                  <a:pt x="351382" y="139392"/>
                </a:moveTo>
                <a:lnTo>
                  <a:pt x="342455" y="140862"/>
                </a:lnTo>
                <a:lnTo>
                  <a:pt x="333240" y="153708"/>
                </a:lnTo>
                <a:lnTo>
                  <a:pt x="334708" y="162634"/>
                </a:lnTo>
                <a:lnTo>
                  <a:pt x="347531" y="171833"/>
                </a:lnTo>
                <a:lnTo>
                  <a:pt x="356458" y="170364"/>
                </a:lnTo>
                <a:lnTo>
                  <a:pt x="365673" y="157518"/>
                </a:lnTo>
                <a:lnTo>
                  <a:pt x="364205" y="148591"/>
                </a:lnTo>
                <a:lnTo>
                  <a:pt x="351382" y="139392"/>
                </a:lnTo>
                <a:close/>
              </a:path>
              <a:path w="466089" h="636904">
                <a:moveTo>
                  <a:pt x="318057" y="185856"/>
                </a:moveTo>
                <a:lnTo>
                  <a:pt x="309131" y="187326"/>
                </a:lnTo>
                <a:lnTo>
                  <a:pt x="299915" y="200172"/>
                </a:lnTo>
                <a:lnTo>
                  <a:pt x="301384" y="209099"/>
                </a:lnTo>
                <a:lnTo>
                  <a:pt x="314208" y="218297"/>
                </a:lnTo>
                <a:lnTo>
                  <a:pt x="323134" y="216828"/>
                </a:lnTo>
                <a:lnTo>
                  <a:pt x="332350" y="203982"/>
                </a:lnTo>
                <a:lnTo>
                  <a:pt x="330880" y="195055"/>
                </a:lnTo>
                <a:lnTo>
                  <a:pt x="318057" y="185856"/>
                </a:lnTo>
                <a:close/>
              </a:path>
              <a:path w="466089" h="636904">
                <a:moveTo>
                  <a:pt x="284733" y="232321"/>
                </a:moveTo>
                <a:lnTo>
                  <a:pt x="275807" y="233790"/>
                </a:lnTo>
                <a:lnTo>
                  <a:pt x="266592" y="246636"/>
                </a:lnTo>
                <a:lnTo>
                  <a:pt x="268061" y="255562"/>
                </a:lnTo>
                <a:lnTo>
                  <a:pt x="280884" y="264761"/>
                </a:lnTo>
                <a:lnTo>
                  <a:pt x="289810" y="263292"/>
                </a:lnTo>
                <a:lnTo>
                  <a:pt x="299026" y="250446"/>
                </a:lnTo>
                <a:lnTo>
                  <a:pt x="297557" y="241519"/>
                </a:lnTo>
                <a:lnTo>
                  <a:pt x="284733" y="232321"/>
                </a:lnTo>
                <a:close/>
              </a:path>
              <a:path w="466089" h="636904">
                <a:moveTo>
                  <a:pt x="251410" y="278785"/>
                </a:moveTo>
                <a:lnTo>
                  <a:pt x="242483" y="280253"/>
                </a:lnTo>
                <a:lnTo>
                  <a:pt x="233268" y="293100"/>
                </a:lnTo>
                <a:lnTo>
                  <a:pt x="234737" y="302026"/>
                </a:lnTo>
                <a:lnTo>
                  <a:pt x="247561" y="311226"/>
                </a:lnTo>
                <a:lnTo>
                  <a:pt x="256486" y="309756"/>
                </a:lnTo>
                <a:lnTo>
                  <a:pt x="265703" y="296909"/>
                </a:lnTo>
                <a:lnTo>
                  <a:pt x="264233" y="287983"/>
                </a:lnTo>
                <a:lnTo>
                  <a:pt x="251410" y="278785"/>
                </a:lnTo>
                <a:close/>
              </a:path>
              <a:path w="466089" h="636904">
                <a:moveTo>
                  <a:pt x="218085" y="325248"/>
                </a:moveTo>
                <a:lnTo>
                  <a:pt x="209160" y="326717"/>
                </a:lnTo>
                <a:lnTo>
                  <a:pt x="199944" y="339564"/>
                </a:lnTo>
                <a:lnTo>
                  <a:pt x="201413" y="348490"/>
                </a:lnTo>
                <a:lnTo>
                  <a:pt x="214236" y="357689"/>
                </a:lnTo>
                <a:lnTo>
                  <a:pt x="223163" y="356221"/>
                </a:lnTo>
                <a:lnTo>
                  <a:pt x="232378" y="343373"/>
                </a:lnTo>
                <a:lnTo>
                  <a:pt x="230910" y="334448"/>
                </a:lnTo>
                <a:lnTo>
                  <a:pt x="218085" y="325248"/>
                </a:lnTo>
                <a:close/>
              </a:path>
              <a:path w="466089" h="636904">
                <a:moveTo>
                  <a:pt x="184762" y="371712"/>
                </a:moveTo>
                <a:lnTo>
                  <a:pt x="175836" y="373181"/>
                </a:lnTo>
                <a:lnTo>
                  <a:pt x="166620" y="386027"/>
                </a:lnTo>
                <a:lnTo>
                  <a:pt x="168089" y="394954"/>
                </a:lnTo>
                <a:lnTo>
                  <a:pt x="180912" y="404153"/>
                </a:lnTo>
                <a:lnTo>
                  <a:pt x="189839" y="402685"/>
                </a:lnTo>
                <a:lnTo>
                  <a:pt x="199054" y="389837"/>
                </a:lnTo>
                <a:lnTo>
                  <a:pt x="197585" y="380912"/>
                </a:lnTo>
                <a:lnTo>
                  <a:pt x="184762" y="371712"/>
                </a:lnTo>
                <a:close/>
              </a:path>
              <a:path w="466089" h="636904">
                <a:moveTo>
                  <a:pt x="151438" y="418176"/>
                </a:moveTo>
                <a:lnTo>
                  <a:pt x="142511" y="419646"/>
                </a:lnTo>
                <a:lnTo>
                  <a:pt x="133296" y="432492"/>
                </a:lnTo>
                <a:lnTo>
                  <a:pt x="134766" y="441418"/>
                </a:lnTo>
                <a:lnTo>
                  <a:pt x="147589" y="450617"/>
                </a:lnTo>
                <a:lnTo>
                  <a:pt x="156514" y="449148"/>
                </a:lnTo>
                <a:lnTo>
                  <a:pt x="165731" y="436302"/>
                </a:lnTo>
                <a:lnTo>
                  <a:pt x="164261" y="427375"/>
                </a:lnTo>
                <a:lnTo>
                  <a:pt x="151438" y="418176"/>
                </a:lnTo>
                <a:close/>
              </a:path>
              <a:path w="466089" h="636904">
                <a:moveTo>
                  <a:pt x="118115" y="464640"/>
                </a:moveTo>
                <a:lnTo>
                  <a:pt x="109188" y="466110"/>
                </a:lnTo>
                <a:lnTo>
                  <a:pt x="99973" y="478956"/>
                </a:lnTo>
                <a:lnTo>
                  <a:pt x="101441" y="487883"/>
                </a:lnTo>
                <a:lnTo>
                  <a:pt x="114264" y="497081"/>
                </a:lnTo>
                <a:lnTo>
                  <a:pt x="123191" y="495612"/>
                </a:lnTo>
                <a:lnTo>
                  <a:pt x="132406" y="482766"/>
                </a:lnTo>
                <a:lnTo>
                  <a:pt x="130938" y="473839"/>
                </a:lnTo>
                <a:lnTo>
                  <a:pt x="118115" y="464640"/>
                </a:lnTo>
                <a:close/>
              </a:path>
              <a:path w="466089" h="636904">
                <a:moveTo>
                  <a:pt x="84790" y="511105"/>
                </a:moveTo>
                <a:lnTo>
                  <a:pt x="75864" y="512574"/>
                </a:lnTo>
                <a:lnTo>
                  <a:pt x="66648" y="525420"/>
                </a:lnTo>
                <a:lnTo>
                  <a:pt x="68117" y="534347"/>
                </a:lnTo>
                <a:lnTo>
                  <a:pt x="80940" y="543546"/>
                </a:lnTo>
                <a:lnTo>
                  <a:pt x="89867" y="542076"/>
                </a:lnTo>
                <a:lnTo>
                  <a:pt x="99082" y="529230"/>
                </a:lnTo>
                <a:lnTo>
                  <a:pt x="97613" y="520303"/>
                </a:lnTo>
                <a:lnTo>
                  <a:pt x="84790" y="511105"/>
                </a:lnTo>
                <a:close/>
              </a:path>
              <a:path w="466089" h="636904">
                <a:moveTo>
                  <a:pt x="51456" y="557568"/>
                </a:moveTo>
                <a:lnTo>
                  <a:pt x="42531" y="559042"/>
                </a:lnTo>
                <a:lnTo>
                  <a:pt x="33323" y="571894"/>
                </a:lnTo>
                <a:lnTo>
                  <a:pt x="34797" y="580820"/>
                </a:lnTo>
                <a:lnTo>
                  <a:pt x="47627" y="590011"/>
                </a:lnTo>
                <a:lnTo>
                  <a:pt x="56553" y="588535"/>
                </a:lnTo>
                <a:lnTo>
                  <a:pt x="65760" y="575683"/>
                </a:lnTo>
                <a:lnTo>
                  <a:pt x="64286" y="566759"/>
                </a:lnTo>
                <a:lnTo>
                  <a:pt x="51456" y="557568"/>
                </a:lnTo>
                <a:close/>
              </a:path>
              <a:path w="466089" h="636904">
                <a:moveTo>
                  <a:pt x="18133" y="604032"/>
                </a:moveTo>
                <a:lnTo>
                  <a:pt x="9207" y="605506"/>
                </a:lnTo>
                <a:lnTo>
                  <a:pt x="0" y="618359"/>
                </a:lnTo>
                <a:lnTo>
                  <a:pt x="1474" y="627284"/>
                </a:lnTo>
                <a:lnTo>
                  <a:pt x="14304" y="636474"/>
                </a:lnTo>
                <a:lnTo>
                  <a:pt x="23228" y="635000"/>
                </a:lnTo>
                <a:lnTo>
                  <a:pt x="32435" y="622147"/>
                </a:lnTo>
                <a:lnTo>
                  <a:pt x="30961" y="613222"/>
                </a:lnTo>
                <a:lnTo>
                  <a:pt x="18133" y="604032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91480" y="3830383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07591" y="3645408"/>
            <a:ext cx="356616" cy="353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50947" y="36629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50947" y="36629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9431" y="4587240"/>
            <a:ext cx="359663" cy="356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33457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0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33457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80032" y="4587240"/>
            <a:ext cx="359663" cy="356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23613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3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8" y="242152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23613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325623" y="3831335"/>
            <a:ext cx="359663" cy="3535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69626" y="384837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69626" y="384837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41959" y="3785615"/>
            <a:ext cx="359664" cy="3566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7104" y="38040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87104" y="38040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449427" y="384708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21787" y="36581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2787" y="380136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81818" y="1821179"/>
            <a:ext cx="5520690" cy="154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Why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do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use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growing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number of</a:t>
            </a:r>
            <a:r>
              <a:rPr dirty="0" sz="20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edges?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spc="-10" b="1">
                <a:latin typeface="Calibri"/>
                <a:cs typeface="Calibri"/>
              </a:rPr>
              <a:t>After </a:t>
            </a:r>
            <a:r>
              <a:rPr dirty="0" sz="2000" spc="-5" b="1">
                <a:latin typeface="Calibri"/>
                <a:cs typeface="Calibri"/>
              </a:rPr>
              <a:t>training, </a:t>
            </a:r>
            <a:r>
              <a:rPr dirty="0" sz="2000" spc="-5" b="1">
                <a:solidFill>
                  <a:srgbClr val="0070C0"/>
                </a:solidFill>
                <a:latin typeface="Calibri"/>
                <a:cs typeface="Calibri"/>
              </a:rPr>
              <a:t>supervision edges </a:t>
            </a:r>
            <a:r>
              <a:rPr dirty="0" sz="2000" spc="-10" b="1">
                <a:solidFill>
                  <a:srgbClr val="0070C0"/>
                </a:solidFill>
                <a:latin typeface="Calibri"/>
                <a:cs typeface="Calibri"/>
              </a:rPr>
              <a:t>are </a:t>
            </a:r>
            <a:r>
              <a:rPr dirty="0" sz="2000" spc="-5" b="1">
                <a:solidFill>
                  <a:srgbClr val="0070C0"/>
                </a:solidFill>
                <a:latin typeface="Calibri"/>
                <a:cs typeface="Calibri"/>
              </a:rPr>
              <a:t>known </a:t>
            </a:r>
            <a:r>
              <a:rPr dirty="0" sz="2000" spc="-15" b="1">
                <a:solidFill>
                  <a:srgbClr val="0070C0"/>
                </a:solidFill>
                <a:latin typeface="Calibri"/>
                <a:cs typeface="Calibri"/>
              </a:rPr>
              <a:t>to </a:t>
            </a:r>
            <a:r>
              <a:rPr dirty="0" sz="2000" spc="-10" b="1">
                <a:solidFill>
                  <a:srgbClr val="0070C0"/>
                </a:solidFill>
                <a:latin typeface="Calibri"/>
                <a:cs typeface="Calibri"/>
              </a:rPr>
              <a:t>GNN.  </a:t>
            </a:r>
            <a:r>
              <a:rPr dirty="0" sz="2000" spc="-10" b="1">
                <a:latin typeface="Calibri"/>
                <a:cs typeface="Calibri"/>
              </a:rPr>
              <a:t>Therefore</a:t>
            </a:r>
            <a:r>
              <a:rPr dirty="0" sz="2000" spc="-10" b="1">
                <a:solidFill>
                  <a:srgbClr val="0070C0"/>
                </a:solidFill>
                <a:latin typeface="Calibri"/>
                <a:cs typeface="Calibri"/>
              </a:rPr>
              <a:t>, </a:t>
            </a:r>
            <a:r>
              <a:rPr dirty="0" sz="2000" b="1">
                <a:solidFill>
                  <a:srgbClr val="0070C0"/>
                </a:solidFill>
                <a:latin typeface="Calibri"/>
                <a:cs typeface="Calibri"/>
              </a:rPr>
              <a:t>an </a:t>
            </a:r>
            <a:r>
              <a:rPr dirty="0" sz="2000" spc="-5" b="1">
                <a:solidFill>
                  <a:srgbClr val="0070C0"/>
                </a:solidFill>
                <a:latin typeface="Calibri"/>
                <a:cs typeface="Calibri"/>
              </a:rPr>
              <a:t>ideal model should </a:t>
            </a:r>
            <a:r>
              <a:rPr dirty="0" sz="2000" b="1">
                <a:solidFill>
                  <a:srgbClr val="0070C0"/>
                </a:solidFill>
                <a:latin typeface="Calibri"/>
                <a:cs typeface="Calibri"/>
              </a:rPr>
              <a:t>use </a:t>
            </a:r>
            <a:r>
              <a:rPr dirty="0" sz="2000" spc="-5" b="1">
                <a:solidFill>
                  <a:srgbClr val="0070C0"/>
                </a:solidFill>
                <a:latin typeface="Calibri"/>
                <a:cs typeface="Calibri"/>
              </a:rPr>
              <a:t>supervision  edges in message passing </a:t>
            </a:r>
            <a:r>
              <a:rPr dirty="0" sz="2000" spc="-10" b="1">
                <a:latin typeface="Calibri"/>
                <a:cs typeface="Calibri"/>
              </a:rPr>
              <a:t>at validation </a:t>
            </a:r>
            <a:r>
              <a:rPr dirty="0" sz="2000" spc="-5" b="1"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5" b="1">
                <a:latin typeface="Calibri"/>
                <a:cs typeface="Calibri"/>
              </a:rPr>
              <a:t>The same applies </a:t>
            </a:r>
            <a:r>
              <a:rPr dirty="0" sz="2000" spc="-15" b="1">
                <a:latin typeface="Calibri"/>
                <a:cs typeface="Calibri"/>
              </a:rPr>
              <a:t>to </a:t>
            </a:r>
            <a:r>
              <a:rPr dirty="0" sz="2000" spc="-5" b="1">
                <a:latin typeface="Calibri"/>
                <a:cs typeface="Calibri"/>
              </a:rPr>
              <a:t>the </a:t>
            </a:r>
            <a:r>
              <a:rPr dirty="0" sz="2000" spc="-15" b="1">
                <a:latin typeface="Calibri"/>
                <a:cs typeface="Calibri"/>
              </a:rPr>
              <a:t>test</a:t>
            </a:r>
            <a:r>
              <a:rPr dirty="0" sz="2000" spc="-5" b="1">
                <a:latin typeface="Calibri"/>
                <a:cs typeface="Calibri"/>
              </a:rPr>
              <a:t> time.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783327" y="4052497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02979" y="4747952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93331" y="3909667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148315" y="4015118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606746" y="3849881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421880" y="3663696"/>
            <a:ext cx="359664" cy="3566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466211" y="36824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466211" y="36824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03719" y="4608576"/>
            <a:ext cx="359664" cy="35356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48720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948720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894319" y="4608576"/>
            <a:ext cx="359664" cy="35356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938878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938878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439911" y="3849623"/>
            <a:ext cx="359664" cy="35661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484891" y="386787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484891" y="386787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559295" y="3803903"/>
            <a:ext cx="356616" cy="3566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602369" y="38235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2"/>
                </a:lnTo>
                <a:lnTo>
                  <a:pt x="244828" y="213144"/>
                </a:lnTo>
                <a:lnTo>
                  <a:pt x="264062" y="176359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2"/>
                </a:lnTo>
                <a:lnTo>
                  <a:pt x="215500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602369" y="38235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8564691" y="3865372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678052" y="382270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729856" y="3830421"/>
            <a:ext cx="763270" cy="158750"/>
          </a:xfrm>
          <a:custGeom>
            <a:avLst/>
            <a:gdLst/>
            <a:ahLst/>
            <a:cxnLst/>
            <a:rect l="l" t="t" r="r" b="b"/>
            <a:pathLst>
              <a:path w="763270" h="158750">
                <a:moveTo>
                  <a:pt x="10105" y="0"/>
                </a:moveTo>
                <a:lnTo>
                  <a:pt x="2706" y="5205"/>
                </a:lnTo>
                <a:lnTo>
                  <a:pt x="0" y="20753"/>
                </a:lnTo>
                <a:lnTo>
                  <a:pt x="5205" y="28152"/>
                </a:lnTo>
                <a:lnTo>
                  <a:pt x="20781" y="30863"/>
                </a:lnTo>
                <a:lnTo>
                  <a:pt x="28180" y="25657"/>
                </a:lnTo>
                <a:lnTo>
                  <a:pt x="30886" y="10110"/>
                </a:lnTo>
                <a:lnTo>
                  <a:pt x="25680" y="2711"/>
                </a:lnTo>
                <a:lnTo>
                  <a:pt x="10105" y="0"/>
                </a:lnTo>
                <a:close/>
              </a:path>
              <a:path w="763270" h="158750">
                <a:moveTo>
                  <a:pt x="66436" y="9804"/>
                </a:moveTo>
                <a:lnTo>
                  <a:pt x="59038" y="15010"/>
                </a:lnTo>
                <a:lnTo>
                  <a:pt x="56332" y="30557"/>
                </a:lnTo>
                <a:lnTo>
                  <a:pt x="61537" y="37956"/>
                </a:lnTo>
                <a:lnTo>
                  <a:pt x="77113" y="40667"/>
                </a:lnTo>
                <a:lnTo>
                  <a:pt x="84512" y="35462"/>
                </a:lnTo>
                <a:lnTo>
                  <a:pt x="87218" y="19914"/>
                </a:lnTo>
                <a:lnTo>
                  <a:pt x="82012" y="12515"/>
                </a:lnTo>
                <a:lnTo>
                  <a:pt x="66436" y="9804"/>
                </a:lnTo>
                <a:close/>
              </a:path>
              <a:path w="763270" h="158750">
                <a:moveTo>
                  <a:pt x="122769" y="19608"/>
                </a:moveTo>
                <a:lnTo>
                  <a:pt x="115370" y="24813"/>
                </a:lnTo>
                <a:lnTo>
                  <a:pt x="112662" y="40361"/>
                </a:lnTo>
                <a:lnTo>
                  <a:pt x="117868" y="47760"/>
                </a:lnTo>
                <a:lnTo>
                  <a:pt x="133443" y="50472"/>
                </a:lnTo>
                <a:lnTo>
                  <a:pt x="140843" y="45267"/>
                </a:lnTo>
                <a:lnTo>
                  <a:pt x="143550" y="29719"/>
                </a:lnTo>
                <a:lnTo>
                  <a:pt x="138344" y="22320"/>
                </a:lnTo>
                <a:lnTo>
                  <a:pt x="122769" y="19608"/>
                </a:lnTo>
                <a:close/>
              </a:path>
              <a:path w="763270" h="158750">
                <a:moveTo>
                  <a:pt x="179100" y="29413"/>
                </a:moveTo>
                <a:lnTo>
                  <a:pt x="171701" y="34618"/>
                </a:lnTo>
                <a:lnTo>
                  <a:pt x="168995" y="50166"/>
                </a:lnTo>
                <a:lnTo>
                  <a:pt x="174200" y="57565"/>
                </a:lnTo>
                <a:lnTo>
                  <a:pt x="189776" y="60276"/>
                </a:lnTo>
                <a:lnTo>
                  <a:pt x="197175" y="55071"/>
                </a:lnTo>
                <a:lnTo>
                  <a:pt x="199881" y="39523"/>
                </a:lnTo>
                <a:lnTo>
                  <a:pt x="194675" y="32124"/>
                </a:lnTo>
                <a:lnTo>
                  <a:pt x="179100" y="29413"/>
                </a:lnTo>
                <a:close/>
              </a:path>
              <a:path w="763270" h="158750">
                <a:moveTo>
                  <a:pt x="235431" y="39218"/>
                </a:moveTo>
                <a:lnTo>
                  <a:pt x="228032" y="44424"/>
                </a:lnTo>
                <a:lnTo>
                  <a:pt x="225327" y="59971"/>
                </a:lnTo>
                <a:lnTo>
                  <a:pt x="230532" y="67370"/>
                </a:lnTo>
                <a:lnTo>
                  <a:pt x="246109" y="70079"/>
                </a:lnTo>
                <a:lnTo>
                  <a:pt x="253508" y="64874"/>
                </a:lnTo>
                <a:lnTo>
                  <a:pt x="256212" y="49326"/>
                </a:lnTo>
                <a:lnTo>
                  <a:pt x="251006" y="41927"/>
                </a:lnTo>
                <a:lnTo>
                  <a:pt x="235431" y="39218"/>
                </a:lnTo>
                <a:close/>
              </a:path>
              <a:path w="763270" h="158750">
                <a:moveTo>
                  <a:pt x="291762" y="49023"/>
                </a:moveTo>
                <a:lnTo>
                  <a:pt x="284364" y="54228"/>
                </a:lnTo>
                <a:lnTo>
                  <a:pt x="281659" y="69776"/>
                </a:lnTo>
                <a:lnTo>
                  <a:pt x="286865" y="77175"/>
                </a:lnTo>
                <a:lnTo>
                  <a:pt x="302441" y="79884"/>
                </a:lnTo>
                <a:lnTo>
                  <a:pt x="309839" y="74678"/>
                </a:lnTo>
                <a:lnTo>
                  <a:pt x="312544" y="59131"/>
                </a:lnTo>
                <a:lnTo>
                  <a:pt x="307338" y="51732"/>
                </a:lnTo>
                <a:lnTo>
                  <a:pt x="291762" y="49023"/>
                </a:lnTo>
                <a:close/>
              </a:path>
              <a:path w="763270" h="158750">
                <a:moveTo>
                  <a:pt x="348094" y="58827"/>
                </a:moveTo>
                <a:lnTo>
                  <a:pt x="340696" y="64033"/>
                </a:lnTo>
                <a:lnTo>
                  <a:pt x="337991" y="79580"/>
                </a:lnTo>
                <a:lnTo>
                  <a:pt x="343197" y="86979"/>
                </a:lnTo>
                <a:lnTo>
                  <a:pt x="358772" y="89688"/>
                </a:lnTo>
                <a:lnTo>
                  <a:pt x="366171" y="84482"/>
                </a:lnTo>
                <a:lnTo>
                  <a:pt x="368876" y="68935"/>
                </a:lnTo>
                <a:lnTo>
                  <a:pt x="363670" y="61536"/>
                </a:lnTo>
                <a:lnTo>
                  <a:pt x="348094" y="58827"/>
                </a:lnTo>
                <a:close/>
              </a:path>
              <a:path w="763270" h="158750">
                <a:moveTo>
                  <a:pt x="404426" y="68632"/>
                </a:moveTo>
                <a:lnTo>
                  <a:pt x="397027" y="73837"/>
                </a:lnTo>
                <a:lnTo>
                  <a:pt x="394322" y="89385"/>
                </a:lnTo>
                <a:lnTo>
                  <a:pt x="399528" y="96784"/>
                </a:lnTo>
                <a:lnTo>
                  <a:pt x="415104" y="99493"/>
                </a:lnTo>
                <a:lnTo>
                  <a:pt x="422503" y="94288"/>
                </a:lnTo>
                <a:lnTo>
                  <a:pt x="425207" y="78739"/>
                </a:lnTo>
                <a:lnTo>
                  <a:pt x="420001" y="71340"/>
                </a:lnTo>
                <a:lnTo>
                  <a:pt x="404426" y="68632"/>
                </a:lnTo>
                <a:close/>
              </a:path>
              <a:path w="763270" h="158750">
                <a:moveTo>
                  <a:pt x="460757" y="78436"/>
                </a:moveTo>
                <a:lnTo>
                  <a:pt x="453359" y="83642"/>
                </a:lnTo>
                <a:lnTo>
                  <a:pt x="450654" y="99189"/>
                </a:lnTo>
                <a:lnTo>
                  <a:pt x="455860" y="106588"/>
                </a:lnTo>
                <a:lnTo>
                  <a:pt x="471436" y="109298"/>
                </a:lnTo>
                <a:lnTo>
                  <a:pt x="478834" y="104093"/>
                </a:lnTo>
                <a:lnTo>
                  <a:pt x="481539" y="88544"/>
                </a:lnTo>
                <a:lnTo>
                  <a:pt x="476333" y="81145"/>
                </a:lnTo>
                <a:lnTo>
                  <a:pt x="460757" y="78436"/>
                </a:lnTo>
                <a:close/>
              </a:path>
              <a:path w="763270" h="158750">
                <a:moveTo>
                  <a:pt x="517089" y="88240"/>
                </a:moveTo>
                <a:lnTo>
                  <a:pt x="509691" y="93446"/>
                </a:lnTo>
                <a:lnTo>
                  <a:pt x="506986" y="108993"/>
                </a:lnTo>
                <a:lnTo>
                  <a:pt x="512192" y="116392"/>
                </a:lnTo>
                <a:lnTo>
                  <a:pt x="527767" y="119103"/>
                </a:lnTo>
                <a:lnTo>
                  <a:pt x="535166" y="113897"/>
                </a:lnTo>
                <a:lnTo>
                  <a:pt x="537871" y="98348"/>
                </a:lnTo>
                <a:lnTo>
                  <a:pt x="532665" y="90951"/>
                </a:lnTo>
                <a:lnTo>
                  <a:pt x="517089" y="88240"/>
                </a:lnTo>
                <a:close/>
              </a:path>
              <a:path w="763270" h="158750">
                <a:moveTo>
                  <a:pt x="573424" y="98043"/>
                </a:moveTo>
                <a:lnTo>
                  <a:pt x="566025" y="103248"/>
                </a:lnTo>
                <a:lnTo>
                  <a:pt x="563317" y="118795"/>
                </a:lnTo>
                <a:lnTo>
                  <a:pt x="568520" y="126194"/>
                </a:lnTo>
                <a:lnTo>
                  <a:pt x="584097" y="128907"/>
                </a:lnTo>
                <a:lnTo>
                  <a:pt x="591496" y="123704"/>
                </a:lnTo>
                <a:lnTo>
                  <a:pt x="594203" y="108155"/>
                </a:lnTo>
                <a:lnTo>
                  <a:pt x="588999" y="100756"/>
                </a:lnTo>
                <a:lnTo>
                  <a:pt x="573424" y="98043"/>
                </a:lnTo>
                <a:close/>
              </a:path>
              <a:path w="763270" h="158750">
                <a:moveTo>
                  <a:pt x="629756" y="107848"/>
                </a:moveTo>
                <a:lnTo>
                  <a:pt x="622355" y="113052"/>
                </a:lnTo>
                <a:lnTo>
                  <a:pt x="619648" y="128600"/>
                </a:lnTo>
                <a:lnTo>
                  <a:pt x="624852" y="135999"/>
                </a:lnTo>
                <a:lnTo>
                  <a:pt x="640427" y="138711"/>
                </a:lnTo>
                <a:lnTo>
                  <a:pt x="647828" y="133508"/>
                </a:lnTo>
                <a:lnTo>
                  <a:pt x="650535" y="117960"/>
                </a:lnTo>
                <a:lnTo>
                  <a:pt x="645331" y="110561"/>
                </a:lnTo>
                <a:lnTo>
                  <a:pt x="629756" y="107848"/>
                </a:lnTo>
                <a:close/>
              </a:path>
              <a:path w="763270" h="158750">
                <a:moveTo>
                  <a:pt x="686087" y="117652"/>
                </a:moveTo>
                <a:lnTo>
                  <a:pt x="678688" y="122857"/>
                </a:lnTo>
                <a:lnTo>
                  <a:pt x="675980" y="138404"/>
                </a:lnTo>
                <a:lnTo>
                  <a:pt x="681184" y="145803"/>
                </a:lnTo>
                <a:lnTo>
                  <a:pt x="696760" y="148516"/>
                </a:lnTo>
                <a:lnTo>
                  <a:pt x="704159" y="143313"/>
                </a:lnTo>
                <a:lnTo>
                  <a:pt x="706868" y="127764"/>
                </a:lnTo>
                <a:lnTo>
                  <a:pt x="701663" y="120365"/>
                </a:lnTo>
                <a:lnTo>
                  <a:pt x="686087" y="117652"/>
                </a:lnTo>
                <a:close/>
              </a:path>
              <a:path w="763270" h="158750">
                <a:moveTo>
                  <a:pt x="742419" y="127457"/>
                </a:moveTo>
                <a:lnTo>
                  <a:pt x="735020" y="132661"/>
                </a:lnTo>
                <a:lnTo>
                  <a:pt x="732312" y="148208"/>
                </a:lnTo>
                <a:lnTo>
                  <a:pt x="737515" y="155608"/>
                </a:lnTo>
                <a:lnTo>
                  <a:pt x="753092" y="158320"/>
                </a:lnTo>
                <a:lnTo>
                  <a:pt x="760491" y="153117"/>
                </a:lnTo>
                <a:lnTo>
                  <a:pt x="763198" y="137570"/>
                </a:lnTo>
                <a:lnTo>
                  <a:pt x="757994" y="130169"/>
                </a:lnTo>
                <a:lnTo>
                  <a:pt x="742419" y="127457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59354" y="4060452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087646" y="4742056"/>
            <a:ext cx="886460" cy="53340"/>
          </a:xfrm>
          <a:custGeom>
            <a:avLst/>
            <a:gdLst/>
            <a:ahLst/>
            <a:cxnLst/>
            <a:rect l="l" t="t" r="r" b="b"/>
            <a:pathLst>
              <a:path w="886460" h="53339">
                <a:moveTo>
                  <a:pt x="864356" y="24192"/>
                </a:moveTo>
                <a:lnTo>
                  <a:pt x="857782" y="30406"/>
                </a:lnTo>
                <a:lnTo>
                  <a:pt x="857336" y="46181"/>
                </a:lnTo>
                <a:lnTo>
                  <a:pt x="863550" y="52755"/>
                </a:lnTo>
                <a:lnTo>
                  <a:pt x="879354" y="53201"/>
                </a:lnTo>
                <a:lnTo>
                  <a:pt x="885929" y="46987"/>
                </a:lnTo>
                <a:lnTo>
                  <a:pt x="886373" y="31212"/>
                </a:lnTo>
                <a:lnTo>
                  <a:pt x="880160" y="24637"/>
                </a:lnTo>
                <a:lnTo>
                  <a:pt x="864356" y="24192"/>
                </a:lnTo>
                <a:close/>
              </a:path>
              <a:path w="886460" h="53339">
                <a:moveTo>
                  <a:pt x="807200" y="22579"/>
                </a:moveTo>
                <a:lnTo>
                  <a:pt x="800625" y="28793"/>
                </a:lnTo>
                <a:lnTo>
                  <a:pt x="800181" y="44568"/>
                </a:lnTo>
                <a:lnTo>
                  <a:pt x="806395" y="51142"/>
                </a:lnTo>
                <a:lnTo>
                  <a:pt x="822198" y="51588"/>
                </a:lnTo>
                <a:lnTo>
                  <a:pt x="828772" y="45374"/>
                </a:lnTo>
                <a:lnTo>
                  <a:pt x="829218" y="29599"/>
                </a:lnTo>
                <a:lnTo>
                  <a:pt x="823004" y="23025"/>
                </a:lnTo>
                <a:lnTo>
                  <a:pt x="807200" y="22579"/>
                </a:lnTo>
                <a:close/>
              </a:path>
              <a:path w="886460" h="53339">
                <a:moveTo>
                  <a:pt x="750045" y="20966"/>
                </a:moveTo>
                <a:lnTo>
                  <a:pt x="743470" y="27180"/>
                </a:lnTo>
                <a:lnTo>
                  <a:pt x="743024" y="42955"/>
                </a:lnTo>
                <a:lnTo>
                  <a:pt x="749239" y="49529"/>
                </a:lnTo>
                <a:lnTo>
                  <a:pt x="765042" y="49975"/>
                </a:lnTo>
                <a:lnTo>
                  <a:pt x="771617" y="43761"/>
                </a:lnTo>
                <a:lnTo>
                  <a:pt x="772062" y="27986"/>
                </a:lnTo>
                <a:lnTo>
                  <a:pt x="765849" y="21412"/>
                </a:lnTo>
                <a:lnTo>
                  <a:pt x="750045" y="20966"/>
                </a:lnTo>
                <a:close/>
              </a:path>
              <a:path w="886460" h="53339">
                <a:moveTo>
                  <a:pt x="692889" y="19353"/>
                </a:moveTo>
                <a:lnTo>
                  <a:pt x="686314" y="25567"/>
                </a:lnTo>
                <a:lnTo>
                  <a:pt x="685869" y="41342"/>
                </a:lnTo>
                <a:lnTo>
                  <a:pt x="692082" y="47917"/>
                </a:lnTo>
                <a:lnTo>
                  <a:pt x="707886" y="48362"/>
                </a:lnTo>
                <a:lnTo>
                  <a:pt x="714461" y="42150"/>
                </a:lnTo>
                <a:lnTo>
                  <a:pt x="714907" y="26374"/>
                </a:lnTo>
                <a:lnTo>
                  <a:pt x="708693" y="19799"/>
                </a:lnTo>
                <a:lnTo>
                  <a:pt x="692889" y="19353"/>
                </a:lnTo>
                <a:close/>
              </a:path>
              <a:path w="886460" h="53339">
                <a:moveTo>
                  <a:pt x="635734" y="17740"/>
                </a:moveTo>
                <a:lnTo>
                  <a:pt x="629159" y="23954"/>
                </a:lnTo>
                <a:lnTo>
                  <a:pt x="628713" y="39729"/>
                </a:lnTo>
                <a:lnTo>
                  <a:pt x="634927" y="46304"/>
                </a:lnTo>
                <a:lnTo>
                  <a:pt x="650731" y="46749"/>
                </a:lnTo>
                <a:lnTo>
                  <a:pt x="657306" y="40537"/>
                </a:lnTo>
                <a:lnTo>
                  <a:pt x="657750" y="24761"/>
                </a:lnTo>
                <a:lnTo>
                  <a:pt x="651536" y="18186"/>
                </a:lnTo>
                <a:lnTo>
                  <a:pt x="635734" y="17740"/>
                </a:lnTo>
                <a:close/>
              </a:path>
              <a:path w="886460" h="53339">
                <a:moveTo>
                  <a:pt x="578577" y="16127"/>
                </a:moveTo>
                <a:lnTo>
                  <a:pt x="572002" y="22341"/>
                </a:lnTo>
                <a:lnTo>
                  <a:pt x="571557" y="38116"/>
                </a:lnTo>
                <a:lnTo>
                  <a:pt x="577771" y="44691"/>
                </a:lnTo>
                <a:lnTo>
                  <a:pt x="593575" y="45137"/>
                </a:lnTo>
                <a:lnTo>
                  <a:pt x="600149" y="38924"/>
                </a:lnTo>
                <a:lnTo>
                  <a:pt x="600595" y="23148"/>
                </a:lnTo>
                <a:lnTo>
                  <a:pt x="594381" y="16573"/>
                </a:lnTo>
                <a:lnTo>
                  <a:pt x="578577" y="16127"/>
                </a:lnTo>
                <a:close/>
              </a:path>
              <a:path w="886460" h="53339">
                <a:moveTo>
                  <a:pt x="521421" y="14514"/>
                </a:moveTo>
                <a:lnTo>
                  <a:pt x="514846" y="20728"/>
                </a:lnTo>
                <a:lnTo>
                  <a:pt x="514402" y="36504"/>
                </a:lnTo>
                <a:lnTo>
                  <a:pt x="520616" y="43078"/>
                </a:lnTo>
                <a:lnTo>
                  <a:pt x="536420" y="43524"/>
                </a:lnTo>
                <a:lnTo>
                  <a:pt x="542994" y="37311"/>
                </a:lnTo>
                <a:lnTo>
                  <a:pt x="543439" y="21535"/>
                </a:lnTo>
                <a:lnTo>
                  <a:pt x="537225" y="14960"/>
                </a:lnTo>
                <a:lnTo>
                  <a:pt x="521421" y="14514"/>
                </a:lnTo>
                <a:close/>
              </a:path>
              <a:path w="886460" h="53339">
                <a:moveTo>
                  <a:pt x="464266" y="12901"/>
                </a:moveTo>
                <a:lnTo>
                  <a:pt x="457691" y="19116"/>
                </a:lnTo>
                <a:lnTo>
                  <a:pt x="457245" y="34891"/>
                </a:lnTo>
                <a:lnTo>
                  <a:pt x="463459" y="41465"/>
                </a:lnTo>
                <a:lnTo>
                  <a:pt x="479263" y="41911"/>
                </a:lnTo>
                <a:lnTo>
                  <a:pt x="485838" y="35698"/>
                </a:lnTo>
                <a:lnTo>
                  <a:pt x="486283" y="19922"/>
                </a:lnTo>
                <a:lnTo>
                  <a:pt x="480070" y="13347"/>
                </a:lnTo>
                <a:lnTo>
                  <a:pt x="464266" y="12901"/>
                </a:lnTo>
                <a:close/>
              </a:path>
              <a:path w="886460" h="53339">
                <a:moveTo>
                  <a:pt x="407109" y="11289"/>
                </a:moveTo>
                <a:lnTo>
                  <a:pt x="400535" y="17503"/>
                </a:lnTo>
                <a:lnTo>
                  <a:pt x="400090" y="33279"/>
                </a:lnTo>
                <a:lnTo>
                  <a:pt x="406304" y="39853"/>
                </a:lnTo>
                <a:lnTo>
                  <a:pt x="422108" y="40299"/>
                </a:lnTo>
                <a:lnTo>
                  <a:pt x="428682" y="34085"/>
                </a:lnTo>
                <a:lnTo>
                  <a:pt x="429127" y="18309"/>
                </a:lnTo>
                <a:lnTo>
                  <a:pt x="422913" y="11734"/>
                </a:lnTo>
                <a:lnTo>
                  <a:pt x="407109" y="11289"/>
                </a:lnTo>
                <a:close/>
              </a:path>
              <a:path w="886460" h="53339">
                <a:moveTo>
                  <a:pt x="349953" y="9677"/>
                </a:moveTo>
                <a:lnTo>
                  <a:pt x="343380" y="15890"/>
                </a:lnTo>
                <a:lnTo>
                  <a:pt x="342934" y="31666"/>
                </a:lnTo>
                <a:lnTo>
                  <a:pt x="349148" y="38240"/>
                </a:lnTo>
                <a:lnTo>
                  <a:pt x="364952" y="38686"/>
                </a:lnTo>
                <a:lnTo>
                  <a:pt x="371527" y="32472"/>
                </a:lnTo>
                <a:lnTo>
                  <a:pt x="371971" y="16696"/>
                </a:lnTo>
                <a:lnTo>
                  <a:pt x="365757" y="10123"/>
                </a:lnTo>
                <a:lnTo>
                  <a:pt x="349953" y="9677"/>
                </a:lnTo>
                <a:close/>
              </a:path>
              <a:path w="886460" h="53339">
                <a:moveTo>
                  <a:pt x="292798" y="8064"/>
                </a:moveTo>
                <a:lnTo>
                  <a:pt x="286223" y="14277"/>
                </a:lnTo>
                <a:lnTo>
                  <a:pt x="285779" y="30053"/>
                </a:lnTo>
                <a:lnTo>
                  <a:pt x="291992" y="36628"/>
                </a:lnTo>
                <a:lnTo>
                  <a:pt x="307795" y="37073"/>
                </a:lnTo>
                <a:lnTo>
                  <a:pt x="314370" y="30859"/>
                </a:lnTo>
                <a:lnTo>
                  <a:pt x="314816" y="15083"/>
                </a:lnTo>
                <a:lnTo>
                  <a:pt x="308602" y="8510"/>
                </a:lnTo>
                <a:lnTo>
                  <a:pt x="292798" y="8064"/>
                </a:lnTo>
                <a:close/>
              </a:path>
              <a:path w="886460" h="53339">
                <a:moveTo>
                  <a:pt x="235643" y="6450"/>
                </a:moveTo>
                <a:lnTo>
                  <a:pt x="229068" y="12664"/>
                </a:lnTo>
                <a:lnTo>
                  <a:pt x="228622" y="28440"/>
                </a:lnTo>
                <a:lnTo>
                  <a:pt x="234836" y="35015"/>
                </a:lnTo>
                <a:lnTo>
                  <a:pt x="250639" y="35460"/>
                </a:lnTo>
                <a:lnTo>
                  <a:pt x="257214" y="29246"/>
                </a:lnTo>
                <a:lnTo>
                  <a:pt x="257660" y="13472"/>
                </a:lnTo>
                <a:lnTo>
                  <a:pt x="251447" y="6897"/>
                </a:lnTo>
                <a:lnTo>
                  <a:pt x="235643" y="6450"/>
                </a:lnTo>
                <a:close/>
              </a:path>
              <a:path w="886460" h="53339">
                <a:moveTo>
                  <a:pt x="178487" y="4838"/>
                </a:moveTo>
                <a:lnTo>
                  <a:pt x="171912" y="11051"/>
                </a:lnTo>
                <a:lnTo>
                  <a:pt x="171466" y="26827"/>
                </a:lnTo>
                <a:lnTo>
                  <a:pt x="177680" y="33402"/>
                </a:lnTo>
                <a:lnTo>
                  <a:pt x="193484" y="33848"/>
                </a:lnTo>
                <a:lnTo>
                  <a:pt x="200059" y="27633"/>
                </a:lnTo>
                <a:lnTo>
                  <a:pt x="200505" y="11859"/>
                </a:lnTo>
                <a:lnTo>
                  <a:pt x="194290" y="5284"/>
                </a:lnTo>
                <a:lnTo>
                  <a:pt x="178487" y="4838"/>
                </a:lnTo>
                <a:close/>
              </a:path>
              <a:path w="886460" h="53339">
                <a:moveTo>
                  <a:pt x="121330" y="3225"/>
                </a:moveTo>
                <a:lnTo>
                  <a:pt x="114757" y="9438"/>
                </a:lnTo>
                <a:lnTo>
                  <a:pt x="114311" y="25214"/>
                </a:lnTo>
                <a:lnTo>
                  <a:pt x="120524" y="31789"/>
                </a:lnTo>
                <a:lnTo>
                  <a:pt x="136328" y="32235"/>
                </a:lnTo>
                <a:lnTo>
                  <a:pt x="142902" y="26021"/>
                </a:lnTo>
                <a:lnTo>
                  <a:pt x="143348" y="10246"/>
                </a:lnTo>
                <a:lnTo>
                  <a:pt x="137134" y="3671"/>
                </a:lnTo>
                <a:lnTo>
                  <a:pt x="121330" y="3225"/>
                </a:lnTo>
                <a:close/>
              </a:path>
              <a:path w="886460" h="53339">
                <a:moveTo>
                  <a:pt x="64175" y="1612"/>
                </a:moveTo>
                <a:lnTo>
                  <a:pt x="57600" y="7825"/>
                </a:lnTo>
                <a:lnTo>
                  <a:pt x="57155" y="23601"/>
                </a:lnTo>
                <a:lnTo>
                  <a:pt x="63369" y="30176"/>
                </a:lnTo>
                <a:lnTo>
                  <a:pt x="79173" y="30622"/>
                </a:lnTo>
                <a:lnTo>
                  <a:pt x="85747" y="24409"/>
                </a:lnTo>
                <a:lnTo>
                  <a:pt x="86192" y="8633"/>
                </a:lnTo>
                <a:lnTo>
                  <a:pt x="79979" y="2058"/>
                </a:lnTo>
                <a:lnTo>
                  <a:pt x="64175" y="1612"/>
                </a:lnTo>
                <a:close/>
              </a:path>
              <a:path w="886460" h="53339">
                <a:moveTo>
                  <a:pt x="7019" y="0"/>
                </a:moveTo>
                <a:lnTo>
                  <a:pt x="444" y="6212"/>
                </a:lnTo>
                <a:lnTo>
                  <a:pt x="0" y="21988"/>
                </a:lnTo>
                <a:lnTo>
                  <a:pt x="6212" y="28563"/>
                </a:lnTo>
                <a:lnTo>
                  <a:pt x="22016" y="29009"/>
                </a:lnTo>
                <a:lnTo>
                  <a:pt x="28591" y="22796"/>
                </a:lnTo>
                <a:lnTo>
                  <a:pt x="29037" y="7020"/>
                </a:lnTo>
                <a:lnTo>
                  <a:pt x="22823" y="445"/>
                </a:lnTo>
                <a:lnTo>
                  <a:pt x="701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969358" y="3917623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024342" y="402307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482773" y="3857838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297679" y="3672840"/>
            <a:ext cx="359663" cy="3535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342239" y="369044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342239" y="369044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782567" y="4614671"/>
            <a:ext cx="356615" cy="3566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824749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824749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770120" y="4614671"/>
            <a:ext cx="359663" cy="3566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814906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814906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315711" y="3858767"/>
            <a:ext cx="359663" cy="35356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360920" y="38758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360920" y="38758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435096" y="3813047"/>
            <a:ext cx="356615" cy="35661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478397" y="38314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78397" y="38314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5440720" y="387451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14989" y="4652767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891648" y="4649720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882941" y="4677152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279834" y="4671055"/>
            <a:ext cx="1680210" cy="638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32384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800" spc="-5" b="1">
                <a:latin typeface="Arial"/>
                <a:cs typeface="Arial"/>
              </a:rPr>
              <a:t>(3) At test</a:t>
            </a:r>
            <a:r>
              <a:rPr dirty="0" sz="1800" spc="-13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006912" y="4668008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906282" y="4680199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84745" y="5029010"/>
            <a:ext cx="2591435" cy="1091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55"/>
              </a:lnSpc>
            </a:pPr>
            <a:r>
              <a:rPr dirty="0" sz="1800" spc="-5" b="1">
                <a:latin typeface="Arial"/>
                <a:cs typeface="Arial"/>
              </a:rPr>
              <a:t>(1) At training</a:t>
            </a:r>
            <a:r>
              <a:rPr dirty="0" sz="1800" spc="-11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090"/>
              </a:lnSpc>
              <a:spcBef>
                <a:spcPts val="175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edges </a:t>
            </a:r>
            <a:r>
              <a:rPr dirty="0" sz="1800" spc="-5">
                <a:latin typeface="Arial"/>
                <a:cs typeface="Arial"/>
              </a:rPr>
              <a:t>to predict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</a:t>
            </a:r>
            <a:r>
              <a:rPr dirty="0" sz="1800" spc="-70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282290" y="5029010"/>
            <a:ext cx="2566035" cy="137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55"/>
              </a:lnSpc>
            </a:pPr>
            <a:r>
              <a:rPr dirty="0" sz="1800" spc="-5" b="1">
                <a:latin typeface="Arial"/>
                <a:cs typeface="Arial"/>
              </a:rPr>
              <a:t>(2) At validation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99400"/>
              </a:lnSpc>
              <a:spcBef>
                <a:spcPts val="6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edges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&amp;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 edges </a:t>
            </a:r>
            <a:r>
              <a:rPr dirty="0" sz="1800">
                <a:latin typeface="Arial"/>
                <a:cs typeface="Arial"/>
              </a:rPr>
              <a:t>to  </a:t>
            </a:r>
            <a:r>
              <a:rPr dirty="0" sz="1800" spc="-5">
                <a:latin typeface="Arial"/>
                <a:cs typeface="Arial"/>
              </a:rPr>
              <a:t>predict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validation</a:t>
            </a:r>
            <a:r>
              <a:rPr dirty="0" sz="1800" spc="-50" b="1">
                <a:solidFill>
                  <a:srgbClr val="60B5CC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279834" y="5294186"/>
            <a:ext cx="2375535" cy="13874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119380">
              <a:lnSpc>
                <a:spcPct val="100400"/>
              </a:lnSpc>
              <a:spcBef>
                <a:spcPts val="4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edges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&amp;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 edges</a:t>
            </a:r>
            <a:r>
              <a:rPr dirty="0" sz="1800" spc="-65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E88651"/>
                </a:solidFill>
                <a:latin typeface="Arial"/>
                <a:cs typeface="Arial"/>
              </a:rPr>
              <a:t>&amp; 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validation edges </a:t>
            </a:r>
            <a:r>
              <a:rPr dirty="0" sz="1800">
                <a:latin typeface="Arial"/>
                <a:cs typeface="Arial"/>
              </a:rPr>
              <a:t>to  </a:t>
            </a:r>
            <a:r>
              <a:rPr dirty="0" sz="1800" spc="-5">
                <a:latin typeface="Arial"/>
                <a:cs typeface="Arial"/>
              </a:rPr>
              <a:t>predict </a:t>
            </a:r>
            <a:r>
              <a:rPr dirty="0" sz="1800" spc="-5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r>
              <a:rPr dirty="0" sz="1800" spc="-60" b="1">
                <a:solidFill>
                  <a:srgbClr val="6BB76D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6BB76D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8"/>
              </a:rPr>
              <a:t>http://cs224w.stanford.edu</a:t>
            </a:r>
          </a:p>
        </p:txBody>
      </p:sp>
      <p:sp>
        <p:nvSpPr>
          <p:cNvPr id="84" name="object 8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68</a:t>
            </a:fld>
          </a:p>
        </p:txBody>
      </p:sp>
      <p:sp>
        <p:nvSpPr>
          <p:cNvPr id="71" name="object 71"/>
          <p:cNvSpPr txBox="1"/>
          <p:nvPr/>
        </p:nvSpPr>
        <p:spPr>
          <a:xfrm>
            <a:off x="4413081" y="3685540"/>
            <a:ext cx="326262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6265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	</a:t>
            </a:r>
            <a:r>
              <a:rPr dirty="0" baseline="1736" sz="2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baseline="1736" sz="24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554081" y="38287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6322" y="1281684"/>
            <a:ext cx="77425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Summary: </a:t>
            </a:r>
            <a:r>
              <a:rPr dirty="0" spc="-30"/>
              <a:t>Transductive </a:t>
            </a:r>
            <a:r>
              <a:rPr dirty="0" spc="-5"/>
              <a:t>link </a:t>
            </a:r>
            <a:r>
              <a:rPr dirty="0" spc="-10"/>
              <a:t>prediction</a:t>
            </a:r>
            <a:r>
              <a:rPr dirty="0" spc="100"/>
              <a:t> </a:t>
            </a:r>
            <a:r>
              <a:rPr dirty="0" spc="-5"/>
              <a:t>split: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5927" y="4635500"/>
            <a:ext cx="7496175" cy="177546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41300" marR="5080" indent="-228600">
              <a:lnSpc>
                <a:spcPct val="88900"/>
              </a:lnSpc>
              <a:spcBef>
                <a:spcPts val="420"/>
              </a:spcBef>
              <a:buClr>
                <a:srgbClr val="E66C7D"/>
              </a:buClr>
              <a:buFont typeface="Arial"/>
              <a:buChar char="▪"/>
              <a:tabLst>
                <a:tab pos="241300" algn="l"/>
              </a:tabLst>
            </a:pPr>
            <a:r>
              <a:rPr dirty="0" sz="2400" spc="-10" b="1">
                <a:latin typeface="Calibri"/>
                <a:cs typeface="Calibri"/>
              </a:rPr>
              <a:t>Note: </a:t>
            </a:r>
            <a:r>
              <a:rPr dirty="0" sz="2400" spc="-5">
                <a:latin typeface="Calibri"/>
                <a:cs typeface="Calibri"/>
              </a:rPr>
              <a:t>Link </a:t>
            </a:r>
            <a:r>
              <a:rPr dirty="0" sz="2400" spc="-10">
                <a:latin typeface="Calibri"/>
                <a:cs typeface="Calibri"/>
              </a:rPr>
              <a:t>prediction settings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5">
                <a:latin typeface="Calibri"/>
                <a:cs typeface="Calibri"/>
              </a:rPr>
              <a:t>tricky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0">
                <a:latin typeface="Calibri"/>
                <a:cs typeface="Calibri"/>
              </a:rPr>
              <a:t>complex. </a:t>
            </a:r>
            <a:r>
              <a:rPr dirty="0" sz="2400" spc="-60">
                <a:latin typeface="Calibri"/>
                <a:cs typeface="Calibri"/>
              </a:rPr>
              <a:t>You  </a:t>
            </a:r>
            <a:r>
              <a:rPr dirty="0" sz="2400" spc="-20">
                <a:latin typeface="Calibri"/>
                <a:cs typeface="Calibri"/>
              </a:rPr>
              <a:t>may </a:t>
            </a:r>
            <a:r>
              <a:rPr dirty="0" sz="2400" spc="-5">
                <a:latin typeface="Calibri"/>
                <a:cs typeface="Calibri"/>
              </a:rPr>
              <a:t>find </a:t>
            </a:r>
            <a:r>
              <a:rPr dirty="0" sz="2400" spc="-10">
                <a:latin typeface="Calibri"/>
                <a:cs typeface="Calibri"/>
              </a:rPr>
              <a:t>papers </a:t>
            </a:r>
            <a:r>
              <a:rPr dirty="0" sz="2400">
                <a:latin typeface="Calibri"/>
                <a:cs typeface="Calibri"/>
              </a:rPr>
              <a:t>do </a:t>
            </a:r>
            <a:r>
              <a:rPr dirty="0" sz="2400" spc="-5">
                <a:latin typeface="Calibri"/>
                <a:cs typeface="Calibri"/>
              </a:rPr>
              <a:t>link </a:t>
            </a:r>
            <a:r>
              <a:rPr dirty="0" sz="2400" spc="-10">
                <a:latin typeface="Calibri"/>
                <a:cs typeface="Calibri"/>
              </a:rPr>
              <a:t>prediction </a:t>
            </a:r>
            <a:r>
              <a:rPr dirty="0" sz="2400" spc="-30">
                <a:latin typeface="Calibri"/>
                <a:cs typeface="Calibri"/>
              </a:rPr>
              <a:t>differently. </a:t>
            </a:r>
            <a:r>
              <a:rPr dirty="0" sz="2400" spc="-5">
                <a:latin typeface="Calibri"/>
                <a:cs typeface="Calibri"/>
              </a:rPr>
              <a:t>But if </a:t>
            </a:r>
            <a:r>
              <a:rPr dirty="0" sz="2400" spc="-15">
                <a:latin typeface="Calibri"/>
                <a:cs typeface="Calibri"/>
              </a:rPr>
              <a:t>you  follow </a:t>
            </a:r>
            <a:r>
              <a:rPr dirty="0" sz="2400" spc="-5">
                <a:latin typeface="Calibri"/>
                <a:cs typeface="Calibri"/>
              </a:rPr>
              <a:t>our </a:t>
            </a:r>
            <a:r>
              <a:rPr dirty="0" sz="2400" spc="-10">
                <a:latin typeface="Calibri"/>
                <a:cs typeface="Calibri"/>
              </a:rPr>
              <a:t>reasoning </a:t>
            </a:r>
            <a:r>
              <a:rPr dirty="0" sz="2400" spc="-15">
                <a:latin typeface="Calibri"/>
                <a:cs typeface="Calibri"/>
              </a:rPr>
              <a:t>steps, </a:t>
            </a:r>
            <a:r>
              <a:rPr dirty="0" sz="2400" spc="-5" b="1">
                <a:latin typeface="Calibri"/>
                <a:cs typeface="Calibri"/>
              </a:rPr>
              <a:t>this should be the </a:t>
            </a:r>
            <a:r>
              <a:rPr dirty="0" sz="2400" spc="-10" b="1">
                <a:latin typeface="Calibri"/>
                <a:cs typeface="Calibri"/>
              </a:rPr>
              <a:t>right </a:t>
            </a:r>
            <a:r>
              <a:rPr dirty="0" sz="2400" spc="-25" b="1">
                <a:latin typeface="Calibri"/>
                <a:cs typeface="Calibri"/>
              </a:rPr>
              <a:t>way </a:t>
            </a:r>
            <a:r>
              <a:rPr dirty="0" sz="2400" spc="-10" b="1">
                <a:latin typeface="Calibri"/>
                <a:cs typeface="Calibri"/>
              </a:rPr>
              <a:t>to  </a:t>
            </a:r>
            <a:r>
              <a:rPr dirty="0" sz="2400" spc="-5" b="1">
                <a:latin typeface="Calibri"/>
                <a:cs typeface="Calibri"/>
              </a:rPr>
              <a:t>implement link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prediction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Clr>
                <a:srgbClr val="E66C7D"/>
              </a:buClr>
              <a:buFont typeface="Arial"/>
              <a:buChar char="▪"/>
              <a:tabLst>
                <a:tab pos="241300" algn="l"/>
              </a:tabLst>
            </a:pPr>
            <a:r>
              <a:rPr dirty="0" sz="2400" spc="-25">
                <a:latin typeface="Calibri"/>
                <a:cs typeface="Calibri"/>
              </a:rPr>
              <a:t>Luckily,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20">
                <a:latin typeface="Calibri"/>
                <a:cs typeface="Calibri"/>
              </a:rPr>
              <a:t>have </a:t>
            </a:r>
            <a:r>
              <a:rPr dirty="0" sz="2400" spc="-5">
                <a:latin typeface="Calibri"/>
                <a:cs typeface="Calibri"/>
              </a:rPr>
              <a:t>full support in</a:t>
            </a:r>
            <a:r>
              <a:rPr dirty="0" sz="2400" spc="-5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5" b="1" u="heavy">
                <a:solidFill>
                  <a:srgbClr val="168BBA"/>
                </a:solidFill>
                <a:latin typeface="Calibri"/>
                <a:cs typeface="Calibri"/>
              </a:rPr>
              <a:t>DeepSNAP</a:t>
            </a:r>
            <a:r>
              <a:rPr dirty="0" sz="2400" spc="-5" b="1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25" b="1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15" b="1" u="heavy">
                <a:solidFill>
                  <a:srgbClr val="168BBA"/>
                </a:solidFill>
                <a:latin typeface="Calibri"/>
                <a:cs typeface="Calibri"/>
              </a:rPr>
              <a:t>GraphGym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4306" y="2742753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03959" y="3438209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4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94311" y="2599924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49295" y="270537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5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07726" y="2540138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22247" y="2353055"/>
            <a:ext cx="359664" cy="356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67191" y="23727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67191" y="23727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07136" y="3297935"/>
            <a:ext cx="356615" cy="353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49701" y="33158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49701" y="33158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94688" y="3297935"/>
            <a:ext cx="359663" cy="353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39858" y="33158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39858" y="33158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243327" y="2538983"/>
            <a:ext cx="356615" cy="356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85871" y="255813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85871" y="255813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9663" y="2496311"/>
            <a:ext cx="359664" cy="353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03349" y="251380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03349" y="251380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365673" y="255778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38032" y="236880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9032" y="251206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46265" y="2536107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5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13403" y="3257691"/>
            <a:ext cx="2019935" cy="66294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ctr" marR="60960">
              <a:lnSpc>
                <a:spcPct val="100000"/>
              </a:lnSpc>
              <a:spcBef>
                <a:spcPts val="540"/>
              </a:spcBef>
              <a:tabLst>
                <a:tab pos="975994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dirty="0" sz="1800" b="1">
                <a:latin typeface="Arial"/>
                <a:cs typeface="Arial"/>
              </a:rPr>
              <a:t>The </a:t>
            </a:r>
            <a:r>
              <a:rPr dirty="0" sz="1800" spc="-5" b="1">
                <a:latin typeface="Arial"/>
                <a:cs typeface="Arial"/>
              </a:rPr>
              <a:t>original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266258" y="2670282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85912" y="3365737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576263" y="2527453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631246" y="2632904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089678" y="2467668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904232" y="2282951"/>
            <a:ext cx="359663" cy="3535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949144" y="2300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949144" y="2300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89120" y="3224783"/>
            <a:ext cx="356615" cy="3566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431653" y="324334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2"/>
                </a:lnTo>
                <a:lnTo>
                  <a:pt x="215500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431653" y="324334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376671" y="3224783"/>
            <a:ext cx="359663" cy="3566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421810" y="324334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421810" y="324334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925311" y="2468879"/>
            <a:ext cx="356615" cy="3535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967824" y="248566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967824" y="248566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041647" y="2423160"/>
            <a:ext cx="359663" cy="35661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85301" y="244132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085301" y="244132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047624" y="248462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19985" y="2295651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160984" y="24389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228217" y="2463637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5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4198125" y="3137915"/>
            <a:ext cx="1731645" cy="111696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algn="ctr" marL="13970">
              <a:lnSpc>
                <a:spcPct val="100000"/>
              </a:lnSpc>
              <a:spcBef>
                <a:spcPts val="930"/>
              </a:spcBef>
              <a:tabLst>
                <a:tab pos="99060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algn="ctr" marL="12700" marR="5080" indent="-3810">
              <a:lnSpc>
                <a:spcPct val="100000"/>
              </a:lnSpc>
              <a:spcBef>
                <a:spcPts val="1035"/>
              </a:spcBef>
            </a:pPr>
            <a:r>
              <a:rPr dirty="0" sz="2000" spc="-5" b="1">
                <a:latin typeface="Calibri"/>
                <a:cs typeface="Calibri"/>
              </a:rPr>
              <a:t>Split </a:t>
            </a:r>
            <a:r>
              <a:rPr dirty="0" sz="2000" spc="-10" b="1">
                <a:latin typeface="Calibri"/>
                <a:cs typeface="Calibri"/>
              </a:rPr>
              <a:t>Graph</a:t>
            </a:r>
            <a:r>
              <a:rPr dirty="0" sz="2000" spc="-95" b="1">
                <a:latin typeface="Calibri"/>
                <a:cs typeface="Calibri"/>
              </a:rPr>
              <a:t> </a:t>
            </a:r>
            <a:r>
              <a:rPr dirty="0" sz="2000" spc="-5" b="1">
                <a:latin typeface="Calibri"/>
                <a:cs typeface="Calibri"/>
              </a:rPr>
              <a:t>with 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4 </a:t>
            </a:r>
            <a:r>
              <a:rPr dirty="0" sz="2000" spc="-5" b="1">
                <a:latin typeface="Calibri"/>
                <a:cs typeface="Calibri"/>
              </a:rPr>
              <a:t>types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5" b="1">
                <a:latin typeface="Calibri"/>
                <a:cs typeface="Calibri"/>
              </a:rPr>
              <a:t>edges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944329" y="3051503"/>
            <a:ext cx="718820" cy="85725"/>
          </a:xfrm>
          <a:custGeom>
            <a:avLst/>
            <a:gdLst/>
            <a:ahLst/>
            <a:cxnLst/>
            <a:rect l="l" t="t" r="r" b="b"/>
            <a:pathLst>
              <a:path w="718820" h="85725">
                <a:moveTo>
                  <a:pt x="632777" y="0"/>
                </a:moveTo>
                <a:lnTo>
                  <a:pt x="632777" y="85725"/>
                </a:lnTo>
                <a:lnTo>
                  <a:pt x="689927" y="57150"/>
                </a:lnTo>
                <a:lnTo>
                  <a:pt x="654955" y="57150"/>
                </a:lnTo>
                <a:lnTo>
                  <a:pt x="661351" y="50754"/>
                </a:lnTo>
                <a:lnTo>
                  <a:pt x="661352" y="34970"/>
                </a:lnTo>
                <a:lnTo>
                  <a:pt x="654955" y="28575"/>
                </a:lnTo>
                <a:lnTo>
                  <a:pt x="689927" y="28575"/>
                </a:lnTo>
                <a:lnTo>
                  <a:pt x="632777" y="0"/>
                </a:lnTo>
                <a:close/>
              </a:path>
              <a:path w="718820" h="85725">
                <a:moveTo>
                  <a:pt x="632777" y="28575"/>
                </a:moveTo>
                <a:lnTo>
                  <a:pt x="6396" y="28575"/>
                </a:lnTo>
                <a:lnTo>
                  <a:pt x="1" y="34970"/>
                </a:lnTo>
                <a:lnTo>
                  <a:pt x="0" y="50754"/>
                </a:lnTo>
                <a:lnTo>
                  <a:pt x="6396" y="57150"/>
                </a:lnTo>
                <a:lnTo>
                  <a:pt x="632777" y="57150"/>
                </a:lnTo>
                <a:lnTo>
                  <a:pt x="632777" y="28575"/>
                </a:lnTo>
                <a:close/>
              </a:path>
              <a:path w="718820" h="85725">
                <a:moveTo>
                  <a:pt x="689927" y="28575"/>
                </a:moveTo>
                <a:lnTo>
                  <a:pt x="654955" y="28575"/>
                </a:lnTo>
                <a:lnTo>
                  <a:pt x="661352" y="34970"/>
                </a:lnTo>
                <a:lnTo>
                  <a:pt x="661351" y="50754"/>
                </a:lnTo>
                <a:lnTo>
                  <a:pt x="654955" y="57150"/>
                </a:lnTo>
                <a:lnTo>
                  <a:pt x="689927" y="57150"/>
                </a:lnTo>
                <a:lnTo>
                  <a:pt x="718502" y="42862"/>
                </a:lnTo>
                <a:lnTo>
                  <a:pt x="689927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3021095" y="2671572"/>
            <a:ext cx="4946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Calibri"/>
                <a:cs typeface="Calibri"/>
              </a:rPr>
              <a:t>Sp</a:t>
            </a:r>
            <a:r>
              <a:rPr dirty="0" sz="2000" spc="-5" b="1">
                <a:latin typeface="Calibri"/>
                <a:cs typeface="Calibri"/>
              </a:rPr>
              <a:t>li</a:t>
            </a:r>
            <a:r>
              <a:rPr dirty="0" sz="2000" b="1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3"/>
              </a:rPr>
              <a:t>http://cs224w.stanford.edu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70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475886" y="2322067"/>
            <a:ext cx="2517140" cy="11226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25" b="1">
                <a:solidFill>
                  <a:srgbClr val="C00000"/>
                </a:solidFill>
                <a:latin typeface="Calibri"/>
                <a:cs typeface="Calibri"/>
              </a:rPr>
              <a:t>Training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message edges  </a:t>
            </a:r>
            <a:r>
              <a:rPr dirty="0" sz="1800" spc="-25" b="1">
                <a:solidFill>
                  <a:srgbClr val="E88651"/>
                </a:solidFill>
                <a:latin typeface="Calibri"/>
                <a:cs typeface="Calibri"/>
              </a:rPr>
              <a:t>Training </a:t>
            </a:r>
            <a:r>
              <a:rPr dirty="0" sz="1800" spc="-10" b="1">
                <a:solidFill>
                  <a:srgbClr val="E88651"/>
                </a:solidFill>
                <a:latin typeface="Calibri"/>
                <a:cs typeface="Calibri"/>
              </a:rPr>
              <a:t>supervision edges  </a:t>
            </a:r>
            <a:r>
              <a:rPr dirty="0" sz="1800" spc="-20" b="1">
                <a:solidFill>
                  <a:srgbClr val="6BB76D"/>
                </a:solidFill>
                <a:latin typeface="Calibri"/>
                <a:cs typeface="Calibri"/>
              </a:rPr>
              <a:t>Validation</a:t>
            </a:r>
            <a:r>
              <a:rPr dirty="0" sz="1800" spc="-55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BB76D"/>
                </a:solidFill>
                <a:latin typeface="Calibri"/>
                <a:cs typeface="Calibri"/>
              </a:rPr>
              <a:t>edges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 spc="-50" b="1">
                <a:solidFill>
                  <a:srgbClr val="60B5CC"/>
                </a:solidFill>
                <a:latin typeface="Calibri"/>
                <a:cs typeface="Calibri"/>
              </a:rPr>
              <a:t>Test</a:t>
            </a:r>
            <a:r>
              <a:rPr dirty="0" sz="1800" spc="-9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0B5CC"/>
                </a:solidFill>
                <a:latin typeface="Calibri"/>
                <a:cs typeface="Calibri"/>
              </a:rPr>
              <a:t>edges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3766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2185" y="3746257"/>
            <a:ext cx="1145986" cy="1063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33760" y="3920557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33761" y="3920558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44492" y="3588707"/>
            <a:ext cx="130492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375920" marR="93345" indent="-275590">
              <a:lnSpc>
                <a:spcPct val="100000"/>
              </a:lnSpc>
              <a:spcBef>
                <a:spcPts val="9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Prediction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head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5045" y="3583994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319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285"/>
              </a:spcBef>
            </a:pPr>
            <a:r>
              <a:rPr dirty="0" sz="2000" spc="-5" b="1">
                <a:latin typeface="Calibri"/>
                <a:cs typeface="Calibri"/>
              </a:rPr>
              <a:t>Predictions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9740" y="3588707"/>
            <a:ext cx="84645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446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29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4602" y="4772544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0795" rIns="0" bIns="0" rtlCol="0" vert="horz">
            <a:spAutoFit/>
          </a:bodyPr>
          <a:lstStyle/>
          <a:p>
            <a:pPr marL="248285" marR="241300" indent="217170">
              <a:lnSpc>
                <a:spcPct val="100000"/>
              </a:lnSpc>
              <a:spcBef>
                <a:spcPts val="8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Loss  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24602" y="2309681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99085" marR="130810" indent="-161290">
              <a:lnSpc>
                <a:spcPct val="100000"/>
              </a:lnSpc>
              <a:spcBef>
                <a:spcPts val="90"/>
              </a:spcBef>
            </a:pP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Evaluation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metrics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60268" y="3819107"/>
            <a:ext cx="956356" cy="11017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27797" y="2746494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40970" marR="129539">
              <a:lnSpc>
                <a:spcPct val="100000"/>
              </a:lnSpc>
              <a:spcBef>
                <a:spcPts val="610"/>
              </a:spcBef>
            </a:pPr>
            <a:r>
              <a:rPr dirty="0" sz="2000" spc="-10" b="1">
                <a:latin typeface="Calibri"/>
                <a:cs typeface="Calibri"/>
              </a:rPr>
              <a:t>Graph  Neural  Network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1717" y="392156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51717" y="392156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18217" y="2746494"/>
            <a:ext cx="140589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8425" rIns="0" bIns="0" rtlCol="0" vert="horz">
            <a:spAutoFit/>
          </a:bodyPr>
          <a:lstStyle/>
          <a:p>
            <a:pPr marL="55244" marR="24130" indent="362585">
              <a:lnSpc>
                <a:spcPct val="100000"/>
              </a:lnSpc>
              <a:spcBef>
                <a:spcPts val="775"/>
              </a:spcBef>
            </a:pPr>
            <a:r>
              <a:rPr dirty="0" sz="2000" spc="-5" b="1">
                <a:latin typeface="Calibri"/>
                <a:cs typeface="Calibri"/>
              </a:rPr>
              <a:t>Node  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03065" y="4521785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03064" y="4521785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31728" y="455487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31728" y="455487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41554" y="4576086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41553" y="4576086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73933" y="360419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73932" y="360419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34808" y="3887284"/>
            <a:ext cx="283845" cy="85725"/>
          </a:xfrm>
          <a:custGeom>
            <a:avLst/>
            <a:gdLst/>
            <a:ahLst/>
            <a:cxnLst/>
            <a:rect l="l" t="t" r="r" b="b"/>
            <a:pathLst>
              <a:path w="283844" h="85725">
                <a:moveTo>
                  <a:pt x="197683" y="57149"/>
                </a:moveTo>
                <a:lnTo>
                  <a:pt x="197683" y="85725"/>
                </a:lnTo>
                <a:lnTo>
                  <a:pt x="254833" y="57150"/>
                </a:lnTo>
                <a:lnTo>
                  <a:pt x="197683" y="57149"/>
                </a:lnTo>
                <a:close/>
              </a:path>
              <a:path w="283844" h="85725">
                <a:moveTo>
                  <a:pt x="197683" y="28574"/>
                </a:moveTo>
                <a:lnTo>
                  <a:pt x="197683" y="57149"/>
                </a:lnTo>
                <a:lnTo>
                  <a:pt x="219862" y="57148"/>
                </a:lnTo>
                <a:lnTo>
                  <a:pt x="226258" y="50753"/>
                </a:lnTo>
                <a:lnTo>
                  <a:pt x="226258" y="34970"/>
                </a:lnTo>
                <a:lnTo>
                  <a:pt x="219861" y="28575"/>
                </a:lnTo>
                <a:lnTo>
                  <a:pt x="197683" y="28574"/>
                </a:lnTo>
                <a:close/>
              </a:path>
              <a:path w="283844" h="85725">
                <a:moveTo>
                  <a:pt x="197683" y="0"/>
                </a:moveTo>
                <a:lnTo>
                  <a:pt x="197683" y="28574"/>
                </a:lnTo>
                <a:lnTo>
                  <a:pt x="211970" y="28575"/>
                </a:lnTo>
                <a:lnTo>
                  <a:pt x="219861" y="28575"/>
                </a:lnTo>
                <a:lnTo>
                  <a:pt x="226258" y="34970"/>
                </a:lnTo>
                <a:lnTo>
                  <a:pt x="226258" y="50753"/>
                </a:lnTo>
                <a:lnTo>
                  <a:pt x="219861" y="57150"/>
                </a:lnTo>
                <a:lnTo>
                  <a:pt x="254835" y="57148"/>
                </a:lnTo>
                <a:lnTo>
                  <a:pt x="283408" y="42862"/>
                </a:lnTo>
                <a:lnTo>
                  <a:pt x="197683" y="0"/>
                </a:lnTo>
                <a:close/>
              </a:path>
              <a:path w="283844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97683" y="57149"/>
                </a:lnTo>
                <a:lnTo>
                  <a:pt x="19768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09615" y="3887147"/>
            <a:ext cx="335280" cy="85725"/>
          </a:xfrm>
          <a:custGeom>
            <a:avLst/>
            <a:gdLst/>
            <a:ahLst/>
            <a:cxnLst/>
            <a:rect l="l" t="t" r="r" b="b"/>
            <a:pathLst>
              <a:path w="335279" h="85725">
                <a:moveTo>
                  <a:pt x="306335" y="28562"/>
                </a:moveTo>
                <a:lnTo>
                  <a:pt x="271322" y="28562"/>
                </a:lnTo>
                <a:lnTo>
                  <a:pt x="277723" y="34955"/>
                </a:lnTo>
                <a:lnTo>
                  <a:pt x="277732" y="50737"/>
                </a:lnTo>
                <a:lnTo>
                  <a:pt x="271339" y="57137"/>
                </a:lnTo>
                <a:lnTo>
                  <a:pt x="249161" y="57150"/>
                </a:lnTo>
                <a:lnTo>
                  <a:pt x="249177" y="85724"/>
                </a:lnTo>
                <a:lnTo>
                  <a:pt x="334877" y="42812"/>
                </a:lnTo>
                <a:lnTo>
                  <a:pt x="306335" y="28562"/>
                </a:lnTo>
                <a:close/>
              </a:path>
              <a:path w="335279" h="85725">
                <a:moveTo>
                  <a:pt x="249144" y="28575"/>
                </a:moveTo>
                <a:lnTo>
                  <a:pt x="6393" y="28715"/>
                </a:lnTo>
                <a:lnTo>
                  <a:pt x="0" y="35115"/>
                </a:lnTo>
                <a:lnTo>
                  <a:pt x="8" y="50897"/>
                </a:lnTo>
                <a:lnTo>
                  <a:pt x="6409" y="57290"/>
                </a:lnTo>
                <a:lnTo>
                  <a:pt x="249161" y="57150"/>
                </a:lnTo>
                <a:lnTo>
                  <a:pt x="249144" y="28575"/>
                </a:lnTo>
                <a:close/>
              </a:path>
              <a:path w="335279" h="85725">
                <a:moveTo>
                  <a:pt x="271322" y="28562"/>
                </a:moveTo>
                <a:lnTo>
                  <a:pt x="249144" y="28575"/>
                </a:lnTo>
                <a:lnTo>
                  <a:pt x="249161" y="57150"/>
                </a:lnTo>
                <a:lnTo>
                  <a:pt x="271339" y="57137"/>
                </a:lnTo>
                <a:lnTo>
                  <a:pt x="277732" y="50737"/>
                </a:lnTo>
                <a:lnTo>
                  <a:pt x="277723" y="34955"/>
                </a:lnTo>
                <a:lnTo>
                  <a:pt x="271322" y="28562"/>
                </a:lnTo>
                <a:close/>
              </a:path>
              <a:path w="335279" h="85725">
                <a:moveTo>
                  <a:pt x="249128" y="0"/>
                </a:moveTo>
                <a:lnTo>
                  <a:pt x="249144" y="28575"/>
                </a:lnTo>
                <a:lnTo>
                  <a:pt x="306335" y="28562"/>
                </a:lnTo>
                <a:lnTo>
                  <a:pt x="249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34710" y="3883755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318" y="50292"/>
                </a:lnTo>
                <a:lnTo>
                  <a:pt x="247023" y="56789"/>
                </a:lnTo>
                <a:lnTo>
                  <a:pt x="224848" y="57142"/>
                </a:lnTo>
                <a:lnTo>
                  <a:pt x="225303" y="85713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251" y="54322"/>
                </a:lnTo>
                <a:lnTo>
                  <a:pt x="6748" y="60617"/>
                </a:lnTo>
                <a:lnTo>
                  <a:pt x="224848" y="5714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848" y="57142"/>
                </a:lnTo>
                <a:lnTo>
                  <a:pt x="247023" y="56789"/>
                </a:lnTo>
                <a:lnTo>
                  <a:pt x="253318" y="50292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32162" y="2992187"/>
            <a:ext cx="595630" cy="607695"/>
          </a:xfrm>
          <a:custGeom>
            <a:avLst/>
            <a:gdLst/>
            <a:ahLst/>
            <a:cxnLst/>
            <a:rect l="l" t="t" r="r" b="b"/>
            <a:pathLst>
              <a:path w="595629" h="607695">
                <a:moveTo>
                  <a:pt x="525097" y="51249"/>
                </a:moveTo>
                <a:lnTo>
                  <a:pt x="0" y="587447"/>
                </a:lnTo>
                <a:lnTo>
                  <a:pt x="93" y="596493"/>
                </a:lnTo>
                <a:lnTo>
                  <a:pt x="11369" y="607534"/>
                </a:lnTo>
                <a:lnTo>
                  <a:pt x="20415" y="607440"/>
                </a:lnTo>
                <a:lnTo>
                  <a:pt x="545514" y="71243"/>
                </a:lnTo>
                <a:lnTo>
                  <a:pt x="525097" y="51249"/>
                </a:lnTo>
                <a:close/>
              </a:path>
              <a:path w="595629" h="607695">
                <a:moveTo>
                  <a:pt x="583924" y="35311"/>
                </a:moveTo>
                <a:lnTo>
                  <a:pt x="549661" y="35311"/>
                </a:lnTo>
                <a:lnTo>
                  <a:pt x="560936" y="46352"/>
                </a:lnTo>
                <a:lnTo>
                  <a:pt x="561031" y="55398"/>
                </a:lnTo>
                <a:lnTo>
                  <a:pt x="545514" y="71243"/>
                </a:lnTo>
                <a:lnTo>
                  <a:pt x="565929" y="91236"/>
                </a:lnTo>
                <a:lnTo>
                  <a:pt x="583924" y="35311"/>
                </a:lnTo>
                <a:close/>
              </a:path>
              <a:path w="595629" h="607695">
                <a:moveTo>
                  <a:pt x="549661" y="35311"/>
                </a:moveTo>
                <a:lnTo>
                  <a:pt x="540614" y="35405"/>
                </a:lnTo>
                <a:lnTo>
                  <a:pt x="525097" y="51249"/>
                </a:lnTo>
                <a:lnTo>
                  <a:pt x="545514" y="71243"/>
                </a:lnTo>
                <a:lnTo>
                  <a:pt x="561031" y="55398"/>
                </a:lnTo>
                <a:lnTo>
                  <a:pt x="560936" y="46352"/>
                </a:lnTo>
                <a:lnTo>
                  <a:pt x="549661" y="35311"/>
                </a:lnTo>
                <a:close/>
              </a:path>
              <a:path w="595629" h="607695">
                <a:moveTo>
                  <a:pt x="595285" y="0"/>
                </a:moveTo>
                <a:lnTo>
                  <a:pt x="504682" y="31257"/>
                </a:lnTo>
                <a:lnTo>
                  <a:pt x="525097" y="51249"/>
                </a:lnTo>
                <a:lnTo>
                  <a:pt x="540614" y="35405"/>
                </a:lnTo>
                <a:lnTo>
                  <a:pt x="549661" y="35311"/>
                </a:lnTo>
                <a:lnTo>
                  <a:pt x="583924" y="35311"/>
                </a:lnTo>
                <a:lnTo>
                  <a:pt x="5952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27448" y="2992187"/>
            <a:ext cx="842010" cy="612775"/>
          </a:xfrm>
          <a:custGeom>
            <a:avLst/>
            <a:gdLst/>
            <a:ahLst/>
            <a:cxnLst/>
            <a:rect l="l" t="t" r="r" b="b"/>
            <a:pathLst>
              <a:path w="842009" h="612775">
                <a:moveTo>
                  <a:pt x="77845" y="38637"/>
                </a:moveTo>
                <a:lnTo>
                  <a:pt x="61106" y="61795"/>
                </a:lnTo>
                <a:lnTo>
                  <a:pt x="823328" y="612721"/>
                </a:lnTo>
                <a:lnTo>
                  <a:pt x="832260" y="611285"/>
                </a:lnTo>
                <a:lnTo>
                  <a:pt x="841504" y="598495"/>
                </a:lnTo>
                <a:lnTo>
                  <a:pt x="840066" y="589563"/>
                </a:lnTo>
                <a:lnTo>
                  <a:pt x="77845" y="38637"/>
                </a:lnTo>
                <a:close/>
              </a:path>
              <a:path w="842009" h="612775">
                <a:moveTo>
                  <a:pt x="0" y="0"/>
                </a:moveTo>
                <a:lnTo>
                  <a:pt x="44367" y="84955"/>
                </a:lnTo>
                <a:lnTo>
                  <a:pt x="61106" y="61795"/>
                </a:lnTo>
                <a:lnTo>
                  <a:pt x="43131" y="48803"/>
                </a:lnTo>
                <a:lnTo>
                  <a:pt x="41694" y="39871"/>
                </a:lnTo>
                <a:lnTo>
                  <a:pt x="50939" y="27081"/>
                </a:lnTo>
                <a:lnTo>
                  <a:pt x="59870" y="25645"/>
                </a:lnTo>
                <a:lnTo>
                  <a:pt x="87236" y="25645"/>
                </a:lnTo>
                <a:lnTo>
                  <a:pt x="94584" y="15478"/>
                </a:lnTo>
                <a:lnTo>
                  <a:pt x="0" y="0"/>
                </a:lnTo>
                <a:close/>
              </a:path>
              <a:path w="842009" h="612775">
                <a:moveTo>
                  <a:pt x="59870" y="25645"/>
                </a:moveTo>
                <a:lnTo>
                  <a:pt x="50939" y="27081"/>
                </a:lnTo>
                <a:lnTo>
                  <a:pt x="41694" y="39871"/>
                </a:lnTo>
                <a:lnTo>
                  <a:pt x="43131" y="48803"/>
                </a:lnTo>
                <a:lnTo>
                  <a:pt x="61106" y="61795"/>
                </a:lnTo>
                <a:lnTo>
                  <a:pt x="77845" y="38637"/>
                </a:lnTo>
                <a:lnTo>
                  <a:pt x="59870" y="25645"/>
                </a:lnTo>
                <a:close/>
              </a:path>
              <a:path w="842009" h="612775">
                <a:moveTo>
                  <a:pt x="87236" y="25645"/>
                </a:moveTo>
                <a:lnTo>
                  <a:pt x="59870" y="25645"/>
                </a:lnTo>
                <a:lnTo>
                  <a:pt x="77845" y="38637"/>
                </a:lnTo>
                <a:lnTo>
                  <a:pt x="87236" y="25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27448" y="425490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51013" y="436500"/>
                </a:moveTo>
                <a:lnTo>
                  <a:pt x="0" y="517639"/>
                </a:lnTo>
                <a:lnTo>
                  <a:pt x="95519" y="509766"/>
                </a:lnTo>
                <a:lnTo>
                  <a:pt x="87678" y="496858"/>
                </a:lnTo>
                <a:lnTo>
                  <a:pt x="61729" y="496858"/>
                </a:lnTo>
                <a:lnTo>
                  <a:pt x="52941" y="494711"/>
                </a:lnTo>
                <a:lnTo>
                  <a:pt x="44748" y="481224"/>
                </a:lnTo>
                <a:lnTo>
                  <a:pt x="46893" y="472436"/>
                </a:lnTo>
                <a:lnTo>
                  <a:pt x="65848" y="460921"/>
                </a:lnTo>
                <a:lnTo>
                  <a:pt x="51013" y="436500"/>
                </a:lnTo>
                <a:close/>
              </a:path>
              <a:path w="842009" h="518160">
                <a:moveTo>
                  <a:pt x="65848" y="460921"/>
                </a:moveTo>
                <a:lnTo>
                  <a:pt x="46893" y="472436"/>
                </a:lnTo>
                <a:lnTo>
                  <a:pt x="44748" y="481224"/>
                </a:lnTo>
                <a:lnTo>
                  <a:pt x="52941" y="494711"/>
                </a:lnTo>
                <a:lnTo>
                  <a:pt x="61729" y="496858"/>
                </a:lnTo>
                <a:lnTo>
                  <a:pt x="80683" y="485344"/>
                </a:lnTo>
                <a:lnTo>
                  <a:pt x="65848" y="460921"/>
                </a:lnTo>
                <a:close/>
              </a:path>
              <a:path w="842009" h="518160">
                <a:moveTo>
                  <a:pt x="80683" y="485344"/>
                </a:moveTo>
                <a:lnTo>
                  <a:pt x="61729" y="496858"/>
                </a:lnTo>
                <a:lnTo>
                  <a:pt x="87678" y="496858"/>
                </a:lnTo>
                <a:lnTo>
                  <a:pt x="80683" y="485344"/>
                </a:lnTo>
                <a:close/>
              </a:path>
              <a:path w="842009" h="518160">
                <a:moveTo>
                  <a:pt x="824628" y="0"/>
                </a:moveTo>
                <a:lnTo>
                  <a:pt x="65848" y="460921"/>
                </a:lnTo>
                <a:lnTo>
                  <a:pt x="80683" y="485344"/>
                </a:lnTo>
                <a:lnTo>
                  <a:pt x="839464" y="24422"/>
                </a:lnTo>
                <a:lnTo>
                  <a:pt x="841609" y="15633"/>
                </a:lnTo>
                <a:lnTo>
                  <a:pt x="833417" y="2146"/>
                </a:lnTo>
                <a:lnTo>
                  <a:pt x="824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31939" y="4250546"/>
            <a:ext cx="595630" cy="522605"/>
          </a:xfrm>
          <a:custGeom>
            <a:avLst/>
            <a:gdLst/>
            <a:ahLst/>
            <a:cxnLst/>
            <a:rect l="l" t="t" r="r" b="b"/>
            <a:pathLst>
              <a:path w="595629" h="522604">
                <a:moveTo>
                  <a:pt x="521537" y="476376"/>
                </a:moveTo>
                <a:lnTo>
                  <a:pt x="502743" y="497900"/>
                </a:lnTo>
                <a:lnTo>
                  <a:pt x="595509" y="521997"/>
                </a:lnTo>
                <a:lnTo>
                  <a:pt x="582775" y="490964"/>
                </a:lnTo>
                <a:lnTo>
                  <a:pt x="538245" y="490964"/>
                </a:lnTo>
                <a:lnTo>
                  <a:pt x="521537" y="476376"/>
                </a:lnTo>
                <a:close/>
              </a:path>
              <a:path w="595629" h="522604">
                <a:moveTo>
                  <a:pt x="540332" y="454851"/>
                </a:moveTo>
                <a:lnTo>
                  <a:pt x="521537" y="476376"/>
                </a:lnTo>
                <a:lnTo>
                  <a:pt x="538245" y="490964"/>
                </a:lnTo>
                <a:lnTo>
                  <a:pt x="547269" y="490353"/>
                </a:lnTo>
                <a:lnTo>
                  <a:pt x="557649" y="478464"/>
                </a:lnTo>
                <a:lnTo>
                  <a:pt x="557038" y="469438"/>
                </a:lnTo>
                <a:lnTo>
                  <a:pt x="540332" y="454851"/>
                </a:lnTo>
                <a:close/>
              </a:path>
              <a:path w="595629" h="522604">
                <a:moveTo>
                  <a:pt x="559126" y="433327"/>
                </a:moveTo>
                <a:lnTo>
                  <a:pt x="540332" y="454851"/>
                </a:lnTo>
                <a:lnTo>
                  <a:pt x="557038" y="469438"/>
                </a:lnTo>
                <a:lnTo>
                  <a:pt x="557649" y="478464"/>
                </a:lnTo>
                <a:lnTo>
                  <a:pt x="547269" y="490353"/>
                </a:lnTo>
                <a:lnTo>
                  <a:pt x="538245" y="490964"/>
                </a:lnTo>
                <a:lnTo>
                  <a:pt x="582775" y="490964"/>
                </a:lnTo>
                <a:lnTo>
                  <a:pt x="559126" y="433327"/>
                </a:lnTo>
                <a:close/>
              </a:path>
              <a:path w="595629" h="522604">
                <a:moveTo>
                  <a:pt x="19405" y="0"/>
                </a:moveTo>
                <a:lnTo>
                  <a:pt x="10379" y="610"/>
                </a:lnTo>
                <a:lnTo>
                  <a:pt x="0" y="12499"/>
                </a:lnTo>
                <a:lnTo>
                  <a:pt x="610" y="21525"/>
                </a:lnTo>
                <a:lnTo>
                  <a:pt x="521537" y="476376"/>
                </a:lnTo>
                <a:lnTo>
                  <a:pt x="540332" y="454851"/>
                </a:lnTo>
                <a:lnTo>
                  <a:pt x="1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8603" y="3901737"/>
            <a:ext cx="1035141" cy="10474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55488" y="2746494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86360" rIns="0" bIns="0" rtlCol="0" vert="horz">
            <a:spAutoFit/>
          </a:bodyPr>
          <a:lstStyle/>
          <a:p>
            <a:pPr marL="250825" marR="291465" indent="40005">
              <a:lnSpc>
                <a:spcPct val="100000"/>
              </a:lnSpc>
              <a:spcBef>
                <a:spcPts val="680"/>
              </a:spcBef>
            </a:pPr>
            <a:r>
              <a:rPr dirty="0" sz="2000" b="1">
                <a:latin typeface="Calibri"/>
                <a:cs typeface="Calibri"/>
              </a:rPr>
              <a:t>Input  </a:t>
            </a:r>
            <a:r>
              <a:rPr dirty="0" sz="2000" spc="-10" b="1">
                <a:latin typeface="Calibri"/>
                <a:cs typeface="Calibri"/>
              </a:rPr>
              <a:t>Graph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10628" y="3887284"/>
            <a:ext cx="217170" cy="85725"/>
          </a:xfrm>
          <a:custGeom>
            <a:avLst/>
            <a:gdLst/>
            <a:ahLst/>
            <a:cxnLst/>
            <a:rect l="l" t="t" r="r" b="b"/>
            <a:pathLst>
              <a:path w="217169" h="85725">
                <a:moveTo>
                  <a:pt x="131443" y="57149"/>
                </a:moveTo>
                <a:lnTo>
                  <a:pt x="131443" y="85725"/>
                </a:lnTo>
                <a:lnTo>
                  <a:pt x="188593" y="57150"/>
                </a:lnTo>
                <a:lnTo>
                  <a:pt x="131443" y="57149"/>
                </a:lnTo>
                <a:close/>
              </a:path>
              <a:path w="217169" h="85725">
                <a:moveTo>
                  <a:pt x="131443" y="28574"/>
                </a:moveTo>
                <a:lnTo>
                  <a:pt x="131443" y="57149"/>
                </a:lnTo>
                <a:lnTo>
                  <a:pt x="153623" y="57148"/>
                </a:lnTo>
                <a:lnTo>
                  <a:pt x="160018" y="50753"/>
                </a:lnTo>
                <a:lnTo>
                  <a:pt x="160018" y="34970"/>
                </a:lnTo>
                <a:lnTo>
                  <a:pt x="153621" y="28575"/>
                </a:lnTo>
                <a:lnTo>
                  <a:pt x="131443" y="28574"/>
                </a:lnTo>
                <a:close/>
              </a:path>
              <a:path w="217169" h="85725">
                <a:moveTo>
                  <a:pt x="131443" y="0"/>
                </a:moveTo>
                <a:lnTo>
                  <a:pt x="131443" y="28574"/>
                </a:lnTo>
                <a:lnTo>
                  <a:pt x="145731" y="28575"/>
                </a:lnTo>
                <a:lnTo>
                  <a:pt x="153621" y="28575"/>
                </a:lnTo>
                <a:lnTo>
                  <a:pt x="160018" y="34970"/>
                </a:lnTo>
                <a:lnTo>
                  <a:pt x="160018" y="50753"/>
                </a:lnTo>
                <a:lnTo>
                  <a:pt x="153621" y="57150"/>
                </a:lnTo>
                <a:lnTo>
                  <a:pt x="188596" y="57148"/>
                </a:lnTo>
                <a:lnTo>
                  <a:pt x="217168" y="42862"/>
                </a:lnTo>
                <a:lnTo>
                  <a:pt x="131443" y="0"/>
                </a:lnTo>
                <a:close/>
              </a:path>
              <a:path w="217169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31443" y="57149"/>
                </a:lnTo>
                <a:lnTo>
                  <a:pt x="13144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7049506" y="1482852"/>
            <a:ext cx="1341755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C00000"/>
                </a:solidFill>
              </a:rPr>
              <a:t>Dataset</a:t>
            </a:r>
            <a:r>
              <a:rPr dirty="0" sz="2000" spc="-90">
                <a:solidFill>
                  <a:srgbClr val="C00000"/>
                </a:solidFill>
              </a:rPr>
              <a:t> </a:t>
            </a:r>
            <a:r>
              <a:rPr dirty="0" sz="2000" spc="-5">
                <a:solidFill>
                  <a:srgbClr val="C00000"/>
                </a:solidFill>
              </a:rPr>
              <a:t>split</a:t>
            </a:r>
            <a:endParaRPr sz="2000"/>
          </a:p>
        </p:txBody>
      </p:sp>
      <p:sp>
        <p:nvSpPr>
          <p:cNvPr id="35" name="object 35"/>
          <p:cNvSpPr txBox="1"/>
          <p:nvPr/>
        </p:nvSpPr>
        <p:spPr>
          <a:xfrm>
            <a:off x="288844" y="5519420"/>
            <a:ext cx="7404734" cy="1015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Calibri"/>
                <a:cs typeface="Calibri"/>
              </a:rPr>
              <a:t>Implementation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resources: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5" b="1" u="sng">
                <a:solidFill>
                  <a:srgbClr val="168BBA"/>
                </a:solidFill>
                <a:latin typeface="Calibri"/>
                <a:cs typeface="Calibri"/>
              </a:rPr>
              <a:t>DeepSNAP</a:t>
            </a:r>
            <a:r>
              <a:rPr dirty="0" sz="2000" spc="-5" b="1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provides </a:t>
            </a: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core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modules </a:t>
            </a: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this</a:t>
            </a:r>
            <a:r>
              <a:rPr dirty="0" sz="2000" spc="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pipeline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 u="sng">
                <a:solidFill>
                  <a:srgbClr val="168BBA"/>
                </a:solidFill>
                <a:latin typeface="Calibri"/>
                <a:cs typeface="Calibri"/>
              </a:rPr>
              <a:t>GraphGym</a:t>
            </a:r>
            <a:r>
              <a:rPr dirty="0" sz="2000" spc="-10" b="1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further implements the full pipeline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to facilitate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GNN</a:t>
            </a:r>
            <a:r>
              <a:rPr dirty="0" sz="2000" spc="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design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3415" y="1243868"/>
            <a:ext cx="1035141" cy="10474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97468" y="1202746"/>
            <a:ext cx="1035141" cy="10474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66385" y="1202746"/>
            <a:ext cx="1035141" cy="10474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340104" y="1201830"/>
            <a:ext cx="1035141" cy="10474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633086" y="1201830"/>
            <a:ext cx="1035141" cy="104741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194355" y="1172321"/>
            <a:ext cx="1229360" cy="1151255"/>
          </a:xfrm>
          <a:custGeom>
            <a:avLst/>
            <a:gdLst/>
            <a:ahLst/>
            <a:cxnLst/>
            <a:rect l="l" t="t" r="r" b="b"/>
            <a:pathLst>
              <a:path w="1229360" h="1151255">
                <a:moveTo>
                  <a:pt x="0" y="0"/>
                </a:moveTo>
                <a:lnTo>
                  <a:pt x="1229293" y="0"/>
                </a:lnTo>
                <a:lnTo>
                  <a:pt x="1229293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566247" y="1165491"/>
            <a:ext cx="1183640" cy="1151255"/>
          </a:xfrm>
          <a:custGeom>
            <a:avLst/>
            <a:gdLst/>
            <a:ahLst/>
            <a:cxnLst/>
            <a:rect l="l" t="t" r="r" b="b"/>
            <a:pathLst>
              <a:path w="1183640" h="1151255">
                <a:moveTo>
                  <a:pt x="0" y="0"/>
                </a:moveTo>
                <a:lnTo>
                  <a:pt x="1183584" y="0"/>
                </a:lnTo>
                <a:lnTo>
                  <a:pt x="1183584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48603" y="1165491"/>
            <a:ext cx="3837304" cy="1151255"/>
          </a:xfrm>
          <a:custGeom>
            <a:avLst/>
            <a:gdLst/>
            <a:ahLst/>
            <a:cxnLst/>
            <a:rect l="l" t="t" r="r" b="b"/>
            <a:pathLst>
              <a:path w="3837304" h="1151255">
                <a:moveTo>
                  <a:pt x="0" y="0"/>
                </a:moveTo>
                <a:lnTo>
                  <a:pt x="3836751" y="0"/>
                </a:lnTo>
                <a:lnTo>
                  <a:pt x="3836751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1"/>
              </a:rPr>
              <a:t>http://cs224w.stanford.edu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71</a:t>
            </a:fld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592226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9241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>
                <a:solidFill>
                  <a:srgbClr val="000000"/>
                </a:solidFill>
              </a:rPr>
              <a:t>We </a:t>
            </a:r>
            <a:r>
              <a:rPr dirty="0" spc="-10">
                <a:solidFill>
                  <a:srgbClr val="000000"/>
                </a:solidFill>
              </a:rPr>
              <a:t>introduce </a:t>
            </a:r>
            <a:r>
              <a:rPr dirty="0">
                <a:solidFill>
                  <a:srgbClr val="C00000"/>
                </a:solidFill>
              </a:rPr>
              <a:t>a </a:t>
            </a:r>
            <a:r>
              <a:rPr dirty="0" spc="-20">
                <a:solidFill>
                  <a:srgbClr val="C00000"/>
                </a:solidFill>
              </a:rPr>
              <a:t>general </a:t>
            </a:r>
            <a:r>
              <a:rPr dirty="0" spc="-10">
                <a:solidFill>
                  <a:srgbClr val="C00000"/>
                </a:solidFill>
              </a:rPr>
              <a:t>perspective </a:t>
            </a:r>
            <a:r>
              <a:rPr dirty="0" spc="-20">
                <a:solidFill>
                  <a:srgbClr val="C00000"/>
                </a:solidFill>
              </a:rPr>
              <a:t>for</a:t>
            </a:r>
            <a:r>
              <a:rPr dirty="0" spc="50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GNNs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71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56563" y="1783757"/>
            <a:ext cx="5713095" cy="473075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8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latin typeface="Calibri"/>
                <a:cs typeface="Calibri"/>
              </a:rPr>
              <a:t>GNN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Layer</a:t>
            </a:r>
            <a:r>
              <a:rPr dirty="0" sz="2800" spc="-1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2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25">
                <a:latin typeface="Calibri"/>
                <a:cs typeface="Calibri"/>
              </a:rPr>
              <a:t>Transformation </a:t>
            </a:r>
            <a:r>
              <a:rPr dirty="0" sz="2400">
                <a:latin typeface="Calibri"/>
                <a:cs typeface="Calibri"/>
              </a:rPr>
              <a:t>+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1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Classic GNN </a:t>
            </a:r>
            <a:r>
              <a:rPr dirty="0" sz="2400" spc="-20">
                <a:latin typeface="Calibri"/>
                <a:cs typeface="Calibri"/>
              </a:rPr>
              <a:t>layers: </a:t>
            </a:r>
            <a:r>
              <a:rPr dirty="0" sz="2400" spc="-5">
                <a:latin typeface="Calibri"/>
                <a:cs typeface="Calibri"/>
              </a:rPr>
              <a:t>GCN, </a:t>
            </a:r>
            <a:r>
              <a:rPr dirty="0" sz="2400" spc="-10">
                <a:latin typeface="Calibri"/>
                <a:cs typeface="Calibri"/>
              </a:rPr>
              <a:t>GraphSAGE,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65">
                <a:latin typeface="Calibri"/>
                <a:cs typeface="Calibri"/>
              </a:rPr>
              <a:t>GAT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2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 b="1">
                <a:latin typeface="Calibri"/>
                <a:cs typeface="Calibri"/>
              </a:rPr>
              <a:t>Layer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connectivity</a:t>
            </a:r>
            <a:r>
              <a:rPr dirty="0" sz="2800" spc="-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5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over-smoothing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1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Solution: skip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connections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latin typeface="Calibri"/>
                <a:cs typeface="Calibri"/>
              </a:rPr>
              <a:t>Graph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Augmentation: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5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Feature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21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Structure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Learning</a:t>
            </a:r>
            <a:r>
              <a:rPr dirty="0" sz="2800" spc="-2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Objectives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2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The full </a:t>
            </a:r>
            <a:r>
              <a:rPr dirty="0" sz="2400" spc="-10">
                <a:latin typeface="Calibri"/>
                <a:cs typeface="Calibri"/>
              </a:rPr>
              <a:t>training </a:t>
            </a:r>
            <a:r>
              <a:rPr dirty="0" sz="2400">
                <a:latin typeface="Calibri"/>
                <a:cs typeface="Calibri"/>
              </a:rPr>
              <a:t>pipeline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GNN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2026-10-20T23:50:44Z</dcterms:created>
  <dcterms:modified xsi:type="dcterms:W3CDTF">2026-10-20T23:50:44Z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2021-02-23T00:00:00Z</vt:filetime>
  </property>
  <property fmtid="{D5CDD505-2E9C-101B-9397-08002B2CF9AE}" pid="3" name="LastSaved">
    <vt:filetime>2026-10-20T00:00:00Z</vt:filetime>
  </property>
</Properties>
</file>