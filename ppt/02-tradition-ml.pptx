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0B5C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0B5C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0B5C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308" y="1212741"/>
            <a:ext cx="8873383" cy="2404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0B5CC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789683"/>
            <a:ext cx="7870825" cy="4786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7" y="6723724"/>
            <a:ext cx="36766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615" y="6723724"/>
            <a:ext cx="440309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/>
              <a:t>http://cs224w.stanford.edu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5410" y="6723724"/>
            <a:ext cx="16827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orbel"/>
                <a:cs typeface="Corbel"/>
              </a:defRPr>
            </a:lvl1pPr>
          </a:lstStyle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://cs224w.stanford.edu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hyperlink" Target="http://cs224w.stanford.edu/" TargetMode="Externa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hyperlink" Target="http://cs224w.stanford.edu/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://cs224w.stanford.edu/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://cs224w.stanford.edu/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hyperlink" Target="http://cs224w.stanford.edu/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9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hyperlink" Target="http://cs224w.stanford.edu/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3" Type="http://schemas.openxmlformats.org/officeDocument/2006/relationships/hyperlink" Target="http://cs224w.stanford.edu/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hyperlink" Target="http://cs224w.stanford.edu/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hyperlink" Target="http://cs224w.stanford.edu/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hyperlink" Target="http://cs224w.stanford.edu/" TargetMode="Externa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hyperlink" Target="http://cs224w.stanford.edu/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hyperlink" Target="http://cs224w.stanford.edu/" TargetMode="Externa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hyperlink" Target="http://cs224w.stanford.edu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hyperlink" Target="http://cs224w.stanford.edu/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http://cs224w.stanford.edu/" TargetMode="Externa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hyperlink" Target="http://cs224w.stanford.edu/" TargetMode="Externa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hyperlink" Target="http://cs224w.stanford.edu/" TargetMode="Externa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jpg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hyperlink" Target="http://cs224w.stanford.edu/" TargetMode="Externa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hyperlink" Target="http://cs224w.stanford.edu/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hyperlink" Target="http://cs224w.stanford.edu/" TargetMode="Externa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hyperlink" Target="http://cs224w.stanford.edu/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Relationship Id="rId5" Type="http://schemas.openxmlformats.org/officeDocument/2006/relationships/hyperlink" Target="http://cs224w.stanford.edu/" TargetMode="Externa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49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hyperlink" Target="http://cs224w.stanford.edu/" TargetMode="Externa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hyperlink" Target="http://cs224w.stanford.edu/" TargetMode="Externa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hyperlink" Target="http://cs224w.stanford.edu/" TargetMode="Externa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hyperlink" Target="http://cs224w.stanford.edu/" TargetMode="Externa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hyperlink" Target="http://cs224w.stanford.edu/" TargetMode="Externa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hyperlink" Target="http://cs224w.stanford.edu/" TargetMode="Externa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hyperlink" Target="http://cs224w.stanford.edu/" TargetMode="Externa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3" Type="http://schemas.openxmlformats.org/officeDocument/2006/relationships/hyperlink" Target="http://cs224w.stanford.edu/" TargetMode="Externa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hyperlink" Target="http://cs224w.stanford.edu/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92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3.png"/><Relationship Id="rId3" Type="http://schemas.openxmlformats.org/officeDocument/2006/relationships/hyperlink" Target="http://cs224w.stanford.edu/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hyperlink" Target="http://cs224w.stanford.edu/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hyperlink" Target="http://cs224w.stanford.edu/" TargetMode="Externa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hyperlink" Target="http://cs224w.stanford.edu/" TargetMode="Externa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7.png"/><Relationship Id="rId3" Type="http://schemas.openxmlformats.org/officeDocument/2006/relationships/hyperlink" Target="http://cs224w.stanford.edu/" TargetMode="Externa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hyperlink" Target="http://cs224w.stanford.edu/" TargetMode="Externa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hyperlink" Target="http://cs224w.stanford.edu/" TargetMode="Externa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hyperlink" Target="http://cs224w.stanford.edu/" TargetMode="Externa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hyperlink" Target="http://cs224w.stanford.edu/" TargetMode="Externa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hyperlink" Target="http://cs224w.stanford.edu/" TargetMode="Externa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hyperlink" Target="http://cs224w.stanford.edu/" TargetMode="Externa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hyperlink" Target="http://cs224w.stanford.edu/" TargetMode="Externa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hyperlink" Target="http://cs224w.stanford.edu/" TargetMode="Externa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hyperlink" Target="http://cs224w.stanford.edu/" TargetMode="Externa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1.png"/><Relationship Id="rId3" Type="http://schemas.openxmlformats.org/officeDocument/2006/relationships/hyperlink" Target="http://cs224w.stanford.edu/" TargetMode="Externa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2.png"/><Relationship Id="rId3" Type="http://schemas.openxmlformats.org/officeDocument/2006/relationships/hyperlink" Target="http://cs224w.stanford.edu/" TargetMode="Externa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3.png"/><Relationship Id="rId3" Type="http://schemas.openxmlformats.org/officeDocument/2006/relationships/hyperlink" Target="http://cs224w.stanford.edu/" TargetMode="Externa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hyperlink" Target="http://cs224w.stanford.edu/" TargetMode="Externa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5.png"/><Relationship Id="rId3" Type="http://schemas.openxmlformats.org/officeDocument/2006/relationships/hyperlink" Target="http://cs224w.stanford.edu/" TargetMode="Externa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6.png"/><Relationship Id="rId3" Type="http://schemas.openxmlformats.org/officeDocument/2006/relationships/hyperlink" Target="http://cs224w.stanford.edu/" TargetMode="Externa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hyperlink" Target="http://cs224w.stanford.edu/" TargetMode="Externa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3" Type="http://schemas.openxmlformats.org/officeDocument/2006/relationships/hyperlink" Target="http://cs224w.stanford.edu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0287" y="2788920"/>
            <a:ext cx="8159496" cy="22341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86384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91160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8000"/>
                </a:solidFill>
                <a:latin typeface="Calibri"/>
                <a:cs typeface="Calibri"/>
              </a:rPr>
              <a:t>Node-level</a:t>
            </a:r>
            <a:r>
              <a:rPr dirty="0" spc="-30" b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 b="0">
                <a:solidFill>
                  <a:srgbClr val="0000FF"/>
                </a:solidFill>
                <a:latin typeface="Calibri"/>
                <a:cs typeface="Calibri"/>
              </a:rPr>
              <a:t>Link-level</a:t>
            </a:r>
            <a:r>
              <a:rPr dirty="0" spc="-50" b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40335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solidFill>
                  <a:srgbClr val="CF5B1B"/>
                </a:solidFill>
                <a:latin typeface="Calibri"/>
                <a:cs typeface="Calibri"/>
              </a:rPr>
              <a:t>Graph-level</a:t>
            </a:r>
            <a:r>
              <a:rPr dirty="0" sz="3200" spc="-10">
                <a:solidFill>
                  <a:srgbClr val="CF5B1B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prediction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63987" y="2928765"/>
            <a:ext cx="6503662" cy="35712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76879" y="551027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2640" y="435203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7077" y="389178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5109" y="485495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4447" y="480009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1148" y="6016244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6508" y="418439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04762" y="5278628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17281" y="3447795"/>
            <a:ext cx="15316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dirty="0" sz="280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dirty="0" sz="2800" spc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dirty="0" sz="2800">
                <a:solidFill>
                  <a:srgbClr val="0000FF"/>
                </a:solidFill>
                <a:latin typeface="Arial"/>
                <a:cs typeface="Arial"/>
              </a:rPr>
              <a:t>k</a:t>
            </a:r>
            <a:r>
              <a:rPr dirty="0" sz="2800" spc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dirty="0" sz="280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dirty="0" sz="2800" spc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2800">
                <a:solidFill>
                  <a:srgbClr val="0000FF"/>
                </a:solidFill>
                <a:latin typeface="Arial"/>
                <a:cs typeface="Arial"/>
              </a:rPr>
              <a:t>v</a:t>
            </a:r>
            <a:r>
              <a:rPr dirty="0" sz="2800" spc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dirty="0" sz="2800">
                <a:solidFill>
                  <a:srgbClr val="0000FF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6597" y="3811523"/>
            <a:ext cx="273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00F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3540" y="3168396"/>
            <a:ext cx="20485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8000"/>
                </a:solidFill>
                <a:latin typeface="Arial"/>
                <a:cs typeface="Arial"/>
              </a:rPr>
              <a:t>?</a:t>
            </a:r>
            <a:r>
              <a:rPr dirty="0" sz="3200" spc="-420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Node-level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22540" y="3829811"/>
            <a:ext cx="273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CF5B1B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87796" y="3374644"/>
            <a:ext cx="18681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CF5B1B"/>
                </a:solidFill>
                <a:latin typeface="Arial"/>
                <a:cs typeface="Arial"/>
              </a:rPr>
              <a:t>Graph-level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56601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72540"/>
            <a:ext cx="6713855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Design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features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for</a:t>
            </a:r>
            <a:r>
              <a:rPr dirty="0" spc="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nodes/links/graphs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Obtain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features for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all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training</a:t>
            </a:r>
            <a:r>
              <a:rPr dirty="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</a:p>
        </p:txBody>
      </p:sp>
      <p:sp>
        <p:nvSpPr>
          <p:cNvPr id="4" name="object 4"/>
          <p:cNvSpPr/>
          <p:nvPr/>
        </p:nvSpPr>
        <p:spPr>
          <a:xfrm>
            <a:off x="1363987" y="2338627"/>
            <a:ext cx="6492775" cy="43857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76879" y="558647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5109" y="493115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4447" y="487629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21148" y="6092444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76508" y="426059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4762" y="5354828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7077" y="3340100"/>
            <a:ext cx="2068830" cy="927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2400" spc="-8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99960" y="3980179"/>
            <a:ext cx="2058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CF5B1B"/>
                </a:solidFill>
                <a:latin typeface="Arial"/>
                <a:cs typeface="Arial"/>
              </a:rPr>
              <a:t>Graph</a:t>
            </a:r>
            <a:r>
              <a:rPr dirty="0" sz="2400" spc="-60">
                <a:solidFill>
                  <a:srgbClr val="CF5B1B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CF5B1B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9751" y="3812540"/>
            <a:ext cx="1771650" cy="915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Arial"/>
                <a:cs typeface="Arial"/>
              </a:rPr>
              <a:t>Link</a:t>
            </a:r>
            <a:r>
              <a:rPr dirty="0" sz="2400" spc="-7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00FF"/>
                </a:solidFill>
                <a:latin typeface="Arial"/>
                <a:cs typeface="Arial"/>
              </a:rPr>
              <a:t>features</a:t>
            </a:r>
            <a:endParaRPr sz="2400">
              <a:latin typeface="Arial"/>
              <a:cs typeface="Arial"/>
            </a:endParaRPr>
          </a:p>
          <a:p>
            <a:pPr algn="ctr" marR="120014">
              <a:lnSpc>
                <a:spcPct val="100000"/>
              </a:lnSpc>
              <a:spcBef>
                <a:spcPts val="1964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1345" y="3108451"/>
            <a:ext cx="691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35">
                <a:latin typeface="Cambria Math"/>
                <a:cs typeface="Cambria Math"/>
              </a:rPr>
              <a:t> </a:t>
            </a:r>
            <a:r>
              <a:rPr dirty="0" sz="2400" spc="380">
                <a:latin typeface="Cambria Math"/>
                <a:cs typeface="Cambria Math"/>
              </a:rPr>
              <a:t>ℝ</a:t>
            </a:r>
            <a:r>
              <a:rPr dirty="0" baseline="26234" sz="2700" spc="569">
                <a:latin typeface="Cambria Math"/>
                <a:cs typeface="Cambria Math"/>
              </a:rPr>
              <a:t>!</a:t>
            </a:r>
            <a:endParaRPr baseline="26234" sz="27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90877" y="2599435"/>
            <a:ext cx="691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35">
                <a:latin typeface="Cambria Math"/>
                <a:cs typeface="Cambria Math"/>
              </a:rPr>
              <a:t> </a:t>
            </a:r>
            <a:r>
              <a:rPr dirty="0" sz="2400" spc="380">
                <a:latin typeface="Cambria Math"/>
                <a:cs typeface="Cambria Math"/>
              </a:rPr>
              <a:t>ℝ</a:t>
            </a:r>
            <a:r>
              <a:rPr dirty="0" baseline="27777" sz="2700" spc="569">
                <a:latin typeface="Cambria Math"/>
                <a:cs typeface="Cambria Math"/>
              </a:rPr>
              <a:t>!</a:t>
            </a:r>
            <a:endParaRPr baseline="27777" sz="27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69739" y="3215132"/>
            <a:ext cx="691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∈</a:t>
            </a:r>
            <a:r>
              <a:rPr dirty="0" sz="2400" spc="35">
                <a:latin typeface="Cambria Math"/>
                <a:cs typeface="Cambria Math"/>
              </a:rPr>
              <a:t> </a:t>
            </a:r>
            <a:r>
              <a:rPr dirty="0" sz="2400" spc="380">
                <a:latin typeface="Cambria Math"/>
                <a:cs typeface="Cambria Math"/>
              </a:rPr>
              <a:t>ℝ</a:t>
            </a:r>
            <a:r>
              <a:rPr dirty="0" baseline="27777" sz="2700" spc="569">
                <a:latin typeface="Cambria Math"/>
                <a:cs typeface="Cambria Math"/>
              </a:rPr>
              <a:t>!</a:t>
            </a:r>
            <a:endParaRPr baseline="27777" sz="27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56601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24000" y="3648986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0"/>
                </a:moveTo>
                <a:lnTo>
                  <a:pt x="152400" y="914400"/>
                </a:lnTo>
                <a:lnTo>
                  <a:pt x="0" y="914400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24000" y="3648986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0"/>
                </a:moveTo>
                <a:lnTo>
                  <a:pt x="152400" y="914400"/>
                </a:lnTo>
                <a:lnTo>
                  <a:pt x="0" y="914400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ln w="38100">
            <a:solidFill>
              <a:srgbClr val="D4D4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61916" y="3947928"/>
            <a:ext cx="584835" cy="316865"/>
          </a:xfrm>
          <a:custGeom>
            <a:avLst/>
            <a:gdLst/>
            <a:ahLst/>
            <a:cxnLst/>
            <a:rect l="l" t="t" r="r" b="b"/>
            <a:pathLst>
              <a:path w="584835" h="316864">
                <a:moveTo>
                  <a:pt x="426518" y="0"/>
                </a:moveTo>
                <a:lnTo>
                  <a:pt x="426518" y="134132"/>
                </a:lnTo>
                <a:lnTo>
                  <a:pt x="0" y="134132"/>
                </a:lnTo>
                <a:lnTo>
                  <a:pt x="0" y="182384"/>
                </a:lnTo>
                <a:lnTo>
                  <a:pt x="426518" y="182384"/>
                </a:lnTo>
                <a:lnTo>
                  <a:pt x="426518" y="316517"/>
                </a:lnTo>
                <a:lnTo>
                  <a:pt x="584775" y="158258"/>
                </a:lnTo>
                <a:lnTo>
                  <a:pt x="426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61916" y="3947928"/>
            <a:ext cx="584835" cy="316865"/>
          </a:xfrm>
          <a:custGeom>
            <a:avLst/>
            <a:gdLst/>
            <a:ahLst/>
            <a:cxnLst/>
            <a:rect l="l" t="t" r="r" b="b"/>
            <a:pathLst>
              <a:path w="584835" h="316864">
                <a:moveTo>
                  <a:pt x="0" y="134132"/>
                </a:moveTo>
                <a:lnTo>
                  <a:pt x="426518" y="134132"/>
                </a:lnTo>
                <a:lnTo>
                  <a:pt x="426518" y="0"/>
                </a:lnTo>
                <a:lnTo>
                  <a:pt x="584776" y="158258"/>
                </a:lnTo>
                <a:lnTo>
                  <a:pt x="426518" y="316517"/>
                </a:lnTo>
                <a:lnTo>
                  <a:pt x="426518" y="182384"/>
                </a:lnTo>
                <a:lnTo>
                  <a:pt x="0" y="182384"/>
                </a:lnTo>
                <a:lnTo>
                  <a:pt x="0" y="13413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108" y="1252365"/>
            <a:ext cx="3584575" cy="29940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0" b="1">
                <a:latin typeface="Calibri"/>
                <a:cs typeface="Calibri"/>
              </a:rPr>
              <a:t>Train </a:t>
            </a:r>
            <a:r>
              <a:rPr dirty="0" sz="3200" spc="-5" b="1">
                <a:latin typeface="Calibri"/>
                <a:cs typeface="Calibri"/>
              </a:rPr>
              <a:t>an </a:t>
            </a:r>
            <a:r>
              <a:rPr dirty="0" sz="3200" b="1">
                <a:latin typeface="Calibri"/>
                <a:cs typeface="Calibri"/>
              </a:rPr>
              <a:t>ML</a:t>
            </a:r>
            <a:r>
              <a:rPr dirty="0" sz="3200" spc="-4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model: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Random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forest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SVM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Neural </a:t>
            </a:r>
            <a:r>
              <a:rPr dirty="0" sz="2800" spc="-10">
                <a:latin typeface="Calibri"/>
                <a:cs typeface="Calibri"/>
              </a:rPr>
              <a:t>network,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2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Times New Roman"/>
              <a:cs typeface="Times New Roman"/>
            </a:endParaRPr>
          </a:p>
          <a:p>
            <a:pPr algn="ctr" marR="382905">
              <a:lnSpc>
                <a:spcPct val="100000"/>
              </a:lnSpc>
              <a:tabLst>
                <a:tab pos="1873250" algn="l"/>
              </a:tabLst>
            </a:pPr>
            <a:r>
              <a:rPr dirty="0" sz="2400">
                <a:latin typeface="Cambria Math"/>
                <a:cs typeface="Cambria Math"/>
              </a:rPr>
              <a:t>𝒙</a:t>
            </a:r>
            <a:r>
              <a:rPr dirty="0" baseline="-15432" sz="2700">
                <a:latin typeface="Cambria Math"/>
                <a:cs typeface="Cambria Math"/>
              </a:rPr>
              <a:t>𝟏	</a:t>
            </a:r>
            <a:r>
              <a:rPr dirty="0" sz="2400" spc="-105">
                <a:latin typeface="Cambria Math"/>
                <a:cs typeface="Cambria Math"/>
              </a:rPr>
              <a:t>𝑦</a:t>
            </a:r>
            <a:r>
              <a:rPr dirty="0" baseline="-15432" sz="2700" spc="-157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5638800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0"/>
                </a:moveTo>
                <a:lnTo>
                  <a:pt x="152400" y="914399"/>
                </a:lnTo>
                <a:lnTo>
                  <a:pt x="0" y="914399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24000" y="5638800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0"/>
                </a:moveTo>
                <a:lnTo>
                  <a:pt x="152400" y="914400"/>
                </a:lnTo>
                <a:lnTo>
                  <a:pt x="0" y="914400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ln w="38100">
            <a:solidFill>
              <a:srgbClr val="D4D4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61916" y="5937740"/>
            <a:ext cx="584835" cy="316865"/>
          </a:xfrm>
          <a:custGeom>
            <a:avLst/>
            <a:gdLst/>
            <a:ahLst/>
            <a:cxnLst/>
            <a:rect l="l" t="t" r="r" b="b"/>
            <a:pathLst>
              <a:path w="584835" h="316864">
                <a:moveTo>
                  <a:pt x="426518" y="0"/>
                </a:moveTo>
                <a:lnTo>
                  <a:pt x="426518" y="134132"/>
                </a:lnTo>
                <a:lnTo>
                  <a:pt x="0" y="134132"/>
                </a:lnTo>
                <a:lnTo>
                  <a:pt x="0" y="182384"/>
                </a:lnTo>
                <a:lnTo>
                  <a:pt x="426518" y="182384"/>
                </a:lnTo>
                <a:lnTo>
                  <a:pt x="426518" y="316517"/>
                </a:lnTo>
                <a:lnTo>
                  <a:pt x="584775" y="158258"/>
                </a:lnTo>
                <a:lnTo>
                  <a:pt x="426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61916" y="5937740"/>
            <a:ext cx="584835" cy="316865"/>
          </a:xfrm>
          <a:custGeom>
            <a:avLst/>
            <a:gdLst/>
            <a:ahLst/>
            <a:cxnLst/>
            <a:rect l="l" t="t" r="r" b="b"/>
            <a:pathLst>
              <a:path w="584835" h="316864">
                <a:moveTo>
                  <a:pt x="0" y="134132"/>
                </a:moveTo>
                <a:lnTo>
                  <a:pt x="426518" y="134132"/>
                </a:lnTo>
                <a:lnTo>
                  <a:pt x="426518" y="0"/>
                </a:lnTo>
                <a:lnTo>
                  <a:pt x="584776" y="158258"/>
                </a:lnTo>
                <a:lnTo>
                  <a:pt x="426518" y="316517"/>
                </a:lnTo>
                <a:lnTo>
                  <a:pt x="426518" y="182384"/>
                </a:lnTo>
                <a:lnTo>
                  <a:pt x="0" y="182384"/>
                </a:lnTo>
                <a:lnTo>
                  <a:pt x="0" y="13413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22528" y="5845555"/>
            <a:ext cx="375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𝒙</a:t>
            </a:r>
            <a:r>
              <a:rPr dirty="0" baseline="-15432" sz="2700">
                <a:latin typeface="Cambria Math"/>
                <a:cs typeface="Cambria Math"/>
              </a:rPr>
              <a:t>𝑵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96402" y="5845555"/>
            <a:ext cx="359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0">
                <a:latin typeface="Cambria Math"/>
                <a:cs typeface="Cambria Math"/>
              </a:rPr>
              <a:t>𝑦</a:t>
            </a:r>
            <a:r>
              <a:rPr dirty="0" baseline="-15432" sz="2700" spc="-367">
                <a:latin typeface="Cambria Math"/>
                <a:cs typeface="Cambria Math"/>
              </a:rPr>
              <a:t>%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4703445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704080" algn="l"/>
              </a:tabLst>
            </a:pPr>
            <a:r>
              <a:rPr dirty="0" spc="-5">
                <a:solidFill>
                  <a:srgbClr val="000000"/>
                </a:solidFill>
              </a:rPr>
              <a:t>Apply the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model:</a:t>
            </a:r>
          </a:p>
          <a:p>
            <a:pPr lvl="1" marL="4996180" marR="5080" indent="-274320">
              <a:lnSpc>
                <a:spcPct val="100200"/>
              </a:lnSpc>
              <a:spcBef>
                <a:spcPts val="650"/>
              </a:spcBef>
              <a:buClr>
                <a:srgbClr val="60B5CC"/>
              </a:buClr>
              <a:buFont typeface="Malgun Gothic"/>
              <a:buChar char="▪"/>
              <a:tabLst>
                <a:tab pos="4996815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new  node/link/graph, </a:t>
            </a:r>
            <a:r>
              <a:rPr dirty="0" sz="2800" spc="-15">
                <a:latin typeface="Calibri"/>
                <a:cs typeface="Calibri"/>
              </a:rPr>
              <a:t>obtain </a:t>
            </a:r>
            <a:r>
              <a:rPr dirty="0" sz="2800" spc="-5">
                <a:latin typeface="Calibri"/>
                <a:cs typeface="Calibri"/>
              </a:rPr>
              <a:t>its  </a:t>
            </a:r>
            <a:r>
              <a:rPr dirty="0" sz="2800" spc="-25">
                <a:latin typeface="Calibri"/>
                <a:cs typeface="Calibri"/>
              </a:rPr>
              <a:t>features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make </a:t>
            </a:r>
            <a:r>
              <a:rPr dirty="0" sz="2800">
                <a:latin typeface="Calibri"/>
                <a:cs typeface="Calibri"/>
              </a:rPr>
              <a:t>a 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31441" y="4817622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0" y="22859"/>
                </a:moveTo>
                <a:lnTo>
                  <a:pt x="1796" y="13961"/>
                </a:lnTo>
                <a:lnTo>
                  <a:pt x="6695" y="6695"/>
                </a:lnTo>
                <a:lnTo>
                  <a:pt x="13961" y="1796"/>
                </a:lnTo>
                <a:lnTo>
                  <a:pt x="22859" y="0"/>
                </a:lnTo>
                <a:lnTo>
                  <a:pt x="31757" y="1796"/>
                </a:lnTo>
                <a:lnTo>
                  <a:pt x="39023" y="6695"/>
                </a:lnTo>
                <a:lnTo>
                  <a:pt x="43922" y="13961"/>
                </a:lnTo>
                <a:lnTo>
                  <a:pt x="45719" y="22859"/>
                </a:lnTo>
                <a:lnTo>
                  <a:pt x="43922" y="31757"/>
                </a:lnTo>
                <a:lnTo>
                  <a:pt x="39023" y="39023"/>
                </a:lnTo>
                <a:lnTo>
                  <a:pt x="31757" y="43922"/>
                </a:lnTo>
                <a:lnTo>
                  <a:pt x="22859" y="45719"/>
                </a:lnTo>
                <a:lnTo>
                  <a:pt x="13961" y="43922"/>
                </a:lnTo>
                <a:lnTo>
                  <a:pt x="6695" y="39023"/>
                </a:lnTo>
                <a:lnTo>
                  <a:pt x="1796" y="31757"/>
                </a:lnTo>
                <a:lnTo>
                  <a:pt x="0" y="2285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31444" y="5088189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0" y="22859"/>
                </a:moveTo>
                <a:lnTo>
                  <a:pt x="1796" y="13961"/>
                </a:lnTo>
                <a:lnTo>
                  <a:pt x="6695" y="6695"/>
                </a:lnTo>
                <a:lnTo>
                  <a:pt x="13961" y="1796"/>
                </a:lnTo>
                <a:lnTo>
                  <a:pt x="22859" y="0"/>
                </a:lnTo>
                <a:lnTo>
                  <a:pt x="31757" y="1796"/>
                </a:lnTo>
                <a:lnTo>
                  <a:pt x="39023" y="6695"/>
                </a:lnTo>
                <a:lnTo>
                  <a:pt x="43922" y="13961"/>
                </a:lnTo>
                <a:lnTo>
                  <a:pt x="45719" y="22859"/>
                </a:lnTo>
                <a:lnTo>
                  <a:pt x="43922" y="31757"/>
                </a:lnTo>
                <a:lnTo>
                  <a:pt x="39023" y="39023"/>
                </a:lnTo>
                <a:lnTo>
                  <a:pt x="31757" y="43922"/>
                </a:lnTo>
                <a:lnTo>
                  <a:pt x="22859" y="45719"/>
                </a:lnTo>
                <a:lnTo>
                  <a:pt x="13961" y="43922"/>
                </a:lnTo>
                <a:lnTo>
                  <a:pt x="6695" y="39023"/>
                </a:lnTo>
                <a:lnTo>
                  <a:pt x="1796" y="31757"/>
                </a:lnTo>
                <a:lnTo>
                  <a:pt x="0" y="2285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331443" y="5364479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19" h="45720">
                <a:moveTo>
                  <a:pt x="0" y="22859"/>
                </a:moveTo>
                <a:lnTo>
                  <a:pt x="1796" y="13961"/>
                </a:lnTo>
                <a:lnTo>
                  <a:pt x="6695" y="6695"/>
                </a:lnTo>
                <a:lnTo>
                  <a:pt x="13961" y="1796"/>
                </a:lnTo>
                <a:lnTo>
                  <a:pt x="22859" y="0"/>
                </a:lnTo>
                <a:lnTo>
                  <a:pt x="31757" y="1796"/>
                </a:lnTo>
                <a:lnTo>
                  <a:pt x="39023" y="6695"/>
                </a:lnTo>
                <a:lnTo>
                  <a:pt x="43922" y="13961"/>
                </a:lnTo>
                <a:lnTo>
                  <a:pt x="45719" y="22859"/>
                </a:lnTo>
                <a:lnTo>
                  <a:pt x="43922" y="31757"/>
                </a:lnTo>
                <a:lnTo>
                  <a:pt x="39023" y="39023"/>
                </a:lnTo>
                <a:lnTo>
                  <a:pt x="31757" y="43922"/>
                </a:lnTo>
                <a:lnTo>
                  <a:pt x="22859" y="45719"/>
                </a:lnTo>
                <a:lnTo>
                  <a:pt x="13961" y="43922"/>
                </a:lnTo>
                <a:lnTo>
                  <a:pt x="6695" y="39023"/>
                </a:lnTo>
                <a:lnTo>
                  <a:pt x="1796" y="31757"/>
                </a:lnTo>
                <a:lnTo>
                  <a:pt x="0" y="22859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14059" y="3886200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0"/>
                </a:moveTo>
                <a:lnTo>
                  <a:pt x="152400" y="914400"/>
                </a:lnTo>
                <a:lnTo>
                  <a:pt x="0" y="914400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14059" y="3886200"/>
            <a:ext cx="152400" cy="914400"/>
          </a:xfrm>
          <a:custGeom>
            <a:avLst/>
            <a:gdLst/>
            <a:ahLst/>
            <a:cxnLst/>
            <a:rect l="l" t="t" r="r" b="b"/>
            <a:pathLst>
              <a:path w="152400" h="914400">
                <a:moveTo>
                  <a:pt x="152400" y="0"/>
                </a:moveTo>
                <a:lnTo>
                  <a:pt x="152400" y="914400"/>
                </a:lnTo>
                <a:lnTo>
                  <a:pt x="0" y="914400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ln w="38100">
            <a:solidFill>
              <a:srgbClr val="D4D4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51975" y="4185141"/>
            <a:ext cx="584835" cy="316865"/>
          </a:xfrm>
          <a:custGeom>
            <a:avLst/>
            <a:gdLst/>
            <a:ahLst/>
            <a:cxnLst/>
            <a:rect l="l" t="t" r="r" b="b"/>
            <a:pathLst>
              <a:path w="584834" h="316864">
                <a:moveTo>
                  <a:pt x="426518" y="0"/>
                </a:moveTo>
                <a:lnTo>
                  <a:pt x="426518" y="134132"/>
                </a:lnTo>
                <a:lnTo>
                  <a:pt x="0" y="134132"/>
                </a:lnTo>
                <a:lnTo>
                  <a:pt x="0" y="182384"/>
                </a:lnTo>
                <a:lnTo>
                  <a:pt x="426518" y="182384"/>
                </a:lnTo>
                <a:lnTo>
                  <a:pt x="426518" y="316517"/>
                </a:lnTo>
                <a:lnTo>
                  <a:pt x="584775" y="158258"/>
                </a:lnTo>
                <a:lnTo>
                  <a:pt x="4265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51975" y="4185141"/>
            <a:ext cx="584835" cy="316865"/>
          </a:xfrm>
          <a:custGeom>
            <a:avLst/>
            <a:gdLst/>
            <a:ahLst/>
            <a:cxnLst/>
            <a:rect l="l" t="t" r="r" b="b"/>
            <a:pathLst>
              <a:path w="584834" h="316864">
                <a:moveTo>
                  <a:pt x="0" y="134132"/>
                </a:moveTo>
                <a:lnTo>
                  <a:pt x="426518" y="134132"/>
                </a:lnTo>
                <a:lnTo>
                  <a:pt x="426518" y="0"/>
                </a:lnTo>
                <a:lnTo>
                  <a:pt x="584776" y="158258"/>
                </a:lnTo>
                <a:lnTo>
                  <a:pt x="426518" y="316517"/>
                </a:lnTo>
                <a:lnTo>
                  <a:pt x="426518" y="182384"/>
                </a:lnTo>
                <a:lnTo>
                  <a:pt x="0" y="182384"/>
                </a:lnTo>
                <a:lnTo>
                  <a:pt x="0" y="134132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211762" y="4092955"/>
            <a:ext cx="20694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85314" algn="l"/>
              </a:tabLst>
            </a:pPr>
            <a:r>
              <a:rPr dirty="0" sz="2400">
                <a:latin typeface="Cambria Math"/>
                <a:cs typeface="Cambria Math"/>
              </a:rPr>
              <a:t>𝒙	𝑦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007352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8058784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Using </a:t>
            </a:r>
            <a:r>
              <a:rPr dirty="0" spc="-15">
                <a:solidFill>
                  <a:srgbClr val="000000"/>
                </a:solidFill>
              </a:rPr>
              <a:t>effective </a:t>
            </a:r>
            <a:r>
              <a:rPr dirty="0" spc="-20">
                <a:solidFill>
                  <a:srgbClr val="000000"/>
                </a:solidFill>
              </a:rPr>
              <a:t>features </a:t>
            </a:r>
            <a:r>
              <a:rPr dirty="0" spc="-10">
                <a:solidFill>
                  <a:srgbClr val="000000"/>
                </a:solidFill>
              </a:rPr>
              <a:t>over </a:t>
            </a:r>
            <a:r>
              <a:rPr dirty="0" spc="-20">
                <a:solidFill>
                  <a:srgbClr val="000000"/>
                </a:solidFill>
              </a:rPr>
              <a:t>graphs </a:t>
            </a:r>
            <a:r>
              <a:rPr dirty="0">
                <a:solidFill>
                  <a:srgbClr val="000000"/>
                </a:solidFill>
              </a:rPr>
              <a:t>is </a:t>
            </a:r>
            <a:r>
              <a:rPr dirty="0" spc="-5">
                <a:solidFill>
                  <a:srgbClr val="000000"/>
                </a:solidFill>
              </a:rPr>
              <a:t>the </a:t>
            </a:r>
            <a:r>
              <a:rPr dirty="0" spc="-40">
                <a:solidFill>
                  <a:srgbClr val="000000"/>
                </a:solidFill>
              </a:rPr>
              <a:t>key  </a:t>
            </a:r>
            <a:r>
              <a:rPr dirty="0" spc="-15">
                <a:solidFill>
                  <a:srgbClr val="000000"/>
                </a:solidFill>
              </a:rPr>
              <a:t>to </a:t>
            </a:r>
            <a:r>
              <a:rPr dirty="0" spc="-5">
                <a:solidFill>
                  <a:srgbClr val="000000"/>
                </a:solidFill>
              </a:rPr>
              <a:t>achieving </a:t>
            </a:r>
            <a:r>
              <a:rPr dirty="0" spc="-10">
                <a:solidFill>
                  <a:srgbClr val="000000"/>
                </a:solidFill>
              </a:rPr>
              <a:t>good </a:t>
            </a:r>
            <a:r>
              <a:rPr dirty="0" spc="-20">
                <a:solidFill>
                  <a:srgbClr val="000000"/>
                </a:solidFill>
              </a:rPr>
              <a:t>test</a:t>
            </a:r>
            <a:r>
              <a:rPr dirty="0" spc="-3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performance.</a:t>
            </a:r>
          </a:p>
          <a:p>
            <a:pPr marL="332740" marR="56134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Traditional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ML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pipeline uses </a:t>
            </a:r>
            <a:r>
              <a:rPr dirty="0" spc="-5" b="0">
                <a:solidFill>
                  <a:srgbClr val="008000"/>
                </a:solidFill>
                <a:latin typeface="Calibri"/>
                <a:cs typeface="Calibri"/>
              </a:rPr>
              <a:t>hand-designed  </a:t>
            </a:r>
            <a:r>
              <a:rPr dirty="0" spc="-25" b="0">
                <a:solidFill>
                  <a:srgbClr val="008000"/>
                </a:solidFill>
                <a:latin typeface="Calibri"/>
                <a:cs typeface="Calibri"/>
              </a:rPr>
              <a:t>features.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305555"/>
            <a:ext cx="7868920" cy="301244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34861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In this </a:t>
            </a:r>
            <a:r>
              <a:rPr dirty="0" sz="3200" spc="-10" b="1">
                <a:latin typeface="Calibri"/>
                <a:cs typeface="Calibri"/>
              </a:rPr>
              <a:t>lecture, </a:t>
            </a:r>
            <a:r>
              <a:rPr dirty="0" sz="3200" spc="-15" b="1">
                <a:latin typeface="Calibri"/>
                <a:cs typeface="Calibri"/>
              </a:rPr>
              <a:t>we </a:t>
            </a:r>
            <a:r>
              <a:rPr dirty="0" sz="3200" spc="-5" b="1">
                <a:latin typeface="Calibri"/>
                <a:cs typeface="Calibri"/>
              </a:rPr>
              <a:t>overview the </a:t>
            </a:r>
            <a:r>
              <a:rPr dirty="0" sz="3200" spc="-10" b="1">
                <a:latin typeface="Calibri"/>
                <a:cs typeface="Calibri"/>
              </a:rPr>
              <a:t>traditional  </a:t>
            </a:r>
            <a:r>
              <a:rPr dirty="0" sz="3200" spc="-20" b="1">
                <a:latin typeface="Calibri"/>
                <a:cs typeface="Calibri"/>
              </a:rPr>
              <a:t>features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for: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5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Node-level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Link-level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Graph-level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prediction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25">
                <a:latin typeface="Calibri"/>
                <a:cs typeface="Calibri"/>
              </a:rPr>
              <a:t>simplicity, </a:t>
            </a:r>
            <a:r>
              <a:rPr dirty="0" sz="3200" spc="-15">
                <a:latin typeface="Calibri"/>
                <a:cs typeface="Calibri"/>
              </a:rPr>
              <a:t>we </a:t>
            </a:r>
            <a:r>
              <a:rPr dirty="0" sz="3200" spc="-20">
                <a:latin typeface="Calibri"/>
                <a:cs typeface="Calibri"/>
              </a:rPr>
              <a:t>focus </a:t>
            </a:r>
            <a:r>
              <a:rPr dirty="0" sz="3200" spc="-5">
                <a:latin typeface="Calibri"/>
                <a:cs typeface="Calibri"/>
              </a:rPr>
              <a:t>on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undirected</a:t>
            </a:r>
            <a:r>
              <a:rPr dirty="0" sz="3200" spc="8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66559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830324"/>
            <a:ext cx="70180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solidFill>
                  <a:srgbClr val="C00000"/>
                </a:solidFill>
              </a:rPr>
              <a:t>Goal: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Make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predictions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set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pc="8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objects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9363" y="2808732"/>
            <a:ext cx="7699375" cy="2981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Design</a:t>
            </a:r>
            <a:r>
              <a:rPr dirty="0" sz="32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choices:</a:t>
            </a:r>
            <a:endParaRPr sz="3200">
              <a:latin typeface="Calibri"/>
              <a:cs typeface="Calibri"/>
            </a:endParaRPr>
          </a:p>
          <a:p>
            <a:pPr marL="451484" indent="-320040">
              <a:lnSpc>
                <a:spcPts val="3815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15" b="1">
                <a:latin typeface="Calibri"/>
                <a:cs typeface="Calibri"/>
              </a:rPr>
              <a:t>Features: </a:t>
            </a:r>
            <a:r>
              <a:rPr dirty="0" sz="3200" spc="-5" i="1">
                <a:latin typeface="Calibri"/>
                <a:cs typeface="Calibri"/>
              </a:rPr>
              <a:t>d</a:t>
            </a:r>
            <a:r>
              <a:rPr dirty="0" sz="3200" spc="-5">
                <a:latin typeface="Calibri"/>
                <a:cs typeface="Calibri"/>
              </a:rPr>
              <a:t>-dimensional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vectors</a:t>
            </a:r>
            <a:endParaRPr sz="3200">
              <a:latin typeface="Calibri"/>
              <a:cs typeface="Calibri"/>
            </a:endParaRPr>
          </a:p>
          <a:p>
            <a:pPr marL="451484" marR="5080" indent="-320040">
              <a:lnSpc>
                <a:spcPts val="3790"/>
              </a:lnSpc>
              <a:spcBef>
                <a:spcPts val="1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5" b="1">
                <a:latin typeface="Calibri"/>
                <a:cs typeface="Calibri"/>
              </a:rPr>
              <a:t>Objects: </a:t>
            </a:r>
            <a:r>
              <a:rPr dirty="0" sz="3200" spc="-5">
                <a:latin typeface="Calibri"/>
                <a:cs typeface="Calibri"/>
              </a:rPr>
              <a:t>Nodes, </a:t>
            </a:r>
            <a:r>
              <a:rPr dirty="0" sz="3200" spc="-10">
                <a:latin typeface="Calibri"/>
                <a:cs typeface="Calibri"/>
              </a:rPr>
              <a:t>edges, sets </a:t>
            </a:r>
            <a:r>
              <a:rPr dirty="0" sz="3200" spc="-5">
                <a:latin typeface="Calibri"/>
                <a:cs typeface="Calibri"/>
              </a:rPr>
              <a:t>of nodes, </a:t>
            </a:r>
            <a:r>
              <a:rPr dirty="0" sz="3200" spc="-15">
                <a:latin typeface="Calibri"/>
                <a:cs typeface="Calibri"/>
              </a:rPr>
              <a:t>entire  graphs</a:t>
            </a:r>
            <a:endParaRPr sz="3200">
              <a:latin typeface="Calibri"/>
              <a:cs typeface="Calibri"/>
            </a:endParaRPr>
          </a:p>
          <a:p>
            <a:pPr marL="451484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451484" algn="l"/>
              </a:tabLst>
            </a:pPr>
            <a:r>
              <a:rPr dirty="0" sz="3200" spc="-10" b="1">
                <a:latin typeface="Calibri"/>
                <a:cs typeface="Calibri"/>
              </a:rPr>
              <a:t>Objective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function:</a:t>
            </a:r>
            <a:endParaRPr sz="3200">
              <a:latin typeface="Calibri"/>
              <a:cs typeface="Calibri"/>
            </a:endParaRPr>
          </a:p>
          <a:p>
            <a:pPr lvl="1" marL="744220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744220" algn="l"/>
              </a:tabLst>
            </a:pPr>
            <a:r>
              <a:rPr dirty="0" sz="2800" spc="-10">
                <a:latin typeface="Calibri"/>
                <a:cs typeface="Calibri"/>
              </a:rPr>
              <a:t>What </a:t>
            </a:r>
            <a:r>
              <a:rPr dirty="0" sz="2800" spc="-15">
                <a:latin typeface="Calibri"/>
                <a:cs typeface="Calibri"/>
              </a:rPr>
              <a:t>task are we </a:t>
            </a:r>
            <a:r>
              <a:rPr dirty="0" sz="2800" spc="-5">
                <a:latin typeface="Calibri"/>
                <a:cs typeface="Calibri"/>
              </a:rPr>
              <a:t>aiming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10">
                <a:latin typeface="Calibri"/>
                <a:cs typeface="Calibri"/>
              </a:rPr>
              <a:t> solve?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766559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46977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solidFill>
                  <a:srgbClr val="000000"/>
                </a:solidFill>
              </a:rPr>
              <a:t>Machine learning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spc="-15">
                <a:solidFill>
                  <a:srgbClr val="000000"/>
                </a:solidFill>
              </a:rPr>
              <a:t>graphs: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7348220" cy="3104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Given: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0AD00"/>
              </a:buClr>
              <a:buFont typeface="Arial"/>
              <a:buChar char="▪"/>
            </a:pPr>
            <a:endParaRPr sz="33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Learn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function: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900">
              <a:latin typeface="Times New Roman"/>
              <a:cs typeface="Times New Roman"/>
            </a:endParaRPr>
          </a:p>
          <a:p>
            <a:pPr marL="538480">
              <a:lnSpc>
                <a:spcPct val="100000"/>
              </a:lnSpc>
              <a:spcBef>
                <a:spcPts val="3050"/>
              </a:spcBef>
            </a:pPr>
            <a:r>
              <a:rPr dirty="0" sz="4300" spc="-20">
                <a:solidFill>
                  <a:srgbClr val="C00000"/>
                </a:solidFill>
                <a:latin typeface="Calibri"/>
                <a:cs typeface="Calibri"/>
              </a:rPr>
              <a:t>How </a:t>
            </a:r>
            <a:r>
              <a:rPr dirty="0" sz="4300" spc="-15">
                <a:solidFill>
                  <a:srgbClr val="C00000"/>
                </a:solidFill>
                <a:latin typeface="Calibri"/>
                <a:cs typeface="Calibri"/>
              </a:rPr>
              <a:t>do </a:t>
            </a:r>
            <a:r>
              <a:rPr dirty="0" sz="4300" spc="-35">
                <a:solidFill>
                  <a:srgbClr val="C00000"/>
                </a:solidFill>
                <a:latin typeface="Calibri"/>
                <a:cs typeface="Calibri"/>
              </a:rPr>
              <a:t>we </a:t>
            </a:r>
            <a:r>
              <a:rPr dirty="0" sz="4300" spc="-10">
                <a:solidFill>
                  <a:srgbClr val="C00000"/>
                </a:solidFill>
                <a:latin typeface="Calibri"/>
                <a:cs typeface="Calibri"/>
              </a:rPr>
              <a:t>learn </a:t>
            </a:r>
            <a:r>
              <a:rPr dirty="0" sz="4300" spc="-15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4300" spc="-13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4300" spc="-20">
                <a:solidFill>
                  <a:srgbClr val="C00000"/>
                </a:solidFill>
                <a:latin typeface="Calibri"/>
                <a:cs typeface="Calibri"/>
              </a:rPr>
              <a:t>function?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60448" y="2356104"/>
            <a:ext cx="2755392" cy="612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19144" y="3233927"/>
            <a:ext cx="2703576" cy="6918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0972" y="6723724"/>
            <a:ext cx="1117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2788920"/>
            <a:ext cx="6132576" cy="20787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0751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87748" y="2055094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31131" y="26452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39961" y="354377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3418758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46100" y="218924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59062" y="26452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22823" y="323421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1861" y="2373788"/>
            <a:ext cx="573405" cy="325755"/>
          </a:xfrm>
          <a:custGeom>
            <a:avLst/>
            <a:gdLst/>
            <a:ahLst/>
            <a:cxnLst/>
            <a:rect l="l" t="t" r="r" b="b"/>
            <a:pathLst>
              <a:path w="573405" h="325755">
                <a:moveTo>
                  <a:pt x="0" y="0"/>
                </a:moveTo>
                <a:lnTo>
                  <a:pt x="572835" y="325513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28982" y="2558332"/>
            <a:ext cx="342900" cy="860425"/>
          </a:xfrm>
          <a:custGeom>
            <a:avLst/>
            <a:gdLst/>
            <a:ahLst/>
            <a:cxnLst/>
            <a:rect l="l" t="t" r="r" b="b"/>
            <a:pathLst>
              <a:path w="342900" h="860425">
                <a:moveTo>
                  <a:pt x="0" y="0"/>
                </a:moveTo>
                <a:lnTo>
                  <a:pt x="342900" y="86042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54762" y="3603304"/>
            <a:ext cx="985519" cy="125095"/>
          </a:xfrm>
          <a:custGeom>
            <a:avLst/>
            <a:gdLst/>
            <a:ahLst/>
            <a:cxnLst/>
            <a:rect l="l" t="t" r="r" b="b"/>
            <a:pathLst>
              <a:path w="985519" h="125095">
                <a:moveTo>
                  <a:pt x="0" y="0"/>
                </a:moveTo>
                <a:lnTo>
                  <a:pt x="985201" y="125016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05723" y="3549254"/>
            <a:ext cx="671195" cy="179070"/>
          </a:xfrm>
          <a:custGeom>
            <a:avLst/>
            <a:gdLst/>
            <a:ahLst/>
            <a:cxnLst/>
            <a:rect l="l" t="t" r="r" b="b"/>
            <a:pathLst>
              <a:path w="671195" h="179070">
                <a:moveTo>
                  <a:pt x="0" y="179068"/>
                </a:moveTo>
                <a:lnTo>
                  <a:pt x="670665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01197" y="2960292"/>
            <a:ext cx="283845" cy="513080"/>
          </a:xfrm>
          <a:custGeom>
            <a:avLst/>
            <a:gdLst/>
            <a:ahLst/>
            <a:cxnLst/>
            <a:rect l="l" t="t" r="r" b="b"/>
            <a:pathLst>
              <a:path w="283844" h="513079">
                <a:moveTo>
                  <a:pt x="283499" y="0"/>
                </a:moveTo>
                <a:lnTo>
                  <a:pt x="0" y="512519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70628" y="2424190"/>
            <a:ext cx="252729" cy="1120140"/>
          </a:xfrm>
          <a:custGeom>
            <a:avLst/>
            <a:gdLst/>
            <a:ahLst/>
            <a:cxnLst/>
            <a:rect l="l" t="t" r="r" b="b"/>
            <a:pathLst>
              <a:path w="252730" h="1120139">
                <a:moveTo>
                  <a:pt x="252213" y="1119585"/>
                </a:moveTo>
                <a:lnTo>
                  <a:pt x="0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99944" y="2370137"/>
            <a:ext cx="412750" cy="329565"/>
          </a:xfrm>
          <a:custGeom>
            <a:avLst/>
            <a:gdLst/>
            <a:ahLst/>
            <a:cxnLst/>
            <a:rect l="l" t="t" r="r" b="b"/>
            <a:pathLst>
              <a:path w="412750" h="329564">
                <a:moveTo>
                  <a:pt x="0" y="0"/>
                </a:moveTo>
                <a:lnTo>
                  <a:pt x="412683" y="32916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6400" y="41645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9281" y="3733801"/>
            <a:ext cx="353695" cy="431165"/>
          </a:xfrm>
          <a:custGeom>
            <a:avLst/>
            <a:gdLst/>
            <a:ahLst/>
            <a:cxnLst/>
            <a:rect l="l" t="t" r="r" b="b"/>
            <a:pathLst>
              <a:path w="353694" h="431164">
                <a:moveTo>
                  <a:pt x="353284" y="0"/>
                </a:moveTo>
                <a:lnTo>
                  <a:pt x="0" y="43076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31131" y="417694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80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80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8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01197" y="3733800"/>
            <a:ext cx="401955" cy="443230"/>
          </a:xfrm>
          <a:custGeom>
            <a:avLst/>
            <a:gdLst/>
            <a:ahLst/>
            <a:cxnLst/>
            <a:rect l="l" t="t" r="r" b="b"/>
            <a:pathLst>
              <a:path w="401955" h="443229">
                <a:moveTo>
                  <a:pt x="0" y="0"/>
                </a:moveTo>
                <a:lnTo>
                  <a:pt x="401387" y="44314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92944" y="209319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36326" y="26833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545157" y="3581877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194195" y="3456861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51295" y="2227342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69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64257" y="2683349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69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94196" y="2411887"/>
            <a:ext cx="592455" cy="325755"/>
          </a:xfrm>
          <a:custGeom>
            <a:avLst/>
            <a:gdLst/>
            <a:ahLst/>
            <a:cxnLst/>
            <a:rect l="l" t="t" r="r" b="b"/>
            <a:pathLst>
              <a:path w="592454" h="325755">
                <a:moveTo>
                  <a:pt x="0" y="0"/>
                </a:moveTo>
                <a:lnTo>
                  <a:pt x="592347" y="325515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022746" y="2596434"/>
            <a:ext cx="342900" cy="860425"/>
          </a:xfrm>
          <a:custGeom>
            <a:avLst/>
            <a:gdLst/>
            <a:ahLst/>
            <a:cxnLst/>
            <a:rect l="l" t="t" r="r" b="b"/>
            <a:pathLst>
              <a:path w="342900" h="860425">
                <a:moveTo>
                  <a:pt x="0" y="0"/>
                </a:moveTo>
                <a:lnTo>
                  <a:pt x="342900" y="86042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537097" y="3641404"/>
            <a:ext cx="1008380" cy="125095"/>
          </a:xfrm>
          <a:custGeom>
            <a:avLst/>
            <a:gdLst/>
            <a:ahLst/>
            <a:cxnLst/>
            <a:rect l="l" t="t" r="r" b="b"/>
            <a:pathLst>
              <a:path w="1008379" h="125095">
                <a:moveTo>
                  <a:pt x="0" y="0"/>
                </a:moveTo>
                <a:lnTo>
                  <a:pt x="1008063" y="125016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88060" y="3587353"/>
            <a:ext cx="690245" cy="179070"/>
          </a:xfrm>
          <a:custGeom>
            <a:avLst/>
            <a:gdLst/>
            <a:ahLst/>
            <a:cxnLst/>
            <a:rect l="l" t="t" r="r" b="b"/>
            <a:pathLst>
              <a:path w="690245" h="179070">
                <a:moveTo>
                  <a:pt x="0" y="179069"/>
                </a:moveTo>
                <a:lnTo>
                  <a:pt x="690179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486883" y="2998392"/>
            <a:ext cx="299720" cy="513080"/>
          </a:xfrm>
          <a:custGeom>
            <a:avLst/>
            <a:gdLst/>
            <a:ahLst/>
            <a:cxnLst/>
            <a:rect l="l" t="t" r="r" b="b"/>
            <a:pathLst>
              <a:path w="299720" h="513079">
                <a:moveTo>
                  <a:pt x="299663" y="0"/>
                </a:moveTo>
                <a:lnTo>
                  <a:pt x="0" y="512521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11595" y="420266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60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60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83049" y="3771902"/>
            <a:ext cx="361950" cy="431165"/>
          </a:xfrm>
          <a:custGeom>
            <a:avLst/>
            <a:gdLst/>
            <a:ahLst/>
            <a:cxnLst/>
            <a:rect l="l" t="t" r="r" b="b"/>
            <a:pathLst>
              <a:path w="361950" h="431164">
                <a:moveTo>
                  <a:pt x="361367" y="0"/>
                </a:moveTo>
                <a:lnTo>
                  <a:pt x="0" y="43076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736326" y="4215046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6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9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9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6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486883" y="3771901"/>
            <a:ext cx="421005" cy="443230"/>
          </a:xfrm>
          <a:custGeom>
            <a:avLst/>
            <a:gdLst/>
            <a:ahLst/>
            <a:cxnLst/>
            <a:rect l="l" t="t" r="r" b="b"/>
            <a:pathLst>
              <a:path w="421004" h="443229">
                <a:moveTo>
                  <a:pt x="0" y="0"/>
                </a:moveTo>
                <a:lnTo>
                  <a:pt x="420897" y="44314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65447" y="3142488"/>
            <a:ext cx="1773936" cy="3108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06470" y="3215162"/>
            <a:ext cx="1578610" cy="114300"/>
          </a:xfrm>
          <a:custGeom>
            <a:avLst/>
            <a:gdLst/>
            <a:ahLst/>
            <a:cxnLst/>
            <a:rect l="l" t="t" r="r" b="b"/>
            <a:pathLst>
              <a:path w="1578610" h="114300">
                <a:moveTo>
                  <a:pt x="1463831" y="76199"/>
                </a:moveTo>
                <a:lnTo>
                  <a:pt x="1463831" y="114300"/>
                </a:lnTo>
                <a:lnTo>
                  <a:pt x="1540031" y="76200"/>
                </a:lnTo>
                <a:lnTo>
                  <a:pt x="1463831" y="76199"/>
                </a:lnTo>
                <a:close/>
              </a:path>
              <a:path w="1578610" h="114300">
                <a:moveTo>
                  <a:pt x="1463831" y="68579"/>
                </a:moveTo>
                <a:lnTo>
                  <a:pt x="1463831" y="76199"/>
                </a:lnTo>
                <a:lnTo>
                  <a:pt x="1482883" y="76200"/>
                </a:lnTo>
                <a:lnTo>
                  <a:pt x="1482883" y="68580"/>
                </a:lnTo>
                <a:lnTo>
                  <a:pt x="1463831" y="68579"/>
                </a:lnTo>
                <a:close/>
              </a:path>
              <a:path w="1578610" h="114300">
                <a:moveTo>
                  <a:pt x="1463831" y="60959"/>
                </a:moveTo>
                <a:lnTo>
                  <a:pt x="1463831" y="68579"/>
                </a:lnTo>
                <a:lnTo>
                  <a:pt x="1482883" y="68580"/>
                </a:lnTo>
                <a:lnTo>
                  <a:pt x="1482883" y="76200"/>
                </a:lnTo>
                <a:lnTo>
                  <a:pt x="1540033" y="76198"/>
                </a:lnTo>
                <a:lnTo>
                  <a:pt x="1570511" y="60960"/>
                </a:lnTo>
                <a:lnTo>
                  <a:pt x="1463831" y="60959"/>
                </a:lnTo>
                <a:close/>
              </a:path>
              <a:path w="1578610" h="114300">
                <a:moveTo>
                  <a:pt x="0" y="68578"/>
                </a:moveTo>
                <a:lnTo>
                  <a:pt x="0" y="76198"/>
                </a:lnTo>
                <a:lnTo>
                  <a:pt x="1463831" y="76199"/>
                </a:lnTo>
                <a:lnTo>
                  <a:pt x="1463831" y="68579"/>
                </a:lnTo>
                <a:lnTo>
                  <a:pt x="0" y="68578"/>
                </a:lnTo>
                <a:close/>
              </a:path>
              <a:path w="1578610" h="114300">
                <a:moveTo>
                  <a:pt x="1463831" y="38099"/>
                </a:moveTo>
                <a:lnTo>
                  <a:pt x="1463831" y="60959"/>
                </a:lnTo>
                <a:lnTo>
                  <a:pt x="1482883" y="60960"/>
                </a:lnTo>
                <a:lnTo>
                  <a:pt x="1482883" y="38100"/>
                </a:lnTo>
                <a:lnTo>
                  <a:pt x="1463831" y="38099"/>
                </a:lnTo>
                <a:close/>
              </a:path>
              <a:path w="1578610" h="114300">
                <a:moveTo>
                  <a:pt x="1463831" y="0"/>
                </a:moveTo>
                <a:lnTo>
                  <a:pt x="1463831" y="38099"/>
                </a:lnTo>
                <a:lnTo>
                  <a:pt x="1482883" y="38100"/>
                </a:lnTo>
                <a:lnTo>
                  <a:pt x="1482883" y="60960"/>
                </a:lnTo>
                <a:lnTo>
                  <a:pt x="1570513" y="60958"/>
                </a:lnTo>
                <a:lnTo>
                  <a:pt x="1578131" y="57150"/>
                </a:lnTo>
                <a:lnTo>
                  <a:pt x="1463831" y="0"/>
                </a:lnTo>
                <a:close/>
              </a:path>
              <a:path w="1578610" h="114300">
                <a:moveTo>
                  <a:pt x="0" y="38098"/>
                </a:moveTo>
                <a:lnTo>
                  <a:pt x="0" y="60958"/>
                </a:lnTo>
                <a:lnTo>
                  <a:pt x="1463831" y="60959"/>
                </a:lnTo>
                <a:lnTo>
                  <a:pt x="1463831" y="38099"/>
                </a:lnTo>
                <a:lnTo>
                  <a:pt x="0" y="380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5140" y="1735327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68387" y="1723135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1308" y="3067304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58242" y="2817367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93293" y="3795776"/>
            <a:ext cx="1968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latin typeface="Times New Roman"/>
                <a:cs typeface="Times New Roman"/>
              </a:rPr>
              <a:t>?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373919" y="2598916"/>
            <a:ext cx="627379" cy="627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188560" y="3339591"/>
            <a:ext cx="909319" cy="6076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900" spc="-55">
                <a:solidFill>
                  <a:srgbClr val="961100"/>
                </a:solidFill>
                <a:latin typeface="Arial"/>
                <a:cs typeface="Arial"/>
              </a:rPr>
              <a:t>Machine  </a:t>
            </a:r>
            <a:r>
              <a:rPr dirty="0" sz="1900" spc="-80">
                <a:solidFill>
                  <a:srgbClr val="961100"/>
                </a:solidFill>
                <a:latin typeface="Arial"/>
                <a:cs typeface="Arial"/>
              </a:rPr>
              <a:t>L</a:t>
            </a:r>
            <a:r>
              <a:rPr dirty="0" sz="1900" spc="-70">
                <a:solidFill>
                  <a:srgbClr val="961100"/>
                </a:solidFill>
                <a:latin typeface="Arial"/>
                <a:cs typeface="Arial"/>
              </a:rPr>
              <a:t>e</a:t>
            </a:r>
            <a:r>
              <a:rPr dirty="0" sz="1900" spc="-90">
                <a:solidFill>
                  <a:srgbClr val="961100"/>
                </a:solidFill>
                <a:latin typeface="Arial"/>
                <a:cs typeface="Arial"/>
              </a:rPr>
              <a:t>a</a:t>
            </a:r>
            <a:r>
              <a:rPr dirty="0" sz="1900" spc="-20">
                <a:solidFill>
                  <a:srgbClr val="961100"/>
                </a:solidFill>
                <a:latin typeface="Arial"/>
                <a:cs typeface="Arial"/>
              </a:rPr>
              <a:t>r</a:t>
            </a:r>
            <a:r>
              <a:rPr dirty="0" sz="1900" spc="-105">
                <a:solidFill>
                  <a:srgbClr val="961100"/>
                </a:solidFill>
                <a:latin typeface="Arial"/>
                <a:cs typeface="Arial"/>
              </a:rPr>
              <a:t>n</a:t>
            </a:r>
            <a:r>
              <a:rPr dirty="0" sz="1900" spc="-40">
                <a:solidFill>
                  <a:srgbClr val="961100"/>
                </a:solidFill>
                <a:latin typeface="Arial"/>
                <a:cs typeface="Arial"/>
              </a:rPr>
              <a:t>i</a:t>
            </a:r>
            <a:r>
              <a:rPr dirty="0" sz="1900" spc="-45">
                <a:solidFill>
                  <a:srgbClr val="961100"/>
                </a:solidFill>
                <a:latin typeface="Arial"/>
                <a:cs typeface="Arial"/>
              </a:rPr>
              <a:t>ng</a:t>
            </a:r>
            <a:endParaRPr sz="19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743329" y="2370137"/>
            <a:ext cx="298450" cy="329565"/>
          </a:xfrm>
          <a:custGeom>
            <a:avLst/>
            <a:gdLst/>
            <a:ahLst/>
            <a:cxnLst/>
            <a:rect l="l" t="t" r="r" b="b"/>
            <a:pathLst>
              <a:path w="298450" h="329564">
                <a:moveTo>
                  <a:pt x="297985" y="0"/>
                </a:moveTo>
                <a:lnTo>
                  <a:pt x="0" y="329164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48524" y="2408238"/>
            <a:ext cx="298450" cy="329565"/>
          </a:xfrm>
          <a:custGeom>
            <a:avLst/>
            <a:gdLst/>
            <a:ahLst/>
            <a:cxnLst/>
            <a:rect l="l" t="t" r="r" b="b"/>
            <a:pathLst>
              <a:path w="298450" h="329564">
                <a:moveTo>
                  <a:pt x="297985" y="0"/>
                </a:moveTo>
                <a:lnTo>
                  <a:pt x="0" y="329163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743328" y="2960292"/>
            <a:ext cx="550545" cy="637540"/>
          </a:xfrm>
          <a:custGeom>
            <a:avLst/>
            <a:gdLst/>
            <a:ahLst/>
            <a:cxnLst/>
            <a:rect l="l" t="t" r="r" b="b"/>
            <a:pathLst>
              <a:path w="550544" h="637539">
                <a:moveTo>
                  <a:pt x="550199" y="637535"/>
                </a:moveTo>
                <a:lnTo>
                  <a:pt x="0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048524" y="2998391"/>
            <a:ext cx="550545" cy="637540"/>
          </a:xfrm>
          <a:custGeom>
            <a:avLst/>
            <a:gdLst/>
            <a:ahLst/>
            <a:cxnLst/>
            <a:rect l="l" t="t" r="r" b="b"/>
            <a:pathLst>
              <a:path w="550545" h="637539">
                <a:moveTo>
                  <a:pt x="550199" y="637536"/>
                </a:moveTo>
                <a:lnTo>
                  <a:pt x="0" y="0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605141" y="2408238"/>
            <a:ext cx="412750" cy="329565"/>
          </a:xfrm>
          <a:custGeom>
            <a:avLst/>
            <a:gdLst/>
            <a:ahLst/>
            <a:cxnLst/>
            <a:rect l="l" t="t" r="r" b="b"/>
            <a:pathLst>
              <a:path w="412750" h="329564">
                <a:moveTo>
                  <a:pt x="0" y="0"/>
                </a:moveTo>
                <a:lnTo>
                  <a:pt x="412681" y="329163"/>
                </a:lnTo>
              </a:path>
            </a:pathLst>
          </a:custGeom>
          <a:ln w="6350">
            <a:solidFill>
              <a:srgbClr val="F0AC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473440" y="3389345"/>
            <a:ext cx="365760" cy="369570"/>
          </a:xfrm>
          <a:custGeom>
            <a:avLst/>
            <a:gdLst/>
            <a:ahLst/>
            <a:cxnLst/>
            <a:rect l="l" t="t" r="r" b="b"/>
            <a:pathLst>
              <a:path w="365759" h="369570">
                <a:moveTo>
                  <a:pt x="182879" y="0"/>
                </a:moveTo>
                <a:lnTo>
                  <a:pt x="134263" y="6592"/>
                </a:lnTo>
                <a:lnTo>
                  <a:pt x="90576" y="25195"/>
                </a:lnTo>
                <a:lnTo>
                  <a:pt x="53564" y="54052"/>
                </a:lnTo>
                <a:lnTo>
                  <a:pt x="24968" y="91402"/>
                </a:lnTo>
                <a:lnTo>
                  <a:pt x="6532" y="135487"/>
                </a:lnTo>
                <a:lnTo>
                  <a:pt x="0" y="184547"/>
                </a:lnTo>
                <a:lnTo>
                  <a:pt x="6532" y="233607"/>
                </a:lnTo>
                <a:lnTo>
                  <a:pt x="24968" y="277692"/>
                </a:lnTo>
                <a:lnTo>
                  <a:pt x="53564" y="315042"/>
                </a:lnTo>
                <a:lnTo>
                  <a:pt x="90576" y="343898"/>
                </a:lnTo>
                <a:lnTo>
                  <a:pt x="134263" y="362502"/>
                </a:lnTo>
                <a:lnTo>
                  <a:pt x="182879" y="369095"/>
                </a:lnTo>
                <a:lnTo>
                  <a:pt x="231496" y="362502"/>
                </a:lnTo>
                <a:lnTo>
                  <a:pt x="275183" y="343898"/>
                </a:lnTo>
                <a:lnTo>
                  <a:pt x="312195" y="315042"/>
                </a:lnTo>
                <a:lnTo>
                  <a:pt x="340791" y="277692"/>
                </a:lnTo>
                <a:lnTo>
                  <a:pt x="359227" y="233607"/>
                </a:lnTo>
                <a:lnTo>
                  <a:pt x="365759" y="184547"/>
                </a:lnTo>
                <a:lnTo>
                  <a:pt x="359227" y="135487"/>
                </a:lnTo>
                <a:lnTo>
                  <a:pt x="340791" y="91402"/>
                </a:lnTo>
                <a:lnTo>
                  <a:pt x="312195" y="54052"/>
                </a:lnTo>
                <a:lnTo>
                  <a:pt x="275183" y="25195"/>
                </a:lnTo>
                <a:lnTo>
                  <a:pt x="231496" y="6592"/>
                </a:lnTo>
                <a:lnTo>
                  <a:pt x="182879" y="0"/>
                </a:lnTo>
                <a:close/>
              </a:path>
            </a:pathLst>
          </a:custGeom>
          <a:solidFill>
            <a:srgbClr val="C6484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640596" y="4566165"/>
            <a:ext cx="3703954" cy="1487170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243204">
              <a:lnSpc>
                <a:spcPct val="100000"/>
              </a:lnSpc>
              <a:spcBef>
                <a:spcPts val="1595"/>
              </a:spcBef>
            </a:pP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30"/>
              </a:spcBef>
            </a:pPr>
            <a:r>
              <a:rPr dirty="0" sz="3700" spc="0">
                <a:solidFill>
                  <a:srgbClr val="C00000"/>
                </a:solidFill>
                <a:latin typeface="Calibri"/>
                <a:cs typeface="Calibri"/>
              </a:rPr>
              <a:t>ML </a:t>
            </a:r>
            <a:r>
              <a:rPr dirty="0" sz="3700" spc="5">
                <a:solidFill>
                  <a:srgbClr val="C00000"/>
                </a:solidFill>
                <a:latin typeface="Calibri"/>
                <a:cs typeface="Calibri"/>
              </a:rPr>
              <a:t>needs</a:t>
            </a:r>
            <a:r>
              <a:rPr dirty="0" sz="3700" spc="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700" spc="-15">
                <a:solidFill>
                  <a:srgbClr val="C00000"/>
                </a:solidFill>
                <a:latin typeface="Calibri"/>
                <a:cs typeface="Calibri"/>
              </a:rPr>
              <a:t>features.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54" name="object 54"/>
          <p:cNvSpPr txBox="1"/>
          <p:nvPr/>
        </p:nvSpPr>
        <p:spPr>
          <a:xfrm>
            <a:off x="8773672" y="6723724"/>
            <a:ext cx="857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9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690104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7463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5">
                <a:solidFill>
                  <a:srgbClr val="000000"/>
                </a:solidFill>
              </a:rPr>
              <a:t>Goal: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Characterize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structure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position of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node in the</a:t>
            </a:r>
            <a:r>
              <a:rPr dirty="0" spc="-7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network: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2519680" cy="1043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degree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75">
                <a:latin typeface="Calibri"/>
                <a:cs typeface="Calibri"/>
              </a:rPr>
              <a:t>centrality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27170" y="4826334"/>
            <a:ext cx="906144" cy="828040"/>
          </a:xfrm>
          <a:custGeom>
            <a:avLst/>
            <a:gdLst/>
            <a:ahLst/>
            <a:cxnLst/>
            <a:rect l="l" t="t" r="r" b="b"/>
            <a:pathLst>
              <a:path w="906145" h="828039">
                <a:moveTo>
                  <a:pt x="0" y="0"/>
                </a:moveTo>
                <a:lnTo>
                  <a:pt x="905710" y="8275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90258" y="4261477"/>
            <a:ext cx="314325" cy="1557020"/>
          </a:xfrm>
          <a:custGeom>
            <a:avLst/>
            <a:gdLst/>
            <a:ahLst/>
            <a:cxnLst/>
            <a:rect l="l" t="t" r="r" b="b"/>
            <a:pathLst>
              <a:path w="314325" h="1557020">
                <a:moveTo>
                  <a:pt x="0" y="1556998"/>
                </a:moveTo>
                <a:lnTo>
                  <a:pt x="313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81477" y="4519004"/>
            <a:ext cx="1395730" cy="583565"/>
          </a:xfrm>
          <a:custGeom>
            <a:avLst/>
            <a:gdLst/>
            <a:ahLst/>
            <a:cxnLst/>
            <a:rect l="l" t="t" r="r" b="b"/>
            <a:pathLst>
              <a:path w="1395729" h="583564">
                <a:moveTo>
                  <a:pt x="0" y="583385"/>
                </a:moveTo>
                <a:lnTo>
                  <a:pt x="13957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81907" y="5109297"/>
            <a:ext cx="1120140" cy="479425"/>
          </a:xfrm>
          <a:custGeom>
            <a:avLst/>
            <a:gdLst/>
            <a:ahLst/>
            <a:cxnLst/>
            <a:rect l="l" t="t" r="r" b="b"/>
            <a:pathLst>
              <a:path w="1120140" h="479425">
                <a:moveTo>
                  <a:pt x="0" y="0"/>
                </a:moveTo>
                <a:lnTo>
                  <a:pt x="1119841" y="4790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09144" y="5109073"/>
            <a:ext cx="649605" cy="635"/>
          </a:xfrm>
          <a:custGeom>
            <a:avLst/>
            <a:gdLst/>
            <a:ahLst/>
            <a:cxnLst/>
            <a:rect l="l" t="t" r="r" b="b"/>
            <a:pathLst>
              <a:path w="649604" h="635">
                <a:moveTo>
                  <a:pt x="0" y="628"/>
                </a:moveTo>
                <a:lnTo>
                  <a:pt x="64959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95991" y="5329123"/>
            <a:ext cx="981710" cy="833119"/>
          </a:xfrm>
          <a:custGeom>
            <a:avLst/>
            <a:gdLst/>
            <a:ahLst/>
            <a:cxnLst/>
            <a:rect l="l" t="t" r="r" b="b"/>
            <a:pathLst>
              <a:path w="981709" h="833120">
                <a:moveTo>
                  <a:pt x="0" y="0"/>
                </a:moveTo>
                <a:lnTo>
                  <a:pt x="981286" y="8325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04106" y="4202295"/>
            <a:ext cx="635000" cy="962025"/>
          </a:xfrm>
          <a:custGeom>
            <a:avLst/>
            <a:gdLst/>
            <a:ahLst/>
            <a:cxnLst/>
            <a:rect l="l" t="t" r="r" b="b"/>
            <a:pathLst>
              <a:path w="635000" h="962025">
                <a:moveTo>
                  <a:pt x="634387" y="96195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90441" y="5329122"/>
            <a:ext cx="790575" cy="505459"/>
          </a:xfrm>
          <a:custGeom>
            <a:avLst/>
            <a:gdLst/>
            <a:ahLst/>
            <a:cxnLst/>
            <a:rect l="l" t="t" r="r" b="b"/>
            <a:pathLst>
              <a:path w="790575" h="505460">
                <a:moveTo>
                  <a:pt x="0" y="505457"/>
                </a:moveTo>
                <a:lnTo>
                  <a:pt x="79054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67517" y="558530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1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8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8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2"/>
                </a:lnTo>
                <a:lnTo>
                  <a:pt x="440955" y="280163"/>
                </a:lnTo>
                <a:lnTo>
                  <a:pt x="445480" y="233171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667517" y="558530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795008" y="5668771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446928" y="442828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20"/>
                </a:lnTo>
                <a:lnTo>
                  <a:pt x="177850" y="461606"/>
                </a:lnTo>
                <a:lnTo>
                  <a:pt x="222740" y="466343"/>
                </a:lnTo>
                <a:lnTo>
                  <a:pt x="267630" y="461606"/>
                </a:lnTo>
                <a:lnTo>
                  <a:pt x="309441" y="448020"/>
                </a:lnTo>
                <a:lnTo>
                  <a:pt x="347277" y="426521"/>
                </a:lnTo>
                <a:lnTo>
                  <a:pt x="380242" y="398049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46928" y="442828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56563" y="3341115"/>
            <a:ext cx="3338195" cy="146939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Clustering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65">
                <a:latin typeface="Calibri"/>
                <a:cs typeface="Calibri"/>
              </a:rPr>
              <a:t>coefficient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Graphlets</a:t>
            </a:r>
            <a:endParaRPr sz="2800">
              <a:latin typeface="Calibri"/>
              <a:cs typeface="Calibri"/>
            </a:endParaRPr>
          </a:p>
          <a:p>
            <a:pPr algn="r" marR="540385">
              <a:lnSpc>
                <a:spcPct val="100000"/>
              </a:lnSpc>
              <a:spcBef>
                <a:spcPts val="104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81365" y="396912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2"/>
                </a:lnTo>
                <a:lnTo>
                  <a:pt x="17504" y="323931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8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1" y="448018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39"/>
                </a:lnTo>
                <a:lnTo>
                  <a:pt x="427977" y="323931"/>
                </a:lnTo>
                <a:lnTo>
                  <a:pt x="440956" y="280162"/>
                </a:lnTo>
                <a:lnTo>
                  <a:pt x="445481" y="233170"/>
                </a:lnTo>
                <a:lnTo>
                  <a:pt x="440956" y="186178"/>
                </a:lnTo>
                <a:lnTo>
                  <a:pt x="427977" y="142410"/>
                </a:lnTo>
                <a:lnTo>
                  <a:pt x="407441" y="102802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81365" y="396912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15749" y="493107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615749" y="493107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743238" y="501345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58736" y="4875901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2"/>
                </a:lnTo>
                <a:lnTo>
                  <a:pt x="440955" y="280163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58736" y="4875901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692577" y="495858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911788" y="6093578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1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3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1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2"/>
                </a:lnTo>
                <a:lnTo>
                  <a:pt x="440955" y="280163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0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11788" y="6093578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039278" y="617778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4447" y="4261477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20"/>
                </a:lnTo>
                <a:lnTo>
                  <a:pt x="177850" y="461606"/>
                </a:lnTo>
                <a:lnTo>
                  <a:pt x="222740" y="466344"/>
                </a:lnTo>
                <a:lnTo>
                  <a:pt x="267630" y="461606"/>
                </a:lnTo>
                <a:lnTo>
                  <a:pt x="309440" y="448020"/>
                </a:lnTo>
                <a:lnTo>
                  <a:pt x="347276" y="426521"/>
                </a:lnTo>
                <a:lnTo>
                  <a:pt x="380241" y="398049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2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954447" y="4261477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094636" y="434594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01751" y="5355211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19"/>
                </a:lnTo>
                <a:lnTo>
                  <a:pt x="177850" y="461606"/>
                </a:lnTo>
                <a:lnTo>
                  <a:pt x="222740" y="466343"/>
                </a:lnTo>
                <a:lnTo>
                  <a:pt x="267630" y="461606"/>
                </a:lnTo>
                <a:lnTo>
                  <a:pt x="309440" y="448019"/>
                </a:lnTo>
                <a:lnTo>
                  <a:pt x="347276" y="426521"/>
                </a:lnTo>
                <a:lnTo>
                  <a:pt x="380241" y="398049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901751" y="5355211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022890" y="5437123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861679" y="4258846"/>
            <a:ext cx="1120140" cy="323850"/>
          </a:xfrm>
          <a:custGeom>
            <a:avLst/>
            <a:gdLst/>
            <a:ahLst/>
            <a:cxnLst/>
            <a:rect l="l" t="t" r="r" b="b"/>
            <a:pathLst>
              <a:path w="1120139" h="323850">
                <a:moveTo>
                  <a:pt x="0" y="323594"/>
                </a:moveTo>
                <a:lnTo>
                  <a:pt x="11196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115205" y="3423411"/>
            <a:ext cx="2214245" cy="929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28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feature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451872" y="3861776"/>
            <a:ext cx="572135" cy="351790"/>
          </a:xfrm>
          <a:custGeom>
            <a:avLst/>
            <a:gdLst/>
            <a:ahLst/>
            <a:cxnLst/>
            <a:rect l="l" t="t" r="r" b="b"/>
            <a:pathLst>
              <a:path w="572135" h="351789">
                <a:moveTo>
                  <a:pt x="488156" y="124872"/>
                </a:moveTo>
                <a:lnTo>
                  <a:pt x="454865" y="124872"/>
                </a:lnTo>
                <a:lnTo>
                  <a:pt x="454865" y="317996"/>
                </a:lnTo>
                <a:lnTo>
                  <a:pt x="0" y="317996"/>
                </a:lnTo>
                <a:lnTo>
                  <a:pt x="0" y="351288"/>
                </a:lnTo>
                <a:lnTo>
                  <a:pt x="488156" y="351288"/>
                </a:lnTo>
                <a:lnTo>
                  <a:pt x="488156" y="124872"/>
                </a:lnTo>
                <a:close/>
              </a:path>
              <a:path w="572135" h="351789">
                <a:moveTo>
                  <a:pt x="471511" y="0"/>
                </a:moveTo>
                <a:lnTo>
                  <a:pt x="371337" y="124872"/>
                </a:lnTo>
                <a:lnTo>
                  <a:pt x="571684" y="124872"/>
                </a:lnTo>
                <a:lnTo>
                  <a:pt x="47151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51872" y="3861776"/>
            <a:ext cx="572135" cy="351790"/>
          </a:xfrm>
          <a:custGeom>
            <a:avLst/>
            <a:gdLst/>
            <a:ahLst/>
            <a:cxnLst/>
            <a:rect l="l" t="t" r="r" b="b"/>
            <a:pathLst>
              <a:path w="572135" h="351789">
                <a:moveTo>
                  <a:pt x="0" y="317996"/>
                </a:moveTo>
                <a:lnTo>
                  <a:pt x="454865" y="317996"/>
                </a:lnTo>
                <a:lnTo>
                  <a:pt x="454865" y="124872"/>
                </a:lnTo>
                <a:lnTo>
                  <a:pt x="371337" y="124872"/>
                </a:lnTo>
                <a:lnTo>
                  <a:pt x="471511" y="0"/>
                </a:lnTo>
                <a:lnTo>
                  <a:pt x="571684" y="124872"/>
                </a:lnTo>
                <a:lnTo>
                  <a:pt x="488156" y="124872"/>
                </a:lnTo>
                <a:lnTo>
                  <a:pt x="488156" y="351288"/>
                </a:lnTo>
                <a:lnTo>
                  <a:pt x="0" y="351288"/>
                </a:lnTo>
                <a:lnTo>
                  <a:pt x="0" y="317996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673615" y="6723724"/>
            <a:ext cx="44018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 Graphs,</a:t>
            </a:r>
            <a:r>
              <a:rPr dirty="0" sz="900" spc="5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24460" y="6723724"/>
            <a:ext cx="1346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10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926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1931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degree </a:t>
            </a:r>
            <a:r>
              <a:rPr dirty="0" spc="310" b="0">
                <a:solidFill>
                  <a:srgbClr val="000000"/>
                </a:solidFill>
                <a:latin typeface="Cambria Math"/>
                <a:cs typeface="Cambria Math"/>
              </a:rPr>
              <a:t>𝑘</a:t>
            </a:r>
            <a:r>
              <a:rPr dirty="0" baseline="-15700" sz="3450" spc="465" b="0">
                <a:solidFill>
                  <a:srgbClr val="000000"/>
                </a:solidFill>
                <a:latin typeface="Cambria Math"/>
                <a:cs typeface="Cambria Math"/>
              </a:rPr>
              <a:t>!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of node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𝑣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is the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number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of 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edges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(neighboring nodes)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node</a:t>
            </a:r>
            <a:r>
              <a:rPr dirty="0" sz="3200" spc="10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has.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Treats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all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neighboring nodes</a:t>
            </a:r>
            <a:r>
              <a:rPr dirty="0" spc="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equally.</a:t>
            </a:r>
          </a:p>
        </p:txBody>
      </p:sp>
      <p:sp>
        <p:nvSpPr>
          <p:cNvPr id="4" name="object 4"/>
          <p:cNvSpPr/>
          <p:nvPr/>
        </p:nvSpPr>
        <p:spPr>
          <a:xfrm>
            <a:off x="2209041" y="4502236"/>
            <a:ext cx="906144" cy="828040"/>
          </a:xfrm>
          <a:custGeom>
            <a:avLst/>
            <a:gdLst/>
            <a:ahLst/>
            <a:cxnLst/>
            <a:rect l="l" t="t" r="r" b="b"/>
            <a:pathLst>
              <a:path w="906144" h="828039">
                <a:moveTo>
                  <a:pt x="0" y="0"/>
                </a:moveTo>
                <a:lnTo>
                  <a:pt x="905710" y="8275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72129" y="3937380"/>
            <a:ext cx="314325" cy="1557020"/>
          </a:xfrm>
          <a:custGeom>
            <a:avLst/>
            <a:gdLst/>
            <a:ahLst/>
            <a:cxnLst/>
            <a:rect l="l" t="t" r="r" b="b"/>
            <a:pathLst>
              <a:path w="314325" h="1557020">
                <a:moveTo>
                  <a:pt x="0" y="1556998"/>
                </a:moveTo>
                <a:lnTo>
                  <a:pt x="313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63347" y="4194906"/>
            <a:ext cx="1395730" cy="583565"/>
          </a:xfrm>
          <a:custGeom>
            <a:avLst/>
            <a:gdLst/>
            <a:ahLst/>
            <a:cxnLst/>
            <a:rect l="l" t="t" r="r" b="b"/>
            <a:pathLst>
              <a:path w="1395729" h="583564">
                <a:moveTo>
                  <a:pt x="0" y="583385"/>
                </a:moveTo>
                <a:lnTo>
                  <a:pt x="13957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63779" y="4785200"/>
            <a:ext cx="1120140" cy="479425"/>
          </a:xfrm>
          <a:custGeom>
            <a:avLst/>
            <a:gdLst/>
            <a:ahLst/>
            <a:cxnLst/>
            <a:rect l="l" t="t" r="r" b="b"/>
            <a:pathLst>
              <a:path w="1120139" h="479425">
                <a:moveTo>
                  <a:pt x="0" y="0"/>
                </a:moveTo>
                <a:lnTo>
                  <a:pt x="1119841" y="4790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91016" y="4784975"/>
            <a:ext cx="649605" cy="635"/>
          </a:xfrm>
          <a:custGeom>
            <a:avLst/>
            <a:gdLst/>
            <a:ahLst/>
            <a:cxnLst/>
            <a:rect l="l" t="t" r="r" b="b"/>
            <a:pathLst>
              <a:path w="649604" h="635">
                <a:moveTo>
                  <a:pt x="0" y="628"/>
                </a:moveTo>
                <a:lnTo>
                  <a:pt x="64959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77861" y="5005025"/>
            <a:ext cx="981710" cy="833119"/>
          </a:xfrm>
          <a:custGeom>
            <a:avLst/>
            <a:gdLst/>
            <a:ahLst/>
            <a:cxnLst/>
            <a:rect l="l" t="t" r="r" b="b"/>
            <a:pathLst>
              <a:path w="981710" h="833120">
                <a:moveTo>
                  <a:pt x="0" y="0"/>
                </a:moveTo>
                <a:lnTo>
                  <a:pt x="981286" y="8325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85976" y="3878197"/>
            <a:ext cx="635000" cy="962025"/>
          </a:xfrm>
          <a:custGeom>
            <a:avLst/>
            <a:gdLst/>
            <a:ahLst/>
            <a:cxnLst/>
            <a:rect l="l" t="t" r="r" b="b"/>
            <a:pathLst>
              <a:path w="635000" h="962025">
                <a:moveTo>
                  <a:pt x="634387" y="96195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72311" y="5005024"/>
            <a:ext cx="790575" cy="505459"/>
          </a:xfrm>
          <a:custGeom>
            <a:avLst/>
            <a:gdLst/>
            <a:ahLst/>
            <a:cxnLst/>
            <a:rect l="l" t="t" r="r" b="b"/>
            <a:pathLst>
              <a:path w="790575" h="505460">
                <a:moveTo>
                  <a:pt x="0" y="505457"/>
                </a:moveTo>
                <a:lnTo>
                  <a:pt x="79054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49389" y="5261207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3"/>
                </a:lnTo>
                <a:lnTo>
                  <a:pt x="17504" y="323931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8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8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1"/>
                </a:lnTo>
                <a:lnTo>
                  <a:pt x="440955" y="280163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49389" y="5261207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76879" y="5345684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28800" y="4104186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8800" y="4104186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63236" y="364502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20"/>
                </a:lnTo>
                <a:lnTo>
                  <a:pt x="177850" y="461606"/>
                </a:lnTo>
                <a:lnTo>
                  <a:pt x="222740" y="466343"/>
                </a:lnTo>
                <a:lnTo>
                  <a:pt x="267630" y="461606"/>
                </a:lnTo>
                <a:lnTo>
                  <a:pt x="309440" y="448020"/>
                </a:lnTo>
                <a:lnTo>
                  <a:pt x="347276" y="426521"/>
                </a:lnTo>
                <a:lnTo>
                  <a:pt x="380241" y="398049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363236" y="364502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497077" y="3727196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97619" y="460697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9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97619" y="460697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125109" y="4690364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40607" y="455180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2"/>
                </a:lnTo>
                <a:lnTo>
                  <a:pt x="17504" y="323931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8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8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39"/>
                </a:lnTo>
                <a:lnTo>
                  <a:pt x="427977" y="323931"/>
                </a:lnTo>
                <a:lnTo>
                  <a:pt x="440956" y="280162"/>
                </a:lnTo>
                <a:lnTo>
                  <a:pt x="445481" y="233170"/>
                </a:lnTo>
                <a:lnTo>
                  <a:pt x="440956" y="186178"/>
                </a:lnTo>
                <a:lnTo>
                  <a:pt x="427977" y="142410"/>
                </a:lnTo>
                <a:lnTo>
                  <a:pt x="407441" y="102802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40607" y="455180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74447" y="463550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293658" y="5769480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9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39"/>
                </a:lnTo>
                <a:lnTo>
                  <a:pt x="427977" y="323932"/>
                </a:lnTo>
                <a:lnTo>
                  <a:pt x="440956" y="280163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93658" y="5769480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421148" y="585165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36318" y="393737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1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2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36318" y="393737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476508" y="401980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83620" y="503111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9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283620" y="503111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404762" y="511403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53582" y="3586988"/>
            <a:ext cx="906144" cy="900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85">
                <a:latin typeface="Cambria Math"/>
                <a:cs typeface="Cambria Math"/>
              </a:rPr>
              <a:t>𝑘</a:t>
            </a:r>
            <a:r>
              <a:rPr dirty="0" baseline="-15432" sz="2700" spc="-127">
                <a:latin typeface="Cambria Math"/>
                <a:cs typeface="Cambria Math"/>
              </a:rPr>
              <a:t>&amp; 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algn="r" marR="24130">
              <a:lnSpc>
                <a:spcPct val="100000"/>
              </a:lnSpc>
              <a:spcBef>
                <a:spcPts val="184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111218" y="3084067"/>
            <a:ext cx="92836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90">
                <a:latin typeface="Cambria Math"/>
                <a:cs typeface="Cambria Math"/>
              </a:rPr>
              <a:t>𝑘</a:t>
            </a:r>
            <a:r>
              <a:rPr dirty="0" baseline="-15432" sz="2700" spc="585">
                <a:latin typeface="Cambria Math"/>
                <a:cs typeface="Cambria Math"/>
              </a:rPr>
              <a:t>'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8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58799" y="5805932"/>
            <a:ext cx="9163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65">
                <a:latin typeface="Cambria Math"/>
                <a:cs typeface="Cambria Math"/>
              </a:rPr>
              <a:t>𝑘</a:t>
            </a:r>
            <a:r>
              <a:rPr dirty="0" baseline="-15432" sz="2700" spc="247">
                <a:latin typeface="Cambria Math"/>
                <a:cs typeface="Cambria Math"/>
              </a:rPr>
              <a:t>(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3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88269" y="4028947"/>
            <a:ext cx="9359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80">
                <a:latin typeface="Cambria Math"/>
                <a:cs typeface="Cambria Math"/>
              </a:rPr>
              <a:t>𝑘</a:t>
            </a:r>
            <a:r>
              <a:rPr dirty="0" baseline="-15432" sz="2700" spc="569">
                <a:latin typeface="Cambria Math"/>
                <a:cs typeface="Cambria Math"/>
              </a:rPr>
              <a:t>!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-1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4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7571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75905" cy="197358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38735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degree counts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neighboring nodes </a:t>
            </a:r>
            <a:r>
              <a:rPr dirty="0" spc="-5" b="0">
                <a:solidFill>
                  <a:srgbClr val="C00000"/>
                </a:solidFill>
                <a:latin typeface="Calibri"/>
                <a:cs typeface="Calibri"/>
              </a:rPr>
              <a:t> without capturing their</a:t>
            </a:r>
            <a:r>
              <a:rPr dirty="0" spc="60" b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C00000"/>
                </a:solidFill>
                <a:latin typeface="Calibri"/>
                <a:cs typeface="Calibri"/>
              </a:rPr>
              <a:t>importance.</a:t>
            </a:r>
          </a:p>
          <a:p>
            <a:pPr marL="332740" marR="508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8000"/>
                </a:solidFill>
                <a:latin typeface="Calibri"/>
                <a:cs typeface="Calibri"/>
              </a:rPr>
              <a:t>Node </a:t>
            </a:r>
            <a:r>
              <a:rPr dirty="0" spc="-15" b="0">
                <a:solidFill>
                  <a:srgbClr val="008000"/>
                </a:solidFill>
                <a:latin typeface="Calibri"/>
                <a:cs typeface="Calibri"/>
              </a:rPr>
              <a:t>centrality </a:t>
            </a:r>
            <a:r>
              <a:rPr dirty="0" spc="275" b="0">
                <a:solidFill>
                  <a:srgbClr val="000000"/>
                </a:solidFill>
                <a:latin typeface="Cambria Math"/>
                <a:cs typeface="Cambria Math"/>
              </a:rPr>
              <a:t>𝑐</a:t>
            </a:r>
            <a:r>
              <a:rPr dirty="0" baseline="-15700" sz="3450" spc="412" b="0">
                <a:solidFill>
                  <a:srgbClr val="000000"/>
                </a:solidFill>
                <a:latin typeface="Cambria Math"/>
                <a:cs typeface="Cambria Math"/>
              </a:rPr>
              <a:t>! </a:t>
            </a:r>
            <a:r>
              <a:rPr dirty="0" sz="3200" spc="-35" b="0">
                <a:solidFill>
                  <a:srgbClr val="000000"/>
                </a:solidFill>
                <a:latin typeface="Calibri"/>
                <a:cs typeface="Calibri"/>
              </a:rPr>
              <a:t>takes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z="3200" spc="-5" b="0">
                <a:solidFill>
                  <a:srgbClr val="C00000"/>
                </a:solidFill>
                <a:latin typeface="Calibri"/>
                <a:cs typeface="Calibri"/>
              </a:rPr>
              <a:t>node importance  </a:t>
            </a:r>
            <a:r>
              <a:rPr dirty="0" sz="3200" b="0">
                <a:solidFill>
                  <a:srgbClr val="C00000"/>
                </a:solidFill>
                <a:latin typeface="Calibri"/>
                <a:cs typeface="Calibri"/>
              </a:rPr>
              <a:t>in a </a:t>
            </a:r>
            <a:r>
              <a:rPr dirty="0" sz="3200" spc="-15" b="0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dirty="0" sz="3200" spc="-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account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3212664"/>
            <a:ext cx="6548120" cy="265366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Different </a:t>
            </a:r>
            <a:r>
              <a:rPr dirty="0" sz="3200" spc="-35" b="1">
                <a:latin typeface="Calibri"/>
                <a:cs typeface="Calibri"/>
              </a:rPr>
              <a:t>ways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5" b="1">
                <a:latin typeface="Calibri"/>
                <a:cs typeface="Calibri"/>
              </a:rPr>
              <a:t>model</a:t>
            </a:r>
            <a:r>
              <a:rPr dirty="0" sz="3200" spc="3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importance: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Engienvector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centrality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Betweenness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centrality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Closeness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centrality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5">
                <a:latin typeface="Calibri"/>
                <a:cs typeface="Calibri"/>
              </a:rPr>
              <a:t>many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others…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841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1148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Eigenvector</a:t>
            </a:r>
            <a:r>
              <a:rPr dirty="0" spc="-10"/>
              <a:t> </a:t>
            </a:r>
            <a:r>
              <a:rPr dirty="0" spc="-15"/>
              <a:t>centrality: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436484" cy="18237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>
                <a:latin typeface="Cambria Math"/>
                <a:cs typeface="Cambria Math"/>
              </a:rPr>
              <a:t>𝑣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0">
                <a:latin typeface="Calibri"/>
                <a:cs typeface="Calibri"/>
              </a:rPr>
              <a:t>important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surrounded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by </a:t>
            </a:r>
            <a:r>
              <a:rPr dirty="0" sz="2800" spc="-75">
                <a:solidFill>
                  <a:srgbClr val="C00000"/>
                </a:solidFill>
                <a:latin typeface="Calibri"/>
                <a:cs typeface="Calibri"/>
              </a:rPr>
              <a:t>important 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neighboring nodes </a:t>
            </a:r>
            <a:r>
              <a:rPr dirty="0" sz="2800">
                <a:latin typeface="Cambria Math"/>
                <a:cs typeface="Cambria Math"/>
              </a:rPr>
              <a:t>𝑢  ∈</a:t>
            </a:r>
            <a:r>
              <a:rPr dirty="0" sz="2800" spc="-260">
                <a:latin typeface="Cambria Math"/>
                <a:cs typeface="Cambria Math"/>
              </a:rPr>
              <a:t> </a:t>
            </a:r>
            <a:r>
              <a:rPr dirty="0" sz="2800" spc="25">
                <a:latin typeface="Cambria Math"/>
                <a:cs typeface="Cambria Math"/>
              </a:rPr>
              <a:t>𝑁(𝑣)</a:t>
            </a:r>
            <a:r>
              <a:rPr dirty="0" sz="2800" spc="25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87020" marR="159385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model the </a:t>
            </a:r>
            <a:r>
              <a:rPr dirty="0" sz="2800" spc="-15">
                <a:latin typeface="Calibri"/>
                <a:cs typeface="Calibri"/>
              </a:rPr>
              <a:t>centrality </a:t>
            </a:r>
            <a:r>
              <a:rPr dirty="0" sz="2800" spc="-5">
                <a:latin typeface="Calibri"/>
                <a:cs typeface="Calibri"/>
              </a:rPr>
              <a:t>of node </a:t>
            </a:r>
            <a:r>
              <a:rPr dirty="0" sz="2800">
                <a:latin typeface="Cambria Math"/>
                <a:cs typeface="Cambria Math"/>
              </a:rPr>
              <a:t>𝑣 </a:t>
            </a:r>
            <a:r>
              <a:rPr dirty="0" sz="2800" spc="-5">
                <a:latin typeface="Calibri"/>
                <a:cs typeface="Calibri"/>
              </a:rPr>
              <a:t>as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2800">
                <a:solidFill>
                  <a:srgbClr val="008000"/>
                </a:solidFill>
                <a:latin typeface="Calibri"/>
                <a:cs typeface="Calibri"/>
              </a:rPr>
              <a:t>sum </a:t>
            </a:r>
            <a:r>
              <a:rPr dirty="0" sz="2800" spc="-580">
                <a:solidFill>
                  <a:srgbClr val="008000"/>
                </a:solidFill>
                <a:latin typeface="Calibri"/>
                <a:cs typeface="Calibri"/>
              </a:rPr>
              <a:t>of 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the </a:t>
            </a:r>
            <a:r>
              <a:rPr dirty="0" sz="2800" spc="-15">
                <a:solidFill>
                  <a:srgbClr val="008000"/>
                </a:solidFill>
                <a:latin typeface="Calibri"/>
                <a:cs typeface="Calibri"/>
              </a:rPr>
              <a:t>centrality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of neighboring</a:t>
            </a:r>
            <a:r>
              <a:rPr dirty="0" sz="2800" spc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Calibri"/>
                <a:cs typeface="Calibri"/>
              </a:rPr>
              <a:t>nodes</a:t>
            </a:r>
            <a:r>
              <a:rPr dirty="0" sz="2800" spc="-5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8622" y="4176267"/>
            <a:ext cx="1892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3434" y="4351020"/>
            <a:ext cx="16954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50">
                <a:solidFill>
                  <a:srgbClr val="0000FF"/>
                </a:solidFill>
                <a:latin typeface="Cambria Math"/>
                <a:cs typeface="Cambria Math"/>
              </a:rPr>
              <a:t>!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95928" y="4444056"/>
            <a:ext cx="203200" cy="0"/>
          </a:xfrm>
          <a:custGeom>
            <a:avLst/>
            <a:gdLst/>
            <a:ahLst/>
            <a:cxnLst/>
            <a:rect l="l" t="t" r="r" b="b"/>
            <a:pathLst>
              <a:path w="203200" h="0">
                <a:moveTo>
                  <a:pt x="0" y="0"/>
                </a:moveTo>
                <a:lnTo>
                  <a:pt x="203200" y="0"/>
                </a:lnTo>
              </a:path>
            </a:pathLst>
          </a:custGeom>
          <a:ln w="254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619627" y="3908044"/>
            <a:ext cx="5867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41666" sz="42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dirty="0" baseline="-41666" sz="4200" spc="75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1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6847" y="4414011"/>
            <a:ext cx="2095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𝜆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17428" y="3995623"/>
            <a:ext cx="1310640" cy="1066800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229870">
              <a:lnSpc>
                <a:spcPct val="100000"/>
              </a:lnSpc>
              <a:spcBef>
                <a:spcPts val="1520"/>
              </a:spcBef>
              <a:tabLst>
                <a:tab pos="977900" algn="l"/>
              </a:tabLst>
            </a:pPr>
            <a:r>
              <a:rPr dirty="0" sz="2800" spc="1614">
                <a:solidFill>
                  <a:srgbClr val="0000FF"/>
                </a:solidFill>
                <a:latin typeface="Cambria Math"/>
                <a:cs typeface="Cambria Math"/>
              </a:rPr>
              <a:t>+</a:t>
            </a:r>
            <a:r>
              <a:rPr dirty="0" sz="2800" spc="1614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dirty="0" sz="2800" spc="-70">
                <a:solidFill>
                  <a:srgbClr val="0000FF"/>
                </a:solidFill>
                <a:latin typeface="Cambria Math"/>
                <a:cs typeface="Cambria Math"/>
              </a:rPr>
              <a:t>𝑐</a:t>
            </a:r>
            <a:r>
              <a:rPr dirty="0" baseline="-16666" sz="3000" spc="757">
                <a:solidFill>
                  <a:srgbClr val="0000FF"/>
                </a:solidFill>
                <a:latin typeface="Cambria Math"/>
                <a:cs typeface="Cambria Math"/>
              </a:rPr>
              <a:t>"</a:t>
            </a:r>
            <a:endParaRPr baseline="-16666" sz="3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000" spc="300">
                <a:solidFill>
                  <a:srgbClr val="0000FF"/>
                </a:solidFill>
                <a:latin typeface="Cambria Math"/>
                <a:cs typeface="Cambria Math"/>
              </a:rPr>
              <a:t>"∈$(!)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563" y="5039867"/>
            <a:ext cx="7465695" cy="1179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66670">
              <a:lnSpc>
                <a:spcPts val="2370"/>
              </a:lnSpc>
              <a:spcBef>
                <a:spcPts val="100"/>
              </a:spcBef>
            </a:pPr>
            <a:r>
              <a:rPr dirty="0" sz="2000">
                <a:latin typeface="Cambria Math"/>
                <a:cs typeface="Cambria Math"/>
              </a:rPr>
              <a:t>𝜆  </a:t>
            </a:r>
            <a:r>
              <a:rPr dirty="0" sz="2000">
                <a:latin typeface="Arial"/>
                <a:cs typeface="Arial"/>
              </a:rPr>
              <a:t>is </a:t>
            </a:r>
            <a:r>
              <a:rPr dirty="0" sz="2000" spc="-5">
                <a:latin typeface="Arial"/>
                <a:cs typeface="Arial"/>
              </a:rPr>
              <a:t>some positive</a:t>
            </a:r>
            <a:r>
              <a:rPr dirty="0" sz="2000" spc="-33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constant</a:t>
            </a:r>
            <a:endParaRPr sz="2000">
              <a:latin typeface="Arial"/>
              <a:cs typeface="Arial"/>
            </a:endParaRPr>
          </a:p>
          <a:p>
            <a:pPr marL="287020" marR="5080" indent="-274320">
              <a:lnSpc>
                <a:spcPts val="3379"/>
              </a:lnSpc>
              <a:spcBef>
                <a:spcPts val="6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3585210" algn="l"/>
              </a:tabLst>
            </a:pPr>
            <a:r>
              <a:rPr dirty="0" sz="2800" spc="-5">
                <a:latin typeface="Calibri"/>
                <a:cs typeface="Calibri"/>
              </a:rPr>
              <a:t>Notice </a:t>
            </a:r>
            <a:r>
              <a:rPr dirty="0" sz="2800" spc="-10">
                <a:latin typeface="Calibri"/>
                <a:cs typeface="Calibri"/>
              </a:rPr>
              <a:t>that</a:t>
            </a:r>
            <a:r>
              <a:rPr dirty="0" sz="2800" spc="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above	equation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models</a:t>
            </a:r>
            <a:r>
              <a:rPr dirty="0" sz="2800" spc="-15">
                <a:latin typeface="Calibri"/>
                <a:cs typeface="Calibri"/>
              </a:rPr>
              <a:t> centrality </a:t>
            </a:r>
            <a:r>
              <a:rPr dirty="0" sz="28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solidFill>
                  <a:srgbClr val="0000FF"/>
                </a:solidFill>
                <a:latin typeface="Calibri"/>
                <a:cs typeface="Calibri"/>
              </a:rPr>
              <a:t>recursive </a:t>
            </a:r>
            <a:r>
              <a:rPr dirty="0" sz="2800" spc="-45">
                <a:solidFill>
                  <a:srgbClr val="0000FF"/>
                </a:solidFill>
                <a:latin typeface="Calibri"/>
                <a:cs typeface="Calibri"/>
              </a:rPr>
              <a:t>manner</a:t>
            </a:r>
            <a:r>
              <a:rPr dirty="0" sz="2800" spc="-45">
                <a:latin typeface="Calibri"/>
                <a:cs typeface="Calibri"/>
              </a:rPr>
              <a:t>.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solve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8419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1148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Eigenvector</a:t>
            </a:r>
            <a:r>
              <a:rPr dirty="0" spc="-10"/>
              <a:t> </a:t>
            </a:r>
            <a:r>
              <a:rPr dirty="0" spc="-15"/>
              <a:t>centrality: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5234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Rewrite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recursive </a:t>
            </a:r>
            <a:r>
              <a:rPr dirty="0" sz="2800" spc="-10">
                <a:latin typeface="Calibri"/>
                <a:cs typeface="Calibri"/>
              </a:rPr>
              <a:t>equation </a:t>
            </a:r>
            <a:r>
              <a:rPr dirty="0" sz="2800" spc="-5">
                <a:latin typeface="Calibri"/>
                <a:cs typeface="Calibri"/>
              </a:rPr>
              <a:t>in the </a:t>
            </a:r>
            <a:r>
              <a:rPr dirty="0" sz="2800" spc="-10">
                <a:latin typeface="Calibri"/>
                <a:cs typeface="Calibri"/>
              </a:rPr>
              <a:t>matrix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95">
                <a:latin typeface="Calibri"/>
                <a:cs typeface="Calibri"/>
              </a:rPr>
              <a:t>form.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4401820"/>
            <a:ext cx="7649209" cy="198247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see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centrality </a:t>
            </a:r>
            <a:r>
              <a:rPr dirty="0" sz="2800" spc="-5">
                <a:latin typeface="Calibri"/>
                <a:cs typeface="Calibri"/>
              </a:rPr>
              <a:t>is the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eigenvector</a:t>
            </a:r>
            <a:r>
              <a:rPr dirty="0" sz="2800" spc="-15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  <a:p>
            <a:pPr marL="287020" marR="120014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20">
                <a:latin typeface="Calibri"/>
                <a:cs typeface="Calibri"/>
              </a:rPr>
              <a:t>largest eigenvalue </a:t>
            </a:r>
            <a:r>
              <a:rPr dirty="0" sz="2800" spc="450">
                <a:latin typeface="Cambria Math"/>
                <a:cs typeface="Cambria Math"/>
              </a:rPr>
              <a:t>𝜆</a:t>
            </a:r>
            <a:r>
              <a:rPr dirty="0" baseline="-16666" sz="3000" spc="675">
                <a:latin typeface="Cambria Math"/>
                <a:cs typeface="Cambria Math"/>
              </a:rPr>
              <a:t>()*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always </a:t>
            </a:r>
            <a:r>
              <a:rPr dirty="0" sz="2800" spc="-10">
                <a:latin typeface="Calibri"/>
                <a:cs typeface="Calibri"/>
              </a:rPr>
              <a:t>positive  </a:t>
            </a:r>
            <a:r>
              <a:rPr dirty="0" sz="2800" spc="-75">
                <a:latin typeface="Calibri"/>
                <a:cs typeface="Calibri"/>
              </a:rPr>
              <a:t>and </a:t>
            </a:r>
            <a:r>
              <a:rPr dirty="0" sz="2800" spc="-5">
                <a:latin typeface="Calibri"/>
                <a:cs typeface="Calibri"/>
              </a:rPr>
              <a:t>unique (by </a:t>
            </a:r>
            <a:r>
              <a:rPr dirty="0" sz="2800" spc="-15">
                <a:latin typeface="Calibri"/>
                <a:cs typeface="Calibri"/>
              </a:rPr>
              <a:t>Perron-Frobenius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Theorem).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leading </a:t>
            </a:r>
            <a:r>
              <a:rPr dirty="0" sz="2800" spc="-20">
                <a:latin typeface="Calibri"/>
                <a:cs typeface="Calibri"/>
              </a:rPr>
              <a:t>eigenvector </a:t>
            </a:r>
            <a:r>
              <a:rPr dirty="0" sz="2800" spc="450">
                <a:latin typeface="Cambria Math"/>
                <a:cs typeface="Cambria Math"/>
              </a:rPr>
              <a:t>𝒄</a:t>
            </a:r>
            <a:r>
              <a:rPr dirty="0" baseline="-16666" sz="3000" spc="675">
                <a:latin typeface="Cambria Math"/>
                <a:cs typeface="Cambria Math"/>
              </a:rPr>
              <a:t>()* </a:t>
            </a:r>
            <a:r>
              <a:rPr dirty="0" sz="2800" spc="-5">
                <a:latin typeface="Calibri"/>
                <a:cs typeface="Calibri"/>
              </a:rPr>
              <a:t>is used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-24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centrality.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7642" y="2730500"/>
            <a:ext cx="1657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𝑐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9913" y="2870707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solidFill>
                  <a:srgbClr val="0000FF"/>
                </a:solidFill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58522" y="2959657"/>
            <a:ext cx="165100" cy="0"/>
          </a:xfrm>
          <a:custGeom>
            <a:avLst/>
            <a:gdLst/>
            <a:ahLst/>
            <a:cxnLst/>
            <a:rect l="l" t="t" r="r" b="b"/>
            <a:pathLst>
              <a:path w="165100" h="0">
                <a:moveTo>
                  <a:pt x="0" y="0"/>
                </a:moveTo>
                <a:lnTo>
                  <a:pt x="165100" y="0"/>
                </a:lnTo>
              </a:path>
            </a:pathLst>
          </a:custGeom>
          <a:ln w="254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28259" y="2498851"/>
            <a:ext cx="5060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41666" sz="3600">
                <a:solidFill>
                  <a:srgbClr val="0000FF"/>
                </a:solidFill>
                <a:latin typeface="Cambria Math"/>
                <a:cs typeface="Cambria Math"/>
              </a:rPr>
              <a:t>=</a:t>
            </a:r>
            <a:r>
              <a:rPr dirty="0" baseline="-41666" sz="3600" spc="37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42838" y="2934716"/>
            <a:ext cx="1835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FF"/>
                </a:solidFill>
                <a:latin typeface="Cambria Math"/>
                <a:cs typeface="Cambria Math"/>
              </a:rPr>
              <a:t>𝜆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5667" y="2596388"/>
            <a:ext cx="1132205" cy="90043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155"/>
              </a:spcBef>
              <a:tabLst>
                <a:tab pos="838200" algn="l"/>
              </a:tabLst>
            </a:pPr>
            <a:r>
              <a:rPr dirty="0" sz="2400" spc="2375">
                <a:solidFill>
                  <a:srgbClr val="0000FF"/>
                </a:solidFill>
                <a:latin typeface="Cambria Math"/>
                <a:cs typeface="Cambria Math"/>
              </a:rPr>
              <a:t>-</a:t>
            </a:r>
            <a:r>
              <a:rPr dirty="0" sz="2400" spc="2375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dirty="0" sz="2400" spc="-65">
                <a:solidFill>
                  <a:srgbClr val="0000FF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585">
                <a:solidFill>
                  <a:srgbClr val="0000FF"/>
                </a:solidFill>
                <a:latin typeface="Cambria Math"/>
                <a:cs typeface="Cambria Math"/>
              </a:rPr>
              <a:t>*</a:t>
            </a:r>
            <a:endParaRPr baseline="-15432" sz="27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1800" spc="55">
                <a:solidFill>
                  <a:srgbClr val="0000FF"/>
                </a:solidFill>
                <a:latin typeface="Cambria Math"/>
                <a:cs typeface="Cambria Math"/>
              </a:rPr>
              <a:t>*∈%())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56211" y="2854048"/>
            <a:ext cx="914400" cy="319405"/>
          </a:xfrm>
          <a:custGeom>
            <a:avLst/>
            <a:gdLst/>
            <a:ahLst/>
            <a:cxnLst/>
            <a:rect l="l" t="t" r="r" b="b"/>
            <a:pathLst>
              <a:path w="914400" h="319405">
                <a:moveTo>
                  <a:pt x="159458" y="0"/>
                </a:moveTo>
                <a:lnTo>
                  <a:pt x="0" y="159458"/>
                </a:lnTo>
                <a:lnTo>
                  <a:pt x="159458" y="318917"/>
                </a:lnTo>
                <a:lnTo>
                  <a:pt x="159458" y="214833"/>
                </a:lnTo>
                <a:lnTo>
                  <a:pt x="859025" y="214833"/>
                </a:lnTo>
                <a:lnTo>
                  <a:pt x="914400" y="159458"/>
                </a:lnTo>
                <a:lnTo>
                  <a:pt x="859025" y="104084"/>
                </a:lnTo>
                <a:lnTo>
                  <a:pt x="159458" y="104084"/>
                </a:lnTo>
                <a:lnTo>
                  <a:pt x="159458" y="0"/>
                </a:lnTo>
                <a:close/>
              </a:path>
              <a:path w="914400" h="319405">
                <a:moveTo>
                  <a:pt x="859025" y="214833"/>
                </a:moveTo>
                <a:lnTo>
                  <a:pt x="754941" y="214833"/>
                </a:lnTo>
                <a:lnTo>
                  <a:pt x="754941" y="318917"/>
                </a:lnTo>
                <a:lnTo>
                  <a:pt x="859025" y="214833"/>
                </a:lnTo>
                <a:close/>
              </a:path>
              <a:path w="914400" h="319405">
                <a:moveTo>
                  <a:pt x="754941" y="0"/>
                </a:moveTo>
                <a:lnTo>
                  <a:pt x="754941" y="104084"/>
                </a:lnTo>
                <a:lnTo>
                  <a:pt x="859025" y="104084"/>
                </a:lnTo>
                <a:lnTo>
                  <a:pt x="754941" y="0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56211" y="2854048"/>
            <a:ext cx="914400" cy="319405"/>
          </a:xfrm>
          <a:custGeom>
            <a:avLst/>
            <a:gdLst/>
            <a:ahLst/>
            <a:cxnLst/>
            <a:rect l="l" t="t" r="r" b="b"/>
            <a:pathLst>
              <a:path w="914400" h="319405">
                <a:moveTo>
                  <a:pt x="0" y="159459"/>
                </a:moveTo>
                <a:lnTo>
                  <a:pt x="159459" y="0"/>
                </a:lnTo>
                <a:lnTo>
                  <a:pt x="159459" y="104084"/>
                </a:lnTo>
                <a:lnTo>
                  <a:pt x="754941" y="104084"/>
                </a:lnTo>
                <a:lnTo>
                  <a:pt x="754941" y="0"/>
                </a:lnTo>
                <a:lnTo>
                  <a:pt x="914400" y="159459"/>
                </a:lnTo>
                <a:lnTo>
                  <a:pt x="754941" y="318918"/>
                </a:lnTo>
                <a:lnTo>
                  <a:pt x="754941" y="214834"/>
                </a:lnTo>
                <a:lnTo>
                  <a:pt x="159459" y="214834"/>
                </a:lnTo>
                <a:lnTo>
                  <a:pt x="159459" y="318918"/>
                </a:lnTo>
                <a:lnTo>
                  <a:pt x="0" y="159459"/>
                </a:lnTo>
                <a:close/>
              </a:path>
            </a:pathLst>
          </a:custGeom>
          <a:ln w="38100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142765" y="2738797"/>
            <a:ext cx="3183890" cy="163258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30175">
              <a:lnSpc>
                <a:spcPct val="100000"/>
              </a:lnSpc>
              <a:spcBef>
                <a:spcPts val="425"/>
              </a:spcBef>
            </a:pPr>
            <a:r>
              <a:rPr dirty="0" sz="2800">
                <a:solidFill>
                  <a:srgbClr val="0000FF"/>
                </a:solidFill>
                <a:latin typeface="Cambria Math"/>
                <a:cs typeface="Cambria Math"/>
              </a:rPr>
              <a:t>𝜆𝒄 =</a:t>
            </a:r>
            <a:r>
              <a:rPr dirty="0" sz="2800" spc="204">
                <a:solidFill>
                  <a:srgbClr val="0000FF"/>
                </a:solidFill>
                <a:latin typeface="Cambria Math"/>
                <a:cs typeface="Cambria Math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Cambria Math"/>
                <a:cs typeface="Cambria Math"/>
              </a:rPr>
              <a:t>𝑨𝒄</a:t>
            </a:r>
            <a:endParaRPr sz="28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 spc="-5">
                <a:latin typeface="Cambria Math"/>
                <a:cs typeface="Cambria Math"/>
              </a:rPr>
              <a:t>𝑨</a:t>
            </a:r>
            <a:r>
              <a:rPr dirty="0" sz="2400" spc="-5">
                <a:latin typeface="Arial"/>
                <a:cs typeface="Arial"/>
              </a:rPr>
              <a:t>: Adjacency</a:t>
            </a:r>
            <a:r>
              <a:rPr dirty="0" sz="2400" spc="-17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  <a:p>
            <a:pPr marL="679450">
              <a:lnSpc>
                <a:spcPct val="100000"/>
              </a:lnSpc>
              <a:spcBef>
                <a:spcPts val="20"/>
              </a:spcBef>
            </a:pPr>
            <a:r>
              <a:rPr dirty="0" sz="2400" spc="175">
                <a:latin typeface="Cambria Math"/>
                <a:cs typeface="Cambria Math"/>
              </a:rPr>
              <a:t>𝑨</a:t>
            </a:r>
            <a:r>
              <a:rPr dirty="0" baseline="-15432" sz="2700" spc="262">
                <a:latin typeface="Cambria Math"/>
                <a:cs typeface="Cambria Math"/>
              </a:rPr>
              <a:t>*)</a:t>
            </a:r>
            <a:r>
              <a:rPr dirty="0" sz="2400" spc="175">
                <a:latin typeface="Cambria Math"/>
                <a:cs typeface="Cambria Math"/>
              </a:rPr>
              <a:t>= </a:t>
            </a:r>
            <a:r>
              <a:rPr dirty="0" sz="2400">
                <a:latin typeface="Cambria Math"/>
                <a:cs typeface="Cambria Math"/>
              </a:rPr>
              <a:t>1 </a:t>
            </a:r>
            <a:r>
              <a:rPr dirty="0" sz="2400">
                <a:latin typeface="Arial"/>
                <a:cs typeface="Arial"/>
              </a:rPr>
              <a:t>if </a:t>
            </a:r>
            <a:r>
              <a:rPr dirty="0" sz="2400">
                <a:latin typeface="Cambria Math"/>
                <a:cs typeface="Cambria Math"/>
              </a:rPr>
              <a:t>𝑢  ∈</a:t>
            </a:r>
            <a:r>
              <a:rPr dirty="0" sz="2400" spc="-190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𝑁(𝑣)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400">
                <a:latin typeface="Cambria Math"/>
                <a:cs typeface="Cambria Math"/>
              </a:rPr>
              <a:t>𝒄</a:t>
            </a:r>
            <a:r>
              <a:rPr dirty="0" sz="2400">
                <a:latin typeface="Arial"/>
                <a:cs typeface="Arial"/>
              </a:rPr>
              <a:t>: </a:t>
            </a:r>
            <a:r>
              <a:rPr dirty="0" sz="2400" spc="-5">
                <a:latin typeface="Arial"/>
                <a:cs typeface="Arial"/>
              </a:rPr>
              <a:t>Centrality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vector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0191" y="3590035"/>
            <a:ext cx="24422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𝜆 </a:t>
            </a:r>
            <a:r>
              <a:rPr dirty="0" sz="2400">
                <a:latin typeface="Arial"/>
                <a:cs typeface="Arial"/>
              </a:rPr>
              <a:t>is some </a:t>
            </a:r>
            <a:r>
              <a:rPr dirty="0" sz="2400" spc="-5">
                <a:latin typeface="Arial"/>
                <a:cs typeface="Arial"/>
              </a:rPr>
              <a:t>positive  constant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872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3935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Betweenness </a:t>
            </a:r>
            <a:r>
              <a:rPr dirty="0" spc="-15">
                <a:solidFill>
                  <a:srgbClr val="E66C7D"/>
                </a:solidFill>
              </a:rPr>
              <a:t>centrality: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6863080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is </a:t>
            </a:r>
            <a:r>
              <a:rPr dirty="0" sz="2800" spc="-10">
                <a:latin typeface="Calibri"/>
                <a:cs typeface="Calibri"/>
              </a:rPr>
              <a:t>important </a:t>
            </a:r>
            <a:r>
              <a:rPr dirty="0" sz="2800" spc="-5">
                <a:latin typeface="Calibri"/>
                <a:cs typeface="Calibri"/>
              </a:rPr>
              <a:t>if it </a:t>
            </a:r>
            <a:r>
              <a:rPr dirty="0" sz="2800" spc="-10">
                <a:latin typeface="Calibri"/>
                <a:cs typeface="Calibri"/>
              </a:rPr>
              <a:t>lies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85">
                <a:latin typeface="Calibri"/>
                <a:cs typeface="Calibri"/>
              </a:rPr>
              <a:t>shortest  </a:t>
            </a:r>
            <a:r>
              <a:rPr dirty="0" sz="2800" spc="-10">
                <a:latin typeface="Calibri"/>
                <a:cs typeface="Calibri"/>
              </a:rPr>
              <a:t>paths between </a:t>
            </a:r>
            <a:r>
              <a:rPr dirty="0" sz="2800" spc="-5">
                <a:latin typeface="Calibri"/>
                <a:cs typeface="Calibri"/>
              </a:rPr>
              <a:t>other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39467" y="5279937"/>
            <a:ext cx="843280" cy="757555"/>
          </a:xfrm>
          <a:custGeom>
            <a:avLst/>
            <a:gdLst/>
            <a:ahLst/>
            <a:cxnLst/>
            <a:rect l="l" t="t" r="r" b="b"/>
            <a:pathLst>
              <a:path w="843280" h="757554">
                <a:moveTo>
                  <a:pt x="0" y="0"/>
                </a:moveTo>
                <a:lnTo>
                  <a:pt x="842787" y="75702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28699" y="4763231"/>
            <a:ext cx="292100" cy="1424305"/>
          </a:xfrm>
          <a:custGeom>
            <a:avLst/>
            <a:gdLst/>
            <a:ahLst/>
            <a:cxnLst/>
            <a:rect l="l" t="t" r="r" b="b"/>
            <a:pathLst>
              <a:path w="292100" h="1424304">
                <a:moveTo>
                  <a:pt x="0" y="1424272"/>
                </a:moveTo>
                <a:lnTo>
                  <a:pt x="29204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76799" y="5538575"/>
            <a:ext cx="604520" cy="635"/>
          </a:xfrm>
          <a:custGeom>
            <a:avLst/>
            <a:gdLst/>
            <a:ahLst/>
            <a:cxnLst/>
            <a:rect l="l" t="t" r="r" b="b"/>
            <a:pathLst>
              <a:path w="604520" h="635">
                <a:moveTo>
                  <a:pt x="0" y="574"/>
                </a:moveTo>
                <a:lnTo>
                  <a:pt x="6044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20742" y="4709093"/>
            <a:ext cx="590550" cy="880110"/>
          </a:xfrm>
          <a:custGeom>
            <a:avLst/>
            <a:gdLst/>
            <a:ahLst/>
            <a:cxnLst/>
            <a:rect l="l" t="t" r="r" b="b"/>
            <a:pathLst>
              <a:path w="590550" h="880110">
                <a:moveTo>
                  <a:pt x="590314" y="87995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28868" y="5739864"/>
            <a:ext cx="735965" cy="462915"/>
          </a:xfrm>
          <a:custGeom>
            <a:avLst/>
            <a:gdLst/>
            <a:ahLst/>
            <a:cxnLst/>
            <a:rect l="l" t="t" r="r" b="b"/>
            <a:pathLst>
              <a:path w="735964" h="462914">
                <a:moveTo>
                  <a:pt x="0" y="462369"/>
                </a:moveTo>
                <a:lnTo>
                  <a:pt x="7356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21432" y="597420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89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4"/>
                </a:lnTo>
                <a:lnTo>
                  <a:pt x="5474" y="262201"/>
                </a:lnTo>
                <a:lnTo>
                  <a:pt x="21066" y="307096"/>
                </a:lnTo>
                <a:lnTo>
                  <a:pt x="45534" y="346700"/>
                </a:lnTo>
                <a:lnTo>
                  <a:pt x="77631" y="379731"/>
                </a:lnTo>
                <a:lnTo>
                  <a:pt x="116115" y="404910"/>
                </a:lnTo>
                <a:lnTo>
                  <a:pt x="159742" y="420956"/>
                </a:lnTo>
                <a:lnTo>
                  <a:pt x="207266" y="426589"/>
                </a:lnTo>
                <a:lnTo>
                  <a:pt x="254790" y="420956"/>
                </a:lnTo>
                <a:lnTo>
                  <a:pt x="298416" y="404910"/>
                </a:lnTo>
                <a:lnTo>
                  <a:pt x="336900" y="379731"/>
                </a:lnTo>
                <a:lnTo>
                  <a:pt x="368997" y="346700"/>
                </a:lnTo>
                <a:lnTo>
                  <a:pt x="393465" y="307096"/>
                </a:lnTo>
                <a:lnTo>
                  <a:pt x="409057" y="262201"/>
                </a:lnTo>
                <a:lnTo>
                  <a:pt x="414531" y="213294"/>
                </a:lnTo>
                <a:lnTo>
                  <a:pt x="409057" y="164388"/>
                </a:lnTo>
                <a:lnTo>
                  <a:pt x="393465" y="119493"/>
                </a:lnTo>
                <a:lnTo>
                  <a:pt x="368997" y="79889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321432" y="597420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33448" y="6037579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5642" y="491581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90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5"/>
                </a:lnTo>
                <a:lnTo>
                  <a:pt x="5474" y="262202"/>
                </a:lnTo>
                <a:lnTo>
                  <a:pt x="21066" y="307097"/>
                </a:lnTo>
                <a:lnTo>
                  <a:pt x="45534" y="346700"/>
                </a:lnTo>
                <a:lnTo>
                  <a:pt x="77631" y="379732"/>
                </a:lnTo>
                <a:lnTo>
                  <a:pt x="116115" y="404910"/>
                </a:lnTo>
                <a:lnTo>
                  <a:pt x="159742" y="420957"/>
                </a:lnTo>
                <a:lnTo>
                  <a:pt x="207266" y="426590"/>
                </a:lnTo>
                <a:lnTo>
                  <a:pt x="254790" y="420957"/>
                </a:lnTo>
                <a:lnTo>
                  <a:pt x="298416" y="404910"/>
                </a:lnTo>
                <a:lnTo>
                  <a:pt x="336900" y="379732"/>
                </a:lnTo>
                <a:lnTo>
                  <a:pt x="368997" y="346700"/>
                </a:lnTo>
                <a:lnTo>
                  <a:pt x="393464" y="307097"/>
                </a:lnTo>
                <a:lnTo>
                  <a:pt x="409057" y="262202"/>
                </a:lnTo>
                <a:lnTo>
                  <a:pt x="414531" y="213295"/>
                </a:lnTo>
                <a:lnTo>
                  <a:pt x="409057" y="164388"/>
                </a:lnTo>
                <a:lnTo>
                  <a:pt x="393464" y="119493"/>
                </a:lnTo>
                <a:lnTo>
                  <a:pt x="368997" y="79890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85642" y="491581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304009" y="4979923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613475" y="449579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89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5"/>
                </a:lnTo>
                <a:lnTo>
                  <a:pt x="5474" y="262201"/>
                </a:lnTo>
                <a:lnTo>
                  <a:pt x="21066" y="307096"/>
                </a:lnTo>
                <a:lnTo>
                  <a:pt x="45534" y="346700"/>
                </a:lnTo>
                <a:lnTo>
                  <a:pt x="77631" y="379731"/>
                </a:lnTo>
                <a:lnTo>
                  <a:pt x="116115" y="404910"/>
                </a:lnTo>
                <a:lnTo>
                  <a:pt x="159742" y="420957"/>
                </a:lnTo>
                <a:lnTo>
                  <a:pt x="207266" y="426590"/>
                </a:lnTo>
                <a:lnTo>
                  <a:pt x="254790" y="420957"/>
                </a:lnTo>
                <a:lnTo>
                  <a:pt x="298416" y="404910"/>
                </a:lnTo>
                <a:lnTo>
                  <a:pt x="336900" y="379731"/>
                </a:lnTo>
                <a:lnTo>
                  <a:pt x="368997" y="346700"/>
                </a:lnTo>
                <a:lnTo>
                  <a:pt x="393465" y="307096"/>
                </a:lnTo>
                <a:lnTo>
                  <a:pt x="409057" y="262201"/>
                </a:lnTo>
                <a:lnTo>
                  <a:pt x="414531" y="213295"/>
                </a:lnTo>
                <a:lnTo>
                  <a:pt x="409057" y="164388"/>
                </a:lnTo>
                <a:lnTo>
                  <a:pt x="393465" y="119493"/>
                </a:lnTo>
                <a:lnTo>
                  <a:pt x="368997" y="79889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13475" y="449579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731842" y="455930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03785" y="5375747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90"/>
                </a:lnTo>
                <a:lnTo>
                  <a:pt x="21066" y="119493"/>
                </a:lnTo>
                <a:lnTo>
                  <a:pt x="5474" y="164389"/>
                </a:lnTo>
                <a:lnTo>
                  <a:pt x="0" y="213295"/>
                </a:lnTo>
                <a:lnTo>
                  <a:pt x="5474" y="262202"/>
                </a:lnTo>
                <a:lnTo>
                  <a:pt x="21066" y="307097"/>
                </a:lnTo>
                <a:lnTo>
                  <a:pt x="45534" y="346700"/>
                </a:lnTo>
                <a:lnTo>
                  <a:pt x="77631" y="379732"/>
                </a:lnTo>
                <a:lnTo>
                  <a:pt x="116115" y="404911"/>
                </a:lnTo>
                <a:lnTo>
                  <a:pt x="159742" y="420957"/>
                </a:lnTo>
                <a:lnTo>
                  <a:pt x="207266" y="426590"/>
                </a:lnTo>
                <a:lnTo>
                  <a:pt x="254790" y="420957"/>
                </a:lnTo>
                <a:lnTo>
                  <a:pt x="298416" y="404911"/>
                </a:lnTo>
                <a:lnTo>
                  <a:pt x="336900" y="379732"/>
                </a:lnTo>
                <a:lnTo>
                  <a:pt x="368997" y="346700"/>
                </a:lnTo>
                <a:lnTo>
                  <a:pt x="393465" y="307097"/>
                </a:lnTo>
                <a:lnTo>
                  <a:pt x="409057" y="262202"/>
                </a:lnTo>
                <a:lnTo>
                  <a:pt x="414531" y="213295"/>
                </a:lnTo>
                <a:lnTo>
                  <a:pt x="409057" y="164389"/>
                </a:lnTo>
                <a:lnTo>
                  <a:pt x="393465" y="119493"/>
                </a:lnTo>
                <a:lnTo>
                  <a:pt x="368997" y="79890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03785" y="5375747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315802" y="5440171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81260" y="532527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89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5"/>
                </a:lnTo>
                <a:lnTo>
                  <a:pt x="5474" y="262201"/>
                </a:lnTo>
                <a:lnTo>
                  <a:pt x="21066" y="307096"/>
                </a:lnTo>
                <a:lnTo>
                  <a:pt x="45534" y="346700"/>
                </a:lnTo>
                <a:lnTo>
                  <a:pt x="77631" y="379731"/>
                </a:lnTo>
                <a:lnTo>
                  <a:pt x="116115" y="404910"/>
                </a:lnTo>
                <a:lnTo>
                  <a:pt x="159742" y="420956"/>
                </a:lnTo>
                <a:lnTo>
                  <a:pt x="207266" y="426589"/>
                </a:lnTo>
                <a:lnTo>
                  <a:pt x="254790" y="420956"/>
                </a:lnTo>
                <a:lnTo>
                  <a:pt x="298416" y="404910"/>
                </a:lnTo>
                <a:lnTo>
                  <a:pt x="336900" y="379731"/>
                </a:lnTo>
                <a:lnTo>
                  <a:pt x="368997" y="346700"/>
                </a:lnTo>
                <a:lnTo>
                  <a:pt x="393465" y="307096"/>
                </a:lnTo>
                <a:lnTo>
                  <a:pt x="409057" y="262201"/>
                </a:lnTo>
                <a:lnTo>
                  <a:pt x="414531" y="213295"/>
                </a:lnTo>
                <a:lnTo>
                  <a:pt x="409057" y="164388"/>
                </a:lnTo>
                <a:lnTo>
                  <a:pt x="393465" y="119493"/>
                </a:lnTo>
                <a:lnTo>
                  <a:pt x="368997" y="79889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81260" y="532527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199626" y="53883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46603" y="4425188"/>
            <a:ext cx="3395979" cy="186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46710">
              <a:lnSpc>
                <a:spcPct val="100000"/>
              </a:lnSpc>
              <a:spcBef>
                <a:spcPts val="100"/>
              </a:spcBef>
            </a:pPr>
            <a:r>
              <a:rPr dirty="0" sz="2400" spc="-12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-179">
                <a:solidFill>
                  <a:srgbClr val="008000"/>
                </a:solidFill>
                <a:latin typeface="Cambria Math"/>
                <a:cs typeface="Cambria Math"/>
              </a:rPr>
              <a:t>&amp; 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 </a:t>
            </a:r>
            <a:r>
              <a:rPr dirty="0" sz="2400" spc="355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532">
                <a:solidFill>
                  <a:srgbClr val="008000"/>
                </a:solidFill>
                <a:latin typeface="Cambria Math"/>
                <a:cs typeface="Cambria Math"/>
              </a:rPr>
              <a:t>'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 </a:t>
            </a:r>
            <a:r>
              <a:rPr dirty="0" sz="2400" spc="35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525">
                <a:solidFill>
                  <a:srgbClr val="008000"/>
                </a:solidFill>
                <a:latin typeface="Cambria Math"/>
                <a:cs typeface="Cambria Math"/>
              </a:rPr>
              <a:t>.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 0</a:t>
            </a:r>
            <a:endParaRPr sz="2400">
              <a:latin typeface="Cambria Math"/>
              <a:cs typeface="Cambria Math"/>
            </a:endParaRPr>
          </a:p>
          <a:p>
            <a:pPr algn="ctr" marL="346075">
              <a:lnSpc>
                <a:spcPct val="100000"/>
              </a:lnSpc>
              <a:spcBef>
                <a:spcPts val="20"/>
              </a:spcBef>
            </a:pPr>
            <a:r>
              <a:rPr dirty="0" sz="2400" spc="13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195">
                <a:solidFill>
                  <a:srgbClr val="008000"/>
                </a:solidFill>
                <a:latin typeface="Cambria Math"/>
                <a:cs typeface="Cambria Math"/>
              </a:rPr>
              <a:t>(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</a:t>
            </a:r>
            <a:r>
              <a:rPr dirty="0" sz="2400" spc="11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3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(A-</a:t>
            </a:r>
            <a:r>
              <a:rPr dirty="0" sz="2400" spc="-5" u="sng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-B,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A-</a:t>
            </a:r>
            <a:r>
              <a:rPr dirty="0" sz="2400" u="heavy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-D,</a:t>
            </a:r>
            <a:r>
              <a:rPr dirty="0" sz="2400" spc="-33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A-</a:t>
            </a:r>
            <a:r>
              <a:rPr dirty="0" sz="2400" spc="-5" u="heavy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-D-E)</a:t>
            </a:r>
            <a:endParaRPr sz="2400">
              <a:latin typeface="Arial"/>
              <a:cs typeface="Arial"/>
            </a:endParaRPr>
          </a:p>
          <a:p>
            <a:pPr algn="ctr" marL="346075">
              <a:lnSpc>
                <a:spcPct val="100000"/>
              </a:lnSpc>
              <a:spcBef>
                <a:spcPts val="20"/>
              </a:spcBef>
            </a:pPr>
            <a:r>
              <a:rPr dirty="0" sz="2400" spc="35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525">
                <a:solidFill>
                  <a:srgbClr val="008000"/>
                </a:solidFill>
                <a:latin typeface="Cambria Math"/>
                <a:cs typeface="Cambria Math"/>
              </a:rPr>
              <a:t>!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</a:t>
            </a:r>
            <a:r>
              <a:rPr dirty="0" sz="2400" spc="-13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3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(A-C-</a:t>
            </a:r>
            <a:r>
              <a:rPr dirty="0" sz="2400" spc="-5" u="heavy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-E, B-</a:t>
            </a:r>
            <a:r>
              <a:rPr dirty="0" sz="2400" spc="-5" u="heavy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-E,</a:t>
            </a:r>
            <a:r>
              <a:rPr dirty="0" sz="2400" spc="-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C-</a:t>
            </a:r>
            <a:r>
              <a:rPr dirty="0" sz="2400" spc="-5" u="heavy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-E)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7810" y="3209035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5539" y="3071876"/>
            <a:ext cx="614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</a:tabLst>
            </a:pPr>
            <a:r>
              <a:rPr dirty="0" sz="2400">
                <a:latin typeface="Cambria Math"/>
                <a:cs typeface="Cambria Math"/>
              </a:rPr>
              <a:t>𝑐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6563" y="3483573"/>
            <a:ext cx="1621790" cy="858519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940435">
              <a:lnSpc>
                <a:spcPct val="100000"/>
              </a:lnSpc>
              <a:spcBef>
                <a:spcPts val="505"/>
              </a:spcBef>
            </a:pPr>
            <a:r>
              <a:rPr dirty="0" sz="1800">
                <a:latin typeface="Cambria Math"/>
                <a:cs typeface="Cambria Math"/>
              </a:rPr>
              <a:t>/</a:t>
            </a:r>
            <a:r>
              <a:rPr dirty="0" sz="1800" spc="275">
                <a:latin typeface="Cambria Math"/>
                <a:cs typeface="Cambria Math"/>
              </a:rPr>
              <a:t>0</a:t>
            </a:r>
            <a:r>
              <a:rPr dirty="0" sz="1800" spc="275">
                <a:latin typeface="Cambria Math"/>
                <a:cs typeface="Cambria Math"/>
              </a:rPr>
              <a:t>)</a:t>
            </a:r>
            <a:r>
              <a:rPr dirty="0" sz="1800" spc="275">
                <a:latin typeface="Cambria Math"/>
                <a:cs typeface="Cambria Math"/>
              </a:rPr>
              <a:t>0</a:t>
            </a:r>
            <a:r>
              <a:rPr dirty="0" sz="1800" spc="-204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80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618739" y="3300153"/>
            <a:ext cx="6172200" cy="0"/>
          </a:xfrm>
          <a:custGeom>
            <a:avLst/>
            <a:gdLst/>
            <a:ahLst/>
            <a:cxnLst/>
            <a:rect l="l" t="t" r="r" b="b"/>
            <a:pathLst>
              <a:path w="6172200" h="0">
                <a:moveTo>
                  <a:pt x="0" y="0"/>
                </a:moveTo>
                <a:lnTo>
                  <a:pt x="61722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018347" y="2840227"/>
            <a:ext cx="6786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1345" algn="l"/>
              </a:tabLst>
            </a:pPr>
            <a:r>
              <a:rPr dirty="0" baseline="-41666" sz="3600" spc="3562">
                <a:latin typeface="Cambria Math"/>
                <a:cs typeface="Cambria Math"/>
              </a:rPr>
              <a:t>-	</a:t>
            </a:r>
            <a:r>
              <a:rPr dirty="0" sz="2400" spc="-5">
                <a:latin typeface="Cambria Math"/>
                <a:cs typeface="Cambria Math"/>
              </a:rPr>
              <a:t>#(shortest </a:t>
            </a:r>
            <a:r>
              <a:rPr dirty="0" sz="2400">
                <a:latin typeface="Cambria Math"/>
                <a:cs typeface="Cambria Math"/>
              </a:rPr>
              <a:t>paths </a:t>
            </a:r>
            <a:r>
              <a:rPr dirty="0" sz="2400" spc="-10">
                <a:latin typeface="Cambria Math"/>
                <a:cs typeface="Cambria Math"/>
              </a:rPr>
              <a:t>betwen </a:t>
            </a:r>
            <a:r>
              <a:rPr dirty="0" sz="2400">
                <a:latin typeface="Cambria Math"/>
                <a:cs typeface="Cambria Math"/>
              </a:rPr>
              <a:t>𝑠 </a:t>
            </a:r>
            <a:r>
              <a:rPr dirty="0" sz="2400" spc="-5">
                <a:latin typeface="Cambria Math"/>
                <a:cs typeface="Cambria Math"/>
              </a:rPr>
              <a:t>and </a:t>
            </a:r>
            <a:r>
              <a:rPr dirty="0" sz="2400">
                <a:latin typeface="Cambria Math"/>
                <a:cs typeface="Cambria Math"/>
              </a:rPr>
              <a:t>𝑡 that </a:t>
            </a:r>
            <a:r>
              <a:rPr dirty="0" sz="2400" spc="-5">
                <a:latin typeface="Cambria Math"/>
                <a:cs typeface="Cambria Math"/>
              </a:rPr>
              <a:t>contain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𝑣)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68052" y="3276091"/>
            <a:ext cx="4476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mbria Math"/>
                <a:cs typeface="Cambria Math"/>
              </a:rPr>
              <a:t>#(shortest </a:t>
            </a:r>
            <a:r>
              <a:rPr dirty="0" sz="2400">
                <a:latin typeface="Cambria Math"/>
                <a:cs typeface="Cambria Math"/>
              </a:rPr>
              <a:t>paths </a:t>
            </a:r>
            <a:r>
              <a:rPr dirty="0" sz="2400" spc="-10">
                <a:latin typeface="Cambria Math"/>
                <a:cs typeface="Cambria Math"/>
              </a:rPr>
              <a:t>between </a:t>
            </a:r>
            <a:r>
              <a:rPr dirty="0" sz="2400">
                <a:latin typeface="Cambria Math"/>
                <a:cs typeface="Cambria Math"/>
              </a:rPr>
              <a:t>𝑠 </a:t>
            </a:r>
            <a:r>
              <a:rPr dirty="0" sz="2400" spc="-5">
                <a:latin typeface="Cambria Math"/>
                <a:cs typeface="Cambria Math"/>
              </a:rPr>
              <a:t>and</a:t>
            </a:r>
            <a:r>
              <a:rPr dirty="0" sz="2400" spc="0">
                <a:latin typeface="Cambria Math"/>
                <a:cs typeface="Cambria Math"/>
              </a:rPr>
              <a:t> </a:t>
            </a:r>
            <a:r>
              <a:rPr dirty="0" sz="2400" spc="25">
                <a:latin typeface="Cambria Math"/>
                <a:cs typeface="Cambria Math"/>
              </a:rPr>
              <a:t>𝑡)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458114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79666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6BB76D"/>
                </a:solidFill>
              </a:rPr>
              <a:t>Closeness</a:t>
            </a:r>
            <a:r>
              <a:rPr dirty="0" spc="-25">
                <a:solidFill>
                  <a:srgbClr val="6BB76D"/>
                </a:solidFill>
              </a:rPr>
              <a:t> </a:t>
            </a:r>
            <a:r>
              <a:rPr dirty="0" spc="-15">
                <a:solidFill>
                  <a:srgbClr val="6BB76D"/>
                </a:solidFill>
              </a:rPr>
              <a:t>centrality: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20747"/>
            <a:ext cx="7127875" cy="8820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is </a:t>
            </a:r>
            <a:r>
              <a:rPr dirty="0" sz="2800" spc="-10">
                <a:latin typeface="Calibri"/>
                <a:cs typeface="Calibri"/>
              </a:rPr>
              <a:t>important </a:t>
            </a:r>
            <a:r>
              <a:rPr dirty="0" sz="2800" spc="-5">
                <a:latin typeface="Calibri"/>
                <a:cs typeface="Calibri"/>
              </a:rPr>
              <a:t>if it has small </a:t>
            </a:r>
            <a:r>
              <a:rPr dirty="0" sz="2800" spc="-10">
                <a:latin typeface="Calibri"/>
                <a:cs typeface="Calibri"/>
              </a:rPr>
              <a:t>shortest </a:t>
            </a:r>
            <a:r>
              <a:rPr dirty="0" sz="2800" spc="-160">
                <a:latin typeface="Calibri"/>
                <a:cs typeface="Calibri"/>
              </a:rPr>
              <a:t>path  </a:t>
            </a:r>
            <a:r>
              <a:rPr dirty="0" sz="2800" spc="-15">
                <a:latin typeface="Calibri"/>
                <a:cs typeface="Calibri"/>
              </a:rPr>
              <a:t>lengths to </a:t>
            </a:r>
            <a:r>
              <a:rPr dirty="0" sz="2800" spc="-5">
                <a:latin typeface="Calibri"/>
                <a:cs typeface="Calibri"/>
              </a:rPr>
              <a:t>all other nodes.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889755"/>
            <a:ext cx="16516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75" b="1"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3369" y="3169411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1098" y="3029204"/>
            <a:ext cx="6140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</a:tabLst>
            </a:pPr>
            <a:r>
              <a:rPr dirty="0" sz="2400">
                <a:latin typeface="Cambria Math"/>
                <a:cs typeface="Cambria Math"/>
              </a:rPr>
              <a:t>𝑐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26898" y="3258820"/>
            <a:ext cx="5562600" cy="0"/>
          </a:xfrm>
          <a:custGeom>
            <a:avLst/>
            <a:gdLst/>
            <a:ahLst/>
            <a:cxnLst/>
            <a:rect l="l" t="t" r="r" b="b"/>
            <a:pathLst>
              <a:path w="5562600" h="0">
                <a:moveTo>
                  <a:pt x="0" y="0"/>
                </a:moveTo>
                <a:lnTo>
                  <a:pt x="5562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13373" y="2733548"/>
            <a:ext cx="5574665" cy="8915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625"/>
              </a:spcBef>
            </a:pP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dirty="0" baseline="2314" sz="3600" spc="345">
                <a:latin typeface="Cambria Math"/>
                <a:cs typeface="Cambria Math"/>
              </a:rPr>
              <a:t>∑</a:t>
            </a:r>
            <a:r>
              <a:rPr dirty="0" baseline="-16975" sz="2700" spc="345">
                <a:latin typeface="Cambria Math"/>
                <a:cs typeface="Cambria Math"/>
              </a:rPr>
              <a:t>*0) </a:t>
            </a:r>
            <a:r>
              <a:rPr dirty="0" sz="2400" spc="-5">
                <a:latin typeface="Cambria Math"/>
                <a:cs typeface="Cambria Math"/>
              </a:rPr>
              <a:t>shortest </a:t>
            </a:r>
            <a:r>
              <a:rPr dirty="0" sz="2400">
                <a:latin typeface="Cambria Math"/>
                <a:cs typeface="Cambria Math"/>
              </a:rPr>
              <a:t>path </a:t>
            </a:r>
            <a:r>
              <a:rPr dirty="0" sz="2400" spc="-5">
                <a:latin typeface="Cambria Math"/>
                <a:cs typeface="Cambria Math"/>
              </a:rPr>
              <a:t>length </a:t>
            </a:r>
            <a:r>
              <a:rPr dirty="0" sz="2400" spc="-10">
                <a:latin typeface="Cambria Math"/>
                <a:cs typeface="Cambria Math"/>
              </a:rPr>
              <a:t>between </a:t>
            </a:r>
            <a:r>
              <a:rPr dirty="0" sz="2400">
                <a:latin typeface="Cambria Math"/>
                <a:cs typeface="Cambria Math"/>
              </a:rPr>
              <a:t>𝑢 </a:t>
            </a:r>
            <a:r>
              <a:rPr dirty="0" sz="2400" spc="-5">
                <a:latin typeface="Cambria Math"/>
                <a:cs typeface="Cambria Math"/>
              </a:rPr>
              <a:t>and</a:t>
            </a:r>
            <a:r>
              <a:rPr dirty="0" sz="2400" spc="-30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𝑣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39467" y="5279937"/>
            <a:ext cx="843280" cy="757555"/>
          </a:xfrm>
          <a:custGeom>
            <a:avLst/>
            <a:gdLst/>
            <a:ahLst/>
            <a:cxnLst/>
            <a:rect l="l" t="t" r="r" b="b"/>
            <a:pathLst>
              <a:path w="843280" h="757554">
                <a:moveTo>
                  <a:pt x="0" y="0"/>
                </a:moveTo>
                <a:lnTo>
                  <a:pt x="842787" y="75702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28699" y="4763231"/>
            <a:ext cx="292100" cy="1424305"/>
          </a:xfrm>
          <a:custGeom>
            <a:avLst/>
            <a:gdLst/>
            <a:ahLst/>
            <a:cxnLst/>
            <a:rect l="l" t="t" r="r" b="b"/>
            <a:pathLst>
              <a:path w="292100" h="1424304">
                <a:moveTo>
                  <a:pt x="0" y="1424272"/>
                </a:moveTo>
                <a:lnTo>
                  <a:pt x="29204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76799" y="5538575"/>
            <a:ext cx="604520" cy="635"/>
          </a:xfrm>
          <a:custGeom>
            <a:avLst/>
            <a:gdLst/>
            <a:ahLst/>
            <a:cxnLst/>
            <a:rect l="l" t="t" r="r" b="b"/>
            <a:pathLst>
              <a:path w="604520" h="635">
                <a:moveTo>
                  <a:pt x="0" y="574"/>
                </a:moveTo>
                <a:lnTo>
                  <a:pt x="6044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20742" y="4709093"/>
            <a:ext cx="590550" cy="880110"/>
          </a:xfrm>
          <a:custGeom>
            <a:avLst/>
            <a:gdLst/>
            <a:ahLst/>
            <a:cxnLst/>
            <a:rect l="l" t="t" r="r" b="b"/>
            <a:pathLst>
              <a:path w="590550" h="880110">
                <a:moveTo>
                  <a:pt x="590314" y="87995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28868" y="5739864"/>
            <a:ext cx="735965" cy="462915"/>
          </a:xfrm>
          <a:custGeom>
            <a:avLst/>
            <a:gdLst/>
            <a:ahLst/>
            <a:cxnLst/>
            <a:rect l="l" t="t" r="r" b="b"/>
            <a:pathLst>
              <a:path w="735964" h="462914">
                <a:moveTo>
                  <a:pt x="0" y="462369"/>
                </a:moveTo>
                <a:lnTo>
                  <a:pt x="7356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321432" y="597420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89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4"/>
                </a:lnTo>
                <a:lnTo>
                  <a:pt x="5474" y="262201"/>
                </a:lnTo>
                <a:lnTo>
                  <a:pt x="21066" y="307096"/>
                </a:lnTo>
                <a:lnTo>
                  <a:pt x="45534" y="346700"/>
                </a:lnTo>
                <a:lnTo>
                  <a:pt x="77631" y="379731"/>
                </a:lnTo>
                <a:lnTo>
                  <a:pt x="116115" y="404910"/>
                </a:lnTo>
                <a:lnTo>
                  <a:pt x="159742" y="420956"/>
                </a:lnTo>
                <a:lnTo>
                  <a:pt x="207266" y="426589"/>
                </a:lnTo>
                <a:lnTo>
                  <a:pt x="254790" y="420956"/>
                </a:lnTo>
                <a:lnTo>
                  <a:pt x="298416" y="404910"/>
                </a:lnTo>
                <a:lnTo>
                  <a:pt x="336900" y="379731"/>
                </a:lnTo>
                <a:lnTo>
                  <a:pt x="368997" y="346700"/>
                </a:lnTo>
                <a:lnTo>
                  <a:pt x="393465" y="307096"/>
                </a:lnTo>
                <a:lnTo>
                  <a:pt x="409057" y="262201"/>
                </a:lnTo>
                <a:lnTo>
                  <a:pt x="414531" y="213294"/>
                </a:lnTo>
                <a:lnTo>
                  <a:pt x="409057" y="164388"/>
                </a:lnTo>
                <a:lnTo>
                  <a:pt x="393465" y="119493"/>
                </a:lnTo>
                <a:lnTo>
                  <a:pt x="368997" y="79889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321432" y="597420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433448" y="6037579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85642" y="491581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90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5"/>
                </a:lnTo>
                <a:lnTo>
                  <a:pt x="5474" y="262202"/>
                </a:lnTo>
                <a:lnTo>
                  <a:pt x="21066" y="307097"/>
                </a:lnTo>
                <a:lnTo>
                  <a:pt x="45534" y="346700"/>
                </a:lnTo>
                <a:lnTo>
                  <a:pt x="77631" y="379732"/>
                </a:lnTo>
                <a:lnTo>
                  <a:pt x="116115" y="404910"/>
                </a:lnTo>
                <a:lnTo>
                  <a:pt x="159742" y="420957"/>
                </a:lnTo>
                <a:lnTo>
                  <a:pt x="207266" y="426590"/>
                </a:lnTo>
                <a:lnTo>
                  <a:pt x="254790" y="420957"/>
                </a:lnTo>
                <a:lnTo>
                  <a:pt x="298416" y="404910"/>
                </a:lnTo>
                <a:lnTo>
                  <a:pt x="336900" y="379732"/>
                </a:lnTo>
                <a:lnTo>
                  <a:pt x="368997" y="346700"/>
                </a:lnTo>
                <a:lnTo>
                  <a:pt x="393464" y="307097"/>
                </a:lnTo>
                <a:lnTo>
                  <a:pt x="409057" y="262202"/>
                </a:lnTo>
                <a:lnTo>
                  <a:pt x="414531" y="213295"/>
                </a:lnTo>
                <a:lnTo>
                  <a:pt x="409057" y="164388"/>
                </a:lnTo>
                <a:lnTo>
                  <a:pt x="393464" y="119493"/>
                </a:lnTo>
                <a:lnTo>
                  <a:pt x="368997" y="79890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85642" y="491581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04009" y="4979923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13475" y="449579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89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5"/>
                </a:lnTo>
                <a:lnTo>
                  <a:pt x="5474" y="262201"/>
                </a:lnTo>
                <a:lnTo>
                  <a:pt x="21066" y="307096"/>
                </a:lnTo>
                <a:lnTo>
                  <a:pt x="45534" y="346700"/>
                </a:lnTo>
                <a:lnTo>
                  <a:pt x="77631" y="379731"/>
                </a:lnTo>
                <a:lnTo>
                  <a:pt x="116115" y="404910"/>
                </a:lnTo>
                <a:lnTo>
                  <a:pt x="159742" y="420957"/>
                </a:lnTo>
                <a:lnTo>
                  <a:pt x="207266" y="426590"/>
                </a:lnTo>
                <a:lnTo>
                  <a:pt x="254790" y="420957"/>
                </a:lnTo>
                <a:lnTo>
                  <a:pt x="298416" y="404910"/>
                </a:lnTo>
                <a:lnTo>
                  <a:pt x="336900" y="379731"/>
                </a:lnTo>
                <a:lnTo>
                  <a:pt x="368997" y="346700"/>
                </a:lnTo>
                <a:lnTo>
                  <a:pt x="393465" y="307096"/>
                </a:lnTo>
                <a:lnTo>
                  <a:pt x="409057" y="262201"/>
                </a:lnTo>
                <a:lnTo>
                  <a:pt x="414531" y="213295"/>
                </a:lnTo>
                <a:lnTo>
                  <a:pt x="409057" y="164388"/>
                </a:lnTo>
                <a:lnTo>
                  <a:pt x="393465" y="119493"/>
                </a:lnTo>
                <a:lnTo>
                  <a:pt x="368997" y="79889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613475" y="4495798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5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731842" y="455930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03785" y="5375747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90"/>
                </a:lnTo>
                <a:lnTo>
                  <a:pt x="21066" y="119493"/>
                </a:lnTo>
                <a:lnTo>
                  <a:pt x="5474" y="164389"/>
                </a:lnTo>
                <a:lnTo>
                  <a:pt x="0" y="213295"/>
                </a:lnTo>
                <a:lnTo>
                  <a:pt x="5474" y="262202"/>
                </a:lnTo>
                <a:lnTo>
                  <a:pt x="21066" y="307097"/>
                </a:lnTo>
                <a:lnTo>
                  <a:pt x="45534" y="346700"/>
                </a:lnTo>
                <a:lnTo>
                  <a:pt x="77631" y="379732"/>
                </a:lnTo>
                <a:lnTo>
                  <a:pt x="116115" y="404911"/>
                </a:lnTo>
                <a:lnTo>
                  <a:pt x="159742" y="420957"/>
                </a:lnTo>
                <a:lnTo>
                  <a:pt x="207266" y="426590"/>
                </a:lnTo>
                <a:lnTo>
                  <a:pt x="254790" y="420957"/>
                </a:lnTo>
                <a:lnTo>
                  <a:pt x="298416" y="404911"/>
                </a:lnTo>
                <a:lnTo>
                  <a:pt x="336900" y="379732"/>
                </a:lnTo>
                <a:lnTo>
                  <a:pt x="368997" y="346700"/>
                </a:lnTo>
                <a:lnTo>
                  <a:pt x="393465" y="307097"/>
                </a:lnTo>
                <a:lnTo>
                  <a:pt x="409057" y="262202"/>
                </a:lnTo>
                <a:lnTo>
                  <a:pt x="414531" y="213295"/>
                </a:lnTo>
                <a:lnTo>
                  <a:pt x="409057" y="164389"/>
                </a:lnTo>
                <a:lnTo>
                  <a:pt x="393465" y="119493"/>
                </a:lnTo>
                <a:lnTo>
                  <a:pt x="368997" y="79890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03785" y="5375747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3315802" y="5440171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081260" y="532527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207266" y="0"/>
                </a:moveTo>
                <a:lnTo>
                  <a:pt x="159742" y="5633"/>
                </a:lnTo>
                <a:lnTo>
                  <a:pt x="116115" y="21679"/>
                </a:lnTo>
                <a:lnTo>
                  <a:pt x="77631" y="46858"/>
                </a:lnTo>
                <a:lnTo>
                  <a:pt x="45534" y="79889"/>
                </a:lnTo>
                <a:lnTo>
                  <a:pt x="21066" y="119493"/>
                </a:lnTo>
                <a:lnTo>
                  <a:pt x="5474" y="164388"/>
                </a:lnTo>
                <a:lnTo>
                  <a:pt x="0" y="213295"/>
                </a:lnTo>
                <a:lnTo>
                  <a:pt x="5474" y="262201"/>
                </a:lnTo>
                <a:lnTo>
                  <a:pt x="21066" y="307096"/>
                </a:lnTo>
                <a:lnTo>
                  <a:pt x="45534" y="346700"/>
                </a:lnTo>
                <a:lnTo>
                  <a:pt x="77631" y="379731"/>
                </a:lnTo>
                <a:lnTo>
                  <a:pt x="116115" y="404910"/>
                </a:lnTo>
                <a:lnTo>
                  <a:pt x="159742" y="420956"/>
                </a:lnTo>
                <a:lnTo>
                  <a:pt x="207266" y="426589"/>
                </a:lnTo>
                <a:lnTo>
                  <a:pt x="254790" y="420956"/>
                </a:lnTo>
                <a:lnTo>
                  <a:pt x="298416" y="404910"/>
                </a:lnTo>
                <a:lnTo>
                  <a:pt x="336900" y="379731"/>
                </a:lnTo>
                <a:lnTo>
                  <a:pt x="368997" y="346700"/>
                </a:lnTo>
                <a:lnTo>
                  <a:pt x="393465" y="307096"/>
                </a:lnTo>
                <a:lnTo>
                  <a:pt x="409057" y="262201"/>
                </a:lnTo>
                <a:lnTo>
                  <a:pt x="414531" y="213295"/>
                </a:lnTo>
                <a:lnTo>
                  <a:pt x="409057" y="164388"/>
                </a:lnTo>
                <a:lnTo>
                  <a:pt x="393465" y="119493"/>
                </a:lnTo>
                <a:lnTo>
                  <a:pt x="368997" y="79889"/>
                </a:lnTo>
                <a:lnTo>
                  <a:pt x="336900" y="46858"/>
                </a:lnTo>
                <a:lnTo>
                  <a:pt x="298416" y="21679"/>
                </a:lnTo>
                <a:lnTo>
                  <a:pt x="254790" y="5633"/>
                </a:lnTo>
                <a:lnTo>
                  <a:pt x="20726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081260" y="5325279"/>
            <a:ext cx="414655" cy="426720"/>
          </a:xfrm>
          <a:custGeom>
            <a:avLst/>
            <a:gdLst/>
            <a:ahLst/>
            <a:cxnLst/>
            <a:rect l="l" t="t" r="r" b="b"/>
            <a:pathLst>
              <a:path w="414654" h="426720">
                <a:moveTo>
                  <a:pt x="0" y="213295"/>
                </a:moveTo>
                <a:lnTo>
                  <a:pt x="5474" y="164388"/>
                </a:lnTo>
                <a:lnTo>
                  <a:pt x="21066" y="119493"/>
                </a:lnTo>
                <a:lnTo>
                  <a:pt x="45534" y="79889"/>
                </a:lnTo>
                <a:lnTo>
                  <a:pt x="77631" y="46858"/>
                </a:lnTo>
                <a:lnTo>
                  <a:pt x="116115" y="21679"/>
                </a:lnTo>
                <a:lnTo>
                  <a:pt x="159741" y="5633"/>
                </a:lnTo>
                <a:lnTo>
                  <a:pt x="207266" y="0"/>
                </a:lnTo>
                <a:lnTo>
                  <a:pt x="254790" y="5633"/>
                </a:lnTo>
                <a:lnTo>
                  <a:pt x="298416" y="21679"/>
                </a:lnTo>
                <a:lnTo>
                  <a:pt x="336900" y="46858"/>
                </a:lnTo>
                <a:lnTo>
                  <a:pt x="368997" y="79889"/>
                </a:lnTo>
                <a:lnTo>
                  <a:pt x="393465" y="119493"/>
                </a:lnTo>
                <a:lnTo>
                  <a:pt x="409057" y="164388"/>
                </a:lnTo>
                <a:lnTo>
                  <a:pt x="414532" y="213295"/>
                </a:lnTo>
                <a:lnTo>
                  <a:pt x="409057" y="262201"/>
                </a:lnTo>
                <a:lnTo>
                  <a:pt x="393465" y="307096"/>
                </a:lnTo>
                <a:lnTo>
                  <a:pt x="368997" y="346700"/>
                </a:lnTo>
                <a:lnTo>
                  <a:pt x="336900" y="379731"/>
                </a:lnTo>
                <a:lnTo>
                  <a:pt x="298416" y="404910"/>
                </a:lnTo>
                <a:lnTo>
                  <a:pt x="254790" y="420956"/>
                </a:lnTo>
                <a:lnTo>
                  <a:pt x="207266" y="426590"/>
                </a:lnTo>
                <a:lnTo>
                  <a:pt x="159741" y="420956"/>
                </a:lnTo>
                <a:lnTo>
                  <a:pt x="116115" y="404910"/>
                </a:lnTo>
                <a:lnTo>
                  <a:pt x="77631" y="379731"/>
                </a:lnTo>
                <a:lnTo>
                  <a:pt x="45534" y="346700"/>
                </a:lnTo>
                <a:lnTo>
                  <a:pt x="21066" y="307096"/>
                </a:lnTo>
                <a:lnTo>
                  <a:pt x="5474" y="262201"/>
                </a:lnTo>
                <a:lnTo>
                  <a:pt x="0" y="213295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199626" y="53883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37865" y="4428235"/>
            <a:ext cx="403923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>
                <a:solidFill>
                  <a:srgbClr val="008000"/>
                </a:solidFill>
                <a:latin typeface="Cambria Math"/>
                <a:cs typeface="Cambria Math"/>
              </a:rPr>
              <a:t>𝑐</a:t>
            </a:r>
            <a:r>
              <a:rPr dirty="0" baseline="-15432" sz="2700" spc="-179">
                <a:solidFill>
                  <a:srgbClr val="008000"/>
                </a:solidFill>
                <a:latin typeface="Cambria Math"/>
                <a:cs typeface="Cambria Math"/>
              </a:rPr>
              <a:t>&amp; 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 </a:t>
            </a:r>
            <a:r>
              <a:rPr dirty="0" sz="2400" spc="-5">
                <a:solidFill>
                  <a:srgbClr val="008000"/>
                </a:solidFill>
                <a:latin typeface="Cambria Math"/>
                <a:cs typeface="Cambria Math"/>
              </a:rPr>
              <a:t>1/(2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+ 1 + 2 + </a:t>
            </a:r>
            <a:r>
              <a:rPr dirty="0" sz="2400" spc="-5">
                <a:solidFill>
                  <a:srgbClr val="008000"/>
                </a:solidFill>
                <a:latin typeface="Cambria Math"/>
                <a:cs typeface="Cambria Math"/>
              </a:rPr>
              <a:t>3)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</a:t>
            </a:r>
            <a:r>
              <a:rPr dirty="0" sz="2400" spc="32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Cambria Math"/>
                <a:cs typeface="Cambria Math"/>
              </a:rPr>
              <a:t>1/8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(A-C-B,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A-C,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A-C-D,</a:t>
            </a:r>
            <a:r>
              <a:rPr dirty="0" sz="2400" spc="-45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A-C-D-E)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37865" y="5534659"/>
            <a:ext cx="39465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65" algn="l"/>
              </a:tabLst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𝑐	= </a:t>
            </a:r>
            <a:r>
              <a:rPr dirty="0" sz="2400" spc="-5">
                <a:solidFill>
                  <a:srgbClr val="008000"/>
                </a:solidFill>
                <a:latin typeface="Cambria Math"/>
                <a:cs typeface="Cambria Math"/>
              </a:rPr>
              <a:t>1/(2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+ 1 + 1 + </a:t>
            </a:r>
            <a:r>
              <a:rPr dirty="0" sz="2400" spc="-5">
                <a:solidFill>
                  <a:srgbClr val="008000"/>
                </a:solidFill>
                <a:latin typeface="Cambria Math"/>
                <a:cs typeface="Cambria Math"/>
              </a:rPr>
              <a:t>1)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</a:t>
            </a:r>
            <a:r>
              <a:rPr dirty="0" sz="2400" spc="31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Cambria Math"/>
                <a:cs typeface="Cambria Math"/>
              </a:rPr>
              <a:t>1/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37865" y="5671820"/>
            <a:ext cx="3175000" cy="622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780">
              <a:lnSpc>
                <a:spcPts val="1989"/>
              </a:lnSpc>
              <a:spcBef>
                <a:spcPts val="100"/>
              </a:spcBef>
            </a:pPr>
            <a:r>
              <a:rPr dirty="0" sz="1800" spc="765">
                <a:solidFill>
                  <a:srgbClr val="008000"/>
                </a:solidFill>
                <a:latin typeface="Cambria Math"/>
                <a:cs typeface="Cambria Math"/>
              </a:rPr>
              <a:t>!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2710"/>
              </a:lnSpc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(D-C-A, D-B,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D-C,</a:t>
            </a:r>
            <a:r>
              <a:rPr dirty="0" sz="24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D-E)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56615"/>
            <a:ext cx="8317992" cy="515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2194" y="1363980"/>
            <a:ext cx="73228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Measures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how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connected </a:t>
            </a:r>
            <a:r>
              <a:rPr dirty="0" spc="55" b="0">
                <a:solidFill>
                  <a:srgbClr val="000000"/>
                </a:solidFill>
                <a:latin typeface="Cambria Math"/>
                <a:cs typeface="Cambria Math"/>
              </a:rPr>
              <a:t>𝑣</a:t>
            </a:r>
            <a:r>
              <a:rPr dirty="0" baseline="28985" sz="3450" spc="82" b="0">
                <a:solidFill>
                  <a:srgbClr val="000000"/>
                </a:solidFill>
                <a:latin typeface="Cambria Math"/>
                <a:cs typeface="Cambria Math"/>
              </a:rPr>
              <a:t>"</a:t>
            </a:r>
            <a:r>
              <a:rPr dirty="0" sz="3200" spc="55" b="0">
                <a:solidFill>
                  <a:srgbClr val="000000"/>
                </a:solidFill>
                <a:latin typeface="Cambria Math"/>
                <a:cs typeface="Cambria Math"/>
              </a:rPr>
              <a:t>𝑠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neighboring  nodes</a:t>
            </a:r>
            <a:r>
              <a:rPr dirty="0" sz="3200" spc="-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are: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194" y="3802379"/>
            <a:ext cx="20523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200" y="2770123"/>
            <a:ext cx="177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2058" y="2907283"/>
            <a:ext cx="154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65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88539" y="2997545"/>
            <a:ext cx="4635500" cy="0"/>
          </a:xfrm>
          <a:custGeom>
            <a:avLst/>
            <a:gdLst/>
            <a:ahLst/>
            <a:cxnLst/>
            <a:rect l="l" t="t" r="r" b="b"/>
            <a:pathLst>
              <a:path w="4635500" h="0">
                <a:moveTo>
                  <a:pt x="0" y="0"/>
                </a:moveTo>
                <a:lnTo>
                  <a:pt x="46355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80285" y="3064962"/>
            <a:ext cx="469265" cy="368300"/>
          </a:xfrm>
          <a:custGeom>
            <a:avLst/>
            <a:gdLst/>
            <a:ahLst/>
            <a:cxnLst/>
            <a:rect l="l" t="t" r="r" b="b"/>
            <a:pathLst>
              <a:path w="469264" h="368300">
                <a:moveTo>
                  <a:pt x="372431" y="0"/>
                </a:moveTo>
                <a:lnTo>
                  <a:pt x="368710" y="12203"/>
                </a:lnTo>
                <a:lnTo>
                  <a:pt x="385625" y="20975"/>
                </a:lnTo>
                <a:lnTo>
                  <a:pt x="400354" y="33746"/>
                </a:lnTo>
                <a:lnTo>
                  <a:pt x="423255" y="71288"/>
                </a:lnTo>
                <a:lnTo>
                  <a:pt x="437152" y="122299"/>
                </a:lnTo>
                <a:lnTo>
                  <a:pt x="441784" y="184249"/>
                </a:lnTo>
                <a:lnTo>
                  <a:pt x="440626" y="216521"/>
                </a:lnTo>
                <a:lnTo>
                  <a:pt x="431362" y="272890"/>
                </a:lnTo>
                <a:lnTo>
                  <a:pt x="412898" y="317725"/>
                </a:lnTo>
                <a:lnTo>
                  <a:pt x="385625" y="347229"/>
                </a:lnTo>
                <a:lnTo>
                  <a:pt x="368710" y="355996"/>
                </a:lnTo>
                <a:lnTo>
                  <a:pt x="372431" y="368200"/>
                </a:lnTo>
                <a:lnTo>
                  <a:pt x="413545" y="346285"/>
                </a:lnTo>
                <a:lnTo>
                  <a:pt x="444017" y="304948"/>
                </a:lnTo>
                <a:lnTo>
                  <a:pt x="462881" y="249212"/>
                </a:lnTo>
                <a:lnTo>
                  <a:pt x="469169" y="184100"/>
                </a:lnTo>
                <a:lnTo>
                  <a:pt x="467597" y="150371"/>
                </a:lnTo>
                <a:lnTo>
                  <a:pt x="455021" y="89947"/>
                </a:lnTo>
                <a:lnTo>
                  <a:pt x="430111" y="40155"/>
                </a:lnTo>
                <a:lnTo>
                  <a:pt x="394318" y="8529"/>
                </a:lnTo>
                <a:lnTo>
                  <a:pt x="372431" y="0"/>
                </a:lnTo>
                <a:close/>
              </a:path>
              <a:path w="469264" h="368300">
                <a:moveTo>
                  <a:pt x="96737" y="0"/>
                </a:moveTo>
                <a:lnTo>
                  <a:pt x="55623" y="21914"/>
                </a:lnTo>
                <a:lnTo>
                  <a:pt x="25151" y="63252"/>
                </a:lnTo>
                <a:lnTo>
                  <a:pt x="6287" y="118987"/>
                </a:lnTo>
                <a:lnTo>
                  <a:pt x="0" y="184100"/>
                </a:lnTo>
                <a:lnTo>
                  <a:pt x="1571" y="217828"/>
                </a:lnTo>
                <a:lnTo>
                  <a:pt x="14147" y="278252"/>
                </a:lnTo>
                <a:lnTo>
                  <a:pt x="39057" y="328044"/>
                </a:lnTo>
                <a:lnTo>
                  <a:pt x="74850" y="359670"/>
                </a:lnTo>
                <a:lnTo>
                  <a:pt x="96737" y="368200"/>
                </a:lnTo>
                <a:lnTo>
                  <a:pt x="100458" y="355996"/>
                </a:lnTo>
                <a:lnTo>
                  <a:pt x="83543" y="347229"/>
                </a:lnTo>
                <a:lnTo>
                  <a:pt x="68813" y="334472"/>
                </a:lnTo>
                <a:lnTo>
                  <a:pt x="45913" y="296986"/>
                </a:lnTo>
                <a:lnTo>
                  <a:pt x="32015" y="246068"/>
                </a:lnTo>
                <a:lnTo>
                  <a:pt x="27389" y="184100"/>
                </a:lnTo>
                <a:lnTo>
                  <a:pt x="28541" y="151906"/>
                </a:lnTo>
                <a:lnTo>
                  <a:pt x="37806" y="95426"/>
                </a:lnTo>
                <a:lnTo>
                  <a:pt x="56270" y="50517"/>
                </a:lnTo>
                <a:lnTo>
                  <a:pt x="83543" y="20975"/>
                </a:lnTo>
                <a:lnTo>
                  <a:pt x="100458" y="12203"/>
                </a:lnTo>
                <a:lnTo>
                  <a:pt x="967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71201" y="2956051"/>
            <a:ext cx="518795" cy="55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5560">
              <a:lnSpc>
                <a:spcPts val="2075"/>
              </a:lnSpc>
              <a:spcBef>
                <a:spcPts val="100"/>
              </a:spcBef>
            </a:pPr>
            <a:r>
              <a:rPr dirty="0" sz="1800" spc="225">
                <a:latin typeface="Cambria Math"/>
                <a:cs typeface="Cambria Math"/>
              </a:rPr>
              <a:t>2</a:t>
            </a:r>
            <a:r>
              <a:rPr dirty="0" baseline="-13888" sz="2100" spc="337">
                <a:latin typeface="Cambria Math"/>
                <a:cs typeface="Cambria Math"/>
              </a:rPr>
              <a:t>!</a:t>
            </a:r>
            <a:endParaRPr baseline="-13888" sz="2100">
              <a:latin typeface="Cambria Math"/>
              <a:cs typeface="Cambria Math"/>
            </a:endParaRPr>
          </a:p>
          <a:p>
            <a:pPr algn="ctr" marR="19685">
              <a:lnSpc>
                <a:spcPts val="2075"/>
              </a:lnSpc>
            </a:pPr>
            <a:r>
              <a:rPr dirty="0" sz="1800" spc="35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0404" y="2538476"/>
            <a:ext cx="5948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41666" sz="3600">
                <a:latin typeface="Cambria Math"/>
                <a:cs typeface="Cambria Math"/>
              </a:rPr>
              <a:t>= </a:t>
            </a:r>
            <a:r>
              <a:rPr dirty="0" sz="2400">
                <a:latin typeface="Cambria Math"/>
                <a:cs typeface="Cambria Math"/>
              </a:rPr>
              <a:t>#(edges </a:t>
            </a:r>
            <a:r>
              <a:rPr dirty="0" sz="2400" spc="-5">
                <a:latin typeface="Cambria Math"/>
                <a:cs typeface="Cambria Math"/>
              </a:rPr>
              <a:t>among neighboring nodes) </a:t>
            </a:r>
            <a:r>
              <a:rPr dirty="0" baseline="-41666" sz="3600">
                <a:latin typeface="Cambria Math"/>
                <a:cs typeface="Cambria Math"/>
              </a:rPr>
              <a:t>∈</a:t>
            </a:r>
            <a:r>
              <a:rPr dirty="0" baseline="-41666" sz="3600" spc="547">
                <a:latin typeface="Cambria Math"/>
                <a:cs typeface="Cambria Math"/>
              </a:rPr>
              <a:t> </a:t>
            </a:r>
            <a:r>
              <a:rPr dirty="0" baseline="-41666" sz="3600" spc="-7">
                <a:latin typeface="Cambria Math"/>
                <a:cs typeface="Cambria Math"/>
              </a:rPr>
              <a:t>[0,1]</a:t>
            </a:r>
            <a:endParaRPr baseline="-41666" sz="36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53570" y="4771716"/>
            <a:ext cx="11430" cy="737235"/>
          </a:xfrm>
          <a:custGeom>
            <a:avLst/>
            <a:gdLst/>
            <a:ahLst/>
            <a:cxnLst/>
            <a:rect l="l" t="t" r="r" b="b"/>
            <a:pathLst>
              <a:path w="11430" h="737235">
                <a:moveTo>
                  <a:pt x="0" y="736934"/>
                </a:moveTo>
                <a:lnTo>
                  <a:pt x="1138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01170" y="4441849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01170" y="4441849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01170" y="550865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01170" y="550865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747031" y="551600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8"/>
                </a:lnTo>
                <a:lnTo>
                  <a:pt x="62394" y="289917"/>
                </a:lnTo>
                <a:lnTo>
                  <a:pt x="104229" y="312693"/>
                </a:lnTo>
                <a:lnTo>
                  <a:pt x="152400" y="320872"/>
                </a:lnTo>
                <a:lnTo>
                  <a:pt x="200570" y="312693"/>
                </a:lnTo>
                <a:lnTo>
                  <a:pt x="242405" y="289917"/>
                </a:lnTo>
                <a:lnTo>
                  <a:pt x="275395" y="255188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747031" y="551600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44170" y="446566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44170" y="446566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10770" y="468652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10770" y="468652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253474" y="4696459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96570" y="4787478"/>
            <a:ext cx="8255" cy="753745"/>
          </a:xfrm>
          <a:custGeom>
            <a:avLst/>
            <a:gdLst/>
            <a:ahLst/>
            <a:cxnLst/>
            <a:rect l="l" t="t" r="r" b="b"/>
            <a:pathLst>
              <a:path w="8255" h="753745">
                <a:moveTo>
                  <a:pt x="0" y="753708"/>
                </a:moveTo>
                <a:lnTo>
                  <a:pt x="76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02180" y="4626103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902180" y="5676437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70933" y="4960401"/>
            <a:ext cx="321310" cy="602615"/>
          </a:xfrm>
          <a:custGeom>
            <a:avLst/>
            <a:gdLst/>
            <a:ahLst/>
            <a:cxnLst/>
            <a:rect l="l" t="t" r="r" b="b"/>
            <a:pathLst>
              <a:path w="321310" h="602614">
                <a:moveTo>
                  <a:pt x="0" y="0"/>
                </a:moveTo>
                <a:lnTo>
                  <a:pt x="320735" y="6025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15570" y="4739548"/>
            <a:ext cx="273685" cy="107950"/>
          </a:xfrm>
          <a:custGeom>
            <a:avLst/>
            <a:gdLst/>
            <a:ahLst/>
            <a:cxnLst/>
            <a:rect l="l" t="t" r="r" b="b"/>
            <a:pathLst>
              <a:path w="273685" h="107950">
                <a:moveTo>
                  <a:pt x="0" y="107408"/>
                </a:moveTo>
                <a:lnTo>
                  <a:pt x="27323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87170" y="4739549"/>
            <a:ext cx="901700" cy="833755"/>
          </a:xfrm>
          <a:custGeom>
            <a:avLst/>
            <a:gdLst/>
            <a:ahLst/>
            <a:cxnLst/>
            <a:rect l="l" t="t" r="r" b="b"/>
            <a:pathLst>
              <a:path w="901700" h="833754">
                <a:moveTo>
                  <a:pt x="0" y="833174"/>
                </a:moveTo>
                <a:lnTo>
                  <a:pt x="90163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66787" y="4960401"/>
            <a:ext cx="388620" cy="616585"/>
          </a:xfrm>
          <a:custGeom>
            <a:avLst/>
            <a:gdLst/>
            <a:ahLst/>
            <a:cxnLst/>
            <a:rect l="l" t="t" r="r" b="b"/>
            <a:pathLst>
              <a:path w="388619" h="616585">
                <a:moveTo>
                  <a:pt x="0" y="616478"/>
                </a:moveTo>
                <a:lnTo>
                  <a:pt x="38862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61333" y="4715729"/>
            <a:ext cx="930910" cy="847725"/>
          </a:xfrm>
          <a:custGeom>
            <a:avLst/>
            <a:gdLst/>
            <a:ahLst/>
            <a:cxnLst/>
            <a:rect l="l" t="t" r="r" b="b"/>
            <a:pathLst>
              <a:path w="930910" h="847725">
                <a:moveTo>
                  <a:pt x="0" y="0"/>
                </a:moveTo>
                <a:lnTo>
                  <a:pt x="930335" y="84726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861333" y="4715729"/>
            <a:ext cx="349885" cy="131445"/>
          </a:xfrm>
          <a:custGeom>
            <a:avLst/>
            <a:gdLst/>
            <a:ahLst/>
            <a:cxnLst/>
            <a:rect l="l" t="t" r="r" b="b"/>
            <a:pathLst>
              <a:path w="349885" h="131445">
                <a:moveTo>
                  <a:pt x="0" y="0"/>
                </a:moveTo>
                <a:lnTo>
                  <a:pt x="349437" y="13122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90878" y="4787788"/>
            <a:ext cx="11430" cy="737235"/>
          </a:xfrm>
          <a:custGeom>
            <a:avLst/>
            <a:gdLst/>
            <a:ahLst/>
            <a:cxnLst/>
            <a:rect l="l" t="t" r="r" b="b"/>
            <a:pathLst>
              <a:path w="11429" h="737235">
                <a:moveTo>
                  <a:pt x="0" y="736934"/>
                </a:moveTo>
                <a:lnTo>
                  <a:pt x="1138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938478" y="445792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938478" y="445792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938478" y="5524722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938478" y="5524722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84338" y="5532074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6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6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84338" y="5532074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081478" y="448174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81478" y="448174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526084" y="4978487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26084" y="4978487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568788" y="4989067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233878" y="4803550"/>
            <a:ext cx="8255" cy="753745"/>
          </a:xfrm>
          <a:custGeom>
            <a:avLst/>
            <a:gdLst/>
            <a:ahLst/>
            <a:cxnLst/>
            <a:rect l="l" t="t" r="r" b="b"/>
            <a:pathLst>
              <a:path w="8254" h="753745">
                <a:moveTo>
                  <a:pt x="0" y="753708"/>
                </a:moveTo>
                <a:lnTo>
                  <a:pt x="76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239488" y="4642176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786247" y="5252368"/>
            <a:ext cx="342900" cy="327025"/>
          </a:xfrm>
          <a:custGeom>
            <a:avLst/>
            <a:gdLst/>
            <a:ahLst/>
            <a:cxnLst/>
            <a:rect l="l" t="t" r="r" b="b"/>
            <a:pathLst>
              <a:path w="342900" h="327025">
                <a:moveTo>
                  <a:pt x="0" y="0"/>
                </a:moveTo>
                <a:lnTo>
                  <a:pt x="342728" y="32669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786247" y="4755620"/>
            <a:ext cx="340360" cy="269875"/>
          </a:xfrm>
          <a:custGeom>
            <a:avLst/>
            <a:gdLst/>
            <a:ahLst/>
            <a:cxnLst/>
            <a:rect l="l" t="t" r="r" b="b"/>
            <a:pathLst>
              <a:path w="340360" h="269875">
                <a:moveTo>
                  <a:pt x="0" y="269858"/>
                </a:moveTo>
                <a:lnTo>
                  <a:pt x="3398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198640" y="5252369"/>
            <a:ext cx="372110" cy="319405"/>
          </a:xfrm>
          <a:custGeom>
            <a:avLst/>
            <a:gdLst/>
            <a:ahLst/>
            <a:cxnLst/>
            <a:rect l="l" t="t" r="r" b="b"/>
            <a:pathLst>
              <a:path w="372110" h="319404">
                <a:moveTo>
                  <a:pt x="0" y="319344"/>
                </a:moveTo>
                <a:lnTo>
                  <a:pt x="37208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198640" y="4731801"/>
            <a:ext cx="372110" cy="294005"/>
          </a:xfrm>
          <a:custGeom>
            <a:avLst/>
            <a:gdLst/>
            <a:ahLst/>
            <a:cxnLst/>
            <a:rect l="l" t="t" r="r" b="b"/>
            <a:pathLst>
              <a:path w="372110" h="294004">
                <a:moveTo>
                  <a:pt x="0" y="0"/>
                </a:moveTo>
                <a:lnTo>
                  <a:pt x="372081" y="29367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69338" y="4472374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169338" y="4472374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69338" y="553917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169338" y="553917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315200" y="554652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315200" y="554652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312338" y="449619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7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7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12338" y="449619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756946" y="499294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8"/>
                </a:lnTo>
                <a:lnTo>
                  <a:pt x="62394" y="289918"/>
                </a:lnTo>
                <a:lnTo>
                  <a:pt x="104229" y="312693"/>
                </a:lnTo>
                <a:lnTo>
                  <a:pt x="152400" y="320873"/>
                </a:lnTo>
                <a:lnTo>
                  <a:pt x="200570" y="312693"/>
                </a:lnTo>
                <a:lnTo>
                  <a:pt x="242405" y="289918"/>
                </a:lnTo>
                <a:lnTo>
                  <a:pt x="275395" y="255188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756946" y="499294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6799648" y="5004308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017109" y="5266823"/>
            <a:ext cx="342900" cy="327025"/>
          </a:xfrm>
          <a:custGeom>
            <a:avLst/>
            <a:gdLst/>
            <a:ahLst/>
            <a:cxnLst/>
            <a:rect l="l" t="t" r="r" b="b"/>
            <a:pathLst>
              <a:path w="342900" h="327025">
                <a:moveTo>
                  <a:pt x="0" y="0"/>
                </a:moveTo>
                <a:lnTo>
                  <a:pt x="342728" y="32669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017109" y="4770074"/>
            <a:ext cx="340360" cy="269875"/>
          </a:xfrm>
          <a:custGeom>
            <a:avLst/>
            <a:gdLst/>
            <a:ahLst/>
            <a:cxnLst/>
            <a:rect l="l" t="t" r="r" b="b"/>
            <a:pathLst>
              <a:path w="340359" h="269875">
                <a:moveTo>
                  <a:pt x="0" y="269858"/>
                </a:moveTo>
                <a:lnTo>
                  <a:pt x="3398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429502" y="5266823"/>
            <a:ext cx="372110" cy="319405"/>
          </a:xfrm>
          <a:custGeom>
            <a:avLst/>
            <a:gdLst/>
            <a:ahLst/>
            <a:cxnLst/>
            <a:rect l="l" t="t" r="r" b="b"/>
            <a:pathLst>
              <a:path w="372109" h="319404">
                <a:moveTo>
                  <a:pt x="0" y="319344"/>
                </a:moveTo>
                <a:lnTo>
                  <a:pt x="37208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429502" y="4746255"/>
            <a:ext cx="372110" cy="294005"/>
          </a:xfrm>
          <a:custGeom>
            <a:avLst/>
            <a:gdLst/>
            <a:ahLst/>
            <a:cxnLst/>
            <a:rect l="l" t="t" r="r" b="b"/>
            <a:pathLst>
              <a:path w="372109" h="294004">
                <a:moveTo>
                  <a:pt x="0" y="0"/>
                </a:moveTo>
                <a:lnTo>
                  <a:pt x="372081" y="29367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889118" y="5976620"/>
            <a:ext cx="87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90">
                <a:latin typeface="Cambria Math"/>
                <a:cs typeface="Cambria Math"/>
              </a:rPr>
              <a:t>𝑒</a:t>
            </a:r>
            <a:r>
              <a:rPr dirty="0" baseline="-15432" sz="2700" spc="135">
                <a:latin typeface="Cambria Math"/>
                <a:cs typeface="Cambria Math"/>
              </a:rPr>
              <a:t>)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27855" y="5967476"/>
            <a:ext cx="1106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90">
                <a:latin typeface="Cambria Math"/>
                <a:cs typeface="Cambria Math"/>
              </a:rPr>
              <a:t>𝑒</a:t>
            </a:r>
            <a:r>
              <a:rPr dirty="0" baseline="-15432" sz="2700" spc="135">
                <a:latin typeface="Cambria Math"/>
                <a:cs typeface="Cambria Math"/>
              </a:rPr>
              <a:t>)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689594" y="5936996"/>
            <a:ext cx="8763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90">
                <a:latin typeface="Cambria Math"/>
                <a:cs typeface="Cambria Math"/>
              </a:rPr>
              <a:t>𝑒</a:t>
            </a:r>
            <a:r>
              <a:rPr dirty="0" baseline="-15432" sz="2700" spc="135">
                <a:latin typeface="Cambria Math"/>
                <a:cs typeface="Cambria Math"/>
              </a:rPr>
              <a:t>)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0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4361676" y="2999971"/>
            <a:ext cx="537845" cy="480695"/>
          </a:xfrm>
          <a:custGeom>
            <a:avLst/>
            <a:gdLst/>
            <a:ahLst/>
            <a:cxnLst/>
            <a:rect l="l" t="t" r="r" b="b"/>
            <a:pathLst>
              <a:path w="537845" h="480695">
                <a:moveTo>
                  <a:pt x="0" y="0"/>
                </a:moveTo>
                <a:lnTo>
                  <a:pt x="537813" y="0"/>
                </a:lnTo>
                <a:lnTo>
                  <a:pt x="537813" y="480320"/>
                </a:lnTo>
                <a:lnTo>
                  <a:pt x="0" y="48032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3870779" y="3534155"/>
            <a:ext cx="48577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#(node pairs among </a:t>
            </a:r>
            <a:r>
              <a:rPr dirty="0" sz="2000" spc="200">
                <a:solidFill>
                  <a:srgbClr val="008000"/>
                </a:solidFill>
                <a:latin typeface="Cambria Math"/>
                <a:cs typeface="Cambria Math"/>
              </a:rPr>
              <a:t>𝑘</a:t>
            </a:r>
            <a:r>
              <a:rPr dirty="0" baseline="-14814" sz="2250" spc="300">
                <a:solidFill>
                  <a:srgbClr val="008000"/>
                </a:solidFill>
                <a:latin typeface="Cambria Math"/>
                <a:cs typeface="Cambria Math"/>
              </a:rPr>
              <a:t>!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neighboring</a:t>
            </a:r>
            <a:r>
              <a:rPr dirty="0" sz="20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nodes)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71" name="object 7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2" name="object 72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3242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C00000"/>
                </a:solidFill>
              </a:rPr>
              <a:t>Observation: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Clustering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coefficient counts</a:t>
            </a:r>
            <a:r>
              <a:rPr dirty="0" spc="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</a:p>
          <a:p>
            <a:pPr marL="332740">
              <a:lnSpc>
                <a:spcPts val="3815"/>
              </a:lnSpc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#(triangles)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the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ego-network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8108" y="5247132"/>
            <a:ext cx="7292975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20">
                <a:latin typeface="Calibri"/>
                <a:cs typeface="Calibri"/>
              </a:rPr>
              <a:t>generalize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above by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counting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z="3200" spc="-10">
                <a:latin typeface="Calibri"/>
                <a:cs typeface="Calibri"/>
              </a:rPr>
              <a:t>#(pre-specified subgraphs, </a:t>
            </a:r>
            <a:r>
              <a:rPr dirty="0" sz="3200" spc="-5">
                <a:latin typeface="Calibri"/>
                <a:cs typeface="Calibri"/>
              </a:rPr>
              <a:t>i.e.,</a:t>
            </a:r>
            <a:r>
              <a:rPr dirty="0" sz="3200" spc="105"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graphlets</a:t>
            </a:r>
            <a:r>
              <a:rPr dirty="0" sz="3200" spc="-15">
                <a:latin typeface="Calibri"/>
                <a:cs typeface="Calibri"/>
              </a:rPr>
              <a:t>).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216" y="347472"/>
            <a:ext cx="6233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66800" y="2906050"/>
            <a:ext cx="11430" cy="737235"/>
          </a:xfrm>
          <a:custGeom>
            <a:avLst/>
            <a:gdLst/>
            <a:ahLst/>
            <a:cxnLst/>
            <a:rect l="l" t="t" r="r" b="b"/>
            <a:pathLst>
              <a:path w="11430" h="737235">
                <a:moveTo>
                  <a:pt x="0" y="736934"/>
                </a:moveTo>
                <a:lnTo>
                  <a:pt x="1138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257618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7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7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257618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3642985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3642985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60261" y="365033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60261" y="365033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057400" y="2600002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8"/>
                </a:lnTo>
                <a:lnTo>
                  <a:pt x="62394" y="289918"/>
                </a:lnTo>
                <a:lnTo>
                  <a:pt x="104229" y="312693"/>
                </a:lnTo>
                <a:lnTo>
                  <a:pt x="152400" y="320873"/>
                </a:lnTo>
                <a:lnTo>
                  <a:pt x="200570" y="312693"/>
                </a:lnTo>
                <a:lnTo>
                  <a:pt x="242405" y="289918"/>
                </a:lnTo>
                <a:lnTo>
                  <a:pt x="275395" y="255188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057400" y="2600002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02007" y="309675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02007" y="309675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44709" y="3108451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09800" y="2921814"/>
            <a:ext cx="8255" cy="753745"/>
          </a:xfrm>
          <a:custGeom>
            <a:avLst/>
            <a:gdLst/>
            <a:ahLst/>
            <a:cxnLst/>
            <a:rect l="l" t="t" r="r" b="b"/>
            <a:pathLst>
              <a:path w="8255" h="753745">
                <a:moveTo>
                  <a:pt x="0" y="753708"/>
                </a:moveTo>
                <a:lnTo>
                  <a:pt x="76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5410" y="2760439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62169" y="3370632"/>
            <a:ext cx="342900" cy="327025"/>
          </a:xfrm>
          <a:custGeom>
            <a:avLst/>
            <a:gdLst/>
            <a:ahLst/>
            <a:cxnLst/>
            <a:rect l="l" t="t" r="r" b="b"/>
            <a:pathLst>
              <a:path w="342900" h="327025">
                <a:moveTo>
                  <a:pt x="0" y="0"/>
                </a:moveTo>
                <a:lnTo>
                  <a:pt x="342728" y="32669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762169" y="2873883"/>
            <a:ext cx="340360" cy="269875"/>
          </a:xfrm>
          <a:custGeom>
            <a:avLst/>
            <a:gdLst/>
            <a:ahLst/>
            <a:cxnLst/>
            <a:rect l="l" t="t" r="r" b="b"/>
            <a:pathLst>
              <a:path w="340360" h="269875">
                <a:moveTo>
                  <a:pt x="0" y="269858"/>
                </a:moveTo>
                <a:lnTo>
                  <a:pt x="33986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74562" y="3370632"/>
            <a:ext cx="372110" cy="319405"/>
          </a:xfrm>
          <a:custGeom>
            <a:avLst/>
            <a:gdLst/>
            <a:ahLst/>
            <a:cxnLst/>
            <a:rect l="l" t="t" r="r" b="b"/>
            <a:pathLst>
              <a:path w="372109" h="319404">
                <a:moveTo>
                  <a:pt x="0" y="319344"/>
                </a:moveTo>
                <a:lnTo>
                  <a:pt x="37208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74562" y="2850065"/>
            <a:ext cx="372110" cy="294005"/>
          </a:xfrm>
          <a:custGeom>
            <a:avLst/>
            <a:gdLst/>
            <a:ahLst/>
            <a:cxnLst/>
            <a:rect l="l" t="t" r="r" b="b"/>
            <a:pathLst>
              <a:path w="372109" h="294005">
                <a:moveTo>
                  <a:pt x="0" y="0"/>
                </a:moveTo>
                <a:lnTo>
                  <a:pt x="372081" y="29367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58491" y="2898698"/>
            <a:ext cx="11430" cy="737235"/>
          </a:xfrm>
          <a:custGeom>
            <a:avLst/>
            <a:gdLst/>
            <a:ahLst/>
            <a:cxnLst/>
            <a:rect l="l" t="t" r="r" b="b"/>
            <a:pathLst>
              <a:path w="11429" h="737235">
                <a:moveTo>
                  <a:pt x="0" y="736934"/>
                </a:moveTo>
                <a:lnTo>
                  <a:pt x="11388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06091" y="256883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7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7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406091" y="256883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06091" y="3635632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06091" y="3635632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551953" y="3642985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51953" y="3642985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49091" y="259265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8"/>
                </a:lnTo>
                <a:lnTo>
                  <a:pt x="62394" y="289918"/>
                </a:lnTo>
                <a:lnTo>
                  <a:pt x="104229" y="312693"/>
                </a:lnTo>
                <a:lnTo>
                  <a:pt x="152400" y="320873"/>
                </a:lnTo>
                <a:lnTo>
                  <a:pt x="200570" y="312693"/>
                </a:lnTo>
                <a:lnTo>
                  <a:pt x="242405" y="289918"/>
                </a:lnTo>
                <a:lnTo>
                  <a:pt x="275395" y="255188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549091" y="259265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019457" y="3089399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019457" y="3089399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062159" y="3099307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701491" y="2914462"/>
            <a:ext cx="8255" cy="753745"/>
          </a:xfrm>
          <a:custGeom>
            <a:avLst/>
            <a:gdLst/>
            <a:ahLst/>
            <a:cxnLst/>
            <a:rect l="l" t="t" r="r" b="b"/>
            <a:pathLst>
              <a:path w="8254" h="753745">
                <a:moveTo>
                  <a:pt x="0" y="753708"/>
                </a:moveTo>
                <a:lnTo>
                  <a:pt x="7662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707103" y="2753086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79620" y="3363279"/>
            <a:ext cx="317500" cy="327025"/>
          </a:xfrm>
          <a:custGeom>
            <a:avLst/>
            <a:gdLst/>
            <a:ahLst/>
            <a:cxnLst/>
            <a:rect l="l" t="t" r="r" b="b"/>
            <a:pathLst>
              <a:path w="317500" h="327025">
                <a:moveTo>
                  <a:pt x="0" y="0"/>
                </a:moveTo>
                <a:lnTo>
                  <a:pt x="316970" y="326696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279620" y="2866531"/>
            <a:ext cx="314325" cy="269875"/>
          </a:xfrm>
          <a:custGeom>
            <a:avLst/>
            <a:gdLst/>
            <a:ahLst/>
            <a:cxnLst/>
            <a:rect l="l" t="t" r="r" b="b"/>
            <a:pathLst>
              <a:path w="314325" h="269875">
                <a:moveTo>
                  <a:pt x="0" y="269858"/>
                </a:moveTo>
                <a:lnTo>
                  <a:pt x="314109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66254" y="3363279"/>
            <a:ext cx="398145" cy="319405"/>
          </a:xfrm>
          <a:custGeom>
            <a:avLst/>
            <a:gdLst/>
            <a:ahLst/>
            <a:cxnLst/>
            <a:rect l="l" t="t" r="r" b="b"/>
            <a:pathLst>
              <a:path w="398145" h="319404">
                <a:moveTo>
                  <a:pt x="0" y="319344"/>
                </a:moveTo>
                <a:lnTo>
                  <a:pt x="397839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66254" y="2842713"/>
            <a:ext cx="398145" cy="294005"/>
          </a:xfrm>
          <a:custGeom>
            <a:avLst/>
            <a:gdLst/>
            <a:ahLst/>
            <a:cxnLst/>
            <a:rect l="l" t="t" r="r" b="b"/>
            <a:pathLst>
              <a:path w="398145" h="294005">
                <a:moveTo>
                  <a:pt x="0" y="0"/>
                </a:moveTo>
                <a:lnTo>
                  <a:pt x="397839" y="293677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86012" y="2873884"/>
            <a:ext cx="381000" cy="826135"/>
          </a:xfrm>
          <a:custGeom>
            <a:avLst/>
            <a:gdLst/>
            <a:ahLst/>
            <a:cxnLst/>
            <a:rect l="l" t="t" r="r" b="b"/>
            <a:pathLst>
              <a:path w="381000" h="826135">
                <a:moveTo>
                  <a:pt x="0" y="0"/>
                </a:moveTo>
                <a:lnTo>
                  <a:pt x="381000" y="413023"/>
                </a:lnTo>
                <a:lnTo>
                  <a:pt x="0" y="826047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352799" y="4038600"/>
            <a:ext cx="5089525" cy="457834"/>
          </a:xfrm>
          <a:custGeom>
            <a:avLst/>
            <a:gdLst/>
            <a:ahLst/>
            <a:cxnLst/>
            <a:rect l="l" t="t" r="r" b="b"/>
            <a:pathLst>
              <a:path w="5089525" h="457835">
                <a:moveTo>
                  <a:pt x="5089449" y="0"/>
                </a:moveTo>
                <a:lnTo>
                  <a:pt x="5084891" y="52416"/>
                </a:lnTo>
                <a:lnTo>
                  <a:pt x="5071908" y="100533"/>
                </a:lnTo>
                <a:lnTo>
                  <a:pt x="5051537" y="142979"/>
                </a:lnTo>
                <a:lnTo>
                  <a:pt x="5024812" y="178381"/>
                </a:lnTo>
                <a:lnTo>
                  <a:pt x="4992770" y="205367"/>
                </a:lnTo>
                <a:lnTo>
                  <a:pt x="4956447" y="222565"/>
                </a:lnTo>
                <a:lnTo>
                  <a:pt x="4916878" y="228603"/>
                </a:lnTo>
                <a:lnTo>
                  <a:pt x="2717295" y="228603"/>
                </a:lnTo>
                <a:lnTo>
                  <a:pt x="2677726" y="234640"/>
                </a:lnTo>
                <a:lnTo>
                  <a:pt x="2641403" y="251838"/>
                </a:lnTo>
                <a:lnTo>
                  <a:pt x="2609361" y="278824"/>
                </a:lnTo>
                <a:lnTo>
                  <a:pt x="2582636" y="314226"/>
                </a:lnTo>
                <a:lnTo>
                  <a:pt x="2562265" y="356672"/>
                </a:lnTo>
                <a:lnTo>
                  <a:pt x="2549282" y="404789"/>
                </a:lnTo>
                <a:lnTo>
                  <a:pt x="2544725" y="457206"/>
                </a:lnTo>
                <a:lnTo>
                  <a:pt x="2540167" y="404789"/>
                </a:lnTo>
                <a:lnTo>
                  <a:pt x="2527184" y="356672"/>
                </a:lnTo>
                <a:lnTo>
                  <a:pt x="2506813" y="314226"/>
                </a:lnTo>
                <a:lnTo>
                  <a:pt x="2480088" y="278824"/>
                </a:lnTo>
                <a:lnTo>
                  <a:pt x="2448046" y="251838"/>
                </a:lnTo>
                <a:lnTo>
                  <a:pt x="2411722" y="234640"/>
                </a:lnTo>
                <a:lnTo>
                  <a:pt x="2372154" y="228603"/>
                </a:lnTo>
                <a:lnTo>
                  <a:pt x="172571" y="228603"/>
                </a:lnTo>
                <a:lnTo>
                  <a:pt x="133002" y="222565"/>
                </a:lnTo>
                <a:lnTo>
                  <a:pt x="96678" y="205367"/>
                </a:lnTo>
                <a:lnTo>
                  <a:pt x="64636" y="178381"/>
                </a:lnTo>
                <a:lnTo>
                  <a:pt x="37912" y="142979"/>
                </a:lnTo>
                <a:lnTo>
                  <a:pt x="17540" y="100533"/>
                </a:lnTo>
                <a:lnTo>
                  <a:pt x="4557" y="52416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4422140" y="4528820"/>
            <a:ext cx="3366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3 </a:t>
            </a:r>
            <a:r>
              <a:rPr dirty="0" sz="1800" spc="-5">
                <a:latin typeface="Arial"/>
                <a:cs typeface="Arial"/>
              </a:rPr>
              <a:t>triangles (out of </a:t>
            </a:r>
            <a:r>
              <a:rPr dirty="0" sz="1800">
                <a:latin typeface="Arial"/>
                <a:cs typeface="Arial"/>
              </a:rPr>
              <a:t>6 </a:t>
            </a:r>
            <a:r>
              <a:rPr dirty="0" sz="1800" spc="-5">
                <a:latin typeface="Arial"/>
                <a:cs typeface="Arial"/>
              </a:rPr>
              <a:t>node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triplets)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33700" y="4114291"/>
            <a:ext cx="1106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90">
                <a:latin typeface="Cambria Math"/>
                <a:cs typeface="Cambria Math"/>
              </a:rPr>
              <a:t>𝑒</a:t>
            </a:r>
            <a:r>
              <a:rPr dirty="0" baseline="-15432" sz="2700" spc="135">
                <a:latin typeface="Cambria Math"/>
                <a:cs typeface="Cambria Math"/>
              </a:rPr>
              <a:t>)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2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0.5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334212" y="2932394"/>
            <a:ext cx="11430" cy="737235"/>
          </a:xfrm>
          <a:custGeom>
            <a:avLst/>
            <a:gdLst/>
            <a:ahLst/>
            <a:cxnLst/>
            <a:rect l="l" t="t" r="r" b="b"/>
            <a:pathLst>
              <a:path w="11429" h="737235">
                <a:moveTo>
                  <a:pt x="0" y="736934"/>
                </a:moveTo>
                <a:lnTo>
                  <a:pt x="11388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181812" y="2602527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181812" y="2602527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81812" y="366932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181812" y="366932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27673" y="367668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799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327673" y="3676680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324812" y="262634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324812" y="262634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769419" y="312309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769419" y="312309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812121" y="3132835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477212" y="2948156"/>
            <a:ext cx="8255" cy="753745"/>
          </a:xfrm>
          <a:custGeom>
            <a:avLst/>
            <a:gdLst/>
            <a:ahLst/>
            <a:cxnLst/>
            <a:rect l="l" t="t" r="r" b="b"/>
            <a:pathLst>
              <a:path w="8254" h="753745">
                <a:moveTo>
                  <a:pt x="0" y="753708"/>
                </a:moveTo>
                <a:lnTo>
                  <a:pt x="7662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482822" y="2786782"/>
            <a:ext cx="842010" cy="0"/>
          </a:xfrm>
          <a:custGeom>
            <a:avLst/>
            <a:gdLst/>
            <a:ahLst/>
            <a:cxnLst/>
            <a:rect l="l" t="t" r="r" b="b"/>
            <a:pathLst>
              <a:path w="842010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029581" y="3396975"/>
            <a:ext cx="342900" cy="327025"/>
          </a:xfrm>
          <a:custGeom>
            <a:avLst/>
            <a:gdLst/>
            <a:ahLst/>
            <a:cxnLst/>
            <a:rect l="l" t="t" r="r" b="b"/>
            <a:pathLst>
              <a:path w="342900" h="327025">
                <a:moveTo>
                  <a:pt x="0" y="0"/>
                </a:moveTo>
                <a:lnTo>
                  <a:pt x="342728" y="326696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029581" y="2900227"/>
            <a:ext cx="340360" cy="269875"/>
          </a:xfrm>
          <a:custGeom>
            <a:avLst/>
            <a:gdLst/>
            <a:ahLst/>
            <a:cxnLst/>
            <a:rect l="l" t="t" r="r" b="b"/>
            <a:pathLst>
              <a:path w="340360" h="269875">
                <a:moveTo>
                  <a:pt x="0" y="269858"/>
                </a:moveTo>
                <a:lnTo>
                  <a:pt x="339867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441975" y="3396974"/>
            <a:ext cx="372110" cy="319405"/>
          </a:xfrm>
          <a:custGeom>
            <a:avLst/>
            <a:gdLst/>
            <a:ahLst/>
            <a:cxnLst/>
            <a:rect l="l" t="t" r="r" b="b"/>
            <a:pathLst>
              <a:path w="372110" h="319404">
                <a:moveTo>
                  <a:pt x="0" y="319344"/>
                </a:moveTo>
                <a:lnTo>
                  <a:pt x="372081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441975" y="2876407"/>
            <a:ext cx="372110" cy="294005"/>
          </a:xfrm>
          <a:custGeom>
            <a:avLst/>
            <a:gdLst/>
            <a:ahLst/>
            <a:cxnLst/>
            <a:rect l="l" t="t" r="r" b="b"/>
            <a:pathLst>
              <a:path w="372110" h="294005">
                <a:moveTo>
                  <a:pt x="0" y="0"/>
                </a:moveTo>
                <a:lnTo>
                  <a:pt x="372081" y="293677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471455" y="2871269"/>
            <a:ext cx="826135" cy="381000"/>
          </a:xfrm>
          <a:custGeom>
            <a:avLst/>
            <a:gdLst/>
            <a:ahLst/>
            <a:cxnLst/>
            <a:rect l="l" t="t" r="r" b="b"/>
            <a:pathLst>
              <a:path w="826135" h="381000">
                <a:moveTo>
                  <a:pt x="826047" y="0"/>
                </a:moveTo>
                <a:lnTo>
                  <a:pt x="413023" y="381000"/>
                </a:lnTo>
                <a:lnTo>
                  <a:pt x="0" y="0"/>
                </a:lnTo>
                <a:lnTo>
                  <a:pt x="826047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097712" y="2949242"/>
            <a:ext cx="11430" cy="737235"/>
          </a:xfrm>
          <a:custGeom>
            <a:avLst/>
            <a:gdLst/>
            <a:ahLst/>
            <a:cxnLst/>
            <a:rect l="l" t="t" r="r" b="b"/>
            <a:pathLst>
              <a:path w="11429" h="737235">
                <a:moveTo>
                  <a:pt x="0" y="736934"/>
                </a:moveTo>
                <a:lnTo>
                  <a:pt x="11388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945312" y="2619375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945312" y="2619375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945312" y="368617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945312" y="3686176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091172" y="369352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5"/>
                </a:lnTo>
                <a:lnTo>
                  <a:pt x="0" y="160435"/>
                </a:lnTo>
                <a:lnTo>
                  <a:pt x="7769" y="211145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5"/>
                </a:lnTo>
                <a:lnTo>
                  <a:pt x="304800" y="160435"/>
                </a:lnTo>
                <a:lnTo>
                  <a:pt x="297030" y="109725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091172" y="3693528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088312" y="264319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088312" y="2643193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532918" y="313994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152400" y="0"/>
                </a:moveTo>
                <a:lnTo>
                  <a:pt x="104229" y="8179"/>
                </a:lnTo>
                <a:lnTo>
                  <a:pt x="62394" y="30954"/>
                </a:lnTo>
                <a:lnTo>
                  <a:pt x="29404" y="65684"/>
                </a:lnTo>
                <a:lnTo>
                  <a:pt x="7769" y="109726"/>
                </a:lnTo>
                <a:lnTo>
                  <a:pt x="0" y="160436"/>
                </a:lnTo>
                <a:lnTo>
                  <a:pt x="7769" y="211146"/>
                </a:lnTo>
                <a:lnTo>
                  <a:pt x="29404" y="255187"/>
                </a:lnTo>
                <a:lnTo>
                  <a:pt x="62394" y="289916"/>
                </a:lnTo>
                <a:lnTo>
                  <a:pt x="104229" y="312692"/>
                </a:lnTo>
                <a:lnTo>
                  <a:pt x="152400" y="320871"/>
                </a:lnTo>
                <a:lnTo>
                  <a:pt x="200570" y="312692"/>
                </a:lnTo>
                <a:lnTo>
                  <a:pt x="242405" y="289916"/>
                </a:lnTo>
                <a:lnTo>
                  <a:pt x="275395" y="255187"/>
                </a:lnTo>
                <a:lnTo>
                  <a:pt x="297030" y="211146"/>
                </a:lnTo>
                <a:lnTo>
                  <a:pt x="304800" y="160436"/>
                </a:lnTo>
                <a:lnTo>
                  <a:pt x="297030" y="109726"/>
                </a:lnTo>
                <a:lnTo>
                  <a:pt x="275395" y="65684"/>
                </a:lnTo>
                <a:lnTo>
                  <a:pt x="242405" y="30954"/>
                </a:lnTo>
                <a:lnTo>
                  <a:pt x="200570" y="8179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532918" y="3139941"/>
            <a:ext cx="304800" cy="321310"/>
          </a:xfrm>
          <a:custGeom>
            <a:avLst/>
            <a:gdLst/>
            <a:ahLst/>
            <a:cxnLst/>
            <a:rect l="l" t="t" r="r" b="b"/>
            <a:pathLst>
              <a:path w="304800" h="321310">
                <a:moveTo>
                  <a:pt x="0" y="160436"/>
                </a:moveTo>
                <a:lnTo>
                  <a:pt x="7769" y="109725"/>
                </a:lnTo>
                <a:lnTo>
                  <a:pt x="29404" y="65684"/>
                </a:lnTo>
                <a:lnTo>
                  <a:pt x="62394" y="30954"/>
                </a:lnTo>
                <a:lnTo>
                  <a:pt x="104229" y="8179"/>
                </a:lnTo>
                <a:lnTo>
                  <a:pt x="152400" y="0"/>
                </a:lnTo>
                <a:lnTo>
                  <a:pt x="200570" y="8179"/>
                </a:lnTo>
                <a:lnTo>
                  <a:pt x="242405" y="30954"/>
                </a:lnTo>
                <a:lnTo>
                  <a:pt x="275395" y="65684"/>
                </a:lnTo>
                <a:lnTo>
                  <a:pt x="297030" y="109725"/>
                </a:lnTo>
                <a:lnTo>
                  <a:pt x="304800" y="160436"/>
                </a:lnTo>
                <a:lnTo>
                  <a:pt x="297030" y="211146"/>
                </a:lnTo>
                <a:lnTo>
                  <a:pt x="275395" y="255187"/>
                </a:lnTo>
                <a:lnTo>
                  <a:pt x="242405" y="289917"/>
                </a:lnTo>
                <a:lnTo>
                  <a:pt x="200570" y="312692"/>
                </a:lnTo>
                <a:lnTo>
                  <a:pt x="152400" y="320872"/>
                </a:lnTo>
                <a:lnTo>
                  <a:pt x="104229" y="312692"/>
                </a:lnTo>
                <a:lnTo>
                  <a:pt x="62394" y="289917"/>
                </a:lnTo>
                <a:lnTo>
                  <a:pt x="29404" y="255187"/>
                </a:lnTo>
                <a:lnTo>
                  <a:pt x="7769" y="211146"/>
                </a:lnTo>
                <a:lnTo>
                  <a:pt x="0" y="160436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575622" y="3151123"/>
            <a:ext cx="149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Cambria Math"/>
                <a:cs typeface="Cambria Math"/>
              </a:rPr>
              <a:t>𝑣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240712" y="2965004"/>
            <a:ext cx="8255" cy="753745"/>
          </a:xfrm>
          <a:custGeom>
            <a:avLst/>
            <a:gdLst/>
            <a:ahLst/>
            <a:cxnLst/>
            <a:rect l="l" t="t" r="r" b="b"/>
            <a:pathLst>
              <a:path w="8254" h="753745">
                <a:moveTo>
                  <a:pt x="0" y="753708"/>
                </a:moveTo>
                <a:lnTo>
                  <a:pt x="7662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246322" y="2803630"/>
            <a:ext cx="842010" cy="0"/>
          </a:xfrm>
          <a:custGeom>
            <a:avLst/>
            <a:gdLst/>
            <a:ahLst/>
            <a:cxnLst/>
            <a:rect l="l" t="t" r="r" b="b"/>
            <a:pathLst>
              <a:path w="842009" h="0">
                <a:moveTo>
                  <a:pt x="0" y="0"/>
                </a:moveTo>
                <a:lnTo>
                  <a:pt x="841989" y="1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793081" y="3413822"/>
            <a:ext cx="342900" cy="327025"/>
          </a:xfrm>
          <a:custGeom>
            <a:avLst/>
            <a:gdLst/>
            <a:ahLst/>
            <a:cxnLst/>
            <a:rect l="l" t="t" r="r" b="b"/>
            <a:pathLst>
              <a:path w="342900" h="327025">
                <a:moveTo>
                  <a:pt x="0" y="0"/>
                </a:moveTo>
                <a:lnTo>
                  <a:pt x="342728" y="326696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793081" y="2917074"/>
            <a:ext cx="340360" cy="269875"/>
          </a:xfrm>
          <a:custGeom>
            <a:avLst/>
            <a:gdLst/>
            <a:ahLst/>
            <a:cxnLst/>
            <a:rect l="l" t="t" r="r" b="b"/>
            <a:pathLst>
              <a:path w="340359" h="269875">
                <a:moveTo>
                  <a:pt x="0" y="269858"/>
                </a:moveTo>
                <a:lnTo>
                  <a:pt x="339867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205474" y="3413823"/>
            <a:ext cx="372110" cy="319405"/>
          </a:xfrm>
          <a:custGeom>
            <a:avLst/>
            <a:gdLst/>
            <a:ahLst/>
            <a:cxnLst/>
            <a:rect l="l" t="t" r="r" b="b"/>
            <a:pathLst>
              <a:path w="372109" h="319404">
                <a:moveTo>
                  <a:pt x="0" y="319344"/>
                </a:moveTo>
                <a:lnTo>
                  <a:pt x="372081" y="0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205474" y="2893255"/>
            <a:ext cx="372110" cy="294005"/>
          </a:xfrm>
          <a:custGeom>
            <a:avLst/>
            <a:gdLst/>
            <a:ahLst/>
            <a:cxnLst/>
            <a:rect l="l" t="t" r="r" b="b"/>
            <a:pathLst>
              <a:path w="372109" h="294005">
                <a:moveTo>
                  <a:pt x="0" y="0"/>
                </a:moveTo>
                <a:lnTo>
                  <a:pt x="372081" y="293677"/>
                </a:lnTo>
              </a:path>
            </a:pathLst>
          </a:custGeom>
          <a:ln w="28575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806419" y="2943678"/>
            <a:ext cx="381000" cy="826135"/>
          </a:xfrm>
          <a:custGeom>
            <a:avLst/>
            <a:gdLst/>
            <a:ahLst/>
            <a:cxnLst/>
            <a:rect l="l" t="t" r="r" b="b"/>
            <a:pathLst>
              <a:path w="381000" h="826135">
                <a:moveTo>
                  <a:pt x="381000" y="826047"/>
                </a:moveTo>
                <a:lnTo>
                  <a:pt x="0" y="390167"/>
                </a:lnTo>
                <a:lnTo>
                  <a:pt x="381000" y="0"/>
                </a:lnTo>
                <a:lnTo>
                  <a:pt x="381000" y="826047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33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653" rIns="0" bIns="0" rtlCol="0" vert="horz">
            <a:spAutoFit/>
          </a:bodyPr>
          <a:lstStyle/>
          <a:p>
            <a:pPr marL="495300" marR="5080">
              <a:lnSpc>
                <a:spcPts val="3790"/>
              </a:lnSpc>
              <a:spcBef>
                <a:spcPts val="265"/>
              </a:spcBef>
            </a:pPr>
            <a:r>
              <a:rPr dirty="0" spc="-15">
                <a:solidFill>
                  <a:srgbClr val="D9253E"/>
                </a:solidFill>
              </a:rPr>
              <a:t>Graphlets</a:t>
            </a:r>
            <a:r>
              <a:rPr dirty="0" spc="-15" b="0">
                <a:solidFill>
                  <a:srgbClr val="D9253E"/>
                </a:solidFill>
                <a:latin typeface="Calibri"/>
                <a:cs typeface="Calibri"/>
              </a:rPr>
              <a:t>: </a:t>
            </a:r>
            <a:r>
              <a:rPr dirty="0" spc="-20" b="0">
                <a:solidFill>
                  <a:srgbClr val="D9253E"/>
                </a:solidFill>
                <a:latin typeface="Calibri"/>
                <a:cs typeface="Calibri"/>
              </a:rPr>
              <a:t>Rooted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connected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non-isomorphic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subgraphs:</a:t>
            </a:r>
          </a:p>
        </p:txBody>
      </p:sp>
      <p:sp>
        <p:nvSpPr>
          <p:cNvPr id="4" name="object 4"/>
          <p:cNvSpPr/>
          <p:nvPr/>
        </p:nvSpPr>
        <p:spPr>
          <a:xfrm>
            <a:off x="1225818" y="2513062"/>
            <a:ext cx="6765963" cy="37567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31942" y="6577076"/>
            <a:ext cx="20491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7F7F7F"/>
                </a:solidFill>
                <a:latin typeface="Corbel"/>
                <a:cs typeface="Corbel"/>
              </a:rPr>
              <a:t>Przulj </a:t>
            </a:r>
            <a:r>
              <a:rPr dirty="0" sz="1200" i="1">
                <a:solidFill>
                  <a:srgbClr val="7F7F7F"/>
                </a:solidFill>
                <a:latin typeface="Corbel"/>
                <a:cs typeface="Corbel"/>
              </a:rPr>
              <a:t>et </a:t>
            </a:r>
            <a:r>
              <a:rPr dirty="0" sz="1200" spc="-5" i="1">
                <a:solidFill>
                  <a:srgbClr val="7F7F7F"/>
                </a:solidFill>
                <a:latin typeface="Corbel"/>
                <a:cs typeface="Corbel"/>
              </a:rPr>
              <a:t>al.</a:t>
            </a:r>
            <a:r>
              <a:rPr dirty="0" sz="1200" spc="-5">
                <a:solidFill>
                  <a:srgbClr val="7F7F7F"/>
                </a:solidFill>
                <a:latin typeface="Corbel"/>
                <a:cs typeface="Corbel"/>
              </a:rPr>
              <a:t>, Bioinformatics</a:t>
            </a:r>
            <a:r>
              <a:rPr dirty="0" sz="1200" spc="-40">
                <a:solidFill>
                  <a:srgbClr val="7F7F7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Corbel"/>
                <a:cs typeface="Corbel"/>
              </a:rPr>
              <a:t>2004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10172" y="6723724"/>
            <a:ext cx="16192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19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33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922895" cy="39300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Graphlet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Degree </a:t>
            </a:r>
            <a:r>
              <a:rPr dirty="0" sz="3200" spc="-35" b="1">
                <a:solidFill>
                  <a:srgbClr val="0000FF"/>
                </a:solidFill>
                <a:latin typeface="Calibri"/>
                <a:cs typeface="Calibri"/>
              </a:rPr>
              <a:t>Vector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(GDV)</a:t>
            </a:r>
            <a:r>
              <a:rPr dirty="0" sz="3200" spc="-15" b="1">
                <a:latin typeface="Calibri"/>
                <a:cs typeface="Calibri"/>
              </a:rPr>
              <a:t>: </a:t>
            </a:r>
            <a:r>
              <a:rPr dirty="0" sz="3200" spc="-20">
                <a:latin typeface="Calibri"/>
                <a:cs typeface="Calibri"/>
              </a:rPr>
              <a:t>Graphlet-base  </a:t>
            </a:r>
            <a:r>
              <a:rPr dirty="0" sz="3200" spc="-25">
                <a:latin typeface="Calibri"/>
                <a:cs typeface="Calibri"/>
              </a:rPr>
              <a:t>features for </a:t>
            </a:r>
            <a:r>
              <a:rPr dirty="0" sz="3200" spc="-5"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Font typeface="Arial"/>
              <a:buChar char="▪"/>
            </a:pPr>
            <a:endParaRPr sz="3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Degree </a:t>
            </a:r>
            <a:r>
              <a:rPr dirty="0" sz="3200" spc="-10">
                <a:latin typeface="Calibri"/>
                <a:cs typeface="Calibri"/>
              </a:rPr>
              <a:t>counts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#(edges)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touches</a:t>
            </a:r>
            <a:endParaRPr sz="3200">
              <a:latin typeface="Calibri"/>
              <a:cs typeface="Calibri"/>
            </a:endParaRPr>
          </a:p>
          <a:p>
            <a:pPr marL="332740" marR="52069" indent="-320040">
              <a:lnSpc>
                <a:spcPts val="379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Clustering coefficient </a:t>
            </a:r>
            <a:r>
              <a:rPr dirty="0" sz="3200" spc="-10">
                <a:latin typeface="Calibri"/>
                <a:cs typeface="Calibri"/>
              </a:rPr>
              <a:t>counts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#(triangles) </a:t>
            </a:r>
            <a:r>
              <a:rPr dirty="0" sz="3200" spc="-10">
                <a:latin typeface="Calibri"/>
                <a:cs typeface="Calibri"/>
              </a:rPr>
              <a:t>that  </a:t>
            </a:r>
            <a:r>
              <a:rPr dirty="0" sz="3200">
                <a:latin typeface="Calibri"/>
                <a:cs typeface="Calibri"/>
              </a:rPr>
              <a:t>a node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touches.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Font typeface="Arial"/>
              <a:buChar char="▪"/>
            </a:pPr>
            <a:endParaRPr sz="32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GDV </a:t>
            </a:r>
            <a:r>
              <a:rPr dirty="0" sz="3200" spc="-10">
                <a:latin typeface="Calibri"/>
                <a:cs typeface="Calibri"/>
              </a:rPr>
              <a:t>counts </a:t>
            </a:r>
            <a:r>
              <a:rPr dirty="0" sz="3200" spc="-15" b="1">
                <a:solidFill>
                  <a:srgbClr val="D9253E"/>
                </a:solidFill>
                <a:latin typeface="Calibri"/>
                <a:cs typeface="Calibri"/>
              </a:rPr>
              <a:t>#(graphlets) </a:t>
            </a:r>
            <a:r>
              <a:rPr dirty="0" sz="3200" spc="-10">
                <a:latin typeface="Calibri"/>
                <a:cs typeface="Calibri"/>
              </a:rPr>
              <a:t>that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touches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16522" y="6723724"/>
            <a:ext cx="14351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20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33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698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0000FF"/>
                </a:solidFill>
              </a:rPr>
              <a:t>Graphlet </a:t>
            </a:r>
            <a:r>
              <a:rPr dirty="0" spc="-10">
                <a:solidFill>
                  <a:srgbClr val="0000FF"/>
                </a:solidFill>
              </a:rPr>
              <a:t>Degree </a:t>
            </a:r>
            <a:r>
              <a:rPr dirty="0" spc="-35">
                <a:solidFill>
                  <a:srgbClr val="0000FF"/>
                </a:solidFill>
              </a:rPr>
              <a:t>Vector </a:t>
            </a:r>
            <a:r>
              <a:rPr dirty="0" spc="-15">
                <a:solidFill>
                  <a:srgbClr val="0000FF"/>
                </a:solidFill>
              </a:rPr>
              <a:t>(GDV)</a:t>
            </a:r>
            <a:r>
              <a:rPr dirty="0" spc="-15" b="0">
                <a:solidFill>
                  <a:srgbClr val="0000FF"/>
                </a:solidFill>
                <a:latin typeface="Calibri"/>
                <a:cs typeface="Calibri"/>
              </a:rPr>
              <a:t>: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count  vector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graphlets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rooted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at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given</a:t>
            </a:r>
            <a:r>
              <a:rPr dirty="0" spc="10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4227" y="6694423"/>
            <a:ext cx="3676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2/14/21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24460" y="6694423"/>
            <a:ext cx="1358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6315" y="6736424"/>
            <a:ext cx="772795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</a:t>
            </a:r>
            <a:r>
              <a:rPr dirty="0" sz="900" spc="-80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S</a:t>
            </a:r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46725" y="6694423"/>
            <a:ext cx="10090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tanford CS224W:</a:t>
            </a:r>
            <a:r>
              <a:rPr dirty="0" sz="900" spc="-70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Ma</a:t>
            </a:r>
            <a:endParaRPr sz="9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2073" y="6736424"/>
            <a:ext cx="1397635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chine Learning with Graphs,</a:t>
            </a:r>
            <a:r>
              <a:rPr dirty="0" sz="900" spc="-5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h</a:t>
            </a:r>
            <a:endParaRPr sz="9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96245" y="4992799"/>
            <a:ext cx="2240187" cy="1811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27783" y="2852317"/>
            <a:ext cx="5624998" cy="14363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97530" y="3554522"/>
            <a:ext cx="204470" cy="232410"/>
          </a:xfrm>
          <a:custGeom>
            <a:avLst/>
            <a:gdLst/>
            <a:ahLst/>
            <a:cxnLst/>
            <a:rect l="l" t="t" r="r" b="b"/>
            <a:pathLst>
              <a:path w="204469" h="232410">
                <a:moveTo>
                  <a:pt x="102135" y="0"/>
                </a:moveTo>
                <a:lnTo>
                  <a:pt x="62379" y="9108"/>
                </a:lnTo>
                <a:lnTo>
                  <a:pt x="29914" y="33949"/>
                </a:lnTo>
                <a:lnTo>
                  <a:pt x="8026" y="70792"/>
                </a:lnTo>
                <a:lnTo>
                  <a:pt x="0" y="115910"/>
                </a:lnTo>
                <a:lnTo>
                  <a:pt x="8026" y="161027"/>
                </a:lnTo>
                <a:lnTo>
                  <a:pt x="29914" y="197870"/>
                </a:lnTo>
                <a:lnTo>
                  <a:pt x="62379" y="222710"/>
                </a:lnTo>
                <a:lnTo>
                  <a:pt x="102135" y="231819"/>
                </a:lnTo>
                <a:lnTo>
                  <a:pt x="141891" y="222710"/>
                </a:lnTo>
                <a:lnTo>
                  <a:pt x="174355" y="197870"/>
                </a:lnTo>
                <a:lnTo>
                  <a:pt x="196244" y="161027"/>
                </a:lnTo>
                <a:lnTo>
                  <a:pt x="204270" y="115910"/>
                </a:lnTo>
                <a:lnTo>
                  <a:pt x="196244" y="70792"/>
                </a:lnTo>
                <a:lnTo>
                  <a:pt x="174355" y="33949"/>
                </a:lnTo>
                <a:lnTo>
                  <a:pt x="141891" y="9108"/>
                </a:lnTo>
                <a:lnTo>
                  <a:pt x="10213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497530" y="3554522"/>
            <a:ext cx="204470" cy="232410"/>
          </a:xfrm>
          <a:custGeom>
            <a:avLst/>
            <a:gdLst/>
            <a:ahLst/>
            <a:cxnLst/>
            <a:rect l="l" t="t" r="r" b="b"/>
            <a:pathLst>
              <a:path w="204469" h="232410">
                <a:moveTo>
                  <a:pt x="0" y="115910"/>
                </a:moveTo>
                <a:lnTo>
                  <a:pt x="8026" y="70792"/>
                </a:lnTo>
                <a:lnTo>
                  <a:pt x="29914" y="33949"/>
                </a:lnTo>
                <a:lnTo>
                  <a:pt x="62379" y="9108"/>
                </a:lnTo>
                <a:lnTo>
                  <a:pt x="102135" y="0"/>
                </a:lnTo>
                <a:lnTo>
                  <a:pt x="141890" y="9108"/>
                </a:lnTo>
                <a:lnTo>
                  <a:pt x="174355" y="33949"/>
                </a:lnTo>
                <a:lnTo>
                  <a:pt x="196243" y="70792"/>
                </a:lnTo>
                <a:lnTo>
                  <a:pt x="204270" y="115910"/>
                </a:lnTo>
                <a:lnTo>
                  <a:pt x="196243" y="161027"/>
                </a:lnTo>
                <a:lnTo>
                  <a:pt x="174355" y="197870"/>
                </a:lnTo>
                <a:lnTo>
                  <a:pt x="141890" y="222711"/>
                </a:lnTo>
                <a:lnTo>
                  <a:pt x="102135" y="231820"/>
                </a:lnTo>
                <a:lnTo>
                  <a:pt x="62379" y="222711"/>
                </a:lnTo>
                <a:lnTo>
                  <a:pt x="29914" y="197870"/>
                </a:lnTo>
                <a:lnTo>
                  <a:pt x="8026" y="161027"/>
                </a:lnTo>
                <a:lnTo>
                  <a:pt x="0" y="11591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56118" y="5004608"/>
            <a:ext cx="1241982" cy="18110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815065" y="2524251"/>
            <a:ext cx="25400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List of</a:t>
            </a:r>
            <a:r>
              <a:rPr dirty="0" sz="2800" spc="-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graphlets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108" y="2327148"/>
            <a:ext cx="1890395" cy="140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latin typeface="Calibri"/>
                <a:cs typeface="Calibri"/>
              </a:rPr>
              <a:t>E</a:t>
            </a:r>
            <a:r>
              <a:rPr dirty="0" sz="3200" spc="-45" b="1">
                <a:latin typeface="Calibri"/>
                <a:cs typeface="Calibri"/>
              </a:rPr>
              <a:t>x</a:t>
            </a:r>
            <a:r>
              <a:rPr dirty="0" sz="3200" spc="-5" b="1">
                <a:latin typeface="Calibri"/>
                <a:cs typeface="Calibri"/>
              </a:rPr>
              <a:t>amp</a:t>
            </a:r>
            <a:r>
              <a:rPr dirty="0" sz="3200" b="1">
                <a:latin typeface="Calibri"/>
                <a:cs typeface="Calibri"/>
              </a:rPr>
              <a:t>l</a:t>
            </a:r>
            <a:r>
              <a:rPr dirty="0" sz="3200" spc="0" b="1">
                <a:latin typeface="Calibri"/>
                <a:cs typeface="Calibri"/>
              </a:rPr>
              <a:t>e</a:t>
            </a:r>
            <a:r>
              <a:rPr dirty="0" sz="3200" b="1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495300">
              <a:lnSpc>
                <a:spcPct val="100000"/>
              </a:lnSpc>
              <a:spcBef>
                <a:spcPts val="3215"/>
              </a:spcBef>
            </a:pPr>
            <a:r>
              <a:rPr dirty="0" sz="320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35868" y="4624323"/>
            <a:ext cx="2171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𝑏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22653" y="4593844"/>
            <a:ext cx="23241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6935" algn="l"/>
              </a:tabLst>
            </a:pPr>
            <a:r>
              <a:rPr dirty="0" baseline="1984" sz="4200">
                <a:latin typeface="Cambria Math"/>
                <a:cs typeface="Cambria Math"/>
              </a:rPr>
              <a:t>𝑎	</a:t>
            </a:r>
            <a:r>
              <a:rPr dirty="0" sz="2800">
                <a:latin typeface="Cambria Math"/>
                <a:cs typeface="Cambria Math"/>
              </a:rPr>
              <a:t>𝑐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9344" y="4624323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𝑑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26360" y="5105907"/>
            <a:ext cx="2804160" cy="1751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GDV </a:t>
            </a:r>
            <a:r>
              <a:rPr dirty="0" sz="2800">
                <a:solidFill>
                  <a:srgbClr val="008000"/>
                </a:solidFill>
                <a:latin typeface="Arial"/>
                <a:cs typeface="Arial"/>
              </a:rPr>
              <a:t>of node</a:t>
            </a:r>
            <a:r>
              <a:rPr dirty="0" sz="28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800" spc="30">
                <a:solidFill>
                  <a:srgbClr val="008000"/>
                </a:solidFill>
                <a:latin typeface="Cambria Math"/>
                <a:cs typeface="Cambria Math"/>
              </a:rPr>
              <a:t>𝑣</a:t>
            </a:r>
            <a:r>
              <a:rPr dirty="0" sz="2800" spc="30">
                <a:solidFill>
                  <a:srgbClr val="008000"/>
                </a:solidFill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332105">
              <a:lnSpc>
                <a:spcPts val="3335"/>
              </a:lnSpc>
              <a:spcBef>
                <a:spcPts val="20"/>
              </a:spcBef>
            </a:pPr>
            <a:r>
              <a:rPr dirty="0" sz="2800" spc="25">
                <a:solidFill>
                  <a:srgbClr val="008000"/>
                </a:solidFill>
                <a:latin typeface="Cambria Math"/>
                <a:cs typeface="Cambria Math"/>
              </a:rPr>
              <a:t>𝑎,</a:t>
            </a:r>
            <a:r>
              <a:rPr dirty="0" sz="2800" spc="-1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 spc="25">
                <a:solidFill>
                  <a:srgbClr val="008000"/>
                </a:solidFill>
                <a:latin typeface="Cambria Math"/>
                <a:cs typeface="Cambria Math"/>
              </a:rPr>
              <a:t>𝑏,</a:t>
            </a:r>
            <a:r>
              <a:rPr dirty="0" sz="2800" spc="-1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 spc="35">
                <a:solidFill>
                  <a:srgbClr val="008000"/>
                </a:solidFill>
                <a:latin typeface="Cambria Math"/>
                <a:cs typeface="Cambria Math"/>
              </a:rPr>
              <a:t>𝑐,</a:t>
            </a:r>
            <a:r>
              <a:rPr dirty="0" sz="2800" spc="-18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008000"/>
                </a:solidFill>
                <a:latin typeface="Cambria Math"/>
                <a:cs typeface="Cambria Math"/>
              </a:rPr>
              <a:t>𝑑</a:t>
            </a:r>
            <a:endParaRPr sz="2800">
              <a:latin typeface="Cambria Math"/>
              <a:cs typeface="Cambria Math"/>
            </a:endParaRPr>
          </a:p>
          <a:p>
            <a:pPr marL="332105">
              <a:lnSpc>
                <a:spcPts val="3335"/>
              </a:lnSpc>
            </a:pP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[2,1,0,2]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ttp://cs224w.stanford.edu</a:t>
            </a:r>
            <a:endParaRPr sz="90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1349" y="4212844"/>
            <a:ext cx="30943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Graphlet</a:t>
            </a:r>
            <a:r>
              <a:rPr dirty="0" sz="2800" spc="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008000"/>
                </a:solidFill>
                <a:latin typeface="Arial"/>
                <a:cs typeface="Arial"/>
              </a:rPr>
              <a:t>instances: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23316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8924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Considering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graphlets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on 2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5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dirty="0" spc="10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get: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8131175" cy="44907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30" b="1">
                <a:solidFill>
                  <a:srgbClr val="0000FF"/>
                </a:solidFill>
                <a:latin typeface="Calibri"/>
                <a:cs typeface="Calibri"/>
              </a:rPr>
              <a:t>Vector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73 </a:t>
            </a:r>
            <a:r>
              <a:rPr dirty="0" sz="2800" spc="-15" b="1">
                <a:solidFill>
                  <a:srgbClr val="0000FF"/>
                </a:solidFill>
                <a:latin typeface="Calibri"/>
                <a:cs typeface="Calibri"/>
              </a:rPr>
              <a:t>coordinates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signature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node 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5">
                <a:latin typeface="Calibri"/>
                <a:cs typeface="Calibri"/>
              </a:rPr>
              <a:t>describes the </a:t>
            </a:r>
            <a:r>
              <a:rPr dirty="0" sz="2800" spc="-10">
                <a:latin typeface="Calibri"/>
                <a:cs typeface="Calibri"/>
              </a:rPr>
              <a:t>topology </a:t>
            </a:r>
            <a:r>
              <a:rPr dirty="0" sz="2800" spc="-5">
                <a:latin typeface="Calibri"/>
                <a:cs typeface="Calibri"/>
              </a:rPr>
              <a:t>of node's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neighborhood</a:t>
            </a:r>
            <a:endParaRPr sz="2800">
              <a:latin typeface="Calibri"/>
              <a:cs typeface="Calibri"/>
            </a:endParaRPr>
          </a:p>
          <a:p>
            <a:pPr marL="625475" marR="134620" indent="-274320">
              <a:lnSpc>
                <a:spcPct val="101400"/>
              </a:lnSpc>
              <a:spcBef>
                <a:spcPts val="6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Captures </a:t>
            </a:r>
            <a:r>
              <a:rPr dirty="0" sz="2800" spc="-5">
                <a:latin typeface="Calibri"/>
                <a:cs typeface="Calibri"/>
              </a:rPr>
              <a:t>its </a:t>
            </a:r>
            <a:r>
              <a:rPr dirty="0" sz="2800" spc="-10">
                <a:latin typeface="Calibri"/>
                <a:cs typeface="Calibri"/>
              </a:rPr>
              <a:t>interconnectivities </a:t>
            </a:r>
            <a:r>
              <a:rPr dirty="0" sz="2800" spc="-5">
                <a:latin typeface="Calibri"/>
                <a:cs typeface="Calibri"/>
              </a:rPr>
              <a:t>out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distance </a:t>
            </a:r>
            <a:r>
              <a:rPr dirty="0" sz="2800" spc="-305" b="1">
                <a:solidFill>
                  <a:srgbClr val="0000FF"/>
                </a:solidFill>
                <a:latin typeface="Calibri"/>
                <a:cs typeface="Calibri"/>
              </a:rPr>
              <a:t>of  </a:t>
            </a: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r>
              <a:rPr dirty="0" sz="2800" spc="-9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Calibri"/>
                <a:cs typeface="Calibri"/>
              </a:rPr>
              <a:t>hops</a:t>
            </a:r>
            <a:endParaRPr sz="2800">
              <a:latin typeface="Calibri"/>
              <a:cs typeface="Calibri"/>
            </a:endParaRPr>
          </a:p>
          <a:p>
            <a:pPr marL="332740" marR="227329" indent="-320040">
              <a:lnSpc>
                <a:spcPct val="101899"/>
              </a:lnSpc>
              <a:spcBef>
                <a:spcPts val="24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Graphlet degree vector provides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measure </a:t>
            </a:r>
            <a:r>
              <a:rPr dirty="0" sz="3200" spc="-5">
                <a:latin typeface="Calibri"/>
                <a:cs typeface="Calibri"/>
              </a:rPr>
              <a:t>of 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35" b="1">
                <a:solidFill>
                  <a:srgbClr val="D60093"/>
                </a:solidFill>
                <a:latin typeface="Calibri"/>
                <a:cs typeface="Calibri"/>
              </a:rPr>
              <a:t>node’s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local network</a:t>
            </a:r>
            <a:r>
              <a:rPr dirty="0" sz="3200" spc="6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topology</a:t>
            </a:r>
            <a:r>
              <a:rPr dirty="0" sz="3200" spc="-10">
                <a:solidFill>
                  <a:srgbClr val="D60093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lvl="1" marL="625475" marR="48260" indent="-274320">
              <a:lnSpc>
                <a:spcPct val="99600"/>
              </a:lnSpc>
              <a:spcBef>
                <a:spcPts val="6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Comparing </a:t>
            </a:r>
            <a:r>
              <a:rPr dirty="0" sz="2800" spc="-20">
                <a:latin typeface="Calibri"/>
                <a:cs typeface="Calibri"/>
              </a:rPr>
              <a:t>vectors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two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provides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more  </a:t>
            </a:r>
            <a:r>
              <a:rPr dirty="0" sz="2800" spc="-10">
                <a:latin typeface="Calibri"/>
                <a:cs typeface="Calibri"/>
              </a:rPr>
              <a:t>detailed measure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local topological </a:t>
            </a:r>
            <a:r>
              <a:rPr dirty="0" sz="2800" spc="-5">
                <a:latin typeface="Calibri"/>
                <a:cs typeface="Calibri"/>
              </a:rPr>
              <a:t>similarity than  node </a:t>
            </a:r>
            <a:r>
              <a:rPr dirty="0" sz="2800" spc="-10">
                <a:latin typeface="Calibri"/>
                <a:cs typeface="Calibri"/>
              </a:rPr>
              <a:t>degrees </a:t>
            </a:r>
            <a:r>
              <a:rPr dirty="0" sz="2800" spc="-5">
                <a:latin typeface="Calibri"/>
                <a:cs typeface="Calibri"/>
              </a:rPr>
              <a:t>or </a:t>
            </a:r>
            <a:r>
              <a:rPr dirty="0" sz="2800" spc="-10">
                <a:latin typeface="Calibri"/>
                <a:cs typeface="Calibri"/>
              </a:rPr>
              <a:t>clustering</a:t>
            </a:r>
            <a:r>
              <a:rPr dirty="0" sz="2800" spc="-15">
                <a:latin typeface="Calibri"/>
                <a:cs typeface="Calibri"/>
              </a:rPr>
              <a:t> coefficient.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194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649" y="1278636"/>
            <a:ext cx="7864475" cy="1491615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E66C7D"/>
                </a:solidFill>
              </a:rPr>
              <a:t>We </a:t>
            </a:r>
            <a:r>
              <a:rPr dirty="0" spc="-25">
                <a:solidFill>
                  <a:srgbClr val="E66C7D"/>
                </a:solidFill>
              </a:rPr>
              <a:t>have </a:t>
            </a:r>
            <a:r>
              <a:rPr dirty="0" spc="-10">
                <a:solidFill>
                  <a:srgbClr val="E66C7D"/>
                </a:solidFill>
              </a:rPr>
              <a:t>introduced </a:t>
            </a:r>
            <a:r>
              <a:rPr dirty="0" spc="-20">
                <a:solidFill>
                  <a:srgbClr val="E66C7D"/>
                </a:solidFill>
              </a:rPr>
              <a:t>different </a:t>
            </a:r>
            <a:r>
              <a:rPr dirty="0" spc="-35">
                <a:solidFill>
                  <a:srgbClr val="E66C7D"/>
                </a:solidFill>
              </a:rPr>
              <a:t>ways </a:t>
            </a:r>
            <a:r>
              <a:rPr dirty="0" spc="-15">
                <a:solidFill>
                  <a:srgbClr val="E66C7D"/>
                </a:solidFill>
              </a:rPr>
              <a:t>to </a:t>
            </a:r>
            <a:r>
              <a:rPr dirty="0" spc="-10">
                <a:solidFill>
                  <a:srgbClr val="E66C7D"/>
                </a:solidFill>
              </a:rPr>
              <a:t>obtain  </a:t>
            </a:r>
            <a:r>
              <a:rPr dirty="0" spc="-5">
                <a:solidFill>
                  <a:srgbClr val="E66C7D"/>
                </a:solidFill>
              </a:rPr>
              <a:t>node</a:t>
            </a:r>
            <a:r>
              <a:rPr dirty="0" spc="-40">
                <a:solidFill>
                  <a:srgbClr val="E66C7D"/>
                </a:solidFill>
              </a:rPr>
              <a:t> </a:t>
            </a:r>
            <a:r>
              <a:rPr dirty="0" spc="-20">
                <a:solidFill>
                  <a:srgbClr val="E66C7D"/>
                </a:solidFill>
              </a:rPr>
              <a:t>features.</a:t>
            </a:r>
          </a:p>
          <a:p>
            <a:pPr marL="332740" indent="-320040">
              <a:lnSpc>
                <a:spcPts val="376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They can </a:t>
            </a:r>
            <a:r>
              <a:rPr dirty="0" spc="-5">
                <a:solidFill>
                  <a:srgbClr val="000000"/>
                </a:solidFill>
              </a:rPr>
              <a:t>be </a:t>
            </a:r>
            <a:r>
              <a:rPr dirty="0" spc="-20">
                <a:solidFill>
                  <a:srgbClr val="000000"/>
                </a:solidFill>
              </a:rPr>
              <a:t>categorized</a:t>
            </a:r>
            <a:r>
              <a:rPr dirty="0" spc="-6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as: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5104" y="2734225"/>
            <a:ext cx="4863465" cy="325564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solidFill>
                  <a:srgbClr val="60B5CC"/>
                </a:solidFill>
                <a:latin typeface="Calibri"/>
                <a:cs typeface="Calibri"/>
              </a:rPr>
              <a:t>Importance-based</a:t>
            </a:r>
            <a:r>
              <a:rPr dirty="0" sz="2800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60B5CC"/>
                </a:solidFill>
                <a:latin typeface="Calibri"/>
                <a:cs typeface="Calibri"/>
              </a:rPr>
              <a:t>features: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degree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20">
                <a:latin typeface="Calibri"/>
                <a:cs typeface="Calibri"/>
              </a:rPr>
              <a:t>Different </a:t>
            </a: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centrality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measures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05"/>
              </a:spcBef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solidFill>
                  <a:srgbClr val="60B5CC"/>
                </a:solidFill>
                <a:latin typeface="Calibri"/>
                <a:cs typeface="Calibri"/>
              </a:rPr>
              <a:t>Structure-based</a:t>
            </a:r>
            <a:r>
              <a:rPr dirty="0" sz="2800" spc="-75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60B5CC"/>
                </a:solidFill>
                <a:latin typeface="Calibri"/>
                <a:cs typeface="Calibri"/>
              </a:rPr>
              <a:t>features:</a:t>
            </a:r>
            <a:endParaRPr sz="28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Node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degree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Clustering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coefficient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0">
                <a:latin typeface="Calibri"/>
                <a:cs typeface="Calibri"/>
              </a:rPr>
              <a:t>Graphlet </a:t>
            </a:r>
            <a:r>
              <a:rPr dirty="0" sz="2400" spc="-15">
                <a:latin typeface="Calibri"/>
                <a:cs typeface="Calibri"/>
              </a:rPr>
              <a:t>count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vector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194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11034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Importance-based </a:t>
            </a:r>
            <a:r>
              <a:rPr dirty="0" spc="-20">
                <a:solidFill>
                  <a:srgbClr val="0000FF"/>
                </a:solidFill>
              </a:rPr>
              <a:t>features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capture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importance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a node is in a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333921"/>
            <a:ext cx="8302625" cy="415417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7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degree: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54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Simply </a:t>
            </a:r>
            <a:r>
              <a:rPr dirty="0" sz="2400" spc="-10">
                <a:latin typeface="Calibri"/>
                <a:cs typeface="Calibri"/>
              </a:rPr>
              <a:t>counts </a:t>
            </a:r>
            <a:r>
              <a:rPr dirty="0" sz="2400" spc="-5">
                <a:latin typeface="Calibri"/>
                <a:cs typeface="Calibri"/>
              </a:rPr>
              <a:t>the number of neighboring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7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centrality: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5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Models </a:t>
            </a:r>
            <a:r>
              <a:rPr dirty="0" sz="2400" spc="-10">
                <a:solidFill>
                  <a:srgbClr val="008000"/>
                </a:solidFill>
                <a:latin typeface="Calibri"/>
                <a:cs typeface="Calibri"/>
              </a:rPr>
              <a:t>importance </a:t>
            </a:r>
            <a:r>
              <a:rPr dirty="0" sz="2400" spc="-5">
                <a:solidFill>
                  <a:srgbClr val="008000"/>
                </a:solidFill>
                <a:latin typeface="Calibri"/>
                <a:cs typeface="Calibri"/>
              </a:rPr>
              <a:t>of neighboring nodes </a:t>
            </a:r>
            <a:r>
              <a:rPr dirty="0" sz="2400" spc="-5">
                <a:latin typeface="Calibri"/>
                <a:cs typeface="Calibri"/>
              </a:rPr>
              <a:t>in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graph</a:t>
            </a:r>
            <a:endParaRPr sz="2400">
              <a:latin typeface="Calibri"/>
              <a:cs typeface="Calibri"/>
            </a:endParaRPr>
          </a:p>
          <a:p>
            <a:pPr lvl="1" marL="890905" marR="1199515" indent="-228600">
              <a:lnSpc>
                <a:spcPct val="100800"/>
              </a:lnSpc>
              <a:spcBef>
                <a:spcPts val="57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20">
                <a:latin typeface="Calibri"/>
                <a:cs typeface="Calibri"/>
              </a:rPr>
              <a:t>Different </a:t>
            </a:r>
            <a:r>
              <a:rPr dirty="0" sz="2400" spc="-5">
                <a:latin typeface="Calibri"/>
                <a:cs typeface="Calibri"/>
              </a:rPr>
              <a:t>modeling choices: </a:t>
            </a:r>
            <a:r>
              <a:rPr dirty="0" sz="2400" spc="-15">
                <a:latin typeface="Calibri"/>
                <a:cs typeface="Calibri"/>
              </a:rPr>
              <a:t>eigenvector </a:t>
            </a:r>
            <a:r>
              <a:rPr dirty="0" sz="2400" spc="-70">
                <a:latin typeface="Calibri"/>
                <a:cs typeface="Calibri"/>
              </a:rPr>
              <a:t>centrality,  </a:t>
            </a:r>
            <a:r>
              <a:rPr dirty="0" sz="2400" spc="-5">
                <a:latin typeface="Calibri"/>
                <a:cs typeface="Calibri"/>
              </a:rPr>
              <a:t>betweenness </a:t>
            </a:r>
            <a:r>
              <a:rPr dirty="0" sz="2400" spc="-25">
                <a:latin typeface="Calibri"/>
                <a:cs typeface="Calibri"/>
              </a:rPr>
              <a:t>centrality, </a:t>
            </a:r>
            <a:r>
              <a:rPr dirty="0" sz="2400" spc="-5">
                <a:latin typeface="Calibri"/>
                <a:cs typeface="Calibri"/>
              </a:rPr>
              <a:t>closeness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centrality</a:t>
            </a:r>
            <a:endParaRPr sz="2400">
              <a:latin typeface="Calibri"/>
              <a:cs typeface="Calibri"/>
            </a:endParaRPr>
          </a:p>
          <a:p>
            <a:pPr marL="332740" indent="-320040">
              <a:lnSpc>
                <a:spcPts val="376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Useful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 spc="-10">
                <a:latin typeface="Calibri"/>
                <a:cs typeface="Calibri"/>
              </a:rPr>
              <a:t>predicting </a:t>
            </a:r>
            <a:r>
              <a:rPr dirty="0" sz="3200" spc="-5">
                <a:latin typeface="Calibri"/>
                <a:cs typeface="Calibri"/>
              </a:rPr>
              <a:t>influential nodes </a:t>
            </a:r>
            <a:r>
              <a:rPr dirty="0" sz="3200">
                <a:latin typeface="Calibri"/>
                <a:cs typeface="Calibri"/>
              </a:rPr>
              <a:t>in a</a:t>
            </a:r>
            <a:r>
              <a:rPr dirty="0" sz="3200" spc="10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lvl="1" marL="625475" marR="1111885" indent="-274320">
              <a:lnSpc>
                <a:spcPct val="1014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Example: </a:t>
            </a:r>
            <a:r>
              <a:rPr dirty="0" sz="2800" spc="-10">
                <a:latin typeface="Calibri"/>
                <a:cs typeface="Calibri"/>
              </a:rPr>
              <a:t>predicting </a:t>
            </a:r>
            <a:r>
              <a:rPr dirty="0" sz="2800" spc="-5">
                <a:latin typeface="Calibri"/>
                <a:cs typeface="Calibri"/>
              </a:rPr>
              <a:t>celebrity </a:t>
            </a:r>
            <a:r>
              <a:rPr dirty="0" sz="2800" spc="-15">
                <a:latin typeface="Calibri"/>
                <a:cs typeface="Calibri"/>
              </a:rPr>
              <a:t>users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5">
                <a:latin typeface="Calibri"/>
                <a:cs typeface="Calibri"/>
              </a:rPr>
              <a:t>social  </a:t>
            </a:r>
            <a:r>
              <a:rPr dirty="0" sz="2800" spc="-1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51941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8381365" cy="958215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332740" marR="5080" indent="-320040">
              <a:lnSpc>
                <a:spcPts val="3500"/>
              </a:lnSpc>
              <a:spcBef>
                <a:spcPts val="5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C00000"/>
                </a:solidFill>
              </a:rPr>
              <a:t>Structure-based </a:t>
            </a:r>
            <a:r>
              <a:rPr dirty="0" spc="-20">
                <a:solidFill>
                  <a:srgbClr val="C00000"/>
                </a:solidFill>
              </a:rPr>
              <a:t>features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Capture topological  properties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local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neighborhood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around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dirty="0" spc="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2236385"/>
            <a:ext cx="7808595" cy="436435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3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Node</a:t>
            </a:r>
            <a:r>
              <a:rPr dirty="0" sz="2800" spc="-5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degree: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25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Counts </a:t>
            </a:r>
            <a:r>
              <a:rPr dirty="0" sz="2400" spc="-5">
                <a:latin typeface="Calibri"/>
                <a:cs typeface="Calibri"/>
              </a:rPr>
              <a:t>the number of neighboring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5">
                <a:latin typeface="Calibri"/>
                <a:cs typeface="Calibri"/>
              </a:rPr>
              <a:t>nodes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3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Clustering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coefficient: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ct val="100000"/>
              </a:lnSpc>
              <a:spcBef>
                <a:spcPts val="32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Measures </a:t>
            </a:r>
            <a:r>
              <a:rPr dirty="0" sz="2400" spc="-5">
                <a:latin typeface="Calibri"/>
                <a:cs typeface="Calibri"/>
              </a:rPr>
              <a:t>how </a:t>
            </a:r>
            <a:r>
              <a:rPr dirty="0" sz="2400" spc="-10">
                <a:latin typeface="Calibri"/>
                <a:cs typeface="Calibri"/>
              </a:rPr>
              <a:t>connected </a:t>
            </a:r>
            <a:r>
              <a:rPr dirty="0" sz="2400" spc="-5">
                <a:latin typeface="Calibri"/>
                <a:cs typeface="Calibri"/>
              </a:rPr>
              <a:t>neighboring nodes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are</a:t>
            </a:r>
            <a:endParaRPr sz="2400">
              <a:latin typeface="Calibri"/>
              <a:cs typeface="Calibri"/>
            </a:endParaRPr>
          </a:p>
          <a:p>
            <a:pPr marL="625475" indent="-274320">
              <a:lnSpc>
                <a:spcPct val="100000"/>
              </a:lnSpc>
              <a:spcBef>
                <a:spcPts val="3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Graphlet </a:t>
            </a:r>
            <a:r>
              <a:rPr dirty="0" sz="2800" spc="-10" b="1">
                <a:latin typeface="Calibri"/>
                <a:cs typeface="Calibri"/>
              </a:rPr>
              <a:t>degree</a:t>
            </a:r>
            <a:r>
              <a:rPr dirty="0" sz="2800" spc="-2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vector:</a:t>
            </a:r>
            <a:endParaRPr sz="2800">
              <a:latin typeface="Calibri"/>
              <a:cs typeface="Calibri"/>
            </a:endParaRPr>
          </a:p>
          <a:p>
            <a:pPr lvl="1" marL="890905" indent="-228600">
              <a:lnSpc>
                <a:spcPts val="2635"/>
              </a:lnSpc>
              <a:spcBef>
                <a:spcPts val="35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Counts </a:t>
            </a:r>
            <a:r>
              <a:rPr dirty="0" sz="2400" spc="-5">
                <a:latin typeface="Calibri"/>
                <a:cs typeface="Calibri"/>
              </a:rPr>
              <a:t>the occurrences of </a:t>
            </a:r>
            <a:r>
              <a:rPr dirty="0" sz="2400" spc="-20">
                <a:latin typeface="Calibri"/>
                <a:cs typeface="Calibri"/>
              </a:rPr>
              <a:t>different</a:t>
            </a:r>
            <a:r>
              <a:rPr dirty="0" sz="2400" spc="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graphlets</a:t>
            </a:r>
            <a:endParaRPr sz="2400">
              <a:latin typeface="Calibri"/>
              <a:cs typeface="Calibri"/>
            </a:endParaRPr>
          </a:p>
          <a:p>
            <a:pPr marL="332740" marR="5080" indent="-320040">
              <a:lnSpc>
                <a:spcPts val="3500"/>
              </a:lnSpc>
              <a:spcBef>
                <a:spcPts val="1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Useful </a:t>
            </a:r>
            <a:r>
              <a:rPr dirty="0" sz="3200" spc="-20" b="1">
                <a:latin typeface="Calibri"/>
                <a:cs typeface="Calibri"/>
              </a:rPr>
              <a:t>for </a:t>
            </a:r>
            <a:r>
              <a:rPr dirty="0" sz="3200" spc="-10" b="1">
                <a:latin typeface="Calibri"/>
                <a:cs typeface="Calibri"/>
              </a:rPr>
              <a:t>predicting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5" b="1">
                <a:latin typeface="Calibri"/>
                <a:cs typeface="Calibri"/>
              </a:rPr>
              <a:t>particular </a:t>
            </a:r>
            <a:r>
              <a:rPr dirty="0" sz="3200" spc="-10" b="1">
                <a:latin typeface="Calibri"/>
                <a:cs typeface="Calibri"/>
              </a:rPr>
              <a:t>role </a:t>
            </a: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5" b="1">
                <a:latin typeface="Calibri"/>
                <a:cs typeface="Calibri"/>
              </a:rPr>
              <a:t>node  </a:t>
            </a:r>
            <a:r>
              <a:rPr dirty="0" sz="3200" spc="-20" b="1">
                <a:latin typeface="Calibri"/>
                <a:cs typeface="Calibri"/>
              </a:rPr>
              <a:t>plays </a:t>
            </a:r>
            <a:r>
              <a:rPr dirty="0" sz="3200" b="1">
                <a:latin typeface="Calibri"/>
                <a:cs typeface="Calibri"/>
              </a:rPr>
              <a:t>in a</a:t>
            </a:r>
            <a:r>
              <a:rPr dirty="0" sz="3200" spc="-70" b="1">
                <a:latin typeface="Calibri"/>
                <a:cs typeface="Calibri"/>
              </a:rPr>
              <a:t> </a:t>
            </a:r>
            <a:r>
              <a:rPr dirty="0" sz="3200" spc="-20" b="1">
                <a:latin typeface="Calibri"/>
                <a:cs typeface="Calibri"/>
              </a:rPr>
              <a:t>graph:</a:t>
            </a:r>
            <a:endParaRPr sz="3200">
              <a:latin typeface="Calibri"/>
              <a:cs typeface="Calibri"/>
            </a:endParaRPr>
          </a:p>
          <a:p>
            <a:pPr lvl="1" marL="625475" marR="653415" indent="-274320">
              <a:lnSpc>
                <a:spcPts val="3000"/>
              </a:lnSpc>
              <a:spcBef>
                <a:spcPts val="68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Example: </a:t>
            </a:r>
            <a:r>
              <a:rPr dirty="0" sz="2800" spc="-10">
                <a:latin typeface="Calibri"/>
                <a:cs typeface="Calibri"/>
              </a:rPr>
              <a:t>Predicting </a:t>
            </a:r>
            <a:r>
              <a:rPr dirty="0" sz="2800" spc="-15">
                <a:latin typeface="Calibri"/>
                <a:cs typeface="Calibri"/>
              </a:rPr>
              <a:t>protein </a:t>
            </a:r>
            <a:r>
              <a:rPr dirty="0" sz="2800" spc="-5">
                <a:latin typeface="Calibri"/>
                <a:cs typeface="Calibri"/>
              </a:rPr>
              <a:t>functionality in </a:t>
            </a:r>
            <a:r>
              <a:rPr dirty="0" sz="2800" spc="-595">
                <a:latin typeface="Calibri"/>
                <a:cs typeface="Calibri"/>
              </a:rPr>
              <a:t>a  </a:t>
            </a:r>
            <a:r>
              <a:rPr dirty="0" sz="2800" spc="-15">
                <a:latin typeface="Calibri"/>
                <a:cs typeface="Calibri"/>
              </a:rPr>
              <a:t>protein-protein interaction </a:t>
            </a:r>
            <a:r>
              <a:rPr dirty="0" sz="2800" spc="-10">
                <a:latin typeface="Calibri"/>
                <a:cs typeface="Calibri"/>
              </a:rPr>
              <a:t>network.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253593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9363" y="1348740"/>
            <a:ext cx="766572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solidFill>
                  <a:srgbClr val="000000"/>
                </a:solidFill>
              </a:rPr>
              <a:t>Different </a:t>
            </a:r>
            <a:r>
              <a:rPr dirty="0" spc="-35">
                <a:solidFill>
                  <a:srgbClr val="000000"/>
                </a:solidFill>
              </a:rPr>
              <a:t>ways </a:t>
            </a:r>
            <a:r>
              <a:rPr dirty="0" spc="-15">
                <a:solidFill>
                  <a:srgbClr val="000000"/>
                </a:solidFill>
              </a:rPr>
              <a:t>to </a:t>
            </a:r>
            <a:r>
              <a:rPr dirty="0" spc="-5">
                <a:solidFill>
                  <a:srgbClr val="000000"/>
                </a:solidFill>
              </a:rPr>
              <a:t>label nodes </a:t>
            </a:r>
            <a:r>
              <a:rPr dirty="0">
                <a:solidFill>
                  <a:srgbClr val="000000"/>
                </a:solidFill>
              </a:rPr>
              <a:t>of </a:t>
            </a:r>
            <a:r>
              <a:rPr dirty="0" spc="-5">
                <a:solidFill>
                  <a:srgbClr val="000000"/>
                </a:solidFill>
              </a:rPr>
              <a:t>the</a:t>
            </a:r>
            <a:r>
              <a:rPr dirty="0" spc="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network:</a:t>
            </a:r>
          </a:p>
        </p:txBody>
      </p:sp>
      <p:sp>
        <p:nvSpPr>
          <p:cNvPr id="4" name="object 4"/>
          <p:cNvSpPr/>
          <p:nvPr/>
        </p:nvSpPr>
        <p:spPr>
          <a:xfrm>
            <a:off x="4703338" y="2392715"/>
            <a:ext cx="3729462" cy="2124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6138" y="2342663"/>
            <a:ext cx="3781990" cy="21770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3059" y="4818379"/>
            <a:ext cx="3433445" cy="14947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065" marR="5080">
              <a:lnSpc>
                <a:spcPct val="100600"/>
              </a:lnSpc>
              <a:spcBef>
                <a:spcPts val="80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features defined</a:t>
            </a:r>
            <a:r>
              <a:rPr dirty="0" sz="24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so 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far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would allow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to  distinguish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nodes in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the 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above</a:t>
            </a:r>
            <a:r>
              <a:rPr dirty="0" sz="2400" spc="-10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example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26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3665" y="4818379"/>
            <a:ext cx="3604895" cy="149479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ctr" marL="12065" marR="5080">
              <a:lnSpc>
                <a:spcPct val="100600"/>
              </a:lnSpc>
              <a:spcBef>
                <a:spcPts val="80"/>
              </a:spcBef>
            </a:pPr>
            <a:r>
              <a:rPr dirty="0" sz="2400" spc="-20">
                <a:solidFill>
                  <a:srgbClr val="008000"/>
                </a:solidFill>
                <a:latin typeface="Arial"/>
                <a:cs typeface="Arial"/>
              </a:rPr>
              <a:t>However,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the features  defines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so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far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would not  allow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for distinguishing the 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above node</a:t>
            </a:r>
            <a:r>
              <a:rPr dirty="0" sz="2400" spc="-1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labelling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2788920"/>
            <a:ext cx="7083552" cy="20787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2168" y="365759"/>
            <a:ext cx="7406640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23175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8801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task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 </a:t>
            </a:r>
            <a:r>
              <a:rPr dirty="0" spc="-10">
                <a:solidFill>
                  <a:srgbClr val="000000"/>
                </a:solidFill>
              </a:rPr>
              <a:t>new links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based on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existing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links.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45" b="0">
                <a:solidFill>
                  <a:srgbClr val="000000"/>
                </a:solidFill>
                <a:latin typeface="Calibri"/>
                <a:cs typeface="Calibri"/>
              </a:rPr>
              <a:t>At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test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time,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all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pairs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(no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existing</a:t>
            </a:r>
            <a:r>
              <a:rPr dirty="0" spc="1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links)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8278495" cy="101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  <a:tabLst>
                <a:tab pos="3697604" algn="l"/>
                <a:tab pos="4133850" algn="l"/>
              </a:tabLst>
            </a:pPr>
            <a:r>
              <a:rPr dirty="0" sz="3200" spc="-20">
                <a:latin typeface="Calibri"/>
                <a:cs typeface="Calibri"/>
              </a:rPr>
              <a:t>are </a:t>
            </a:r>
            <a:r>
              <a:rPr dirty="0" sz="3200" spc="-30">
                <a:latin typeface="Calibri"/>
                <a:cs typeface="Calibri"/>
              </a:rPr>
              <a:t>ranked,</a:t>
            </a:r>
            <a:r>
              <a:rPr dirty="0" sz="3200" spc="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top	</a:t>
            </a:r>
            <a:r>
              <a:rPr dirty="0" sz="3200">
                <a:latin typeface="Cambria Math"/>
                <a:cs typeface="Cambria Math"/>
              </a:rPr>
              <a:t>𝐾	</a:t>
            </a:r>
            <a:r>
              <a:rPr dirty="0" sz="3200" spc="-5">
                <a:latin typeface="Calibri"/>
                <a:cs typeface="Calibri"/>
              </a:rPr>
              <a:t>node </a:t>
            </a:r>
            <a:r>
              <a:rPr dirty="0" sz="3200" spc="-15">
                <a:latin typeface="Calibri"/>
                <a:cs typeface="Calibri"/>
              </a:rPr>
              <a:t>pairs </a:t>
            </a:r>
            <a:r>
              <a:rPr dirty="0" sz="3200" spc="-20">
                <a:latin typeface="Calibri"/>
                <a:cs typeface="Calibri"/>
              </a:rPr>
              <a:t>are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predicted.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60B5CC"/>
                </a:solidFill>
                <a:latin typeface="Calibri"/>
                <a:cs typeface="Calibri"/>
              </a:rPr>
              <a:t>The </a:t>
            </a:r>
            <a:r>
              <a:rPr dirty="0" sz="3200" spc="-50">
                <a:solidFill>
                  <a:srgbClr val="60B5CC"/>
                </a:solidFill>
                <a:latin typeface="Calibri"/>
                <a:cs typeface="Calibri"/>
              </a:rPr>
              <a:t>key </a:t>
            </a:r>
            <a:r>
              <a:rPr dirty="0" sz="3200">
                <a:solidFill>
                  <a:srgbClr val="60B5CC"/>
                </a:solidFill>
                <a:latin typeface="Calibri"/>
                <a:cs typeface="Calibri"/>
              </a:rPr>
              <a:t>is </a:t>
            </a:r>
            <a:r>
              <a:rPr dirty="0" sz="3200" spc="-15">
                <a:solidFill>
                  <a:srgbClr val="60B5CC"/>
                </a:solidFill>
                <a:latin typeface="Calibri"/>
                <a:cs typeface="Calibri"/>
              </a:rPr>
              <a:t>to </a:t>
            </a:r>
            <a:r>
              <a:rPr dirty="0" sz="3200" spc="-5">
                <a:solidFill>
                  <a:srgbClr val="60B5CC"/>
                </a:solidFill>
                <a:latin typeface="Calibri"/>
                <a:cs typeface="Calibri"/>
              </a:rPr>
              <a:t>design </a:t>
            </a:r>
            <a:r>
              <a:rPr dirty="0" sz="3200" spc="-25">
                <a:solidFill>
                  <a:srgbClr val="60B5CC"/>
                </a:solidFill>
                <a:latin typeface="Calibri"/>
                <a:cs typeface="Calibri"/>
              </a:rPr>
              <a:t>features for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pair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of</a:t>
            </a:r>
            <a:r>
              <a:rPr dirty="0" sz="3200" spc="12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nodes</a:t>
            </a:r>
            <a:r>
              <a:rPr dirty="0" sz="3200" spc="-5">
                <a:solidFill>
                  <a:srgbClr val="60B5CC"/>
                </a:solidFill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6981" y="4772882"/>
            <a:ext cx="906144" cy="828040"/>
          </a:xfrm>
          <a:custGeom>
            <a:avLst/>
            <a:gdLst/>
            <a:ahLst/>
            <a:cxnLst/>
            <a:rect l="l" t="t" r="r" b="b"/>
            <a:pathLst>
              <a:path w="906144" h="828039">
                <a:moveTo>
                  <a:pt x="0" y="0"/>
                </a:moveTo>
                <a:lnTo>
                  <a:pt x="905710" y="8275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70069" y="4208025"/>
            <a:ext cx="314325" cy="1557020"/>
          </a:xfrm>
          <a:custGeom>
            <a:avLst/>
            <a:gdLst/>
            <a:ahLst/>
            <a:cxnLst/>
            <a:rect l="l" t="t" r="r" b="b"/>
            <a:pathLst>
              <a:path w="314325" h="1557020">
                <a:moveTo>
                  <a:pt x="0" y="1556999"/>
                </a:moveTo>
                <a:lnTo>
                  <a:pt x="313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61287" y="4465552"/>
            <a:ext cx="1395730" cy="583565"/>
          </a:xfrm>
          <a:custGeom>
            <a:avLst/>
            <a:gdLst/>
            <a:ahLst/>
            <a:cxnLst/>
            <a:rect l="l" t="t" r="r" b="b"/>
            <a:pathLst>
              <a:path w="1395729" h="583564">
                <a:moveTo>
                  <a:pt x="0" y="583386"/>
                </a:moveTo>
                <a:lnTo>
                  <a:pt x="13957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61719" y="5055846"/>
            <a:ext cx="1120140" cy="479425"/>
          </a:xfrm>
          <a:custGeom>
            <a:avLst/>
            <a:gdLst/>
            <a:ahLst/>
            <a:cxnLst/>
            <a:rect l="l" t="t" r="r" b="b"/>
            <a:pathLst>
              <a:path w="1120139" h="479425">
                <a:moveTo>
                  <a:pt x="0" y="0"/>
                </a:moveTo>
                <a:lnTo>
                  <a:pt x="1119841" y="4790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88956" y="5055621"/>
            <a:ext cx="649605" cy="635"/>
          </a:xfrm>
          <a:custGeom>
            <a:avLst/>
            <a:gdLst/>
            <a:ahLst/>
            <a:cxnLst/>
            <a:rect l="l" t="t" r="r" b="b"/>
            <a:pathLst>
              <a:path w="649604" h="635">
                <a:moveTo>
                  <a:pt x="0" y="628"/>
                </a:moveTo>
                <a:lnTo>
                  <a:pt x="64959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75801" y="5275670"/>
            <a:ext cx="981710" cy="833119"/>
          </a:xfrm>
          <a:custGeom>
            <a:avLst/>
            <a:gdLst/>
            <a:ahLst/>
            <a:cxnLst/>
            <a:rect l="l" t="t" r="r" b="b"/>
            <a:pathLst>
              <a:path w="981710" h="833120">
                <a:moveTo>
                  <a:pt x="0" y="0"/>
                </a:moveTo>
                <a:lnTo>
                  <a:pt x="981286" y="83259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83916" y="4148843"/>
            <a:ext cx="635000" cy="962025"/>
          </a:xfrm>
          <a:custGeom>
            <a:avLst/>
            <a:gdLst/>
            <a:ahLst/>
            <a:cxnLst/>
            <a:rect l="l" t="t" r="r" b="b"/>
            <a:pathLst>
              <a:path w="635000" h="962025">
                <a:moveTo>
                  <a:pt x="634387" y="96195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70252" y="5275671"/>
            <a:ext cx="790575" cy="505459"/>
          </a:xfrm>
          <a:custGeom>
            <a:avLst/>
            <a:gdLst/>
            <a:ahLst/>
            <a:cxnLst/>
            <a:rect l="l" t="t" r="r" b="b"/>
            <a:pathLst>
              <a:path w="790575" h="505460">
                <a:moveTo>
                  <a:pt x="0" y="505457"/>
                </a:moveTo>
                <a:lnTo>
                  <a:pt x="79054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47329" y="553185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3"/>
                </a:lnTo>
                <a:lnTo>
                  <a:pt x="17504" y="323931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8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8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1"/>
                </a:lnTo>
                <a:lnTo>
                  <a:pt x="440955" y="280163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174818" y="561390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26740" y="437483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60580" y="445871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61177" y="3915670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20"/>
                </a:lnTo>
                <a:lnTo>
                  <a:pt x="177850" y="461606"/>
                </a:lnTo>
                <a:lnTo>
                  <a:pt x="222740" y="466343"/>
                </a:lnTo>
                <a:lnTo>
                  <a:pt x="267630" y="461606"/>
                </a:lnTo>
                <a:lnTo>
                  <a:pt x="309440" y="448020"/>
                </a:lnTo>
                <a:lnTo>
                  <a:pt x="347276" y="426521"/>
                </a:lnTo>
                <a:lnTo>
                  <a:pt x="380241" y="398049"/>
                </a:lnTo>
                <a:lnTo>
                  <a:pt x="407440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0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95017" y="3998467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95559" y="4877621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1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995559" y="4877621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123049" y="496163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38547" y="4822450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40" y="448020"/>
                </a:lnTo>
                <a:lnTo>
                  <a:pt x="177851" y="461606"/>
                </a:lnTo>
                <a:lnTo>
                  <a:pt x="222741" y="466343"/>
                </a:lnTo>
                <a:lnTo>
                  <a:pt x="267631" y="461606"/>
                </a:lnTo>
                <a:lnTo>
                  <a:pt x="309442" y="448020"/>
                </a:lnTo>
                <a:lnTo>
                  <a:pt x="347277" y="426521"/>
                </a:lnTo>
                <a:lnTo>
                  <a:pt x="380242" y="398049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938547" y="4822450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072387" y="490677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91598" y="6040127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1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3"/>
                </a:lnTo>
                <a:lnTo>
                  <a:pt x="267630" y="461605"/>
                </a:lnTo>
                <a:lnTo>
                  <a:pt x="309441" y="448019"/>
                </a:lnTo>
                <a:lnTo>
                  <a:pt x="347277" y="426521"/>
                </a:lnTo>
                <a:lnTo>
                  <a:pt x="380242" y="398048"/>
                </a:lnTo>
                <a:lnTo>
                  <a:pt x="407441" y="363539"/>
                </a:lnTo>
                <a:lnTo>
                  <a:pt x="427977" y="323932"/>
                </a:lnTo>
                <a:lnTo>
                  <a:pt x="440956" y="280163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91598" y="6040127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419088" y="6122923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34258" y="420802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9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2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334258" y="420802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474448" y="429107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81562" y="530175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1"/>
                </a:lnTo>
                <a:lnTo>
                  <a:pt x="136039" y="448019"/>
                </a:lnTo>
                <a:lnTo>
                  <a:pt x="177850" y="461606"/>
                </a:lnTo>
                <a:lnTo>
                  <a:pt x="222740" y="466343"/>
                </a:lnTo>
                <a:lnTo>
                  <a:pt x="267630" y="461606"/>
                </a:lnTo>
                <a:lnTo>
                  <a:pt x="309440" y="448019"/>
                </a:lnTo>
                <a:lnTo>
                  <a:pt x="347276" y="426521"/>
                </a:lnTo>
                <a:lnTo>
                  <a:pt x="380241" y="398048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402702" y="5385308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238734" y="4182556"/>
            <a:ext cx="1120140" cy="323850"/>
          </a:xfrm>
          <a:custGeom>
            <a:avLst/>
            <a:gdLst/>
            <a:ahLst/>
            <a:cxnLst/>
            <a:rect l="l" t="t" r="r" b="b"/>
            <a:pathLst>
              <a:path w="1120139" h="323850">
                <a:moveTo>
                  <a:pt x="0" y="323594"/>
                </a:moveTo>
                <a:lnTo>
                  <a:pt x="11196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462233" y="5619524"/>
            <a:ext cx="2819400" cy="256540"/>
          </a:xfrm>
          <a:custGeom>
            <a:avLst/>
            <a:gdLst/>
            <a:ahLst/>
            <a:cxnLst/>
            <a:rect l="l" t="t" r="r" b="b"/>
            <a:pathLst>
              <a:path w="2819400" h="256539">
                <a:moveTo>
                  <a:pt x="0" y="256470"/>
                </a:moveTo>
                <a:lnTo>
                  <a:pt x="281932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641436" y="3875532"/>
            <a:ext cx="273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00FF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78656" y="5743955"/>
            <a:ext cx="27368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008000"/>
                </a:solidFill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594664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7514590" cy="958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70"/>
              </a:lnSpc>
              <a:spcBef>
                <a:spcPts val="100"/>
              </a:spcBef>
            </a:pPr>
            <a:r>
              <a:rPr dirty="0" spc="-40"/>
              <a:t>Two </a:t>
            </a:r>
            <a:r>
              <a:rPr dirty="0" spc="-10"/>
              <a:t>formulations </a:t>
            </a:r>
            <a:r>
              <a:rPr dirty="0"/>
              <a:t>of </a:t>
            </a:r>
            <a:r>
              <a:rPr dirty="0" spc="-5"/>
              <a:t>the link </a:t>
            </a:r>
            <a:r>
              <a:rPr dirty="0" spc="-10"/>
              <a:t>prediction</a:t>
            </a:r>
            <a:r>
              <a:rPr dirty="0" spc="55"/>
              <a:t> </a:t>
            </a:r>
            <a:r>
              <a:rPr dirty="0" spc="-10"/>
              <a:t>task:</a:t>
            </a:r>
          </a:p>
          <a:p>
            <a:pPr marL="332740" indent="-320040">
              <a:lnSpc>
                <a:spcPts val="367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>
                <a:solidFill>
                  <a:srgbClr val="000000"/>
                </a:solidFill>
              </a:rPr>
              <a:t>1) </a:t>
            </a:r>
            <a:r>
              <a:rPr dirty="0" spc="-10">
                <a:solidFill>
                  <a:srgbClr val="000000"/>
                </a:solidFill>
              </a:rPr>
              <a:t>Links </a:t>
            </a:r>
            <a:r>
              <a:rPr dirty="0" spc="-5">
                <a:solidFill>
                  <a:srgbClr val="000000"/>
                </a:solidFill>
              </a:rPr>
              <a:t>missing </a:t>
            </a:r>
            <a:r>
              <a:rPr dirty="0" spc="-20">
                <a:solidFill>
                  <a:srgbClr val="000000"/>
                </a:solidFill>
              </a:rPr>
              <a:t>at</a:t>
            </a:r>
            <a:r>
              <a:rPr dirty="0" spc="-55">
                <a:solidFill>
                  <a:srgbClr val="000000"/>
                </a:solidFill>
              </a:rPr>
              <a:t> </a:t>
            </a:r>
            <a:r>
              <a:rPr dirty="0" spc="-15">
                <a:solidFill>
                  <a:srgbClr val="000000"/>
                </a:solidFill>
              </a:rPr>
              <a:t>random: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274315"/>
            <a:ext cx="6266815" cy="126428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625475" marR="5080" indent="-274320">
              <a:lnSpc>
                <a:spcPts val="3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Remove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links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-160">
                <a:latin typeface="Calibri"/>
                <a:cs typeface="Calibri"/>
              </a:rPr>
              <a:t>then  </a:t>
            </a:r>
            <a:r>
              <a:rPr dirty="0" sz="2800" spc="-5">
                <a:latin typeface="Calibri"/>
                <a:cs typeface="Calibri"/>
              </a:rPr>
              <a:t>aim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10">
                <a:latin typeface="Calibri"/>
                <a:cs typeface="Calibri"/>
              </a:rPr>
              <a:t>predict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them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3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latin typeface="Calibri"/>
                <a:cs typeface="Calibri"/>
              </a:rPr>
              <a:t>2) </a:t>
            </a:r>
            <a:r>
              <a:rPr dirty="0" sz="3200" spc="-10" b="1">
                <a:latin typeface="Calibri"/>
                <a:cs typeface="Calibri"/>
              </a:rPr>
              <a:t>Links </a:t>
            </a:r>
            <a:r>
              <a:rPr dirty="0" sz="3200" spc="-15" b="1">
                <a:latin typeface="Calibri"/>
                <a:cs typeface="Calibri"/>
              </a:rPr>
              <a:t>over</a:t>
            </a:r>
            <a:r>
              <a:rPr dirty="0" sz="3200" spc="-4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time: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7113" y="3753611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40">
                <a:latin typeface="Cambria Math"/>
                <a:cs typeface="Cambria Math"/>
              </a:rPr>
              <a:t>,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3569715"/>
            <a:ext cx="49644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Given </a:t>
            </a:r>
            <a:r>
              <a:rPr dirty="0" sz="2800" spc="175">
                <a:latin typeface="Cambria Math"/>
                <a:cs typeface="Cambria Math"/>
              </a:rPr>
              <a:t>𝐺[𝑡</a:t>
            </a:r>
            <a:r>
              <a:rPr dirty="0" baseline="-16666" sz="3000" spc="262">
                <a:latin typeface="Cambria Math"/>
                <a:cs typeface="Cambria Math"/>
              </a:rPr>
              <a:t>,</a:t>
            </a:r>
            <a:r>
              <a:rPr dirty="0" sz="2800" spc="175">
                <a:latin typeface="Cambria Math"/>
                <a:cs typeface="Cambria Math"/>
              </a:rPr>
              <a:t>,</a:t>
            </a:r>
            <a:r>
              <a:rPr dirty="0" sz="2800" spc="-430">
                <a:latin typeface="Cambria Math"/>
                <a:cs typeface="Cambria Math"/>
              </a:rPr>
              <a:t> </a:t>
            </a:r>
            <a:r>
              <a:rPr dirty="0" sz="2800" spc="90">
                <a:latin typeface="Cambria Math"/>
                <a:cs typeface="Cambria Math"/>
              </a:rPr>
              <a:t>𝑡</a:t>
            </a:r>
            <a:r>
              <a:rPr dirty="0" baseline="29166" sz="3000" spc="135">
                <a:latin typeface="Cambria Math"/>
                <a:cs typeface="Cambria Math"/>
              </a:rPr>
              <a:t>- </a:t>
            </a:r>
            <a:r>
              <a:rPr dirty="0" sz="2800">
                <a:latin typeface="Cambria Math"/>
                <a:cs typeface="Cambria Math"/>
              </a:rPr>
              <a:t>]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spc="-85"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3" y="3950715"/>
            <a:ext cx="15259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libri"/>
                <a:cs typeface="Calibri"/>
              </a:rPr>
              <a:t>up </a:t>
            </a:r>
            <a:r>
              <a:rPr dirty="0" sz="2800" spc="-15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0456" y="3918203"/>
            <a:ext cx="116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>
                <a:latin typeface="Cambria Math"/>
                <a:cs typeface="Cambria Math"/>
              </a:rPr>
              <a:t>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0754" y="3950715"/>
            <a:ext cx="359473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80">
                <a:latin typeface="Cambria Math"/>
                <a:cs typeface="Cambria Math"/>
              </a:rPr>
              <a:t>𝑡</a:t>
            </a:r>
            <a:r>
              <a:rPr dirty="0" baseline="-18055" sz="3000" spc="120">
                <a:latin typeface="Cambria Math"/>
                <a:cs typeface="Cambria Math"/>
              </a:rPr>
              <a:t>,</a:t>
            </a:r>
            <a:r>
              <a:rPr dirty="0" sz="2800" spc="80" i="1">
                <a:latin typeface="Times New Roman"/>
                <a:cs typeface="Times New Roman"/>
              </a:rPr>
              <a:t>,</a:t>
            </a:r>
            <a:r>
              <a:rPr dirty="0" sz="2800" spc="80" b="1">
                <a:solidFill>
                  <a:srgbClr val="60B5CC"/>
                </a:solidFill>
                <a:latin typeface="Calibri"/>
                <a:cs typeface="Calibri"/>
              </a:rPr>
              <a:t>output 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a </a:t>
            </a:r>
            <a:r>
              <a:rPr dirty="0" sz="2800" spc="-25" b="1">
                <a:solidFill>
                  <a:srgbClr val="E66C7D"/>
                </a:solidFill>
                <a:latin typeface="Calibri"/>
                <a:cs typeface="Calibri"/>
              </a:rPr>
              <a:t>ranked </a:t>
            </a:r>
            <a:r>
              <a:rPr dirty="0" sz="2800" spc="-15" b="1">
                <a:solidFill>
                  <a:srgbClr val="E66C7D"/>
                </a:solidFill>
                <a:latin typeface="Calibri"/>
                <a:cs typeface="Calibri"/>
              </a:rPr>
              <a:t>list</a:t>
            </a:r>
            <a:r>
              <a:rPr dirty="0" sz="2800" spc="-100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800" b="1" i="1">
                <a:solidFill>
                  <a:srgbClr val="E66C7D"/>
                </a:solidFill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7616" y="4515611"/>
            <a:ext cx="1727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740">
                <a:latin typeface="Cambria Math"/>
                <a:cs typeface="Cambria Math"/>
              </a:rPr>
              <a:t>,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0883" y="4331715"/>
            <a:ext cx="47091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links </a:t>
            </a:r>
            <a:r>
              <a:rPr dirty="0" sz="2800" spc="-5">
                <a:latin typeface="Calibri"/>
                <a:cs typeface="Calibri"/>
              </a:rPr>
              <a:t>(not in </a:t>
            </a:r>
            <a:r>
              <a:rPr dirty="0" sz="2800" spc="175">
                <a:latin typeface="Cambria Math"/>
                <a:cs typeface="Cambria Math"/>
              </a:rPr>
              <a:t>𝐺[𝑡</a:t>
            </a:r>
            <a:r>
              <a:rPr dirty="0" baseline="-16666" sz="3000" spc="262">
                <a:latin typeface="Cambria Math"/>
                <a:cs typeface="Cambria Math"/>
              </a:rPr>
              <a:t>,</a:t>
            </a:r>
            <a:r>
              <a:rPr dirty="0" sz="2800" spc="175">
                <a:latin typeface="Cambria Math"/>
                <a:cs typeface="Cambria Math"/>
              </a:rPr>
              <a:t>,</a:t>
            </a:r>
            <a:r>
              <a:rPr dirty="0" sz="2800" spc="-400">
                <a:latin typeface="Cambria Math"/>
                <a:cs typeface="Cambria Math"/>
              </a:rPr>
              <a:t> </a:t>
            </a:r>
            <a:r>
              <a:rPr dirty="0" sz="2800" spc="90">
                <a:latin typeface="Cambria Math"/>
                <a:cs typeface="Cambria Math"/>
              </a:rPr>
              <a:t>𝑡</a:t>
            </a:r>
            <a:r>
              <a:rPr dirty="0" baseline="29166" sz="3000" spc="135">
                <a:latin typeface="Cambria Math"/>
                <a:cs typeface="Cambria Math"/>
              </a:rPr>
              <a:t>- </a:t>
            </a:r>
            <a:r>
              <a:rPr dirty="0" sz="2800" spc="-5">
                <a:latin typeface="Cambria Math"/>
                <a:cs typeface="Cambria Math"/>
              </a:rPr>
              <a:t>]</a:t>
            </a:r>
            <a:r>
              <a:rPr dirty="0" sz="2800" spc="-5">
                <a:latin typeface="Calibri"/>
                <a:cs typeface="Calibri"/>
              </a:rPr>
              <a:t>) </a:t>
            </a:r>
            <a:r>
              <a:rPr dirty="0" sz="2800" spc="-10">
                <a:latin typeface="Calibri"/>
                <a:cs typeface="Calibri"/>
              </a:rPr>
              <a:t>that </a:t>
            </a:r>
            <a:r>
              <a:rPr dirty="0" sz="2800" spc="-15"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10467" y="4893564"/>
            <a:ext cx="596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</a:tabLst>
            </a:pPr>
            <a:r>
              <a:rPr dirty="0" baseline="1388" sz="3000" spc="1110">
                <a:latin typeface="Cambria Math"/>
                <a:cs typeface="Cambria Math"/>
              </a:rPr>
              <a:t>.</a:t>
            </a:r>
            <a:r>
              <a:rPr dirty="0" baseline="1388" sz="3000" spc="1110">
                <a:latin typeface="Cambria Math"/>
                <a:cs typeface="Cambria Math"/>
              </a:rPr>
              <a:t>	</a:t>
            </a:r>
            <a:r>
              <a:rPr dirty="0" sz="2000" spc="740">
                <a:latin typeface="Cambria Math"/>
                <a:cs typeface="Cambria Math"/>
              </a:rPr>
              <a:t>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67984" y="4680203"/>
            <a:ext cx="1162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>
                <a:latin typeface="Cambria Math"/>
                <a:cs typeface="Cambria Math"/>
              </a:rPr>
              <a:t>-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52034" y="4712715"/>
            <a:ext cx="14986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5990" algn="l"/>
                <a:tab pos="1360170" algn="l"/>
              </a:tabLst>
            </a:pPr>
            <a:r>
              <a:rPr dirty="0" sz="2800">
                <a:latin typeface="Calibri"/>
                <a:cs typeface="Calibri"/>
              </a:rPr>
              <a:t>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114">
                <a:latin typeface="Cambria Math"/>
                <a:cs typeface="Cambria Math"/>
              </a:rPr>
              <a:t>𝐺</a:t>
            </a:r>
            <a:r>
              <a:rPr dirty="0" sz="2800" spc="-10">
                <a:latin typeface="Cambria Math"/>
                <a:cs typeface="Cambria Math"/>
              </a:rPr>
              <a:t>[</a:t>
            </a:r>
            <a:r>
              <a:rPr dirty="0" sz="2800">
                <a:latin typeface="Cambria Math"/>
                <a:cs typeface="Cambria Math"/>
              </a:rPr>
              <a:t>𝑡	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𝑡	]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6563" y="4666996"/>
            <a:ext cx="3321685" cy="97028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459"/>
              </a:spcBef>
            </a:pPr>
            <a:r>
              <a:rPr dirty="0" sz="2800" spc="-15">
                <a:latin typeface="Calibri"/>
                <a:cs typeface="Calibri"/>
              </a:rPr>
              <a:t>predicted to </a:t>
            </a:r>
            <a:r>
              <a:rPr dirty="0" sz="2800" spc="-5">
                <a:latin typeface="Calibri"/>
                <a:cs typeface="Calibri"/>
              </a:rPr>
              <a:t>appear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59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 b="1">
                <a:solidFill>
                  <a:srgbClr val="6BB76D"/>
                </a:solidFill>
                <a:latin typeface="Calibri"/>
                <a:cs typeface="Calibri"/>
              </a:rPr>
              <a:t>Evaluation: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7713" y="5653532"/>
            <a:ext cx="5521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i="1">
                <a:latin typeface="Times New Roman"/>
                <a:cs typeface="Times New Roman"/>
              </a:rPr>
              <a:t>n = </a:t>
            </a:r>
            <a:r>
              <a:rPr dirty="0" sz="2400" spc="-5" i="1">
                <a:latin typeface="Times New Roman"/>
                <a:cs typeface="Times New Roman"/>
              </a:rPr>
              <a:t>|E</a:t>
            </a:r>
            <a:r>
              <a:rPr dirty="0" baseline="-17361" sz="2400" spc="-7" i="1">
                <a:latin typeface="Times New Roman"/>
                <a:cs typeface="Times New Roman"/>
              </a:rPr>
              <a:t>new</a:t>
            </a:r>
            <a:r>
              <a:rPr dirty="0" sz="2400" spc="-5" i="1">
                <a:latin typeface="Times New Roman"/>
                <a:cs typeface="Times New Roman"/>
              </a:rPr>
              <a:t>|</a:t>
            </a:r>
            <a:r>
              <a:rPr dirty="0" sz="2400" spc="-5">
                <a:latin typeface="Calibri"/>
                <a:cs typeface="Calibri"/>
              </a:rPr>
              <a:t>: </a:t>
            </a:r>
            <a:r>
              <a:rPr dirty="0" sz="2400">
                <a:latin typeface="Calibri"/>
                <a:cs typeface="Calibri"/>
              </a:rPr>
              <a:t># </a:t>
            </a:r>
            <a:r>
              <a:rPr dirty="0" sz="2400" spc="-5">
                <a:latin typeface="Calibri"/>
                <a:cs typeface="Calibri"/>
              </a:rPr>
              <a:t>new edges </a:t>
            </a:r>
            <a:r>
              <a:rPr dirty="0" sz="2400" spc="-10">
                <a:latin typeface="Calibri"/>
                <a:cs typeface="Calibri"/>
              </a:rPr>
              <a:t>that </a:t>
            </a:r>
            <a:r>
              <a:rPr dirty="0" sz="2400">
                <a:latin typeface="Calibri"/>
                <a:cs typeface="Calibri"/>
              </a:rPr>
              <a:t>appear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459">
                <a:latin typeface="Calibri"/>
                <a:cs typeface="Calibri"/>
              </a:rPr>
              <a:t>during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1607" y="6129020"/>
            <a:ext cx="158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latin typeface="Cambria Math"/>
                <a:cs typeface="Cambria Math"/>
              </a:rPr>
              <a:t>#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96313" y="5982715"/>
            <a:ext cx="27489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5">
                <a:latin typeface="Calibri"/>
                <a:cs typeface="Calibri"/>
              </a:rPr>
              <a:t>test </a:t>
            </a:r>
            <a:r>
              <a:rPr dirty="0" sz="2400" spc="-5">
                <a:latin typeface="Calibri"/>
                <a:cs typeface="Calibri"/>
              </a:rPr>
              <a:t>period </a:t>
            </a:r>
            <a:r>
              <a:rPr dirty="0" sz="2400" spc="-30">
                <a:latin typeface="Cambria Math"/>
                <a:cs typeface="Cambria Math"/>
              </a:rPr>
              <a:t>[𝑡</a:t>
            </a:r>
            <a:r>
              <a:rPr dirty="0" baseline="-15432" sz="2700" spc="-44">
                <a:latin typeface="Cambria Math"/>
                <a:cs typeface="Cambria Math"/>
              </a:rPr>
              <a:t>#</a:t>
            </a:r>
            <a:r>
              <a:rPr dirty="0" sz="2400" spc="-30">
                <a:latin typeface="Cambria Math"/>
                <a:cs typeface="Cambria Math"/>
              </a:rPr>
              <a:t>,</a:t>
            </a:r>
            <a:r>
              <a:rPr dirty="0" sz="2400" spc="-275">
                <a:latin typeface="Cambria Math"/>
                <a:cs typeface="Cambria Math"/>
              </a:rPr>
              <a:t> </a:t>
            </a:r>
            <a:r>
              <a:rPr dirty="0" sz="2400" spc="-114">
                <a:latin typeface="Cambria Math"/>
                <a:cs typeface="Cambria Math"/>
              </a:rPr>
              <a:t>𝑡</a:t>
            </a:r>
            <a:r>
              <a:rPr dirty="0" baseline="27777" sz="2700" spc="-172">
                <a:latin typeface="Cambria Math"/>
                <a:cs typeface="Cambria Math"/>
              </a:rPr>
              <a:t>5 </a:t>
            </a:r>
            <a:r>
              <a:rPr dirty="0" sz="2400">
                <a:latin typeface="Cambria Math"/>
                <a:cs typeface="Cambria Math"/>
              </a:rPr>
              <a:t>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67713" y="6391147"/>
            <a:ext cx="6339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66C7D"/>
              </a:buClr>
              <a:buFont typeface="Malgun Gothic"/>
              <a:buChar char="▪"/>
              <a:tabLst>
                <a:tab pos="241300" algn="l"/>
              </a:tabLst>
            </a:pPr>
            <a:r>
              <a:rPr dirty="0" sz="2400" spc="-70">
                <a:latin typeface="Calibri"/>
                <a:cs typeface="Calibri"/>
              </a:rPr>
              <a:t>Take </a:t>
            </a:r>
            <a:r>
              <a:rPr dirty="0" sz="2400" spc="-15">
                <a:latin typeface="Calibri"/>
                <a:cs typeface="Calibri"/>
              </a:rPr>
              <a:t>top </a:t>
            </a:r>
            <a:r>
              <a:rPr dirty="0" sz="2400" i="1">
                <a:latin typeface="Times New Roman"/>
                <a:cs typeface="Times New Roman"/>
              </a:rPr>
              <a:t>n </a:t>
            </a:r>
            <a:r>
              <a:rPr dirty="0" sz="2400" spc="-5">
                <a:latin typeface="Calibri"/>
                <a:cs typeface="Calibri"/>
              </a:rPr>
              <a:t>elements of </a:t>
            </a:r>
            <a:r>
              <a:rPr dirty="0" sz="2400" i="1">
                <a:latin typeface="Times New Roman"/>
                <a:cs typeface="Times New Roman"/>
              </a:rPr>
              <a:t>L </a:t>
            </a:r>
            <a:r>
              <a:rPr dirty="0" sz="2400">
                <a:latin typeface="Calibri"/>
                <a:cs typeface="Calibri"/>
              </a:rPr>
              <a:t>and </a:t>
            </a:r>
            <a:r>
              <a:rPr dirty="0" sz="2400" spc="-15">
                <a:latin typeface="Calibri"/>
                <a:cs typeface="Calibri"/>
              </a:rPr>
              <a:t>count </a:t>
            </a:r>
            <a:r>
              <a:rPr dirty="0" sz="2400" spc="-10">
                <a:latin typeface="Calibri"/>
                <a:cs typeface="Calibri"/>
              </a:rPr>
              <a:t>correct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95">
                <a:latin typeface="Calibri"/>
                <a:cs typeface="Calibri"/>
              </a:rPr>
              <a:t>edges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58573" y="3641244"/>
            <a:ext cx="207010" cy="323215"/>
          </a:xfrm>
          <a:custGeom>
            <a:avLst/>
            <a:gdLst/>
            <a:ahLst/>
            <a:cxnLst/>
            <a:rect l="l" t="t" r="r" b="b"/>
            <a:pathLst>
              <a:path w="207009" h="323214">
                <a:moveTo>
                  <a:pt x="0" y="0"/>
                </a:moveTo>
                <a:lnTo>
                  <a:pt x="206997" y="323114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625396" y="3466336"/>
            <a:ext cx="182880" cy="340360"/>
          </a:xfrm>
          <a:custGeom>
            <a:avLst/>
            <a:gdLst/>
            <a:ahLst/>
            <a:cxnLst/>
            <a:rect l="l" t="t" r="r" b="b"/>
            <a:pathLst>
              <a:path w="182879" h="340360">
                <a:moveTo>
                  <a:pt x="0" y="0"/>
                </a:moveTo>
                <a:lnTo>
                  <a:pt x="182553" y="340291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12945" y="3412900"/>
            <a:ext cx="452755" cy="167005"/>
          </a:xfrm>
          <a:custGeom>
            <a:avLst/>
            <a:gdLst/>
            <a:ahLst/>
            <a:cxnLst/>
            <a:rect l="l" t="t" r="r" b="b"/>
            <a:pathLst>
              <a:path w="452754" h="167004">
                <a:moveTo>
                  <a:pt x="452165" y="0"/>
                </a:moveTo>
                <a:lnTo>
                  <a:pt x="0" y="166660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95196" y="4013944"/>
            <a:ext cx="624205" cy="3175"/>
          </a:xfrm>
          <a:custGeom>
            <a:avLst/>
            <a:gdLst/>
            <a:ahLst/>
            <a:cxnLst/>
            <a:rect l="l" t="t" r="r" b="b"/>
            <a:pathLst>
              <a:path w="624204" h="3175">
                <a:moveTo>
                  <a:pt x="0" y="0"/>
                </a:moveTo>
                <a:lnTo>
                  <a:pt x="623820" y="2672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56393" y="4440727"/>
            <a:ext cx="800100" cy="64769"/>
          </a:xfrm>
          <a:custGeom>
            <a:avLst/>
            <a:gdLst/>
            <a:ahLst/>
            <a:cxnLst/>
            <a:rect l="l" t="t" r="r" b="b"/>
            <a:pathLst>
              <a:path w="800100" h="64770">
                <a:moveTo>
                  <a:pt x="799927" y="0"/>
                </a:moveTo>
                <a:lnTo>
                  <a:pt x="0" y="64501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742356" y="2934516"/>
            <a:ext cx="445770" cy="135890"/>
          </a:xfrm>
          <a:custGeom>
            <a:avLst/>
            <a:gdLst/>
            <a:ahLst/>
            <a:cxnLst/>
            <a:rect l="l" t="t" r="r" b="b"/>
            <a:pathLst>
              <a:path w="445770" h="135889">
                <a:moveTo>
                  <a:pt x="445239" y="1356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81651" y="3199187"/>
            <a:ext cx="215265" cy="318135"/>
          </a:xfrm>
          <a:custGeom>
            <a:avLst/>
            <a:gdLst/>
            <a:ahLst/>
            <a:cxnLst/>
            <a:rect l="l" t="t" r="r" b="b"/>
            <a:pathLst>
              <a:path w="215265" h="318135">
                <a:moveTo>
                  <a:pt x="215105" y="0"/>
                </a:moveTo>
                <a:lnTo>
                  <a:pt x="0" y="31777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679758" y="2965811"/>
            <a:ext cx="235585" cy="529590"/>
          </a:xfrm>
          <a:custGeom>
            <a:avLst/>
            <a:gdLst/>
            <a:ahLst/>
            <a:cxnLst/>
            <a:rect l="l" t="t" r="r" b="b"/>
            <a:pathLst>
              <a:path w="235584" h="529589">
                <a:moveTo>
                  <a:pt x="0" y="0"/>
                </a:moveTo>
                <a:lnTo>
                  <a:pt x="235500" y="52901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91164" y="3607866"/>
            <a:ext cx="345440" cy="336550"/>
          </a:xfrm>
          <a:custGeom>
            <a:avLst/>
            <a:gdLst/>
            <a:ahLst/>
            <a:cxnLst/>
            <a:rect l="l" t="t" r="r" b="b"/>
            <a:pathLst>
              <a:path w="345440" h="336550">
                <a:moveTo>
                  <a:pt x="345283" y="0"/>
                </a:moveTo>
                <a:lnTo>
                  <a:pt x="0" y="33620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755595" y="4115363"/>
            <a:ext cx="360680" cy="320040"/>
          </a:xfrm>
          <a:custGeom>
            <a:avLst/>
            <a:gdLst/>
            <a:ahLst/>
            <a:cxnLst/>
            <a:rect l="l" t="t" r="r" b="b"/>
            <a:pathLst>
              <a:path w="360679" h="320039">
                <a:moveTo>
                  <a:pt x="0" y="319884"/>
                </a:moveTo>
                <a:lnTo>
                  <a:pt x="360459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443732" y="4054783"/>
            <a:ext cx="192405" cy="332740"/>
          </a:xfrm>
          <a:custGeom>
            <a:avLst/>
            <a:gdLst/>
            <a:ahLst/>
            <a:cxnLst/>
            <a:rect l="l" t="t" r="r" b="b"/>
            <a:pathLst>
              <a:path w="192404" h="332739">
                <a:moveTo>
                  <a:pt x="191836" y="33234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116823" y="3014472"/>
            <a:ext cx="280416" cy="2804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165460" y="303890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84732" y="0"/>
                </a:moveTo>
                <a:lnTo>
                  <a:pt x="50884" y="9116"/>
                </a:lnTo>
                <a:lnTo>
                  <a:pt x="22134" y="31295"/>
                </a:lnTo>
                <a:lnTo>
                  <a:pt x="4241" y="62891"/>
                </a:lnTo>
                <a:lnTo>
                  <a:pt x="0" y="97688"/>
                </a:lnTo>
                <a:lnTo>
                  <a:pt x="9116" y="131536"/>
                </a:lnTo>
                <a:lnTo>
                  <a:pt x="31296" y="160286"/>
                </a:lnTo>
                <a:lnTo>
                  <a:pt x="62891" y="178179"/>
                </a:lnTo>
                <a:lnTo>
                  <a:pt x="97688" y="182420"/>
                </a:lnTo>
                <a:lnTo>
                  <a:pt x="131536" y="173303"/>
                </a:lnTo>
                <a:lnTo>
                  <a:pt x="160286" y="151124"/>
                </a:lnTo>
                <a:lnTo>
                  <a:pt x="178179" y="119528"/>
                </a:lnTo>
                <a:lnTo>
                  <a:pt x="182420" y="84732"/>
                </a:lnTo>
                <a:lnTo>
                  <a:pt x="173303" y="50884"/>
                </a:lnTo>
                <a:lnTo>
                  <a:pt x="151124" y="22134"/>
                </a:lnTo>
                <a:lnTo>
                  <a:pt x="119528" y="4241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165461" y="303890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31607" y="2758439"/>
            <a:ext cx="283464" cy="283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82069" y="278339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84731" y="0"/>
                </a:moveTo>
                <a:lnTo>
                  <a:pt x="50883" y="9116"/>
                </a:lnTo>
                <a:lnTo>
                  <a:pt x="22133" y="31295"/>
                </a:lnTo>
                <a:lnTo>
                  <a:pt x="4240" y="62891"/>
                </a:lnTo>
                <a:lnTo>
                  <a:pt x="0" y="97688"/>
                </a:lnTo>
                <a:lnTo>
                  <a:pt x="9116" y="131537"/>
                </a:lnTo>
                <a:lnTo>
                  <a:pt x="31295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5" y="151125"/>
                </a:lnTo>
                <a:lnTo>
                  <a:pt x="178178" y="119529"/>
                </a:lnTo>
                <a:lnTo>
                  <a:pt x="182420" y="84732"/>
                </a:lnTo>
                <a:lnTo>
                  <a:pt x="173304" y="50883"/>
                </a:lnTo>
                <a:lnTo>
                  <a:pt x="151125" y="22133"/>
                </a:lnTo>
                <a:lnTo>
                  <a:pt x="119528" y="4240"/>
                </a:lnTo>
                <a:lnTo>
                  <a:pt x="84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582069" y="278339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80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641053" y="3989047"/>
            <a:ext cx="180340" cy="354330"/>
          </a:xfrm>
          <a:custGeom>
            <a:avLst/>
            <a:gdLst/>
            <a:ahLst/>
            <a:cxnLst/>
            <a:rect l="l" t="t" r="r" b="b"/>
            <a:pathLst>
              <a:path w="180340" h="354329">
                <a:moveTo>
                  <a:pt x="0" y="353992"/>
                </a:moveTo>
                <a:lnTo>
                  <a:pt x="17985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291727" y="4076751"/>
            <a:ext cx="287020" cy="297815"/>
          </a:xfrm>
          <a:custGeom>
            <a:avLst/>
            <a:gdLst/>
            <a:ahLst/>
            <a:cxnLst/>
            <a:rect l="l" t="t" r="r" b="b"/>
            <a:pathLst>
              <a:path w="287020" h="297814">
                <a:moveTo>
                  <a:pt x="286728" y="29758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287696" y="3904316"/>
            <a:ext cx="435609" cy="102870"/>
          </a:xfrm>
          <a:custGeom>
            <a:avLst/>
            <a:gdLst/>
            <a:ahLst/>
            <a:cxnLst/>
            <a:rect l="l" t="t" r="r" b="b"/>
            <a:pathLst>
              <a:path w="435609" h="102870">
                <a:moveTo>
                  <a:pt x="435522" y="0"/>
                </a:moveTo>
                <a:lnTo>
                  <a:pt x="0" y="1025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05549" y="3677248"/>
            <a:ext cx="222885" cy="709295"/>
          </a:xfrm>
          <a:custGeom>
            <a:avLst/>
            <a:gdLst/>
            <a:ahLst/>
            <a:cxnLst/>
            <a:rect l="l" t="t" r="r" b="b"/>
            <a:pathLst>
              <a:path w="222884" h="709295">
                <a:moveTo>
                  <a:pt x="0" y="709079"/>
                </a:moveTo>
                <a:lnTo>
                  <a:pt x="22266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266431" y="3867911"/>
            <a:ext cx="283464" cy="283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317495" y="389252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6717" y="0"/>
                </a:moveTo>
                <a:lnTo>
                  <a:pt x="51546" y="9022"/>
                </a:lnTo>
                <a:lnTo>
                  <a:pt x="22629" y="30984"/>
                </a:lnTo>
                <a:lnTo>
                  <a:pt x="4991" y="61278"/>
                </a:lnTo>
                <a:lnTo>
                  <a:pt x="0" y="95975"/>
                </a:lnTo>
                <a:lnTo>
                  <a:pt x="9022" y="131147"/>
                </a:lnTo>
                <a:lnTo>
                  <a:pt x="30984" y="160063"/>
                </a:lnTo>
                <a:lnTo>
                  <a:pt x="61278" y="177701"/>
                </a:lnTo>
                <a:lnTo>
                  <a:pt x="95975" y="182693"/>
                </a:lnTo>
                <a:lnTo>
                  <a:pt x="131147" y="173670"/>
                </a:lnTo>
                <a:lnTo>
                  <a:pt x="160063" y="151708"/>
                </a:lnTo>
                <a:lnTo>
                  <a:pt x="177701" y="121415"/>
                </a:lnTo>
                <a:lnTo>
                  <a:pt x="182693" y="86717"/>
                </a:lnTo>
                <a:lnTo>
                  <a:pt x="173670" y="51546"/>
                </a:lnTo>
                <a:lnTo>
                  <a:pt x="151708" y="22629"/>
                </a:lnTo>
                <a:lnTo>
                  <a:pt x="121415" y="4991"/>
                </a:lnTo>
                <a:lnTo>
                  <a:pt x="867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17495" y="389253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022" y="131147"/>
                </a:moveTo>
                <a:lnTo>
                  <a:pt x="0" y="95975"/>
                </a:lnTo>
                <a:lnTo>
                  <a:pt x="4991" y="61278"/>
                </a:lnTo>
                <a:lnTo>
                  <a:pt x="22629" y="30984"/>
                </a:lnTo>
                <a:lnTo>
                  <a:pt x="51545" y="9022"/>
                </a:lnTo>
                <a:lnTo>
                  <a:pt x="86717" y="0"/>
                </a:lnTo>
                <a:lnTo>
                  <a:pt x="121414" y="4991"/>
                </a:lnTo>
                <a:lnTo>
                  <a:pt x="151708" y="22629"/>
                </a:lnTo>
                <a:lnTo>
                  <a:pt x="173670" y="51545"/>
                </a:lnTo>
                <a:lnTo>
                  <a:pt x="182692" y="86717"/>
                </a:lnTo>
                <a:lnTo>
                  <a:pt x="177701" y="121414"/>
                </a:lnTo>
                <a:lnTo>
                  <a:pt x="160063" y="151708"/>
                </a:lnTo>
                <a:lnTo>
                  <a:pt x="131147" y="173670"/>
                </a:lnTo>
                <a:lnTo>
                  <a:pt x="95975" y="182692"/>
                </a:lnTo>
                <a:lnTo>
                  <a:pt x="61278" y="177701"/>
                </a:lnTo>
                <a:lnTo>
                  <a:pt x="30984" y="160063"/>
                </a:lnTo>
                <a:lnTo>
                  <a:pt x="9022" y="131147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674607" y="3782567"/>
            <a:ext cx="280416" cy="2804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723217" y="38066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4" y="9116"/>
                </a:lnTo>
                <a:lnTo>
                  <a:pt x="22134" y="31295"/>
                </a:lnTo>
                <a:lnTo>
                  <a:pt x="4241" y="62891"/>
                </a:lnTo>
                <a:lnTo>
                  <a:pt x="0" y="97688"/>
                </a:lnTo>
                <a:lnTo>
                  <a:pt x="9116" y="131536"/>
                </a:lnTo>
                <a:lnTo>
                  <a:pt x="31296" y="160285"/>
                </a:lnTo>
                <a:lnTo>
                  <a:pt x="62891" y="178178"/>
                </a:lnTo>
                <a:lnTo>
                  <a:pt x="97688" y="182420"/>
                </a:lnTo>
                <a:lnTo>
                  <a:pt x="131536" y="173303"/>
                </a:lnTo>
                <a:lnTo>
                  <a:pt x="160286" y="151123"/>
                </a:lnTo>
                <a:lnTo>
                  <a:pt x="178179" y="119528"/>
                </a:lnTo>
                <a:lnTo>
                  <a:pt x="182420" y="84731"/>
                </a:lnTo>
                <a:lnTo>
                  <a:pt x="173303" y="50883"/>
                </a:lnTo>
                <a:lnTo>
                  <a:pt x="151124" y="22133"/>
                </a:lnTo>
                <a:lnTo>
                  <a:pt x="119528" y="4240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723217" y="38066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781543" y="3468623"/>
            <a:ext cx="280416" cy="283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830525" y="349482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4" y="9116"/>
                </a:lnTo>
                <a:lnTo>
                  <a:pt x="22134" y="31295"/>
                </a:lnTo>
                <a:lnTo>
                  <a:pt x="4241" y="62891"/>
                </a:lnTo>
                <a:lnTo>
                  <a:pt x="0" y="97688"/>
                </a:lnTo>
                <a:lnTo>
                  <a:pt x="9116" y="131537"/>
                </a:lnTo>
                <a:lnTo>
                  <a:pt x="31296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6" y="151125"/>
                </a:lnTo>
                <a:lnTo>
                  <a:pt x="178179" y="119529"/>
                </a:lnTo>
                <a:lnTo>
                  <a:pt x="182420" y="84732"/>
                </a:lnTo>
                <a:lnTo>
                  <a:pt x="173303" y="50883"/>
                </a:lnTo>
                <a:lnTo>
                  <a:pt x="151124" y="22133"/>
                </a:lnTo>
                <a:lnTo>
                  <a:pt x="119528" y="4240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830525" y="349482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531607" y="4355591"/>
            <a:ext cx="280416" cy="2804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580058" y="4379736"/>
            <a:ext cx="183515" cy="183515"/>
          </a:xfrm>
          <a:custGeom>
            <a:avLst/>
            <a:gdLst/>
            <a:ahLst/>
            <a:cxnLst/>
            <a:rect l="l" t="t" r="r" b="b"/>
            <a:pathLst>
              <a:path w="183515" h="183514">
                <a:moveTo>
                  <a:pt x="91062" y="0"/>
                </a:moveTo>
                <a:lnTo>
                  <a:pt x="55510" y="7386"/>
                </a:lnTo>
                <a:lnTo>
                  <a:pt x="25610" y="27988"/>
                </a:lnTo>
                <a:lnTo>
                  <a:pt x="6590" y="57434"/>
                </a:lnTo>
                <a:lnTo>
                  <a:pt x="0" y="91863"/>
                </a:lnTo>
                <a:lnTo>
                  <a:pt x="7386" y="127414"/>
                </a:lnTo>
                <a:lnTo>
                  <a:pt x="27987" y="157315"/>
                </a:lnTo>
                <a:lnTo>
                  <a:pt x="57433" y="176335"/>
                </a:lnTo>
                <a:lnTo>
                  <a:pt x="91863" y="182925"/>
                </a:lnTo>
                <a:lnTo>
                  <a:pt x="127414" y="175538"/>
                </a:lnTo>
                <a:lnTo>
                  <a:pt x="157315" y="154937"/>
                </a:lnTo>
                <a:lnTo>
                  <a:pt x="176334" y="125491"/>
                </a:lnTo>
                <a:lnTo>
                  <a:pt x="182925" y="91062"/>
                </a:lnTo>
                <a:lnTo>
                  <a:pt x="175538" y="55510"/>
                </a:lnTo>
                <a:lnTo>
                  <a:pt x="154937" y="25610"/>
                </a:lnTo>
                <a:lnTo>
                  <a:pt x="125491" y="6590"/>
                </a:lnTo>
                <a:lnTo>
                  <a:pt x="910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580057" y="4379737"/>
            <a:ext cx="183515" cy="183515"/>
          </a:xfrm>
          <a:custGeom>
            <a:avLst/>
            <a:gdLst/>
            <a:ahLst/>
            <a:cxnLst/>
            <a:rect l="l" t="t" r="r" b="b"/>
            <a:pathLst>
              <a:path w="183515" h="183514">
                <a:moveTo>
                  <a:pt x="175538" y="55511"/>
                </a:moveTo>
                <a:lnTo>
                  <a:pt x="182925" y="91062"/>
                </a:lnTo>
                <a:lnTo>
                  <a:pt x="176335" y="125491"/>
                </a:lnTo>
                <a:lnTo>
                  <a:pt x="157315" y="154937"/>
                </a:lnTo>
                <a:lnTo>
                  <a:pt x="127414" y="175538"/>
                </a:lnTo>
                <a:lnTo>
                  <a:pt x="91863" y="182925"/>
                </a:lnTo>
                <a:lnTo>
                  <a:pt x="57433" y="176335"/>
                </a:lnTo>
                <a:lnTo>
                  <a:pt x="27988" y="157315"/>
                </a:lnTo>
                <a:lnTo>
                  <a:pt x="7386" y="127414"/>
                </a:lnTo>
                <a:lnTo>
                  <a:pt x="0" y="91863"/>
                </a:lnTo>
                <a:lnTo>
                  <a:pt x="6590" y="57433"/>
                </a:lnTo>
                <a:lnTo>
                  <a:pt x="25610" y="27988"/>
                </a:lnTo>
                <a:lnTo>
                  <a:pt x="55511" y="7386"/>
                </a:lnTo>
                <a:lnTo>
                  <a:pt x="91062" y="0"/>
                </a:lnTo>
                <a:lnTo>
                  <a:pt x="125491" y="6590"/>
                </a:lnTo>
                <a:lnTo>
                  <a:pt x="154937" y="25610"/>
                </a:lnTo>
                <a:lnTo>
                  <a:pt x="175538" y="55511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506968" y="4319015"/>
            <a:ext cx="280416" cy="2804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556319" y="43430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3" y="9116"/>
                </a:lnTo>
                <a:lnTo>
                  <a:pt x="22133" y="31295"/>
                </a:lnTo>
                <a:lnTo>
                  <a:pt x="4240" y="62892"/>
                </a:lnTo>
                <a:lnTo>
                  <a:pt x="0" y="97689"/>
                </a:lnTo>
                <a:lnTo>
                  <a:pt x="9116" y="131537"/>
                </a:lnTo>
                <a:lnTo>
                  <a:pt x="31295" y="160286"/>
                </a:lnTo>
                <a:lnTo>
                  <a:pt x="62891" y="178179"/>
                </a:lnTo>
                <a:lnTo>
                  <a:pt x="97688" y="182420"/>
                </a:lnTo>
                <a:lnTo>
                  <a:pt x="131537" y="173304"/>
                </a:lnTo>
                <a:lnTo>
                  <a:pt x="160287" y="151125"/>
                </a:lnTo>
                <a:lnTo>
                  <a:pt x="178180" y="119529"/>
                </a:lnTo>
                <a:lnTo>
                  <a:pt x="182420" y="84732"/>
                </a:lnTo>
                <a:lnTo>
                  <a:pt x="173304" y="50884"/>
                </a:lnTo>
                <a:lnTo>
                  <a:pt x="151125" y="22134"/>
                </a:lnTo>
                <a:lnTo>
                  <a:pt x="119529" y="4241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556319" y="434303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065007" y="3931920"/>
            <a:ext cx="280416" cy="2804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114025" y="395533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6717" y="0"/>
                </a:moveTo>
                <a:lnTo>
                  <a:pt x="51546" y="9022"/>
                </a:lnTo>
                <a:lnTo>
                  <a:pt x="22629" y="30984"/>
                </a:lnTo>
                <a:lnTo>
                  <a:pt x="4991" y="61278"/>
                </a:lnTo>
                <a:lnTo>
                  <a:pt x="0" y="95975"/>
                </a:lnTo>
                <a:lnTo>
                  <a:pt x="9022" y="131147"/>
                </a:lnTo>
                <a:lnTo>
                  <a:pt x="30984" y="160063"/>
                </a:lnTo>
                <a:lnTo>
                  <a:pt x="61278" y="177701"/>
                </a:lnTo>
                <a:lnTo>
                  <a:pt x="95975" y="182693"/>
                </a:lnTo>
                <a:lnTo>
                  <a:pt x="131147" y="173670"/>
                </a:lnTo>
                <a:lnTo>
                  <a:pt x="160063" y="151708"/>
                </a:lnTo>
                <a:lnTo>
                  <a:pt x="177701" y="121415"/>
                </a:lnTo>
                <a:lnTo>
                  <a:pt x="182692" y="86717"/>
                </a:lnTo>
                <a:lnTo>
                  <a:pt x="173669" y="51546"/>
                </a:lnTo>
                <a:lnTo>
                  <a:pt x="151708" y="22629"/>
                </a:lnTo>
                <a:lnTo>
                  <a:pt x="121414" y="4991"/>
                </a:lnTo>
                <a:lnTo>
                  <a:pt x="867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114025" y="3955336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022" y="131147"/>
                </a:moveTo>
                <a:lnTo>
                  <a:pt x="0" y="95975"/>
                </a:lnTo>
                <a:lnTo>
                  <a:pt x="4991" y="61278"/>
                </a:lnTo>
                <a:lnTo>
                  <a:pt x="22629" y="30984"/>
                </a:lnTo>
                <a:lnTo>
                  <a:pt x="51545" y="9022"/>
                </a:lnTo>
                <a:lnTo>
                  <a:pt x="86717" y="0"/>
                </a:lnTo>
                <a:lnTo>
                  <a:pt x="121414" y="4991"/>
                </a:lnTo>
                <a:lnTo>
                  <a:pt x="151708" y="22629"/>
                </a:lnTo>
                <a:lnTo>
                  <a:pt x="173670" y="51545"/>
                </a:lnTo>
                <a:lnTo>
                  <a:pt x="182692" y="86717"/>
                </a:lnTo>
                <a:lnTo>
                  <a:pt x="177701" y="121414"/>
                </a:lnTo>
                <a:lnTo>
                  <a:pt x="160063" y="151708"/>
                </a:lnTo>
                <a:lnTo>
                  <a:pt x="131147" y="173670"/>
                </a:lnTo>
                <a:lnTo>
                  <a:pt x="95975" y="182692"/>
                </a:lnTo>
                <a:lnTo>
                  <a:pt x="61278" y="177701"/>
                </a:lnTo>
                <a:lnTo>
                  <a:pt x="30984" y="160063"/>
                </a:lnTo>
                <a:lnTo>
                  <a:pt x="9022" y="131147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415528" y="3288791"/>
            <a:ext cx="280416" cy="2834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465111" y="331521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1" y="0"/>
                </a:moveTo>
                <a:lnTo>
                  <a:pt x="50883" y="9116"/>
                </a:lnTo>
                <a:lnTo>
                  <a:pt x="22133" y="31295"/>
                </a:lnTo>
                <a:lnTo>
                  <a:pt x="4240" y="62891"/>
                </a:lnTo>
                <a:lnTo>
                  <a:pt x="0" y="97688"/>
                </a:lnTo>
                <a:lnTo>
                  <a:pt x="9116" y="131537"/>
                </a:lnTo>
                <a:lnTo>
                  <a:pt x="31295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5" y="151125"/>
                </a:lnTo>
                <a:lnTo>
                  <a:pt x="178178" y="119529"/>
                </a:lnTo>
                <a:lnTo>
                  <a:pt x="182420" y="84732"/>
                </a:lnTo>
                <a:lnTo>
                  <a:pt x="173304" y="50883"/>
                </a:lnTo>
                <a:lnTo>
                  <a:pt x="151125" y="22133"/>
                </a:lnTo>
                <a:lnTo>
                  <a:pt x="119528" y="4240"/>
                </a:lnTo>
                <a:lnTo>
                  <a:pt x="84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465111" y="331521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8355176" y="4801615"/>
            <a:ext cx="1358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275">
                <a:latin typeface="Cambria Math"/>
                <a:cs typeface="Cambria Math"/>
              </a:rPr>
              <a:t>"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12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8702235" y="6723724"/>
            <a:ext cx="1708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29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688998" y="4680203"/>
            <a:ext cx="8991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65">
                <a:latin typeface="Cambria Math"/>
                <a:cs typeface="Cambria Math"/>
              </a:rPr>
              <a:t>𝐺[𝑡</a:t>
            </a:r>
            <a:r>
              <a:rPr dirty="0" baseline="-14814" sz="2250" spc="97">
                <a:latin typeface="Cambria Math"/>
                <a:cs typeface="Cambria Math"/>
              </a:rPr>
              <a:t>"</a:t>
            </a:r>
            <a:r>
              <a:rPr dirty="0" sz="2000" spc="65">
                <a:latin typeface="Cambria Math"/>
                <a:cs typeface="Cambria Math"/>
              </a:rPr>
              <a:t>,</a:t>
            </a:r>
            <a:r>
              <a:rPr dirty="0" sz="2000" spc="-175">
                <a:latin typeface="Cambria Math"/>
                <a:cs typeface="Cambria Math"/>
              </a:rPr>
              <a:t> </a:t>
            </a:r>
            <a:r>
              <a:rPr dirty="0" sz="2000" spc="-145">
                <a:latin typeface="Cambria Math"/>
                <a:cs typeface="Cambria Math"/>
              </a:rPr>
              <a:t>𝑡</a:t>
            </a:r>
            <a:r>
              <a:rPr dirty="0" baseline="27777" sz="2250" spc="-217">
                <a:latin typeface="Cambria Math"/>
                <a:cs typeface="Cambria Math"/>
              </a:rPr>
              <a:t># </a:t>
            </a:r>
            <a:r>
              <a:rPr dirty="0" sz="2000"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349270" y="5106415"/>
            <a:ext cx="1358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0">
                <a:solidFill>
                  <a:srgbClr val="008000"/>
                </a:solidFill>
                <a:latin typeface="Cambria Math"/>
                <a:cs typeface="Cambria Math"/>
              </a:rPr>
              <a:t>$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045677" y="4887467"/>
            <a:ext cx="4210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44444" sz="2250" spc="150">
                <a:solidFill>
                  <a:srgbClr val="008000"/>
                </a:solidFill>
                <a:latin typeface="Cambria Math"/>
                <a:cs typeface="Cambria Math"/>
              </a:rPr>
              <a:t>$</a:t>
            </a:r>
            <a:r>
              <a:rPr dirty="0" baseline="-44444" sz="2250" spc="27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baseline="-20833" sz="3000" spc="-217">
                <a:solidFill>
                  <a:srgbClr val="008000"/>
                </a:solidFill>
                <a:latin typeface="Cambria Math"/>
                <a:cs typeface="Cambria Math"/>
              </a:rPr>
              <a:t>𝑡</a:t>
            </a:r>
            <a:r>
              <a:rPr dirty="0" sz="1500" spc="-145">
                <a:solidFill>
                  <a:srgbClr val="008000"/>
                </a:solidFill>
                <a:latin typeface="Cambria Math"/>
                <a:cs typeface="Cambria Math"/>
              </a:rPr>
              <a:t>#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694903" y="4985003"/>
            <a:ext cx="88773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85495" algn="l"/>
              </a:tabLst>
            </a:pPr>
            <a:r>
              <a:rPr dirty="0" sz="2000" spc="85">
                <a:solidFill>
                  <a:srgbClr val="008000"/>
                </a:solidFill>
                <a:latin typeface="Cambria Math"/>
                <a:cs typeface="Cambria Math"/>
              </a:rPr>
              <a:t>𝐺</a:t>
            </a:r>
            <a:r>
              <a:rPr dirty="0" sz="2000" spc="-5">
                <a:solidFill>
                  <a:srgbClr val="008000"/>
                </a:solidFill>
                <a:latin typeface="Cambria Math"/>
                <a:cs typeface="Cambria Math"/>
              </a:rPr>
              <a:t>[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𝑡 </a:t>
            </a:r>
            <a:r>
              <a:rPr dirty="0" sz="2000" spc="-30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8000"/>
                </a:solidFill>
                <a:latin typeface="Cambria Math"/>
                <a:cs typeface="Cambria Math"/>
              </a:rPr>
              <a:t>,	]</a:t>
            </a:r>
            <a:endParaRPr sz="20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71359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27336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D60093"/>
                </a:solidFill>
              </a:rPr>
              <a:t>Methodology: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825921"/>
            <a:ext cx="7493000" cy="289750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4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 pair of nodes </a:t>
            </a:r>
            <a:r>
              <a:rPr dirty="0" sz="2800" spc="-5" i="1">
                <a:solidFill>
                  <a:srgbClr val="008000"/>
                </a:solidFill>
                <a:latin typeface="Calibri"/>
                <a:cs typeface="Calibri"/>
              </a:rPr>
              <a:t>(x,y)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15">
                <a:latin typeface="Calibri"/>
                <a:cs typeface="Calibri"/>
              </a:rPr>
              <a:t>score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 i="1">
                <a:solidFill>
                  <a:srgbClr val="008000"/>
                </a:solidFill>
                <a:latin typeface="Calibri"/>
                <a:cs typeface="Calibri"/>
              </a:rPr>
              <a:t>c(x,y)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800"/>
              </a:lnSpc>
              <a:spcBef>
                <a:spcPts val="61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For example, </a:t>
            </a:r>
            <a:r>
              <a:rPr dirty="0" sz="2400" spc="-5" i="1">
                <a:solidFill>
                  <a:srgbClr val="008000"/>
                </a:solidFill>
                <a:latin typeface="Calibri"/>
                <a:cs typeface="Calibri"/>
              </a:rPr>
              <a:t>c(x,y) </a:t>
            </a:r>
            <a:r>
              <a:rPr dirty="0" sz="2400" spc="-10">
                <a:latin typeface="Calibri"/>
                <a:cs typeface="Calibri"/>
              </a:rPr>
              <a:t>could </a:t>
            </a:r>
            <a:r>
              <a:rPr dirty="0" sz="2400">
                <a:latin typeface="Calibri"/>
                <a:cs typeface="Calibri"/>
              </a:rPr>
              <a:t>be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#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10">
                <a:latin typeface="Calibri"/>
                <a:cs typeface="Calibri"/>
              </a:rPr>
              <a:t>common </a:t>
            </a:r>
            <a:r>
              <a:rPr dirty="0" sz="2400" spc="-65">
                <a:latin typeface="Calibri"/>
                <a:cs typeface="Calibri"/>
              </a:rPr>
              <a:t>neighbors 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i="1">
                <a:solidFill>
                  <a:srgbClr val="008000"/>
                </a:solidFill>
                <a:latin typeface="Calibri"/>
                <a:cs typeface="Calibri"/>
              </a:rPr>
              <a:t>x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8000"/>
                </a:solidFill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Sort </a:t>
            </a:r>
            <a:r>
              <a:rPr dirty="0" sz="2800" spc="-15">
                <a:latin typeface="Calibri"/>
                <a:cs typeface="Calibri"/>
              </a:rPr>
              <a:t>pairs </a:t>
            </a:r>
            <a:r>
              <a:rPr dirty="0" sz="2800" spc="-5" i="1">
                <a:solidFill>
                  <a:srgbClr val="008000"/>
                </a:solidFill>
                <a:latin typeface="Calibri"/>
                <a:cs typeface="Calibri"/>
              </a:rPr>
              <a:t>(x,y)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decreasing </a:t>
            </a:r>
            <a:r>
              <a:rPr dirty="0" sz="2800" spc="-15">
                <a:latin typeface="Calibri"/>
                <a:cs typeface="Calibri"/>
              </a:rPr>
              <a:t>score</a:t>
            </a:r>
            <a:r>
              <a:rPr dirty="0" sz="2800" spc="35">
                <a:latin typeface="Calibri"/>
                <a:cs typeface="Calibri"/>
              </a:rPr>
              <a:t> </a:t>
            </a:r>
            <a:r>
              <a:rPr dirty="0" sz="2800" spc="-5" i="1">
                <a:solidFill>
                  <a:srgbClr val="008000"/>
                </a:solidFill>
                <a:latin typeface="Calibri"/>
                <a:cs typeface="Calibri"/>
              </a:rPr>
              <a:t>c(x,y)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solidFill>
                  <a:srgbClr val="D60093"/>
                </a:solidFill>
                <a:latin typeface="Calibri"/>
                <a:cs typeface="Calibri"/>
              </a:rPr>
              <a:t>Predict top </a:t>
            </a:r>
            <a:r>
              <a:rPr dirty="0" sz="2800" b="1" i="1">
                <a:latin typeface="Times New Roman"/>
                <a:cs typeface="Times New Roman"/>
              </a:rPr>
              <a:t>n </a:t>
            </a:r>
            <a:r>
              <a:rPr dirty="0" sz="2800" spc="-10" b="1">
                <a:latin typeface="Calibri"/>
                <a:cs typeface="Calibri"/>
              </a:rPr>
              <a:t>pairs </a:t>
            </a:r>
            <a:r>
              <a:rPr dirty="0" sz="2800" b="1">
                <a:latin typeface="Calibri"/>
                <a:cs typeface="Calibri"/>
              </a:rPr>
              <a:t>as </a:t>
            </a:r>
            <a:r>
              <a:rPr dirty="0" sz="2800" spc="-5" b="1">
                <a:latin typeface="Calibri"/>
                <a:cs typeface="Calibri"/>
              </a:rPr>
              <a:t>new links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b="1">
                <a:solidFill>
                  <a:srgbClr val="0000FF"/>
                </a:solidFill>
                <a:latin typeface="Calibri"/>
                <a:cs typeface="Calibri"/>
              </a:rPr>
              <a:t>See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which of these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links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 actually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00019" y="4869179"/>
            <a:ext cx="5969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245" algn="l"/>
              </a:tabLst>
            </a:pPr>
            <a:r>
              <a:rPr dirty="0" baseline="1388" sz="3000" spc="1110">
                <a:latin typeface="Cambria Math"/>
                <a:cs typeface="Cambria Math"/>
              </a:rPr>
              <a:t>.</a:t>
            </a:r>
            <a:r>
              <a:rPr dirty="0" baseline="1388" sz="3000" spc="1110">
                <a:latin typeface="Cambria Math"/>
                <a:cs typeface="Cambria Math"/>
              </a:rPr>
              <a:t>	</a:t>
            </a:r>
            <a:r>
              <a:rPr dirty="0" sz="2000" spc="740">
                <a:latin typeface="Cambria Math"/>
                <a:cs typeface="Cambria Math"/>
              </a:rPr>
              <a:t>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883" y="4688332"/>
            <a:ext cx="27089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6935" algn="l"/>
              </a:tabLst>
            </a:pP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appear</a:t>
            </a:r>
            <a:r>
              <a:rPr dirty="0" sz="2800" spc="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00FF"/>
                </a:solidFill>
                <a:latin typeface="Calibri"/>
                <a:cs typeface="Calibri"/>
              </a:rPr>
              <a:t>in</a:t>
            </a:r>
            <a:r>
              <a:rPr dirty="0" sz="2800" spc="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𝐺[𝑡	</a:t>
            </a:r>
            <a:r>
              <a:rPr dirty="0" sz="2800">
                <a:latin typeface="Cambria Math"/>
                <a:cs typeface="Cambria Math"/>
              </a:rPr>
              <a:t>,</a:t>
            </a:r>
            <a:r>
              <a:rPr dirty="0" sz="2800" spc="-245">
                <a:latin typeface="Cambria Math"/>
                <a:cs typeface="Cambria Math"/>
              </a:rPr>
              <a:t> </a:t>
            </a:r>
            <a:r>
              <a:rPr dirty="0" sz="2800" spc="135">
                <a:latin typeface="Cambria Math"/>
                <a:cs typeface="Cambria Math"/>
              </a:rPr>
              <a:t>𝑡</a:t>
            </a:r>
            <a:r>
              <a:rPr dirty="0" baseline="30555" sz="3000" spc="202">
                <a:latin typeface="Cambria Math"/>
                <a:cs typeface="Cambria Math"/>
              </a:rPr>
              <a:t>-</a:t>
            </a:r>
            <a:r>
              <a:rPr dirty="0" sz="2800" spc="135">
                <a:latin typeface="Cambria Math"/>
                <a:cs typeface="Cambria Math"/>
              </a:rPr>
              <a:t>]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93319" y="4869804"/>
            <a:ext cx="207010" cy="323215"/>
          </a:xfrm>
          <a:custGeom>
            <a:avLst/>
            <a:gdLst/>
            <a:ahLst/>
            <a:cxnLst/>
            <a:rect l="l" t="t" r="r" b="b"/>
            <a:pathLst>
              <a:path w="207009" h="323214">
                <a:moveTo>
                  <a:pt x="0" y="0"/>
                </a:moveTo>
                <a:lnTo>
                  <a:pt x="206997" y="323114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60143" y="4694896"/>
            <a:ext cx="182880" cy="340360"/>
          </a:xfrm>
          <a:custGeom>
            <a:avLst/>
            <a:gdLst/>
            <a:ahLst/>
            <a:cxnLst/>
            <a:rect l="l" t="t" r="r" b="b"/>
            <a:pathLst>
              <a:path w="182879" h="340360">
                <a:moveTo>
                  <a:pt x="0" y="0"/>
                </a:moveTo>
                <a:lnTo>
                  <a:pt x="182553" y="340291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47692" y="4641460"/>
            <a:ext cx="452755" cy="167005"/>
          </a:xfrm>
          <a:custGeom>
            <a:avLst/>
            <a:gdLst/>
            <a:ahLst/>
            <a:cxnLst/>
            <a:rect l="l" t="t" r="r" b="b"/>
            <a:pathLst>
              <a:path w="452754" h="167004">
                <a:moveTo>
                  <a:pt x="452165" y="0"/>
                </a:moveTo>
                <a:lnTo>
                  <a:pt x="0" y="166660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229943" y="5242504"/>
            <a:ext cx="624205" cy="3175"/>
          </a:xfrm>
          <a:custGeom>
            <a:avLst/>
            <a:gdLst/>
            <a:ahLst/>
            <a:cxnLst/>
            <a:rect l="l" t="t" r="r" b="b"/>
            <a:pathLst>
              <a:path w="624204" h="3175">
                <a:moveTo>
                  <a:pt x="0" y="0"/>
                </a:moveTo>
                <a:lnTo>
                  <a:pt x="623820" y="2672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91141" y="5669288"/>
            <a:ext cx="800100" cy="64769"/>
          </a:xfrm>
          <a:custGeom>
            <a:avLst/>
            <a:gdLst/>
            <a:ahLst/>
            <a:cxnLst/>
            <a:rect l="l" t="t" r="r" b="b"/>
            <a:pathLst>
              <a:path w="800100" h="64770">
                <a:moveTo>
                  <a:pt x="799927" y="0"/>
                </a:moveTo>
                <a:lnTo>
                  <a:pt x="0" y="64501"/>
                </a:lnTo>
              </a:path>
            </a:pathLst>
          </a:custGeom>
          <a:ln w="2857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77103" y="4163076"/>
            <a:ext cx="445770" cy="135890"/>
          </a:xfrm>
          <a:custGeom>
            <a:avLst/>
            <a:gdLst/>
            <a:ahLst/>
            <a:cxnLst/>
            <a:rect l="l" t="t" r="r" b="b"/>
            <a:pathLst>
              <a:path w="445770" h="135889">
                <a:moveTo>
                  <a:pt x="445239" y="13567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716397" y="4427747"/>
            <a:ext cx="215265" cy="318135"/>
          </a:xfrm>
          <a:custGeom>
            <a:avLst/>
            <a:gdLst/>
            <a:ahLst/>
            <a:cxnLst/>
            <a:rect l="l" t="t" r="r" b="b"/>
            <a:pathLst>
              <a:path w="215265" h="318135">
                <a:moveTo>
                  <a:pt x="215105" y="0"/>
                </a:moveTo>
                <a:lnTo>
                  <a:pt x="0" y="31777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414504" y="4194371"/>
            <a:ext cx="235585" cy="529590"/>
          </a:xfrm>
          <a:custGeom>
            <a:avLst/>
            <a:gdLst/>
            <a:ahLst/>
            <a:cxnLst/>
            <a:rect l="l" t="t" r="r" b="b"/>
            <a:pathLst>
              <a:path w="235584" h="529589">
                <a:moveTo>
                  <a:pt x="0" y="0"/>
                </a:moveTo>
                <a:lnTo>
                  <a:pt x="235500" y="52901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25912" y="4836426"/>
            <a:ext cx="345440" cy="336550"/>
          </a:xfrm>
          <a:custGeom>
            <a:avLst/>
            <a:gdLst/>
            <a:ahLst/>
            <a:cxnLst/>
            <a:rect l="l" t="t" r="r" b="b"/>
            <a:pathLst>
              <a:path w="345440" h="336550">
                <a:moveTo>
                  <a:pt x="345283" y="0"/>
                </a:moveTo>
                <a:lnTo>
                  <a:pt x="0" y="33620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490342" y="5343923"/>
            <a:ext cx="360680" cy="320040"/>
          </a:xfrm>
          <a:custGeom>
            <a:avLst/>
            <a:gdLst/>
            <a:ahLst/>
            <a:cxnLst/>
            <a:rect l="l" t="t" r="r" b="b"/>
            <a:pathLst>
              <a:path w="360679" h="320039">
                <a:moveTo>
                  <a:pt x="0" y="319884"/>
                </a:moveTo>
                <a:lnTo>
                  <a:pt x="360459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78480" y="5283343"/>
            <a:ext cx="192405" cy="332740"/>
          </a:xfrm>
          <a:custGeom>
            <a:avLst/>
            <a:gdLst/>
            <a:ahLst/>
            <a:cxnLst/>
            <a:rect l="l" t="t" r="r" b="b"/>
            <a:pathLst>
              <a:path w="192404" h="332739">
                <a:moveTo>
                  <a:pt x="191836" y="33234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51647" y="4242815"/>
            <a:ext cx="280416" cy="2834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00207" y="426746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3" y="9116"/>
                </a:lnTo>
                <a:lnTo>
                  <a:pt x="22133" y="31296"/>
                </a:lnTo>
                <a:lnTo>
                  <a:pt x="4240" y="62891"/>
                </a:lnTo>
                <a:lnTo>
                  <a:pt x="0" y="97688"/>
                </a:lnTo>
                <a:lnTo>
                  <a:pt x="9116" y="131536"/>
                </a:lnTo>
                <a:lnTo>
                  <a:pt x="31295" y="160286"/>
                </a:lnTo>
                <a:lnTo>
                  <a:pt x="62891" y="178179"/>
                </a:lnTo>
                <a:lnTo>
                  <a:pt x="97688" y="182420"/>
                </a:lnTo>
                <a:lnTo>
                  <a:pt x="131537" y="173303"/>
                </a:lnTo>
                <a:lnTo>
                  <a:pt x="160287" y="151124"/>
                </a:lnTo>
                <a:lnTo>
                  <a:pt x="178180" y="119528"/>
                </a:lnTo>
                <a:lnTo>
                  <a:pt x="182420" y="84732"/>
                </a:lnTo>
                <a:lnTo>
                  <a:pt x="173304" y="50884"/>
                </a:lnTo>
                <a:lnTo>
                  <a:pt x="151125" y="22134"/>
                </a:lnTo>
                <a:lnTo>
                  <a:pt x="119529" y="4241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00207" y="426746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66431" y="3986784"/>
            <a:ext cx="283464" cy="2834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16816" y="401195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3" y="9116"/>
                </a:lnTo>
                <a:lnTo>
                  <a:pt x="22133" y="31295"/>
                </a:lnTo>
                <a:lnTo>
                  <a:pt x="4240" y="62891"/>
                </a:lnTo>
                <a:lnTo>
                  <a:pt x="0" y="97688"/>
                </a:lnTo>
                <a:lnTo>
                  <a:pt x="9116" y="131537"/>
                </a:lnTo>
                <a:lnTo>
                  <a:pt x="31295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7" y="151125"/>
                </a:lnTo>
                <a:lnTo>
                  <a:pt x="178180" y="119529"/>
                </a:lnTo>
                <a:lnTo>
                  <a:pt x="182420" y="84732"/>
                </a:lnTo>
                <a:lnTo>
                  <a:pt x="173304" y="50883"/>
                </a:lnTo>
                <a:lnTo>
                  <a:pt x="151125" y="22133"/>
                </a:lnTo>
                <a:lnTo>
                  <a:pt x="119529" y="4240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16816" y="401195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375799" y="5217608"/>
            <a:ext cx="180340" cy="354330"/>
          </a:xfrm>
          <a:custGeom>
            <a:avLst/>
            <a:gdLst/>
            <a:ahLst/>
            <a:cxnLst/>
            <a:rect l="l" t="t" r="r" b="b"/>
            <a:pathLst>
              <a:path w="180340" h="354329">
                <a:moveTo>
                  <a:pt x="0" y="353992"/>
                </a:moveTo>
                <a:lnTo>
                  <a:pt x="17985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026473" y="5305311"/>
            <a:ext cx="287020" cy="297815"/>
          </a:xfrm>
          <a:custGeom>
            <a:avLst/>
            <a:gdLst/>
            <a:ahLst/>
            <a:cxnLst/>
            <a:rect l="l" t="t" r="r" b="b"/>
            <a:pathLst>
              <a:path w="287020" h="297814">
                <a:moveTo>
                  <a:pt x="286728" y="29758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022442" y="5132875"/>
            <a:ext cx="435609" cy="102870"/>
          </a:xfrm>
          <a:custGeom>
            <a:avLst/>
            <a:gdLst/>
            <a:ahLst/>
            <a:cxnLst/>
            <a:rect l="l" t="t" r="r" b="b"/>
            <a:pathLst>
              <a:path w="435609" h="102870">
                <a:moveTo>
                  <a:pt x="435522" y="0"/>
                </a:moveTo>
                <a:lnTo>
                  <a:pt x="0" y="1025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40296" y="4905807"/>
            <a:ext cx="222885" cy="709295"/>
          </a:xfrm>
          <a:custGeom>
            <a:avLst/>
            <a:gdLst/>
            <a:ahLst/>
            <a:cxnLst/>
            <a:rect l="l" t="t" r="r" b="b"/>
            <a:pathLst>
              <a:path w="222884" h="709295">
                <a:moveTo>
                  <a:pt x="0" y="709079"/>
                </a:moveTo>
                <a:lnTo>
                  <a:pt x="22266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01256" y="5096255"/>
            <a:ext cx="283464" cy="283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52242" y="512108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6717" y="0"/>
                </a:moveTo>
                <a:lnTo>
                  <a:pt x="51546" y="9022"/>
                </a:lnTo>
                <a:lnTo>
                  <a:pt x="22629" y="30984"/>
                </a:lnTo>
                <a:lnTo>
                  <a:pt x="4991" y="61278"/>
                </a:lnTo>
                <a:lnTo>
                  <a:pt x="0" y="95975"/>
                </a:lnTo>
                <a:lnTo>
                  <a:pt x="9022" y="131147"/>
                </a:lnTo>
                <a:lnTo>
                  <a:pt x="30984" y="160063"/>
                </a:lnTo>
                <a:lnTo>
                  <a:pt x="61278" y="177701"/>
                </a:lnTo>
                <a:lnTo>
                  <a:pt x="95975" y="182693"/>
                </a:lnTo>
                <a:lnTo>
                  <a:pt x="131147" y="173670"/>
                </a:lnTo>
                <a:lnTo>
                  <a:pt x="160063" y="151708"/>
                </a:lnTo>
                <a:lnTo>
                  <a:pt x="177701" y="121415"/>
                </a:lnTo>
                <a:lnTo>
                  <a:pt x="182693" y="86717"/>
                </a:lnTo>
                <a:lnTo>
                  <a:pt x="173670" y="51546"/>
                </a:lnTo>
                <a:lnTo>
                  <a:pt x="151708" y="22629"/>
                </a:lnTo>
                <a:lnTo>
                  <a:pt x="121415" y="4991"/>
                </a:lnTo>
                <a:lnTo>
                  <a:pt x="867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052242" y="512108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022" y="131147"/>
                </a:moveTo>
                <a:lnTo>
                  <a:pt x="0" y="95975"/>
                </a:lnTo>
                <a:lnTo>
                  <a:pt x="4991" y="61278"/>
                </a:lnTo>
                <a:lnTo>
                  <a:pt x="22629" y="30984"/>
                </a:lnTo>
                <a:lnTo>
                  <a:pt x="51545" y="9022"/>
                </a:lnTo>
                <a:lnTo>
                  <a:pt x="86717" y="0"/>
                </a:lnTo>
                <a:lnTo>
                  <a:pt x="121414" y="4991"/>
                </a:lnTo>
                <a:lnTo>
                  <a:pt x="151708" y="22629"/>
                </a:lnTo>
                <a:lnTo>
                  <a:pt x="173670" y="51545"/>
                </a:lnTo>
                <a:lnTo>
                  <a:pt x="182692" y="86717"/>
                </a:lnTo>
                <a:lnTo>
                  <a:pt x="177701" y="121414"/>
                </a:lnTo>
                <a:lnTo>
                  <a:pt x="160063" y="151708"/>
                </a:lnTo>
                <a:lnTo>
                  <a:pt x="131147" y="173670"/>
                </a:lnTo>
                <a:lnTo>
                  <a:pt x="95975" y="182692"/>
                </a:lnTo>
                <a:lnTo>
                  <a:pt x="61278" y="177701"/>
                </a:lnTo>
                <a:lnTo>
                  <a:pt x="30984" y="160063"/>
                </a:lnTo>
                <a:lnTo>
                  <a:pt x="9022" y="131147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409431" y="5010911"/>
            <a:ext cx="280416" cy="2804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457964" y="503518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4" y="9116"/>
                </a:lnTo>
                <a:lnTo>
                  <a:pt x="22134" y="31295"/>
                </a:lnTo>
                <a:lnTo>
                  <a:pt x="4241" y="62891"/>
                </a:lnTo>
                <a:lnTo>
                  <a:pt x="0" y="97688"/>
                </a:lnTo>
                <a:lnTo>
                  <a:pt x="9116" y="131536"/>
                </a:lnTo>
                <a:lnTo>
                  <a:pt x="31296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6" y="151125"/>
                </a:lnTo>
                <a:lnTo>
                  <a:pt x="178179" y="119529"/>
                </a:lnTo>
                <a:lnTo>
                  <a:pt x="182420" y="84732"/>
                </a:lnTo>
                <a:lnTo>
                  <a:pt x="173303" y="50883"/>
                </a:lnTo>
                <a:lnTo>
                  <a:pt x="151124" y="22133"/>
                </a:lnTo>
                <a:lnTo>
                  <a:pt x="119528" y="4240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457965" y="503518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16368" y="4696967"/>
            <a:ext cx="280416" cy="283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65272" y="472338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4" y="9116"/>
                </a:lnTo>
                <a:lnTo>
                  <a:pt x="22134" y="31295"/>
                </a:lnTo>
                <a:lnTo>
                  <a:pt x="4241" y="62891"/>
                </a:lnTo>
                <a:lnTo>
                  <a:pt x="0" y="97688"/>
                </a:lnTo>
                <a:lnTo>
                  <a:pt x="9116" y="131537"/>
                </a:lnTo>
                <a:lnTo>
                  <a:pt x="31296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6" y="151125"/>
                </a:lnTo>
                <a:lnTo>
                  <a:pt x="178179" y="119529"/>
                </a:lnTo>
                <a:lnTo>
                  <a:pt x="182420" y="84732"/>
                </a:lnTo>
                <a:lnTo>
                  <a:pt x="173303" y="50883"/>
                </a:lnTo>
                <a:lnTo>
                  <a:pt x="151124" y="22133"/>
                </a:lnTo>
                <a:lnTo>
                  <a:pt x="119528" y="4240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565273" y="472338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66431" y="5583935"/>
            <a:ext cx="280416" cy="2834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314805" y="5608297"/>
            <a:ext cx="183515" cy="183515"/>
          </a:xfrm>
          <a:custGeom>
            <a:avLst/>
            <a:gdLst/>
            <a:ahLst/>
            <a:cxnLst/>
            <a:rect l="l" t="t" r="r" b="b"/>
            <a:pathLst>
              <a:path w="183515" h="183514">
                <a:moveTo>
                  <a:pt x="91062" y="0"/>
                </a:moveTo>
                <a:lnTo>
                  <a:pt x="55511" y="7386"/>
                </a:lnTo>
                <a:lnTo>
                  <a:pt x="25610" y="27988"/>
                </a:lnTo>
                <a:lnTo>
                  <a:pt x="6590" y="57433"/>
                </a:lnTo>
                <a:lnTo>
                  <a:pt x="0" y="91863"/>
                </a:lnTo>
                <a:lnTo>
                  <a:pt x="7387" y="127414"/>
                </a:lnTo>
                <a:lnTo>
                  <a:pt x="27988" y="157315"/>
                </a:lnTo>
                <a:lnTo>
                  <a:pt x="57433" y="176335"/>
                </a:lnTo>
                <a:lnTo>
                  <a:pt x="91862" y="182925"/>
                </a:lnTo>
                <a:lnTo>
                  <a:pt x="127413" y="175538"/>
                </a:lnTo>
                <a:lnTo>
                  <a:pt x="157314" y="154937"/>
                </a:lnTo>
                <a:lnTo>
                  <a:pt x="176334" y="125491"/>
                </a:lnTo>
                <a:lnTo>
                  <a:pt x="182925" y="91062"/>
                </a:lnTo>
                <a:lnTo>
                  <a:pt x="175537" y="55511"/>
                </a:lnTo>
                <a:lnTo>
                  <a:pt x="154937" y="25610"/>
                </a:lnTo>
                <a:lnTo>
                  <a:pt x="125491" y="6590"/>
                </a:lnTo>
                <a:lnTo>
                  <a:pt x="910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14805" y="5608297"/>
            <a:ext cx="183515" cy="183515"/>
          </a:xfrm>
          <a:custGeom>
            <a:avLst/>
            <a:gdLst/>
            <a:ahLst/>
            <a:cxnLst/>
            <a:rect l="l" t="t" r="r" b="b"/>
            <a:pathLst>
              <a:path w="183515" h="183514">
                <a:moveTo>
                  <a:pt x="175538" y="55511"/>
                </a:moveTo>
                <a:lnTo>
                  <a:pt x="182925" y="91062"/>
                </a:lnTo>
                <a:lnTo>
                  <a:pt x="176335" y="125491"/>
                </a:lnTo>
                <a:lnTo>
                  <a:pt x="157315" y="154937"/>
                </a:lnTo>
                <a:lnTo>
                  <a:pt x="127414" y="175538"/>
                </a:lnTo>
                <a:lnTo>
                  <a:pt x="91863" y="182925"/>
                </a:lnTo>
                <a:lnTo>
                  <a:pt x="57433" y="176335"/>
                </a:lnTo>
                <a:lnTo>
                  <a:pt x="27988" y="157315"/>
                </a:lnTo>
                <a:lnTo>
                  <a:pt x="7386" y="127414"/>
                </a:lnTo>
                <a:lnTo>
                  <a:pt x="0" y="91863"/>
                </a:lnTo>
                <a:lnTo>
                  <a:pt x="6590" y="57433"/>
                </a:lnTo>
                <a:lnTo>
                  <a:pt x="25610" y="27988"/>
                </a:lnTo>
                <a:lnTo>
                  <a:pt x="55511" y="7386"/>
                </a:lnTo>
                <a:lnTo>
                  <a:pt x="91062" y="0"/>
                </a:lnTo>
                <a:lnTo>
                  <a:pt x="125491" y="6590"/>
                </a:lnTo>
                <a:lnTo>
                  <a:pt x="154937" y="25610"/>
                </a:lnTo>
                <a:lnTo>
                  <a:pt x="175538" y="55511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241792" y="5547359"/>
            <a:ext cx="280416" cy="2804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291067" y="557159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1" y="0"/>
                </a:moveTo>
                <a:lnTo>
                  <a:pt x="50883" y="9116"/>
                </a:lnTo>
                <a:lnTo>
                  <a:pt x="22133" y="31295"/>
                </a:lnTo>
                <a:lnTo>
                  <a:pt x="4240" y="62891"/>
                </a:lnTo>
                <a:lnTo>
                  <a:pt x="0" y="97688"/>
                </a:lnTo>
                <a:lnTo>
                  <a:pt x="9116" y="131536"/>
                </a:lnTo>
                <a:lnTo>
                  <a:pt x="31295" y="160286"/>
                </a:lnTo>
                <a:lnTo>
                  <a:pt x="62891" y="178179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5" y="151124"/>
                </a:lnTo>
                <a:lnTo>
                  <a:pt x="178179" y="119528"/>
                </a:lnTo>
                <a:lnTo>
                  <a:pt x="182420" y="84732"/>
                </a:lnTo>
                <a:lnTo>
                  <a:pt x="173304" y="50883"/>
                </a:lnTo>
                <a:lnTo>
                  <a:pt x="151125" y="22134"/>
                </a:lnTo>
                <a:lnTo>
                  <a:pt x="119528" y="4241"/>
                </a:lnTo>
                <a:lnTo>
                  <a:pt x="84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291067" y="557159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799831" y="5160264"/>
            <a:ext cx="280416" cy="28041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48772" y="518389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6717" y="0"/>
                </a:moveTo>
                <a:lnTo>
                  <a:pt x="51546" y="9023"/>
                </a:lnTo>
                <a:lnTo>
                  <a:pt x="22629" y="30984"/>
                </a:lnTo>
                <a:lnTo>
                  <a:pt x="4991" y="61278"/>
                </a:lnTo>
                <a:lnTo>
                  <a:pt x="0" y="95974"/>
                </a:lnTo>
                <a:lnTo>
                  <a:pt x="9022" y="131146"/>
                </a:lnTo>
                <a:lnTo>
                  <a:pt x="30984" y="160062"/>
                </a:lnTo>
                <a:lnTo>
                  <a:pt x="61278" y="177700"/>
                </a:lnTo>
                <a:lnTo>
                  <a:pt x="95975" y="182692"/>
                </a:lnTo>
                <a:lnTo>
                  <a:pt x="131147" y="173670"/>
                </a:lnTo>
                <a:lnTo>
                  <a:pt x="160063" y="151708"/>
                </a:lnTo>
                <a:lnTo>
                  <a:pt x="177701" y="121414"/>
                </a:lnTo>
                <a:lnTo>
                  <a:pt x="182693" y="86717"/>
                </a:lnTo>
                <a:lnTo>
                  <a:pt x="173670" y="51545"/>
                </a:lnTo>
                <a:lnTo>
                  <a:pt x="151708" y="22629"/>
                </a:lnTo>
                <a:lnTo>
                  <a:pt x="121415" y="4991"/>
                </a:lnTo>
                <a:lnTo>
                  <a:pt x="867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48772" y="518389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9022" y="131147"/>
                </a:moveTo>
                <a:lnTo>
                  <a:pt x="0" y="95975"/>
                </a:lnTo>
                <a:lnTo>
                  <a:pt x="4991" y="61278"/>
                </a:lnTo>
                <a:lnTo>
                  <a:pt x="22629" y="30984"/>
                </a:lnTo>
                <a:lnTo>
                  <a:pt x="51545" y="9022"/>
                </a:lnTo>
                <a:lnTo>
                  <a:pt x="86717" y="0"/>
                </a:lnTo>
                <a:lnTo>
                  <a:pt x="121414" y="4991"/>
                </a:lnTo>
                <a:lnTo>
                  <a:pt x="151708" y="22629"/>
                </a:lnTo>
                <a:lnTo>
                  <a:pt x="173670" y="51545"/>
                </a:lnTo>
                <a:lnTo>
                  <a:pt x="182692" y="86717"/>
                </a:lnTo>
                <a:lnTo>
                  <a:pt x="177701" y="121414"/>
                </a:lnTo>
                <a:lnTo>
                  <a:pt x="160063" y="151708"/>
                </a:lnTo>
                <a:lnTo>
                  <a:pt x="131147" y="173670"/>
                </a:lnTo>
                <a:lnTo>
                  <a:pt x="95975" y="182692"/>
                </a:lnTo>
                <a:lnTo>
                  <a:pt x="61278" y="177701"/>
                </a:lnTo>
                <a:lnTo>
                  <a:pt x="30984" y="160063"/>
                </a:lnTo>
                <a:lnTo>
                  <a:pt x="9022" y="131147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150352" y="4520184"/>
            <a:ext cx="280416" cy="28041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199857" y="454377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84732" y="0"/>
                </a:moveTo>
                <a:lnTo>
                  <a:pt x="50883" y="9116"/>
                </a:lnTo>
                <a:lnTo>
                  <a:pt x="22133" y="31295"/>
                </a:lnTo>
                <a:lnTo>
                  <a:pt x="4240" y="62891"/>
                </a:lnTo>
                <a:lnTo>
                  <a:pt x="0" y="97688"/>
                </a:lnTo>
                <a:lnTo>
                  <a:pt x="9116" y="131537"/>
                </a:lnTo>
                <a:lnTo>
                  <a:pt x="31295" y="160287"/>
                </a:lnTo>
                <a:lnTo>
                  <a:pt x="62891" y="178180"/>
                </a:lnTo>
                <a:lnTo>
                  <a:pt x="97688" y="182420"/>
                </a:lnTo>
                <a:lnTo>
                  <a:pt x="131536" y="173304"/>
                </a:lnTo>
                <a:lnTo>
                  <a:pt x="160287" y="151125"/>
                </a:lnTo>
                <a:lnTo>
                  <a:pt x="178180" y="119529"/>
                </a:lnTo>
                <a:lnTo>
                  <a:pt x="182420" y="84732"/>
                </a:lnTo>
                <a:lnTo>
                  <a:pt x="173304" y="50884"/>
                </a:lnTo>
                <a:lnTo>
                  <a:pt x="151125" y="22133"/>
                </a:lnTo>
                <a:lnTo>
                  <a:pt x="119529" y="4240"/>
                </a:lnTo>
                <a:lnTo>
                  <a:pt x="84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199857" y="454377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79" h="182879">
                <a:moveTo>
                  <a:pt x="22134" y="31295"/>
                </a:moveTo>
                <a:lnTo>
                  <a:pt x="50883" y="9116"/>
                </a:lnTo>
                <a:lnTo>
                  <a:pt x="84732" y="0"/>
                </a:lnTo>
                <a:lnTo>
                  <a:pt x="119528" y="4240"/>
                </a:lnTo>
                <a:lnTo>
                  <a:pt x="151124" y="22134"/>
                </a:lnTo>
                <a:lnTo>
                  <a:pt x="173303" y="50883"/>
                </a:lnTo>
                <a:lnTo>
                  <a:pt x="182420" y="84732"/>
                </a:lnTo>
                <a:lnTo>
                  <a:pt x="178179" y="119528"/>
                </a:lnTo>
                <a:lnTo>
                  <a:pt x="160286" y="151124"/>
                </a:lnTo>
                <a:lnTo>
                  <a:pt x="131536" y="173303"/>
                </a:lnTo>
                <a:lnTo>
                  <a:pt x="97688" y="182420"/>
                </a:lnTo>
                <a:lnTo>
                  <a:pt x="62891" y="178179"/>
                </a:lnTo>
                <a:lnTo>
                  <a:pt x="31295" y="160286"/>
                </a:lnTo>
                <a:lnTo>
                  <a:pt x="9116" y="131536"/>
                </a:lnTo>
                <a:lnTo>
                  <a:pt x="0" y="97688"/>
                </a:lnTo>
                <a:lnTo>
                  <a:pt x="4240" y="62891"/>
                </a:lnTo>
                <a:lnTo>
                  <a:pt x="22134" y="31295"/>
                </a:lnTo>
                <a:close/>
              </a:path>
            </a:pathLst>
          </a:custGeom>
          <a:ln w="634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908214" y="4574540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73615" y="6699893"/>
            <a:ext cx="43434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6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12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8722872" y="6723724"/>
            <a:ext cx="13716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30</a:t>
            </a:r>
            <a:endParaRPr sz="900">
              <a:latin typeface="Corbel"/>
              <a:cs typeface="Corbel"/>
            </a:endParaRPr>
          </a:p>
        </p:txBody>
      </p:sp>
      <p:sp>
        <p:nvSpPr>
          <p:cNvPr id="50" name="object 50"/>
          <p:cNvSpPr txBox="1"/>
          <p:nvPr/>
        </p:nvSpPr>
        <p:spPr>
          <a:xfrm rot="3300000">
            <a:off x="8291477" y="4740129"/>
            <a:ext cx="275095" cy="228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00"/>
              </a:lnSpc>
            </a:pPr>
            <a:r>
              <a:rPr dirty="0" sz="1800" b="1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376159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95300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Distance-based</a:t>
            </a:r>
            <a:r>
              <a:rPr dirty="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feature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Local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neighborhood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overlap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327148"/>
            <a:ext cx="51771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Global neighborhood</a:t>
            </a:r>
            <a:r>
              <a:rPr dirty="0" sz="3200" spc="-10">
                <a:latin typeface="Calibri"/>
                <a:cs typeface="Calibri"/>
              </a:rPr>
              <a:t> overlap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2841" y="4216825"/>
            <a:ext cx="906144" cy="828040"/>
          </a:xfrm>
          <a:custGeom>
            <a:avLst/>
            <a:gdLst/>
            <a:ahLst/>
            <a:cxnLst/>
            <a:rect l="l" t="t" r="r" b="b"/>
            <a:pathLst>
              <a:path w="906144" h="828039">
                <a:moveTo>
                  <a:pt x="0" y="0"/>
                </a:moveTo>
                <a:lnTo>
                  <a:pt x="905710" y="8275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5929" y="3651969"/>
            <a:ext cx="314325" cy="1557020"/>
          </a:xfrm>
          <a:custGeom>
            <a:avLst/>
            <a:gdLst/>
            <a:ahLst/>
            <a:cxnLst/>
            <a:rect l="l" t="t" r="r" b="b"/>
            <a:pathLst>
              <a:path w="314325" h="1557020">
                <a:moveTo>
                  <a:pt x="0" y="1556998"/>
                </a:moveTo>
                <a:lnTo>
                  <a:pt x="313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87147" y="3909495"/>
            <a:ext cx="1395730" cy="583565"/>
          </a:xfrm>
          <a:custGeom>
            <a:avLst/>
            <a:gdLst/>
            <a:ahLst/>
            <a:cxnLst/>
            <a:rect l="l" t="t" r="r" b="b"/>
            <a:pathLst>
              <a:path w="1395729" h="583564">
                <a:moveTo>
                  <a:pt x="0" y="583385"/>
                </a:moveTo>
                <a:lnTo>
                  <a:pt x="13957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87579" y="4499788"/>
            <a:ext cx="1120140" cy="479425"/>
          </a:xfrm>
          <a:custGeom>
            <a:avLst/>
            <a:gdLst/>
            <a:ahLst/>
            <a:cxnLst/>
            <a:rect l="l" t="t" r="r" b="b"/>
            <a:pathLst>
              <a:path w="1120139" h="479425">
                <a:moveTo>
                  <a:pt x="0" y="0"/>
                </a:moveTo>
                <a:lnTo>
                  <a:pt x="1119841" y="4790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14816" y="4499564"/>
            <a:ext cx="649605" cy="635"/>
          </a:xfrm>
          <a:custGeom>
            <a:avLst/>
            <a:gdLst/>
            <a:ahLst/>
            <a:cxnLst/>
            <a:rect l="l" t="t" r="r" b="b"/>
            <a:pathLst>
              <a:path w="649604" h="635">
                <a:moveTo>
                  <a:pt x="0" y="628"/>
                </a:moveTo>
                <a:lnTo>
                  <a:pt x="64959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01661" y="4719613"/>
            <a:ext cx="981710" cy="833119"/>
          </a:xfrm>
          <a:custGeom>
            <a:avLst/>
            <a:gdLst/>
            <a:ahLst/>
            <a:cxnLst/>
            <a:rect l="l" t="t" r="r" b="b"/>
            <a:pathLst>
              <a:path w="981710" h="833120">
                <a:moveTo>
                  <a:pt x="0" y="0"/>
                </a:moveTo>
                <a:lnTo>
                  <a:pt x="981286" y="8325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09776" y="3592786"/>
            <a:ext cx="635000" cy="962025"/>
          </a:xfrm>
          <a:custGeom>
            <a:avLst/>
            <a:gdLst/>
            <a:ahLst/>
            <a:cxnLst/>
            <a:rect l="l" t="t" r="r" b="b"/>
            <a:pathLst>
              <a:path w="635000" h="962025">
                <a:moveTo>
                  <a:pt x="634387" y="96195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96111" y="4719613"/>
            <a:ext cx="790575" cy="505459"/>
          </a:xfrm>
          <a:custGeom>
            <a:avLst/>
            <a:gdLst/>
            <a:ahLst/>
            <a:cxnLst/>
            <a:rect l="l" t="t" r="r" b="b"/>
            <a:pathLst>
              <a:path w="790575" h="505460">
                <a:moveTo>
                  <a:pt x="0" y="505457"/>
                </a:moveTo>
                <a:lnTo>
                  <a:pt x="79054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73189" y="4975796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2"/>
                </a:lnTo>
                <a:lnTo>
                  <a:pt x="17504" y="323931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8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8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1"/>
                </a:lnTo>
                <a:lnTo>
                  <a:pt x="440955" y="280162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73189" y="4975796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00679" y="5059171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52600" y="381877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52600" y="381877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287036" y="335961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20"/>
                </a:lnTo>
                <a:lnTo>
                  <a:pt x="177850" y="461606"/>
                </a:lnTo>
                <a:lnTo>
                  <a:pt x="222740" y="466344"/>
                </a:lnTo>
                <a:lnTo>
                  <a:pt x="267630" y="461606"/>
                </a:lnTo>
                <a:lnTo>
                  <a:pt x="309440" y="448020"/>
                </a:lnTo>
                <a:lnTo>
                  <a:pt x="347276" y="426521"/>
                </a:lnTo>
                <a:lnTo>
                  <a:pt x="380241" y="398049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2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287036" y="335961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20877" y="344373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21419" y="432156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9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21419" y="432156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048909" y="440385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864407" y="426639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40" y="448020"/>
                </a:lnTo>
                <a:lnTo>
                  <a:pt x="177851" y="461606"/>
                </a:lnTo>
                <a:lnTo>
                  <a:pt x="222741" y="466344"/>
                </a:lnTo>
                <a:lnTo>
                  <a:pt x="267631" y="461606"/>
                </a:lnTo>
                <a:lnTo>
                  <a:pt x="309442" y="448020"/>
                </a:lnTo>
                <a:lnTo>
                  <a:pt x="347277" y="426521"/>
                </a:lnTo>
                <a:lnTo>
                  <a:pt x="380242" y="398049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2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64407" y="426639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4998247" y="434898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217458" y="548406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40" y="448019"/>
                </a:lnTo>
                <a:lnTo>
                  <a:pt x="177851" y="461606"/>
                </a:lnTo>
                <a:lnTo>
                  <a:pt x="222741" y="466343"/>
                </a:lnTo>
                <a:lnTo>
                  <a:pt x="267631" y="461606"/>
                </a:lnTo>
                <a:lnTo>
                  <a:pt x="309442" y="448019"/>
                </a:lnTo>
                <a:lnTo>
                  <a:pt x="347277" y="426521"/>
                </a:lnTo>
                <a:lnTo>
                  <a:pt x="380242" y="398049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17458" y="548406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344948" y="556818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60118" y="3651968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1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260118" y="3651968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400308" y="373634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07422" y="474570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2"/>
                </a:lnTo>
                <a:lnTo>
                  <a:pt x="440955" y="280163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207422" y="474570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328562" y="4827523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85667" y="3087341"/>
            <a:ext cx="1887220" cy="1113790"/>
          </a:xfrm>
          <a:prstGeom prst="rect">
            <a:avLst/>
          </a:prstGeom>
        </p:spPr>
        <p:txBody>
          <a:bodyPr wrap="square" lIns="0" tIns="2482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55"/>
              </a:spcBef>
            </a:pPr>
            <a:r>
              <a:rPr dirty="0" sz="2800">
                <a:solidFill>
                  <a:srgbClr val="0000FF"/>
                </a:solidFill>
                <a:latin typeface="Arial"/>
                <a:cs typeface="Arial"/>
              </a:rPr>
              <a:t>Link</a:t>
            </a:r>
            <a:r>
              <a:rPr dirty="0" sz="2800" spc="-5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800" spc="-5">
                <a:solidFill>
                  <a:srgbClr val="0000FF"/>
                </a:solidFill>
                <a:latin typeface="Arial"/>
                <a:cs typeface="Arial"/>
              </a:rPr>
              <a:t>feature</a:t>
            </a:r>
            <a:endParaRPr sz="2800">
              <a:latin typeface="Arial"/>
              <a:cs typeface="Arial"/>
            </a:endParaRPr>
          </a:p>
          <a:p>
            <a:pPr algn="ctr" marL="92075">
              <a:lnSpc>
                <a:spcPct val="100000"/>
              </a:lnSpc>
              <a:spcBef>
                <a:spcPts val="119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64594" y="3626501"/>
            <a:ext cx="1120140" cy="323850"/>
          </a:xfrm>
          <a:custGeom>
            <a:avLst/>
            <a:gdLst/>
            <a:ahLst/>
            <a:cxnLst/>
            <a:rect l="l" t="t" r="r" b="b"/>
            <a:pathLst>
              <a:path w="1120139" h="323850">
                <a:moveTo>
                  <a:pt x="0" y="323594"/>
                </a:moveTo>
                <a:lnTo>
                  <a:pt x="11196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6065520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26694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dirty="0" spc="-20">
                <a:solidFill>
                  <a:srgbClr val="E66C7D"/>
                </a:solidFill>
              </a:rPr>
              <a:t>Shortest-path </a:t>
            </a:r>
            <a:r>
              <a:rPr dirty="0" spc="-15">
                <a:solidFill>
                  <a:srgbClr val="E66C7D"/>
                </a:solidFill>
              </a:rPr>
              <a:t>distance </a:t>
            </a:r>
            <a:r>
              <a:rPr dirty="0" spc="-10">
                <a:solidFill>
                  <a:srgbClr val="E66C7D"/>
                </a:solidFill>
              </a:rPr>
              <a:t>between two</a:t>
            </a:r>
            <a:r>
              <a:rPr dirty="0" spc="50">
                <a:solidFill>
                  <a:srgbClr val="E66C7D"/>
                </a:solidFill>
              </a:rPr>
              <a:t> </a:t>
            </a:r>
            <a:r>
              <a:rPr dirty="0" spc="-5">
                <a:solidFill>
                  <a:srgbClr val="E66C7D"/>
                </a:solidFill>
              </a:rPr>
              <a:t>nodes</a:t>
            </a:r>
          </a:p>
          <a:p>
            <a:pPr marL="332740" indent="-320040">
              <a:lnSpc>
                <a:spcPts val="381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Example: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29898" y="2591307"/>
            <a:ext cx="32416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75">
                <a:latin typeface="Cambria Math"/>
                <a:cs typeface="Cambria Math"/>
              </a:rPr>
              <a:t>𝑆</a:t>
            </a:r>
            <a:r>
              <a:rPr dirty="0" baseline="-16666" sz="3000" spc="262">
                <a:latin typeface="Cambria Math"/>
                <a:cs typeface="Cambria Math"/>
              </a:rPr>
              <a:t>45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100">
                <a:latin typeface="Cambria Math"/>
                <a:cs typeface="Cambria Math"/>
              </a:rPr>
              <a:t>𝑆</a:t>
            </a:r>
            <a:r>
              <a:rPr dirty="0" baseline="-16666" sz="3000" spc="150">
                <a:latin typeface="Cambria Math"/>
                <a:cs typeface="Cambria Math"/>
              </a:rPr>
              <a:t>46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75">
                <a:latin typeface="Cambria Math"/>
                <a:cs typeface="Cambria Math"/>
              </a:rPr>
              <a:t>𝑆</a:t>
            </a:r>
            <a:r>
              <a:rPr dirty="0" baseline="-16666" sz="3000" spc="112">
                <a:latin typeface="Cambria Math"/>
                <a:cs typeface="Cambria Math"/>
              </a:rPr>
              <a:t>74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31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2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11693" y="3056395"/>
            <a:ext cx="697230" cy="631190"/>
          </a:xfrm>
          <a:custGeom>
            <a:avLst/>
            <a:gdLst/>
            <a:ahLst/>
            <a:cxnLst/>
            <a:rect l="l" t="t" r="r" b="b"/>
            <a:pathLst>
              <a:path w="697230" h="631189">
                <a:moveTo>
                  <a:pt x="0" y="0"/>
                </a:moveTo>
                <a:lnTo>
                  <a:pt x="696700" y="63067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29454" y="2625932"/>
            <a:ext cx="241935" cy="1186815"/>
          </a:xfrm>
          <a:custGeom>
            <a:avLst/>
            <a:gdLst/>
            <a:ahLst/>
            <a:cxnLst/>
            <a:rect l="l" t="t" r="r" b="b"/>
            <a:pathLst>
              <a:path w="241935" h="1186814">
                <a:moveTo>
                  <a:pt x="0" y="1186550"/>
                </a:moveTo>
                <a:lnTo>
                  <a:pt x="24142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84236" y="2822187"/>
            <a:ext cx="1073785" cy="445134"/>
          </a:xfrm>
          <a:custGeom>
            <a:avLst/>
            <a:gdLst/>
            <a:ahLst/>
            <a:cxnLst/>
            <a:rect l="l" t="t" r="r" b="b"/>
            <a:pathLst>
              <a:path w="1073785" h="445135">
                <a:moveTo>
                  <a:pt x="0" y="444584"/>
                </a:moveTo>
                <a:lnTo>
                  <a:pt x="10736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784569" y="3272035"/>
            <a:ext cx="861694" cy="365125"/>
          </a:xfrm>
          <a:custGeom>
            <a:avLst/>
            <a:gdLst/>
            <a:ahLst/>
            <a:cxnLst/>
            <a:rect l="l" t="t" r="r" b="b"/>
            <a:pathLst>
              <a:path w="861695" h="365125">
                <a:moveTo>
                  <a:pt x="0" y="0"/>
                </a:moveTo>
                <a:lnTo>
                  <a:pt x="861416" y="3650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13211" y="3271865"/>
            <a:ext cx="499745" cy="635"/>
          </a:xfrm>
          <a:custGeom>
            <a:avLst/>
            <a:gdLst/>
            <a:ahLst/>
            <a:cxnLst/>
            <a:rect l="l" t="t" r="r" b="b"/>
            <a:pathLst>
              <a:path w="499745" h="635">
                <a:moveTo>
                  <a:pt x="0" y="479"/>
                </a:moveTo>
                <a:lnTo>
                  <a:pt x="49968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80016" y="3439558"/>
            <a:ext cx="755015" cy="635000"/>
          </a:xfrm>
          <a:custGeom>
            <a:avLst/>
            <a:gdLst/>
            <a:ahLst/>
            <a:cxnLst/>
            <a:rect l="l" t="t" r="r" b="b"/>
            <a:pathLst>
              <a:path w="755014" h="635000">
                <a:moveTo>
                  <a:pt x="0" y="0"/>
                </a:moveTo>
                <a:lnTo>
                  <a:pt x="754835" y="6344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70874" y="2580830"/>
            <a:ext cx="488315" cy="733425"/>
          </a:xfrm>
          <a:custGeom>
            <a:avLst/>
            <a:gdLst/>
            <a:ahLst/>
            <a:cxnLst/>
            <a:rect l="l" t="t" r="r" b="b"/>
            <a:pathLst>
              <a:path w="488314" h="733425">
                <a:moveTo>
                  <a:pt x="487990" y="73308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29594" y="3439559"/>
            <a:ext cx="608330" cy="385445"/>
          </a:xfrm>
          <a:custGeom>
            <a:avLst/>
            <a:gdLst/>
            <a:ahLst/>
            <a:cxnLst/>
            <a:rect l="l" t="t" r="r" b="b"/>
            <a:pathLst>
              <a:path w="608330" h="385445">
                <a:moveTo>
                  <a:pt x="0" y="385197"/>
                </a:moveTo>
                <a:lnTo>
                  <a:pt x="6081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58114" y="3634789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9" y="0"/>
                </a:moveTo>
                <a:lnTo>
                  <a:pt x="125790" y="6347"/>
                </a:lnTo>
                <a:lnTo>
                  <a:pt x="84861" y="24260"/>
                </a:lnTo>
                <a:lnTo>
                  <a:pt x="50184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4" y="303342"/>
                </a:lnTo>
                <a:lnTo>
                  <a:pt x="84861" y="331127"/>
                </a:lnTo>
                <a:lnTo>
                  <a:pt x="125790" y="349040"/>
                </a:lnTo>
                <a:lnTo>
                  <a:pt x="171339" y="355387"/>
                </a:lnTo>
                <a:lnTo>
                  <a:pt x="216888" y="349040"/>
                </a:lnTo>
                <a:lnTo>
                  <a:pt x="257817" y="331127"/>
                </a:lnTo>
                <a:lnTo>
                  <a:pt x="292494" y="303342"/>
                </a:lnTo>
                <a:lnTo>
                  <a:pt x="319285" y="267380"/>
                </a:lnTo>
                <a:lnTo>
                  <a:pt x="336557" y="224932"/>
                </a:lnTo>
                <a:lnTo>
                  <a:pt x="342677" y="177694"/>
                </a:lnTo>
                <a:lnTo>
                  <a:pt x="336557" y="130456"/>
                </a:lnTo>
                <a:lnTo>
                  <a:pt x="319285" y="88008"/>
                </a:lnTo>
                <a:lnTo>
                  <a:pt x="292494" y="52045"/>
                </a:lnTo>
                <a:lnTo>
                  <a:pt x="257817" y="24260"/>
                </a:lnTo>
                <a:lnTo>
                  <a:pt x="216888" y="6347"/>
                </a:lnTo>
                <a:lnTo>
                  <a:pt x="1713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58114" y="3634789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234204" y="366318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19200" y="2753051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9" y="0"/>
                </a:moveTo>
                <a:lnTo>
                  <a:pt x="125790" y="6347"/>
                </a:lnTo>
                <a:lnTo>
                  <a:pt x="84860" y="24260"/>
                </a:lnTo>
                <a:lnTo>
                  <a:pt x="50183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3" y="303343"/>
                </a:lnTo>
                <a:lnTo>
                  <a:pt x="84860" y="331128"/>
                </a:lnTo>
                <a:lnTo>
                  <a:pt x="125790" y="349041"/>
                </a:lnTo>
                <a:lnTo>
                  <a:pt x="171339" y="355389"/>
                </a:lnTo>
                <a:lnTo>
                  <a:pt x="216888" y="349041"/>
                </a:lnTo>
                <a:lnTo>
                  <a:pt x="257817" y="331128"/>
                </a:lnTo>
                <a:lnTo>
                  <a:pt x="292494" y="303343"/>
                </a:lnTo>
                <a:lnTo>
                  <a:pt x="319285" y="267380"/>
                </a:lnTo>
                <a:lnTo>
                  <a:pt x="336557" y="224932"/>
                </a:lnTo>
                <a:lnTo>
                  <a:pt x="342677" y="177694"/>
                </a:lnTo>
                <a:lnTo>
                  <a:pt x="336557" y="130456"/>
                </a:lnTo>
                <a:lnTo>
                  <a:pt x="319285" y="88008"/>
                </a:lnTo>
                <a:lnTo>
                  <a:pt x="292494" y="52045"/>
                </a:lnTo>
                <a:lnTo>
                  <a:pt x="257817" y="24260"/>
                </a:lnTo>
                <a:lnTo>
                  <a:pt x="216888" y="6347"/>
                </a:lnTo>
                <a:lnTo>
                  <a:pt x="1713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19200" y="2753051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301639" y="2782316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99535" y="2403135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9" y="0"/>
                </a:moveTo>
                <a:lnTo>
                  <a:pt x="125790" y="6347"/>
                </a:lnTo>
                <a:lnTo>
                  <a:pt x="84861" y="24260"/>
                </a:lnTo>
                <a:lnTo>
                  <a:pt x="50184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4" y="303343"/>
                </a:lnTo>
                <a:lnTo>
                  <a:pt x="84861" y="331128"/>
                </a:lnTo>
                <a:lnTo>
                  <a:pt x="125790" y="349041"/>
                </a:lnTo>
                <a:lnTo>
                  <a:pt x="171339" y="355389"/>
                </a:lnTo>
                <a:lnTo>
                  <a:pt x="216888" y="349041"/>
                </a:lnTo>
                <a:lnTo>
                  <a:pt x="257817" y="331128"/>
                </a:lnTo>
                <a:lnTo>
                  <a:pt x="292494" y="303343"/>
                </a:lnTo>
                <a:lnTo>
                  <a:pt x="319286" y="267380"/>
                </a:lnTo>
                <a:lnTo>
                  <a:pt x="336558" y="224932"/>
                </a:lnTo>
                <a:lnTo>
                  <a:pt x="342679" y="177694"/>
                </a:lnTo>
                <a:lnTo>
                  <a:pt x="336558" y="130456"/>
                </a:lnTo>
                <a:lnTo>
                  <a:pt x="319286" y="88008"/>
                </a:lnTo>
                <a:lnTo>
                  <a:pt x="292494" y="52045"/>
                </a:lnTo>
                <a:lnTo>
                  <a:pt x="257817" y="24260"/>
                </a:lnTo>
                <a:lnTo>
                  <a:pt x="216888" y="6347"/>
                </a:lnTo>
                <a:lnTo>
                  <a:pt x="1713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99535" y="2403135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481975" y="243179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87522" y="3136214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9" y="0"/>
                </a:moveTo>
                <a:lnTo>
                  <a:pt x="125790" y="6347"/>
                </a:lnTo>
                <a:lnTo>
                  <a:pt x="84860" y="24260"/>
                </a:lnTo>
                <a:lnTo>
                  <a:pt x="50183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3" y="303343"/>
                </a:lnTo>
                <a:lnTo>
                  <a:pt x="84860" y="331128"/>
                </a:lnTo>
                <a:lnTo>
                  <a:pt x="125790" y="349041"/>
                </a:lnTo>
                <a:lnTo>
                  <a:pt x="171339" y="355389"/>
                </a:lnTo>
                <a:lnTo>
                  <a:pt x="216888" y="349041"/>
                </a:lnTo>
                <a:lnTo>
                  <a:pt x="257817" y="331128"/>
                </a:lnTo>
                <a:lnTo>
                  <a:pt x="292494" y="303343"/>
                </a:lnTo>
                <a:lnTo>
                  <a:pt x="319285" y="267380"/>
                </a:lnTo>
                <a:lnTo>
                  <a:pt x="336557" y="224932"/>
                </a:lnTo>
                <a:lnTo>
                  <a:pt x="342677" y="177694"/>
                </a:lnTo>
                <a:lnTo>
                  <a:pt x="336557" y="130456"/>
                </a:lnTo>
                <a:lnTo>
                  <a:pt x="319285" y="88008"/>
                </a:lnTo>
                <a:lnTo>
                  <a:pt x="292494" y="52045"/>
                </a:lnTo>
                <a:lnTo>
                  <a:pt x="257817" y="24260"/>
                </a:lnTo>
                <a:lnTo>
                  <a:pt x="216888" y="6347"/>
                </a:lnTo>
                <a:lnTo>
                  <a:pt x="1713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87522" y="3136214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963612" y="316331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612897" y="3094170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9" y="0"/>
                </a:moveTo>
                <a:lnTo>
                  <a:pt x="125790" y="6347"/>
                </a:lnTo>
                <a:lnTo>
                  <a:pt x="84861" y="24260"/>
                </a:lnTo>
                <a:lnTo>
                  <a:pt x="50184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4" y="303343"/>
                </a:lnTo>
                <a:lnTo>
                  <a:pt x="84861" y="331128"/>
                </a:lnTo>
                <a:lnTo>
                  <a:pt x="125790" y="349041"/>
                </a:lnTo>
                <a:lnTo>
                  <a:pt x="171339" y="355389"/>
                </a:lnTo>
                <a:lnTo>
                  <a:pt x="216888" y="349041"/>
                </a:lnTo>
                <a:lnTo>
                  <a:pt x="257817" y="331128"/>
                </a:lnTo>
                <a:lnTo>
                  <a:pt x="292494" y="303343"/>
                </a:lnTo>
                <a:lnTo>
                  <a:pt x="319286" y="267380"/>
                </a:lnTo>
                <a:lnTo>
                  <a:pt x="336558" y="224932"/>
                </a:lnTo>
                <a:lnTo>
                  <a:pt x="342679" y="177694"/>
                </a:lnTo>
                <a:lnTo>
                  <a:pt x="336558" y="130456"/>
                </a:lnTo>
                <a:lnTo>
                  <a:pt x="319286" y="88008"/>
                </a:lnTo>
                <a:lnTo>
                  <a:pt x="292494" y="52045"/>
                </a:lnTo>
                <a:lnTo>
                  <a:pt x="257817" y="24260"/>
                </a:lnTo>
                <a:lnTo>
                  <a:pt x="216888" y="6347"/>
                </a:lnTo>
                <a:lnTo>
                  <a:pt x="1713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612897" y="3094170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95336" y="3120644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884475" y="4022132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9" y="0"/>
                </a:moveTo>
                <a:lnTo>
                  <a:pt x="125790" y="6347"/>
                </a:lnTo>
                <a:lnTo>
                  <a:pt x="84861" y="24260"/>
                </a:lnTo>
                <a:lnTo>
                  <a:pt x="50184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4" y="303343"/>
                </a:lnTo>
                <a:lnTo>
                  <a:pt x="84861" y="331128"/>
                </a:lnTo>
                <a:lnTo>
                  <a:pt x="125790" y="349041"/>
                </a:lnTo>
                <a:lnTo>
                  <a:pt x="171339" y="355389"/>
                </a:lnTo>
                <a:lnTo>
                  <a:pt x="216888" y="349041"/>
                </a:lnTo>
                <a:lnTo>
                  <a:pt x="257817" y="331128"/>
                </a:lnTo>
                <a:lnTo>
                  <a:pt x="292494" y="303343"/>
                </a:lnTo>
                <a:lnTo>
                  <a:pt x="319286" y="267380"/>
                </a:lnTo>
                <a:lnTo>
                  <a:pt x="336558" y="224932"/>
                </a:lnTo>
                <a:lnTo>
                  <a:pt x="342679" y="177694"/>
                </a:lnTo>
                <a:lnTo>
                  <a:pt x="336558" y="130456"/>
                </a:lnTo>
                <a:lnTo>
                  <a:pt x="319286" y="88008"/>
                </a:lnTo>
                <a:lnTo>
                  <a:pt x="292494" y="52045"/>
                </a:lnTo>
                <a:lnTo>
                  <a:pt x="257817" y="24260"/>
                </a:lnTo>
                <a:lnTo>
                  <a:pt x="216888" y="6347"/>
                </a:lnTo>
                <a:lnTo>
                  <a:pt x="1713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884475" y="4022132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18108" y="4050284"/>
            <a:ext cx="7896859" cy="2169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13460">
              <a:lnSpc>
                <a:spcPts val="1939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  <a:p>
            <a:pPr marL="332740" indent="-320040">
              <a:lnSpc>
                <a:spcPts val="362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0">
                <a:latin typeface="Calibri"/>
                <a:cs typeface="Calibri"/>
              </a:rPr>
              <a:t>However, </a:t>
            </a:r>
            <a:r>
              <a:rPr dirty="0" sz="3200">
                <a:latin typeface="Calibri"/>
                <a:cs typeface="Calibri"/>
              </a:rPr>
              <a:t>this </a:t>
            </a:r>
            <a:r>
              <a:rPr dirty="0" sz="3200" spc="-5">
                <a:latin typeface="Calibri"/>
                <a:cs typeface="Calibri"/>
              </a:rPr>
              <a:t>does not </a:t>
            </a:r>
            <a:r>
              <a:rPr dirty="0" sz="3200" spc="-15">
                <a:latin typeface="Calibri"/>
                <a:cs typeface="Calibri"/>
              </a:rPr>
              <a:t>capture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degree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of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0"/>
              </a:spcBef>
            </a:pPr>
            <a:r>
              <a:rPr dirty="0" sz="3200" spc="-5">
                <a:latin typeface="Calibri"/>
                <a:cs typeface="Calibri"/>
              </a:rPr>
              <a:t>neighborhood </a:t>
            </a:r>
            <a:r>
              <a:rPr dirty="0" sz="3200" spc="-10">
                <a:latin typeface="Calibri"/>
                <a:cs typeface="Calibri"/>
              </a:rPr>
              <a:t>overlap: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100699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Node pair </a:t>
            </a:r>
            <a:r>
              <a:rPr dirty="0" sz="2800" spc="-15" i="1">
                <a:latin typeface="Calibri"/>
                <a:cs typeface="Calibri"/>
              </a:rPr>
              <a:t>(B, </a:t>
            </a:r>
            <a:r>
              <a:rPr dirty="0" sz="2800" i="1">
                <a:latin typeface="Calibri"/>
                <a:cs typeface="Calibri"/>
              </a:rPr>
              <a:t>H) </a:t>
            </a:r>
            <a:r>
              <a:rPr dirty="0" sz="2800" spc="-5">
                <a:latin typeface="Calibri"/>
                <a:cs typeface="Calibri"/>
              </a:rPr>
              <a:t>has </a:t>
            </a:r>
            <a:r>
              <a:rPr dirty="0" sz="2800">
                <a:latin typeface="Calibri"/>
                <a:cs typeface="Calibri"/>
              </a:rPr>
              <a:t>2 </a:t>
            </a:r>
            <a:r>
              <a:rPr dirty="0" sz="2800" spc="-10">
                <a:latin typeface="Calibri"/>
                <a:cs typeface="Calibri"/>
              </a:rPr>
              <a:t>shared </a:t>
            </a:r>
            <a:r>
              <a:rPr dirty="0" sz="2800" spc="-5">
                <a:latin typeface="Calibri"/>
                <a:cs typeface="Calibri"/>
              </a:rPr>
              <a:t>neighboring nodes,  while </a:t>
            </a:r>
            <a:r>
              <a:rPr dirty="0" sz="2800" spc="-15">
                <a:latin typeface="Calibri"/>
                <a:cs typeface="Calibri"/>
              </a:rPr>
              <a:t>pairs </a:t>
            </a:r>
            <a:r>
              <a:rPr dirty="0" sz="2800" spc="-15" i="1">
                <a:latin typeface="Calibri"/>
                <a:cs typeface="Calibri"/>
              </a:rPr>
              <a:t>(B, </a:t>
            </a:r>
            <a:r>
              <a:rPr dirty="0" sz="2800" spc="-5" i="1">
                <a:latin typeface="Calibri"/>
                <a:cs typeface="Calibri"/>
              </a:rPr>
              <a:t>E)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 spc="0" i="1">
                <a:latin typeface="Calibri"/>
                <a:cs typeface="Calibri"/>
              </a:rPr>
              <a:t>(A, </a:t>
            </a:r>
            <a:r>
              <a:rPr dirty="0" sz="2800" i="1">
                <a:latin typeface="Calibri"/>
                <a:cs typeface="Calibri"/>
              </a:rPr>
              <a:t>B) </a:t>
            </a:r>
            <a:r>
              <a:rPr dirty="0" sz="2800" spc="-5">
                <a:latin typeface="Calibri"/>
                <a:cs typeface="Calibri"/>
              </a:rPr>
              <a:t>only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>
                <a:latin typeface="Calibri"/>
                <a:cs typeface="Calibri"/>
              </a:rPr>
              <a:t>1 such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686522" y="2625933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8" y="0"/>
                </a:moveTo>
                <a:lnTo>
                  <a:pt x="125789" y="6347"/>
                </a:lnTo>
                <a:lnTo>
                  <a:pt x="84860" y="24260"/>
                </a:lnTo>
                <a:lnTo>
                  <a:pt x="50183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3" y="303343"/>
                </a:lnTo>
                <a:lnTo>
                  <a:pt x="84860" y="331128"/>
                </a:lnTo>
                <a:lnTo>
                  <a:pt x="125789" y="349041"/>
                </a:lnTo>
                <a:lnTo>
                  <a:pt x="171338" y="355389"/>
                </a:lnTo>
                <a:lnTo>
                  <a:pt x="216887" y="349041"/>
                </a:lnTo>
                <a:lnTo>
                  <a:pt x="257816" y="331128"/>
                </a:lnTo>
                <a:lnTo>
                  <a:pt x="292493" y="303343"/>
                </a:lnTo>
                <a:lnTo>
                  <a:pt x="319285" y="267380"/>
                </a:lnTo>
                <a:lnTo>
                  <a:pt x="336557" y="224932"/>
                </a:lnTo>
                <a:lnTo>
                  <a:pt x="342677" y="177694"/>
                </a:lnTo>
                <a:lnTo>
                  <a:pt x="336557" y="130456"/>
                </a:lnTo>
                <a:lnTo>
                  <a:pt x="319285" y="88008"/>
                </a:lnTo>
                <a:lnTo>
                  <a:pt x="292493" y="52045"/>
                </a:lnTo>
                <a:lnTo>
                  <a:pt x="257816" y="24260"/>
                </a:lnTo>
                <a:lnTo>
                  <a:pt x="216887" y="6347"/>
                </a:lnTo>
                <a:lnTo>
                  <a:pt x="1713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686522" y="2625933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775310" y="265430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645986" y="3459440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171338" y="0"/>
                </a:moveTo>
                <a:lnTo>
                  <a:pt x="125789" y="6347"/>
                </a:lnTo>
                <a:lnTo>
                  <a:pt x="84860" y="24260"/>
                </a:lnTo>
                <a:lnTo>
                  <a:pt x="50183" y="52045"/>
                </a:lnTo>
                <a:lnTo>
                  <a:pt x="23392" y="88008"/>
                </a:lnTo>
                <a:lnTo>
                  <a:pt x="6120" y="130456"/>
                </a:lnTo>
                <a:lnTo>
                  <a:pt x="0" y="177694"/>
                </a:lnTo>
                <a:lnTo>
                  <a:pt x="6120" y="224932"/>
                </a:lnTo>
                <a:lnTo>
                  <a:pt x="23392" y="267380"/>
                </a:lnTo>
                <a:lnTo>
                  <a:pt x="50183" y="303343"/>
                </a:lnTo>
                <a:lnTo>
                  <a:pt x="84860" y="331128"/>
                </a:lnTo>
                <a:lnTo>
                  <a:pt x="125789" y="349041"/>
                </a:lnTo>
                <a:lnTo>
                  <a:pt x="171338" y="355389"/>
                </a:lnTo>
                <a:lnTo>
                  <a:pt x="216887" y="349041"/>
                </a:lnTo>
                <a:lnTo>
                  <a:pt x="257816" y="331128"/>
                </a:lnTo>
                <a:lnTo>
                  <a:pt x="292493" y="303343"/>
                </a:lnTo>
                <a:lnTo>
                  <a:pt x="319285" y="267380"/>
                </a:lnTo>
                <a:lnTo>
                  <a:pt x="336557" y="224932"/>
                </a:lnTo>
                <a:lnTo>
                  <a:pt x="342677" y="177694"/>
                </a:lnTo>
                <a:lnTo>
                  <a:pt x="336557" y="130456"/>
                </a:lnTo>
                <a:lnTo>
                  <a:pt x="319285" y="88008"/>
                </a:lnTo>
                <a:lnTo>
                  <a:pt x="292493" y="52045"/>
                </a:lnTo>
                <a:lnTo>
                  <a:pt x="257816" y="24260"/>
                </a:lnTo>
                <a:lnTo>
                  <a:pt x="216887" y="6347"/>
                </a:lnTo>
                <a:lnTo>
                  <a:pt x="17133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645986" y="3459440"/>
            <a:ext cx="342900" cy="355600"/>
          </a:xfrm>
          <a:custGeom>
            <a:avLst/>
            <a:gdLst/>
            <a:ahLst/>
            <a:cxnLst/>
            <a:rect l="l" t="t" r="r" b="b"/>
            <a:pathLst>
              <a:path w="342900" h="355600">
                <a:moveTo>
                  <a:pt x="0" y="177694"/>
                </a:moveTo>
                <a:lnTo>
                  <a:pt x="6120" y="130456"/>
                </a:lnTo>
                <a:lnTo>
                  <a:pt x="23392" y="88008"/>
                </a:lnTo>
                <a:lnTo>
                  <a:pt x="50184" y="52045"/>
                </a:lnTo>
                <a:lnTo>
                  <a:pt x="84860" y="24260"/>
                </a:lnTo>
                <a:lnTo>
                  <a:pt x="125790" y="6347"/>
                </a:lnTo>
                <a:lnTo>
                  <a:pt x="171339" y="0"/>
                </a:lnTo>
                <a:lnTo>
                  <a:pt x="216887" y="6347"/>
                </a:lnTo>
                <a:lnTo>
                  <a:pt x="257817" y="24260"/>
                </a:lnTo>
                <a:lnTo>
                  <a:pt x="292493" y="52045"/>
                </a:lnTo>
                <a:lnTo>
                  <a:pt x="319285" y="88008"/>
                </a:lnTo>
                <a:lnTo>
                  <a:pt x="336557" y="130456"/>
                </a:lnTo>
                <a:lnTo>
                  <a:pt x="342678" y="177694"/>
                </a:lnTo>
                <a:lnTo>
                  <a:pt x="336557" y="224932"/>
                </a:lnTo>
                <a:lnTo>
                  <a:pt x="319285" y="267380"/>
                </a:lnTo>
                <a:lnTo>
                  <a:pt x="292493" y="303343"/>
                </a:lnTo>
                <a:lnTo>
                  <a:pt x="257817" y="331128"/>
                </a:lnTo>
                <a:lnTo>
                  <a:pt x="216887" y="349041"/>
                </a:lnTo>
                <a:lnTo>
                  <a:pt x="171339" y="355389"/>
                </a:lnTo>
                <a:lnTo>
                  <a:pt x="125790" y="349041"/>
                </a:lnTo>
                <a:lnTo>
                  <a:pt x="84860" y="331128"/>
                </a:lnTo>
                <a:lnTo>
                  <a:pt x="50184" y="303343"/>
                </a:lnTo>
                <a:lnTo>
                  <a:pt x="23392" y="267380"/>
                </a:lnTo>
                <a:lnTo>
                  <a:pt x="6120" y="224932"/>
                </a:lnTo>
                <a:lnTo>
                  <a:pt x="0" y="1776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715724" y="3486403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78942" y="3888792"/>
            <a:ext cx="1405890" cy="291465"/>
          </a:xfrm>
          <a:custGeom>
            <a:avLst/>
            <a:gdLst/>
            <a:ahLst/>
            <a:cxnLst/>
            <a:rect l="l" t="t" r="r" b="b"/>
            <a:pathLst>
              <a:path w="1405889" h="291464">
                <a:moveTo>
                  <a:pt x="0" y="0"/>
                </a:moveTo>
                <a:lnTo>
                  <a:pt x="1405534" y="29128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422196" y="3136899"/>
            <a:ext cx="22282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110">
                <a:latin typeface="Cambria Math"/>
                <a:cs typeface="Cambria Math"/>
              </a:rPr>
              <a:t>𝑆</a:t>
            </a:r>
            <a:r>
              <a:rPr dirty="0" baseline="-16666" sz="3000" spc="165">
                <a:latin typeface="Cambria Math"/>
                <a:cs typeface="Cambria Math"/>
              </a:rPr>
              <a:t>48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90">
                <a:latin typeface="Cambria Math"/>
                <a:cs typeface="Cambria Math"/>
              </a:rPr>
              <a:t>𝑆</a:t>
            </a:r>
            <a:r>
              <a:rPr dirty="0" baseline="-16666" sz="3000" spc="135">
                <a:latin typeface="Cambria Math"/>
                <a:cs typeface="Cambria Math"/>
              </a:rPr>
              <a:t>49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5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3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104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4953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Captures </a:t>
            </a:r>
            <a:r>
              <a:rPr dirty="0"/>
              <a:t># </a:t>
            </a:r>
            <a:r>
              <a:rPr dirty="0" spc="-5"/>
              <a:t>neighboring nodes </a:t>
            </a:r>
            <a:r>
              <a:rPr dirty="0" spc="-10"/>
              <a:t>shared between  two </a:t>
            </a:r>
            <a:r>
              <a:rPr dirty="0" spc="-5"/>
              <a:t>nodes </a:t>
            </a:r>
            <a:r>
              <a:rPr dirty="0" b="0">
                <a:latin typeface="Cambria Math"/>
                <a:cs typeface="Cambria Math"/>
              </a:rPr>
              <a:t>𝒗</a:t>
            </a:r>
            <a:r>
              <a:rPr dirty="0" baseline="-15700" sz="3450" b="0">
                <a:latin typeface="Cambria Math"/>
                <a:cs typeface="Cambria Math"/>
              </a:rPr>
              <a:t>𝟏 </a:t>
            </a:r>
            <a:r>
              <a:rPr dirty="0" sz="3200" spc="-5"/>
              <a:t>and</a:t>
            </a:r>
            <a:r>
              <a:rPr dirty="0" sz="3200" spc="30"/>
              <a:t> </a:t>
            </a:r>
            <a:r>
              <a:rPr dirty="0" sz="3200" spc="30" b="0">
                <a:latin typeface="Cambria Math"/>
                <a:cs typeface="Cambria Math"/>
              </a:rPr>
              <a:t>𝒗</a:t>
            </a:r>
            <a:r>
              <a:rPr dirty="0" baseline="-15700" sz="3450" spc="44" b="0">
                <a:latin typeface="Cambria Math"/>
                <a:cs typeface="Cambria Math"/>
              </a:rPr>
              <a:t>𝟐</a:t>
            </a:r>
            <a:r>
              <a:rPr dirty="0" sz="3200" spc="30"/>
              <a:t>: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65298" y="2314338"/>
            <a:ext cx="495934" cy="282575"/>
          </a:xfrm>
          <a:custGeom>
            <a:avLst/>
            <a:gdLst/>
            <a:ahLst/>
            <a:cxnLst/>
            <a:rect l="l" t="t" r="r" b="b"/>
            <a:pathLst>
              <a:path w="495935" h="282575">
                <a:moveTo>
                  <a:pt x="405668" y="0"/>
                </a:moveTo>
                <a:lnTo>
                  <a:pt x="401650" y="11459"/>
                </a:lnTo>
                <a:lnTo>
                  <a:pt x="417993" y="18552"/>
                </a:lnTo>
                <a:lnTo>
                  <a:pt x="432048" y="28370"/>
                </a:lnTo>
                <a:lnTo>
                  <a:pt x="460586" y="73878"/>
                </a:lnTo>
                <a:lnTo>
                  <a:pt x="468920" y="115662"/>
                </a:lnTo>
                <a:lnTo>
                  <a:pt x="469962" y="139749"/>
                </a:lnTo>
                <a:lnTo>
                  <a:pt x="468915" y="164650"/>
                </a:lnTo>
                <a:lnTo>
                  <a:pt x="460543" y="207587"/>
                </a:lnTo>
                <a:lnTo>
                  <a:pt x="432066" y="253826"/>
                </a:lnTo>
                <a:lnTo>
                  <a:pt x="402095" y="270866"/>
                </a:lnTo>
                <a:lnTo>
                  <a:pt x="405668" y="282327"/>
                </a:lnTo>
                <a:lnTo>
                  <a:pt x="444178" y="264263"/>
                </a:lnTo>
                <a:lnTo>
                  <a:pt x="472492" y="232990"/>
                </a:lnTo>
                <a:lnTo>
                  <a:pt x="489905" y="191113"/>
                </a:lnTo>
                <a:lnTo>
                  <a:pt x="495708" y="141237"/>
                </a:lnTo>
                <a:lnTo>
                  <a:pt x="494253" y="115355"/>
                </a:lnTo>
                <a:lnTo>
                  <a:pt x="482607" y="69479"/>
                </a:lnTo>
                <a:lnTo>
                  <a:pt x="459511" y="32133"/>
                </a:lnTo>
                <a:lnTo>
                  <a:pt x="426136" y="7390"/>
                </a:lnTo>
                <a:lnTo>
                  <a:pt x="405668" y="0"/>
                </a:lnTo>
                <a:close/>
              </a:path>
              <a:path w="495935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89312" y="2314338"/>
            <a:ext cx="502920" cy="282575"/>
          </a:xfrm>
          <a:custGeom>
            <a:avLst/>
            <a:gdLst/>
            <a:ahLst/>
            <a:cxnLst/>
            <a:rect l="l" t="t" r="r" b="b"/>
            <a:pathLst>
              <a:path w="502920" h="282575">
                <a:moveTo>
                  <a:pt x="412716" y="0"/>
                </a:moveTo>
                <a:lnTo>
                  <a:pt x="408698" y="11459"/>
                </a:lnTo>
                <a:lnTo>
                  <a:pt x="425041" y="18552"/>
                </a:lnTo>
                <a:lnTo>
                  <a:pt x="439096" y="28370"/>
                </a:lnTo>
                <a:lnTo>
                  <a:pt x="467634" y="73878"/>
                </a:lnTo>
                <a:lnTo>
                  <a:pt x="475968" y="115662"/>
                </a:lnTo>
                <a:lnTo>
                  <a:pt x="477010" y="139749"/>
                </a:lnTo>
                <a:lnTo>
                  <a:pt x="475964" y="164650"/>
                </a:lnTo>
                <a:lnTo>
                  <a:pt x="467592" y="207587"/>
                </a:lnTo>
                <a:lnTo>
                  <a:pt x="439114" y="253826"/>
                </a:lnTo>
                <a:lnTo>
                  <a:pt x="409144" y="270866"/>
                </a:lnTo>
                <a:lnTo>
                  <a:pt x="412716" y="282327"/>
                </a:lnTo>
                <a:lnTo>
                  <a:pt x="451225" y="264263"/>
                </a:lnTo>
                <a:lnTo>
                  <a:pt x="479540" y="232990"/>
                </a:lnTo>
                <a:lnTo>
                  <a:pt x="496953" y="191113"/>
                </a:lnTo>
                <a:lnTo>
                  <a:pt x="502757" y="141237"/>
                </a:lnTo>
                <a:lnTo>
                  <a:pt x="501301" y="115355"/>
                </a:lnTo>
                <a:lnTo>
                  <a:pt x="489655" y="69479"/>
                </a:lnTo>
                <a:lnTo>
                  <a:pt x="466559" y="32133"/>
                </a:lnTo>
                <a:lnTo>
                  <a:pt x="433185" y="7390"/>
                </a:lnTo>
                <a:lnTo>
                  <a:pt x="412716" y="0"/>
                </a:lnTo>
                <a:close/>
              </a:path>
              <a:path w="502920" h="282575">
                <a:moveTo>
                  <a:pt x="90041" y="0"/>
                </a:moveTo>
                <a:lnTo>
                  <a:pt x="51625" y="18101"/>
                </a:lnTo>
                <a:lnTo>
                  <a:pt x="23291" y="49485"/>
                </a:lnTo>
                <a:lnTo>
                  <a:pt x="5823" y="91436"/>
                </a:lnTo>
                <a:lnTo>
                  <a:pt x="0" y="141237"/>
                </a:lnTo>
                <a:lnTo>
                  <a:pt x="1451" y="167175"/>
                </a:lnTo>
                <a:lnTo>
                  <a:pt x="13060" y="213051"/>
                </a:lnTo>
                <a:lnTo>
                  <a:pt x="36100" y="250277"/>
                </a:lnTo>
                <a:lnTo>
                  <a:pt x="69512" y="274946"/>
                </a:lnTo>
                <a:lnTo>
                  <a:pt x="90041" y="282327"/>
                </a:lnTo>
                <a:lnTo>
                  <a:pt x="93612" y="270866"/>
                </a:lnTo>
                <a:lnTo>
                  <a:pt x="77525" y="263742"/>
                </a:lnTo>
                <a:lnTo>
                  <a:pt x="63642" y="253826"/>
                </a:lnTo>
                <a:lnTo>
                  <a:pt x="35165" y="207587"/>
                </a:lnTo>
                <a:lnTo>
                  <a:pt x="26794" y="164650"/>
                </a:lnTo>
                <a:lnTo>
                  <a:pt x="25747" y="139749"/>
                </a:lnTo>
                <a:lnTo>
                  <a:pt x="26794" y="115662"/>
                </a:lnTo>
                <a:lnTo>
                  <a:pt x="35165" y="73878"/>
                </a:lnTo>
                <a:lnTo>
                  <a:pt x="63754" y="28370"/>
                </a:lnTo>
                <a:lnTo>
                  <a:pt x="94060" y="11459"/>
                </a:lnTo>
                <a:lnTo>
                  <a:pt x="900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47834" y="2748285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39645" y="2748285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94137" y="2746040"/>
            <a:ext cx="329565" cy="235585"/>
          </a:xfrm>
          <a:custGeom>
            <a:avLst/>
            <a:gdLst/>
            <a:ahLst/>
            <a:cxnLst/>
            <a:rect l="l" t="t" r="r" b="b"/>
            <a:pathLst>
              <a:path w="329564" h="235585">
                <a:moveTo>
                  <a:pt x="253960" y="0"/>
                </a:moveTo>
                <a:lnTo>
                  <a:pt x="250612" y="9549"/>
                </a:lnTo>
                <a:lnTo>
                  <a:pt x="264231" y="15459"/>
                </a:lnTo>
                <a:lnTo>
                  <a:pt x="275944" y="23641"/>
                </a:lnTo>
                <a:lnTo>
                  <a:pt x="299725" y="61565"/>
                </a:lnTo>
                <a:lnTo>
                  <a:pt x="307539" y="116457"/>
                </a:lnTo>
                <a:lnTo>
                  <a:pt x="306667" y="137208"/>
                </a:lnTo>
                <a:lnTo>
                  <a:pt x="293587" y="188018"/>
                </a:lnTo>
                <a:lnTo>
                  <a:pt x="264391" y="219784"/>
                </a:lnTo>
                <a:lnTo>
                  <a:pt x="250985" y="225722"/>
                </a:lnTo>
                <a:lnTo>
                  <a:pt x="253960" y="235272"/>
                </a:lnTo>
                <a:lnTo>
                  <a:pt x="298911" y="208563"/>
                </a:lnTo>
                <a:lnTo>
                  <a:pt x="324157" y="159260"/>
                </a:lnTo>
                <a:lnTo>
                  <a:pt x="328994" y="117697"/>
                </a:lnTo>
                <a:lnTo>
                  <a:pt x="327781" y="96129"/>
                </a:lnTo>
                <a:lnTo>
                  <a:pt x="318077" y="57898"/>
                </a:lnTo>
                <a:lnTo>
                  <a:pt x="285974" y="15083"/>
                </a:lnTo>
                <a:lnTo>
                  <a:pt x="271018" y="6158"/>
                </a:lnTo>
                <a:lnTo>
                  <a:pt x="253960" y="0"/>
                </a:lnTo>
                <a:close/>
              </a:path>
              <a:path w="32956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3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45672" y="2746040"/>
            <a:ext cx="339725" cy="235585"/>
          </a:xfrm>
          <a:custGeom>
            <a:avLst/>
            <a:gdLst/>
            <a:ahLst/>
            <a:cxnLst/>
            <a:rect l="l" t="t" r="r" b="b"/>
            <a:pathLst>
              <a:path w="339725" h="235585">
                <a:moveTo>
                  <a:pt x="264628" y="0"/>
                </a:moveTo>
                <a:lnTo>
                  <a:pt x="261280" y="9549"/>
                </a:lnTo>
                <a:lnTo>
                  <a:pt x="274899" y="15459"/>
                </a:lnTo>
                <a:lnTo>
                  <a:pt x="286612" y="23641"/>
                </a:lnTo>
                <a:lnTo>
                  <a:pt x="310393" y="61565"/>
                </a:lnTo>
                <a:lnTo>
                  <a:pt x="318207" y="116457"/>
                </a:lnTo>
                <a:lnTo>
                  <a:pt x="317335" y="137208"/>
                </a:lnTo>
                <a:lnTo>
                  <a:pt x="304255" y="188018"/>
                </a:lnTo>
                <a:lnTo>
                  <a:pt x="275059" y="219784"/>
                </a:lnTo>
                <a:lnTo>
                  <a:pt x="261653" y="225722"/>
                </a:lnTo>
                <a:lnTo>
                  <a:pt x="264628" y="235272"/>
                </a:lnTo>
                <a:lnTo>
                  <a:pt x="309579" y="208563"/>
                </a:lnTo>
                <a:lnTo>
                  <a:pt x="334826" y="159260"/>
                </a:lnTo>
                <a:lnTo>
                  <a:pt x="339664" y="117697"/>
                </a:lnTo>
                <a:lnTo>
                  <a:pt x="338450" y="96129"/>
                </a:lnTo>
                <a:lnTo>
                  <a:pt x="328745" y="57898"/>
                </a:lnTo>
                <a:lnTo>
                  <a:pt x="296642" y="15083"/>
                </a:lnTo>
                <a:lnTo>
                  <a:pt x="281686" y="6158"/>
                </a:lnTo>
                <a:lnTo>
                  <a:pt x="264628" y="0"/>
                </a:lnTo>
                <a:close/>
              </a:path>
              <a:path w="339725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698924" y="2748285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59821" y="2748285"/>
            <a:ext cx="0" cy="231140"/>
          </a:xfrm>
          <a:custGeom>
            <a:avLst/>
            <a:gdLst/>
            <a:ahLst/>
            <a:cxnLst/>
            <a:rect l="l" t="t" r="r" b="b"/>
            <a:pathLst>
              <a:path w="0" h="231139">
                <a:moveTo>
                  <a:pt x="0" y="0"/>
                </a:moveTo>
                <a:lnTo>
                  <a:pt x="0" y="230807"/>
                </a:lnTo>
              </a:path>
            </a:pathLst>
          </a:custGeom>
          <a:ln w="19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11811" y="2745417"/>
            <a:ext cx="335280" cy="236854"/>
          </a:xfrm>
          <a:custGeom>
            <a:avLst/>
            <a:gdLst/>
            <a:ahLst/>
            <a:cxnLst/>
            <a:rect l="l" t="t" r="r" b="b"/>
            <a:pathLst>
              <a:path w="335279" h="236855">
                <a:moveTo>
                  <a:pt x="259233" y="0"/>
                </a:moveTo>
                <a:lnTo>
                  <a:pt x="256009" y="0"/>
                </a:lnTo>
                <a:lnTo>
                  <a:pt x="256009" y="9425"/>
                </a:lnTo>
                <a:lnTo>
                  <a:pt x="257869" y="9425"/>
                </a:lnTo>
                <a:lnTo>
                  <a:pt x="266372" y="10011"/>
                </a:lnTo>
                <a:lnTo>
                  <a:pt x="295557" y="39706"/>
                </a:lnTo>
                <a:lnTo>
                  <a:pt x="296193" y="49733"/>
                </a:lnTo>
                <a:lnTo>
                  <a:pt x="296193" y="55520"/>
                </a:lnTo>
                <a:lnTo>
                  <a:pt x="295366" y="62673"/>
                </a:lnTo>
                <a:lnTo>
                  <a:pt x="292059" y="79705"/>
                </a:lnTo>
                <a:lnTo>
                  <a:pt x="291231" y="85783"/>
                </a:lnTo>
                <a:lnTo>
                  <a:pt x="291231" y="96448"/>
                </a:lnTo>
                <a:lnTo>
                  <a:pt x="293298" y="102215"/>
                </a:lnTo>
                <a:lnTo>
                  <a:pt x="301567" y="111227"/>
                </a:lnTo>
                <a:lnTo>
                  <a:pt x="306486" y="114556"/>
                </a:lnTo>
                <a:lnTo>
                  <a:pt x="312191" y="116706"/>
                </a:lnTo>
                <a:lnTo>
                  <a:pt x="312191" y="118938"/>
                </a:lnTo>
                <a:lnTo>
                  <a:pt x="306486" y="121088"/>
                </a:lnTo>
                <a:lnTo>
                  <a:pt x="301567" y="124415"/>
                </a:lnTo>
                <a:lnTo>
                  <a:pt x="293298" y="133428"/>
                </a:lnTo>
                <a:lnTo>
                  <a:pt x="291231" y="139195"/>
                </a:lnTo>
                <a:lnTo>
                  <a:pt x="291231" y="149861"/>
                </a:lnTo>
                <a:lnTo>
                  <a:pt x="292059" y="155938"/>
                </a:lnTo>
                <a:lnTo>
                  <a:pt x="295366" y="172971"/>
                </a:lnTo>
                <a:lnTo>
                  <a:pt x="296193" y="180122"/>
                </a:lnTo>
                <a:lnTo>
                  <a:pt x="296193" y="185911"/>
                </a:lnTo>
                <a:lnTo>
                  <a:pt x="295557" y="196317"/>
                </a:lnTo>
                <a:lnTo>
                  <a:pt x="266372" y="226502"/>
                </a:lnTo>
                <a:lnTo>
                  <a:pt x="257869" y="227087"/>
                </a:lnTo>
                <a:lnTo>
                  <a:pt x="256009" y="227087"/>
                </a:lnTo>
                <a:lnTo>
                  <a:pt x="256009" y="236512"/>
                </a:lnTo>
                <a:lnTo>
                  <a:pt x="259233" y="236512"/>
                </a:lnTo>
                <a:lnTo>
                  <a:pt x="272888" y="235493"/>
                </a:lnTo>
                <a:lnTo>
                  <a:pt x="309149" y="215897"/>
                </a:lnTo>
                <a:lnTo>
                  <a:pt x="317276" y="183678"/>
                </a:lnTo>
                <a:lnTo>
                  <a:pt x="317276" y="176815"/>
                </a:lnTo>
                <a:lnTo>
                  <a:pt x="316304" y="169002"/>
                </a:lnTo>
                <a:lnTo>
                  <a:pt x="312418" y="151474"/>
                </a:lnTo>
                <a:lnTo>
                  <a:pt x="311447" y="145602"/>
                </a:lnTo>
                <a:lnTo>
                  <a:pt x="311447" y="136921"/>
                </a:lnTo>
                <a:lnTo>
                  <a:pt x="313411" y="132270"/>
                </a:lnTo>
                <a:lnTo>
                  <a:pt x="321266" y="125077"/>
                </a:lnTo>
                <a:lnTo>
                  <a:pt x="327198" y="123155"/>
                </a:lnTo>
                <a:lnTo>
                  <a:pt x="335136" y="122906"/>
                </a:lnTo>
                <a:lnTo>
                  <a:pt x="335136" y="112737"/>
                </a:lnTo>
                <a:lnTo>
                  <a:pt x="327198" y="112488"/>
                </a:lnTo>
                <a:lnTo>
                  <a:pt x="321266" y="110567"/>
                </a:lnTo>
                <a:lnTo>
                  <a:pt x="313411" y="103372"/>
                </a:lnTo>
                <a:lnTo>
                  <a:pt x="311447" y="98722"/>
                </a:lnTo>
                <a:lnTo>
                  <a:pt x="311447" y="90040"/>
                </a:lnTo>
                <a:lnTo>
                  <a:pt x="312418" y="84170"/>
                </a:lnTo>
                <a:lnTo>
                  <a:pt x="316304" y="66641"/>
                </a:lnTo>
                <a:lnTo>
                  <a:pt x="317276" y="58828"/>
                </a:lnTo>
                <a:lnTo>
                  <a:pt x="317276" y="51965"/>
                </a:lnTo>
                <a:lnTo>
                  <a:pt x="316373" y="39877"/>
                </a:lnTo>
                <a:lnTo>
                  <a:pt x="294685" y="7685"/>
                </a:lnTo>
                <a:lnTo>
                  <a:pt x="272888" y="1019"/>
                </a:lnTo>
                <a:lnTo>
                  <a:pt x="259233" y="0"/>
                </a:lnTo>
                <a:close/>
              </a:path>
              <a:path w="335279" h="236855">
                <a:moveTo>
                  <a:pt x="79127" y="0"/>
                </a:moveTo>
                <a:lnTo>
                  <a:pt x="75902" y="0"/>
                </a:lnTo>
                <a:lnTo>
                  <a:pt x="62248" y="1019"/>
                </a:lnTo>
                <a:lnTo>
                  <a:pt x="25986" y="20552"/>
                </a:lnTo>
                <a:lnTo>
                  <a:pt x="17858" y="51841"/>
                </a:lnTo>
                <a:lnTo>
                  <a:pt x="17858" y="58704"/>
                </a:lnTo>
                <a:lnTo>
                  <a:pt x="18831" y="66517"/>
                </a:lnTo>
                <a:lnTo>
                  <a:pt x="22717" y="84046"/>
                </a:lnTo>
                <a:lnTo>
                  <a:pt x="23688" y="89917"/>
                </a:lnTo>
                <a:lnTo>
                  <a:pt x="23688" y="98598"/>
                </a:lnTo>
                <a:lnTo>
                  <a:pt x="21724" y="103249"/>
                </a:lnTo>
                <a:lnTo>
                  <a:pt x="13869" y="110443"/>
                </a:lnTo>
                <a:lnTo>
                  <a:pt x="7937" y="112365"/>
                </a:lnTo>
                <a:lnTo>
                  <a:pt x="0" y="112613"/>
                </a:lnTo>
                <a:lnTo>
                  <a:pt x="0" y="122783"/>
                </a:lnTo>
                <a:lnTo>
                  <a:pt x="7937" y="123031"/>
                </a:lnTo>
                <a:lnTo>
                  <a:pt x="13869" y="124954"/>
                </a:lnTo>
                <a:lnTo>
                  <a:pt x="21724" y="132147"/>
                </a:lnTo>
                <a:lnTo>
                  <a:pt x="23688" y="136798"/>
                </a:lnTo>
                <a:lnTo>
                  <a:pt x="23688" y="145479"/>
                </a:lnTo>
                <a:lnTo>
                  <a:pt x="22717" y="151349"/>
                </a:lnTo>
                <a:lnTo>
                  <a:pt x="18831" y="168878"/>
                </a:lnTo>
                <a:lnTo>
                  <a:pt x="17858" y="176692"/>
                </a:lnTo>
                <a:lnTo>
                  <a:pt x="17858" y="183554"/>
                </a:lnTo>
                <a:lnTo>
                  <a:pt x="18761" y="196077"/>
                </a:lnTo>
                <a:lnTo>
                  <a:pt x="40450" y="228827"/>
                </a:lnTo>
                <a:lnTo>
                  <a:pt x="75902" y="236512"/>
                </a:lnTo>
                <a:lnTo>
                  <a:pt x="79127" y="236512"/>
                </a:lnTo>
                <a:lnTo>
                  <a:pt x="79127" y="227087"/>
                </a:lnTo>
                <a:lnTo>
                  <a:pt x="77266" y="227087"/>
                </a:lnTo>
                <a:lnTo>
                  <a:pt x="68763" y="226502"/>
                </a:lnTo>
                <a:lnTo>
                  <a:pt x="39578" y="196247"/>
                </a:lnTo>
                <a:lnTo>
                  <a:pt x="38943" y="185787"/>
                </a:lnTo>
                <a:lnTo>
                  <a:pt x="38943" y="179999"/>
                </a:lnTo>
                <a:lnTo>
                  <a:pt x="39770" y="172847"/>
                </a:lnTo>
                <a:lnTo>
                  <a:pt x="43077" y="155815"/>
                </a:lnTo>
                <a:lnTo>
                  <a:pt x="43903" y="149738"/>
                </a:lnTo>
                <a:lnTo>
                  <a:pt x="43903" y="139071"/>
                </a:lnTo>
                <a:lnTo>
                  <a:pt x="41837" y="133304"/>
                </a:lnTo>
                <a:lnTo>
                  <a:pt x="33568" y="124292"/>
                </a:lnTo>
                <a:lnTo>
                  <a:pt x="28649" y="120963"/>
                </a:lnTo>
                <a:lnTo>
                  <a:pt x="22943" y="118814"/>
                </a:lnTo>
                <a:lnTo>
                  <a:pt x="22943" y="116582"/>
                </a:lnTo>
                <a:lnTo>
                  <a:pt x="28649" y="114432"/>
                </a:lnTo>
                <a:lnTo>
                  <a:pt x="33568" y="111104"/>
                </a:lnTo>
                <a:lnTo>
                  <a:pt x="41837" y="102091"/>
                </a:lnTo>
                <a:lnTo>
                  <a:pt x="43903" y="96324"/>
                </a:lnTo>
                <a:lnTo>
                  <a:pt x="43903" y="85658"/>
                </a:lnTo>
                <a:lnTo>
                  <a:pt x="43077" y="79582"/>
                </a:lnTo>
                <a:lnTo>
                  <a:pt x="39770" y="62548"/>
                </a:lnTo>
                <a:lnTo>
                  <a:pt x="38943" y="55397"/>
                </a:lnTo>
                <a:lnTo>
                  <a:pt x="38943" y="49608"/>
                </a:lnTo>
                <a:lnTo>
                  <a:pt x="39578" y="39636"/>
                </a:lnTo>
                <a:lnTo>
                  <a:pt x="68763" y="10011"/>
                </a:lnTo>
                <a:lnTo>
                  <a:pt x="77266" y="9425"/>
                </a:lnTo>
                <a:lnTo>
                  <a:pt x="79127" y="9425"/>
                </a:lnTo>
                <a:lnTo>
                  <a:pt x="79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18108" y="2078431"/>
            <a:ext cx="4147185" cy="92075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  <a:tab pos="3846829" algn="l"/>
              </a:tabLst>
            </a:pPr>
            <a:r>
              <a:rPr dirty="0" sz="2800" spc="0" b="1">
                <a:solidFill>
                  <a:srgbClr val="E66C7D"/>
                </a:solidFill>
                <a:latin typeface="Calibri"/>
                <a:cs typeface="Calibri"/>
              </a:rPr>
              <a:t>C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o</a:t>
            </a: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mm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o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n</a:t>
            </a: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 n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e</a:t>
            </a: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ighb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o</a:t>
            </a:r>
            <a:r>
              <a:rPr dirty="0" sz="2800" spc="-30" b="1">
                <a:solidFill>
                  <a:srgbClr val="E66C7D"/>
                </a:solidFill>
                <a:latin typeface="Calibri"/>
                <a:cs typeface="Calibri"/>
              </a:rPr>
              <a:t>r</a:t>
            </a: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s</a:t>
            </a:r>
            <a:r>
              <a:rPr dirty="0" sz="2800" b="1">
                <a:solidFill>
                  <a:srgbClr val="E66C7D"/>
                </a:solidFill>
                <a:latin typeface="Calibri"/>
                <a:cs typeface="Calibri"/>
              </a:rPr>
              <a:t>:</a:t>
            </a:r>
            <a:r>
              <a:rPr dirty="0" sz="2800" spc="1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|𝑁	</a:t>
            </a:r>
            <a:r>
              <a:rPr dirty="0" sz="2400" spc="-85">
                <a:latin typeface="Cambria Math"/>
                <a:cs typeface="Cambria Math"/>
              </a:rPr>
              <a:t>𝑣</a:t>
            </a:r>
            <a:r>
              <a:rPr dirty="0" baseline="-15432" sz="2700" spc="-11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  <a:p>
            <a:pPr lvl="1" marL="625475" indent="-274320">
              <a:lnSpc>
                <a:spcPct val="100000"/>
              </a:lnSpc>
              <a:spcBef>
                <a:spcPts val="535"/>
              </a:spcBef>
              <a:buClr>
                <a:srgbClr val="60B5CC"/>
              </a:buClr>
              <a:buFont typeface="Malgun Gothic"/>
              <a:buChar char="▪"/>
              <a:tabLst>
                <a:tab pos="624840" algn="l"/>
                <a:tab pos="625475" algn="l"/>
                <a:tab pos="1761489" algn="l"/>
                <a:tab pos="2383155" algn="l"/>
                <a:tab pos="3340100" algn="l"/>
                <a:tab pos="3780154" algn="l"/>
              </a:tabLst>
            </a:pPr>
            <a:r>
              <a:rPr dirty="0" sz="2000" spc="-10">
                <a:latin typeface="Calibri"/>
                <a:cs typeface="Calibri"/>
              </a:rPr>
              <a:t>Example:	</a:t>
            </a:r>
            <a:r>
              <a:rPr dirty="0" sz="2000">
                <a:latin typeface="Cambria Math"/>
                <a:cs typeface="Cambria Math"/>
              </a:rPr>
              <a:t>𝑁</a:t>
            </a:r>
            <a:r>
              <a:rPr dirty="0" sz="2000" spc="4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𝐴	∩ 𝑁</a:t>
            </a:r>
            <a:r>
              <a:rPr dirty="0" sz="2000" spc="4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𝐵	=	𝐶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96980" y="2130653"/>
            <a:ext cx="1331595" cy="86868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58115">
              <a:lnSpc>
                <a:spcPct val="100000"/>
              </a:lnSpc>
              <a:spcBef>
                <a:spcPts val="840"/>
              </a:spcBef>
              <a:tabLst>
                <a:tab pos="791845" algn="l"/>
              </a:tabLst>
            </a:pPr>
            <a:r>
              <a:rPr dirty="0" sz="2400">
                <a:latin typeface="Cambria Math"/>
                <a:cs typeface="Cambria Math"/>
              </a:rPr>
              <a:t>∩ 𝑁	</a:t>
            </a:r>
            <a:r>
              <a:rPr dirty="0" sz="2400" spc="0">
                <a:latin typeface="Cambria Math"/>
                <a:cs typeface="Cambria Math"/>
              </a:rPr>
              <a:t>𝑣</a:t>
            </a:r>
            <a:r>
              <a:rPr dirty="0" baseline="-15432" sz="2700" spc="0">
                <a:latin typeface="Cambria Math"/>
                <a:cs typeface="Cambria Math"/>
              </a:rPr>
              <a:t>3</a:t>
            </a:r>
            <a:r>
              <a:rPr dirty="0" baseline="-15432" sz="2700" spc="45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|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55364" y="3304540"/>
            <a:ext cx="1549400" cy="0"/>
          </a:xfrm>
          <a:custGeom>
            <a:avLst/>
            <a:gdLst/>
            <a:ahLst/>
            <a:cxnLst/>
            <a:rect l="l" t="t" r="r" b="b"/>
            <a:pathLst>
              <a:path w="1549400" h="0">
                <a:moveTo>
                  <a:pt x="0" y="0"/>
                </a:moveTo>
                <a:lnTo>
                  <a:pt x="15494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21962" y="3043933"/>
            <a:ext cx="384810" cy="212090"/>
          </a:xfrm>
          <a:custGeom>
            <a:avLst/>
            <a:gdLst/>
            <a:ahLst/>
            <a:cxnLst/>
            <a:rect l="l" t="t" r="r" b="b"/>
            <a:pathLst>
              <a:path w="384810" h="212089">
                <a:moveTo>
                  <a:pt x="316729" y="0"/>
                </a:moveTo>
                <a:lnTo>
                  <a:pt x="313714" y="8595"/>
                </a:lnTo>
                <a:lnTo>
                  <a:pt x="325971" y="13914"/>
                </a:lnTo>
                <a:lnTo>
                  <a:pt x="336513" y="21277"/>
                </a:lnTo>
                <a:lnTo>
                  <a:pt x="357916" y="55409"/>
                </a:lnTo>
                <a:lnTo>
                  <a:pt x="364948" y="104811"/>
                </a:lnTo>
                <a:lnTo>
                  <a:pt x="364163" y="123487"/>
                </a:lnTo>
                <a:lnTo>
                  <a:pt x="352391" y="169217"/>
                </a:lnTo>
                <a:lnTo>
                  <a:pt x="326114" y="197806"/>
                </a:lnTo>
                <a:lnTo>
                  <a:pt x="314049" y="203150"/>
                </a:lnTo>
                <a:lnTo>
                  <a:pt x="316729" y="211745"/>
                </a:lnTo>
                <a:lnTo>
                  <a:pt x="357184" y="187708"/>
                </a:lnTo>
                <a:lnTo>
                  <a:pt x="379905" y="143335"/>
                </a:lnTo>
                <a:lnTo>
                  <a:pt x="384258" y="105928"/>
                </a:lnTo>
                <a:lnTo>
                  <a:pt x="383167" y="86516"/>
                </a:lnTo>
                <a:lnTo>
                  <a:pt x="366789" y="37114"/>
                </a:lnTo>
                <a:lnTo>
                  <a:pt x="332080" y="5542"/>
                </a:lnTo>
                <a:lnTo>
                  <a:pt x="316729" y="0"/>
                </a:lnTo>
                <a:close/>
              </a:path>
              <a:path w="38481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68150" y="3043933"/>
            <a:ext cx="384810" cy="212090"/>
          </a:xfrm>
          <a:custGeom>
            <a:avLst/>
            <a:gdLst/>
            <a:ahLst/>
            <a:cxnLst/>
            <a:rect l="l" t="t" r="r" b="b"/>
            <a:pathLst>
              <a:path w="384810" h="212089">
                <a:moveTo>
                  <a:pt x="316729" y="0"/>
                </a:moveTo>
                <a:lnTo>
                  <a:pt x="313715" y="8595"/>
                </a:lnTo>
                <a:lnTo>
                  <a:pt x="325972" y="13914"/>
                </a:lnTo>
                <a:lnTo>
                  <a:pt x="336513" y="21277"/>
                </a:lnTo>
                <a:lnTo>
                  <a:pt x="357916" y="55409"/>
                </a:lnTo>
                <a:lnTo>
                  <a:pt x="364948" y="104811"/>
                </a:lnTo>
                <a:lnTo>
                  <a:pt x="364163" y="123487"/>
                </a:lnTo>
                <a:lnTo>
                  <a:pt x="352391" y="169217"/>
                </a:lnTo>
                <a:lnTo>
                  <a:pt x="326114" y="197806"/>
                </a:lnTo>
                <a:lnTo>
                  <a:pt x="314049" y="203150"/>
                </a:lnTo>
                <a:lnTo>
                  <a:pt x="316729" y="211745"/>
                </a:lnTo>
                <a:lnTo>
                  <a:pt x="357184" y="187708"/>
                </a:lnTo>
                <a:lnTo>
                  <a:pt x="379905" y="143335"/>
                </a:lnTo>
                <a:lnTo>
                  <a:pt x="384258" y="105928"/>
                </a:lnTo>
                <a:lnTo>
                  <a:pt x="383167" y="86516"/>
                </a:lnTo>
                <a:lnTo>
                  <a:pt x="366789" y="37114"/>
                </a:lnTo>
                <a:lnTo>
                  <a:pt x="332080" y="5542"/>
                </a:lnTo>
                <a:lnTo>
                  <a:pt x="316729" y="0"/>
                </a:lnTo>
                <a:close/>
              </a:path>
              <a:path w="38481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18108" y="3024123"/>
            <a:ext cx="49371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25" b="1">
                <a:solidFill>
                  <a:srgbClr val="E66C7D"/>
                </a:solidFill>
                <a:latin typeface="Calibri"/>
                <a:cs typeface="Calibri"/>
              </a:rPr>
              <a:t>Jaccard’s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coefficient: </a:t>
            </a:r>
            <a:r>
              <a:rPr dirty="0" baseline="43209" sz="2700" spc="-202">
                <a:latin typeface="Cambria Math"/>
                <a:cs typeface="Cambria Math"/>
              </a:rPr>
              <a:t>|%   </a:t>
            </a:r>
            <a:r>
              <a:rPr dirty="0" baseline="43209" sz="2700" spc="337">
                <a:latin typeface="Cambria Math"/>
                <a:cs typeface="Cambria Math"/>
              </a:rPr>
              <a:t>)</a:t>
            </a:r>
            <a:r>
              <a:rPr dirty="0" baseline="41666" sz="2100" spc="337">
                <a:latin typeface="Cambria Math"/>
                <a:cs typeface="Cambria Math"/>
              </a:rPr>
              <a:t>" </a:t>
            </a:r>
            <a:r>
              <a:rPr dirty="0" baseline="43209" sz="2700" spc="-217">
                <a:latin typeface="Cambria Math"/>
                <a:cs typeface="Cambria Math"/>
              </a:rPr>
              <a:t>∩%   </a:t>
            </a:r>
            <a:r>
              <a:rPr dirty="0" baseline="43209" sz="2700" spc="112">
                <a:latin typeface="Cambria Math"/>
                <a:cs typeface="Cambria Math"/>
              </a:rPr>
              <a:t>)</a:t>
            </a:r>
            <a:r>
              <a:rPr dirty="0" baseline="41666" sz="2100" spc="112">
                <a:latin typeface="Cambria Math"/>
                <a:cs typeface="Cambria Math"/>
              </a:rPr>
              <a:t>#</a:t>
            </a:r>
            <a:r>
              <a:rPr dirty="0" baseline="41666" sz="2100" spc="547">
                <a:latin typeface="Cambria Math"/>
                <a:cs typeface="Cambria Math"/>
              </a:rPr>
              <a:t> </a:t>
            </a:r>
            <a:r>
              <a:rPr dirty="0" baseline="43209" sz="2700">
                <a:latin typeface="Cambria Math"/>
                <a:cs typeface="Cambria Math"/>
              </a:rPr>
              <a:t>|</a:t>
            </a:r>
            <a:endParaRPr baseline="43209" sz="27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21962" y="3375847"/>
            <a:ext cx="384810" cy="212090"/>
          </a:xfrm>
          <a:custGeom>
            <a:avLst/>
            <a:gdLst/>
            <a:ahLst/>
            <a:cxnLst/>
            <a:rect l="l" t="t" r="r" b="b"/>
            <a:pathLst>
              <a:path w="384810" h="212089">
                <a:moveTo>
                  <a:pt x="316729" y="0"/>
                </a:moveTo>
                <a:lnTo>
                  <a:pt x="313714" y="8595"/>
                </a:lnTo>
                <a:lnTo>
                  <a:pt x="325971" y="13914"/>
                </a:lnTo>
                <a:lnTo>
                  <a:pt x="336513" y="21277"/>
                </a:lnTo>
                <a:lnTo>
                  <a:pt x="357916" y="55409"/>
                </a:lnTo>
                <a:lnTo>
                  <a:pt x="364948" y="104811"/>
                </a:lnTo>
                <a:lnTo>
                  <a:pt x="364163" y="123487"/>
                </a:lnTo>
                <a:lnTo>
                  <a:pt x="352391" y="169217"/>
                </a:lnTo>
                <a:lnTo>
                  <a:pt x="326114" y="197806"/>
                </a:lnTo>
                <a:lnTo>
                  <a:pt x="314049" y="203150"/>
                </a:lnTo>
                <a:lnTo>
                  <a:pt x="316729" y="211745"/>
                </a:lnTo>
                <a:lnTo>
                  <a:pt x="357184" y="187708"/>
                </a:lnTo>
                <a:lnTo>
                  <a:pt x="379905" y="143335"/>
                </a:lnTo>
                <a:lnTo>
                  <a:pt x="384258" y="105928"/>
                </a:lnTo>
                <a:lnTo>
                  <a:pt x="383167" y="86516"/>
                </a:lnTo>
                <a:lnTo>
                  <a:pt x="366789" y="37114"/>
                </a:lnTo>
                <a:lnTo>
                  <a:pt x="332080" y="5542"/>
                </a:lnTo>
                <a:lnTo>
                  <a:pt x="316729" y="0"/>
                </a:lnTo>
                <a:close/>
              </a:path>
              <a:path w="38481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4" y="197806"/>
                </a:lnTo>
                <a:lnTo>
                  <a:pt x="47732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068150" y="3375847"/>
            <a:ext cx="384810" cy="212090"/>
          </a:xfrm>
          <a:custGeom>
            <a:avLst/>
            <a:gdLst/>
            <a:ahLst/>
            <a:cxnLst/>
            <a:rect l="l" t="t" r="r" b="b"/>
            <a:pathLst>
              <a:path w="384810" h="212089">
                <a:moveTo>
                  <a:pt x="316729" y="0"/>
                </a:moveTo>
                <a:lnTo>
                  <a:pt x="313715" y="8595"/>
                </a:lnTo>
                <a:lnTo>
                  <a:pt x="325972" y="13914"/>
                </a:lnTo>
                <a:lnTo>
                  <a:pt x="336513" y="21277"/>
                </a:lnTo>
                <a:lnTo>
                  <a:pt x="357916" y="55409"/>
                </a:lnTo>
                <a:lnTo>
                  <a:pt x="364948" y="104811"/>
                </a:lnTo>
                <a:lnTo>
                  <a:pt x="364163" y="123487"/>
                </a:lnTo>
                <a:lnTo>
                  <a:pt x="352391" y="169217"/>
                </a:lnTo>
                <a:lnTo>
                  <a:pt x="326114" y="197806"/>
                </a:lnTo>
                <a:lnTo>
                  <a:pt x="314049" y="203150"/>
                </a:lnTo>
                <a:lnTo>
                  <a:pt x="316729" y="211745"/>
                </a:lnTo>
                <a:lnTo>
                  <a:pt x="357184" y="187708"/>
                </a:lnTo>
                <a:lnTo>
                  <a:pt x="379905" y="143335"/>
                </a:lnTo>
                <a:lnTo>
                  <a:pt x="384258" y="105928"/>
                </a:lnTo>
                <a:lnTo>
                  <a:pt x="383167" y="86516"/>
                </a:lnTo>
                <a:lnTo>
                  <a:pt x="366789" y="37114"/>
                </a:lnTo>
                <a:lnTo>
                  <a:pt x="332080" y="5542"/>
                </a:lnTo>
                <a:lnTo>
                  <a:pt x="316729" y="0"/>
                </a:lnTo>
                <a:close/>
              </a:path>
              <a:path w="384810" h="212089">
                <a:moveTo>
                  <a:pt x="67530" y="0"/>
                </a:moveTo>
                <a:lnTo>
                  <a:pt x="27148" y="24099"/>
                </a:lnTo>
                <a:lnTo>
                  <a:pt x="4367" y="68577"/>
                </a:lnTo>
                <a:lnTo>
                  <a:pt x="0" y="105928"/>
                </a:lnTo>
                <a:lnTo>
                  <a:pt x="1088" y="125381"/>
                </a:lnTo>
                <a:lnTo>
                  <a:pt x="17412" y="174743"/>
                </a:lnTo>
                <a:lnTo>
                  <a:pt x="52134" y="206209"/>
                </a:lnTo>
                <a:lnTo>
                  <a:pt x="67530" y="211745"/>
                </a:lnTo>
                <a:lnTo>
                  <a:pt x="70209" y="203150"/>
                </a:lnTo>
                <a:lnTo>
                  <a:pt x="58143" y="197806"/>
                </a:lnTo>
                <a:lnTo>
                  <a:pt x="47731" y="190369"/>
                </a:lnTo>
                <a:lnTo>
                  <a:pt x="26374" y="155690"/>
                </a:lnTo>
                <a:lnTo>
                  <a:pt x="19310" y="104811"/>
                </a:lnTo>
                <a:lnTo>
                  <a:pt x="20095" y="86747"/>
                </a:lnTo>
                <a:lnTo>
                  <a:pt x="31868" y="42137"/>
                </a:lnTo>
                <a:lnTo>
                  <a:pt x="58332" y="13914"/>
                </a:lnTo>
                <a:lnTo>
                  <a:pt x="70544" y="8595"/>
                </a:lnTo>
                <a:lnTo>
                  <a:pt x="675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045839" y="3306571"/>
            <a:ext cx="1509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35">
                <a:latin typeface="Cambria Math"/>
                <a:cs typeface="Cambria Math"/>
              </a:rPr>
              <a:t>|%   </a:t>
            </a:r>
            <a:r>
              <a:rPr dirty="0" sz="1800" spc="225">
                <a:latin typeface="Cambria Math"/>
                <a:cs typeface="Cambria Math"/>
              </a:rPr>
              <a:t>)</a:t>
            </a:r>
            <a:r>
              <a:rPr dirty="0" baseline="-13888" sz="2100" spc="337">
                <a:latin typeface="Cambria Math"/>
                <a:cs typeface="Cambria Math"/>
              </a:rPr>
              <a:t>" </a:t>
            </a:r>
            <a:r>
              <a:rPr dirty="0" sz="1800" spc="-145">
                <a:latin typeface="Cambria Math"/>
                <a:cs typeface="Cambria Math"/>
              </a:rPr>
              <a:t>∪%   </a:t>
            </a:r>
            <a:r>
              <a:rPr dirty="0" sz="1800" spc="75">
                <a:latin typeface="Cambria Math"/>
                <a:cs typeface="Cambria Math"/>
              </a:rPr>
              <a:t>)</a:t>
            </a:r>
            <a:r>
              <a:rPr dirty="0" baseline="-13888" sz="2100" spc="112">
                <a:latin typeface="Cambria Math"/>
                <a:cs typeface="Cambria Math"/>
              </a:rPr>
              <a:t>#</a:t>
            </a:r>
            <a:r>
              <a:rPr dirty="0" baseline="-13888" sz="2100" spc="41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|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39264" y="3945890"/>
            <a:ext cx="1092200" cy="0"/>
          </a:xfrm>
          <a:custGeom>
            <a:avLst/>
            <a:gdLst/>
            <a:ahLst/>
            <a:cxnLst/>
            <a:rect l="l" t="t" r="r" b="b"/>
            <a:pathLst>
              <a:path w="1092200" h="0">
                <a:moveTo>
                  <a:pt x="0" y="0"/>
                </a:moveTo>
                <a:lnTo>
                  <a:pt x="109219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08452" y="3726167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72449" y="3726167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61746" y="3724484"/>
            <a:ext cx="247015" cy="176530"/>
          </a:xfrm>
          <a:custGeom>
            <a:avLst/>
            <a:gdLst/>
            <a:ahLst/>
            <a:cxnLst/>
            <a:rect l="l" t="t" r="r" b="b"/>
            <a:pathLst>
              <a:path w="247014" h="176529">
                <a:moveTo>
                  <a:pt x="190345" y="0"/>
                </a:moveTo>
                <a:lnTo>
                  <a:pt x="187832" y="7162"/>
                </a:lnTo>
                <a:lnTo>
                  <a:pt x="198047" y="11595"/>
                </a:lnTo>
                <a:lnTo>
                  <a:pt x="206831" y="17731"/>
                </a:lnTo>
                <a:lnTo>
                  <a:pt x="227923" y="58565"/>
                </a:lnTo>
                <a:lnTo>
                  <a:pt x="230527" y="87342"/>
                </a:lnTo>
                <a:lnTo>
                  <a:pt x="229873" y="102906"/>
                </a:lnTo>
                <a:lnTo>
                  <a:pt x="220063" y="141014"/>
                </a:lnTo>
                <a:lnTo>
                  <a:pt x="188112" y="169292"/>
                </a:lnTo>
                <a:lnTo>
                  <a:pt x="190345" y="176453"/>
                </a:lnTo>
                <a:lnTo>
                  <a:pt x="224057" y="156423"/>
                </a:lnTo>
                <a:lnTo>
                  <a:pt x="242992" y="119446"/>
                </a:lnTo>
                <a:lnTo>
                  <a:pt x="246620" y="88273"/>
                </a:lnTo>
                <a:lnTo>
                  <a:pt x="245710" y="72097"/>
                </a:lnTo>
                <a:lnTo>
                  <a:pt x="232063" y="30928"/>
                </a:lnTo>
                <a:lnTo>
                  <a:pt x="203137" y="4618"/>
                </a:lnTo>
                <a:lnTo>
                  <a:pt x="190345" y="0"/>
                </a:lnTo>
                <a:close/>
              </a:path>
              <a:path w="247014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8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10767" y="3724484"/>
            <a:ext cx="253365" cy="176530"/>
          </a:xfrm>
          <a:custGeom>
            <a:avLst/>
            <a:gdLst/>
            <a:ahLst/>
            <a:cxnLst/>
            <a:rect l="l" t="t" r="r" b="b"/>
            <a:pathLst>
              <a:path w="253364" h="176529">
                <a:moveTo>
                  <a:pt x="196631" y="0"/>
                </a:moveTo>
                <a:lnTo>
                  <a:pt x="194119" y="7162"/>
                </a:lnTo>
                <a:lnTo>
                  <a:pt x="204334" y="11595"/>
                </a:lnTo>
                <a:lnTo>
                  <a:pt x="213118" y="17731"/>
                </a:lnTo>
                <a:lnTo>
                  <a:pt x="234210" y="58565"/>
                </a:lnTo>
                <a:lnTo>
                  <a:pt x="236814" y="87342"/>
                </a:lnTo>
                <a:lnTo>
                  <a:pt x="236160" y="102906"/>
                </a:lnTo>
                <a:lnTo>
                  <a:pt x="226349" y="141014"/>
                </a:lnTo>
                <a:lnTo>
                  <a:pt x="194398" y="169292"/>
                </a:lnTo>
                <a:lnTo>
                  <a:pt x="196631" y="176453"/>
                </a:lnTo>
                <a:lnTo>
                  <a:pt x="230343" y="156423"/>
                </a:lnTo>
                <a:lnTo>
                  <a:pt x="249278" y="119446"/>
                </a:lnTo>
                <a:lnTo>
                  <a:pt x="252906" y="88273"/>
                </a:lnTo>
                <a:lnTo>
                  <a:pt x="251996" y="72097"/>
                </a:lnTo>
                <a:lnTo>
                  <a:pt x="238349" y="30928"/>
                </a:lnTo>
                <a:lnTo>
                  <a:pt x="209423" y="4618"/>
                </a:lnTo>
                <a:lnTo>
                  <a:pt x="196631" y="0"/>
                </a:lnTo>
                <a:close/>
              </a:path>
              <a:path w="253364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08452" y="4002773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272449" y="4002773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61746" y="4001090"/>
            <a:ext cx="247015" cy="176530"/>
          </a:xfrm>
          <a:custGeom>
            <a:avLst/>
            <a:gdLst/>
            <a:ahLst/>
            <a:cxnLst/>
            <a:rect l="l" t="t" r="r" b="b"/>
            <a:pathLst>
              <a:path w="247014" h="176529">
                <a:moveTo>
                  <a:pt x="190345" y="0"/>
                </a:moveTo>
                <a:lnTo>
                  <a:pt x="187832" y="7162"/>
                </a:lnTo>
                <a:lnTo>
                  <a:pt x="198047" y="11595"/>
                </a:lnTo>
                <a:lnTo>
                  <a:pt x="206831" y="17731"/>
                </a:lnTo>
                <a:lnTo>
                  <a:pt x="227923" y="58565"/>
                </a:lnTo>
                <a:lnTo>
                  <a:pt x="230527" y="87342"/>
                </a:lnTo>
                <a:lnTo>
                  <a:pt x="229873" y="102906"/>
                </a:lnTo>
                <a:lnTo>
                  <a:pt x="220063" y="141014"/>
                </a:lnTo>
                <a:lnTo>
                  <a:pt x="188112" y="169292"/>
                </a:lnTo>
                <a:lnTo>
                  <a:pt x="190345" y="176453"/>
                </a:lnTo>
                <a:lnTo>
                  <a:pt x="224057" y="156423"/>
                </a:lnTo>
                <a:lnTo>
                  <a:pt x="242992" y="119446"/>
                </a:lnTo>
                <a:lnTo>
                  <a:pt x="246620" y="88273"/>
                </a:lnTo>
                <a:lnTo>
                  <a:pt x="245710" y="72097"/>
                </a:lnTo>
                <a:lnTo>
                  <a:pt x="232063" y="30928"/>
                </a:lnTo>
                <a:lnTo>
                  <a:pt x="203137" y="4618"/>
                </a:lnTo>
                <a:lnTo>
                  <a:pt x="190345" y="0"/>
                </a:lnTo>
                <a:close/>
              </a:path>
              <a:path w="247014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8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10767" y="4001090"/>
            <a:ext cx="253365" cy="176530"/>
          </a:xfrm>
          <a:custGeom>
            <a:avLst/>
            <a:gdLst/>
            <a:ahLst/>
            <a:cxnLst/>
            <a:rect l="l" t="t" r="r" b="b"/>
            <a:pathLst>
              <a:path w="253364" h="176529">
                <a:moveTo>
                  <a:pt x="196631" y="0"/>
                </a:moveTo>
                <a:lnTo>
                  <a:pt x="194119" y="7162"/>
                </a:lnTo>
                <a:lnTo>
                  <a:pt x="204334" y="11595"/>
                </a:lnTo>
                <a:lnTo>
                  <a:pt x="213118" y="17731"/>
                </a:lnTo>
                <a:lnTo>
                  <a:pt x="234210" y="58565"/>
                </a:lnTo>
                <a:lnTo>
                  <a:pt x="236814" y="87342"/>
                </a:lnTo>
                <a:lnTo>
                  <a:pt x="236160" y="102906"/>
                </a:lnTo>
                <a:lnTo>
                  <a:pt x="226349" y="141014"/>
                </a:lnTo>
                <a:lnTo>
                  <a:pt x="194398" y="169292"/>
                </a:lnTo>
                <a:lnTo>
                  <a:pt x="196631" y="176453"/>
                </a:lnTo>
                <a:lnTo>
                  <a:pt x="230343" y="156423"/>
                </a:lnTo>
                <a:lnTo>
                  <a:pt x="249278" y="119446"/>
                </a:lnTo>
                <a:lnTo>
                  <a:pt x="252906" y="88273"/>
                </a:lnTo>
                <a:lnTo>
                  <a:pt x="251996" y="72097"/>
                </a:lnTo>
                <a:lnTo>
                  <a:pt x="238349" y="30928"/>
                </a:lnTo>
                <a:lnTo>
                  <a:pt x="209423" y="4618"/>
                </a:lnTo>
                <a:lnTo>
                  <a:pt x="196631" y="0"/>
                </a:lnTo>
                <a:close/>
              </a:path>
              <a:path w="253364" h="176529">
                <a:moveTo>
                  <a:pt x="56276" y="0"/>
                </a:moveTo>
                <a:lnTo>
                  <a:pt x="22623" y="20082"/>
                </a:lnTo>
                <a:lnTo>
                  <a:pt x="3639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11" y="145619"/>
                </a:lnTo>
                <a:lnTo>
                  <a:pt x="43445" y="171841"/>
                </a:lnTo>
                <a:lnTo>
                  <a:pt x="56276" y="176453"/>
                </a:lnTo>
                <a:lnTo>
                  <a:pt x="58508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8" y="117039"/>
                </a:lnTo>
                <a:lnTo>
                  <a:pt x="16092" y="87342"/>
                </a:lnTo>
                <a:lnTo>
                  <a:pt x="16746" y="72288"/>
                </a:lnTo>
                <a:lnTo>
                  <a:pt x="26556" y="35114"/>
                </a:lnTo>
                <a:lnTo>
                  <a:pt x="58787" y="7162"/>
                </a:lnTo>
                <a:lnTo>
                  <a:pt x="562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956563" y="3747515"/>
            <a:ext cx="26536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6385" algn="l"/>
                <a:tab pos="287020" algn="l"/>
                <a:tab pos="2450465" algn="l"/>
              </a:tabLst>
            </a:pPr>
            <a:r>
              <a:rPr dirty="0" sz="2000" spc="-5">
                <a:latin typeface="Calibri"/>
                <a:cs typeface="Calibri"/>
              </a:rPr>
              <a:t>E</a:t>
            </a:r>
            <a:r>
              <a:rPr dirty="0" sz="2000" spc="-40">
                <a:latin typeface="Calibri"/>
                <a:cs typeface="Calibri"/>
              </a:rPr>
              <a:t>x</a:t>
            </a:r>
            <a:r>
              <a:rPr dirty="0" sz="2000">
                <a:latin typeface="Calibri"/>
                <a:cs typeface="Calibri"/>
              </a:rPr>
              <a:t>am</a:t>
            </a:r>
            <a:r>
              <a:rPr dirty="0" sz="2000" spc="-5">
                <a:latin typeface="Calibri"/>
                <a:cs typeface="Calibri"/>
              </a:rPr>
              <a:t>p</a:t>
            </a:r>
            <a:r>
              <a:rPr dirty="0" sz="2000">
                <a:latin typeface="Calibri"/>
                <a:cs typeface="Calibri"/>
              </a:rPr>
              <a:t>le: </a:t>
            </a:r>
            <a:r>
              <a:rPr dirty="0" sz="2000" spc="0">
                <a:latin typeface="Calibri"/>
                <a:cs typeface="Calibri"/>
              </a:rPr>
              <a:t> </a:t>
            </a:r>
            <a:r>
              <a:rPr dirty="0" baseline="-37037" sz="2250" spc="-307">
                <a:latin typeface="Cambria Math"/>
                <a:cs typeface="Cambria Math"/>
              </a:rPr>
              <a:t>%</a:t>
            </a:r>
            <a:r>
              <a:rPr dirty="0" baseline="-37037" sz="2250">
                <a:latin typeface="Cambria Math"/>
                <a:cs typeface="Cambria Math"/>
              </a:rPr>
              <a:t> </a:t>
            </a:r>
            <a:r>
              <a:rPr dirty="0" baseline="-37037" sz="2250" spc="-82">
                <a:latin typeface="Cambria Math"/>
                <a:cs typeface="Cambria Math"/>
              </a:rPr>
              <a:t> </a:t>
            </a:r>
            <a:r>
              <a:rPr dirty="0" baseline="-37037" sz="2250" spc="-60">
                <a:latin typeface="Cambria Math"/>
                <a:cs typeface="Cambria Math"/>
              </a:rPr>
              <a:t>&amp;</a:t>
            </a:r>
            <a:r>
              <a:rPr dirty="0" baseline="-37037" sz="2250">
                <a:latin typeface="Cambria Math"/>
                <a:cs typeface="Cambria Math"/>
              </a:rPr>
              <a:t> </a:t>
            </a:r>
            <a:r>
              <a:rPr dirty="0" baseline="-37037" sz="2250" spc="-112">
                <a:latin typeface="Cambria Math"/>
                <a:cs typeface="Cambria Math"/>
              </a:rPr>
              <a:t> </a:t>
            </a:r>
            <a:r>
              <a:rPr dirty="0" baseline="-37037" sz="2250" spc="-37">
                <a:latin typeface="Cambria Math"/>
                <a:cs typeface="Cambria Math"/>
              </a:rPr>
              <a:t>∪</a:t>
            </a:r>
            <a:r>
              <a:rPr dirty="0" baseline="-37037" sz="2250" spc="-307">
                <a:latin typeface="Cambria Math"/>
                <a:cs typeface="Cambria Math"/>
              </a:rPr>
              <a:t>%</a:t>
            </a:r>
            <a:r>
              <a:rPr dirty="0" baseline="-37037" sz="2250">
                <a:latin typeface="Cambria Math"/>
                <a:cs typeface="Cambria Math"/>
              </a:rPr>
              <a:t> </a:t>
            </a:r>
            <a:r>
              <a:rPr dirty="0" baseline="-37037" sz="2250" spc="-82">
                <a:latin typeface="Cambria Math"/>
                <a:cs typeface="Cambria Math"/>
              </a:rPr>
              <a:t> </a:t>
            </a:r>
            <a:r>
              <a:rPr dirty="0" baseline="-37037" sz="2250" spc="577">
                <a:latin typeface="Cambria Math"/>
                <a:cs typeface="Cambria Math"/>
              </a:rPr>
              <a:t>(</a:t>
            </a:r>
            <a:r>
              <a:rPr dirty="0" baseline="-37037" sz="2250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74364" y="3945890"/>
            <a:ext cx="558800" cy="0"/>
          </a:xfrm>
          <a:custGeom>
            <a:avLst/>
            <a:gdLst/>
            <a:ahLst/>
            <a:cxnLst/>
            <a:rect l="l" t="t" r="r" b="b"/>
            <a:pathLst>
              <a:path w="558800" h="0">
                <a:moveTo>
                  <a:pt x="0" y="0"/>
                </a:moveTo>
                <a:lnTo>
                  <a:pt x="5588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109059" y="3726167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86670" y="3726167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288285" y="3664711"/>
            <a:ext cx="180593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6540" algn="l"/>
              </a:tabLst>
            </a:pPr>
            <a:r>
              <a:rPr dirty="0" sz="1500" spc="-204">
                <a:latin typeface="Cambria Math"/>
                <a:cs typeface="Cambria Math"/>
              </a:rPr>
              <a:t>%</a:t>
            </a:r>
            <a:r>
              <a:rPr dirty="0" sz="1500" spc="-204">
                <a:latin typeface="Cambria Math"/>
                <a:cs typeface="Cambria Math"/>
              </a:rPr>
              <a:t> </a:t>
            </a:r>
            <a:r>
              <a:rPr dirty="0" sz="1500" spc="-55">
                <a:latin typeface="Cambria Math"/>
                <a:cs typeface="Cambria Math"/>
              </a:rPr>
              <a:t> </a:t>
            </a:r>
            <a:r>
              <a:rPr dirty="0" sz="1500" spc="-40">
                <a:latin typeface="Cambria Math"/>
                <a:cs typeface="Cambria Math"/>
              </a:rPr>
              <a:t>&amp;</a:t>
            </a:r>
            <a:r>
              <a:rPr dirty="0" sz="1500">
                <a:latin typeface="Cambria Math"/>
                <a:cs typeface="Cambria Math"/>
              </a:rPr>
              <a:t> </a:t>
            </a:r>
            <a:r>
              <a:rPr dirty="0" sz="1500" spc="-75">
                <a:latin typeface="Cambria Math"/>
                <a:cs typeface="Cambria Math"/>
              </a:rPr>
              <a:t> </a:t>
            </a:r>
            <a:r>
              <a:rPr dirty="0" sz="1500" spc="-25">
                <a:latin typeface="Cambria Math"/>
                <a:cs typeface="Cambria Math"/>
              </a:rPr>
              <a:t>∩</a:t>
            </a:r>
            <a:r>
              <a:rPr dirty="0" sz="1500" spc="-204">
                <a:latin typeface="Cambria Math"/>
                <a:cs typeface="Cambria Math"/>
              </a:rPr>
              <a:t>%</a:t>
            </a:r>
            <a:r>
              <a:rPr dirty="0" sz="1500">
                <a:latin typeface="Cambria Math"/>
                <a:cs typeface="Cambria Math"/>
              </a:rPr>
              <a:t> </a:t>
            </a:r>
            <a:r>
              <a:rPr dirty="0" sz="1500" spc="-55">
                <a:latin typeface="Cambria Math"/>
                <a:cs typeface="Cambria Math"/>
              </a:rPr>
              <a:t> </a:t>
            </a:r>
            <a:r>
              <a:rPr dirty="0" sz="1500" spc="385">
                <a:latin typeface="Cambria Math"/>
                <a:cs typeface="Cambria Math"/>
              </a:rPr>
              <a:t>(</a:t>
            </a:r>
            <a:r>
              <a:rPr dirty="0" sz="1500">
                <a:latin typeface="Cambria Math"/>
                <a:cs typeface="Cambria Math"/>
              </a:rPr>
              <a:t>	</a:t>
            </a:r>
            <a:r>
              <a:rPr dirty="0" sz="1500" spc="-20">
                <a:latin typeface="Cambria Math"/>
                <a:cs typeface="Cambria Math"/>
              </a:rPr>
              <a:t>{</a:t>
            </a:r>
            <a:r>
              <a:rPr dirty="0" sz="1500" spc="-175">
                <a:latin typeface="Cambria Math"/>
                <a:cs typeface="Cambria Math"/>
              </a:rPr>
              <a:t>+</a:t>
            </a:r>
            <a:r>
              <a:rPr dirty="0" sz="1500">
                <a:latin typeface="Cambria Math"/>
                <a:cs typeface="Cambria Math"/>
              </a:rPr>
              <a:t>}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197071" y="4002773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98723" y="4002773"/>
            <a:ext cx="0" cy="173355"/>
          </a:xfrm>
          <a:custGeom>
            <a:avLst/>
            <a:gdLst/>
            <a:ahLst/>
            <a:cxnLst/>
            <a:rect l="l" t="t" r="r" b="b"/>
            <a:pathLst>
              <a:path w="0" h="173354">
                <a:moveTo>
                  <a:pt x="0" y="0"/>
                </a:moveTo>
                <a:lnTo>
                  <a:pt x="0" y="173106"/>
                </a:lnTo>
              </a:path>
            </a:pathLst>
          </a:custGeom>
          <a:ln w="143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563364" y="394589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 h="0">
                <a:moveTo>
                  <a:pt x="0" y="0"/>
                </a:moveTo>
                <a:lnTo>
                  <a:pt x="1143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4544504" y="3664711"/>
            <a:ext cx="1358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0">
                <a:latin typeface="Cambria Math"/>
                <a:cs typeface="Cambria Math"/>
              </a:rPr>
              <a:t>$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14559" y="3875532"/>
            <a:ext cx="9658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5">
                <a:latin typeface="Cambria Math"/>
                <a:cs typeface="Cambria Math"/>
              </a:rPr>
              <a:t>{+,.}  </a:t>
            </a:r>
            <a:r>
              <a:rPr dirty="0" baseline="27777" sz="3000">
                <a:latin typeface="Cambria Math"/>
                <a:cs typeface="Cambria Math"/>
              </a:rPr>
              <a:t>=</a:t>
            </a:r>
            <a:r>
              <a:rPr dirty="0" baseline="27777" sz="3000" spc="-135">
                <a:latin typeface="Cambria Math"/>
                <a:cs typeface="Cambria Math"/>
              </a:rPr>
              <a:t> </a:t>
            </a:r>
            <a:r>
              <a:rPr dirty="0" sz="1500" spc="125">
                <a:latin typeface="Cambria Math"/>
                <a:cs typeface="Cambria Math"/>
              </a:rPr>
              <a:t>/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8108" y="4154932"/>
            <a:ext cx="32588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78571"/>
              <a:buFont typeface="Arial"/>
              <a:buChar char="▪"/>
              <a:tabLst>
                <a:tab pos="332105" algn="l"/>
                <a:tab pos="332740" algn="l"/>
              </a:tabLst>
            </a:pPr>
            <a:r>
              <a:rPr dirty="0" sz="2800" spc="-5" b="1">
                <a:solidFill>
                  <a:srgbClr val="E66C7D"/>
                </a:solidFill>
                <a:latin typeface="Calibri"/>
                <a:cs typeface="Calibri"/>
              </a:rPr>
              <a:t>Adamic-Adar</a:t>
            </a:r>
            <a:r>
              <a:rPr dirty="0" sz="2800" spc="-50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E66C7D"/>
                </a:solidFill>
                <a:latin typeface="Calibri"/>
                <a:cs typeface="Calibri"/>
              </a:rPr>
              <a:t>index: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671617" y="4855165"/>
            <a:ext cx="320040" cy="176530"/>
          </a:xfrm>
          <a:custGeom>
            <a:avLst/>
            <a:gdLst/>
            <a:ahLst/>
            <a:cxnLst/>
            <a:rect l="l" t="t" r="r" b="b"/>
            <a:pathLst>
              <a:path w="320039" h="176529">
                <a:moveTo>
                  <a:pt x="263432" y="0"/>
                </a:moveTo>
                <a:lnTo>
                  <a:pt x="260920" y="7162"/>
                </a:lnTo>
                <a:lnTo>
                  <a:pt x="271134" y="11595"/>
                </a:lnTo>
                <a:lnTo>
                  <a:pt x="279919" y="17731"/>
                </a:lnTo>
                <a:lnTo>
                  <a:pt x="301010" y="58566"/>
                </a:lnTo>
                <a:lnTo>
                  <a:pt x="303615" y="87342"/>
                </a:lnTo>
                <a:lnTo>
                  <a:pt x="302961" y="102906"/>
                </a:lnTo>
                <a:lnTo>
                  <a:pt x="293151" y="141014"/>
                </a:lnTo>
                <a:lnTo>
                  <a:pt x="261199" y="169292"/>
                </a:lnTo>
                <a:lnTo>
                  <a:pt x="263432" y="176453"/>
                </a:lnTo>
                <a:lnTo>
                  <a:pt x="297144" y="156423"/>
                </a:lnTo>
                <a:lnTo>
                  <a:pt x="316079" y="119446"/>
                </a:lnTo>
                <a:lnTo>
                  <a:pt x="319707" y="88273"/>
                </a:lnTo>
                <a:lnTo>
                  <a:pt x="318797" y="72097"/>
                </a:lnTo>
                <a:lnTo>
                  <a:pt x="305150" y="30928"/>
                </a:lnTo>
                <a:lnTo>
                  <a:pt x="276224" y="4618"/>
                </a:lnTo>
                <a:lnTo>
                  <a:pt x="263432" y="0"/>
                </a:lnTo>
                <a:close/>
              </a:path>
              <a:path w="320039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0" y="87342"/>
                </a:lnTo>
                <a:lnTo>
                  <a:pt x="16745" y="72289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293726" y="4855165"/>
            <a:ext cx="320040" cy="176530"/>
          </a:xfrm>
          <a:custGeom>
            <a:avLst/>
            <a:gdLst/>
            <a:ahLst/>
            <a:cxnLst/>
            <a:rect l="l" t="t" r="r" b="b"/>
            <a:pathLst>
              <a:path w="320039" h="176529">
                <a:moveTo>
                  <a:pt x="263432" y="0"/>
                </a:moveTo>
                <a:lnTo>
                  <a:pt x="260920" y="7162"/>
                </a:lnTo>
                <a:lnTo>
                  <a:pt x="271134" y="11595"/>
                </a:lnTo>
                <a:lnTo>
                  <a:pt x="279919" y="17731"/>
                </a:lnTo>
                <a:lnTo>
                  <a:pt x="301010" y="58566"/>
                </a:lnTo>
                <a:lnTo>
                  <a:pt x="303615" y="87342"/>
                </a:lnTo>
                <a:lnTo>
                  <a:pt x="302961" y="102906"/>
                </a:lnTo>
                <a:lnTo>
                  <a:pt x="293150" y="141014"/>
                </a:lnTo>
                <a:lnTo>
                  <a:pt x="261199" y="169292"/>
                </a:lnTo>
                <a:lnTo>
                  <a:pt x="263432" y="176453"/>
                </a:lnTo>
                <a:lnTo>
                  <a:pt x="297144" y="156423"/>
                </a:lnTo>
                <a:lnTo>
                  <a:pt x="316079" y="119446"/>
                </a:lnTo>
                <a:lnTo>
                  <a:pt x="319707" y="88273"/>
                </a:lnTo>
                <a:lnTo>
                  <a:pt x="318797" y="72097"/>
                </a:lnTo>
                <a:lnTo>
                  <a:pt x="305150" y="30928"/>
                </a:lnTo>
                <a:lnTo>
                  <a:pt x="276224" y="4618"/>
                </a:lnTo>
                <a:lnTo>
                  <a:pt x="263432" y="0"/>
                </a:lnTo>
                <a:close/>
              </a:path>
              <a:path w="320039" h="176529">
                <a:moveTo>
                  <a:pt x="56274" y="0"/>
                </a:moveTo>
                <a:lnTo>
                  <a:pt x="22623" y="20082"/>
                </a:lnTo>
                <a:lnTo>
                  <a:pt x="3638" y="57147"/>
                </a:lnTo>
                <a:lnTo>
                  <a:pt x="0" y="88273"/>
                </a:lnTo>
                <a:lnTo>
                  <a:pt x="906" y="104485"/>
                </a:lnTo>
                <a:lnTo>
                  <a:pt x="14509" y="145619"/>
                </a:lnTo>
                <a:lnTo>
                  <a:pt x="43444" y="171841"/>
                </a:lnTo>
                <a:lnTo>
                  <a:pt x="56274" y="176453"/>
                </a:lnTo>
                <a:lnTo>
                  <a:pt x="58507" y="169292"/>
                </a:lnTo>
                <a:lnTo>
                  <a:pt x="48453" y="164838"/>
                </a:lnTo>
                <a:lnTo>
                  <a:pt x="39776" y="158641"/>
                </a:lnTo>
                <a:lnTo>
                  <a:pt x="18707" y="117039"/>
                </a:lnTo>
                <a:lnTo>
                  <a:pt x="16090" y="87342"/>
                </a:lnTo>
                <a:lnTo>
                  <a:pt x="16745" y="72289"/>
                </a:lnTo>
                <a:lnTo>
                  <a:pt x="26555" y="35114"/>
                </a:lnTo>
                <a:lnTo>
                  <a:pt x="58787" y="7162"/>
                </a:lnTo>
                <a:lnTo>
                  <a:pt x="56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078483" y="4732020"/>
            <a:ext cx="147828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6666" sz="3000" spc="-37">
                <a:latin typeface="Cambria Math"/>
                <a:cs typeface="Cambria Math"/>
              </a:rPr>
              <a:t>∑</a:t>
            </a:r>
            <a:r>
              <a:rPr dirty="0" sz="1500" spc="-25">
                <a:latin typeface="Cambria Math"/>
                <a:cs typeface="Cambria Math"/>
              </a:rPr>
              <a:t>0∈%  </a:t>
            </a:r>
            <a:r>
              <a:rPr dirty="0" sz="1500" spc="355">
                <a:latin typeface="Cambria Math"/>
                <a:cs typeface="Cambria Math"/>
              </a:rPr>
              <a:t>!</a:t>
            </a:r>
            <a:r>
              <a:rPr dirty="0" baseline="-13888" sz="1800" spc="532">
                <a:latin typeface="Cambria Math"/>
                <a:cs typeface="Cambria Math"/>
              </a:rPr>
              <a:t>! </a:t>
            </a:r>
            <a:r>
              <a:rPr dirty="0" sz="1500" spc="-114">
                <a:latin typeface="Cambria Math"/>
                <a:cs typeface="Cambria Math"/>
              </a:rPr>
              <a:t>∩%</a:t>
            </a:r>
            <a:r>
              <a:rPr dirty="0" sz="1500" spc="90">
                <a:latin typeface="Cambria Math"/>
                <a:cs typeface="Cambria Math"/>
              </a:rPr>
              <a:t> </a:t>
            </a:r>
            <a:r>
              <a:rPr dirty="0" sz="1500" spc="290">
                <a:latin typeface="Cambria Math"/>
                <a:cs typeface="Cambria Math"/>
              </a:rPr>
              <a:t>!</a:t>
            </a:r>
            <a:r>
              <a:rPr dirty="0" baseline="-13888" sz="1800" spc="434">
                <a:latin typeface="Cambria Math"/>
                <a:cs typeface="Cambria Math"/>
              </a:rPr>
              <a:t>"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71064" y="4860290"/>
            <a:ext cx="647700" cy="0"/>
          </a:xfrm>
          <a:custGeom>
            <a:avLst/>
            <a:gdLst/>
            <a:ahLst/>
            <a:cxnLst/>
            <a:rect l="l" t="t" r="r" b="b"/>
            <a:pathLst>
              <a:path w="647700" h="0">
                <a:moveTo>
                  <a:pt x="0" y="0"/>
                </a:moveTo>
                <a:lnTo>
                  <a:pt x="647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2930651" y="4579111"/>
            <a:ext cx="1358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0">
                <a:latin typeface="Cambria Math"/>
                <a:cs typeface="Cambria Math"/>
              </a:rPr>
              <a:t>$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57729" y="4853432"/>
            <a:ext cx="6826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60">
                <a:latin typeface="Cambria Math"/>
                <a:cs typeface="Cambria Math"/>
              </a:rPr>
              <a:t>2</a:t>
            </a:r>
            <a:r>
              <a:rPr dirty="0" sz="1500" spc="-170">
                <a:latin typeface="Cambria Math"/>
                <a:cs typeface="Cambria Math"/>
              </a:rPr>
              <a:t>3</a:t>
            </a:r>
            <a:r>
              <a:rPr dirty="0" sz="1500" spc="-20">
                <a:latin typeface="Cambria Math"/>
                <a:cs typeface="Cambria Math"/>
              </a:rPr>
              <a:t>4</a:t>
            </a:r>
            <a:r>
              <a:rPr dirty="0" sz="1500" spc="-25">
                <a:latin typeface="Cambria Math"/>
                <a:cs typeface="Cambria Math"/>
              </a:rPr>
              <a:t>(</a:t>
            </a:r>
            <a:r>
              <a:rPr dirty="0" sz="1500" spc="55">
                <a:latin typeface="Cambria Math"/>
                <a:cs typeface="Cambria Math"/>
              </a:rPr>
              <a:t>6</a:t>
            </a:r>
            <a:r>
              <a:rPr dirty="0" baseline="-13888" sz="1800" spc="225">
                <a:latin typeface="Cambria Math"/>
                <a:cs typeface="Cambria Math"/>
              </a:rPr>
              <a:t>#</a:t>
            </a:r>
            <a:r>
              <a:rPr dirty="0" sz="1500">
                <a:latin typeface="Cambria Math"/>
                <a:cs typeface="Cambria Math"/>
              </a:rPr>
              <a:t>)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427097" y="5476747"/>
            <a:ext cx="805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30">
                <a:latin typeface="Cambria Math"/>
                <a:cs typeface="Cambria Math"/>
              </a:rPr>
              <a:t>9:;(2</a:t>
            </a:r>
            <a:r>
              <a:rPr dirty="0" baseline="-13888" sz="2100" spc="195">
                <a:latin typeface="Cambria Math"/>
                <a:cs typeface="Cambria Math"/>
              </a:rPr>
              <a:t>$</a:t>
            </a:r>
            <a:r>
              <a:rPr dirty="0" sz="1800" spc="13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56563" y="5248147"/>
            <a:ext cx="317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807210" algn="l"/>
                <a:tab pos="2259965" algn="l"/>
                <a:tab pos="2845435" algn="l"/>
                <a:tab pos="3161665" algn="l"/>
              </a:tabLst>
            </a:pPr>
            <a:r>
              <a:rPr dirty="0" sz="2400" spc="-10">
                <a:latin typeface="Calibri"/>
                <a:cs typeface="Calibri"/>
              </a:rPr>
              <a:t>Example:</a:t>
            </a:r>
            <a:r>
              <a:rPr dirty="0" baseline="32407" sz="3600" spc="-15" u="heavy">
                <a:latin typeface="Calibri"/>
                <a:cs typeface="Calibri"/>
              </a:rPr>
              <a:t> 	</a:t>
            </a:r>
            <a:r>
              <a:rPr dirty="0" baseline="43209" sz="2700" spc="-112" u="heavy">
                <a:latin typeface="Cambria Math"/>
                <a:cs typeface="Cambria Math"/>
              </a:rPr>
              <a:t>#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baseline="32407" sz="3600" u="heavy">
                <a:latin typeface="Cambria Math"/>
                <a:cs typeface="Cambria Math"/>
              </a:rPr>
              <a:t> 	</a:t>
            </a:r>
            <a:r>
              <a:rPr dirty="0" baseline="43209" sz="2700" spc="-112" u="heavy">
                <a:latin typeface="Cambria Math"/>
                <a:cs typeface="Cambria Math"/>
              </a:rPr>
              <a:t>#	</a:t>
            </a:r>
            <a:endParaRPr baseline="43209" sz="27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600958" y="5476747"/>
            <a:ext cx="535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0">
                <a:latin typeface="Cambria Math"/>
                <a:cs typeface="Cambria Math"/>
              </a:rPr>
              <a:t>9:;</a:t>
            </a:r>
            <a:r>
              <a:rPr dirty="0" sz="1800" spc="-120">
                <a:latin typeface="Cambria Math"/>
                <a:cs typeface="Cambria Math"/>
              </a:rPr>
              <a:t> </a:t>
            </a:r>
            <a:r>
              <a:rPr dirty="0" sz="1800" spc="-310">
                <a:latin typeface="Cambria Math"/>
                <a:cs typeface="Cambria Math"/>
              </a:rPr>
              <a:t>&lt;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07552" y="3429000"/>
            <a:ext cx="3235469" cy="24582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804775" y="5031740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53" name="object 53"/>
          <p:cNvSpPr txBox="1"/>
          <p:nvPr/>
        </p:nvSpPr>
        <p:spPr>
          <a:xfrm>
            <a:off x="5802679" y="3934459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70425" y="3498596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88200" y="4409947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671681" y="5513323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44892" y="5187188"/>
            <a:ext cx="2489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28280" y="5327396"/>
            <a:ext cx="177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08000"/>
                </a:solidFill>
                <a:latin typeface="Cambria Math"/>
                <a:cs typeface="Cambria Math"/>
              </a:rPr>
              <a:t>&amp;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037772" y="3775964"/>
            <a:ext cx="514350" cy="882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290">
                <a:solidFill>
                  <a:srgbClr val="0000FF"/>
                </a:solidFill>
                <a:latin typeface="Cambria Math"/>
                <a:cs typeface="Cambria Math"/>
              </a:rPr>
              <a:t>𝑁</a:t>
            </a:r>
            <a:r>
              <a:rPr dirty="0" baseline="-15432" sz="2700" spc="434">
                <a:solidFill>
                  <a:srgbClr val="0000FF"/>
                </a:solidFill>
                <a:latin typeface="Cambria Math"/>
                <a:cs typeface="Cambria Math"/>
              </a:rPr>
              <a:t>'</a:t>
            </a:r>
            <a:endParaRPr baseline="-15432" sz="2700">
              <a:latin typeface="Cambria Math"/>
              <a:cs typeface="Cambria Math"/>
            </a:endParaRPr>
          </a:p>
          <a:p>
            <a:pPr algn="r" marR="5080">
              <a:lnSpc>
                <a:spcPct val="100000"/>
              </a:lnSpc>
              <a:spcBef>
                <a:spcPts val="17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12164"/>
            <a:ext cx="74466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Limitation </a:t>
            </a:r>
            <a:r>
              <a:rPr dirty="0">
                <a:solidFill>
                  <a:srgbClr val="E66C7D"/>
                </a:solidFill>
              </a:rPr>
              <a:t>of </a:t>
            </a:r>
            <a:r>
              <a:rPr dirty="0" spc="-10">
                <a:solidFill>
                  <a:srgbClr val="E66C7D"/>
                </a:solidFill>
              </a:rPr>
              <a:t>local </a:t>
            </a:r>
            <a:r>
              <a:rPr dirty="0" spc="-5">
                <a:solidFill>
                  <a:srgbClr val="E66C7D"/>
                </a:solidFill>
              </a:rPr>
              <a:t>neighborhood </a:t>
            </a:r>
            <a:r>
              <a:rPr dirty="0" spc="-20">
                <a:solidFill>
                  <a:srgbClr val="E66C7D"/>
                </a:solidFill>
              </a:rPr>
              <a:t>features: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4880355"/>
            <a:ext cx="7927340" cy="184658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625475" marR="448309" indent="-274320">
              <a:lnSpc>
                <a:spcPts val="3310"/>
              </a:lnSpc>
              <a:spcBef>
                <a:spcPts val="2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45">
                <a:latin typeface="Calibri"/>
                <a:cs typeface="Calibri"/>
              </a:rPr>
              <a:t>However,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 spc="-20">
                <a:latin typeface="Calibri"/>
                <a:cs typeface="Calibri"/>
              </a:rPr>
              <a:t>may </a:t>
            </a:r>
            <a:r>
              <a:rPr dirty="0" sz="2800" spc="-15">
                <a:latin typeface="Calibri"/>
                <a:cs typeface="Calibri"/>
              </a:rPr>
              <a:t>still potentially </a:t>
            </a:r>
            <a:r>
              <a:rPr dirty="0" sz="2800" spc="-550">
                <a:latin typeface="Calibri"/>
                <a:cs typeface="Calibri"/>
              </a:rPr>
              <a:t>be  </a:t>
            </a:r>
            <a:r>
              <a:rPr dirty="0" sz="2800" spc="-10">
                <a:latin typeface="Calibri"/>
                <a:cs typeface="Calibri"/>
              </a:rPr>
              <a:t>connected </a:t>
            </a:r>
            <a:r>
              <a:rPr dirty="0" sz="2800" spc="-5">
                <a:latin typeface="Calibri"/>
                <a:cs typeface="Calibri"/>
              </a:rPr>
              <a:t>in the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future.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Global neighborhood </a:t>
            </a:r>
            <a:r>
              <a:rPr dirty="0" sz="3200" spc="-10" b="1">
                <a:latin typeface="Calibri"/>
                <a:cs typeface="Calibri"/>
              </a:rPr>
              <a:t>overlap </a:t>
            </a:r>
            <a:r>
              <a:rPr dirty="0" sz="3200" spc="-10">
                <a:latin typeface="Calibri"/>
                <a:cs typeface="Calibri"/>
              </a:rPr>
              <a:t>metrics</a:t>
            </a:r>
            <a:r>
              <a:rPr dirty="0" sz="320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resolve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50"/>
              </a:spcBef>
            </a:pP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0">
                <a:latin typeface="Calibri"/>
                <a:cs typeface="Calibri"/>
              </a:rPr>
              <a:t>limitation </a:t>
            </a:r>
            <a:r>
              <a:rPr dirty="0" sz="3200" spc="-5">
                <a:latin typeface="Calibri"/>
                <a:cs typeface="Calibri"/>
              </a:rPr>
              <a:t>by considering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entire</a:t>
            </a:r>
            <a:r>
              <a:rPr dirty="0" sz="3200" spc="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66836" y="2876426"/>
            <a:ext cx="3017479" cy="19839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386602" y="4141723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454038" y="3257803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1884171"/>
            <a:ext cx="7520305" cy="13258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7020" marR="5080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Metric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25">
                <a:latin typeface="Calibri"/>
                <a:cs typeface="Calibri"/>
              </a:rPr>
              <a:t>always </a:t>
            </a:r>
            <a:r>
              <a:rPr dirty="0" sz="2800" spc="-35">
                <a:latin typeface="Calibri"/>
                <a:cs typeface="Calibri"/>
              </a:rPr>
              <a:t>zero </a:t>
            </a:r>
            <a:r>
              <a:rPr dirty="0" sz="2800" spc="-5">
                <a:latin typeface="Calibri"/>
                <a:cs typeface="Calibri"/>
              </a:rPr>
              <a:t>if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two </a:t>
            </a:r>
            <a:r>
              <a:rPr dirty="0" sz="2800" spc="-5">
                <a:latin typeface="Calibri"/>
                <a:cs typeface="Calibri"/>
              </a:rPr>
              <a:t>nodes </a:t>
            </a:r>
            <a:r>
              <a:rPr dirty="0" sz="2800">
                <a:latin typeface="Calibri"/>
                <a:cs typeface="Calibri"/>
              </a:rPr>
              <a:t>do </a:t>
            </a:r>
            <a:r>
              <a:rPr dirty="0" sz="2800" spc="-5">
                <a:latin typeface="Calibri"/>
                <a:cs typeface="Calibri"/>
              </a:rPr>
              <a:t>not </a:t>
            </a:r>
            <a:r>
              <a:rPr dirty="0" sz="2800" spc="-175">
                <a:latin typeface="Calibri"/>
                <a:cs typeface="Calibri"/>
              </a:rPr>
              <a:t>have 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5">
                <a:latin typeface="Calibri"/>
                <a:cs typeface="Calibri"/>
              </a:rPr>
              <a:t>in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common.</a:t>
            </a:r>
            <a:endParaRPr sz="2800">
              <a:latin typeface="Calibri"/>
              <a:cs typeface="Calibri"/>
            </a:endParaRPr>
          </a:p>
          <a:p>
            <a:pPr marL="1690370">
              <a:lnSpc>
                <a:spcPct val="100000"/>
              </a:lnSpc>
              <a:spcBef>
                <a:spcPts val="133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6010" y="364185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7735" y="3599179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5663" y="452882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12561" y="4309364"/>
            <a:ext cx="360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315">
                <a:solidFill>
                  <a:srgbClr val="008000"/>
                </a:solidFill>
                <a:latin typeface="Cambria Math"/>
                <a:cs typeface="Cambria Math"/>
              </a:rPr>
              <a:t>𝑁</a:t>
            </a:r>
            <a:r>
              <a:rPr dirty="0" baseline="-15432" sz="2700" spc="-75">
                <a:solidFill>
                  <a:srgbClr val="008000"/>
                </a:solidFill>
                <a:latin typeface="Cambria Math"/>
                <a:cs typeface="Cambria Math"/>
              </a:rPr>
              <a:t>&amp;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08917" y="3017011"/>
            <a:ext cx="3702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95">
                <a:solidFill>
                  <a:srgbClr val="0000FF"/>
                </a:solidFill>
                <a:latin typeface="Cambria Math"/>
                <a:cs typeface="Cambria Math"/>
              </a:rPr>
              <a:t>𝑁</a:t>
            </a:r>
            <a:r>
              <a:rPr dirty="0" baseline="-15432" sz="2700" spc="1162">
                <a:solidFill>
                  <a:srgbClr val="0000FF"/>
                </a:solidFill>
                <a:latin typeface="Cambria Math"/>
                <a:cs typeface="Cambria Math"/>
              </a:rPr>
              <a:t>.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5351" y="3511803"/>
            <a:ext cx="2135505" cy="885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80">
                <a:solidFill>
                  <a:srgbClr val="008000"/>
                </a:solidFill>
                <a:latin typeface="Cambria Math"/>
                <a:cs typeface="Cambria Math"/>
              </a:rPr>
              <a:t>𝑁</a:t>
            </a:r>
            <a:r>
              <a:rPr dirty="0" baseline="-16666" sz="3000" spc="-120">
                <a:solidFill>
                  <a:srgbClr val="008000"/>
                </a:solidFill>
                <a:latin typeface="Cambria Math"/>
                <a:cs typeface="Cambria Math"/>
              </a:rPr>
              <a:t>7  </a:t>
            </a:r>
            <a:r>
              <a:rPr dirty="0" sz="2800">
                <a:latin typeface="Cambria Math"/>
                <a:cs typeface="Cambria Math"/>
              </a:rPr>
              <a:t>∩ </a:t>
            </a:r>
            <a:r>
              <a:rPr dirty="0" sz="2800" spc="-35">
                <a:solidFill>
                  <a:srgbClr val="0000FF"/>
                </a:solidFill>
                <a:latin typeface="Cambria Math"/>
                <a:cs typeface="Cambria Math"/>
              </a:rPr>
              <a:t>𝑁</a:t>
            </a:r>
            <a:r>
              <a:rPr dirty="0" baseline="-16666" sz="3000" spc="-52">
                <a:solidFill>
                  <a:srgbClr val="0000FF"/>
                </a:solidFill>
                <a:latin typeface="Cambria Math"/>
                <a:cs typeface="Cambria Math"/>
              </a:rPr>
              <a:t>6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19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𝜙</a:t>
            </a:r>
            <a:endParaRPr sz="2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2800" spc="-55">
                <a:latin typeface="Cambria Math"/>
                <a:cs typeface="Cambria Math"/>
              </a:rPr>
              <a:t>|</a:t>
            </a:r>
            <a:r>
              <a:rPr dirty="0" sz="2800" spc="-55">
                <a:solidFill>
                  <a:srgbClr val="008000"/>
                </a:solidFill>
                <a:latin typeface="Cambria Math"/>
                <a:cs typeface="Cambria Math"/>
              </a:rPr>
              <a:t>𝑁</a:t>
            </a:r>
            <a:r>
              <a:rPr dirty="0" baseline="-16666" sz="3000" spc="-82">
                <a:solidFill>
                  <a:srgbClr val="008000"/>
                </a:solidFill>
                <a:latin typeface="Cambria Math"/>
                <a:cs typeface="Cambria Math"/>
              </a:rPr>
              <a:t>7  </a:t>
            </a:r>
            <a:r>
              <a:rPr dirty="0" sz="2800">
                <a:latin typeface="Cambria Math"/>
                <a:cs typeface="Cambria Math"/>
              </a:rPr>
              <a:t>∩ </a:t>
            </a:r>
            <a:r>
              <a:rPr dirty="0" sz="2800" spc="25">
                <a:solidFill>
                  <a:srgbClr val="0000FF"/>
                </a:solidFill>
                <a:latin typeface="Cambria Math"/>
                <a:cs typeface="Cambria Math"/>
              </a:rPr>
              <a:t>𝑁</a:t>
            </a:r>
            <a:r>
              <a:rPr dirty="0" baseline="-16666" sz="3000" spc="37">
                <a:solidFill>
                  <a:srgbClr val="0000FF"/>
                </a:solidFill>
                <a:latin typeface="Cambria Math"/>
                <a:cs typeface="Cambria Math"/>
              </a:rPr>
              <a:t>6</a:t>
            </a:r>
            <a:r>
              <a:rPr dirty="0" sz="2800" spc="25">
                <a:latin typeface="Cambria Math"/>
                <a:cs typeface="Cambria Math"/>
              </a:rPr>
              <a:t>|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1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0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612380" cy="295148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Katz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index</a:t>
            </a:r>
            <a:r>
              <a:rPr dirty="0" sz="3200" spc="-10">
                <a:solidFill>
                  <a:srgbClr val="60B5CC"/>
                </a:solidFill>
                <a:latin typeface="Calibri"/>
                <a:cs typeface="Calibri"/>
              </a:rPr>
              <a:t>: </a:t>
            </a:r>
            <a:r>
              <a:rPr dirty="0" sz="3200" spc="-15">
                <a:latin typeface="Calibri"/>
                <a:cs typeface="Calibri"/>
              </a:rPr>
              <a:t>count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number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paths </a:t>
            </a:r>
            <a:r>
              <a:rPr dirty="0" sz="3200">
                <a:latin typeface="Calibri"/>
                <a:cs typeface="Calibri"/>
              </a:rPr>
              <a:t>of all  </a:t>
            </a:r>
            <a:r>
              <a:rPr dirty="0" sz="3200" spc="-10">
                <a:latin typeface="Calibri"/>
                <a:cs typeface="Calibri"/>
              </a:rPr>
              <a:t>lengths between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given </a:t>
            </a:r>
            <a:r>
              <a:rPr dirty="0" sz="3200">
                <a:latin typeface="Calibri"/>
                <a:cs typeface="Calibri"/>
              </a:rPr>
              <a:t>pair of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Font typeface="Arial"/>
              <a:buChar char="▪"/>
            </a:pPr>
            <a:endParaRPr sz="3150">
              <a:latin typeface="Times New Roman"/>
              <a:cs typeface="Times New Roman"/>
            </a:endParaRPr>
          </a:p>
          <a:p>
            <a:pPr marL="332740" marR="414655" indent="-320040">
              <a:lnSpc>
                <a:spcPct val="10189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Q: </a:t>
            </a:r>
            <a:r>
              <a:rPr dirty="0" sz="3200" spc="-5" b="1">
                <a:latin typeface="Calibri"/>
                <a:cs typeface="Calibri"/>
              </a:rPr>
              <a:t>How </a:t>
            </a:r>
            <a:r>
              <a:rPr dirty="0" sz="3200" spc="-15" b="1">
                <a:latin typeface="Calibri"/>
                <a:cs typeface="Calibri"/>
              </a:rPr>
              <a:t>to compute </a:t>
            </a:r>
            <a:r>
              <a:rPr dirty="0" sz="3200" spc="-10" b="1">
                <a:latin typeface="Calibri"/>
                <a:cs typeface="Calibri"/>
              </a:rPr>
              <a:t>#paths between two  </a:t>
            </a:r>
            <a:r>
              <a:rPr dirty="0" sz="3200" spc="-5" b="1">
                <a:latin typeface="Calibri"/>
                <a:cs typeface="Calibri"/>
              </a:rPr>
              <a:t>nodes?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powers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adjacency</a:t>
            </a:r>
            <a:r>
              <a:rPr dirty="0" sz="32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matrix</a:t>
            </a:r>
            <a:r>
              <a:rPr dirty="0" sz="3200" spc="-10">
                <a:latin typeface="Calibri"/>
                <a:cs typeface="Calibri"/>
              </a:rPr>
              <a:t>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5832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707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Computing </a:t>
            </a:r>
            <a:r>
              <a:rPr dirty="0" spc="-10"/>
              <a:t>#paths between two</a:t>
            </a:r>
            <a:r>
              <a:rPr dirty="0"/>
              <a:t> </a:t>
            </a:r>
            <a:r>
              <a:rPr dirty="0" spc="-5"/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56563" y="1932939"/>
            <a:ext cx="43554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Recall</a:t>
            </a:r>
            <a:r>
              <a:rPr dirty="0" sz="2800" spc="-10">
                <a:latin typeface="Calibri"/>
                <a:cs typeface="Calibri"/>
              </a:rPr>
              <a:t>: </a:t>
            </a:r>
            <a:r>
              <a:rPr dirty="0" sz="2800" spc="355">
                <a:latin typeface="Cambria Math"/>
                <a:cs typeface="Cambria Math"/>
              </a:rPr>
              <a:t>𝑨</a:t>
            </a:r>
            <a:r>
              <a:rPr dirty="0" baseline="-16666" sz="3000" spc="532">
                <a:latin typeface="Cambria Math"/>
                <a:cs typeface="Cambria Math"/>
              </a:rPr>
              <a:t>"! </a:t>
            </a:r>
            <a:r>
              <a:rPr dirty="0" sz="2800">
                <a:latin typeface="Cambria Math"/>
                <a:cs typeface="Cambria Math"/>
              </a:rPr>
              <a:t>= 1 </a:t>
            </a:r>
            <a:r>
              <a:rPr dirty="0" sz="2800">
                <a:latin typeface="Arial"/>
                <a:cs typeface="Arial"/>
              </a:rPr>
              <a:t>if </a:t>
            </a:r>
            <a:r>
              <a:rPr dirty="0" sz="2800">
                <a:latin typeface="Cambria Math"/>
                <a:cs typeface="Cambria Math"/>
              </a:rPr>
              <a:t>𝑢  ∈</a:t>
            </a:r>
            <a:r>
              <a:rPr dirty="0" sz="2800" spc="-55">
                <a:latin typeface="Cambria Math"/>
                <a:cs typeface="Cambria Math"/>
              </a:rPr>
              <a:t> </a:t>
            </a:r>
            <a:r>
              <a:rPr dirty="0" sz="2800" spc="0">
                <a:latin typeface="Cambria Math"/>
                <a:cs typeface="Cambria Math"/>
              </a:rPr>
              <a:t>𝑁(𝑣)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2542539"/>
            <a:ext cx="72263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>
                <a:latin typeface="Calibri"/>
                <a:cs typeface="Calibri"/>
              </a:rPr>
              <a:t>Let </a:t>
            </a:r>
            <a:r>
              <a:rPr dirty="0" sz="2800" spc="0">
                <a:latin typeface="Cambria Math"/>
                <a:cs typeface="Cambria Math"/>
              </a:rPr>
              <a:t>𝑷</a:t>
            </a:r>
            <a:r>
              <a:rPr dirty="0" baseline="41666" sz="3000" spc="0">
                <a:latin typeface="Cambria Math"/>
                <a:cs typeface="Cambria Math"/>
              </a:rPr>
              <a:t>(𝑲)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10">
                <a:latin typeface="Calibri"/>
                <a:cs typeface="Calibri"/>
              </a:rPr>
              <a:t>#paths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length </a:t>
            </a:r>
            <a:r>
              <a:rPr dirty="0" sz="2800">
                <a:latin typeface="Cambria Math"/>
                <a:cs typeface="Cambria Math"/>
              </a:rPr>
              <a:t>𝑲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>
                <a:latin typeface="Cambria Math"/>
                <a:cs typeface="Cambria Math"/>
              </a:rPr>
              <a:t>𝒖 </a:t>
            </a:r>
            <a:r>
              <a:rPr dirty="0" sz="2800" spc="-5">
                <a:latin typeface="Calibri"/>
                <a:cs typeface="Calibri"/>
              </a:rPr>
              <a:t>and  </a:t>
            </a:r>
            <a:r>
              <a:rPr dirty="0" sz="2800" spc="-130"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6563" y="2704955"/>
            <a:ext cx="3812540" cy="823594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054735">
              <a:lnSpc>
                <a:spcPct val="100000"/>
              </a:lnSpc>
              <a:spcBef>
                <a:spcPts val="315"/>
              </a:spcBef>
            </a:pPr>
            <a:r>
              <a:rPr dirty="0" sz="2000" spc="5">
                <a:latin typeface="Cambria Math"/>
                <a:cs typeface="Cambria Math"/>
              </a:rPr>
              <a:t>𝒖𝒗</a:t>
            </a:r>
            <a:endParaRPr sz="20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3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will show </a:t>
            </a:r>
            <a:r>
              <a:rPr dirty="0" sz="2800" spc="0">
                <a:solidFill>
                  <a:srgbClr val="C00000"/>
                </a:solidFill>
                <a:latin typeface="Cambria Math"/>
                <a:cs typeface="Cambria Math"/>
              </a:rPr>
              <a:t>𝑷</a:t>
            </a:r>
            <a:r>
              <a:rPr dirty="0" baseline="29166" sz="3000" spc="0">
                <a:solidFill>
                  <a:srgbClr val="C00000"/>
                </a:solidFill>
                <a:latin typeface="Cambria Math"/>
                <a:cs typeface="Cambria Math"/>
              </a:rPr>
              <a:t>(𝑲)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=  </a:t>
            </a:r>
            <a:r>
              <a:rPr dirty="0" sz="2800" spc="-70">
                <a:solidFill>
                  <a:srgbClr val="C00000"/>
                </a:solidFill>
                <a:latin typeface="Cambria Math"/>
                <a:cs typeface="Cambria Math"/>
              </a:rPr>
              <a:t>𝑨</a:t>
            </a:r>
            <a:r>
              <a:rPr dirty="0" baseline="29166" sz="3000" spc="-104">
                <a:solidFill>
                  <a:srgbClr val="C00000"/>
                </a:solidFill>
                <a:latin typeface="Cambria Math"/>
                <a:cs typeface="Cambria Math"/>
              </a:rPr>
              <a:t>𝒌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5358" y="3890771"/>
            <a:ext cx="350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𝒖𝒗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3697732"/>
            <a:ext cx="72409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0">
                <a:latin typeface="Cambria Math"/>
                <a:cs typeface="Cambria Math"/>
              </a:rPr>
              <a:t>𝑷</a:t>
            </a:r>
            <a:r>
              <a:rPr dirty="0" baseline="41666" sz="3000" spc="0">
                <a:latin typeface="Cambria Math"/>
                <a:cs typeface="Cambria Math"/>
              </a:rPr>
              <a:t>(𝟏)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sz="2800" spc="-10">
                <a:latin typeface="Calibri"/>
                <a:cs typeface="Calibri"/>
              </a:rPr>
              <a:t>#paths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length </a:t>
            </a:r>
            <a:r>
              <a:rPr dirty="0" sz="2800">
                <a:latin typeface="Calibri"/>
                <a:cs typeface="Calibri"/>
              </a:rPr>
              <a:t>1 </a:t>
            </a:r>
            <a:r>
              <a:rPr dirty="0" sz="2800" spc="-10">
                <a:latin typeface="Calibri"/>
                <a:cs typeface="Calibri"/>
              </a:rPr>
              <a:t>(direct</a:t>
            </a:r>
            <a:r>
              <a:rPr dirty="0" sz="2800" spc="-12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neighborhood)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0883" y="4130547"/>
            <a:ext cx="350710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>
                <a:latin typeface="Cambria Math"/>
                <a:cs typeface="Cambria Math"/>
              </a:rPr>
              <a:t>𝑢 </a:t>
            </a:r>
            <a:r>
              <a:rPr dirty="0" sz="2800" spc="-5">
                <a:latin typeface="Calibri"/>
                <a:cs typeface="Calibri"/>
              </a:rPr>
              <a:t>and </a:t>
            </a:r>
            <a:r>
              <a:rPr dirty="0" sz="2800">
                <a:latin typeface="Cambria Math"/>
                <a:cs typeface="Cambria Math"/>
              </a:rPr>
              <a:t>𝑣 =</a:t>
            </a:r>
            <a:r>
              <a:rPr dirty="0" sz="2800" spc="285">
                <a:latin typeface="Cambria Math"/>
                <a:cs typeface="Cambria Math"/>
              </a:rPr>
              <a:t> </a:t>
            </a:r>
            <a:r>
              <a:rPr dirty="0" sz="2800" spc="0">
                <a:latin typeface="Cambria Math"/>
                <a:cs typeface="Cambria Math"/>
              </a:rPr>
              <a:t>𝑨</a:t>
            </a:r>
            <a:r>
              <a:rPr dirty="0" baseline="-16666" sz="3000" spc="0">
                <a:latin typeface="Cambria Math"/>
                <a:cs typeface="Cambria Math"/>
              </a:rPr>
              <a:t>𝒖𝒗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54826" y="5282364"/>
            <a:ext cx="241300" cy="991235"/>
          </a:xfrm>
          <a:custGeom>
            <a:avLst/>
            <a:gdLst/>
            <a:ahLst/>
            <a:cxnLst/>
            <a:rect l="l" t="t" r="r" b="b"/>
            <a:pathLst>
              <a:path w="241300" h="991235">
                <a:moveTo>
                  <a:pt x="241066" y="0"/>
                </a:moveTo>
                <a:lnTo>
                  <a:pt x="0" y="990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24769" y="5282364"/>
            <a:ext cx="794385" cy="685800"/>
          </a:xfrm>
          <a:custGeom>
            <a:avLst/>
            <a:gdLst/>
            <a:ahLst/>
            <a:cxnLst/>
            <a:rect l="l" t="t" r="r" b="b"/>
            <a:pathLst>
              <a:path w="794385" h="685800">
                <a:moveTo>
                  <a:pt x="0" y="0"/>
                </a:moveTo>
                <a:lnTo>
                  <a:pt x="793866" y="68579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54827" y="5968162"/>
            <a:ext cx="1035050" cy="305435"/>
          </a:xfrm>
          <a:custGeom>
            <a:avLst/>
            <a:gdLst/>
            <a:ahLst/>
            <a:cxnLst/>
            <a:rect l="l" t="t" r="r" b="b"/>
            <a:pathLst>
              <a:path w="1035050" h="305435">
                <a:moveTo>
                  <a:pt x="0" y="304808"/>
                </a:moveTo>
                <a:lnTo>
                  <a:pt x="10349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34178" y="5255893"/>
            <a:ext cx="1738630" cy="376555"/>
          </a:xfrm>
          <a:custGeom>
            <a:avLst/>
            <a:gdLst/>
            <a:ahLst/>
            <a:cxnLst/>
            <a:rect l="l" t="t" r="r" b="b"/>
            <a:pathLst>
              <a:path w="1738629" h="376554">
                <a:moveTo>
                  <a:pt x="1738160" y="376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25880" y="6071615"/>
            <a:ext cx="408431" cy="4084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70558" y="609135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19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39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19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70558" y="6091353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88008" y="5074920"/>
            <a:ext cx="405384" cy="4084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30804" y="509342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40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30804" y="5093420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701432" y="509574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13759" y="5462015"/>
            <a:ext cx="408432" cy="40843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57106" y="548031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20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9"/>
                </a:lnTo>
                <a:lnTo>
                  <a:pt x="30874" y="254526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20" y="320040"/>
                </a:lnTo>
                <a:lnTo>
                  <a:pt x="210598" y="311882"/>
                </a:lnTo>
                <a:lnTo>
                  <a:pt x="254524" y="289165"/>
                </a:lnTo>
                <a:lnTo>
                  <a:pt x="289164" y="254526"/>
                </a:lnTo>
                <a:lnTo>
                  <a:pt x="311880" y="210599"/>
                </a:lnTo>
                <a:lnTo>
                  <a:pt x="320038" y="160020"/>
                </a:lnTo>
                <a:lnTo>
                  <a:pt x="311880" y="109441"/>
                </a:lnTo>
                <a:lnTo>
                  <a:pt x="289164" y="65514"/>
                </a:lnTo>
                <a:lnTo>
                  <a:pt x="254524" y="30874"/>
                </a:lnTo>
                <a:lnTo>
                  <a:pt x="210598" y="8157"/>
                </a:lnTo>
                <a:lnTo>
                  <a:pt x="1600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57106" y="5480315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95727" y="5794247"/>
            <a:ext cx="408431" cy="405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40499" y="581132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160019" y="0"/>
                </a:moveTo>
                <a:lnTo>
                  <a:pt x="109441" y="8157"/>
                </a:lnTo>
                <a:lnTo>
                  <a:pt x="65514" y="30874"/>
                </a:lnTo>
                <a:lnTo>
                  <a:pt x="30874" y="65514"/>
                </a:lnTo>
                <a:lnTo>
                  <a:pt x="8157" y="109441"/>
                </a:lnTo>
                <a:lnTo>
                  <a:pt x="0" y="160020"/>
                </a:lnTo>
                <a:lnTo>
                  <a:pt x="8157" y="210598"/>
                </a:lnTo>
                <a:lnTo>
                  <a:pt x="30874" y="254525"/>
                </a:lnTo>
                <a:lnTo>
                  <a:pt x="65514" y="289165"/>
                </a:lnTo>
                <a:lnTo>
                  <a:pt x="109441" y="311882"/>
                </a:lnTo>
                <a:lnTo>
                  <a:pt x="160019" y="320040"/>
                </a:lnTo>
                <a:lnTo>
                  <a:pt x="210598" y="311882"/>
                </a:lnTo>
                <a:lnTo>
                  <a:pt x="254525" y="289165"/>
                </a:lnTo>
                <a:lnTo>
                  <a:pt x="289165" y="254525"/>
                </a:lnTo>
                <a:lnTo>
                  <a:pt x="311882" y="210598"/>
                </a:lnTo>
                <a:lnTo>
                  <a:pt x="320039" y="160020"/>
                </a:lnTo>
                <a:lnTo>
                  <a:pt x="311882" y="109441"/>
                </a:lnTo>
                <a:lnTo>
                  <a:pt x="289165" y="65514"/>
                </a:lnTo>
                <a:lnTo>
                  <a:pt x="254525" y="30874"/>
                </a:lnTo>
                <a:lnTo>
                  <a:pt x="210598" y="8157"/>
                </a:lnTo>
                <a:lnTo>
                  <a:pt x="1600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40499" y="581132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39" h="320039">
                <a:moveTo>
                  <a:pt x="0" y="160020"/>
                </a:moveTo>
                <a:lnTo>
                  <a:pt x="8157" y="109441"/>
                </a:lnTo>
                <a:lnTo>
                  <a:pt x="30874" y="65514"/>
                </a:lnTo>
                <a:lnTo>
                  <a:pt x="65514" y="30874"/>
                </a:lnTo>
                <a:lnTo>
                  <a:pt x="109441" y="8157"/>
                </a:lnTo>
                <a:lnTo>
                  <a:pt x="160020" y="0"/>
                </a:lnTo>
                <a:lnTo>
                  <a:pt x="210598" y="8157"/>
                </a:lnTo>
                <a:lnTo>
                  <a:pt x="254525" y="30874"/>
                </a:lnTo>
                <a:lnTo>
                  <a:pt x="289165" y="65514"/>
                </a:lnTo>
                <a:lnTo>
                  <a:pt x="311882" y="109441"/>
                </a:lnTo>
                <a:lnTo>
                  <a:pt x="320040" y="160020"/>
                </a:lnTo>
                <a:lnTo>
                  <a:pt x="311882" y="210598"/>
                </a:lnTo>
                <a:lnTo>
                  <a:pt x="289165" y="254525"/>
                </a:lnTo>
                <a:lnTo>
                  <a:pt x="254525" y="289165"/>
                </a:lnTo>
                <a:lnTo>
                  <a:pt x="210598" y="311882"/>
                </a:lnTo>
                <a:lnTo>
                  <a:pt x="160020" y="320040"/>
                </a:lnTo>
                <a:lnTo>
                  <a:pt x="109441" y="311882"/>
                </a:lnTo>
                <a:lnTo>
                  <a:pt x="65514" y="289165"/>
                </a:lnTo>
                <a:lnTo>
                  <a:pt x="30874" y="254525"/>
                </a:lnTo>
                <a:lnTo>
                  <a:pt x="8157" y="210598"/>
                </a:lnTo>
                <a:lnTo>
                  <a:pt x="0" y="160020"/>
                </a:lnTo>
                <a:close/>
              </a:path>
            </a:pathLst>
          </a:custGeom>
          <a:ln w="635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444263" y="5379211"/>
            <a:ext cx="2252345" cy="101028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82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 algn="ctr" marL="59055">
              <a:lnSpc>
                <a:spcPts val="2075"/>
              </a:lnSpc>
              <a:spcBef>
                <a:spcPts val="72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75"/>
              </a:lnSpc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34170" y="4706125"/>
            <a:ext cx="3232388" cy="20116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799000" y="448310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𝟏𝟐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89450" y="4144771"/>
            <a:ext cx="14300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0092" sz="3600" spc="-22">
                <a:solidFill>
                  <a:srgbClr val="C00000"/>
                </a:solidFill>
                <a:latin typeface="Cambria Math"/>
                <a:cs typeface="Cambria Math"/>
              </a:rPr>
              <a:t>𝑷</a:t>
            </a: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(𝟏)  </a:t>
            </a:r>
            <a:r>
              <a:rPr dirty="0" baseline="-30092" sz="360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dirty="0" baseline="-30092" sz="3600" spc="-24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30092" sz="3600" spc="-22">
                <a:solidFill>
                  <a:srgbClr val="C00000"/>
                </a:solidFill>
                <a:latin typeface="Cambria Math"/>
                <a:cs typeface="Cambria Math"/>
              </a:rPr>
              <a:t>𝑨</a:t>
            </a:r>
            <a:r>
              <a:rPr dirty="0" baseline="-55555" sz="2700" spc="-22">
                <a:solidFill>
                  <a:srgbClr val="C00000"/>
                </a:solidFill>
                <a:latin typeface="Cambria Math"/>
                <a:cs typeface="Cambria Math"/>
              </a:rPr>
              <a:t>𝟏𝟐</a:t>
            </a:r>
            <a:endParaRPr baseline="-55555" sz="27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62245" y="4860912"/>
            <a:ext cx="481965" cy="441959"/>
          </a:xfrm>
          <a:custGeom>
            <a:avLst/>
            <a:gdLst/>
            <a:ahLst/>
            <a:cxnLst/>
            <a:rect l="l" t="t" r="r" b="b"/>
            <a:pathLst>
              <a:path w="481965" h="441960">
                <a:moveTo>
                  <a:pt x="19714" y="391110"/>
                </a:moveTo>
                <a:lnTo>
                  <a:pt x="5685" y="391110"/>
                </a:lnTo>
                <a:lnTo>
                  <a:pt x="0" y="396797"/>
                </a:lnTo>
                <a:lnTo>
                  <a:pt x="0" y="410850"/>
                </a:lnTo>
                <a:lnTo>
                  <a:pt x="5685" y="416535"/>
                </a:lnTo>
                <a:lnTo>
                  <a:pt x="19714" y="416535"/>
                </a:lnTo>
                <a:lnTo>
                  <a:pt x="25400" y="410850"/>
                </a:lnTo>
                <a:lnTo>
                  <a:pt x="25400" y="396797"/>
                </a:lnTo>
                <a:lnTo>
                  <a:pt x="19714" y="391110"/>
                </a:lnTo>
                <a:close/>
              </a:path>
              <a:path w="481965" h="441960">
                <a:moveTo>
                  <a:pt x="19714" y="340285"/>
                </a:moveTo>
                <a:lnTo>
                  <a:pt x="5685" y="340285"/>
                </a:lnTo>
                <a:lnTo>
                  <a:pt x="0" y="345972"/>
                </a:lnTo>
                <a:lnTo>
                  <a:pt x="0" y="360024"/>
                </a:lnTo>
                <a:lnTo>
                  <a:pt x="5685" y="365710"/>
                </a:lnTo>
                <a:lnTo>
                  <a:pt x="19714" y="365710"/>
                </a:lnTo>
                <a:lnTo>
                  <a:pt x="25400" y="360024"/>
                </a:lnTo>
                <a:lnTo>
                  <a:pt x="25400" y="345972"/>
                </a:lnTo>
                <a:lnTo>
                  <a:pt x="19714" y="340285"/>
                </a:lnTo>
                <a:close/>
              </a:path>
              <a:path w="481965" h="441960">
                <a:moveTo>
                  <a:pt x="19714" y="289459"/>
                </a:moveTo>
                <a:lnTo>
                  <a:pt x="5685" y="289459"/>
                </a:lnTo>
                <a:lnTo>
                  <a:pt x="0" y="295146"/>
                </a:lnTo>
                <a:lnTo>
                  <a:pt x="0" y="309199"/>
                </a:lnTo>
                <a:lnTo>
                  <a:pt x="5685" y="314885"/>
                </a:lnTo>
                <a:lnTo>
                  <a:pt x="19714" y="314885"/>
                </a:lnTo>
                <a:lnTo>
                  <a:pt x="25400" y="309199"/>
                </a:lnTo>
                <a:lnTo>
                  <a:pt x="25400" y="295146"/>
                </a:lnTo>
                <a:lnTo>
                  <a:pt x="19714" y="289459"/>
                </a:lnTo>
                <a:close/>
              </a:path>
              <a:path w="481965" h="441960">
                <a:moveTo>
                  <a:pt x="19714" y="238634"/>
                </a:moveTo>
                <a:lnTo>
                  <a:pt x="5685" y="238634"/>
                </a:lnTo>
                <a:lnTo>
                  <a:pt x="0" y="244321"/>
                </a:lnTo>
                <a:lnTo>
                  <a:pt x="0" y="258373"/>
                </a:lnTo>
                <a:lnTo>
                  <a:pt x="5685" y="264059"/>
                </a:lnTo>
                <a:lnTo>
                  <a:pt x="19714" y="264059"/>
                </a:lnTo>
                <a:lnTo>
                  <a:pt x="25400" y="258373"/>
                </a:lnTo>
                <a:lnTo>
                  <a:pt x="25400" y="244321"/>
                </a:lnTo>
                <a:lnTo>
                  <a:pt x="19714" y="238634"/>
                </a:lnTo>
                <a:close/>
              </a:path>
              <a:path w="481965" h="441960">
                <a:moveTo>
                  <a:pt x="19714" y="187808"/>
                </a:moveTo>
                <a:lnTo>
                  <a:pt x="5685" y="187808"/>
                </a:lnTo>
                <a:lnTo>
                  <a:pt x="0" y="193495"/>
                </a:lnTo>
                <a:lnTo>
                  <a:pt x="0" y="207548"/>
                </a:lnTo>
                <a:lnTo>
                  <a:pt x="5685" y="213234"/>
                </a:lnTo>
                <a:lnTo>
                  <a:pt x="19714" y="213234"/>
                </a:lnTo>
                <a:lnTo>
                  <a:pt x="25400" y="207548"/>
                </a:lnTo>
                <a:lnTo>
                  <a:pt x="25400" y="193495"/>
                </a:lnTo>
                <a:lnTo>
                  <a:pt x="19714" y="187808"/>
                </a:lnTo>
                <a:close/>
              </a:path>
              <a:path w="481965" h="441960">
                <a:moveTo>
                  <a:pt x="19714" y="136983"/>
                </a:moveTo>
                <a:lnTo>
                  <a:pt x="5685" y="136983"/>
                </a:lnTo>
                <a:lnTo>
                  <a:pt x="0" y="142670"/>
                </a:lnTo>
                <a:lnTo>
                  <a:pt x="0" y="156723"/>
                </a:lnTo>
                <a:lnTo>
                  <a:pt x="5685" y="162408"/>
                </a:lnTo>
                <a:lnTo>
                  <a:pt x="19714" y="162408"/>
                </a:lnTo>
                <a:lnTo>
                  <a:pt x="25400" y="156723"/>
                </a:lnTo>
                <a:lnTo>
                  <a:pt x="25400" y="142670"/>
                </a:lnTo>
                <a:lnTo>
                  <a:pt x="19714" y="136983"/>
                </a:lnTo>
                <a:close/>
              </a:path>
              <a:path w="481965" h="441960">
                <a:moveTo>
                  <a:pt x="19714" y="86158"/>
                </a:moveTo>
                <a:lnTo>
                  <a:pt x="5685" y="86158"/>
                </a:lnTo>
                <a:lnTo>
                  <a:pt x="0" y="91845"/>
                </a:lnTo>
                <a:lnTo>
                  <a:pt x="0" y="105897"/>
                </a:lnTo>
                <a:lnTo>
                  <a:pt x="5685" y="111583"/>
                </a:lnTo>
                <a:lnTo>
                  <a:pt x="19714" y="111583"/>
                </a:lnTo>
                <a:lnTo>
                  <a:pt x="25400" y="105897"/>
                </a:lnTo>
                <a:lnTo>
                  <a:pt x="25400" y="91845"/>
                </a:lnTo>
                <a:lnTo>
                  <a:pt x="19714" y="86158"/>
                </a:lnTo>
                <a:close/>
              </a:path>
              <a:path w="481965" h="441960">
                <a:moveTo>
                  <a:pt x="19714" y="35332"/>
                </a:moveTo>
                <a:lnTo>
                  <a:pt x="5685" y="35332"/>
                </a:lnTo>
                <a:lnTo>
                  <a:pt x="0" y="41019"/>
                </a:lnTo>
                <a:lnTo>
                  <a:pt x="0" y="55072"/>
                </a:lnTo>
                <a:lnTo>
                  <a:pt x="5685" y="60758"/>
                </a:lnTo>
                <a:lnTo>
                  <a:pt x="19714" y="60758"/>
                </a:lnTo>
                <a:lnTo>
                  <a:pt x="25400" y="55072"/>
                </a:lnTo>
                <a:lnTo>
                  <a:pt x="25400" y="41019"/>
                </a:lnTo>
                <a:lnTo>
                  <a:pt x="19714" y="35332"/>
                </a:lnTo>
                <a:close/>
              </a:path>
              <a:path w="481965" h="441960">
                <a:moveTo>
                  <a:pt x="35206" y="0"/>
                </a:moveTo>
                <a:lnTo>
                  <a:pt x="21153" y="0"/>
                </a:lnTo>
                <a:lnTo>
                  <a:pt x="15467" y="5685"/>
                </a:lnTo>
                <a:lnTo>
                  <a:pt x="15467" y="19714"/>
                </a:lnTo>
                <a:lnTo>
                  <a:pt x="21153" y="25399"/>
                </a:lnTo>
                <a:lnTo>
                  <a:pt x="35206" y="25399"/>
                </a:lnTo>
                <a:lnTo>
                  <a:pt x="40892" y="19714"/>
                </a:lnTo>
                <a:lnTo>
                  <a:pt x="40892" y="5685"/>
                </a:lnTo>
                <a:lnTo>
                  <a:pt x="35206" y="0"/>
                </a:lnTo>
                <a:close/>
              </a:path>
              <a:path w="481965" h="441960">
                <a:moveTo>
                  <a:pt x="86032" y="0"/>
                </a:moveTo>
                <a:lnTo>
                  <a:pt x="71978" y="0"/>
                </a:lnTo>
                <a:lnTo>
                  <a:pt x="66292" y="5685"/>
                </a:lnTo>
                <a:lnTo>
                  <a:pt x="66292" y="19714"/>
                </a:lnTo>
                <a:lnTo>
                  <a:pt x="71978" y="25399"/>
                </a:lnTo>
                <a:lnTo>
                  <a:pt x="86032" y="25399"/>
                </a:lnTo>
                <a:lnTo>
                  <a:pt x="91718" y="19714"/>
                </a:lnTo>
                <a:lnTo>
                  <a:pt x="91718" y="5685"/>
                </a:lnTo>
                <a:lnTo>
                  <a:pt x="86032" y="0"/>
                </a:lnTo>
                <a:close/>
              </a:path>
              <a:path w="481965" h="441960">
                <a:moveTo>
                  <a:pt x="136857" y="0"/>
                </a:moveTo>
                <a:lnTo>
                  <a:pt x="122803" y="0"/>
                </a:lnTo>
                <a:lnTo>
                  <a:pt x="117118" y="5685"/>
                </a:lnTo>
                <a:lnTo>
                  <a:pt x="117118" y="19714"/>
                </a:lnTo>
                <a:lnTo>
                  <a:pt x="122803" y="25399"/>
                </a:lnTo>
                <a:lnTo>
                  <a:pt x="136857" y="25399"/>
                </a:lnTo>
                <a:lnTo>
                  <a:pt x="142543" y="19714"/>
                </a:lnTo>
                <a:lnTo>
                  <a:pt x="142543" y="5685"/>
                </a:lnTo>
                <a:lnTo>
                  <a:pt x="136857" y="0"/>
                </a:lnTo>
                <a:close/>
              </a:path>
              <a:path w="481965" h="441960">
                <a:moveTo>
                  <a:pt x="187683" y="0"/>
                </a:moveTo>
                <a:lnTo>
                  <a:pt x="173629" y="0"/>
                </a:lnTo>
                <a:lnTo>
                  <a:pt x="167943" y="5685"/>
                </a:lnTo>
                <a:lnTo>
                  <a:pt x="167943" y="19714"/>
                </a:lnTo>
                <a:lnTo>
                  <a:pt x="173629" y="25399"/>
                </a:lnTo>
                <a:lnTo>
                  <a:pt x="187683" y="25399"/>
                </a:lnTo>
                <a:lnTo>
                  <a:pt x="193368" y="19714"/>
                </a:lnTo>
                <a:lnTo>
                  <a:pt x="193368" y="5685"/>
                </a:lnTo>
                <a:lnTo>
                  <a:pt x="187683" y="0"/>
                </a:lnTo>
                <a:close/>
              </a:path>
              <a:path w="481965" h="441960">
                <a:moveTo>
                  <a:pt x="238508" y="0"/>
                </a:moveTo>
                <a:lnTo>
                  <a:pt x="224454" y="0"/>
                </a:lnTo>
                <a:lnTo>
                  <a:pt x="218768" y="5685"/>
                </a:lnTo>
                <a:lnTo>
                  <a:pt x="218768" y="19714"/>
                </a:lnTo>
                <a:lnTo>
                  <a:pt x="224454" y="25399"/>
                </a:lnTo>
                <a:lnTo>
                  <a:pt x="238508" y="25399"/>
                </a:lnTo>
                <a:lnTo>
                  <a:pt x="244194" y="19714"/>
                </a:lnTo>
                <a:lnTo>
                  <a:pt x="244194" y="5685"/>
                </a:lnTo>
                <a:lnTo>
                  <a:pt x="238508" y="0"/>
                </a:lnTo>
                <a:close/>
              </a:path>
              <a:path w="481965" h="441960">
                <a:moveTo>
                  <a:pt x="289333" y="0"/>
                </a:moveTo>
                <a:lnTo>
                  <a:pt x="275280" y="0"/>
                </a:lnTo>
                <a:lnTo>
                  <a:pt x="269594" y="5685"/>
                </a:lnTo>
                <a:lnTo>
                  <a:pt x="269594" y="19714"/>
                </a:lnTo>
                <a:lnTo>
                  <a:pt x="275280" y="25399"/>
                </a:lnTo>
                <a:lnTo>
                  <a:pt x="289333" y="25399"/>
                </a:lnTo>
                <a:lnTo>
                  <a:pt x="295019" y="19714"/>
                </a:lnTo>
                <a:lnTo>
                  <a:pt x="295019" y="5685"/>
                </a:lnTo>
                <a:lnTo>
                  <a:pt x="289333" y="0"/>
                </a:lnTo>
                <a:close/>
              </a:path>
              <a:path w="481965" h="441960">
                <a:moveTo>
                  <a:pt x="340159" y="0"/>
                </a:moveTo>
                <a:lnTo>
                  <a:pt x="326105" y="0"/>
                </a:lnTo>
                <a:lnTo>
                  <a:pt x="320419" y="5685"/>
                </a:lnTo>
                <a:lnTo>
                  <a:pt x="320419" y="19714"/>
                </a:lnTo>
                <a:lnTo>
                  <a:pt x="326105" y="25399"/>
                </a:lnTo>
                <a:lnTo>
                  <a:pt x="340159" y="25399"/>
                </a:lnTo>
                <a:lnTo>
                  <a:pt x="345845" y="19714"/>
                </a:lnTo>
                <a:lnTo>
                  <a:pt x="345845" y="5685"/>
                </a:lnTo>
                <a:lnTo>
                  <a:pt x="340159" y="0"/>
                </a:lnTo>
                <a:close/>
              </a:path>
              <a:path w="481965" h="441960">
                <a:moveTo>
                  <a:pt x="390984" y="0"/>
                </a:moveTo>
                <a:lnTo>
                  <a:pt x="376930" y="0"/>
                </a:lnTo>
                <a:lnTo>
                  <a:pt x="371245" y="5685"/>
                </a:lnTo>
                <a:lnTo>
                  <a:pt x="371245" y="19714"/>
                </a:lnTo>
                <a:lnTo>
                  <a:pt x="376930" y="25399"/>
                </a:lnTo>
                <a:lnTo>
                  <a:pt x="390984" y="25399"/>
                </a:lnTo>
                <a:lnTo>
                  <a:pt x="396670" y="19714"/>
                </a:lnTo>
                <a:lnTo>
                  <a:pt x="396670" y="5685"/>
                </a:lnTo>
                <a:lnTo>
                  <a:pt x="390984" y="0"/>
                </a:lnTo>
                <a:close/>
              </a:path>
              <a:path w="481965" h="441960">
                <a:moveTo>
                  <a:pt x="441810" y="0"/>
                </a:moveTo>
                <a:lnTo>
                  <a:pt x="427756" y="0"/>
                </a:lnTo>
                <a:lnTo>
                  <a:pt x="422070" y="5685"/>
                </a:lnTo>
                <a:lnTo>
                  <a:pt x="422070" y="19714"/>
                </a:lnTo>
                <a:lnTo>
                  <a:pt x="427756" y="25399"/>
                </a:lnTo>
                <a:lnTo>
                  <a:pt x="441810" y="25399"/>
                </a:lnTo>
                <a:lnTo>
                  <a:pt x="447495" y="19714"/>
                </a:lnTo>
                <a:lnTo>
                  <a:pt x="447495" y="5685"/>
                </a:lnTo>
                <a:lnTo>
                  <a:pt x="441810" y="0"/>
                </a:lnTo>
                <a:close/>
              </a:path>
              <a:path w="481965" h="441960">
                <a:moveTo>
                  <a:pt x="475847" y="16762"/>
                </a:moveTo>
                <a:lnTo>
                  <a:pt x="461820" y="16762"/>
                </a:lnTo>
                <a:lnTo>
                  <a:pt x="456134" y="22448"/>
                </a:lnTo>
                <a:lnTo>
                  <a:pt x="456134" y="36502"/>
                </a:lnTo>
                <a:lnTo>
                  <a:pt x="461820" y="42188"/>
                </a:lnTo>
                <a:lnTo>
                  <a:pt x="475847" y="42188"/>
                </a:lnTo>
                <a:lnTo>
                  <a:pt x="481534" y="36502"/>
                </a:lnTo>
                <a:lnTo>
                  <a:pt x="481534" y="22448"/>
                </a:lnTo>
                <a:lnTo>
                  <a:pt x="475847" y="16762"/>
                </a:lnTo>
                <a:close/>
              </a:path>
              <a:path w="481965" h="441960">
                <a:moveTo>
                  <a:pt x="475847" y="67588"/>
                </a:moveTo>
                <a:lnTo>
                  <a:pt x="461820" y="67588"/>
                </a:lnTo>
                <a:lnTo>
                  <a:pt x="456134" y="73273"/>
                </a:lnTo>
                <a:lnTo>
                  <a:pt x="456134" y="87327"/>
                </a:lnTo>
                <a:lnTo>
                  <a:pt x="461820" y="93013"/>
                </a:lnTo>
                <a:lnTo>
                  <a:pt x="475847" y="93013"/>
                </a:lnTo>
                <a:lnTo>
                  <a:pt x="481534" y="87327"/>
                </a:lnTo>
                <a:lnTo>
                  <a:pt x="481534" y="73273"/>
                </a:lnTo>
                <a:lnTo>
                  <a:pt x="475847" y="67588"/>
                </a:lnTo>
                <a:close/>
              </a:path>
              <a:path w="481965" h="441960">
                <a:moveTo>
                  <a:pt x="475847" y="118413"/>
                </a:moveTo>
                <a:lnTo>
                  <a:pt x="461820" y="118413"/>
                </a:lnTo>
                <a:lnTo>
                  <a:pt x="456134" y="124099"/>
                </a:lnTo>
                <a:lnTo>
                  <a:pt x="456134" y="138153"/>
                </a:lnTo>
                <a:lnTo>
                  <a:pt x="461820" y="143838"/>
                </a:lnTo>
                <a:lnTo>
                  <a:pt x="475847" y="143838"/>
                </a:lnTo>
                <a:lnTo>
                  <a:pt x="481534" y="138153"/>
                </a:lnTo>
                <a:lnTo>
                  <a:pt x="481534" y="124099"/>
                </a:lnTo>
                <a:lnTo>
                  <a:pt x="475847" y="118413"/>
                </a:lnTo>
                <a:close/>
              </a:path>
              <a:path w="481965" h="441960">
                <a:moveTo>
                  <a:pt x="475847" y="169238"/>
                </a:moveTo>
                <a:lnTo>
                  <a:pt x="461820" y="169238"/>
                </a:lnTo>
                <a:lnTo>
                  <a:pt x="456134" y="174924"/>
                </a:lnTo>
                <a:lnTo>
                  <a:pt x="456134" y="188978"/>
                </a:lnTo>
                <a:lnTo>
                  <a:pt x="461820" y="194664"/>
                </a:lnTo>
                <a:lnTo>
                  <a:pt x="475847" y="194664"/>
                </a:lnTo>
                <a:lnTo>
                  <a:pt x="481534" y="188978"/>
                </a:lnTo>
                <a:lnTo>
                  <a:pt x="481534" y="174924"/>
                </a:lnTo>
                <a:lnTo>
                  <a:pt x="475847" y="169238"/>
                </a:lnTo>
                <a:close/>
              </a:path>
              <a:path w="481965" h="441960">
                <a:moveTo>
                  <a:pt x="475847" y="220064"/>
                </a:moveTo>
                <a:lnTo>
                  <a:pt x="461820" y="220064"/>
                </a:lnTo>
                <a:lnTo>
                  <a:pt x="456134" y="225750"/>
                </a:lnTo>
                <a:lnTo>
                  <a:pt x="456134" y="239803"/>
                </a:lnTo>
                <a:lnTo>
                  <a:pt x="461820" y="245489"/>
                </a:lnTo>
                <a:lnTo>
                  <a:pt x="475847" y="245489"/>
                </a:lnTo>
                <a:lnTo>
                  <a:pt x="481534" y="239803"/>
                </a:lnTo>
                <a:lnTo>
                  <a:pt x="481534" y="225750"/>
                </a:lnTo>
                <a:lnTo>
                  <a:pt x="475847" y="220064"/>
                </a:lnTo>
                <a:close/>
              </a:path>
              <a:path w="481965" h="441960">
                <a:moveTo>
                  <a:pt x="475847" y="270889"/>
                </a:moveTo>
                <a:lnTo>
                  <a:pt x="461820" y="270889"/>
                </a:lnTo>
                <a:lnTo>
                  <a:pt x="456134" y="276575"/>
                </a:lnTo>
                <a:lnTo>
                  <a:pt x="456134" y="290629"/>
                </a:lnTo>
                <a:lnTo>
                  <a:pt x="461820" y="296315"/>
                </a:lnTo>
                <a:lnTo>
                  <a:pt x="475847" y="296315"/>
                </a:lnTo>
                <a:lnTo>
                  <a:pt x="481534" y="290629"/>
                </a:lnTo>
                <a:lnTo>
                  <a:pt x="481534" y="276575"/>
                </a:lnTo>
                <a:lnTo>
                  <a:pt x="475847" y="270889"/>
                </a:lnTo>
                <a:close/>
              </a:path>
              <a:path w="481965" h="441960">
                <a:moveTo>
                  <a:pt x="475847" y="321715"/>
                </a:moveTo>
                <a:lnTo>
                  <a:pt x="461820" y="321715"/>
                </a:lnTo>
                <a:lnTo>
                  <a:pt x="456134" y="327400"/>
                </a:lnTo>
                <a:lnTo>
                  <a:pt x="456134" y="341454"/>
                </a:lnTo>
                <a:lnTo>
                  <a:pt x="461820" y="347140"/>
                </a:lnTo>
                <a:lnTo>
                  <a:pt x="475847" y="347140"/>
                </a:lnTo>
                <a:lnTo>
                  <a:pt x="481534" y="341454"/>
                </a:lnTo>
                <a:lnTo>
                  <a:pt x="481534" y="327400"/>
                </a:lnTo>
                <a:lnTo>
                  <a:pt x="475847" y="321715"/>
                </a:lnTo>
                <a:close/>
              </a:path>
              <a:path w="481965" h="441960">
                <a:moveTo>
                  <a:pt x="475847" y="372540"/>
                </a:moveTo>
                <a:lnTo>
                  <a:pt x="461820" y="372540"/>
                </a:lnTo>
                <a:lnTo>
                  <a:pt x="456134" y="378226"/>
                </a:lnTo>
                <a:lnTo>
                  <a:pt x="456134" y="392280"/>
                </a:lnTo>
                <a:lnTo>
                  <a:pt x="461820" y="397965"/>
                </a:lnTo>
                <a:lnTo>
                  <a:pt x="475847" y="397965"/>
                </a:lnTo>
                <a:lnTo>
                  <a:pt x="481534" y="392280"/>
                </a:lnTo>
                <a:lnTo>
                  <a:pt x="481534" y="378226"/>
                </a:lnTo>
                <a:lnTo>
                  <a:pt x="475847" y="372540"/>
                </a:lnTo>
                <a:close/>
              </a:path>
              <a:path w="481965" h="441960">
                <a:moveTo>
                  <a:pt x="469018" y="416535"/>
                </a:moveTo>
                <a:lnTo>
                  <a:pt x="454964" y="416535"/>
                </a:lnTo>
                <a:lnTo>
                  <a:pt x="449279" y="422222"/>
                </a:lnTo>
                <a:lnTo>
                  <a:pt x="449279" y="436250"/>
                </a:lnTo>
                <a:lnTo>
                  <a:pt x="454964" y="441935"/>
                </a:lnTo>
                <a:lnTo>
                  <a:pt x="469018" y="441935"/>
                </a:lnTo>
                <a:lnTo>
                  <a:pt x="474704" y="436250"/>
                </a:lnTo>
                <a:lnTo>
                  <a:pt x="474704" y="422222"/>
                </a:lnTo>
                <a:lnTo>
                  <a:pt x="469018" y="416535"/>
                </a:lnTo>
                <a:close/>
              </a:path>
              <a:path w="481965" h="441960">
                <a:moveTo>
                  <a:pt x="418193" y="416535"/>
                </a:moveTo>
                <a:lnTo>
                  <a:pt x="404139" y="416535"/>
                </a:lnTo>
                <a:lnTo>
                  <a:pt x="398453" y="422222"/>
                </a:lnTo>
                <a:lnTo>
                  <a:pt x="398453" y="436250"/>
                </a:lnTo>
                <a:lnTo>
                  <a:pt x="404139" y="441935"/>
                </a:lnTo>
                <a:lnTo>
                  <a:pt x="418193" y="441935"/>
                </a:lnTo>
                <a:lnTo>
                  <a:pt x="423879" y="436250"/>
                </a:lnTo>
                <a:lnTo>
                  <a:pt x="423879" y="422222"/>
                </a:lnTo>
                <a:lnTo>
                  <a:pt x="418193" y="416535"/>
                </a:lnTo>
                <a:close/>
              </a:path>
              <a:path w="481965" h="441960">
                <a:moveTo>
                  <a:pt x="367367" y="416535"/>
                </a:moveTo>
                <a:lnTo>
                  <a:pt x="353313" y="416535"/>
                </a:lnTo>
                <a:lnTo>
                  <a:pt x="347628" y="422222"/>
                </a:lnTo>
                <a:lnTo>
                  <a:pt x="347628" y="436250"/>
                </a:lnTo>
                <a:lnTo>
                  <a:pt x="353313" y="441935"/>
                </a:lnTo>
                <a:lnTo>
                  <a:pt x="367367" y="441935"/>
                </a:lnTo>
                <a:lnTo>
                  <a:pt x="373053" y="436250"/>
                </a:lnTo>
                <a:lnTo>
                  <a:pt x="373053" y="422222"/>
                </a:lnTo>
                <a:lnTo>
                  <a:pt x="367367" y="416535"/>
                </a:lnTo>
                <a:close/>
              </a:path>
              <a:path w="481965" h="441960">
                <a:moveTo>
                  <a:pt x="316542" y="416535"/>
                </a:moveTo>
                <a:lnTo>
                  <a:pt x="302488" y="416535"/>
                </a:lnTo>
                <a:lnTo>
                  <a:pt x="296802" y="422222"/>
                </a:lnTo>
                <a:lnTo>
                  <a:pt x="296802" y="436250"/>
                </a:lnTo>
                <a:lnTo>
                  <a:pt x="302488" y="441935"/>
                </a:lnTo>
                <a:lnTo>
                  <a:pt x="316542" y="441935"/>
                </a:lnTo>
                <a:lnTo>
                  <a:pt x="322228" y="436250"/>
                </a:lnTo>
                <a:lnTo>
                  <a:pt x="322228" y="422222"/>
                </a:lnTo>
                <a:lnTo>
                  <a:pt x="316542" y="416535"/>
                </a:lnTo>
                <a:close/>
              </a:path>
              <a:path w="481965" h="441960">
                <a:moveTo>
                  <a:pt x="265717" y="416535"/>
                </a:moveTo>
                <a:lnTo>
                  <a:pt x="251663" y="416535"/>
                </a:lnTo>
                <a:lnTo>
                  <a:pt x="245977" y="422222"/>
                </a:lnTo>
                <a:lnTo>
                  <a:pt x="245977" y="436250"/>
                </a:lnTo>
                <a:lnTo>
                  <a:pt x="251663" y="441935"/>
                </a:lnTo>
                <a:lnTo>
                  <a:pt x="265717" y="441935"/>
                </a:lnTo>
                <a:lnTo>
                  <a:pt x="271402" y="436250"/>
                </a:lnTo>
                <a:lnTo>
                  <a:pt x="271402" y="422222"/>
                </a:lnTo>
                <a:lnTo>
                  <a:pt x="265717" y="416535"/>
                </a:lnTo>
                <a:close/>
              </a:path>
              <a:path w="481965" h="441960">
                <a:moveTo>
                  <a:pt x="214891" y="416535"/>
                </a:moveTo>
                <a:lnTo>
                  <a:pt x="200837" y="416535"/>
                </a:lnTo>
                <a:lnTo>
                  <a:pt x="195152" y="422222"/>
                </a:lnTo>
                <a:lnTo>
                  <a:pt x="195152" y="436250"/>
                </a:lnTo>
                <a:lnTo>
                  <a:pt x="200837" y="441935"/>
                </a:lnTo>
                <a:lnTo>
                  <a:pt x="214891" y="441935"/>
                </a:lnTo>
                <a:lnTo>
                  <a:pt x="220577" y="436250"/>
                </a:lnTo>
                <a:lnTo>
                  <a:pt x="220577" y="422222"/>
                </a:lnTo>
                <a:lnTo>
                  <a:pt x="214891" y="416535"/>
                </a:lnTo>
                <a:close/>
              </a:path>
              <a:path w="481965" h="441960">
                <a:moveTo>
                  <a:pt x="164066" y="416535"/>
                </a:moveTo>
                <a:lnTo>
                  <a:pt x="150012" y="416535"/>
                </a:lnTo>
                <a:lnTo>
                  <a:pt x="144326" y="422222"/>
                </a:lnTo>
                <a:lnTo>
                  <a:pt x="144326" y="436250"/>
                </a:lnTo>
                <a:lnTo>
                  <a:pt x="150012" y="441935"/>
                </a:lnTo>
                <a:lnTo>
                  <a:pt x="164066" y="441935"/>
                </a:lnTo>
                <a:lnTo>
                  <a:pt x="169752" y="436250"/>
                </a:lnTo>
                <a:lnTo>
                  <a:pt x="169752" y="422222"/>
                </a:lnTo>
                <a:lnTo>
                  <a:pt x="164066" y="416535"/>
                </a:lnTo>
                <a:close/>
              </a:path>
              <a:path w="481965" h="441960">
                <a:moveTo>
                  <a:pt x="113240" y="416535"/>
                </a:moveTo>
                <a:lnTo>
                  <a:pt x="99187" y="416535"/>
                </a:lnTo>
                <a:lnTo>
                  <a:pt x="93501" y="422222"/>
                </a:lnTo>
                <a:lnTo>
                  <a:pt x="93501" y="436250"/>
                </a:lnTo>
                <a:lnTo>
                  <a:pt x="99187" y="441935"/>
                </a:lnTo>
                <a:lnTo>
                  <a:pt x="113240" y="441935"/>
                </a:lnTo>
                <a:lnTo>
                  <a:pt x="118926" y="436250"/>
                </a:lnTo>
                <a:lnTo>
                  <a:pt x="118926" y="422222"/>
                </a:lnTo>
                <a:lnTo>
                  <a:pt x="113240" y="416535"/>
                </a:lnTo>
                <a:close/>
              </a:path>
              <a:path w="481965" h="441960">
                <a:moveTo>
                  <a:pt x="62415" y="416535"/>
                </a:moveTo>
                <a:lnTo>
                  <a:pt x="48361" y="416535"/>
                </a:lnTo>
                <a:lnTo>
                  <a:pt x="42675" y="422222"/>
                </a:lnTo>
                <a:lnTo>
                  <a:pt x="42675" y="436250"/>
                </a:lnTo>
                <a:lnTo>
                  <a:pt x="48361" y="441935"/>
                </a:lnTo>
                <a:lnTo>
                  <a:pt x="62415" y="441935"/>
                </a:lnTo>
                <a:lnTo>
                  <a:pt x="68101" y="436250"/>
                </a:lnTo>
                <a:lnTo>
                  <a:pt x="68101" y="422222"/>
                </a:lnTo>
                <a:lnTo>
                  <a:pt x="62415" y="416535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8"/>
              </a:rPr>
              <a:t>http://cs224w.stanford.edu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1375"/>
            <a:ext cx="795832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449324"/>
            <a:ext cx="42729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How </a:t>
            </a:r>
            <a:r>
              <a:rPr dirty="0" spc="-15">
                <a:solidFill>
                  <a:srgbClr val="000000"/>
                </a:solidFill>
              </a:rPr>
              <a:t>to compute </a:t>
            </a:r>
            <a:r>
              <a:rPr dirty="0" spc="0" b="0">
                <a:solidFill>
                  <a:srgbClr val="000000"/>
                </a:solidFill>
                <a:latin typeface="Cambria Math"/>
                <a:cs typeface="Cambria Math"/>
              </a:rPr>
              <a:t>𝑷</a:t>
            </a:r>
            <a:r>
              <a:rPr dirty="0" baseline="41062" sz="3450" spc="0" b="0">
                <a:solidFill>
                  <a:srgbClr val="000000"/>
                </a:solidFill>
                <a:latin typeface="Cambria Math"/>
                <a:cs typeface="Cambria Math"/>
              </a:rPr>
              <a:t>(𝟐)</a:t>
            </a:r>
            <a:r>
              <a:rPr dirty="0" baseline="41062" sz="3450" spc="352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>
                <a:solidFill>
                  <a:srgbClr val="000000"/>
                </a:solidFill>
              </a:rPr>
              <a:t>?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1667255"/>
            <a:ext cx="7595870" cy="1748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860425">
              <a:lnSpc>
                <a:spcPct val="100000"/>
              </a:lnSpc>
              <a:spcBef>
                <a:spcPts val="100"/>
              </a:spcBef>
            </a:pPr>
            <a:r>
              <a:rPr dirty="0" sz="2300" spc="0">
                <a:latin typeface="Cambria Math"/>
                <a:cs typeface="Cambria Math"/>
              </a:rPr>
              <a:t>𝒖𝒗</a:t>
            </a:r>
            <a:endParaRPr sz="2300">
              <a:latin typeface="Cambria Math"/>
              <a:cs typeface="Cambria Math"/>
            </a:endParaRPr>
          </a:p>
          <a:p>
            <a:pPr marL="287020" marR="5080" indent="-274320">
              <a:lnSpc>
                <a:spcPts val="341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Step </a:t>
            </a:r>
            <a:r>
              <a:rPr dirty="0" sz="2800" b="1">
                <a:latin typeface="Calibri"/>
                <a:cs typeface="Calibri"/>
              </a:rPr>
              <a:t>1: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#paths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length </a:t>
            </a:r>
            <a:r>
              <a:rPr dirty="0" sz="2800">
                <a:latin typeface="Calibri"/>
                <a:cs typeface="Calibri"/>
              </a:rPr>
              <a:t>1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between  </a:t>
            </a:r>
            <a:r>
              <a:rPr dirty="0" sz="2800" spc="-114" b="1">
                <a:solidFill>
                  <a:srgbClr val="C00000"/>
                </a:solidFill>
                <a:latin typeface="Calibri"/>
                <a:cs typeface="Calibri"/>
              </a:rPr>
              <a:t>each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 spc="-55">
                <a:solidFill>
                  <a:srgbClr val="C00000"/>
                </a:solidFill>
                <a:latin typeface="Cambria Math"/>
                <a:cs typeface="Cambria Math"/>
              </a:rPr>
              <a:t>𝒖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’s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neighbor and</a:t>
            </a:r>
            <a:r>
              <a:rPr dirty="0" sz="2800" spc="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𝒗</a:t>
            </a:r>
            <a:endParaRPr sz="2800">
              <a:latin typeface="Cambria Math"/>
              <a:cs typeface="Cambria Math"/>
            </a:endParaRPr>
          </a:p>
          <a:p>
            <a:pPr marL="287020" indent="-27432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Step </a:t>
            </a:r>
            <a:r>
              <a:rPr dirty="0" sz="2800" b="1">
                <a:latin typeface="Calibri"/>
                <a:cs typeface="Calibri"/>
              </a:rPr>
              <a:t>2</a:t>
            </a:r>
            <a:r>
              <a:rPr dirty="0" sz="2800">
                <a:latin typeface="Calibri"/>
                <a:cs typeface="Calibri"/>
              </a:rPr>
              <a:t>: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Sum up </a:t>
            </a:r>
            <a:r>
              <a:rPr dirty="0" sz="2800" spc="-5">
                <a:latin typeface="Calibri"/>
                <a:cs typeface="Calibri"/>
              </a:rPr>
              <a:t>these </a:t>
            </a:r>
            <a:r>
              <a:rPr dirty="0" sz="2800" spc="-10">
                <a:latin typeface="Calibri"/>
                <a:cs typeface="Calibri"/>
              </a:rPr>
              <a:t>#paths across </a:t>
            </a:r>
            <a:r>
              <a:rPr dirty="0" sz="2800" spc="-60">
                <a:latin typeface="Calibri"/>
                <a:cs typeface="Calibri"/>
              </a:rPr>
              <a:t>u’s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neighbors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5358" y="3787140"/>
            <a:ext cx="350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𝒖𝒗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22031" y="3771900"/>
            <a:ext cx="3505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">
                <a:latin typeface="Cambria Math"/>
                <a:cs typeface="Cambria Math"/>
              </a:rPr>
              <a:t>𝒖𝒗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6563" y="3597147"/>
            <a:ext cx="63430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0">
                <a:latin typeface="Cambria Math"/>
                <a:cs typeface="Cambria Math"/>
              </a:rPr>
              <a:t>𝑷</a:t>
            </a:r>
            <a:r>
              <a:rPr dirty="0" baseline="41666" sz="3000" spc="0">
                <a:latin typeface="Cambria Math"/>
                <a:cs typeface="Cambria Math"/>
              </a:rPr>
              <a:t>(</a:t>
            </a:r>
            <a:r>
              <a:rPr dirty="0" baseline="41666" sz="3000" spc="0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r>
              <a:rPr dirty="0" baseline="41666" sz="3000" spc="0">
                <a:latin typeface="Cambria Math"/>
                <a:cs typeface="Cambria Math"/>
              </a:rPr>
              <a:t>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baseline="1984" sz="4200">
                <a:latin typeface="Cambria Math"/>
                <a:cs typeface="Cambria Math"/>
              </a:rPr>
              <a:t>∑</a:t>
            </a:r>
            <a:r>
              <a:rPr dirty="0" baseline="-18055" sz="3000">
                <a:latin typeface="Cambria Math"/>
                <a:cs typeface="Cambria Math"/>
              </a:rPr>
              <a:t>𝒊 </a:t>
            </a:r>
            <a:r>
              <a:rPr dirty="0" sz="2800">
                <a:latin typeface="Cambria Math"/>
                <a:cs typeface="Cambria Math"/>
              </a:rPr>
              <a:t>𝑨</a:t>
            </a:r>
            <a:r>
              <a:rPr dirty="0" baseline="-16666" sz="3000">
                <a:latin typeface="Cambria Math"/>
                <a:cs typeface="Cambria Math"/>
              </a:rPr>
              <a:t>𝒖𝒊 </a:t>
            </a:r>
            <a:r>
              <a:rPr dirty="0" sz="2800">
                <a:latin typeface="Cambria Math"/>
                <a:cs typeface="Cambria Math"/>
              </a:rPr>
              <a:t>∗ </a:t>
            </a:r>
            <a:r>
              <a:rPr dirty="0" sz="2800" spc="0">
                <a:latin typeface="Cambria Math"/>
                <a:cs typeface="Cambria Math"/>
              </a:rPr>
              <a:t>𝑷</a:t>
            </a:r>
            <a:r>
              <a:rPr dirty="0" baseline="41666" sz="3000" spc="0">
                <a:latin typeface="Cambria Math"/>
                <a:cs typeface="Cambria Math"/>
              </a:rPr>
              <a:t>(𝟏)  </a:t>
            </a:r>
            <a:r>
              <a:rPr dirty="0" sz="2800">
                <a:latin typeface="Cambria Math"/>
                <a:cs typeface="Cambria Math"/>
              </a:rPr>
              <a:t>= </a:t>
            </a:r>
            <a:r>
              <a:rPr dirty="0" baseline="1984" sz="4200">
                <a:latin typeface="Cambria Math"/>
                <a:cs typeface="Cambria Math"/>
              </a:rPr>
              <a:t>∑</a:t>
            </a:r>
            <a:r>
              <a:rPr dirty="0" baseline="-18055" sz="3000">
                <a:latin typeface="Cambria Math"/>
                <a:cs typeface="Cambria Math"/>
              </a:rPr>
              <a:t>𝒊 </a:t>
            </a:r>
            <a:r>
              <a:rPr dirty="0" sz="2800">
                <a:latin typeface="Cambria Math"/>
                <a:cs typeface="Cambria Math"/>
              </a:rPr>
              <a:t>𝑨</a:t>
            </a:r>
            <a:r>
              <a:rPr dirty="0" baseline="-16666" sz="3000">
                <a:latin typeface="Cambria Math"/>
                <a:cs typeface="Cambria Math"/>
              </a:rPr>
              <a:t>𝒖𝒊 </a:t>
            </a:r>
            <a:r>
              <a:rPr dirty="0" sz="2800">
                <a:latin typeface="Cambria Math"/>
                <a:cs typeface="Cambria Math"/>
              </a:rPr>
              <a:t>∗ 𝑨</a:t>
            </a:r>
            <a:r>
              <a:rPr dirty="0" baseline="-16666" sz="3000">
                <a:latin typeface="Cambria Math"/>
                <a:cs typeface="Cambria Math"/>
              </a:rPr>
              <a:t>𝒊𝒗 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290">
                <a:latin typeface="Cambria Math"/>
                <a:cs typeface="Cambria Math"/>
              </a:rPr>
              <a:t> </a:t>
            </a:r>
            <a:r>
              <a:rPr dirty="0" sz="2800" spc="-5">
                <a:latin typeface="Cambria Math"/>
                <a:cs typeface="Cambria Math"/>
              </a:rPr>
              <a:t>𝑨</a:t>
            </a:r>
            <a:r>
              <a:rPr dirty="0" baseline="29166" sz="3000" spc="-7">
                <a:solidFill>
                  <a:srgbClr val="C00000"/>
                </a:solidFill>
                <a:latin typeface="Cambria Math"/>
                <a:cs typeface="Cambria Math"/>
              </a:rPr>
              <a:t>𝟐</a:t>
            </a:r>
            <a:endParaRPr baseline="29166"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3205" y="4892040"/>
            <a:ext cx="8065240" cy="1828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84111" y="5362406"/>
            <a:ext cx="540385" cy="483870"/>
          </a:xfrm>
          <a:custGeom>
            <a:avLst/>
            <a:gdLst/>
            <a:ahLst/>
            <a:cxnLst/>
            <a:rect l="l" t="t" r="r" b="b"/>
            <a:pathLst>
              <a:path w="540385" h="483870">
                <a:moveTo>
                  <a:pt x="74825" y="426286"/>
                </a:moveTo>
                <a:lnTo>
                  <a:pt x="63703" y="428532"/>
                </a:lnTo>
                <a:lnTo>
                  <a:pt x="54620" y="434655"/>
                </a:lnTo>
                <a:lnTo>
                  <a:pt x="48496" y="443738"/>
                </a:lnTo>
                <a:lnTo>
                  <a:pt x="46250" y="454861"/>
                </a:lnTo>
                <a:lnTo>
                  <a:pt x="48496" y="465984"/>
                </a:lnTo>
                <a:lnTo>
                  <a:pt x="54620" y="475067"/>
                </a:lnTo>
                <a:lnTo>
                  <a:pt x="63703" y="481190"/>
                </a:lnTo>
                <a:lnTo>
                  <a:pt x="74883" y="483436"/>
                </a:lnTo>
                <a:lnTo>
                  <a:pt x="86006" y="481190"/>
                </a:lnTo>
                <a:lnTo>
                  <a:pt x="95088" y="475067"/>
                </a:lnTo>
                <a:lnTo>
                  <a:pt x="101212" y="465984"/>
                </a:lnTo>
                <a:lnTo>
                  <a:pt x="103458" y="454861"/>
                </a:lnTo>
                <a:lnTo>
                  <a:pt x="101212" y="443738"/>
                </a:lnTo>
                <a:lnTo>
                  <a:pt x="95088" y="434655"/>
                </a:lnTo>
                <a:lnTo>
                  <a:pt x="86006" y="428532"/>
                </a:lnTo>
                <a:lnTo>
                  <a:pt x="74825" y="426286"/>
                </a:lnTo>
                <a:close/>
              </a:path>
              <a:path w="540385" h="483870">
                <a:moveTo>
                  <a:pt x="28575" y="369079"/>
                </a:moveTo>
                <a:lnTo>
                  <a:pt x="17452" y="371324"/>
                </a:lnTo>
                <a:lnTo>
                  <a:pt x="8369" y="377448"/>
                </a:lnTo>
                <a:lnTo>
                  <a:pt x="2245" y="386531"/>
                </a:lnTo>
                <a:lnTo>
                  <a:pt x="0" y="397711"/>
                </a:lnTo>
                <a:lnTo>
                  <a:pt x="2245" y="408834"/>
                </a:lnTo>
                <a:lnTo>
                  <a:pt x="8369" y="417917"/>
                </a:lnTo>
                <a:lnTo>
                  <a:pt x="17452" y="424040"/>
                </a:lnTo>
                <a:lnTo>
                  <a:pt x="28575" y="426286"/>
                </a:lnTo>
                <a:lnTo>
                  <a:pt x="39697" y="424040"/>
                </a:lnTo>
                <a:lnTo>
                  <a:pt x="48780" y="417917"/>
                </a:lnTo>
                <a:lnTo>
                  <a:pt x="54904" y="408834"/>
                </a:lnTo>
                <a:lnTo>
                  <a:pt x="57150" y="397654"/>
                </a:lnTo>
                <a:lnTo>
                  <a:pt x="54904" y="386531"/>
                </a:lnTo>
                <a:lnTo>
                  <a:pt x="48780" y="377448"/>
                </a:lnTo>
                <a:lnTo>
                  <a:pt x="39697" y="371324"/>
                </a:lnTo>
                <a:lnTo>
                  <a:pt x="28575" y="369079"/>
                </a:lnTo>
                <a:close/>
              </a:path>
              <a:path w="540385" h="483870">
                <a:moveTo>
                  <a:pt x="28575" y="254722"/>
                </a:moveTo>
                <a:lnTo>
                  <a:pt x="17452" y="256967"/>
                </a:lnTo>
                <a:lnTo>
                  <a:pt x="8369" y="263091"/>
                </a:lnTo>
                <a:lnTo>
                  <a:pt x="2245" y="272174"/>
                </a:lnTo>
                <a:lnTo>
                  <a:pt x="0" y="283354"/>
                </a:lnTo>
                <a:lnTo>
                  <a:pt x="2245" y="294477"/>
                </a:lnTo>
                <a:lnTo>
                  <a:pt x="8369" y="303559"/>
                </a:lnTo>
                <a:lnTo>
                  <a:pt x="17452" y="309683"/>
                </a:lnTo>
                <a:lnTo>
                  <a:pt x="28575" y="311929"/>
                </a:lnTo>
                <a:lnTo>
                  <a:pt x="39697" y="309683"/>
                </a:lnTo>
                <a:lnTo>
                  <a:pt x="48780" y="303559"/>
                </a:lnTo>
                <a:lnTo>
                  <a:pt x="54904" y="294477"/>
                </a:lnTo>
                <a:lnTo>
                  <a:pt x="57150" y="283297"/>
                </a:lnTo>
                <a:lnTo>
                  <a:pt x="54904" y="272174"/>
                </a:lnTo>
                <a:lnTo>
                  <a:pt x="48780" y="263091"/>
                </a:lnTo>
                <a:lnTo>
                  <a:pt x="39697" y="256967"/>
                </a:lnTo>
                <a:lnTo>
                  <a:pt x="28575" y="254722"/>
                </a:lnTo>
                <a:close/>
              </a:path>
              <a:path w="540385" h="483870">
                <a:moveTo>
                  <a:pt x="28575" y="140365"/>
                </a:moveTo>
                <a:lnTo>
                  <a:pt x="17452" y="142610"/>
                </a:lnTo>
                <a:lnTo>
                  <a:pt x="8369" y="148734"/>
                </a:lnTo>
                <a:lnTo>
                  <a:pt x="2245" y="157817"/>
                </a:lnTo>
                <a:lnTo>
                  <a:pt x="0" y="168997"/>
                </a:lnTo>
                <a:lnTo>
                  <a:pt x="2245" y="180120"/>
                </a:lnTo>
                <a:lnTo>
                  <a:pt x="8369" y="189203"/>
                </a:lnTo>
                <a:lnTo>
                  <a:pt x="17452" y="195326"/>
                </a:lnTo>
                <a:lnTo>
                  <a:pt x="28575" y="197572"/>
                </a:lnTo>
                <a:lnTo>
                  <a:pt x="39697" y="195326"/>
                </a:lnTo>
                <a:lnTo>
                  <a:pt x="48780" y="189203"/>
                </a:lnTo>
                <a:lnTo>
                  <a:pt x="54904" y="180120"/>
                </a:lnTo>
                <a:lnTo>
                  <a:pt x="57150" y="168940"/>
                </a:lnTo>
                <a:lnTo>
                  <a:pt x="54904" y="157817"/>
                </a:lnTo>
                <a:lnTo>
                  <a:pt x="48780" y="148734"/>
                </a:lnTo>
                <a:lnTo>
                  <a:pt x="39697" y="142610"/>
                </a:lnTo>
                <a:lnTo>
                  <a:pt x="28575" y="140365"/>
                </a:lnTo>
                <a:close/>
              </a:path>
              <a:path w="540385" h="483870">
                <a:moveTo>
                  <a:pt x="28575" y="26008"/>
                </a:moveTo>
                <a:lnTo>
                  <a:pt x="17452" y="28253"/>
                </a:lnTo>
                <a:lnTo>
                  <a:pt x="8369" y="34377"/>
                </a:lnTo>
                <a:lnTo>
                  <a:pt x="2245" y="43460"/>
                </a:lnTo>
                <a:lnTo>
                  <a:pt x="0" y="54640"/>
                </a:lnTo>
                <a:lnTo>
                  <a:pt x="2245" y="65762"/>
                </a:lnTo>
                <a:lnTo>
                  <a:pt x="8369" y="74845"/>
                </a:lnTo>
                <a:lnTo>
                  <a:pt x="17452" y="80969"/>
                </a:lnTo>
                <a:lnTo>
                  <a:pt x="28575" y="83215"/>
                </a:lnTo>
                <a:lnTo>
                  <a:pt x="39697" y="80969"/>
                </a:lnTo>
                <a:lnTo>
                  <a:pt x="48780" y="74845"/>
                </a:lnTo>
                <a:lnTo>
                  <a:pt x="54904" y="65762"/>
                </a:lnTo>
                <a:lnTo>
                  <a:pt x="57150" y="54583"/>
                </a:lnTo>
                <a:lnTo>
                  <a:pt x="54904" y="43460"/>
                </a:lnTo>
                <a:lnTo>
                  <a:pt x="48780" y="34377"/>
                </a:lnTo>
                <a:lnTo>
                  <a:pt x="39697" y="28253"/>
                </a:lnTo>
                <a:lnTo>
                  <a:pt x="28575" y="26008"/>
                </a:lnTo>
                <a:close/>
              </a:path>
              <a:path w="540385" h="483870">
                <a:moveTo>
                  <a:pt x="116866" y="0"/>
                </a:moveTo>
                <a:lnTo>
                  <a:pt x="105744" y="2245"/>
                </a:lnTo>
                <a:lnTo>
                  <a:pt x="96661" y="8369"/>
                </a:lnTo>
                <a:lnTo>
                  <a:pt x="90537" y="17452"/>
                </a:lnTo>
                <a:lnTo>
                  <a:pt x="88291" y="28575"/>
                </a:lnTo>
                <a:lnTo>
                  <a:pt x="90537" y="39697"/>
                </a:lnTo>
                <a:lnTo>
                  <a:pt x="96661" y="48780"/>
                </a:lnTo>
                <a:lnTo>
                  <a:pt x="105744" y="54904"/>
                </a:lnTo>
                <a:lnTo>
                  <a:pt x="116923" y="57150"/>
                </a:lnTo>
                <a:lnTo>
                  <a:pt x="128046" y="54904"/>
                </a:lnTo>
                <a:lnTo>
                  <a:pt x="137129" y="48780"/>
                </a:lnTo>
                <a:lnTo>
                  <a:pt x="143253" y="39697"/>
                </a:lnTo>
                <a:lnTo>
                  <a:pt x="145498" y="28575"/>
                </a:lnTo>
                <a:lnTo>
                  <a:pt x="143253" y="17452"/>
                </a:lnTo>
                <a:lnTo>
                  <a:pt x="137129" y="8369"/>
                </a:lnTo>
                <a:lnTo>
                  <a:pt x="128046" y="2245"/>
                </a:lnTo>
                <a:lnTo>
                  <a:pt x="116866" y="0"/>
                </a:lnTo>
                <a:close/>
              </a:path>
              <a:path w="540385" h="483870">
                <a:moveTo>
                  <a:pt x="231223" y="0"/>
                </a:moveTo>
                <a:lnTo>
                  <a:pt x="220101" y="2245"/>
                </a:lnTo>
                <a:lnTo>
                  <a:pt x="211018" y="8369"/>
                </a:lnTo>
                <a:lnTo>
                  <a:pt x="204894" y="17452"/>
                </a:lnTo>
                <a:lnTo>
                  <a:pt x="202648" y="28575"/>
                </a:lnTo>
                <a:lnTo>
                  <a:pt x="204894" y="39697"/>
                </a:lnTo>
                <a:lnTo>
                  <a:pt x="211018" y="48780"/>
                </a:lnTo>
                <a:lnTo>
                  <a:pt x="220101" y="54904"/>
                </a:lnTo>
                <a:lnTo>
                  <a:pt x="231280" y="57150"/>
                </a:lnTo>
                <a:lnTo>
                  <a:pt x="242403" y="54904"/>
                </a:lnTo>
                <a:lnTo>
                  <a:pt x="251486" y="48780"/>
                </a:lnTo>
                <a:lnTo>
                  <a:pt x="257610" y="39697"/>
                </a:lnTo>
                <a:lnTo>
                  <a:pt x="259855" y="28575"/>
                </a:lnTo>
                <a:lnTo>
                  <a:pt x="257610" y="17452"/>
                </a:lnTo>
                <a:lnTo>
                  <a:pt x="251486" y="8369"/>
                </a:lnTo>
                <a:lnTo>
                  <a:pt x="242403" y="2245"/>
                </a:lnTo>
                <a:lnTo>
                  <a:pt x="231223" y="0"/>
                </a:lnTo>
                <a:close/>
              </a:path>
              <a:path w="540385" h="483870">
                <a:moveTo>
                  <a:pt x="345580" y="0"/>
                </a:moveTo>
                <a:lnTo>
                  <a:pt x="334458" y="2245"/>
                </a:lnTo>
                <a:lnTo>
                  <a:pt x="325375" y="8369"/>
                </a:lnTo>
                <a:lnTo>
                  <a:pt x="319251" y="17452"/>
                </a:lnTo>
                <a:lnTo>
                  <a:pt x="317005" y="28575"/>
                </a:lnTo>
                <a:lnTo>
                  <a:pt x="319251" y="39697"/>
                </a:lnTo>
                <a:lnTo>
                  <a:pt x="325375" y="48780"/>
                </a:lnTo>
                <a:lnTo>
                  <a:pt x="334458" y="54904"/>
                </a:lnTo>
                <a:lnTo>
                  <a:pt x="345638" y="57150"/>
                </a:lnTo>
                <a:lnTo>
                  <a:pt x="356761" y="54904"/>
                </a:lnTo>
                <a:lnTo>
                  <a:pt x="365843" y="48780"/>
                </a:lnTo>
                <a:lnTo>
                  <a:pt x="371967" y="39697"/>
                </a:lnTo>
                <a:lnTo>
                  <a:pt x="374213" y="28575"/>
                </a:lnTo>
                <a:lnTo>
                  <a:pt x="371967" y="17452"/>
                </a:lnTo>
                <a:lnTo>
                  <a:pt x="365843" y="8369"/>
                </a:lnTo>
                <a:lnTo>
                  <a:pt x="356761" y="2245"/>
                </a:lnTo>
                <a:lnTo>
                  <a:pt x="345580" y="0"/>
                </a:lnTo>
                <a:close/>
              </a:path>
              <a:path w="540385" h="483870">
                <a:moveTo>
                  <a:pt x="459938" y="0"/>
                </a:moveTo>
                <a:lnTo>
                  <a:pt x="448815" y="2245"/>
                </a:lnTo>
                <a:lnTo>
                  <a:pt x="439732" y="8369"/>
                </a:lnTo>
                <a:lnTo>
                  <a:pt x="433608" y="17452"/>
                </a:lnTo>
                <a:lnTo>
                  <a:pt x="431363" y="28575"/>
                </a:lnTo>
                <a:lnTo>
                  <a:pt x="433608" y="39697"/>
                </a:lnTo>
                <a:lnTo>
                  <a:pt x="439732" y="48780"/>
                </a:lnTo>
                <a:lnTo>
                  <a:pt x="448815" y="54904"/>
                </a:lnTo>
                <a:lnTo>
                  <a:pt x="459995" y="57150"/>
                </a:lnTo>
                <a:lnTo>
                  <a:pt x="471118" y="54904"/>
                </a:lnTo>
                <a:lnTo>
                  <a:pt x="480201" y="48780"/>
                </a:lnTo>
                <a:lnTo>
                  <a:pt x="486324" y="39697"/>
                </a:lnTo>
                <a:lnTo>
                  <a:pt x="488570" y="28575"/>
                </a:lnTo>
                <a:lnTo>
                  <a:pt x="486324" y="17452"/>
                </a:lnTo>
                <a:lnTo>
                  <a:pt x="480201" y="8369"/>
                </a:lnTo>
                <a:lnTo>
                  <a:pt x="471118" y="2245"/>
                </a:lnTo>
                <a:lnTo>
                  <a:pt x="459938" y="0"/>
                </a:lnTo>
                <a:close/>
              </a:path>
              <a:path w="540385" h="483870">
                <a:moveTo>
                  <a:pt x="511696" y="62599"/>
                </a:moveTo>
                <a:lnTo>
                  <a:pt x="500573" y="64845"/>
                </a:lnTo>
                <a:lnTo>
                  <a:pt x="491491" y="70969"/>
                </a:lnTo>
                <a:lnTo>
                  <a:pt x="485367" y="80052"/>
                </a:lnTo>
                <a:lnTo>
                  <a:pt x="483121" y="91231"/>
                </a:lnTo>
                <a:lnTo>
                  <a:pt x="485367" y="102354"/>
                </a:lnTo>
                <a:lnTo>
                  <a:pt x="491491" y="111437"/>
                </a:lnTo>
                <a:lnTo>
                  <a:pt x="500573" y="117561"/>
                </a:lnTo>
                <a:lnTo>
                  <a:pt x="511696" y="119806"/>
                </a:lnTo>
                <a:lnTo>
                  <a:pt x="522819" y="117561"/>
                </a:lnTo>
                <a:lnTo>
                  <a:pt x="531902" y="111437"/>
                </a:lnTo>
                <a:lnTo>
                  <a:pt x="538026" y="102354"/>
                </a:lnTo>
                <a:lnTo>
                  <a:pt x="540271" y="91174"/>
                </a:lnTo>
                <a:lnTo>
                  <a:pt x="538026" y="80052"/>
                </a:lnTo>
                <a:lnTo>
                  <a:pt x="531902" y="70969"/>
                </a:lnTo>
                <a:lnTo>
                  <a:pt x="522819" y="64845"/>
                </a:lnTo>
                <a:lnTo>
                  <a:pt x="511696" y="62599"/>
                </a:lnTo>
                <a:close/>
              </a:path>
              <a:path w="540385" h="483870">
                <a:moveTo>
                  <a:pt x="511696" y="176956"/>
                </a:moveTo>
                <a:lnTo>
                  <a:pt x="500573" y="179202"/>
                </a:lnTo>
                <a:lnTo>
                  <a:pt x="491491" y="185326"/>
                </a:lnTo>
                <a:lnTo>
                  <a:pt x="485367" y="194409"/>
                </a:lnTo>
                <a:lnTo>
                  <a:pt x="483121" y="205588"/>
                </a:lnTo>
                <a:lnTo>
                  <a:pt x="485367" y="216711"/>
                </a:lnTo>
                <a:lnTo>
                  <a:pt x="491491" y="225794"/>
                </a:lnTo>
                <a:lnTo>
                  <a:pt x="500573" y="231918"/>
                </a:lnTo>
                <a:lnTo>
                  <a:pt x="511696" y="234164"/>
                </a:lnTo>
                <a:lnTo>
                  <a:pt x="522819" y="231918"/>
                </a:lnTo>
                <a:lnTo>
                  <a:pt x="531902" y="225794"/>
                </a:lnTo>
                <a:lnTo>
                  <a:pt x="538026" y="216711"/>
                </a:lnTo>
                <a:lnTo>
                  <a:pt x="540271" y="205531"/>
                </a:lnTo>
                <a:lnTo>
                  <a:pt x="538026" y="194409"/>
                </a:lnTo>
                <a:lnTo>
                  <a:pt x="531902" y="185326"/>
                </a:lnTo>
                <a:lnTo>
                  <a:pt x="522819" y="179202"/>
                </a:lnTo>
                <a:lnTo>
                  <a:pt x="511696" y="176956"/>
                </a:lnTo>
                <a:close/>
              </a:path>
              <a:path w="540385" h="483870">
                <a:moveTo>
                  <a:pt x="511696" y="291314"/>
                </a:moveTo>
                <a:lnTo>
                  <a:pt x="500573" y="293559"/>
                </a:lnTo>
                <a:lnTo>
                  <a:pt x="491491" y="299683"/>
                </a:lnTo>
                <a:lnTo>
                  <a:pt x="485367" y="308766"/>
                </a:lnTo>
                <a:lnTo>
                  <a:pt x="483121" y="319946"/>
                </a:lnTo>
                <a:lnTo>
                  <a:pt x="485367" y="331068"/>
                </a:lnTo>
                <a:lnTo>
                  <a:pt x="491491" y="340151"/>
                </a:lnTo>
                <a:lnTo>
                  <a:pt x="500573" y="346275"/>
                </a:lnTo>
                <a:lnTo>
                  <a:pt x="511696" y="348521"/>
                </a:lnTo>
                <a:lnTo>
                  <a:pt x="522819" y="346275"/>
                </a:lnTo>
                <a:lnTo>
                  <a:pt x="531902" y="340151"/>
                </a:lnTo>
                <a:lnTo>
                  <a:pt x="538026" y="331068"/>
                </a:lnTo>
                <a:lnTo>
                  <a:pt x="540271" y="319889"/>
                </a:lnTo>
                <a:lnTo>
                  <a:pt x="538026" y="308766"/>
                </a:lnTo>
                <a:lnTo>
                  <a:pt x="531902" y="299683"/>
                </a:lnTo>
                <a:lnTo>
                  <a:pt x="522819" y="293559"/>
                </a:lnTo>
                <a:lnTo>
                  <a:pt x="511696" y="291314"/>
                </a:lnTo>
                <a:close/>
              </a:path>
              <a:path w="540385" h="483870">
                <a:moveTo>
                  <a:pt x="511696" y="405671"/>
                </a:moveTo>
                <a:lnTo>
                  <a:pt x="500573" y="407916"/>
                </a:lnTo>
                <a:lnTo>
                  <a:pt x="491491" y="414040"/>
                </a:lnTo>
                <a:lnTo>
                  <a:pt x="485367" y="423123"/>
                </a:lnTo>
                <a:lnTo>
                  <a:pt x="483121" y="434303"/>
                </a:lnTo>
                <a:lnTo>
                  <a:pt x="485367" y="445426"/>
                </a:lnTo>
                <a:lnTo>
                  <a:pt x="491491" y="454508"/>
                </a:lnTo>
                <a:lnTo>
                  <a:pt x="500573" y="460632"/>
                </a:lnTo>
                <a:lnTo>
                  <a:pt x="511696" y="462878"/>
                </a:lnTo>
                <a:lnTo>
                  <a:pt x="522819" y="460632"/>
                </a:lnTo>
                <a:lnTo>
                  <a:pt x="531902" y="454508"/>
                </a:lnTo>
                <a:lnTo>
                  <a:pt x="538026" y="445426"/>
                </a:lnTo>
                <a:lnTo>
                  <a:pt x="540271" y="434246"/>
                </a:lnTo>
                <a:lnTo>
                  <a:pt x="538026" y="423123"/>
                </a:lnTo>
                <a:lnTo>
                  <a:pt x="531902" y="414040"/>
                </a:lnTo>
                <a:lnTo>
                  <a:pt x="522819" y="407916"/>
                </a:lnTo>
                <a:lnTo>
                  <a:pt x="511696" y="405671"/>
                </a:lnTo>
                <a:close/>
              </a:path>
              <a:path w="540385" h="483870">
                <a:moveTo>
                  <a:pt x="417897" y="426286"/>
                </a:moveTo>
                <a:lnTo>
                  <a:pt x="406774" y="428532"/>
                </a:lnTo>
                <a:lnTo>
                  <a:pt x="397691" y="434655"/>
                </a:lnTo>
                <a:lnTo>
                  <a:pt x="391567" y="443738"/>
                </a:lnTo>
                <a:lnTo>
                  <a:pt x="389322" y="454861"/>
                </a:lnTo>
                <a:lnTo>
                  <a:pt x="391567" y="465984"/>
                </a:lnTo>
                <a:lnTo>
                  <a:pt x="397691" y="475067"/>
                </a:lnTo>
                <a:lnTo>
                  <a:pt x="406774" y="481190"/>
                </a:lnTo>
                <a:lnTo>
                  <a:pt x="417954" y="483436"/>
                </a:lnTo>
                <a:lnTo>
                  <a:pt x="429077" y="481190"/>
                </a:lnTo>
                <a:lnTo>
                  <a:pt x="438160" y="475067"/>
                </a:lnTo>
                <a:lnTo>
                  <a:pt x="444284" y="465984"/>
                </a:lnTo>
                <a:lnTo>
                  <a:pt x="446529" y="454861"/>
                </a:lnTo>
                <a:lnTo>
                  <a:pt x="444284" y="443738"/>
                </a:lnTo>
                <a:lnTo>
                  <a:pt x="438160" y="434655"/>
                </a:lnTo>
                <a:lnTo>
                  <a:pt x="429077" y="428532"/>
                </a:lnTo>
                <a:lnTo>
                  <a:pt x="417897" y="426286"/>
                </a:lnTo>
                <a:close/>
              </a:path>
              <a:path w="540385" h="483870">
                <a:moveTo>
                  <a:pt x="303540" y="426286"/>
                </a:moveTo>
                <a:lnTo>
                  <a:pt x="292417" y="428532"/>
                </a:lnTo>
                <a:lnTo>
                  <a:pt x="283334" y="434655"/>
                </a:lnTo>
                <a:lnTo>
                  <a:pt x="277210" y="443738"/>
                </a:lnTo>
                <a:lnTo>
                  <a:pt x="274965" y="454861"/>
                </a:lnTo>
                <a:lnTo>
                  <a:pt x="277210" y="465984"/>
                </a:lnTo>
                <a:lnTo>
                  <a:pt x="283334" y="475067"/>
                </a:lnTo>
                <a:lnTo>
                  <a:pt x="292417" y="481190"/>
                </a:lnTo>
                <a:lnTo>
                  <a:pt x="303597" y="483436"/>
                </a:lnTo>
                <a:lnTo>
                  <a:pt x="314720" y="481190"/>
                </a:lnTo>
                <a:lnTo>
                  <a:pt x="323803" y="475067"/>
                </a:lnTo>
                <a:lnTo>
                  <a:pt x="329926" y="465984"/>
                </a:lnTo>
                <a:lnTo>
                  <a:pt x="332172" y="454861"/>
                </a:lnTo>
                <a:lnTo>
                  <a:pt x="329926" y="443738"/>
                </a:lnTo>
                <a:lnTo>
                  <a:pt x="323803" y="434655"/>
                </a:lnTo>
                <a:lnTo>
                  <a:pt x="314720" y="428532"/>
                </a:lnTo>
                <a:lnTo>
                  <a:pt x="303540" y="426286"/>
                </a:lnTo>
                <a:close/>
              </a:path>
              <a:path w="540385" h="483870">
                <a:moveTo>
                  <a:pt x="189183" y="426286"/>
                </a:moveTo>
                <a:lnTo>
                  <a:pt x="178060" y="428532"/>
                </a:lnTo>
                <a:lnTo>
                  <a:pt x="168977" y="434655"/>
                </a:lnTo>
                <a:lnTo>
                  <a:pt x="162853" y="443738"/>
                </a:lnTo>
                <a:lnTo>
                  <a:pt x="160608" y="454861"/>
                </a:lnTo>
                <a:lnTo>
                  <a:pt x="162853" y="465984"/>
                </a:lnTo>
                <a:lnTo>
                  <a:pt x="168977" y="475067"/>
                </a:lnTo>
                <a:lnTo>
                  <a:pt x="178060" y="481190"/>
                </a:lnTo>
                <a:lnTo>
                  <a:pt x="189240" y="483436"/>
                </a:lnTo>
                <a:lnTo>
                  <a:pt x="200363" y="481190"/>
                </a:lnTo>
                <a:lnTo>
                  <a:pt x="209446" y="475067"/>
                </a:lnTo>
                <a:lnTo>
                  <a:pt x="215569" y="465984"/>
                </a:lnTo>
                <a:lnTo>
                  <a:pt x="217815" y="454861"/>
                </a:lnTo>
                <a:lnTo>
                  <a:pt x="215569" y="443738"/>
                </a:lnTo>
                <a:lnTo>
                  <a:pt x="209446" y="434655"/>
                </a:lnTo>
                <a:lnTo>
                  <a:pt x="200363" y="428532"/>
                </a:lnTo>
                <a:lnTo>
                  <a:pt x="189183" y="426286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02492" y="5003375"/>
            <a:ext cx="478155" cy="483870"/>
          </a:xfrm>
          <a:custGeom>
            <a:avLst/>
            <a:gdLst/>
            <a:ahLst/>
            <a:cxnLst/>
            <a:rect l="l" t="t" r="r" b="b"/>
            <a:pathLst>
              <a:path w="478155" h="483870">
                <a:moveTo>
                  <a:pt x="64803" y="426285"/>
                </a:moveTo>
                <a:lnTo>
                  <a:pt x="53680" y="428531"/>
                </a:lnTo>
                <a:lnTo>
                  <a:pt x="44597" y="434655"/>
                </a:lnTo>
                <a:lnTo>
                  <a:pt x="38473" y="443738"/>
                </a:lnTo>
                <a:lnTo>
                  <a:pt x="36228" y="454860"/>
                </a:lnTo>
                <a:lnTo>
                  <a:pt x="38473" y="465983"/>
                </a:lnTo>
                <a:lnTo>
                  <a:pt x="44597" y="475066"/>
                </a:lnTo>
                <a:lnTo>
                  <a:pt x="53680" y="481190"/>
                </a:lnTo>
                <a:lnTo>
                  <a:pt x="64860" y="483435"/>
                </a:lnTo>
                <a:lnTo>
                  <a:pt x="75983" y="481190"/>
                </a:lnTo>
                <a:lnTo>
                  <a:pt x="85066" y="475066"/>
                </a:lnTo>
                <a:lnTo>
                  <a:pt x="91189" y="465983"/>
                </a:lnTo>
                <a:lnTo>
                  <a:pt x="93435" y="454860"/>
                </a:lnTo>
                <a:lnTo>
                  <a:pt x="91189" y="443738"/>
                </a:lnTo>
                <a:lnTo>
                  <a:pt x="85066" y="434655"/>
                </a:lnTo>
                <a:lnTo>
                  <a:pt x="75983" y="428531"/>
                </a:lnTo>
                <a:lnTo>
                  <a:pt x="64803" y="426285"/>
                </a:lnTo>
                <a:close/>
              </a:path>
              <a:path w="478155" h="483870">
                <a:moveTo>
                  <a:pt x="28575" y="369078"/>
                </a:moveTo>
                <a:lnTo>
                  <a:pt x="17452" y="371324"/>
                </a:lnTo>
                <a:lnTo>
                  <a:pt x="8369" y="377448"/>
                </a:lnTo>
                <a:lnTo>
                  <a:pt x="2245" y="386531"/>
                </a:lnTo>
                <a:lnTo>
                  <a:pt x="0" y="397710"/>
                </a:lnTo>
                <a:lnTo>
                  <a:pt x="2245" y="408833"/>
                </a:lnTo>
                <a:lnTo>
                  <a:pt x="8369" y="417916"/>
                </a:lnTo>
                <a:lnTo>
                  <a:pt x="17452" y="424040"/>
                </a:lnTo>
                <a:lnTo>
                  <a:pt x="28575" y="426285"/>
                </a:lnTo>
                <a:lnTo>
                  <a:pt x="39697" y="424040"/>
                </a:lnTo>
                <a:lnTo>
                  <a:pt x="48780" y="417916"/>
                </a:lnTo>
                <a:lnTo>
                  <a:pt x="54904" y="408833"/>
                </a:lnTo>
                <a:lnTo>
                  <a:pt x="57150" y="397653"/>
                </a:lnTo>
                <a:lnTo>
                  <a:pt x="54904" y="386531"/>
                </a:lnTo>
                <a:lnTo>
                  <a:pt x="48780" y="377448"/>
                </a:lnTo>
                <a:lnTo>
                  <a:pt x="39697" y="371324"/>
                </a:lnTo>
                <a:lnTo>
                  <a:pt x="28575" y="369078"/>
                </a:lnTo>
                <a:close/>
              </a:path>
              <a:path w="478155" h="483870">
                <a:moveTo>
                  <a:pt x="28575" y="254721"/>
                </a:moveTo>
                <a:lnTo>
                  <a:pt x="17452" y="256966"/>
                </a:lnTo>
                <a:lnTo>
                  <a:pt x="8369" y="263090"/>
                </a:lnTo>
                <a:lnTo>
                  <a:pt x="2245" y="272173"/>
                </a:lnTo>
                <a:lnTo>
                  <a:pt x="0" y="283353"/>
                </a:lnTo>
                <a:lnTo>
                  <a:pt x="2245" y="294476"/>
                </a:lnTo>
                <a:lnTo>
                  <a:pt x="8369" y="303559"/>
                </a:lnTo>
                <a:lnTo>
                  <a:pt x="17452" y="309683"/>
                </a:lnTo>
                <a:lnTo>
                  <a:pt x="28575" y="311928"/>
                </a:lnTo>
                <a:lnTo>
                  <a:pt x="39697" y="309683"/>
                </a:lnTo>
                <a:lnTo>
                  <a:pt x="48780" y="303559"/>
                </a:lnTo>
                <a:lnTo>
                  <a:pt x="54904" y="294476"/>
                </a:lnTo>
                <a:lnTo>
                  <a:pt x="57150" y="283296"/>
                </a:lnTo>
                <a:lnTo>
                  <a:pt x="54904" y="272173"/>
                </a:lnTo>
                <a:lnTo>
                  <a:pt x="48780" y="263090"/>
                </a:lnTo>
                <a:lnTo>
                  <a:pt x="39697" y="256966"/>
                </a:lnTo>
                <a:lnTo>
                  <a:pt x="28575" y="254721"/>
                </a:lnTo>
                <a:close/>
              </a:path>
              <a:path w="478155" h="483870">
                <a:moveTo>
                  <a:pt x="28575" y="140364"/>
                </a:moveTo>
                <a:lnTo>
                  <a:pt x="17452" y="142609"/>
                </a:lnTo>
                <a:lnTo>
                  <a:pt x="8369" y="148733"/>
                </a:lnTo>
                <a:lnTo>
                  <a:pt x="2245" y="157816"/>
                </a:lnTo>
                <a:lnTo>
                  <a:pt x="0" y="168996"/>
                </a:lnTo>
                <a:lnTo>
                  <a:pt x="2245" y="180119"/>
                </a:lnTo>
                <a:lnTo>
                  <a:pt x="8369" y="189202"/>
                </a:lnTo>
                <a:lnTo>
                  <a:pt x="17452" y="195325"/>
                </a:lnTo>
                <a:lnTo>
                  <a:pt x="28575" y="197571"/>
                </a:lnTo>
                <a:lnTo>
                  <a:pt x="39697" y="195325"/>
                </a:lnTo>
                <a:lnTo>
                  <a:pt x="48780" y="189202"/>
                </a:lnTo>
                <a:lnTo>
                  <a:pt x="54904" y="180119"/>
                </a:lnTo>
                <a:lnTo>
                  <a:pt x="57150" y="168939"/>
                </a:lnTo>
                <a:lnTo>
                  <a:pt x="54904" y="157816"/>
                </a:lnTo>
                <a:lnTo>
                  <a:pt x="48780" y="148733"/>
                </a:lnTo>
                <a:lnTo>
                  <a:pt x="39697" y="142609"/>
                </a:lnTo>
                <a:lnTo>
                  <a:pt x="28575" y="140364"/>
                </a:lnTo>
                <a:close/>
              </a:path>
              <a:path w="478155" h="483870">
                <a:moveTo>
                  <a:pt x="28575" y="26007"/>
                </a:moveTo>
                <a:lnTo>
                  <a:pt x="17452" y="28252"/>
                </a:lnTo>
                <a:lnTo>
                  <a:pt x="8369" y="34376"/>
                </a:lnTo>
                <a:lnTo>
                  <a:pt x="2245" y="43459"/>
                </a:lnTo>
                <a:lnTo>
                  <a:pt x="0" y="54639"/>
                </a:lnTo>
                <a:lnTo>
                  <a:pt x="2245" y="65762"/>
                </a:lnTo>
                <a:lnTo>
                  <a:pt x="8369" y="74845"/>
                </a:lnTo>
                <a:lnTo>
                  <a:pt x="17452" y="80968"/>
                </a:lnTo>
                <a:lnTo>
                  <a:pt x="28575" y="83214"/>
                </a:lnTo>
                <a:lnTo>
                  <a:pt x="39697" y="80968"/>
                </a:lnTo>
                <a:lnTo>
                  <a:pt x="48780" y="74845"/>
                </a:lnTo>
                <a:lnTo>
                  <a:pt x="54904" y="65762"/>
                </a:lnTo>
                <a:lnTo>
                  <a:pt x="57150" y="54582"/>
                </a:lnTo>
                <a:lnTo>
                  <a:pt x="54904" y="43459"/>
                </a:lnTo>
                <a:lnTo>
                  <a:pt x="48780" y="34376"/>
                </a:lnTo>
                <a:lnTo>
                  <a:pt x="39697" y="28252"/>
                </a:lnTo>
                <a:lnTo>
                  <a:pt x="28575" y="26007"/>
                </a:lnTo>
                <a:close/>
              </a:path>
              <a:path w="478155" h="483870">
                <a:moveTo>
                  <a:pt x="116867" y="0"/>
                </a:moveTo>
                <a:lnTo>
                  <a:pt x="105744" y="2245"/>
                </a:lnTo>
                <a:lnTo>
                  <a:pt x="96662" y="8369"/>
                </a:lnTo>
                <a:lnTo>
                  <a:pt x="90538" y="17452"/>
                </a:lnTo>
                <a:lnTo>
                  <a:pt x="88292" y="28575"/>
                </a:lnTo>
                <a:lnTo>
                  <a:pt x="90538" y="39697"/>
                </a:lnTo>
                <a:lnTo>
                  <a:pt x="96662" y="48780"/>
                </a:lnTo>
                <a:lnTo>
                  <a:pt x="105744" y="54904"/>
                </a:lnTo>
                <a:lnTo>
                  <a:pt x="116925" y="57150"/>
                </a:lnTo>
                <a:lnTo>
                  <a:pt x="128047" y="54904"/>
                </a:lnTo>
                <a:lnTo>
                  <a:pt x="137130" y="48780"/>
                </a:lnTo>
                <a:lnTo>
                  <a:pt x="143254" y="39697"/>
                </a:lnTo>
                <a:lnTo>
                  <a:pt x="145500" y="28575"/>
                </a:lnTo>
                <a:lnTo>
                  <a:pt x="143254" y="17452"/>
                </a:lnTo>
                <a:lnTo>
                  <a:pt x="137130" y="8369"/>
                </a:lnTo>
                <a:lnTo>
                  <a:pt x="128047" y="2245"/>
                </a:lnTo>
                <a:lnTo>
                  <a:pt x="116867" y="0"/>
                </a:lnTo>
                <a:close/>
              </a:path>
              <a:path w="478155" h="483870">
                <a:moveTo>
                  <a:pt x="231225" y="0"/>
                </a:moveTo>
                <a:lnTo>
                  <a:pt x="220102" y="2245"/>
                </a:lnTo>
                <a:lnTo>
                  <a:pt x="211019" y="8369"/>
                </a:lnTo>
                <a:lnTo>
                  <a:pt x="204895" y="17452"/>
                </a:lnTo>
                <a:lnTo>
                  <a:pt x="202650" y="28575"/>
                </a:lnTo>
                <a:lnTo>
                  <a:pt x="204895" y="39697"/>
                </a:lnTo>
                <a:lnTo>
                  <a:pt x="211019" y="48780"/>
                </a:lnTo>
                <a:lnTo>
                  <a:pt x="220102" y="54904"/>
                </a:lnTo>
                <a:lnTo>
                  <a:pt x="231282" y="57150"/>
                </a:lnTo>
                <a:lnTo>
                  <a:pt x="242404" y="54904"/>
                </a:lnTo>
                <a:lnTo>
                  <a:pt x="251487" y="48780"/>
                </a:lnTo>
                <a:lnTo>
                  <a:pt x="257611" y="39697"/>
                </a:lnTo>
                <a:lnTo>
                  <a:pt x="259857" y="28575"/>
                </a:lnTo>
                <a:lnTo>
                  <a:pt x="257611" y="17452"/>
                </a:lnTo>
                <a:lnTo>
                  <a:pt x="251487" y="8369"/>
                </a:lnTo>
                <a:lnTo>
                  <a:pt x="242404" y="2245"/>
                </a:lnTo>
                <a:lnTo>
                  <a:pt x="231225" y="0"/>
                </a:lnTo>
                <a:close/>
              </a:path>
              <a:path w="478155" h="483870">
                <a:moveTo>
                  <a:pt x="345582" y="0"/>
                </a:moveTo>
                <a:lnTo>
                  <a:pt x="334459" y="2245"/>
                </a:lnTo>
                <a:lnTo>
                  <a:pt x="325376" y="8369"/>
                </a:lnTo>
                <a:lnTo>
                  <a:pt x="319252" y="17452"/>
                </a:lnTo>
                <a:lnTo>
                  <a:pt x="317007" y="28575"/>
                </a:lnTo>
                <a:lnTo>
                  <a:pt x="319252" y="39697"/>
                </a:lnTo>
                <a:lnTo>
                  <a:pt x="325376" y="48780"/>
                </a:lnTo>
                <a:lnTo>
                  <a:pt x="334459" y="54904"/>
                </a:lnTo>
                <a:lnTo>
                  <a:pt x="345639" y="57150"/>
                </a:lnTo>
                <a:lnTo>
                  <a:pt x="356761" y="54904"/>
                </a:lnTo>
                <a:lnTo>
                  <a:pt x="365844" y="48780"/>
                </a:lnTo>
                <a:lnTo>
                  <a:pt x="371968" y="39697"/>
                </a:lnTo>
                <a:lnTo>
                  <a:pt x="374214" y="28575"/>
                </a:lnTo>
                <a:lnTo>
                  <a:pt x="371968" y="17452"/>
                </a:lnTo>
                <a:lnTo>
                  <a:pt x="365844" y="8369"/>
                </a:lnTo>
                <a:lnTo>
                  <a:pt x="356761" y="2245"/>
                </a:lnTo>
                <a:lnTo>
                  <a:pt x="345582" y="0"/>
                </a:lnTo>
                <a:close/>
              </a:path>
              <a:path w="478155" h="483870">
                <a:moveTo>
                  <a:pt x="449506" y="10431"/>
                </a:moveTo>
                <a:lnTo>
                  <a:pt x="438383" y="12677"/>
                </a:lnTo>
                <a:lnTo>
                  <a:pt x="429300" y="18801"/>
                </a:lnTo>
                <a:lnTo>
                  <a:pt x="423176" y="27884"/>
                </a:lnTo>
                <a:lnTo>
                  <a:pt x="420931" y="39063"/>
                </a:lnTo>
                <a:lnTo>
                  <a:pt x="423176" y="50186"/>
                </a:lnTo>
                <a:lnTo>
                  <a:pt x="429300" y="59269"/>
                </a:lnTo>
                <a:lnTo>
                  <a:pt x="438383" y="65393"/>
                </a:lnTo>
                <a:lnTo>
                  <a:pt x="449506" y="67638"/>
                </a:lnTo>
                <a:lnTo>
                  <a:pt x="460629" y="65393"/>
                </a:lnTo>
                <a:lnTo>
                  <a:pt x="469712" y="59269"/>
                </a:lnTo>
                <a:lnTo>
                  <a:pt x="475835" y="50186"/>
                </a:lnTo>
                <a:lnTo>
                  <a:pt x="478081" y="39006"/>
                </a:lnTo>
                <a:lnTo>
                  <a:pt x="475835" y="27884"/>
                </a:lnTo>
                <a:lnTo>
                  <a:pt x="469712" y="18801"/>
                </a:lnTo>
                <a:lnTo>
                  <a:pt x="460629" y="12677"/>
                </a:lnTo>
                <a:lnTo>
                  <a:pt x="449506" y="10431"/>
                </a:lnTo>
                <a:close/>
              </a:path>
              <a:path w="478155" h="483870">
                <a:moveTo>
                  <a:pt x="449506" y="124788"/>
                </a:moveTo>
                <a:lnTo>
                  <a:pt x="438383" y="127034"/>
                </a:lnTo>
                <a:lnTo>
                  <a:pt x="429300" y="133158"/>
                </a:lnTo>
                <a:lnTo>
                  <a:pt x="423176" y="142241"/>
                </a:lnTo>
                <a:lnTo>
                  <a:pt x="420931" y="153421"/>
                </a:lnTo>
                <a:lnTo>
                  <a:pt x="423176" y="164544"/>
                </a:lnTo>
                <a:lnTo>
                  <a:pt x="429300" y="173626"/>
                </a:lnTo>
                <a:lnTo>
                  <a:pt x="438383" y="179750"/>
                </a:lnTo>
                <a:lnTo>
                  <a:pt x="449506" y="181996"/>
                </a:lnTo>
                <a:lnTo>
                  <a:pt x="460629" y="179750"/>
                </a:lnTo>
                <a:lnTo>
                  <a:pt x="469712" y="173626"/>
                </a:lnTo>
                <a:lnTo>
                  <a:pt x="475835" y="164544"/>
                </a:lnTo>
                <a:lnTo>
                  <a:pt x="478081" y="153363"/>
                </a:lnTo>
                <a:lnTo>
                  <a:pt x="475835" y="142241"/>
                </a:lnTo>
                <a:lnTo>
                  <a:pt x="469712" y="133158"/>
                </a:lnTo>
                <a:lnTo>
                  <a:pt x="460629" y="127034"/>
                </a:lnTo>
                <a:lnTo>
                  <a:pt x="449506" y="124788"/>
                </a:lnTo>
                <a:close/>
              </a:path>
              <a:path w="478155" h="483870">
                <a:moveTo>
                  <a:pt x="449506" y="239146"/>
                </a:moveTo>
                <a:lnTo>
                  <a:pt x="438383" y="241391"/>
                </a:lnTo>
                <a:lnTo>
                  <a:pt x="429300" y="247515"/>
                </a:lnTo>
                <a:lnTo>
                  <a:pt x="423176" y="256598"/>
                </a:lnTo>
                <a:lnTo>
                  <a:pt x="420931" y="267778"/>
                </a:lnTo>
                <a:lnTo>
                  <a:pt x="423176" y="278901"/>
                </a:lnTo>
                <a:lnTo>
                  <a:pt x="429300" y="287984"/>
                </a:lnTo>
                <a:lnTo>
                  <a:pt x="438383" y="294107"/>
                </a:lnTo>
                <a:lnTo>
                  <a:pt x="449506" y="296353"/>
                </a:lnTo>
                <a:lnTo>
                  <a:pt x="460629" y="294107"/>
                </a:lnTo>
                <a:lnTo>
                  <a:pt x="469712" y="287984"/>
                </a:lnTo>
                <a:lnTo>
                  <a:pt x="475835" y="278901"/>
                </a:lnTo>
                <a:lnTo>
                  <a:pt x="478081" y="267721"/>
                </a:lnTo>
                <a:lnTo>
                  <a:pt x="475835" y="256598"/>
                </a:lnTo>
                <a:lnTo>
                  <a:pt x="469712" y="247515"/>
                </a:lnTo>
                <a:lnTo>
                  <a:pt x="460629" y="241391"/>
                </a:lnTo>
                <a:lnTo>
                  <a:pt x="449506" y="239146"/>
                </a:lnTo>
                <a:close/>
              </a:path>
              <a:path w="478155" h="483870">
                <a:moveTo>
                  <a:pt x="449506" y="353503"/>
                </a:moveTo>
                <a:lnTo>
                  <a:pt x="438383" y="355748"/>
                </a:lnTo>
                <a:lnTo>
                  <a:pt x="429300" y="361872"/>
                </a:lnTo>
                <a:lnTo>
                  <a:pt x="423176" y="370955"/>
                </a:lnTo>
                <a:lnTo>
                  <a:pt x="420931" y="382135"/>
                </a:lnTo>
                <a:lnTo>
                  <a:pt x="423176" y="393258"/>
                </a:lnTo>
                <a:lnTo>
                  <a:pt x="429300" y="402341"/>
                </a:lnTo>
                <a:lnTo>
                  <a:pt x="438383" y="408464"/>
                </a:lnTo>
                <a:lnTo>
                  <a:pt x="449506" y="410710"/>
                </a:lnTo>
                <a:lnTo>
                  <a:pt x="460629" y="408464"/>
                </a:lnTo>
                <a:lnTo>
                  <a:pt x="469712" y="402341"/>
                </a:lnTo>
                <a:lnTo>
                  <a:pt x="475835" y="393258"/>
                </a:lnTo>
                <a:lnTo>
                  <a:pt x="478081" y="382078"/>
                </a:lnTo>
                <a:lnTo>
                  <a:pt x="475835" y="370955"/>
                </a:lnTo>
                <a:lnTo>
                  <a:pt x="469712" y="361872"/>
                </a:lnTo>
                <a:lnTo>
                  <a:pt x="460629" y="355748"/>
                </a:lnTo>
                <a:lnTo>
                  <a:pt x="449506" y="353503"/>
                </a:lnTo>
                <a:close/>
              </a:path>
              <a:path w="478155" h="483870">
                <a:moveTo>
                  <a:pt x="407874" y="426285"/>
                </a:moveTo>
                <a:lnTo>
                  <a:pt x="396752" y="428531"/>
                </a:lnTo>
                <a:lnTo>
                  <a:pt x="387669" y="434655"/>
                </a:lnTo>
                <a:lnTo>
                  <a:pt x="381545" y="443738"/>
                </a:lnTo>
                <a:lnTo>
                  <a:pt x="379299" y="454860"/>
                </a:lnTo>
                <a:lnTo>
                  <a:pt x="381545" y="465983"/>
                </a:lnTo>
                <a:lnTo>
                  <a:pt x="387669" y="475066"/>
                </a:lnTo>
                <a:lnTo>
                  <a:pt x="396752" y="481190"/>
                </a:lnTo>
                <a:lnTo>
                  <a:pt x="407931" y="483435"/>
                </a:lnTo>
                <a:lnTo>
                  <a:pt x="419054" y="481190"/>
                </a:lnTo>
                <a:lnTo>
                  <a:pt x="428137" y="475066"/>
                </a:lnTo>
                <a:lnTo>
                  <a:pt x="434261" y="465983"/>
                </a:lnTo>
                <a:lnTo>
                  <a:pt x="436506" y="454860"/>
                </a:lnTo>
                <a:lnTo>
                  <a:pt x="434261" y="443738"/>
                </a:lnTo>
                <a:lnTo>
                  <a:pt x="428137" y="434655"/>
                </a:lnTo>
                <a:lnTo>
                  <a:pt x="419054" y="428531"/>
                </a:lnTo>
                <a:lnTo>
                  <a:pt x="407874" y="426285"/>
                </a:lnTo>
                <a:close/>
              </a:path>
              <a:path w="478155" h="483870">
                <a:moveTo>
                  <a:pt x="293517" y="426285"/>
                </a:moveTo>
                <a:lnTo>
                  <a:pt x="282394" y="428531"/>
                </a:lnTo>
                <a:lnTo>
                  <a:pt x="273311" y="434655"/>
                </a:lnTo>
                <a:lnTo>
                  <a:pt x="267187" y="443738"/>
                </a:lnTo>
                <a:lnTo>
                  <a:pt x="264942" y="454860"/>
                </a:lnTo>
                <a:lnTo>
                  <a:pt x="267187" y="465983"/>
                </a:lnTo>
                <a:lnTo>
                  <a:pt x="273311" y="475066"/>
                </a:lnTo>
                <a:lnTo>
                  <a:pt x="282394" y="481190"/>
                </a:lnTo>
                <a:lnTo>
                  <a:pt x="293574" y="483435"/>
                </a:lnTo>
                <a:lnTo>
                  <a:pt x="304697" y="481190"/>
                </a:lnTo>
                <a:lnTo>
                  <a:pt x="313780" y="475066"/>
                </a:lnTo>
                <a:lnTo>
                  <a:pt x="319904" y="465983"/>
                </a:lnTo>
                <a:lnTo>
                  <a:pt x="322149" y="454860"/>
                </a:lnTo>
                <a:lnTo>
                  <a:pt x="319904" y="443738"/>
                </a:lnTo>
                <a:lnTo>
                  <a:pt x="313780" y="434655"/>
                </a:lnTo>
                <a:lnTo>
                  <a:pt x="304697" y="428531"/>
                </a:lnTo>
                <a:lnTo>
                  <a:pt x="293517" y="426285"/>
                </a:lnTo>
                <a:close/>
              </a:path>
              <a:path w="478155" h="483870">
                <a:moveTo>
                  <a:pt x="179160" y="426285"/>
                </a:moveTo>
                <a:lnTo>
                  <a:pt x="168037" y="428531"/>
                </a:lnTo>
                <a:lnTo>
                  <a:pt x="158954" y="434655"/>
                </a:lnTo>
                <a:lnTo>
                  <a:pt x="152830" y="443738"/>
                </a:lnTo>
                <a:lnTo>
                  <a:pt x="150585" y="454860"/>
                </a:lnTo>
                <a:lnTo>
                  <a:pt x="152830" y="465983"/>
                </a:lnTo>
                <a:lnTo>
                  <a:pt x="158954" y="475066"/>
                </a:lnTo>
                <a:lnTo>
                  <a:pt x="168037" y="481190"/>
                </a:lnTo>
                <a:lnTo>
                  <a:pt x="179217" y="483435"/>
                </a:lnTo>
                <a:lnTo>
                  <a:pt x="190340" y="481190"/>
                </a:lnTo>
                <a:lnTo>
                  <a:pt x="199423" y="475066"/>
                </a:lnTo>
                <a:lnTo>
                  <a:pt x="205546" y="465983"/>
                </a:lnTo>
                <a:lnTo>
                  <a:pt x="207792" y="454860"/>
                </a:lnTo>
                <a:lnTo>
                  <a:pt x="205546" y="443738"/>
                </a:lnTo>
                <a:lnTo>
                  <a:pt x="199423" y="434655"/>
                </a:lnTo>
                <a:lnTo>
                  <a:pt x="190340" y="428531"/>
                </a:lnTo>
                <a:lnTo>
                  <a:pt x="179160" y="426285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185993" y="4611115"/>
            <a:ext cx="199008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60B5CC"/>
                </a:solidFill>
                <a:latin typeface="Arial"/>
                <a:cs typeface="Arial"/>
              </a:rPr>
              <a:t>Node </a:t>
            </a:r>
            <a:r>
              <a:rPr dirty="0" sz="1800" spc="-15" b="1">
                <a:solidFill>
                  <a:srgbClr val="60B5CC"/>
                </a:solidFill>
                <a:latin typeface="Arial"/>
                <a:cs typeface="Arial"/>
              </a:rPr>
              <a:t>1</a:t>
            </a:r>
            <a:r>
              <a:rPr dirty="0" sz="1800" spc="-15">
                <a:solidFill>
                  <a:srgbClr val="60B5CC"/>
                </a:solidFill>
                <a:latin typeface="Arial"/>
                <a:cs typeface="Arial"/>
              </a:rPr>
              <a:t>’s</a:t>
            </a:r>
            <a:r>
              <a:rPr dirty="0" sz="1800" spc="-70">
                <a:solidFill>
                  <a:srgbClr val="60B5CC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60B5CC"/>
                </a:solidFill>
                <a:latin typeface="Arial"/>
                <a:cs typeface="Arial"/>
              </a:rPr>
              <a:t>neighbors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60267" y="3811523"/>
            <a:ext cx="3234690" cy="110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3380">
              <a:lnSpc>
                <a:spcPct val="100000"/>
              </a:lnSpc>
              <a:spcBef>
                <a:spcPts val="100"/>
              </a:spcBef>
            </a:pPr>
            <a:r>
              <a:rPr dirty="0" sz="2000" spc="0">
                <a:latin typeface="Cambria Math"/>
                <a:cs typeface="Cambria Math"/>
              </a:rPr>
              <a:t>𝒊𝒗</a:t>
            </a:r>
            <a:endParaRPr sz="2000">
              <a:latin typeface="Cambria Math"/>
              <a:cs typeface="Cambria Math"/>
            </a:endParaRPr>
          </a:p>
          <a:p>
            <a:pPr marL="12700" marR="5080">
              <a:lnSpc>
                <a:spcPts val="2110"/>
              </a:lnSpc>
              <a:spcBef>
                <a:spcPts val="1920"/>
              </a:spcBef>
            </a:pPr>
            <a:r>
              <a:rPr dirty="0" sz="1800" spc="-5">
                <a:solidFill>
                  <a:srgbClr val="6BB76D"/>
                </a:solidFill>
                <a:latin typeface="Arial"/>
                <a:cs typeface="Arial"/>
              </a:rPr>
              <a:t>#paths of length </a:t>
            </a:r>
            <a:r>
              <a:rPr dirty="0" sz="1800">
                <a:solidFill>
                  <a:srgbClr val="6BB76D"/>
                </a:solidFill>
                <a:latin typeface="Arial"/>
                <a:cs typeface="Arial"/>
              </a:rPr>
              <a:t>1 </a:t>
            </a:r>
            <a:r>
              <a:rPr dirty="0" sz="1800" spc="-5">
                <a:solidFill>
                  <a:srgbClr val="6BB76D"/>
                </a:solidFill>
                <a:latin typeface="Arial"/>
                <a:cs typeface="Arial"/>
              </a:rPr>
              <a:t>between  Node </a:t>
            </a:r>
            <a:r>
              <a:rPr dirty="0" sz="1800" spc="-15" b="1">
                <a:solidFill>
                  <a:srgbClr val="6BB76D"/>
                </a:solidFill>
                <a:latin typeface="Arial"/>
                <a:cs typeface="Arial"/>
              </a:rPr>
              <a:t>1</a:t>
            </a:r>
            <a:r>
              <a:rPr dirty="0" sz="1800" spc="-15">
                <a:solidFill>
                  <a:srgbClr val="6BB76D"/>
                </a:solidFill>
                <a:latin typeface="Arial"/>
                <a:cs typeface="Arial"/>
              </a:rPr>
              <a:t>’s </a:t>
            </a:r>
            <a:r>
              <a:rPr dirty="0" sz="1800" spc="-5">
                <a:solidFill>
                  <a:srgbClr val="6BB76D"/>
                </a:solidFill>
                <a:latin typeface="Arial"/>
                <a:cs typeface="Arial"/>
              </a:rPr>
              <a:t>neighbors and Node</a:t>
            </a:r>
            <a:r>
              <a:rPr dirty="0" sz="1800" spc="-45">
                <a:solidFill>
                  <a:srgbClr val="6BB76D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6BB76D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60789" y="4984374"/>
            <a:ext cx="508634" cy="493395"/>
          </a:xfrm>
          <a:custGeom>
            <a:avLst/>
            <a:gdLst/>
            <a:ahLst/>
            <a:cxnLst/>
            <a:rect l="l" t="t" r="r" b="b"/>
            <a:pathLst>
              <a:path w="508634" h="493395">
                <a:moveTo>
                  <a:pt x="30448" y="436034"/>
                </a:moveTo>
                <a:lnTo>
                  <a:pt x="19325" y="438279"/>
                </a:lnTo>
                <a:lnTo>
                  <a:pt x="10242" y="444403"/>
                </a:lnTo>
                <a:lnTo>
                  <a:pt x="4118" y="453486"/>
                </a:lnTo>
                <a:lnTo>
                  <a:pt x="1873" y="464609"/>
                </a:lnTo>
                <a:lnTo>
                  <a:pt x="4118" y="475731"/>
                </a:lnTo>
                <a:lnTo>
                  <a:pt x="10242" y="484814"/>
                </a:lnTo>
                <a:lnTo>
                  <a:pt x="19325" y="490938"/>
                </a:lnTo>
                <a:lnTo>
                  <a:pt x="30505" y="493184"/>
                </a:lnTo>
                <a:lnTo>
                  <a:pt x="41628" y="490938"/>
                </a:lnTo>
                <a:lnTo>
                  <a:pt x="50711" y="484814"/>
                </a:lnTo>
                <a:lnTo>
                  <a:pt x="56834" y="475731"/>
                </a:lnTo>
                <a:lnTo>
                  <a:pt x="59080" y="464609"/>
                </a:lnTo>
                <a:lnTo>
                  <a:pt x="56834" y="453486"/>
                </a:lnTo>
                <a:lnTo>
                  <a:pt x="50711" y="444403"/>
                </a:lnTo>
                <a:lnTo>
                  <a:pt x="41628" y="438279"/>
                </a:lnTo>
                <a:lnTo>
                  <a:pt x="30448" y="436034"/>
                </a:lnTo>
                <a:close/>
              </a:path>
              <a:path w="508634" h="493395">
                <a:moveTo>
                  <a:pt x="28575" y="378827"/>
                </a:moveTo>
                <a:lnTo>
                  <a:pt x="17452" y="381072"/>
                </a:lnTo>
                <a:lnTo>
                  <a:pt x="8369" y="387196"/>
                </a:lnTo>
                <a:lnTo>
                  <a:pt x="2245" y="396279"/>
                </a:lnTo>
                <a:lnTo>
                  <a:pt x="0" y="407459"/>
                </a:lnTo>
                <a:lnTo>
                  <a:pt x="2245" y="418581"/>
                </a:lnTo>
                <a:lnTo>
                  <a:pt x="8369" y="427664"/>
                </a:lnTo>
                <a:lnTo>
                  <a:pt x="17452" y="433788"/>
                </a:lnTo>
                <a:lnTo>
                  <a:pt x="28575" y="436034"/>
                </a:lnTo>
                <a:lnTo>
                  <a:pt x="39697" y="433788"/>
                </a:lnTo>
                <a:lnTo>
                  <a:pt x="48780" y="427664"/>
                </a:lnTo>
                <a:lnTo>
                  <a:pt x="54904" y="418581"/>
                </a:lnTo>
                <a:lnTo>
                  <a:pt x="57150" y="407402"/>
                </a:lnTo>
                <a:lnTo>
                  <a:pt x="54904" y="396279"/>
                </a:lnTo>
                <a:lnTo>
                  <a:pt x="48780" y="387196"/>
                </a:lnTo>
                <a:lnTo>
                  <a:pt x="39697" y="381072"/>
                </a:lnTo>
                <a:lnTo>
                  <a:pt x="28575" y="378827"/>
                </a:lnTo>
                <a:close/>
              </a:path>
              <a:path w="508634" h="493395">
                <a:moveTo>
                  <a:pt x="28575" y="264469"/>
                </a:moveTo>
                <a:lnTo>
                  <a:pt x="17452" y="266715"/>
                </a:lnTo>
                <a:lnTo>
                  <a:pt x="8369" y="272839"/>
                </a:lnTo>
                <a:lnTo>
                  <a:pt x="2245" y="281921"/>
                </a:lnTo>
                <a:lnTo>
                  <a:pt x="0" y="293102"/>
                </a:lnTo>
                <a:lnTo>
                  <a:pt x="2245" y="304224"/>
                </a:lnTo>
                <a:lnTo>
                  <a:pt x="8369" y="313307"/>
                </a:lnTo>
                <a:lnTo>
                  <a:pt x="17452" y="319431"/>
                </a:lnTo>
                <a:lnTo>
                  <a:pt x="28575" y="321677"/>
                </a:lnTo>
                <a:lnTo>
                  <a:pt x="39697" y="319431"/>
                </a:lnTo>
                <a:lnTo>
                  <a:pt x="48780" y="313307"/>
                </a:lnTo>
                <a:lnTo>
                  <a:pt x="54904" y="304224"/>
                </a:lnTo>
                <a:lnTo>
                  <a:pt x="57150" y="293044"/>
                </a:lnTo>
                <a:lnTo>
                  <a:pt x="54904" y="281921"/>
                </a:lnTo>
                <a:lnTo>
                  <a:pt x="48780" y="272839"/>
                </a:lnTo>
                <a:lnTo>
                  <a:pt x="39697" y="266715"/>
                </a:lnTo>
                <a:lnTo>
                  <a:pt x="28575" y="264469"/>
                </a:lnTo>
                <a:close/>
              </a:path>
              <a:path w="508634" h="493395">
                <a:moveTo>
                  <a:pt x="28575" y="150112"/>
                </a:moveTo>
                <a:lnTo>
                  <a:pt x="17452" y="152358"/>
                </a:lnTo>
                <a:lnTo>
                  <a:pt x="8369" y="158481"/>
                </a:lnTo>
                <a:lnTo>
                  <a:pt x="2245" y="167564"/>
                </a:lnTo>
                <a:lnTo>
                  <a:pt x="0" y="178744"/>
                </a:lnTo>
                <a:lnTo>
                  <a:pt x="2245" y="189867"/>
                </a:lnTo>
                <a:lnTo>
                  <a:pt x="8369" y="198950"/>
                </a:lnTo>
                <a:lnTo>
                  <a:pt x="17452" y="205074"/>
                </a:lnTo>
                <a:lnTo>
                  <a:pt x="28575" y="207319"/>
                </a:lnTo>
                <a:lnTo>
                  <a:pt x="39697" y="205074"/>
                </a:lnTo>
                <a:lnTo>
                  <a:pt x="48780" y="198950"/>
                </a:lnTo>
                <a:lnTo>
                  <a:pt x="54904" y="189867"/>
                </a:lnTo>
                <a:lnTo>
                  <a:pt x="57150" y="178687"/>
                </a:lnTo>
                <a:lnTo>
                  <a:pt x="54904" y="167564"/>
                </a:lnTo>
                <a:lnTo>
                  <a:pt x="48780" y="158481"/>
                </a:lnTo>
                <a:lnTo>
                  <a:pt x="39697" y="152358"/>
                </a:lnTo>
                <a:lnTo>
                  <a:pt x="28575" y="150112"/>
                </a:lnTo>
                <a:close/>
              </a:path>
              <a:path w="508634" h="493395">
                <a:moveTo>
                  <a:pt x="28575" y="35755"/>
                </a:moveTo>
                <a:lnTo>
                  <a:pt x="17452" y="38001"/>
                </a:lnTo>
                <a:lnTo>
                  <a:pt x="8369" y="44124"/>
                </a:lnTo>
                <a:lnTo>
                  <a:pt x="2245" y="53207"/>
                </a:lnTo>
                <a:lnTo>
                  <a:pt x="0" y="64387"/>
                </a:lnTo>
                <a:lnTo>
                  <a:pt x="2245" y="75510"/>
                </a:lnTo>
                <a:lnTo>
                  <a:pt x="8369" y="84593"/>
                </a:lnTo>
                <a:lnTo>
                  <a:pt x="17452" y="90717"/>
                </a:lnTo>
                <a:lnTo>
                  <a:pt x="28575" y="92962"/>
                </a:lnTo>
                <a:lnTo>
                  <a:pt x="39697" y="90717"/>
                </a:lnTo>
                <a:lnTo>
                  <a:pt x="48780" y="84593"/>
                </a:lnTo>
                <a:lnTo>
                  <a:pt x="54904" y="75510"/>
                </a:lnTo>
                <a:lnTo>
                  <a:pt x="57150" y="64330"/>
                </a:lnTo>
                <a:lnTo>
                  <a:pt x="54904" y="53207"/>
                </a:lnTo>
                <a:lnTo>
                  <a:pt x="48780" y="44124"/>
                </a:lnTo>
                <a:lnTo>
                  <a:pt x="39697" y="38001"/>
                </a:lnTo>
                <a:lnTo>
                  <a:pt x="28575" y="35755"/>
                </a:lnTo>
                <a:close/>
              </a:path>
              <a:path w="508634" h="493395">
                <a:moveTo>
                  <a:pt x="107119" y="0"/>
                </a:moveTo>
                <a:lnTo>
                  <a:pt x="95996" y="2245"/>
                </a:lnTo>
                <a:lnTo>
                  <a:pt x="86914" y="8369"/>
                </a:lnTo>
                <a:lnTo>
                  <a:pt x="80790" y="17452"/>
                </a:lnTo>
                <a:lnTo>
                  <a:pt x="78544" y="28574"/>
                </a:lnTo>
                <a:lnTo>
                  <a:pt x="80790" y="39697"/>
                </a:lnTo>
                <a:lnTo>
                  <a:pt x="86914" y="48780"/>
                </a:lnTo>
                <a:lnTo>
                  <a:pt x="95996" y="54904"/>
                </a:lnTo>
                <a:lnTo>
                  <a:pt x="107176" y="57149"/>
                </a:lnTo>
                <a:lnTo>
                  <a:pt x="118299" y="54904"/>
                </a:lnTo>
                <a:lnTo>
                  <a:pt x="127382" y="48780"/>
                </a:lnTo>
                <a:lnTo>
                  <a:pt x="133506" y="39697"/>
                </a:lnTo>
                <a:lnTo>
                  <a:pt x="135751" y="28574"/>
                </a:lnTo>
                <a:lnTo>
                  <a:pt x="133506" y="17452"/>
                </a:lnTo>
                <a:lnTo>
                  <a:pt x="127382" y="8369"/>
                </a:lnTo>
                <a:lnTo>
                  <a:pt x="118299" y="2245"/>
                </a:lnTo>
                <a:lnTo>
                  <a:pt x="107119" y="0"/>
                </a:lnTo>
                <a:close/>
              </a:path>
              <a:path w="508634" h="493395">
                <a:moveTo>
                  <a:pt x="221476" y="0"/>
                </a:moveTo>
                <a:lnTo>
                  <a:pt x="210354" y="2245"/>
                </a:lnTo>
                <a:lnTo>
                  <a:pt x="201271" y="8369"/>
                </a:lnTo>
                <a:lnTo>
                  <a:pt x="195147" y="17452"/>
                </a:lnTo>
                <a:lnTo>
                  <a:pt x="192901" y="28574"/>
                </a:lnTo>
                <a:lnTo>
                  <a:pt x="195147" y="39697"/>
                </a:lnTo>
                <a:lnTo>
                  <a:pt x="201271" y="48780"/>
                </a:lnTo>
                <a:lnTo>
                  <a:pt x="210354" y="54904"/>
                </a:lnTo>
                <a:lnTo>
                  <a:pt x="221533" y="57149"/>
                </a:lnTo>
                <a:lnTo>
                  <a:pt x="232656" y="54904"/>
                </a:lnTo>
                <a:lnTo>
                  <a:pt x="241739" y="48780"/>
                </a:lnTo>
                <a:lnTo>
                  <a:pt x="247863" y="39697"/>
                </a:lnTo>
                <a:lnTo>
                  <a:pt x="250108" y="28574"/>
                </a:lnTo>
                <a:lnTo>
                  <a:pt x="247863" y="17452"/>
                </a:lnTo>
                <a:lnTo>
                  <a:pt x="241739" y="8369"/>
                </a:lnTo>
                <a:lnTo>
                  <a:pt x="232656" y="2245"/>
                </a:lnTo>
                <a:lnTo>
                  <a:pt x="221476" y="0"/>
                </a:lnTo>
                <a:close/>
              </a:path>
              <a:path w="508634" h="493395">
                <a:moveTo>
                  <a:pt x="335833" y="0"/>
                </a:moveTo>
                <a:lnTo>
                  <a:pt x="324711" y="2245"/>
                </a:lnTo>
                <a:lnTo>
                  <a:pt x="315628" y="8369"/>
                </a:lnTo>
                <a:lnTo>
                  <a:pt x="309504" y="17452"/>
                </a:lnTo>
                <a:lnTo>
                  <a:pt x="307258" y="28574"/>
                </a:lnTo>
                <a:lnTo>
                  <a:pt x="309504" y="39697"/>
                </a:lnTo>
                <a:lnTo>
                  <a:pt x="315628" y="48780"/>
                </a:lnTo>
                <a:lnTo>
                  <a:pt x="324711" y="54904"/>
                </a:lnTo>
                <a:lnTo>
                  <a:pt x="335890" y="57149"/>
                </a:lnTo>
                <a:lnTo>
                  <a:pt x="347013" y="54904"/>
                </a:lnTo>
                <a:lnTo>
                  <a:pt x="356096" y="48780"/>
                </a:lnTo>
                <a:lnTo>
                  <a:pt x="362220" y="39697"/>
                </a:lnTo>
                <a:lnTo>
                  <a:pt x="364465" y="28574"/>
                </a:lnTo>
                <a:lnTo>
                  <a:pt x="362220" y="17452"/>
                </a:lnTo>
                <a:lnTo>
                  <a:pt x="356096" y="8369"/>
                </a:lnTo>
                <a:lnTo>
                  <a:pt x="347013" y="2245"/>
                </a:lnTo>
                <a:lnTo>
                  <a:pt x="335833" y="0"/>
                </a:lnTo>
                <a:close/>
              </a:path>
              <a:path w="508634" h="493395">
                <a:moveTo>
                  <a:pt x="450190" y="0"/>
                </a:moveTo>
                <a:lnTo>
                  <a:pt x="439068" y="2245"/>
                </a:lnTo>
                <a:lnTo>
                  <a:pt x="429985" y="8369"/>
                </a:lnTo>
                <a:lnTo>
                  <a:pt x="423861" y="17452"/>
                </a:lnTo>
                <a:lnTo>
                  <a:pt x="421615" y="28574"/>
                </a:lnTo>
                <a:lnTo>
                  <a:pt x="423861" y="39697"/>
                </a:lnTo>
                <a:lnTo>
                  <a:pt x="429985" y="48780"/>
                </a:lnTo>
                <a:lnTo>
                  <a:pt x="439068" y="54904"/>
                </a:lnTo>
                <a:lnTo>
                  <a:pt x="450248" y="57149"/>
                </a:lnTo>
                <a:lnTo>
                  <a:pt x="461371" y="54904"/>
                </a:lnTo>
                <a:lnTo>
                  <a:pt x="470453" y="48780"/>
                </a:lnTo>
                <a:lnTo>
                  <a:pt x="476577" y="39697"/>
                </a:lnTo>
                <a:lnTo>
                  <a:pt x="478823" y="28574"/>
                </a:lnTo>
                <a:lnTo>
                  <a:pt x="476577" y="17452"/>
                </a:lnTo>
                <a:lnTo>
                  <a:pt x="470453" y="8369"/>
                </a:lnTo>
                <a:lnTo>
                  <a:pt x="461371" y="2245"/>
                </a:lnTo>
                <a:lnTo>
                  <a:pt x="450190" y="0"/>
                </a:lnTo>
                <a:close/>
              </a:path>
              <a:path w="508634" h="493395">
                <a:moveTo>
                  <a:pt x="479760" y="84787"/>
                </a:moveTo>
                <a:lnTo>
                  <a:pt x="468637" y="87033"/>
                </a:lnTo>
                <a:lnTo>
                  <a:pt x="459554" y="93157"/>
                </a:lnTo>
                <a:lnTo>
                  <a:pt x="453430" y="102240"/>
                </a:lnTo>
                <a:lnTo>
                  <a:pt x="451185" y="113419"/>
                </a:lnTo>
                <a:lnTo>
                  <a:pt x="453430" y="124542"/>
                </a:lnTo>
                <a:lnTo>
                  <a:pt x="459554" y="133625"/>
                </a:lnTo>
                <a:lnTo>
                  <a:pt x="468637" y="139749"/>
                </a:lnTo>
                <a:lnTo>
                  <a:pt x="479760" y="141994"/>
                </a:lnTo>
                <a:lnTo>
                  <a:pt x="490882" y="139749"/>
                </a:lnTo>
                <a:lnTo>
                  <a:pt x="499965" y="133625"/>
                </a:lnTo>
                <a:lnTo>
                  <a:pt x="506089" y="124542"/>
                </a:lnTo>
                <a:lnTo>
                  <a:pt x="508335" y="113362"/>
                </a:lnTo>
                <a:lnTo>
                  <a:pt x="506089" y="102240"/>
                </a:lnTo>
                <a:lnTo>
                  <a:pt x="499965" y="93157"/>
                </a:lnTo>
                <a:lnTo>
                  <a:pt x="490882" y="87033"/>
                </a:lnTo>
                <a:lnTo>
                  <a:pt x="479760" y="84787"/>
                </a:lnTo>
                <a:close/>
              </a:path>
              <a:path w="508634" h="493395">
                <a:moveTo>
                  <a:pt x="479760" y="199144"/>
                </a:moveTo>
                <a:lnTo>
                  <a:pt x="468637" y="201390"/>
                </a:lnTo>
                <a:lnTo>
                  <a:pt x="459554" y="207514"/>
                </a:lnTo>
                <a:lnTo>
                  <a:pt x="453430" y="216597"/>
                </a:lnTo>
                <a:lnTo>
                  <a:pt x="451185" y="227777"/>
                </a:lnTo>
                <a:lnTo>
                  <a:pt x="453430" y="238900"/>
                </a:lnTo>
                <a:lnTo>
                  <a:pt x="459554" y="247982"/>
                </a:lnTo>
                <a:lnTo>
                  <a:pt x="468637" y="254106"/>
                </a:lnTo>
                <a:lnTo>
                  <a:pt x="479760" y="256352"/>
                </a:lnTo>
                <a:lnTo>
                  <a:pt x="490882" y="254106"/>
                </a:lnTo>
                <a:lnTo>
                  <a:pt x="499965" y="247982"/>
                </a:lnTo>
                <a:lnTo>
                  <a:pt x="506089" y="238900"/>
                </a:lnTo>
                <a:lnTo>
                  <a:pt x="508335" y="227719"/>
                </a:lnTo>
                <a:lnTo>
                  <a:pt x="506089" y="216597"/>
                </a:lnTo>
                <a:lnTo>
                  <a:pt x="499965" y="207514"/>
                </a:lnTo>
                <a:lnTo>
                  <a:pt x="490882" y="201390"/>
                </a:lnTo>
                <a:lnTo>
                  <a:pt x="479760" y="199144"/>
                </a:lnTo>
                <a:close/>
              </a:path>
              <a:path w="508634" h="493395">
                <a:moveTo>
                  <a:pt x="479760" y="313502"/>
                </a:moveTo>
                <a:lnTo>
                  <a:pt x="468637" y="315747"/>
                </a:lnTo>
                <a:lnTo>
                  <a:pt x="459554" y="321871"/>
                </a:lnTo>
                <a:lnTo>
                  <a:pt x="453430" y="330954"/>
                </a:lnTo>
                <a:lnTo>
                  <a:pt x="451185" y="342134"/>
                </a:lnTo>
                <a:lnTo>
                  <a:pt x="453430" y="353257"/>
                </a:lnTo>
                <a:lnTo>
                  <a:pt x="459554" y="362340"/>
                </a:lnTo>
                <a:lnTo>
                  <a:pt x="468637" y="368463"/>
                </a:lnTo>
                <a:lnTo>
                  <a:pt x="479760" y="370709"/>
                </a:lnTo>
                <a:lnTo>
                  <a:pt x="490882" y="368463"/>
                </a:lnTo>
                <a:lnTo>
                  <a:pt x="499965" y="362340"/>
                </a:lnTo>
                <a:lnTo>
                  <a:pt x="506089" y="353257"/>
                </a:lnTo>
                <a:lnTo>
                  <a:pt x="508335" y="342077"/>
                </a:lnTo>
                <a:lnTo>
                  <a:pt x="506089" y="330954"/>
                </a:lnTo>
                <a:lnTo>
                  <a:pt x="499965" y="321871"/>
                </a:lnTo>
                <a:lnTo>
                  <a:pt x="490882" y="315747"/>
                </a:lnTo>
                <a:lnTo>
                  <a:pt x="479760" y="313502"/>
                </a:lnTo>
                <a:close/>
              </a:path>
              <a:path w="508634" h="493395">
                <a:moveTo>
                  <a:pt x="479760" y="427859"/>
                </a:moveTo>
                <a:lnTo>
                  <a:pt x="468637" y="430104"/>
                </a:lnTo>
                <a:lnTo>
                  <a:pt x="459554" y="436228"/>
                </a:lnTo>
                <a:lnTo>
                  <a:pt x="453430" y="445311"/>
                </a:lnTo>
                <a:lnTo>
                  <a:pt x="451185" y="456491"/>
                </a:lnTo>
                <a:lnTo>
                  <a:pt x="453430" y="467614"/>
                </a:lnTo>
                <a:lnTo>
                  <a:pt x="459554" y="476697"/>
                </a:lnTo>
                <a:lnTo>
                  <a:pt x="468637" y="482820"/>
                </a:lnTo>
                <a:lnTo>
                  <a:pt x="479760" y="485066"/>
                </a:lnTo>
                <a:lnTo>
                  <a:pt x="490882" y="482820"/>
                </a:lnTo>
                <a:lnTo>
                  <a:pt x="499965" y="476697"/>
                </a:lnTo>
                <a:lnTo>
                  <a:pt x="506089" y="467614"/>
                </a:lnTo>
                <a:lnTo>
                  <a:pt x="508335" y="456434"/>
                </a:lnTo>
                <a:lnTo>
                  <a:pt x="506089" y="445311"/>
                </a:lnTo>
                <a:lnTo>
                  <a:pt x="499965" y="436228"/>
                </a:lnTo>
                <a:lnTo>
                  <a:pt x="490882" y="430104"/>
                </a:lnTo>
                <a:lnTo>
                  <a:pt x="479760" y="427859"/>
                </a:lnTo>
                <a:close/>
              </a:path>
              <a:path w="508634" h="493395">
                <a:moveTo>
                  <a:pt x="373519" y="436034"/>
                </a:moveTo>
                <a:lnTo>
                  <a:pt x="362397" y="438279"/>
                </a:lnTo>
                <a:lnTo>
                  <a:pt x="353314" y="444403"/>
                </a:lnTo>
                <a:lnTo>
                  <a:pt x="347190" y="453486"/>
                </a:lnTo>
                <a:lnTo>
                  <a:pt x="344944" y="464609"/>
                </a:lnTo>
                <a:lnTo>
                  <a:pt x="347190" y="475731"/>
                </a:lnTo>
                <a:lnTo>
                  <a:pt x="353314" y="484814"/>
                </a:lnTo>
                <a:lnTo>
                  <a:pt x="362397" y="490938"/>
                </a:lnTo>
                <a:lnTo>
                  <a:pt x="373576" y="493184"/>
                </a:lnTo>
                <a:lnTo>
                  <a:pt x="384699" y="490938"/>
                </a:lnTo>
                <a:lnTo>
                  <a:pt x="393782" y="484814"/>
                </a:lnTo>
                <a:lnTo>
                  <a:pt x="399906" y="475731"/>
                </a:lnTo>
                <a:lnTo>
                  <a:pt x="402151" y="464609"/>
                </a:lnTo>
                <a:lnTo>
                  <a:pt x="399906" y="453486"/>
                </a:lnTo>
                <a:lnTo>
                  <a:pt x="393782" y="444403"/>
                </a:lnTo>
                <a:lnTo>
                  <a:pt x="384699" y="438279"/>
                </a:lnTo>
                <a:lnTo>
                  <a:pt x="373519" y="436034"/>
                </a:lnTo>
                <a:close/>
              </a:path>
              <a:path w="508634" h="493395">
                <a:moveTo>
                  <a:pt x="259162" y="436034"/>
                </a:moveTo>
                <a:lnTo>
                  <a:pt x="248040" y="438279"/>
                </a:lnTo>
                <a:lnTo>
                  <a:pt x="238957" y="444403"/>
                </a:lnTo>
                <a:lnTo>
                  <a:pt x="232833" y="453486"/>
                </a:lnTo>
                <a:lnTo>
                  <a:pt x="230587" y="464609"/>
                </a:lnTo>
                <a:lnTo>
                  <a:pt x="232833" y="475731"/>
                </a:lnTo>
                <a:lnTo>
                  <a:pt x="238957" y="484814"/>
                </a:lnTo>
                <a:lnTo>
                  <a:pt x="248040" y="490938"/>
                </a:lnTo>
                <a:lnTo>
                  <a:pt x="259219" y="493184"/>
                </a:lnTo>
                <a:lnTo>
                  <a:pt x="270342" y="490938"/>
                </a:lnTo>
                <a:lnTo>
                  <a:pt x="279425" y="484814"/>
                </a:lnTo>
                <a:lnTo>
                  <a:pt x="285549" y="475731"/>
                </a:lnTo>
                <a:lnTo>
                  <a:pt x="287794" y="464609"/>
                </a:lnTo>
                <a:lnTo>
                  <a:pt x="285549" y="453486"/>
                </a:lnTo>
                <a:lnTo>
                  <a:pt x="279425" y="444403"/>
                </a:lnTo>
                <a:lnTo>
                  <a:pt x="270342" y="438279"/>
                </a:lnTo>
                <a:lnTo>
                  <a:pt x="259162" y="436034"/>
                </a:lnTo>
                <a:close/>
              </a:path>
              <a:path w="508634" h="493395">
                <a:moveTo>
                  <a:pt x="144805" y="436034"/>
                </a:moveTo>
                <a:lnTo>
                  <a:pt x="133682" y="438279"/>
                </a:lnTo>
                <a:lnTo>
                  <a:pt x="124600" y="444403"/>
                </a:lnTo>
                <a:lnTo>
                  <a:pt x="118476" y="453486"/>
                </a:lnTo>
                <a:lnTo>
                  <a:pt x="116230" y="464609"/>
                </a:lnTo>
                <a:lnTo>
                  <a:pt x="118476" y="475731"/>
                </a:lnTo>
                <a:lnTo>
                  <a:pt x="124600" y="484814"/>
                </a:lnTo>
                <a:lnTo>
                  <a:pt x="133682" y="490938"/>
                </a:lnTo>
                <a:lnTo>
                  <a:pt x="144862" y="493184"/>
                </a:lnTo>
                <a:lnTo>
                  <a:pt x="155985" y="490938"/>
                </a:lnTo>
                <a:lnTo>
                  <a:pt x="165068" y="484814"/>
                </a:lnTo>
                <a:lnTo>
                  <a:pt x="171192" y="475731"/>
                </a:lnTo>
                <a:lnTo>
                  <a:pt x="173437" y="464609"/>
                </a:lnTo>
                <a:lnTo>
                  <a:pt x="171192" y="453486"/>
                </a:lnTo>
                <a:lnTo>
                  <a:pt x="165068" y="444403"/>
                </a:lnTo>
                <a:lnTo>
                  <a:pt x="155985" y="438279"/>
                </a:lnTo>
                <a:lnTo>
                  <a:pt x="144805" y="43603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199265" y="4650740"/>
            <a:ext cx="292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𝟏𝟐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20269" y="4620259"/>
            <a:ext cx="282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C00000"/>
                </a:solidFill>
                <a:latin typeface="Cambria Math"/>
                <a:cs typeface="Cambria Math"/>
              </a:rPr>
              <a:t>#3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9715" y="4315459"/>
            <a:ext cx="1295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28935" sz="3600" spc="-22">
                <a:solidFill>
                  <a:srgbClr val="C00000"/>
                </a:solidFill>
                <a:latin typeface="Cambria Math"/>
                <a:cs typeface="Cambria Math"/>
              </a:rPr>
              <a:t>𝑷</a:t>
            </a: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(𝟐)  </a:t>
            </a:r>
            <a:r>
              <a:rPr dirty="0" baseline="-28935" sz="3600">
                <a:solidFill>
                  <a:srgbClr val="C00000"/>
                </a:solidFill>
                <a:latin typeface="Cambria Math"/>
                <a:cs typeface="Cambria Math"/>
              </a:rPr>
              <a:t>=</a:t>
            </a:r>
            <a:r>
              <a:rPr dirty="0" baseline="-28935" sz="3600" spc="-247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28935" sz="3600" spc="15">
                <a:solidFill>
                  <a:srgbClr val="C00000"/>
                </a:solidFill>
                <a:latin typeface="Cambria Math"/>
                <a:cs typeface="Cambria Math"/>
              </a:rPr>
              <a:t>𝑨</a:t>
            </a:r>
            <a:r>
              <a:rPr dirty="0" baseline="-10802" sz="2700" spc="15">
                <a:solidFill>
                  <a:srgbClr val="C00000"/>
                </a:solidFill>
                <a:latin typeface="Cambria Math"/>
                <a:cs typeface="Cambria Math"/>
              </a:rPr>
              <a:t>3</a:t>
            </a:r>
            <a:endParaRPr baseline="-10802" sz="27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949" y="5997955"/>
            <a:ext cx="113093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dirty="0" sz="1800" spc="-5" b="1">
                <a:solidFill>
                  <a:srgbClr val="C64847"/>
                </a:solidFill>
                <a:latin typeface="Arial"/>
                <a:cs typeface="Arial"/>
              </a:rPr>
              <a:t>Power of  a</a:t>
            </a:r>
            <a:r>
              <a:rPr dirty="0" sz="1800" b="1">
                <a:solidFill>
                  <a:srgbClr val="C64847"/>
                </a:solidFill>
                <a:latin typeface="Arial"/>
                <a:cs typeface="Arial"/>
              </a:rPr>
              <a:t>d</a:t>
            </a:r>
            <a:r>
              <a:rPr dirty="0" sz="1800" spc="-5" b="1">
                <a:solidFill>
                  <a:srgbClr val="C64847"/>
                </a:solidFill>
                <a:latin typeface="Arial"/>
                <a:cs typeface="Arial"/>
              </a:rPr>
              <a:t>jace</a:t>
            </a:r>
            <a:r>
              <a:rPr dirty="0" sz="1800" b="1">
                <a:solidFill>
                  <a:srgbClr val="C64847"/>
                </a:solidFill>
                <a:latin typeface="Arial"/>
                <a:cs typeface="Arial"/>
              </a:rPr>
              <a:t>n</a:t>
            </a:r>
            <a:r>
              <a:rPr dirty="0" sz="1800" spc="-5" b="1">
                <a:solidFill>
                  <a:srgbClr val="C64847"/>
                </a:solidFill>
                <a:latin typeface="Arial"/>
                <a:cs typeface="Arial"/>
              </a:rPr>
              <a:t>cy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28925" y="5019654"/>
            <a:ext cx="514984" cy="483870"/>
          </a:xfrm>
          <a:custGeom>
            <a:avLst/>
            <a:gdLst/>
            <a:ahLst/>
            <a:cxnLst/>
            <a:rect l="l" t="t" r="r" b="b"/>
            <a:pathLst>
              <a:path w="514985" h="483870">
                <a:moveTo>
                  <a:pt x="28575" y="369078"/>
                </a:moveTo>
                <a:lnTo>
                  <a:pt x="17452" y="371323"/>
                </a:lnTo>
                <a:lnTo>
                  <a:pt x="8369" y="377447"/>
                </a:lnTo>
                <a:lnTo>
                  <a:pt x="2245" y="386530"/>
                </a:lnTo>
                <a:lnTo>
                  <a:pt x="0" y="397710"/>
                </a:lnTo>
                <a:lnTo>
                  <a:pt x="2245" y="408833"/>
                </a:lnTo>
                <a:lnTo>
                  <a:pt x="8369" y="417916"/>
                </a:lnTo>
                <a:lnTo>
                  <a:pt x="17452" y="424040"/>
                </a:lnTo>
                <a:lnTo>
                  <a:pt x="28575" y="426285"/>
                </a:lnTo>
                <a:lnTo>
                  <a:pt x="39697" y="424040"/>
                </a:lnTo>
                <a:lnTo>
                  <a:pt x="48780" y="417916"/>
                </a:lnTo>
                <a:lnTo>
                  <a:pt x="54904" y="408833"/>
                </a:lnTo>
                <a:lnTo>
                  <a:pt x="57150" y="397653"/>
                </a:lnTo>
                <a:lnTo>
                  <a:pt x="54904" y="386530"/>
                </a:lnTo>
                <a:lnTo>
                  <a:pt x="48780" y="377447"/>
                </a:lnTo>
                <a:lnTo>
                  <a:pt x="39697" y="371323"/>
                </a:lnTo>
                <a:lnTo>
                  <a:pt x="28575" y="369078"/>
                </a:lnTo>
                <a:close/>
              </a:path>
              <a:path w="514985" h="483870">
                <a:moveTo>
                  <a:pt x="28575" y="254721"/>
                </a:moveTo>
                <a:lnTo>
                  <a:pt x="17452" y="256966"/>
                </a:lnTo>
                <a:lnTo>
                  <a:pt x="8369" y="263090"/>
                </a:lnTo>
                <a:lnTo>
                  <a:pt x="2245" y="272173"/>
                </a:lnTo>
                <a:lnTo>
                  <a:pt x="0" y="283353"/>
                </a:lnTo>
                <a:lnTo>
                  <a:pt x="2245" y="294475"/>
                </a:lnTo>
                <a:lnTo>
                  <a:pt x="8369" y="303558"/>
                </a:lnTo>
                <a:lnTo>
                  <a:pt x="17452" y="309682"/>
                </a:lnTo>
                <a:lnTo>
                  <a:pt x="28575" y="311928"/>
                </a:lnTo>
                <a:lnTo>
                  <a:pt x="39697" y="309682"/>
                </a:lnTo>
                <a:lnTo>
                  <a:pt x="48780" y="303558"/>
                </a:lnTo>
                <a:lnTo>
                  <a:pt x="54904" y="294475"/>
                </a:lnTo>
                <a:lnTo>
                  <a:pt x="57150" y="283296"/>
                </a:lnTo>
                <a:lnTo>
                  <a:pt x="54904" y="272173"/>
                </a:lnTo>
                <a:lnTo>
                  <a:pt x="48780" y="263090"/>
                </a:lnTo>
                <a:lnTo>
                  <a:pt x="39697" y="256966"/>
                </a:lnTo>
                <a:lnTo>
                  <a:pt x="28575" y="254721"/>
                </a:lnTo>
                <a:close/>
              </a:path>
              <a:path w="514985" h="483870">
                <a:moveTo>
                  <a:pt x="28575" y="140364"/>
                </a:moveTo>
                <a:lnTo>
                  <a:pt x="17452" y="142609"/>
                </a:lnTo>
                <a:lnTo>
                  <a:pt x="8369" y="148733"/>
                </a:lnTo>
                <a:lnTo>
                  <a:pt x="2245" y="157816"/>
                </a:lnTo>
                <a:lnTo>
                  <a:pt x="0" y="168996"/>
                </a:lnTo>
                <a:lnTo>
                  <a:pt x="2245" y="180118"/>
                </a:lnTo>
                <a:lnTo>
                  <a:pt x="8369" y="189201"/>
                </a:lnTo>
                <a:lnTo>
                  <a:pt x="17452" y="195325"/>
                </a:lnTo>
                <a:lnTo>
                  <a:pt x="28575" y="197571"/>
                </a:lnTo>
                <a:lnTo>
                  <a:pt x="39697" y="195325"/>
                </a:lnTo>
                <a:lnTo>
                  <a:pt x="48780" y="189201"/>
                </a:lnTo>
                <a:lnTo>
                  <a:pt x="54904" y="180118"/>
                </a:lnTo>
                <a:lnTo>
                  <a:pt x="57150" y="168939"/>
                </a:lnTo>
                <a:lnTo>
                  <a:pt x="54904" y="157816"/>
                </a:lnTo>
                <a:lnTo>
                  <a:pt x="48780" y="148733"/>
                </a:lnTo>
                <a:lnTo>
                  <a:pt x="39697" y="142609"/>
                </a:lnTo>
                <a:lnTo>
                  <a:pt x="28575" y="140364"/>
                </a:lnTo>
                <a:close/>
              </a:path>
              <a:path w="514985" h="483870">
                <a:moveTo>
                  <a:pt x="28575" y="26007"/>
                </a:moveTo>
                <a:lnTo>
                  <a:pt x="17452" y="28252"/>
                </a:lnTo>
                <a:lnTo>
                  <a:pt x="8369" y="34376"/>
                </a:lnTo>
                <a:lnTo>
                  <a:pt x="2245" y="43459"/>
                </a:lnTo>
                <a:lnTo>
                  <a:pt x="0" y="54639"/>
                </a:lnTo>
                <a:lnTo>
                  <a:pt x="2245" y="65761"/>
                </a:lnTo>
                <a:lnTo>
                  <a:pt x="8369" y="74844"/>
                </a:lnTo>
                <a:lnTo>
                  <a:pt x="17452" y="80968"/>
                </a:lnTo>
                <a:lnTo>
                  <a:pt x="28575" y="83214"/>
                </a:lnTo>
                <a:lnTo>
                  <a:pt x="39697" y="80968"/>
                </a:lnTo>
                <a:lnTo>
                  <a:pt x="48780" y="74844"/>
                </a:lnTo>
                <a:lnTo>
                  <a:pt x="54904" y="65761"/>
                </a:lnTo>
                <a:lnTo>
                  <a:pt x="57150" y="54582"/>
                </a:lnTo>
                <a:lnTo>
                  <a:pt x="54904" y="43459"/>
                </a:lnTo>
                <a:lnTo>
                  <a:pt x="48780" y="34376"/>
                </a:lnTo>
                <a:lnTo>
                  <a:pt x="39697" y="28252"/>
                </a:lnTo>
                <a:lnTo>
                  <a:pt x="28575" y="26007"/>
                </a:lnTo>
                <a:close/>
              </a:path>
              <a:path w="514985" h="483870">
                <a:moveTo>
                  <a:pt x="116867" y="0"/>
                </a:moveTo>
                <a:lnTo>
                  <a:pt x="105744" y="2245"/>
                </a:lnTo>
                <a:lnTo>
                  <a:pt x="96662" y="8369"/>
                </a:lnTo>
                <a:lnTo>
                  <a:pt x="90538" y="17452"/>
                </a:lnTo>
                <a:lnTo>
                  <a:pt x="88292" y="28575"/>
                </a:lnTo>
                <a:lnTo>
                  <a:pt x="90538" y="39697"/>
                </a:lnTo>
                <a:lnTo>
                  <a:pt x="96662" y="48780"/>
                </a:lnTo>
                <a:lnTo>
                  <a:pt x="105744" y="54904"/>
                </a:lnTo>
                <a:lnTo>
                  <a:pt x="116925" y="57150"/>
                </a:lnTo>
                <a:lnTo>
                  <a:pt x="128047" y="54904"/>
                </a:lnTo>
                <a:lnTo>
                  <a:pt x="137130" y="48780"/>
                </a:lnTo>
                <a:lnTo>
                  <a:pt x="143254" y="39697"/>
                </a:lnTo>
                <a:lnTo>
                  <a:pt x="145500" y="28575"/>
                </a:lnTo>
                <a:lnTo>
                  <a:pt x="143254" y="17452"/>
                </a:lnTo>
                <a:lnTo>
                  <a:pt x="137130" y="8369"/>
                </a:lnTo>
                <a:lnTo>
                  <a:pt x="128047" y="2245"/>
                </a:lnTo>
                <a:lnTo>
                  <a:pt x="116867" y="0"/>
                </a:lnTo>
                <a:close/>
              </a:path>
              <a:path w="514985" h="483870">
                <a:moveTo>
                  <a:pt x="231225" y="0"/>
                </a:moveTo>
                <a:lnTo>
                  <a:pt x="220102" y="2245"/>
                </a:lnTo>
                <a:lnTo>
                  <a:pt x="211019" y="8369"/>
                </a:lnTo>
                <a:lnTo>
                  <a:pt x="204895" y="17452"/>
                </a:lnTo>
                <a:lnTo>
                  <a:pt x="202650" y="28575"/>
                </a:lnTo>
                <a:lnTo>
                  <a:pt x="204895" y="39697"/>
                </a:lnTo>
                <a:lnTo>
                  <a:pt x="211019" y="48780"/>
                </a:lnTo>
                <a:lnTo>
                  <a:pt x="220102" y="54904"/>
                </a:lnTo>
                <a:lnTo>
                  <a:pt x="231282" y="57150"/>
                </a:lnTo>
                <a:lnTo>
                  <a:pt x="242404" y="54904"/>
                </a:lnTo>
                <a:lnTo>
                  <a:pt x="251487" y="48780"/>
                </a:lnTo>
                <a:lnTo>
                  <a:pt x="257611" y="39697"/>
                </a:lnTo>
                <a:lnTo>
                  <a:pt x="259857" y="28575"/>
                </a:lnTo>
                <a:lnTo>
                  <a:pt x="257611" y="17452"/>
                </a:lnTo>
                <a:lnTo>
                  <a:pt x="251487" y="8369"/>
                </a:lnTo>
                <a:lnTo>
                  <a:pt x="242404" y="2245"/>
                </a:lnTo>
                <a:lnTo>
                  <a:pt x="231225" y="0"/>
                </a:lnTo>
                <a:close/>
              </a:path>
              <a:path w="514985" h="483870">
                <a:moveTo>
                  <a:pt x="345582" y="0"/>
                </a:moveTo>
                <a:lnTo>
                  <a:pt x="334459" y="2245"/>
                </a:lnTo>
                <a:lnTo>
                  <a:pt x="325376" y="8369"/>
                </a:lnTo>
                <a:lnTo>
                  <a:pt x="319252" y="17452"/>
                </a:lnTo>
                <a:lnTo>
                  <a:pt x="317007" y="28575"/>
                </a:lnTo>
                <a:lnTo>
                  <a:pt x="319252" y="39697"/>
                </a:lnTo>
                <a:lnTo>
                  <a:pt x="325376" y="48780"/>
                </a:lnTo>
                <a:lnTo>
                  <a:pt x="334459" y="54904"/>
                </a:lnTo>
                <a:lnTo>
                  <a:pt x="345639" y="57150"/>
                </a:lnTo>
                <a:lnTo>
                  <a:pt x="356761" y="54904"/>
                </a:lnTo>
                <a:lnTo>
                  <a:pt x="365844" y="48780"/>
                </a:lnTo>
                <a:lnTo>
                  <a:pt x="371968" y="39697"/>
                </a:lnTo>
                <a:lnTo>
                  <a:pt x="374214" y="28575"/>
                </a:lnTo>
                <a:lnTo>
                  <a:pt x="371968" y="17452"/>
                </a:lnTo>
                <a:lnTo>
                  <a:pt x="365844" y="8369"/>
                </a:lnTo>
                <a:lnTo>
                  <a:pt x="356761" y="2245"/>
                </a:lnTo>
                <a:lnTo>
                  <a:pt x="345582" y="0"/>
                </a:lnTo>
                <a:close/>
              </a:path>
              <a:path w="514985" h="483870">
                <a:moveTo>
                  <a:pt x="459939" y="0"/>
                </a:moveTo>
                <a:lnTo>
                  <a:pt x="448816" y="2245"/>
                </a:lnTo>
                <a:lnTo>
                  <a:pt x="439733" y="8369"/>
                </a:lnTo>
                <a:lnTo>
                  <a:pt x="433609" y="17452"/>
                </a:lnTo>
                <a:lnTo>
                  <a:pt x="431364" y="28575"/>
                </a:lnTo>
                <a:lnTo>
                  <a:pt x="433609" y="39697"/>
                </a:lnTo>
                <a:lnTo>
                  <a:pt x="439733" y="48780"/>
                </a:lnTo>
                <a:lnTo>
                  <a:pt x="448816" y="54904"/>
                </a:lnTo>
                <a:lnTo>
                  <a:pt x="459996" y="57150"/>
                </a:lnTo>
                <a:lnTo>
                  <a:pt x="471119" y="54904"/>
                </a:lnTo>
                <a:lnTo>
                  <a:pt x="480201" y="48780"/>
                </a:lnTo>
                <a:lnTo>
                  <a:pt x="486325" y="39697"/>
                </a:lnTo>
                <a:lnTo>
                  <a:pt x="488571" y="28575"/>
                </a:lnTo>
                <a:lnTo>
                  <a:pt x="486325" y="17452"/>
                </a:lnTo>
                <a:lnTo>
                  <a:pt x="480201" y="8369"/>
                </a:lnTo>
                <a:lnTo>
                  <a:pt x="471119" y="2245"/>
                </a:lnTo>
                <a:lnTo>
                  <a:pt x="459939" y="0"/>
                </a:lnTo>
                <a:close/>
              </a:path>
              <a:path w="514985" h="483870">
                <a:moveTo>
                  <a:pt x="485863" y="88431"/>
                </a:moveTo>
                <a:lnTo>
                  <a:pt x="474741" y="90677"/>
                </a:lnTo>
                <a:lnTo>
                  <a:pt x="465658" y="96800"/>
                </a:lnTo>
                <a:lnTo>
                  <a:pt x="459534" y="105883"/>
                </a:lnTo>
                <a:lnTo>
                  <a:pt x="457288" y="117063"/>
                </a:lnTo>
                <a:lnTo>
                  <a:pt x="459534" y="128186"/>
                </a:lnTo>
                <a:lnTo>
                  <a:pt x="465658" y="137269"/>
                </a:lnTo>
                <a:lnTo>
                  <a:pt x="474741" y="143393"/>
                </a:lnTo>
                <a:lnTo>
                  <a:pt x="485863" y="145638"/>
                </a:lnTo>
                <a:lnTo>
                  <a:pt x="496986" y="143393"/>
                </a:lnTo>
                <a:lnTo>
                  <a:pt x="506069" y="137269"/>
                </a:lnTo>
                <a:lnTo>
                  <a:pt x="512193" y="128186"/>
                </a:lnTo>
                <a:lnTo>
                  <a:pt x="514438" y="117006"/>
                </a:lnTo>
                <a:lnTo>
                  <a:pt x="512193" y="105883"/>
                </a:lnTo>
                <a:lnTo>
                  <a:pt x="506069" y="96800"/>
                </a:lnTo>
                <a:lnTo>
                  <a:pt x="496986" y="90677"/>
                </a:lnTo>
                <a:lnTo>
                  <a:pt x="485863" y="88431"/>
                </a:lnTo>
                <a:close/>
              </a:path>
              <a:path w="514985" h="483870">
                <a:moveTo>
                  <a:pt x="485863" y="202788"/>
                </a:moveTo>
                <a:lnTo>
                  <a:pt x="474741" y="205034"/>
                </a:lnTo>
                <a:lnTo>
                  <a:pt x="465658" y="211158"/>
                </a:lnTo>
                <a:lnTo>
                  <a:pt x="459534" y="220241"/>
                </a:lnTo>
                <a:lnTo>
                  <a:pt x="457288" y="231420"/>
                </a:lnTo>
                <a:lnTo>
                  <a:pt x="459534" y="242543"/>
                </a:lnTo>
                <a:lnTo>
                  <a:pt x="465658" y="251626"/>
                </a:lnTo>
                <a:lnTo>
                  <a:pt x="474741" y="257750"/>
                </a:lnTo>
                <a:lnTo>
                  <a:pt x="485863" y="259995"/>
                </a:lnTo>
                <a:lnTo>
                  <a:pt x="496986" y="257750"/>
                </a:lnTo>
                <a:lnTo>
                  <a:pt x="506069" y="251626"/>
                </a:lnTo>
                <a:lnTo>
                  <a:pt x="512193" y="242543"/>
                </a:lnTo>
                <a:lnTo>
                  <a:pt x="514438" y="231363"/>
                </a:lnTo>
                <a:lnTo>
                  <a:pt x="512193" y="220241"/>
                </a:lnTo>
                <a:lnTo>
                  <a:pt x="506069" y="211158"/>
                </a:lnTo>
                <a:lnTo>
                  <a:pt x="496986" y="205034"/>
                </a:lnTo>
                <a:lnTo>
                  <a:pt x="485863" y="202788"/>
                </a:lnTo>
                <a:close/>
              </a:path>
              <a:path w="514985" h="483870">
                <a:moveTo>
                  <a:pt x="485863" y="317145"/>
                </a:moveTo>
                <a:lnTo>
                  <a:pt x="474741" y="319391"/>
                </a:lnTo>
                <a:lnTo>
                  <a:pt x="465658" y="325515"/>
                </a:lnTo>
                <a:lnTo>
                  <a:pt x="459534" y="334598"/>
                </a:lnTo>
                <a:lnTo>
                  <a:pt x="457288" y="345777"/>
                </a:lnTo>
                <a:lnTo>
                  <a:pt x="459534" y="356900"/>
                </a:lnTo>
                <a:lnTo>
                  <a:pt x="465658" y="365983"/>
                </a:lnTo>
                <a:lnTo>
                  <a:pt x="474741" y="372107"/>
                </a:lnTo>
                <a:lnTo>
                  <a:pt x="485863" y="374352"/>
                </a:lnTo>
                <a:lnTo>
                  <a:pt x="496986" y="372107"/>
                </a:lnTo>
                <a:lnTo>
                  <a:pt x="506069" y="365983"/>
                </a:lnTo>
                <a:lnTo>
                  <a:pt x="512193" y="356900"/>
                </a:lnTo>
                <a:lnTo>
                  <a:pt x="514438" y="345720"/>
                </a:lnTo>
                <a:lnTo>
                  <a:pt x="512193" y="334598"/>
                </a:lnTo>
                <a:lnTo>
                  <a:pt x="506069" y="325515"/>
                </a:lnTo>
                <a:lnTo>
                  <a:pt x="496986" y="319391"/>
                </a:lnTo>
                <a:lnTo>
                  <a:pt x="485863" y="317145"/>
                </a:lnTo>
                <a:close/>
              </a:path>
              <a:path w="514985" h="483870">
                <a:moveTo>
                  <a:pt x="480589" y="426285"/>
                </a:moveTo>
                <a:lnTo>
                  <a:pt x="469466" y="428531"/>
                </a:lnTo>
                <a:lnTo>
                  <a:pt x="460383" y="434654"/>
                </a:lnTo>
                <a:lnTo>
                  <a:pt x="454260" y="443737"/>
                </a:lnTo>
                <a:lnTo>
                  <a:pt x="452014" y="454860"/>
                </a:lnTo>
                <a:lnTo>
                  <a:pt x="454260" y="465983"/>
                </a:lnTo>
                <a:lnTo>
                  <a:pt x="460383" y="475066"/>
                </a:lnTo>
                <a:lnTo>
                  <a:pt x="469466" y="481190"/>
                </a:lnTo>
                <a:lnTo>
                  <a:pt x="480646" y="483435"/>
                </a:lnTo>
                <a:lnTo>
                  <a:pt x="491769" y="481190"/>
                </a:lnTo>
                <a:lnTo>
                  <a:pt x="500852" y="475066"/>
                </a:lnTo>
                <a:lnTo>
                  <a:pt x="506976" y="465983"/>
                </a:lnTo>
                <a:lnTo>
                  <a:pt x="509221" y="454860"/>
                </a:lnTo>
                <a:lnTo>
                  <a:pt x="506976" y="443737"/>
                </a:lnTo>
                <a:lnTo>
                  <a:pt x="500852" y="434654"/>
                </a:lnTo>
                <a:lnTo>
                  <a:pt x="491769" y="428531"/>
                </a:lnTo>
                <a:lnTo>
                  <a:pt x="480589" y="426285"/>
                </a:lnTo>
                <a:close/>
              </a:path>
              <a:path w="514985" h="483870">
                <a:moveTo>
                  <a:pt x="366232" y="426285"/>
                </a:moveTo>
                <a:lnTo>
                  <a:pt x="355109" y="428531"/>
                </a:lnTo>
                <a:lnTo>
                  <a:pt x="346026" y="434654"/>
                </a:lnTo>
                <a:lnTo>
                  <a:pt x="339902" y="443737"/>
                </a:lnTo>
                <a:lnTo>
                  <a:pt x="337657" y="454860"/>
                </a:lnTo>
                <a:lnTo>
                  <a:pt x="339902" y="465983"/>
                </a:lnTo>
                <a:lnTo>
                  <a:pt x="346026" y="475066"/>
                </a:lnTo>
                <a:lnTo>
                  <a:pt x="355109" y="481190"/>
                </a:lnTo>
                <a:lnTo>
                  <a:pt x="366289" y="483435"/>
                </a:lnTo>
                <a:lnTo>
                  <a:pt x="377412" y="481190"/>
                </a:lnTo>
                <a:lnTo>
                  <a:pt x="386494" y="475066"/>
                </a:lnTo>
                <a:lnTo>
                  <a:pt x="392618" y="465983"/>
                </a:lnTo>
                <a:lnTo>
                  <a:pt x="394864" y="454860"/>
                </a:lnTo>
                <a:lnTo>
                  <a:pt x="392618" y="443737"/>
                </a:lnTo>
                <a:lnTo>
                  <a:pt x="386494" y="434654"/>
                </a:lnTo>
                <a:lnTo>
                  <a:pt x="377412" y="428531"/>
                </a:lnTo>
                <a:lnTo>
                  <a:pt x="366232" y="426285"/>
                </a:lnTo>
                <a:close/>
              </a:path>
              <a:path w="514985" h="483870">
                <a:moveTo>
                  <a:pt x="251875" y="426285"/>
                </a:moveTo>
                <a:lnTo>
                  <a:pt x="240752" y="428531"/>
                </a:lnTo>
                <a:lnTo>
                  <a:pt x="231669" y="434654"/>
                </a:lnTo>
                <a:lnTo>
                  <a:pt x="225545" y="443737"/>
                </a:lnTo>
                <a:lnTo>
                  <a:pt x="223300" y="454860"/>
                </a:lnTo>
                <a:lnTo>
                  <a:pt x="225545" y="465983"/>
                </a:lnTo>
                <a:lnTo>
                  <a:pt x="231669" y="475066"/>
                </a:lnTo>
                <a:lnTo>
                  <a:pt x="240752" y="481190"/>
                </a:lnTo>
                <a:lnTo>
                  <a:pt x="251932" y="483435"/>
                </a:lnTo>
                <a:lnTo>
                  <a:pt x="263054" y="481190"/>
                </a:lnTo>
                <a:lnTo>
                  <a:pt x="272137" y="475066"/>
                </a:lnTo>
                <a:lnTo>
                  <a:pt x="278261" y="465983"/>
                </a:lnTo>
                <a:lnTo>
                  <a:pt x="280507" y="454860"/>
                </a:lnTo>
                <a:lnTo>
                  <a:pt x="278261" y="443737"/>
                </a:lnTo>
                <a:lnTo>
                  <a:pt x="272137" y="434654"/>
                </a:lnTo>
                <a:lnTo>
                  <a:pt x="263054" y="428531"/>
                </a:lnTo>
                <a:lnTo>
                  <a:pt x="251875" y="426285"/>
                </a:lnTo>
                <a:close/>
              </a:path>
              <a:path w="514985" h="483870">
                <a:moveTo>
                  <a:pt x="137518" y="426285"/>
                </a:moveTo>
                <a:lnTo>
                  <a:pt x="126395" y="428531"/>
                </a:lnTo>
                <a:lnTo>
                  <a:pt x="117312" y="434654"/>
                </a:lnTo>
                <a:lnTo>
                  <a:pt x="111188" y="443737"/>
                </a:lnTo>
                <a:lnTo>
                  <a:pt x="108943" y="454860"/>
                </a:lnTo>
                <a:lnTo>
                  <a:pt x="111188" y="465983"/>
                </a:lnTo>
                <a:lnTo>
                  <a:pt x="117312" y="475066"/>
                </a:lnTo>
                <a:lnTo>
                  <a:pt x="126395" y="481190"/>
                </a:lnTo>
                <a:lnTo>
                  <a:pt x="137575" y="483435"/>
                </a:lnTo>
                <a:lnTo>
                  <a:pt x="148697" y="481190"/>
                </a:lnTo>
                <a:lnTo>
                  <a:pt x="157780" y="475066"/>
                </a:lnTo>
                <a:lnTo>
                  <a:pt x="163904" y="465983"/>
                </a:lnTo>
                <a:lnTo>
                  <a:pt x="166150" y="454860"/>
                </a:lnTo>
                <a:lnTo>
                  <a:pt x="163904" y="443737"/>
                </a:lnTo>
                <a:lnTo>
                  <a:pt x="157780" y="434654"/>
                </a:lnTo>
                <a:lnTo>
                  <a:pt x="148697" y="428531"/>
                </a:lnTo>
                <a:lnTo>
                  <a:pt x="137518" y="426285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84111" y="6137585"/>
            <a:ext cx="540385" cy="483870"/>
          </a:xfrm>
          <a:custGeom>
            <a:avLst/>
            <a:gdLst/>
            <a:ahLst/>
            <a:cxnLst/>
            <a:rect l="l" t="t" r="r" b="b"/>
            <a:pathLst>
              <a:path w="540385" h="483870">
                <a:moveTo>
                  <a:pt x="74825" y="426286"/>
                </a:moveTo>
                <a:lnTo>
                  <a:pt x="63703" y="428531"/>
                </a:lnTo>
                <a:lnTo>
                  <a:pt x="54620" y="434655"/>
                </a:lnTo>
                <a:lnTo>
                  <a:pt x="48496" y="443738"/>
                </a:lnTo>
                <a:lnTo>
                  <a:pt x="46250" y="454861"/>
                </a:lnTo>
                <a:lnTo>
                  <a:pt x="48496" y="465983"/>
                </a:lnTo>
                <a:lnTo>
                  <a:pt x="54620" y="475066"/>
                </a:lnTo>
                <a:lnTo>
                  <a:pt x="63703" y="481190"/>
                </a:lnTo>
                <a:lnTo>
                  <a:pt x="74883" y="483436"/>
                </a:lnTo>
                <a:lnTo>
                  <a:pt x="86006" y="481190"/>
                </a:lnTo>
                <a:lnTo>
                  <a:pt x="95088" y="475066"/>
                </a:lnTo>
                <a:lnTo>
                  <a:pt x="101212" y="465983"/>
                </a:lnTo>
                <a:lnTo>
                  <a:pt x="103458" y="454861"/>
                </a:lnTo>
                <a:lnTo>
                  <a:pt x="101212" y="443738"/>
                </a:lnTo>
                <a:lnTo>
                  <a:pt x="95088" y="434655"/>
                </a:lnTo>
                <a:lnTo>
                  <a:pt x="86006" y="428531"/>
                </a:lnTo>
                <a:lnTo>
                  <a:pt x="74825" y="426286"/>
                </a:lnTo>
                <a:close/>
              </a:path>
              <a:path w="540385" h="483870">
                <a:moveTo>
                  <a:pt x="28575" y="369078"/>
                </a:moveTo>
                <a:lnTo>
                  <a:pt x="17452" y="371324"/>
                </a:lnTo>
                <a:lnTo>
                  <a:pt x="8369" y="377448"/>
                </a:lnTo>
                <a:lnTo>
                  <a:pt x="2245" y="386531"/>
                </a:lnTo>
                <a:lnTo>
                  <a:pt x="0" y="397711"/>
                </a:lnTo>
                <a:lnTo>
                  <a:pt x="2245" y="408833"/>
                </a:lnTo>
                <a:lnTo>
                  <a:pt x="8369" y="417916"/>
                </a:lnTo>
                <a:lnTo>
                  <a:pt x="17452" y="424040"/>
                </a:lnTo>
                <a:lnTo>
                  <a:pt x="28575" y="426286"/>
                </a:lnTo>
                <a:lnTo>
                  <a:pt x="39697" y="424040"/>
                </a:lnTo>
                <a:lnTo>
                  <a:pt x="48780" y="417916"/>
                </a:lnTo>
                <a:lnTo>
                  <a:pt x="54904" y="408833"/>
                </a:lnTo>
                <a:lnTo>
                  <a:pt x="57150" y="397653"/>
                </a:lnTo>
                <a:lnTo>
                  <a:pt x="54904" y="386531"/>
                </a:lnTo>
                <a:lnTo>
                  <a:pt x="48780" y="377448"/>
                </a:lnTo>
                <a:lnTo>
                  <a:pt x="39697" y="371324"/>
                </a:lnTo>
                <a:lnTo>
                  <a:pt x="28575" y="369078"/>
                </a:lnTo>
                <a:close/>
              </a:path>
              <a:path w="540385" h="483870">
                <a:moveTo>
                  <a:pt x="28575" y="254721"/>
                </a:moveTo>
                <a:lnTo>
                  <a:pt x="17452" y="256967"/>
                </a:lnTo>
                <a:lnTo>
                  <a:pt x="8369" y="263091"/>
                </a:lnTo>
                <a:lnTo>
                  <a:pt x="2245" y="272174"/>
                </a:lnTo>
                <a:lnTo>
                  <a:pt x="0" y="283353"/>
                </a:lnTo>
                <a:lnTo>
                  <a:pt x="2245" y="294476"/>
                </a:lnTo>
                <a:lnTo>
                  <a:pt x="8369" y="303559"/>
                </a:lnTo>
                <a:lnTo>
                  <a:pt x="17452" y="309683"/>
                </a:lnTo>
                <a:lnTo>
                  <a:pt x="28575" y="311928"/>
                </a:lnTo>
                <a:lnTo>
                  <a:pt x="39697" y="309683"/>
                </a:lnTo>
                <a:lnTo>
                  <a:pt x="48780" y="303559"/>
                </a:lnTo>
                <a:lnTo>
                  <a:pt x="54904" y="294476"/>
                </a:lnTo>
                <a:lnTo>
                  <a:pt x="57150" y="283296"/>
                </a:lnTo>
                <a:lnTo>
                  <a:pt x="54904" y="272174"/>
                </a:lnTo>
                <a:lnTo>
                  <a:pt x="48780" y="263091"/>
                </a:lnTo>
                <a:lnTo>
                  <a:pt x="39697" y="256967"/>
                </a:lnTo>
                <a:lnTo>
                  <a:pt x="28575" y="254721"/>
                </a:lnTo>
                <a:close/>
              </a:path>
              <a:path w="540385" h="483870">
                <a:moveTo>
                  <a:pt x="28575" y="140364"/>
                </a:moveTo>
                <a:lnTo>
                  <a:pt x="17452" y="142610"/>
                </a:lnTo>
                <a:lnTo>
                  <a:pt x="8369" y="148734"/>
                </a:lnTo>
                <a:lnTo>
                  <a:pt x="2245" y="157816"/>
                </a:lnTo>
                <a:lnTo>
                  <a:pt x="0" y="168996"/>
                </a:lnTo>
                <a:lnTo>
                  <a:pt x="2245" y="180119"/>
                </a:lnTo>
                <a:lnTo>
                  <a:pt x="8369" y="189202"/>
                </a:lnTo>
                <a:lnTo>
                  <a:pt x="17452" y="195326"/>
                </a:lnTo>
                <a:lnTo>
                  <a:pt x="28575" y="197571"/>
                </a:lnTo>
                <a:lnTo>
                  <a:pt x="39697" y="195326"/>
                </a:lnTo>
                <a:lnTo>
                  <a:pt x="48780" y="189202"/>
                </a:lnTo>
                <a:lnTo>
                  <a:pt x="54904" y="180119"/>
                </a:lnTo>
                <a:lnTo>
                  <a:pt x="57150" y="168939"/>
                </a:lnTo>
                <a:lnTo>
                  <a:pt x="54904" y="157816"/>
                </a:lnTo>
                <a:lnTo>
                  <a:pt x="48780" y="148734"/>
                </a:lnTo>
                <a:lnTo>
                  <a:pt x="39697" y="142610"/>
                </a:lnTo>
                <a:lnTo>
                  <a:pt x="28575" y="140364"/>
                </a:lnTo>
                <a:close/>
              </a:path>
              <a:path w="540385" h="483870">
                <a:moveTo>
                  <a:pt x="28575" y="26007"/>
                </a:moveTo>
                <a:lnTo>
                  <a:pt x="17452" y="28253"/>
                </a:lnTo>
                <a:lnTo>
                  <a:pt x="8369" y="34376"/>
                </a:lnTo>
                <a:lnTo>
                  <a:pt x="2245" y="43459"/>
                </a:lnTo>
                <a:lnTo>
                  <a:pt x="0" y="54639"/>
                </a:lnTo>
                <a:lnTo>
                  <a:pt x="2245" y="65762"/>
                </a:lnTo>
                <a:lnTo>
                  <a:pt x="8369" y="74845"/>
                </a:lnTo>
                <a:lnTo>
                  <a:pt x="17452" y="80969"/>
                </a:lnTo>
                <a:lnTo>
                  <a:pt x="28575" y="83214"/>
                </a:lnTo>
                <a:lnTo>
                  <a:pt x="39697" y="80969"/>
                </a:lnTo>
                <a:lnTo>
                  <a:pt x="48780" y="74845"/>
                </a:lnTo>
                <a:lnTo>
                  <a:pt x="54904" y="65762"/>
                </a:lnTo>
                <a:lnTo>
                  <a:pt x="57150" y="54582"/>
                </a:lnTo>
                <a:lnTo>
                  <a:pt x="54904" y="43459"/>
                </a:lnTo>
                <a:lnTo>
                  <a:pt x="48780" y="34376"/>
                </a:lnTo>
                <a:lnTo>
                  <a:pt x="39697" y="28253"/>
                </a:lnTo>
                <a:lnTo>
                  <a:pt x="28575" y="26007"/>
                </a:lnTo>
                <a:close/>
              </a:path>
              <a:path w="540385" h="483870">
                <a:moveTo>
                  <a:pt x="116866" y="0"/>
                </a:moveTo>
                <a:lnTo>
                  <a:pt x="105744" y="2245"/>
                </a:lnTo>
                <a:lnTo>
                  <a:pt x="96661" y="8369"/>
                </a:lnTo>
                <a:lnTo>
                  <a:pt x="90537" y="17452"/>
                </a:lnTo>
                <a:lnTo>
                  <a:pt x="88291" y="28575"/>
                </a:lnTo>
                <a:lnTo>
                  <a:pt x="90537" y="39697"/>
                </a:lnTo>
                <a:lnTo>
                  <a:pt x="96661" y="48780"/>
                </a:lnTo>
                <a:lnTo>
                  <a:pt x="105744" y="54904"/>
                </a:lnTo>
                <a:lnTo>
                  <a:pt x="116923" y="57150"/>
                </a:lnTo>
                <a:lnTo>
                  <a:pt x="128046" y="54904"/>
                </a:lnTo>
                <a:lnTo>
                  <a:pt x="137129" y="48780"/>
                </a:lnTo>
                <a:lnTo>
                  <a:pt x="143253" y="39697"/>
                </a:lnTo>
                <a:lnTo>
                  <a:pt x="145498" y="28575"/>
                </a:lnTo>
                <a:lnTo>
                  <a:pt x="143253" y="17452"/>
                </a:lnTo>
                <a:lnTo>
                  <a:pt x="137129" y="8369"/>
                </a:lnTo>
                <a:lnTo>
                  <a:pt x="128046" y="2245"/>
                </a:lnTo>
                <a:lnTo>
                  <a:pt x="116866" y="0"/>
                </a:lnTo>
                <a:close/>
              </a:path>
              <a:path w="540385" h="483870">
                <a:moveTo>
                  <a:pt x="231223" y="0"/>
                </a:moveTo>
                <a:lnTo>
                  <a:pt x="220101" y="2245"/>
                </a:lnTo>
                <a:lnTo>
                  <a:pt x="211018" y="8369"/>
                </a:lnTo>
                <a:lnTo>
                  <a:pt x="204894" y="17452"/>
                </a:lnTo>
                <a:lnTo>
                  <a:pt x="202648" y="28575"/>
                </a:lnTo>
                <a:lnTo>
                  <a:pt x="204894" y="39697"/>
                </a:lnTo>
                <a:lnTo>
                  <a:pt x="211018" y="48780"/>
                </a:lnTo>
                <a:lnTo>
                  <a:pt x="220101" y="54904"/>
                </a:lnTo>
                <a:lnTo>
                  <a:pt x="231280" y="57150"/>
                </a:lnTo>
                <a:lnTo>
                  <a:pt x="242403" y="54904"/>
                </a:lnTo>
                <a:lnTo>
                  <a:pt x="251486" y="48780"/>
                </a:lnTo>
                <a:lnTo>
                  <a:pt x="257610" y="39697"/>
                </a:lnTo>
                <a:lnTo>
                  <a:pt x="259855" y="28575"/>
                </a:lnTo>
                <a:lnTo>
                  <a:pt x="257610" y="17452"/>
                </a:lnTo>
                <a:lnTo>
                  <a:pt x="251486" y="8369"/>
                </a:lnTo>
                <a:lnTo>
                  <a:pt x="242403" y="2245"/>
                </a:lnTo>
                <a:lnTo>
                  <a:pt x="231223" y="0"/>
                </a:lnTo>
                <a:close/>
              </a:path>
              <a:path w="540385" h="483870">
                <a:moveTo>
                  <a:pt x="345580" y="0"/>
                </a:moveTo>
                <a:lnTo>
                  <a:pt x="334458" y="2245"/>
                </a:lnTo>
                <a:lnTo>
                  <a:pt x="325375" y="8369"/>
                </a:lnTo>
                <a:lnTo>
                  <a:pt x="319251" y="17452"/>
                </a:lnTo>
                <a:lnTo>
                  <a:pt x="317005" y="28575"/>
                </a:lnTo>
                <a:lnTo>
                  <a:pt x="319251" y="39697"/>
                </a:lnTo>
                <a:lnTo>
                  <a:pt x="325375" y="48780"/>
                </a:lnTo>
                <a:lnTo>
                  <a:pt x="334458" y="54904"/>
                </a:lnTo>
                <a:lnTo>
                  <a:pt x="345638" y="57150"/>
                </a:lnTo>
                <a:lnTo>
                  <a:pt x="356761" y="54904"/>
                </a:lnTo>
                <a:lnTo>
                  <a:pt x="365843" y="48780"/>
                </a:lnTo>
                <a:lnTo>
                  <a:pt x="371967" y="39697"/>
                </a:lnTo>
                <a:lnTo>
                  <a:pt x="374213" y="28575"/>
                </a:lnTo>
                <a:lnTo>
                  <a:pt x="371967" y="17452"/>
                </a:lnTo>
                <a:lnTo>
                  <a:pt x="365843" y="8369"/>
                </a:lnTo>
                <a:lnTo>
                  <a:pt x="356761" y="2245"/>
                </a:lnTo>
                <a:lnTo>
                  <a:pt x="345580" y="0"/>
                </a:lnTo>
                <a:close/>
              </a:path>
              <a:path w="540385" h="483870">
                <a:moveTo>
                  <a:pt x="459938" y="0"/>
                </a:moveTo>
                <a:lnTo>
                  <a:pt x="448815" y="2245"/>
                </a:lnTo>
                <a:lnTo>
                  <a:pt x="439732" y="8369"/>
                </a:lnTo>
                <a:lnTo>
                  <a:pt x="433608" y="17452"/>
                </a:lnTo>
                <a:lnTo>
                  <a:pt x="431363" y="28575"/>
                </a:lnTo>
                <a:lnTo>
                  <a:pt x="433608" y="39697"/>
                </a:lnTo>
                <a:lnTo>
                  <a:pt x="439732" y="48780"/>
                </a:lnTo>
                <a:lnTo>
                  <a:pt x="448815" y="54904"/>
                </a:lnTo>
                <a:lnTo>
                  <a:pt x="459995" y="57150"/>
                </a:lnTo>
                <a:lnTo>
                  <a:pt x="471118" y="54904"/>
                </a:lnTo>
                <a:lnTo>
                  <a:pt x="480201" y="48780"/>
                </a:lnTo>
                <a:lnTo>
                  <a:pt x="486324" y="39697"/>
                </a:lnTo>
                <a:lnTo>
                  <a:pt x="488570" y="28575"/>
                </a:lnTo>
                <a:lnTo>
                  <a:pt x="486324" y="17452"/>
                </a:lnTo>
                <a:lnTo>
                  <a:pt x="480201" y="8369"/>
                </a:lnTo>
                <a:lnTo>
                  <a:pt x="471118" y="2245"/>
                </a:lnTo>
                <a:lnTo>
                  <a:pt x="459938" y="0"/>
                </a:lnTo>
                <a:close/>
              </a:path>
              <a:path w="540385" h="483870">
                <a:moveTo>
                  <a:pt x="511696" y="62599"/>
                </a:moveTo>
                <a:lnTo>
                  <a:pt x="500573" y="64844"/>
                </a:lnTo>
                <a:lnTo>
                  <a:pt x="491491" y="70968"/>
                </a:lnTo>
                <a:lnTo>
                  <a:pt x="485367" y="80051"/>
                </a:lnTo>
                <a:lnTo>
                  <a:pt x="483121" y="91231"/>
                </a:lnTo>
                <a:lnTo>
                  <a:pt x="485367" y="102354"/>
                </a:lnTo>
                <a:lnTo>
                  <a:pt x="491491" y="111437"/>
                </a:lnTo>
                <a:lnTo>
                  <a:pt x="500573" y="117560"/>
                </a:lnTo>
                <a:lnTo>
                  <a:pt x="511696" y="119806"/>
                </a:lnTo>
                <a:lnTo>
                  <a:pt x="522819" y="117560"/>
                </a:lnTo>
                <a:lnTo>
                  <a:pt x="531902" y="111437"/>
                </a:lnTo>
                <a:lnTo>
                  <a:pt x="538026" y="102354"/>
                </a:lnTo>
                <a:lnTo>
                  <a:pt x="540271" y="91174"/>
                </a:lnTo>
                <a:lnTo>
                  <a:pt x="538026" y="80051"/>
                </a:lnTo>
                <a:lnTo>
                  <a:pt x="531902" y="70968"/>
                </a:lnTo>
                <a:lnTo>
                  <a:pt x="522819" y="64844"/>
                </a:lnTo>
                <a:lnTo>
                  <a:pt x="511696" y="62599"/>
                </a:lnTo>
                <a:close/>
              </a:path>
              <a:path w="540385" h="483870">
                <a:moveTo>
                  <a:pt x="511696" y="176956"/>
                </a:moveTo>
                <a:lnTo>
                  <a:pt x="500573" y="179202"/>
                </a:lnTo>
                <a:lnTo>
                  <a:pt x="491491" y="185325"/>
                </a:lnTo>
                <a:lnTo>
                  <a:pt x="485367" y="194408"/>
                </a:lnTo>
                <a:lnTo>
                  <a:pt x="483121" y="205588"/>
                </a:lnTo>
                <a:lnTo>
                  <a:pt x="485367" y="216711"/>
                </a:lnTo>
                <a:lnTo>
                  <a:pt x="491491" y="225794"/>
                </a:lnTo>
                <a:lnTo>
                  <a:pt x="500573" y="231918"/>
                </a:lnTo>
                <a:lnTo>
                  <a:pt x="511696" y="234163"/>
                </a:lnTo>
                <a:lnTo>
                  <a:pt x="522819" y="231918"/>
                </a:lnTo>
                <a:lnTo>
                  <a:pt x="531902" y="225794"/>
                </a:lnTo>
                <a:lnTo>
                  <a:pt x="538026" y="216711"/>
                </a:lnTo>
                <a:lnTo>
                  <a:pt x="540271" y="205531"/>
                </a:lnTo>
                <a:lnTo>
                  <a:pt x="538026" y="194408"/>
                </a:lnTo>
                <a:lnTo>
                  <a:pt x="531902" y="185325"/>
                </a:lnTo>
                <a:lnTo>
                  <a:pt x="522819" y="179202"/>
                </a:lnTo>
                <a:lnTo>
                  <a:pt x="511696" y="176956"/>
                </a:lnTo>
                <a:close/>
              </a:path>
              <a:path w="540385" h="483870">
                <a:moveTo>
                  <a:pt x="511696" y="291313"/>
                </a:moveTo>
                <a:lnTo>
                  <a:pt x="500573" y="293559"/>
                </a:lnTo>
                <a:lnTo>
                  <a:pt x="491491" y="299683"/>
                </a:lnTo>
                <a:lnTo>
                  <a:pt x="485367" y="308765"/>
                </a:lnTo>
                <a:lnTo>
                  <a:pt x="483121" y="319945"/>
                </a:lnTo>
                <a:lnTo>
                  <a:pt x="485367" y="331068"/>
                </a:lnTo>
                <a:lnTo>
                  <a:pt x="491491" y="340151"/>
                </a:lnTo>
                <a:lnTo>
                  <a:pt x="500573" y="346275"/>
                </a:lnTo>
                <a:lnTo>
                  <a:pt x="511696" y="348520"/>
                </a:lnTo>
                <a:lnTo>
                  <a:pt x="522819" y="346275"/>
                </a:lnTo>
                <a:lnTo>
                  <a:pt x="531902" y="340151"/>
                </a:lnTo>
                <a:lnTo>
                  <a:pt x="538026" y="331068"/>
                </a:lnTo>
                <a:lnTo>
                  <a:pt x="540271" y="319888"/>
                </a:lnTo>
                <a:lnTo>
                  <a:pt x="538026" y="308765"/>
                </a:lnTo>
                <a:lnTo>
                  <a:pt x="531902" y="299683"/>
                </a:lnTo>
                <a:lnTo>
                  <a:pt x="522819" y="293559"/>
                </a:lnTo>
                <a:lnTo>
                  <a:pt x="511696" y="291313"/>
                </a:lnTo>
                <a:close/>
              </a:path>
              <a:path w="540385" h="483870">
                <a:moveTo>
                  <a:pt x="511696" y="405670"/>
                </a:moveTo>
                <a:lnTo>
                  <a:pt x="500573" y="407916"/>
                </a:lnTo>
                <a:lnTo>
                  <a:pt x="491491" y="414040"/>
                </a:lnTo>
                <a:lnTo>
                  <a:pt x="485367" y="423123"/>
                </a:lnTo>
                <a:lnTo>
                  <a:pt x="483121" y="434302"/>
                </a:lnTo>
                <a:lnTo>
                  <a:pt x="485367" y="445425"/>
                </a:lnTo>
                <a:lnTo>
                  <a:pt x="491491" y="454508"/>
                </a:lnTo>
                <a:lnTo>
                  <a:pt x="500573" y="460632"/>
                </a:lnTo>
                <a:lnTo>
                  <a:pt x="511696" y="462877"/>
                </a:lnTo>
                <a:lnTo>
                  <a:pt x="522819" y="460632"/>
                </a:lnTo>
                <a:lnTo>
                  <a:pt x="531902" y="454508"/>
                </a:lnTo>
                <a:lnTo>
                  <a:pt x="538026" y="445425"/>
                </a:lnTo>
                <a:lnTo>
                  <a:pt x="540271" y="434245"/>
                </a:lnTo>
                <a:lnTo>
                  <a:pt x="538026" y="423123"/>
                </a:lnTo>
                <a:lnTo>
                  <a:pt x="531902" y="414040"/>
                </a:lnTo>
                <a:lnTo>
                  <a:pt x="522819" y="407916"/>
                </a:lnTo>
                <a:lnTo>
                  <a:pt x="511696" y="405670"/>
                </a:lnTo>
                <a:close/>
              </a:path>
              <a:path w="540385" h="483870">
                <a:moveTo>
                  <a:pt x="417897" y="426286"/>
                </a:moveTo>
                <a:lnTo>
                  <a:pt x="406774" y="428531"/>
                </a:lnTo>
                <a:lnTo>
                  <a:pt x="397691" y="434655"/>
                </a:lnTo>
                <a:lnTo>
                  <a:pt x="391567" y="443738"/>
                </a:lnTo>
                <a:lnTo>
                  <a:pt x="389322" y="454861"/>
                </a:lnTo>
                <a:lnTo>
                  <a:pt x="391567" y="465983"/>
                </a:lnTo>
                <a:lnTo>
                  <a:pt x="397691" y="475066"/>
                </a:lnTo>
                <a:lnTo>
                  <a:pt x="406774" y="481190"/>
                </a:lnTo>
                <a:lnTo>
                  <a:pt x="417954" y="483436"/>
                </a:lnTo>
                <a:lnTo>
                  <a:pt x="429077" y="481190"/>
                </a:lnTo>
                <a:lnTo>
                  <a:pt x="438160" y="475066"/>
                </a:lnTo>
                <a:lnTo>
                  <a:pt x="444284" y="465983"/>
                </a:lnTo>
                <a:lnTo>
                  <a:pt x="446529" y="454861"/>
                </a:lnTo>
                <a:lnTo>
                  <a:pt x="444284" y="443738"/>
                </a:lnTo>
                <a:lnTo>
                  <a:pt x="438160" y="434655"/>
                </a:lnTo>
                <a:lnTo>
                  <a:pt x="429077" y="428531"/>
                </a:lnTo>
                <a:lnTo>
                  <a:pt x="417897" y="426286"/>
                </a:lnTo>
                <a:close/>
              </a:path>
              <a:path w="540385" h="483870">
                <a:moveTo>
                  <a:pt x="303540" y="426286"/>
                </a:moveTo>
                <a:lnTo>
                  <a:pt x="292417" y="428531"/>
                </a:lnTo>
                <a:lnTo>
                  <a:pt x="283334" y="434655"/>
                </a:lnTo>
                <a:lnTo>
                  <a:pt x="277210" y="443738"/>
                </a:lnTo>
                <a:lnTo>
                  <a:pt x="274965" y="454861"/>
                </a:lnTo>
                <a:lnTo>
                  <a:pt x="277210" y="465983"/>
                </a:lnTo>
                <a:lnTo>
                  <a:pt x="283334" y="475066"/>
                </a:lnTo>
                <a:lnTo>
                  <a:pt x="292417" y="481190"/>
                </a:lnTo>
                <a:lnTo>
                  <a:pt x="303597" y="483436"/>
                </a:lnTo>
                <a:lnTo>
                  <a:pt x="314720" y="481190"/>
                </a:lnTo>
                <a:lnTo>
                  <a:pt x="323803" y="475066"/>
                </a:lnTo>
                <a:lnTo>
                  <a:pt x="329926" y="465983"/>
                </a:lnTo>
                <a:lnTo>
                  <a:pt x="332172" y="454861"/>
                </a:lnTo>
                <a:lnTo>
                  <a:pt x="329926" y="443738"/>
                </a:lnTo>
                <a:lnTo>
                  <a:pt x="323803" y="434655"/>
                </a:lnTo>
                <a:lnTo>
                  <a:pt x="314720" y="428531"/>
                </a:lnTo>
                <a:lnTo>
                  <a:pt x="303540" y="426286"/>
                </a:lnTo>
                <a:close/>
              </a:path>
              <a:path w="540385" h="483870">
                <a:moveTo>
                  <a:pt x="189183" y="426286"/>
                </a:moveTo>
                <a:lnTo>
                  <a:pt x="178060" y="428531"/>
                </a:lnTo>
                <a:lnTo>
                  <a:pt x="168977" y="434655"/>
                </a:lnTo>
                <a:lnTo>
                  <a:pt x="162853" y="443738"/>
                </a:lnTo>
                <a:lnTo>
                  <a:pt x="160608" y="454861"/>
                </a:lnTo>
                <a:lnTo>
                  <a:pt x="162853" y="465983"/>
                </a:lnTo>
                <a:lnTo>
                  <a:pt x="168977" y="475066"/>
                </a:lnTo>
                <a:lnTo>
                  <a:pt x="178060" y="481190"/>
                </a:lnTo>
                <a:lnTo>
                  <a:pt x="189240" y="483436"/>
                </a:lnTo>
                <a:lnTo>
                  <a:pt x="200363" y="481190"/>
                </a:lnTo>
                <a:lnTo>
                  <a:pt x="209446" y="475066"/>
                </a:lnTo>
                <a:lnTo>
                  <a:pt x="215569" y="465983"/>
                </a:lnTo>
                <a:lnTo>
                  <a:pt x="217815" y="454861"/>
                </a:lnTo>
                <a:lnTo>
                  <a:pt x="215569" y="443738"/>
                </a:lnTo>
                <a:lnTo>
                  <a:pt x="209446" y="434655"/>
                </a:lnTo>
                <a:lnTo>
                  <a:pt x="200363" y="428531"/>
                </a:lnTo>
                <a:lnTo>
                  <a:pt x="189183" y="426286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1238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Katz </a:t>
            </a:r>
            <a:r>
              <a:rPr dirty="0" spc="-10"/>
              <a:t>index</a:t>
            </a:r>
            <a:r>
              <a:rPr dirty="0" spc="-10" b="0">
                <a:latin typeface="Calibri"/>
                <a:cs typeface="Calibri"/>
              </a:rPr>
              <a:t>: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count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number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paths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all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lengths between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pair of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nodes.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7874634" cy="1950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How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 spc="-10">
                <a:latin typeface="Calibri"/>
                <a:cs typeface="Calibri"/>
              </a:rPr>
              <a:t>compute </a:t>
            </a:r>
            <a:r>
              <a:rPr dirty="0" sz="3200" spc="-5">
                <a:latin typeface="Calibri"/>
                <a:cs typeface="Calibri"/>
              </a:rPr>
              <a:t>#paths </a:t>
            </a:r>
            <a:r>
              <a:rPr dirty="0" sz="3200" spc="-10">
                <a:latin typeface="Calibri"/>
                <a:cs typeface="Calibri"/>
              </a:rPr>
              <a:t>between two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nodes?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7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adjacency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matrix</a:t>
            </a:r>
            <a:r>
              <a:rPr dirty="0" sz="32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powers</a:t>
            </a:r>
            <a:r>
              <a:rPr dirty="0" sz="3200" spc="-15">
                <a:latin typeface="Calibri"/>
                <a:cs typeface="Calibri"/>
              </a:rPr>
              <a:t>!</a:t>
            </a:r>
            <a:endParaRPr sz="3200">
              <a:latin typeface="Calibri"/>
              <a:cs typeface="Calibri"/>
            </a:endParaRPr>
          </a:p>
          <a:p>
            <a:pPr lvl="1" marL="625475" marR="1635760" indent="-274320">
              <a:lnSpc>
                <a:spcPct val="101400"/>
              </a:lnSpc>
              <a:spcBef>
                <a:spcPts val="59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355">
                <a:latin typeface="Cambria Math"/>
                <a:cs typeface="Cambria Math"/>
              </a:rPr>
              <a:t>𝑨</a:t>
            </a:r>
            <a:r>
              <a:rPr dirty="0" baseline="-16666" sz="3000" spc="532">
                <a:latin typeface="Cambria Math"/>
                <a:cs typeface="Cambria Math"/>
              </a:rPr>
              <a:t>"! </a:t>
            </a:r>
            <a:r>
              <a:rPr dirty="0" sz="2800" spc="-5">
                <a:latin typeface="Calibri"/>
                <a:cs typeface="Calibri"/>
              </a:rPr>
              <a:t>specifies </a:t>
            </a:r>
            <a:r>
              <a:rPr dirty="0" sz="2800" spc="-10">
                <a:latin typeface="Calibri"/>
                <a:cs typeface="Calibri"/>
              </a:rPr>
              <a:t>#paths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length </a:t>
            </a:r>
            <a:r>
              <a:rPr dirty="0" sz="2800">
                <a:latin typeface="Calibri"/>
                <a:cs typeface="Calibri"/>
              </a:rPr>
              <a:t>1 </a:t>
            </a:r>
            <a:r>
              <a:rPr dirty="0" sz="2800" spc="-60">
                <a:latin typeface="Calibri"/>
                <a:cs typeface="Calibri"/>
              </a:rPr>
              <a:t>(direct  </a:t>
            </a:r>
            <a:r>
              <a:rPr dirty="0" sz="2800" spc="-5">
                <a:latin typeface="Calibri"/>
                <a:cs typeface="Calibri"/>
              </a:rPr>
              <a:t>neighborhood)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>
                <a:latin typeface="Cambria Math"/>
                <a:cs typeface="Cambria Math"/>
              </a:rPr>
              <a:t>𝑢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4828539"/>
            <a:ext cx="67659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935355" algn="l"/>
              </a:tabLst>
            </a:pPr>
            <a:r>
              <a:rPr dirty="0" sz="2800" spc="-5">
                <a:latin typeface="Cambria Math"/>
                <a:cs typeface="Cambria Math"/>
              </a:rPr>
              <a:t>𝑨</a:t>
            </a:r>
            <a:r>
              <a:rPr dirty="0" baseline="29166" sz="3000" spc="-7">
                <a:solidFill>
                  <a:srgbClr val="C00000"/>
                </a:solidFill>
                <a:latin typeface="Cambria Math"/>
                <a:cs typeface="Cambria Math"/>
              </a:rPr>
              <a:t>𝟐	</a:t>
            </a:r>
            <a:r>
              <a:rPr dirty="0" sz="2800" spc="-5">
                <a:latin typeface="Calibri"/>
                <a:cs typeface="Calibri"/>
              </a:rPr>
              <a:t>specifies </a:t>
            </a:r>
            <a:r>
              <a:rPr dirty="0" sz="2800" spc="-10">
                <a:latin typeface="Calibri"/>
                <a:cs typeface="Calibri"/>
              </a:rPr>
              <a:t>#paths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length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2 </a:t>
            </a:r>
            <a:r>
              <a:rPr dirty="0" sz="2800" spc="-5">
                <a:latin typeface="Calibri"/>
                <a:cs typeface="Calibri"/>
              </a:rPr>
              <a:t>(neighbor</a:t>
            </a:r>
            <a:r>
              <a:rPr dirty="0" sz="2800" spc="5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of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883" y="5003291"/>
            <a:ext cx="4077970" cy="695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0">
              <a:lnSpc>
                <a:spcPts val="2155"/>
              </a:lnSpc>
              <a:spcBef>
                <a:spcPts val="100"/>
              </a:spcBef>
            </a:pPr>
            <a:r>
              <a:rPr dirty="0" sz="2000" spc="555">
                <a:latin typeface="Cambria Math"/>
                <a:cs typeface="Cambria Math"/>
              </a:rPr>
              <a:t>"!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ts val="3115"/>
              </a:lnSpc>
            </a:pPr>
            <a:r>
              <a:rPr dirty="0" sz="2800" spc="-5">
                <a:latin typeface="Calibri"/>
                <a:cs typeface="Calibri"/>
              </a:rPr>
              <a:t>neighbor)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>
                <a:latin typeface="Cambria Math"/>
                <a:cs typeface="Cambria Math"/>
              </a:rPr>
              <a:t>𝑢 </a:t>
            </a:r>
            <a:r>
              <a:rPr dirty="0" sz="2800" spc="-5">
                <a:latin typeface="Calibri"/>
                <a:cs typeface="Calibri"/>
              </a:rPr>
              <a:t>and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6721" y="5954267"/>
            <a:ext cx="3409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555">
                <a:latin typeface="Cambria Math"/>
                <a:cs typeface="Cambria Math"/>
              </a:rPr>
              <a:t>"!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6563" y="5779515"/>
            <a:ext cx="137985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>
                <a:latin typeface="Calibri"/>
                <a:cs typeface="Calibri"/>
              </a:rPr>
              <a:t>And,  </a:t>
            </a:r>
            <a:r>
              <a:rPr dirty="0" sz="2800" spc="-135">
                <a:latin typeface="Cambria Math"/>
                <a:cs typeface="Cambria Math"/>
              </a:rPr>
              <a:t>𝑨</a:t>
            </a:r>
            <a:r>
              <a:rPr dirty="0" baseline="27777" sz="3000" spc="-202">
                <a:solidFill>
                  <a:srgbClr val="C00000"/>
                </a:solidFill>
                <a:latin typeface="Cambria Math"/>
                <a:cs typeface="Cambria Math"/>
              </a:rPr>
              <a:t>𝒍</a:t>
            </a:r>
            <a:endParaRPr baseline="27777" sz="3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0170" y="5779515"/>
            <a:ext cx="4021454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specifies </a:t>
            </a:r>
            <a:r>
              <a:rPr dirty="0" sz="2800" spc="-10">
                <a:latin typeface="Calibri"/>
                <a:cs typeface="Calibri"/>
              </a:rPr>
              <a:t>#paths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2800" spc="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𝒍</a:t>
            </a:r>
            <a:r>
              <a:rPr dirty="0" sz="280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31520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8822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Katz </a:t>
            </a:r>
            <a:r>
              <a:rPr dirty="0" spc="-15"/>
              <a:t>index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between </a:t>
            </a:r>
            <a:r>
              <a:rPr dirty="0" spc="125" b="0">
                <a:solidFill>
                  <a:srgbClr val="000000"/>
                </a:solidFill>
                <a:latin typeface="Cambria Math"/>
                <a:cs typeface="Cambria Math"/>
              </a:rPr>
              <a:t>𝑣</a:t>
            </a:r>
            <a:r>
              <a:rPr dirty="0" baseline="-15700" sz="3450" spc="187" b="0">
                <a:solidFill>
                  <a:srgbClr val="000000"/>
                </a:solidFill>
                <a:latin typeface="Cambria Math"/>
                <a:cs typeface="Cambria Math"/>
              </a:rPr>
              <a:t>)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z="3200" spc="150" b="0">
                <a:solidFill>
                  <a:srgbClr val="000000"/>
                </a:solidFill>
                <a:latin typeface="Cambria Math"/>
                <a:cs typeface="Cambria Math"/>
              </a:rPr>
              <a:t>𝑣</a:t>
            </a:r>
            <a:r>
              <a:rPr dirty="0" baseline="-15700" sz="3450" spc="225" b="0">
                <a:solidFill>
                  <a:srgbClr val="000000"/>
                </a:solidFill>
                <a:latin typeface="Cambria Math"/>
                <a:cs typeface="Cambria Math"/>
              </a:rPr>
              <a:t>*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calculated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8672" y="2131060"/>
            <a:ext cx="1699260" cy="96456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r" marR="125730">
              <a:lnSpc>
                <a:spcPct val="100000"/>
              </a:lnSpc>
              <a:spcBef>
                <a:spcPts val="780"/>
              </a:spcBef>
            </a:pPr>
            <a:r>
              <a:rPr dirty="0" sz="2000" spc="765">
                <a:latin typeface="Cambria Math"/>
                <a:cs typeface="Cambria Math"/>
              </a:rPr>
              <a:t>L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800" spc="360">
                <a:latin typeface="Cambria Math"/>
                <a:cs typeface="Cambria Math"/>
              </a:rPr>
              <a:t>𝑆</a:t>
            </a:r>
            <a:r>
              <a:rPr dirty="0" baseline="-16666" sz="3000" spc="540">
                <a:latin typeface="Cambria Math"/>
                <a:cs typeface="Cambria Math"/>
              </a:rPr>
              <a:t>!</a:t>
            </a:r>
            <a:r>
              <a:rPr dirty="0" baseline="-32679" sz="2550" spc="540">
                <a:latin typeface="Cambria Math"/>
                <a:cs typeface="Cambria Math"/>
              </a:rPr>
              <a:t>!</a:t>
            </a:r>
            <a:r>
              <a:rPr dirty="0" baseline="-16666" sz="3000" spc="540">
                <a:latin typeface="Cambria Math"/>
                <a:cs typeface="Cambria Math"/>
              </a:rPr>
              <a:t>!</a:t>
            </a:r>
            <a:r>
              <a:rPr dirty="0" baseline="-32679" sz="2550" spc="540">
                <a:latin typeface="Cambria Math"/>
                <a:cs typeface="Cambria Math"/>
              </a:rPr>
              <a:t>"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-90">
                <a:latin typeface="Cambria Math"/>
                <a:cs typeface="Cambria Math"/>
              </a:rPr>
              <a:t> </a:t>
            </a:r>
            <a:r>
              <a:rPr dirty="0" sz="2800" spc="1614">
                <a:latin typeface="Cambria Math"/>
                <a:cs typeface="Cambria Math"/>
              </a:rPr>
              <a:t>+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4043" y="2601385"/>
            <a:ext cx="380365" cy="581025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955">
              <a:lnSpc>
                <a:spcPts val="2605"/>
              </a:lnSpc>
            </a:pPr>
            <a:r>
              <a:rPr dirty="0" baseline="-20833" sz="4200" spc="120">
                <a:latin typeface="Cambria Math"/>
                <a:cs typeface="Cambria Math"/>
              </a:rPr>
              <a:t>𝛽</a:t>
            </a:r>
            <a:r>
              <a:rPr dirty="0" sz="2000" spc="80">
                <a:latin typeface="Cambria Math"/>
                <a:cs typeface="Cambria Math"/>
              </a:rPr>
              <a:t>J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2126" y="2643123"/>
            <a:ext cx="2482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>
                <a:latin typeface="Cambria Math"/>
                <a:cs typeface="Cambria Math"/>
              </a:rPr>
              <a:t>𝑨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7076" y="2817876"/>
            <a:ext cx="43243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75590" algn="l"/>
              </a:tabLst>
            </a:pPr>
            <a:r>
              <a:rPr dirty="0" sz="2000" spc="550">
                <a:latin typeface="Cambria Math"/>
                <a:cs typeface="Cambria Math"/>
              </a:rPr>
              <a:t>!</a:t>
            </a:r>
            <a:r>
              <a:rPr dirty="0" sz="2000" spc="550">
                <a:latin typeface="Cambria Math"/>
                <a:cs typeface="Cambria Math"/>
              </a:rPr>
              <a:t>	</a:t>
            </a:r>
            <a:r>
              <a:rPr dirty="0" sz="2000" spc="550">
                <a:latin typeface="Cambria Math"/>
                <a:cs typeface="Cambria Math"/>
              </a:rPr>
              <a:t>!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5062" y="2907792"/>
            <a:ext cx="41719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75590" algn="l"/>
              </a:tabLst>
            </a:pPr>
            <a:r>
              <a:rPr dirty="0" sz="1700" spc="525">
                <a:latin typeface="Cambria Math"/>
                <a:cs typeface="Cambria Math"/>
              </a:rPr>
              <a:t>!</a:t>
            </a:r>
            <a:r>
              <a:rPr dirty="0" sz="1700" spc="525">
                <a:latin typeface="Cambria Math"/>
                <a:cs typeface="Cambria Math"/>
              </a:rPr>
              <a:t>	</a:t>
            </a:r>
            <a:r>
              <a:rPr dirty="0" sz="1700" spc="335">
                <a:latin typeface="Cambria Math"/>
                <a:cs typeface="Cambria Math"/>
              </a:rPr>
              <a:t>"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7076" y="2613660"/>
            <a:ext cx="1028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000" spc="85">
                <a:latin typeface="Cambria Math"/>
                <a:cs typeface="Cambria Math"/>
              </a:rPr>
              <a:t>J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90781" y="4746334"/>
            <a:ext cx="1262380" cy="329565"/>
          </a:xfrm>
          <a:custGeom>
            <a:avLst/>
            <a:gdLst/>
            <a:ahLst/>
            <a:cxnLst/>
            <a:rect l="l" t="t" r="r" b="b"/>
            <a:pathLst>
              <a:path w="1262379" h="329564">
                <a:moveTo>
                  <a:pt x="1157131" y="0"/>
                </a:moveTo>
                <a:lnTo>
                  <a:pt x="1152443" y="13370"/>
                </a:lnTo>
                <a:lnTo>
                  <a:pt x="1171510" y="21645"/>
                </a:lnTo>
                <a:lnTo>
                  <a:pt x="1187907" y="33099"/>
                </a:lnTo>
                <a:lnTo>
                  <a:pt x="1212693" y="65547"/>
                </a:lnTo>
                <a:lnTo>
                  <a:pt x="1227279" y="109324"/>
                </a:lnTo>
                <a:lnTo>
                  <a:pt x="1232141" y="163041"/>
                </a:lnTo>
                <a:lnTo>
                  <a:pt x="1230920" y="192092"/>
                </a:lnTo>
                <a:lnTo>
                  <a:pt x="1221153" y="242185"/>
                </a:lnTo>
                <a:lnTo>
                  <a:pt x="1201554" y="281307"/>
                </a:lnTo>
                <a:lnTo>
                  <a:pt x="1171732" y="307699"/>
                </a:lnTo>
                <a:lnTo>
                  <a:pt x="1152964" y="316011"/>
                </a:lnTo>
                <a:lnTo>
                  <a:pt x="1157131" y="329382"/>
                </a:lnTo>
                <a:lnTo>
                  <a:pt x="1202058" y="308307"/>
                </a:lnTo>
                <a:lnTo>
                  <a:pt x="1235092" y="271821"/>
                </a:lnTo>
                <a:lnTo>
                  <a:pt x="1255407" y="222966"/>
                </a:lnTo>
                <a:lnTo>
                  <a:pt x="1262179" y="164777"/>
                </a:lnTo>
                <a:lnTo>
                  <a:pt x="1260481" y="134581"/>
                </a:lnTo>
                <a:lnTo>
                  <a:pt x="1246894" y="81059"/>
                </a:lnTo>
                <a:lnTo>
                  <a:pt x="1219948" y="37488"/>
                </a:lnTo>
                <a:lnTo>
                  <a:pt x="1181011" y="8622"/>
                </a:lnTo>
                <a:lnTo>
                  <a:pt x="1157131" y="0"/>
                </a:lnTo>
                <a:close/>
              </a:path>
              <a:path w="1262379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18108" y="3177793"/>
            <a:ext cx="7874000" cy="235077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2070735">
              <a:lnSpc>
                <a:spcPct val="100000"/>
              </a:lnSpc>
              <a:spcBef>
                <a:spcPts val="919"/>
              </a:spcBef>
            </a:pPr>
            <a:r>
              <a:rPr dirty="0" baseline="29166" sz="3000" spc="562">
                <a:latin typeface="Cambria Math"/>
                <a:cs typeface="Cambria Math"/>
              </a:rPr>
              <a:t>JK.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0 &lt; 𝛽  &lt; </a:t>
            </a:r>
            <a:r>
              <a:rPr dirty="0" sz="2400" spc="-5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: </a:t>
            </a:r>
            <a:r>
              <a:rPr dirty="0" sz="2400">
                <a:solidFill>
                  <a:srgbClr val="C00000"/>
                </a:solidFill>
                <a:latin typeface="Arial"/>
                <a:cs typeface="Arial"/>
              </a:rPr>
              <a:t>discount</a:t>
            </a:r>
            <a:r>
              <a:rPr dirty="0" sz="2400" spc="3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C00000"/>
                </a:solidFill>
                <a:latin typeface="Arial"/>
                <a:cs typeface="Arial"/>
              </a:rPr>
              <a:t>factor</a:t>
            </a:r>
            <a:endParaRPr sz="2400">
              <a:latin typeface="Arial"/>
              <a:cs typeface="Arial"/>
            </a:endParaRPr>
          </a:p>
          <a:p>
            <a:pPr marL="332740" indent="-320040">
              <a:lnSpc>
                <a:spcPts val="3610"/>
              </a:lnSpc>
              <a:spcBef>
                <a:spcPts val="109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>
                <a:latin typeface="Calibri"/>
                <a:cs typeface="Calibri"/>
              </a:rPr>
              <a:t>Katz </a:t>
            </a:r>
            <a:r>
              <a:rPr dirty="0" sz="3200" spc="-15">
                <a:latin typeface="Calibri"/>
                <a:cs typeface="Calibri"/>
              </a:rPr>
              <a:t>index </a:t>
            </a:r>
            <a:r>
              <a:rPr dirty="0" sz="3200" spc="-10">
                <a:latin typeface="Calibri"/>
                <a:cs typeface="Calibri"/>
              </a:rPr>
              <a:t>matrix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0">
                <a:latin typeface="Calibri"/>
                <a:cs typeface="Calibri"/>
              </a:rPr>
              <a:t>computed </a:t>
            </a:r>
            <a:r>
              <a:rPr dirty="0" sz="3200">
                <a:latin typeface="Calibri"/>
                <a:cs typeface="Calibri"/>
              </a:rPr>
              <a:t>in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closed-form:</a:t>
            </a:r>
            <a:endParaRPr sz="3200">
              <a:latin typeface="Calibri"/>
              <a:cs typeface="Calibri"/>
            </a:endParaRPr>
          </a:p>
          <a:p>
            <a:pPr algn="ctr" marR="4883150">
              <a:lnSpc>
                <a:spcPts val="2170"/>
              </a:lnSpc>
            </a:pPr>
            <a:r>
              <a:rPr dirty="0" sz="2000" spc="765">
                <a:latin typeface="Cambria Math"/>
                <a:cs typeface="Cambria Math"/>
              </a:rPr>
              <a:t>L</a:t>
            </a:r>
            <a:endParaRPr sz="2000">
              <a:latin typeface="Cambria Math"/>
              <a:cs typeface="Cambria Math"/>
            </a:endParaRPr>
          </a:p>
          <a:p>
            <a:pPr marL="593725">
              <a:lnSpc>
                <a:spcPct val="100000"/>
              </a:lnSpc>
              <a:spcBef>
                <a:spcPts val="980"/>
              </a:spcBef>
              <a:tabLst>
                <a:tab pos="3088640" algn="l"/>
                <a:tab pos="4265930" algn="l"/>
              </a:tabLst>
            </a:pPr>
            <a:r>
              <a:rPr dirty="0" sz="2800">
                <a:latin typeface="Cambria Math"/>
                <a:cs typeface="Cambria Math"/>
              </a:rPr>
              <a:t>𝑺 = </a:t>
            </a:r>
            <a:r>
              <a:rPr dirty="0" sz="2800" spc="1614">
                <a:latin typeface="Cambria Math"/>
                <a:cs typeface="Cambria Math"/>
              </a:rPr>
              <a:t>+</a:t>
            </a:r>
            <a:r>
              <a:rPr dirty="0" sz="2800" spc="160">
                <a:latin typeface="Cambria Math"/>
                <a:cs typeface="Cambria Math"/>
              </a:rPr>
              <a:t> </a:t>
            </a:r>
            <a:r>
              <a:rPr dirty="0" sz="2800" spc="-415">
                <a:latin typeface="Cambria Math"/>
                <a:cs typeface="Cambria Math"/>
              </a:rPr>
              <a:t>𝛽</a:t>
            </a:r>
            <a:r>
              <a:rPr dirty="0" baseline="29166" sz="3000" spc="-622">
                <a:latin typeface="Cambria Math"/>
                <a:cs typeface="Cambria Math"/>
              </a:rPr>
              <a:t>M</a:t>
            </a:r>
            <a:r>
              <a:rPr dirty="0" sz="2800" spc="-415">
                <a:latin typeface="Cambria Math"/>
                <a:cs typeface="Cambria Math"/>
              </a:rPr>
              <a:t>𝑨</a:t>
            </a:r>
            <a:r>
              <a:rPr dirty="0" baseline="29166" sz="3000" spc="-622">
                <a:latin typeface="Cambria Math"/>
                <a:cs typeface="Cambria Math"/>
              </a:rPr>
              <a:t>M                          </a:t>
            </a:r>
            <a:r>
              <a:rPr dirty="0" baseline="29166" sz="3000" spc="-607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	𝑰</a:t>
            </a:r>
            <a:r>
              <a:rPr dirty="0" sz="2800" spc="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− 𝛽𝑨	</a:t>
            </a:r>
            <a:r>
              <a:rPr dirty="0" baseline="29166" sz="3000" spc="637">
                <a:latin typeface="Cambria Math"/>
                <a:cs typeface="Cambria Math"/>
              </a:rPr>
              <a:t>N. </a:t>
            </a:r>
            <a:r>
              <a:rPr dirty="0" sz="2800">
                <a:latin typeface="Cambria Math"/>
                <a:cs typeface="Cambria Math"/>
              </a:rPr>
              <a:t>−</a:t>
            </a:r>
            <a:r>
              <a:rPr dirty="0" sz="2800" spc="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𝑰,</a:t>
            </a:r>
            <a:endParaRPr sz="2800">
              <a:latin typeface="Cambria Math"/>
              <a:cs typeface="Cambria Math"/>
            </a:endParaRPr>
          </a:p>
          <a:p>
            <a:pPr algn="ctr" marR="4881880">
              <a:lnSpc>
                <a:spcPct val="100000"/>
              </a:lnSpc>
              <a:spcBef>
                <a:spcPts val="990"/>
              </a:spcBef>
            </a:pPr>
            <a:r>
              <a:rPr dirty="0" sz="2000" spc="30">
                <a:latin typeface="Cambria Math"/>
                <a:cs typeface="Cambria Math"/>
              </a:rPr>
              <a:t>MK.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90878" y="5170096"/>
            <a:ext cx="1438910" cy="381635"/>
          </a:xfrm>
          <a:custGeom>
            <a:avLst/>
            <a:gdLst/>
            <a:ahLst/>
            <a:cxnLst/>
            <a:rect l="l" t="t" r="r" b="b"/>
            <a:pathLst>
              <a:path w="1438910" h="381635">
                <a:moveTo>
                  <a:pt x="1438322" y="1"/>
                </a:moveTo>
                <a:lnTo>
                  <a:pt x="1433284" y="50644"/>
                </a:lnTo>
                <a:lnTo>
                  <a:pt x="1419069" y="96151"/>
                </a:lnTo>
                <a:lnTo>
                  <a:pt x="1397019" y="134706"/>
                </a:lnTo>
                <a:lnTo>
                  <a:pt x="1368479" y="164493"/>
                </a:lnTo>
                <a:lnTo>
                  <a:pt x="1334794" y="183697"/>
                </a:lnTo>
                <a:lnTo>
                  <a:pt x="1297307" y="190502"/>
                </a:lnTo>
                <a:lnTo>
                  <a:pt x="860176" y="190500"/>
                </a:lnTo>
                <a:lnTo>
                  <a:pt x="822688" y="197305"/>
                </a:lnTo>
                <a:lnTo>
                  <a:pt x="789003" y="216509"/>
                </a:lnTo>
                <a:lnTo>
                  <a:pt x="760463" y="246297"/>
                </a:lnTo>
                <a:lnTo>
                  <a:pt x="738413" y="284852"/>
                </a:lnTo>
                <a:lnTo>
                  <a:pt x="724198" y="330358"/>
                </a:lnTo>
                <a:lnTo>
                  <a:pt x="719161" y="381001"/>
                </a:lnTo>
                <a:lnTo>
                  <a:pt x="714123" y="330358"/>
                </a:lnTo>
                <a:lnTo>
                  <a:pt x="699908" y="284852"/>
                </a:lnTo>
                <a:lnTo>
                  <a:pt x="677858" y="246297"/>
                </a:lnTo>
                <a:lnTo>
                  <a:pt x="649319" y="216509"/>
                </a:lnTo>
                <a:lnTo>
                  <a:pt x="615633" y="197305"/>
                </a:lnTo>
                <a:lnTo>
                  <a:pt x="578146" y="190500"/>
                </a:lnTo>
                <a:lnTo>
                  <a:pt x="141015" y="190500"/>
                </a:lnTo>
                <a:lnTo>
                  <a:pt x="103527" y="183695"/>
                </a:lnTo>
                <a:lnTo>
                  <a:pt x="69842" y="164491"/>
                </a:lnTo>
                <a:lnTo>
                  <a:pt x="41302" y="134704"/>
                </a:lnTo>
                <a:lnTo>
                  <a:pt x="19252" y="96149"/>
                </a:lnTo>
                <a:lnTo>
                  <a:pt x="5037" y="50642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723815" y="5751067"/>
            <a:ext cx="405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80">
                <a:solidFill>
                  <a:srgbClr val="008000"/>
                </a:solidFill>
                <a:latin typeface="Cambria Math"/>
                <a:cs typeface="Cambria Math"/>
              </a:rPr>
              <a:t>&gt;</a:t>
            </a:r>
            <a:r>
              <a:rPr dirty="0" sz="1800" spc="505">
                <a:solidFill>
                  <a:srgbClr val="008000"/>
                </a:solidFill>
                <a:latin typeface="Cambria Math"/>
                <a:cs typeface="Cambria Math"/>
              </a:rPr>
              <a:t>?</a:t>
            </a:r>
            <a:r>
              <a:rPr dirty="0" sz="1800" spc="-555">
                <a:solidFill>
                  <a:srgbClr val="008000"/>
                </a:solidFill>
                <a:latin typeface="Cambria Math"/>
                <a:cs typeface="Cambria Math"/>
              </a:rPr>
              <a:t>@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96195" y="5598667"/>
            <a:ext cx="764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=</a:t>
            </a:r>
            <a:r>
              <a:rPr dirty="0" sz="2400" spc="25">
                <a:solidFill>
                  <a:srgbClr val="008000"/>
                </a:solidFill>
                <a:latin typeface="Cambria Math"/>
                <a:cs typeface="Cambria Math"/>
              </a:rPr>
              <a:t> </a:t>
            </a:r>
            <a:r>
              <a:rPr dirty="0" baseline="2314" sz="3600" spc="397">
                <a:solidFill>
                  <a:srgbClr val="008000"/>
                </a:solidFill>
                <a:latin typeface="Cambria Math"/>
                <a:cs typeface="Cambria Math"/>
              </a:rPr>
              <a:t>∑</a:t>
            </a:r>
            <a:r>
              <a:rPr dirty="0" baseline="29320" sz="2700" spc="397">
                <a:solidFill>
                  <a:srgbClr val="008000"/>
                </a:solidFill>
                <a:latin typeface="Cambria Math"/>
                <a:cs typeface="Cambria Math"/>
              </a:rPr>
              <a:t>A</a:t>
            </a:r>
            <a:endParaRPr baseline="29320" sz="27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50535" y="5488940"/>
            <a:ext cx="598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19675" sz="3600" spc="-480">
                <a:solidFill>
                  <a:srgbClr val="008000"/>
                </a:solidFill>
                <a:latin typeface="Cambria Math"/>
                <a:cs typeface="Cambria Math"/>
              </a:rPr>
              <a:t>𝛽</a:t>
            </a:r>
            <a:r>
              <a:rPr dirty="0" sz="1800" spc="-320">
                <a:solidFill>
                  <a:srgbClr val="008000"/>
                </a:solidFill>
                <a:latin typeface="Cambria Math"/>
                <a:cs typeface="Cambria Math"/>
              </a:rPr>
              <a:t>&gt;</a:t>
            </a:r>
            <a:r>
              <a:rPr dirty="0" baseline="-19675" sz="3600" spc="-480">
                <a:solidFill>
                  <a:srgbClr val="008000"/>
                </a:solidFill>
                <a:latin typeface="Cambria Math"/>
                <a:cs typeface="Cambria Math"/>
              </a:rPr>
              <a:t>𝑨</a:t>
            </a:r>
            <a:r>
              <a:rPr dirty="0" sz="1800" spc="-320">
                <a:solidFill>
                  <a:srgbClr val="008000"/>
                </a:solidFill>
                <a:latin typeface="Cambria Math"/>
                <a:cs typeface="Cambria Math"/>
              </a:rPr>
              <a:t>&gt;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6195" y="5979667"/>
            <a:ext cx="42456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by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geometric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series of</a:t>
            </a:r>
            <a:r>
              <a:rPr dirty="0" sz="2400" spc="-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matrices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67669" y="2608258"/>
            <a:ext cx="855344" cy="581025"/>
          </a:xfrm>
          <a:custGeom>
            <a:avLst/>
            <a:gdLst/>
            <a:ahLst/>
            <a:cxnLst/>
            <a:rect l="l" t="t" r="r" b="b"/>
            <a:pathLst>
              <a:path w="855345" h="581025">
                <a:moveTo>
                  <a:pt x="0" y="0"/>
                </a:moveTo>
                <a:lnTo>
                  <a:pt x="855271" y="0"/>
                </a:lnTo>
                <a:lnTo>
                  <a:pt x="855271" y="580768"/>
                </a:lnTo>
                <a:lnTo>
                  <a:pt x="0" y="58076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746120" y="2376932"/>
            <a:ext cx="2448560" cy="748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#paths </a:t>
            </a:r>
            <a:r>
              <a:rPr dirty="0" sz="240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length</a:t>
            </a:r>
            <a:r>
              <a:rPr dirty="0" sz="24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008000"/>
                </a:solidFill>
                <a:latin typeface="Cambria Math"/>
                <a:cs typeface="Cambria Math"/>
              </a:rPr>
              <a:t>𝑙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5"/>
              </a:lnSpc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between </a:t>
            </a:r>
            <a:r>
              <a:rPr dirty="0" sz="2400" spc="-80">
                <a:solidFill>
                  <a:srgbClr val="008000"/>
                </a:solidFill>
                <a:latin typeface="Cambria Math"/>
                <a:cs typeface="Cambria Math"/>
              </a:rPr>
              <a:t>𝑣</a:t>
            </a:r>
            <a:r>
              <a:rPr dirty="0" baseline="-15432" sz="2700" spc="-120">
                <a:solidFill>
                  <a:srgbClr val="008000"/>
                </a:solidFill>
                <a:latin typeface="Cambria Math"/>
                <a:cs typeface="Cambria Math"/>
              </a:rPr>
              <a:t># </a:t>
            </a:r>
            <a:r>
              <a:rPr dirty="0" sz="2400" spc="-5">
                <a:solidFill>
                  <a:srgbClr val="008000"/>
                </a:solidFill>
                <a:latin typeface="Corbel"/>
                <a:cs typeface="Corbel"/>
              </a:rPr>
              <a:t>and</a:t>
            </a:r>
            <a:r>
              <a:rPr dirty="0" sz="2400" spc="25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2400" spc="0">
                <a:solidFill>
                  <a:srgbClr val="008000"/>
                </a:solidFill>
                <a:latin typeface="Cambria Math"/>
                <a:cs typeface="Cambria Math"/>
              </a:rPr>
              <a:t>𝑣</a:t>
            </a:r>
            <a:r>
              <a:rPr dirty="0" baseline="-15432" sz="2700" spc="0">
                <a:solidFill>
                  <a:srgbClr val="008000"/>
                </a:solidFill>
                <a:latin typeface="Cambria Math"/>
                <a:cs typeface="Cambria Math"/>
              </a:rPr>
              <a:t>3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8575">
              <a:lnSpc>
                <a:spcPts val="950"/>
              </a:lnSpc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1744614" y="1919732"/>
            <a:ext cx="37306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Arial"/>
                <a:cs typeface="Arial"/>
              </a:rPr>
              <a:t>Sum over </a:t>
            </a:r>
            <a:r>
              <a:rPr dirty="0" sz="2400" spc="-5" b="1" i="1">
                <a:latin typeface="Arial"/>
                <a:cs typeface="Arial"/>
              </a:rPr>
              <a:t>all path</a:t>
            </a:r>
            <a:r>
              <a:rPr dirty="0" sz="2400" spc="-55" b="1" i="1">
                <a:latin typeface="Arial"/>
                <a:cs typeface="Arial"/>
              </a:rPr>
              <a:t> </a:t>
            </a:r>
            <a:r>
              <a:rPr dirty="0" sz="2400" spc="-5" b="1" i="1">
                <a:latin typeface="Arial"/>
                <a:cs typeface="Arial"/>
              </a:rPr>
              <a:t>lengths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449311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84732"/>
            <a:ext cx="45072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6BB76D"/>
                </a:solidFill>
              </a:rPr>
              <a:t>Distance-based</a:t>
            </a:r>
            <a:r>
              <a:rPr dirty="0" spc="-35">
                <a:solidFill>
                  <a:srgbClr val="6BB76D"/>
                </a:solidFill>
              </a:rPr>
              <a:t> </a:t>
            </a:r>
            <a:r>
              <a:rPr dirty="0" spc="-20">
                <a:solidFill>
                  <a:srgbClr val="6BB76D"/>
                </a:solidFill>
              </a:rPr>
              <a:t>features: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73615" y="6723724"/>
            <a:ext cx="440182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 Graphs,</a:t>
            </a:r>
            <a:r>
              <a:rPr dirty="0" sz="900" spc="5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6522" y="6723724"/>
            <a:ext cx="14287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40</a:t>
            </a:r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853691"/>
            <a:ext cx="8121015" cy="47593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625475" marR="236854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Uses the </a:t>
            </a:r>
            <a:r>
              <a:rPr dirty="0" sz="2800" spc="-10">
                <a:latin typeface="Calibri"/>
                <a:cs typeface="Calibri"/>
              </a:rPr>
              <a:t>shortest path </a:t>
            </a:r>
            <a:r>
              <a:rPr dirty="0" sz="2800" spc="-15">
                <a:latin typeface="Calibri"/>
                <a:cs typeface="Calibri"/>
              </a:rPr>
              <a:t>length </a:t>
            </a:r>
            <a:r>
              <a:rPr dirty="0" sz="2800" spc="-10">
                <a:latin typeface="Calibri"/>
                <a:cs typeface="Calibri"/>
              </a:rPr>
              <a:t>between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40">
                <a:latin typeface="Calibri"/>
                <a:cs typeface="Calibri"/>
              </a:rPr>
              <a:t>nodes  </a:t>
            </a: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5">
                <a:latin typeface="Calibri"/>
                <a:cs typeface="Calibri"/>
              </a:rPr>
              <a:t>does not </a:t>
            </a:r>
            <a:r>
              <a:rPr dirty="0" sz="2800" spc="-15">
                <a:latin typeface="Calibri"/>
                <a:cs typeface="Calibri"/>
              </a:rPr>
              <a:t>capture </a:t>
            </a:r>
            <a:r>
              <a:rPr dirty="0" sz="2800" spc="-5">
                <a:latin typeface="Calibri"/>
                <a:cs typeface="Calibri"/>
              </a:rPr>
              <a:t>how neighborhood</a:t>
            </a:r>
            <a:r>
              <a:rPr dirty="0" sz="2800" spc="-1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overlaps.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Local </a:t>
            </a: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neighborhood</a:t>
            </a:r>
            <a:r>
              <a:rPr dirty="0" sz="3200" spc="-55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overlap:</a:t>
            </a:r>
            <a:endParaRPr sz="3200">
              <a:latin typeface="Calibri"/>
              <a:cs typeface="Calibri"/>
            </a:endParaRPr>
          </a:p>
          <a:p>
            <a:pPr lvl="1" marL="625475" marR="234315" indent="-274320">
              <a:lnSpc>
                <a:spcPts val="3310"/>
              </a:lnSpc>
              <a:spcBef>
                <a:spcPts val="91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Captures </a:t>
            </a: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5">
                <a:latin typeface="Calibri"/>
                <a:cs typeface="Calibri"/>
              </a:rPr>
              <a:t>neighboring nodes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114">
                <a:latin typeface="Calibri"/>
                <a:cs typeface="Calibri"/>
              </a:rPr>
              <a:t>shared  </a:t>
            </a:r>
            <a:r>
              <a:rPr dirty="0" sz="2800" spc="-5">
                <a:latin typeface="Calibri"/>
                <a:cs typeface="Calibri"/>
              </a:rPr>
              <a:t>by </a:t>
            </a:r>
            <a:r>
              <a:rPr dirty="0" sz="2800" spc="-10">
                <a:latin typeface="Calibri"/>
                <a:cs typeface="Calibri"/>
              </a:rPr>
              <a:t>two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ts val="3329"/>
              </a:lnSpc>
              <a:spcBef>
                <a:spcPts val="6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Becomes </a:t>
            </a:r>
            <a:r>
              <a:rPr dirty="0" sz="2800" spc="-35">
                <a:latin typeface="Calibri"/>
                <a:cs typeface="Calibri"/>
              </a:rPr>
              <a:t>zero </a:t>
            </a:r>
            <a:r>
              <a:rPr dirty="0" sz="2800" spc="-5">
                <a:latin typeface="Calibri"/>
                <a:cs typeface="Calibri"/>
              </a:rPr>
              <a:t>when </a:t>
            </a:r>
            <a:r>
              <a:rPr dirty="0" sz="2800">
                <a:latin typeface="Calibri"/>
                <a:cs typeface="Calibri"/>
              </a:rPr>
              <a:t>no </a:t>
            </a:r>
            <a:r>
              <a:rPr dirty="0" sz="2800" spc="-5">
                <a:latin typeface="Calibri"/>
                <a:cs typeface="Calibri"/>
              </a:rPr>
              <a:t>neighbor nodes </a:t>
            </a:r>
            <a:r>
              <a:rPr dirty="0" sz="2800" spc="-15">
                <a:latin typeface="Calibri"/>
                <a:cs typeface="Calibri"/>
              </a:rPr>
              <a:t>are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shared.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Global neighborhood</a:t>
            </a:r>
            <a:r>
              <a:rPr dirty="0" sz="3200" spc="-7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overlap: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Uses global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10">
                <a:latin typeface="Calibri"/>
                <a:cs typeface="Calibri"/>
              </a:rPr>
              <a:t>structure </a:t>
            </a:r>
            <a:r>
              <a:rPr dirty="0" sz="2800" spc="-15">
                <a:latin typeface="Calibri"/>
                <a:cs typeface="Calibri"/>
              </a:rPr>
              <a:t>to score two</a:t>
            </a:r>
            <a:r>
              <a:rPr dirty="0" sz="2800" spc="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lvl="1" marL="625475" marR="5080" indent="-274320">
              <a:lnSpc>
                <a:spcPts val="3310"/>
              </a:lnSpc>
              <a:spcBef>
                <a:spcPts val="86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5">
                <a:latin typeface="Calibri"/>
                <a:cs typeface="Calibri"/>
              </a:rPr>
              <a:t>Katz </a:t>
            </a:r>
            <a:r>
              <a:rPr dirty="0" sz="2800" spc="-15">
                <a:latin typeface="Calibri"/>
                <a:cs typeface="Calibri"/>
              </a:rPr>
              <a:t>index </a:t>
            </a:r>
            <a:r>
              <a:rPr dirty="0" sz="2800" spc="-10">
                <a:latin typeface="Calibri"/>
                <a:cs typeface="Calibri"/>
              </a:rPr>
              <a:t>counts #paths </a:t>
            </a:r>
            <a:r>
              <a:rPr dirty="0" sz="2800" spc="-5">
                <a:latin typeface="Calibri"/>
                <a:cs typeface="Calibri"/>
              </a:rPr>
              <a:t>of all </a:t>
            </a:r>
            <a:r>
              <a:rPr dirty="0" sz="2800" spc="-15">
                <a:latin typeface="Calibri"/>
                <a:cs typeface="Calibri"/>
              </a:rPr>
              <a:t>lengths between </a:t>
            </a:r>
            <a:r>
              <a:rPr dirty="0" sz="2800" spc="-200">
                <a:latin typeface="Calibri"/>
                <a:cs typeface="Calibri"/>
              </a:rPr>
              <a:t>two 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2788920"/>
            <a:ext cx="6297168" cy="2225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78628"/>
            <a:ext cx="5547995" cy="12496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CS224W: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Machine Learning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with Graphs 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Jure 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Stanford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3200" spc="-15">
                <a:solidFill>
                  <a:srgbClr val="FFFFFF"/>
                </a:solidFill>
                <a:latin typeface="Arial"/>
                <a:cs typeface="Arial"/>
                <a:hlinkClick r:id="rId5"/>
              </a:rPr>
              <a:t>http://cs224w.stanford.edu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25170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7546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/>
              <a:t>Goal: 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want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features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that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characterize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structure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an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entire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2808732"/>
            <a:ext cx="252793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latin typeface="Calibri"/>
                <a:cs typeface="Calibri"/>
              </a:rPr>
              <a:t>For</a:t>
            </a:r>
            <a:r>
              <a:rPr dirty="0" sz="3200" spc="-8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example: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2841" y="4216825"/>
            <a:ext cx="906144" cy="828040"/>
          </a:xfrm>
          <a:custGeom>
            <a:avLst/>
            <a:gdLst/>
            <a:ahLst/>
            <a:cxnLst/>
            <a:rect l="l" t="t" r="r" b="b"/>
            <a:pathLst>
              <a:path w="906144" h="828039">
                <a:moveTo>
                  <a:pt x="0" y="0"/>
                </a:moveTo>
                <a:lnTo>
                  <a:pt x="905710" y="82756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95929" y="3651969"/>
            <a:ext cx="314325" cy="1557020"/>
          </a:xfrm>
          <a:custGeom>
            <a:avLst/>
            <a:gdLst/>
            <a:ahLst/>
            <a:cxnLst/>
            <a:rect l="l" t="t" r="r" b="b"/>
            <a:pathLst>
              <a:path w="314325" h="1557020">
                <a:moveTo>
                  <a:pt x="0" y="1556998"/>
                </a:moveTo>
                <a:lnTo>
                  <a:pt x="313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87147" y="3909495"/>
            <a:ext cx="1395730" cy="583565"/>
          </a:xfrm>
          <a:custGeom>
            <a:avLst/>
            <a:gdLst/>
            <a:ahLst/>
            <a:cxnLst/>
            <a:rect l="l" t="t" r="r" b="b"/>
            <a:pathLst>
              <a:path w="1395729" h="583564">
                <a:moveTo>
                  <a:pt x="0" y="583385"/>
                </a:moveTo>
                <a:lnTo>
                  <a:pt x="13957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87579" y="4499788"/>
            <a:ext cx="1120140" cy="479425"/>
          </a:xfrm>
          <a:custGeom>
            <a:avLst/>
            <a:gdLst/>
            <a:ahLst/>
            <a:cxnLst/>
            <a:rect l="l" t="t" r="r" b="b"/>
            <a:pathLst>
              <a:path w="1120139" h="479425">
                <a:moveTo>
                  <a:pt x="0" y="0"/>
                </a:moveTo>
                <a:lnTo>
                  <a:pt x="1119841" y="4790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14816" y="4499564"/>
            <a:ext cx="649605" cy="635"/>
          </a:xfrm>
          <a:custGeom>
            <a:avLst/>
            <a:gdLst/>
            <a:ahLst/>
            <a:cxnLst/>
            <a:rect l="l" t="t" r="r" b="b"/>
            <a:pathLst>
              <a:path w="649604" h="635">
                <a:moveTo>
                  <a:pt x="0" y="628"/>
                </a:moveTo>
                <a:lnTo>
                  <a:pt x="64959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87147" y="4732736"/>
            <a:ext cx="195580" cy="819785"/>
          </a:xfrm>
          <a:custGeom>
            <a:avLst/>
            <a:gdLst/>
            <a:ahLst/>
            <a:cxnLst/>
            <a:rect l="l" t="t" r="r" b="b"/>
            <a:pathLst>
              <a:path w="195579" h="819785">
                <a:moveTo>
                  <a:pt x="0" y="0"/>
                </a:moveTo>
                <a:lnTo>
                  <a:pt x="195549" y="81962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09776" y="3592786"/>
            <a:ext cx="635000" cy="962025"/>
          </a:xfrm>
          <a:custGeom>
            <a:avLst/>
            <a:gdLst/>
            <a:ahLst/>
            <a:cxnLst/>
            <a:rect l="l" t="t" r="r" b="b"/>
            <a:pathLst>
              <a:path w="635000" h="962025">
                <a:moveTo>
                  <a:pt x="634387" y="96195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96111" y="4719613"/>
            <a:ext cx="790575" cy="505459"/>
          </a:xfrm>
          <a:custGeom>
            <a:avLst/>
            <a:gdLst/>
            <a:ahLst/>
            <a:cxnLst/>
            <a:rect l="l" t="t" r="r" b="b"/>
            <a:pathLst>
              <a:path w="790575" h="505460">
                <a:moveTo>
                  <a:pt x="0" y="505457"/>
                </a:moveTo>
                <a:lnTo>
                  <a:pt x="79054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73189" y="4975796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2"/>
                </a:lnTo>
                <a:lnTo>
                  <a:pt x="17504" y="323931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8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8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1"/>
                </a:lnTo>
                <a:lnTo>
                  <a:pt x="440955" y="280162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973189" y="4975796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100679" y="5059171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752600" y="381877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1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52600" y="3818775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69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886440" y="390093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87036" y="335961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39" y="448020"/>
                </a:lnTo>
                <a:lnTo>
                  <a:pt x="177850" y="461606"/>
                </a:lnTo>
                <a:lnTo>
                  <a:pt x="222740" y="466344"/>
                </a:lnTo>
                <a:lnTo>
                  <a:pt x="267630" y="461606"/>
                </a:lnTo>
                <a:lnTo>
                  <a:pt x="309440" y="448020"/>
                </a:lnTo>
                <a:lnTo>
                  <a:pt x="347276" y="426521"/>
                </a:lnTo>
                <a:lnTo>
                  <a:pt x="380241" y="398049"/>
                </a:lnTo>
                <a:lnTo>
                  <a:pt x="407439" y="363540"/>
                </a:lnTo>
                <a:lnTo>
                  <a:pt x="427976" y="323932"/>
                </a:lnTo>
                <a:lnTo>
                  <a:pt x="440955" y="280164"/>
                </a:lnTo>
                <a:lnTo>
                  <a:pt x="445480" y="233172"/>
                </a:lnTo>
                <a:lnTo>
                  <a:pt x="440955" y="186179"/>
                </a:lnTo>
                <a:lnTo>
                  <a:pt x="427976" y="142411"/>
                </a:lnTo>
                <a:lnTo>
                  <a:pt x="407439" y="102803"/>
                </a:lnTo>
                <a:lnTo>
                  <a:pt x="380241" y="68294"/>
                </a:lnTo>
                <a:lnTo>
                  <a:pt x="347276" y="39822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87036" y="3359613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420877" y="344373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21419" y="432156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40" y="448019"/>
                </a:lnTo>
                <a:lnTo>
                  <a:pt x="177851" y="461605"/>
                </a:lnTo>
                <a:lnTo>
                  <a:pt x="222741" y="466342"/>
                </a:lnTo>
                <a:lnTo>
                  <a:pt x="267631" y="461605"/>
                </a:lnTo>
                <a:lnTo>
                  <a:pt x="309442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21419" y="4321564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048909" y="4403852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64407" y="426639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1"/>
                </a:lnTo>
                <a:lnTo>
                  <a:pt x="4525" y="186179"/>
                </a:lnTo>
                <a:lnTo>
                  <a:pt x="0" y="233172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40" y="448020"/>
                </a:lnTo>
                <a:lnTo>
                  <a:pt x="177851" y="461606"/>
                </a:lnTo>
                <a:lnTo>
                  <a:pt x="222741" y="466344"/>
                </a:lnTo>
                <a:lnTo>
                  <a:pt x="267631" y="461606"/>
                </a:lnTo>
                <a:lnTo>
                  <a:pt x="309442" y="448020"/>
                </a:lnTo>
                <a:lnTo>
                  <a:pt x="347277" y="426521"/>
                </a:lnTo>
                <a:lnTo>
                  <a:pt x="380242" y="398049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2"/>
                </a:lnTo>
                <a:lnTo>
                  <a:pt x="440956" y="186179"/>
                </a:lnTo>
                <a:lnTo>
                  <a:pt x="427977" y="142411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864407" y="426639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998247" y="434898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217458" y="548406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1" y="0"/>
                </a:moveTo>
                <a:lnTo>
                  <a:pt x="177851" y="4737"/>
                </a:lnTo>
                <a:lnTo>
                  <a:pt x="136040" y="18323"/>
                </a:lnTo>
                <a:lnTo>
                  <a:pt x="98204" y="39822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9"/>
                </a:lnTo>
                <a:lnTo>
                  <a:pt x="98204" y="426521"/>
                </a:lnTo>
                <a:lnTo>
                  <a:pt x="136040" y="448019"/>
                </a:lnTo>
                <a:lnTo>
                  <a:pt x="177851" y="461606"/>
                </a:lnTo>
                <a:lnTo>
                  <a:pt x="222741" y="466343"/>
                </a:lnTo>
                <a:lnTo>
                  <a:pt x="267631" y="461606"/>
                </a:lnTo>
                <a:lnTo>
                  <a:pt x="309442" y="448019"/>
                </a:lnTo>
                <a:lnTo>
                  <a:pt x="347277" y="426521"/>
                </a:lnTo>
                <a:lnTo>
                  <a:pt x="380242" y="398049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2"/>
                </a:lnTo>
                <a:lnTo>
                  <a:pt x="309442" y="18323"/>
                </a:lnTo>
                <a:lnTo>
                  <a:pt x="267631" y="4737"/>
                </a:lnTo>
                <a:lnTo>
                  <a:pt x="2227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217458" y="5484069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344948" y="5568188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60118" y="3651968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3"/>
                </a:lnTo>
                <a:lnTo>
                  <a:pt x="17504" y="142410"/>
                </a:lnTo>
                <a:lnTo>
                  <a:pt x="4525" y="186179"/>
                </a:lnTo>
                <a:lnTo>
                  <a:pt x="0" y="233171"/>
                </a:lnTo>
                <a:lnTo>
                  <a:pt x="4525" y="280164"/>
                </a:lnTo>
                <a:lnTo>
                  <a:pt x="17504" y="323932"/>
                </a:lnTo>
                <a:lnTo>
                  <a:pt x="38040" y="363540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1" y="448019"/>
                </a:lnTo>
                <a:lnTo>
                  <a:pt x="347277" y="426520"/>
                </a:lnTo>
                <a:lnTo>
                  <a:pt x="380242" y="398048"/>
                </a:lnTo>
                <a:lnTo>
                  <a:pt x="407441" y="363540"/>
                </a:lnTo>
                <a:lnTo>
                  <a:pt x="427977" y="323932"/>
                </a:lnTo>
                <a:lnTo>
                  <a:pt x="440956" y="280164"/>
                </a:lnTo>
                <a:lnTo>
                  <a:pt x="445481" y="233171"/>
                </a:lnTo>
                <a:lnTo>
                  <a:pt x="440956" y="186179"/>
                </a:lnTo>
                <a:lnTo>
                  <a:pt x="427977" y="142410"/>
                </a:lnTo>
                <a:lnTo>
                  <a:pt x="407441" y="102803"/>
                </a:lnTo>
                <a:lnTo>
                  <a:pt x="380242" y="68294"/>
                </a:lnTo>
                <a:lnTo>
                  <a:pt x="347277" y="39821"/>
                </a:lnTo>
                <a:lnTo>
                  <a:pt x="309441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260118" y="3651968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400308" y="3736340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07422" y="474570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222740" y="0"/>
                </a:moveTo>
                <a:lnTo>
                  <a:pt x="177850" y="4737"/>
                </a:lnTo>
                <a:lnTo>
                  <a:pt x="136039" y="18323"/>
                </a:lnTo>
                <a:lnTo>
                  <a:pt x="98204" y="39821"/>
                </a:lnTo>
                <a:lnTo>
                  <a:pt x="65239" y="68294"/>
                </a:lnTo>
                <a:lnTo>
                  <a:pt x="38040" y="102802"/>
                </a:lnTo>
                <a:lnTo>
                  <a:pt x="17504" y="142410"/>
                </a:lnTo>
                <a:lnTo>
                  <a:pt x="4525" y="186178"/>
                </a:lnTo>
                <a:lnTo>
                  <a:pt x="0" y="233170"/>
                </a:lnTo>
                <a:lnTo>
                  <a:pt x="4525" y="280163"/>
                </a:lnTo>
                <a:lnTo>
                  <a:pt x="17504" y="323932"/>
                </a:lnTo>
                <a:lnTo>
                  <a:pt x="38040" y="363539"/>
                </a:lnTo>
                <a:lnTo>
                  <a:pt x="65239" y="398048"/>
                </a:lnTo>
                <a:lnTo>
                  <a:pt x="98204" y="426520"/>
                </a:lnTo>
                <a:lnTo>
                  <a:pt x="136039" y="448019"/>
                </a:lnTo>
                <a:lnTo>
                  <a:pt x="177850" y="461605"/>
                </a:lnTo>
                <a:lnTo>
                  <a:pt x="222740" y="466342"/>
                </a:lnTo>
                <a:lnTo>
                  <a:pt x="267630" y="461605"/>
                </a:lnTo>
                <a:lnTo>
                  <a:pt x="309440" y="448019"/>
                </a:lnTo>
                <a:lnTo>
                  <a:pt x="347276" y="426520"/>
                </a:lnTo>
                <a:lnTo>
                  <a:pt x="380241" y="398048"/>
                </a:lnTo>
                <a:lnTo>
                  <a:pt x="407439" y="363539"/>
                </a:lnTo>
                <a:lnTo>
                  <a:pt x="427976" y="323932"/>
                </a:lnTo>
                <a:lnTo>
                  <a:pt x="440955" y="280163"/>
                </a:lnTo>
                <a:lnTo>
                  <a:pt x="445480" y="233170"/>
                </a:lnTo>
                <a:lnTo>
                  <a:pt x="440955" y="186178"/>
                </a:lnTo>
                <a:lnTo>
                  <a:pt x="427976" y="142410"/>
                </a:lnTo>
                <a:lnTo>
                  <a:pt x="407439" y="102802"/>
                </a:lnTo>
                <a:lnTo>
                  <a:pt x="380241" y="68294"/>
                </a:lnTo>
                <a:lnTo>
                  <a:pt x="347276" y="39821"/>
                </a:lnTo>
                <a:lnTo>
                  <a:pt x="309440" y="18323"/>
                </a:lnTo>
                <a:lnTo>
                  <a:pt x="267630" y="4737"/>
                </a:lnTo>
                <a:lnTo>
                  <a:pt x="2227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207422" y="4745702"/>
            <a:ext cx="445770" cy="466725"/>
          </a:xfrm>
          <a:custGeom>
            <a:avLst/>
            <a:gdLst/>
            <a:ahLst/>
            <a:cxnLst/>
            <a:rect l="l" t="t" r="r" b="b"/>
            <a:pathLst>
              <a:path w="445770" h="466725">
                <a:moveTo>
                  <a:pt x="0" y="233171"/>
                </a:moveTo>
                <a:lnTo>
                  <a:pt x="4525" y="186179"/>
                </a:lnTo>
                <a:lnTo>
                  <a:pt x="17504" y="142410"/>
                </a:lnTo>
                <a:lnTo>
                  <a:pt x="38040" y="102803"/>
                </a:lnTo>
                <a:lnTo>
                  <a:pt x="65239" y="68294"/>
                </a:lnTo>
                <a:lnTo>
                  <a:pt x="98204" y="39822"/>
                </a:lnTo>
                <a:lnTo>
                  <a:pt x="136039" y="18323"/>
                </a:lnTo>
                <a:lnTo>
                  <a:pt x="177850" y="4737"/>
                </a:lnTo>
                <a:lnTo>
                  <a:pt x="222740" y="0"/>
                </a:lnTo>
                <a:lnTo>
                  <a:pt x="267630" y="4737"/>
                </a:lnTo>
                <a:lnTo>
                  <a:pt x="309441" y="18323"/>
                </a:lnTo>
                <a:lnTo>
                  <a:pt x="347276" y="39822"/>
                </a:lnTo>
                <a:lnTo>
                  <a:pt x="380241" y="68294"/>
                </a:lnTo>
                <a:lnTo>
                  <a:pt x="407440" y="102803"/>
                </a:lnTo>
                <a:lnTo>
                  <a:pt x="427976" y="142410"/>
                </a:lnTo>
                <a:lnTo>
                  <a:pt x="440955" y="186179"/>
                </a:lnTo>
                <a:lnTo>
                  <a:pt x="445481" y="233171"/>
                </a:lnTo>
                <a:lnTo>
                  <a:pt x="440955" y="280163"/>
                </a:lnTo>
                <a:lnTo>
                  <a:pt x="427976" y="323932"/>
                </a:lnTo>
                <a:lnTo>
                  <a:pt x="407440" y="363539"/>
                </a:lnTo>
                <a:lnTo>
                  <a:pt x="380241" y="398048"/>
                </a:lnTo>
                <a:lnTo>
                  <a:pt x="347276" y="426520"/>
                </a:lnTo>
                <a:lnTo>
                  <a:pt x="309441" y="448019"/>
                </a:lnTo>
                <a:lnTo>
                  <a:pt x="267630" y="461605"/>
                </a:lnTo>
                <a:lnTo>
                  <a:pt x="222740" y="466343"/>
                </a:lnTo>
                <a:lnTo>
                  <a:pt x="177850" y="461605"/>
                </a:lnTo>
                <a:lnTo>
                  <a:pt x="136039" y="448019"/>
                </a:lnTo>
                <a:lnTo>
                  <a:pt x="98204" y="426520"/>
                </a:lnTo>
                <a:lnTo>
                  <a:pt x="65239" y="398048"/>
                </a:lnTo>
                <a:lnTo>
                  <a:pt x="38040" y="363539"/>
                </a:lnTo>
                <a:lnTo>
                  <a:pt x="17504" y="323932"/>
                </a:lnTo>
                <a:lnTo>
                  <a:pt x="4525" y="280163"/>
                </a:lnTo>
                <a:lnTo>
                  <a:pt x="0" y="23317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328562" y="4827523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64594" y="3626501"/>
            <a:ext cx="1120140" cy="323850"/>
          </a:xfrm>
          <a:custGeom>
            <a:avLst/>
            <a:gdLst/>
            <a:ahLst/>
            <a:cxnLst/>
            <a:rect l="l" t="t" r="r" b="b"/>
            <a:pathLst>
              <a:path w="1120139" h="323850">
                <a:moveTo>
                  <a:pt x="0" y="323594"/>
                </a:moveTo>
                <a:lnTo>
                  <a:pt x="11196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430162" y="4144488"/>
            <a:ext cx="52705" cy="601345"/>
          </a:xfrm>
          <a:custGeom>
            <a:avLst/>
            <a:gdLst/>
            <a:ahLst/>
            <a:cxnLst/>
            <a:rect l="l" t="t" r="r" b="b"/>
            <a:pathLst>
              <a:path w="52704" h="601345">
                <a:moveTo>
                  <a:pt x="0" y="601214"/>
                </a:moveTo>
                <a:lnTo>
                  <a:pt x="5269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40200" y="4050017"/>
            <a:ext cx="885190" cy="1434465"/>
          </a:xfrm>
          <a:custGeom>
            <a:avLst/>
            <a:gdLst/>
            <a:ahLst/>
            <a:cxnLst/>
            <a:rect l="l" t="t" r="r" b="b"/>
            <a:pathLst>
              <a:path w="885189" h="1434464">
                <a:moveTo>
                  <a:pt x="0" y="1434052"/>
                </a:moveTo>
                <a:lnTo>
                  <a:pt x="88515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662939" y="5143751"/>
            <a:ext cx="610235" cy="574040"/>
          </a:xfrm>
          <a:custGeom>
            <a:avLst/>
            <a:gdLst/>
            <a:ahLst/>
            <a:cxnLst/>
            <a:rect l="l" t="t" r="r" b="b"/>
            <a:pathLst>
              <a:path w="610235" h="574039">
                <a:moveTo>
                  <a:pt x="0" y="573490"/>
                </a:moveTo>
                <a:lnTo>
                  <a:pt x="60972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703822" y="6723724"/>
            <a:ext cx="16891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44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7472"/>
            <a:ext cx="7092696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5076" y="1263396"/>
            <a:ext cx="8227059" cy="1491615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145415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6BB76D"/>
                </a:solidFill>
              </a:rPr>
              <a:t>Kernel </a:t>
            </a:r>
            <a:r>
              <a:rPr dirty="0" spc="-10">
                <a:solidFill>
                  <a:srgbClr val="6BB76D"/>
                </a:solidFill>
              </a:rPr>
              <a:t>methods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are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widely-used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traditional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ML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graph-level</a:t>
            </a:r>
            <a:r>
              <a:rPr dirty="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prediction.</a:t>
            </a: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Idea: Design </a:t>
            </a:r>
            <a:r>
              <a:rPr dirty="0" spc="-15">
                <a:solidFill>
                  <a:srgbClr val="C00000"/>
                </a:solidFill>
              </a:rPr>
              <a:t>kernels instead </a:t>
            </a:r>
            <a:r>
              <a:rPr dirty="0">
                <a:solidFill>
                  <a:srgbClr val="C00000"/>
                </a:solidFill>
              </a:rPr>
              <a:t>of </a:t>
            </a:r>
            <a:r>
              <a:rPr dirty="0" spc="-20">
                <a:solidFill>
                  <a:srgbClr val="C00000"/>
                </a:solidFill>
              </a:rPr>
              <a:t>feature</a:t>
            </a:r>
            <a:r>
              <a:rPr dirty="0" spc="-30">
                <a:solidFill>
                  <a:srgbClr val="C00000"/>
                </a:solidFill>
              </a:rPr>
              <a:t> </a:t>
            </a:r>
            <a:r>
              <a:rPr dirty="0" spc="-15">
                <a:solidFill>
                  <a:srgbClr val="C00000"/>
                </a:solidFill>
              </a:rPr>
              <a:t>vectors</a:t>
            </a:r>
            <a:r>
              <a:rPr dirty="0" spc="-15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5076" y="2723388"/>
            <a:ext cx="56730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A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quick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introduction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to</a:t>
            </a:r>
            <a:r>
              <a:rPr dirty="0" sz="3200" spc="-35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Kernels: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7667" y="3394474"/>
            <a:ext cx="922655" cy="318135"/>
          </a:xfrm>
          <a:custGeom>
            <a:avLst/>
            <a:gdLst/>
            <a:ahLst/>
            <a:cxnLst/>
            <a:rect l="l" t="t" r="r" b="b"/>
            <a:pathLst>
              <a:path w="922654" h="318135">
                <a:moveTo>
                  <a:pt x="820914" y="0"/>
                </a:moveTo>
                <a:lnTo>
                  <a:pt x="816392" y="12891"/>
                </a:lnTo>
                <a:lnTo>
                  <a:pt x="834778" y="20871"/>
                </a:lnTo>
                <a:lnTo>
                  <a:pt x="850590" y="31916"/>
                </a:lnTo>
                <a:lnTo>
                  <a:pt x="874491" y="63205"/>
                </a:lnTo>
                <a:lnTo>
                  <a:pt x="888556" y="105418"/>
                </a:lnTo>
                <a:lnTo>
                  <a:pt x="893244" y="157218"/>
                </a:lnTo>
                <a:lnTo>
                  <a:pt x="892067" y="185231"/>
                </a:lnTo>
                <a:lnTo>
                  <a:pt x="882648" y="233535"/>
                </a:lnTo>
                <a:lnTo>
                  <a:pt x="863749" y="271259"/>
                </a:lnTo>
                <a:lnTo>
                  <a:pt x="834993" y="296709"/>
                </a:lnTo>
                <a:lnTo>
                  <a:pt x="816895" y="304725"/>
                </a:lnTo>
                <a:lnTo>
                  <a:pt x="820914" y="317618"/>
                </a:lnTo>
                <a:lnTo>
                  <a:pt x="864236" y="297295"/>
                </a:lnTo>
                <a:lnTo>
                  <a:pt x="896090" y="262114"/>
                </a:lnTo>
                <a:lnTo>
                  <a:pt x="915679" y="215002"/>
                </a:lnTo>
                <a:lnTo>
                  <a:pt x="922209" y="158892"/>
                </a:lnTo>
                <a:lnTo>
                  <a:pt x="920571" y="129775"/>
                </a:lnTo>
                <a:lnTo>
                  <a:pt x="907470" y="78163"/>
                </a:lnTo>
                <a:lnTo>
                  <a:pt x="881487" y="36148"/>
                </a:lnTo>
                <a:lnTo>
                  <a:pt x="843940" y="8313"/>
                </a:lnTo>
                <a:lnTo>
                  <a:pt x="820914" y="0"/>
                </a:lnTo>
                <a:close/>
              </a:path>
              <a:path w="922654" h="318135">
                <a:moveTo>
                  <a:pt x="101296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1" y="309314"/>
                </a:lnTo>
                <a:lnTo>
                  <a:pt x="101296" y="317618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4" y="157218"/>
                </a:lnTo>
                <a:lnTo>
                  <a:pt x="30142" y="130120"/>
                </a:lnTo>
                <a:lnTo>
                  <a:pt x="39560" y="83113"/>
                </a:lnTo>
                <a:lnTo>
                  <a:pt x="58491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3531" y="3295903"/>
            <a:ext cx="23444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1645920" algn="l"/>
              </a:tabLst>
            </a:pPr>
            <a:r>
              <a:rPr dirty="0" sz="2700" spc="-15">
                <a:latin typeface="Calibri"/>
                <a:cs typeface="Calibri"/>
              </a:rPr>
              <a:t>Kernel</a:t>
            </a:r>
            <a:r>
              <a:rPr dirty="0" sz="2700" spc="0">
                <a:latin typeface="Calibri"/>
                <a:cs typeface="Calibri"/>
              </a:rPr>
              <a:t> </a:t>
            </a:r>
            <a:r>
              <a:rPr dirty="0" sz="2700">
                <a:latin typeface="Cambria Math"/>
                <a:cs typeface="Cambria Math"/>
              </a:rPr>
              <a:t>𝐾	</a:t>
            </a:r>
            <a:r>
              <a:rPr dirty="0" sz="2700" spc="50">
                <a:latin typeface="Cambria Math"/>
                <a:cs typeface="Cambria Math"/>
              </a:rPr>
              <a:t>𝐺,</a:t>
            </a:r>
            <a:r>
              <a:rPr dirty="0" sz="2700" spc="-240">
                <a:latin typeface="Cambria Math"/>
                <a:cs typeface="Cambria Math"/>
              </a:rPr>
              <a:t> </a:t>
            </a:r>
            <a:r>
              <a:rPr dirty="0" sz="2700" spc="100">
                <a:latin typeface="Cambria Math"/>
                <a:cs typeface="Cambria Math"/>
              </a:rPr>
              <a:t>𝐺</a:t>
            </a:r>
            <a:r>
              <a:rPr dirty="0" baseline="27777" sz="3000" spc="150">
                <a:latin typeface="Cambria Math"/>
                <a:cs typeface="Cambria Math"/>
              </a:rPr>
              <a:t>-</a:t>
            </a:r>
            <a:endParaRPr baseline="27777" sz="3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2550" y="3295903"/>
            <a:ext cx="47644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1520" algn="l"/>
              </a:tabLst>
            </a:pPr>
            <a:r>
              <a:rPr dirty="0" sz="2700">
                <a:latin typeface="Cambria Math"/>
                <a:cs typeface="Cambria Math"/>
              </a:rPr>
              <a:t>∈</a:t>
            </a:r>
            <a:r>
              <a:rPr dirty="0" sz="2700" spc="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ℝ	</a:t>
            </a:r>
            <a:r>
              <a:rPr dirty="0" sz="2700" spc="-15">
                <a:latin typeface="Calibri"/>
                <a:cs typeface="Calibri"/>
              </a:rPr>
              <a:t>measures </a:t>
            </a:r>
            <a:r>
              <a:rPr dirty="0" sz="2700" spc="-5">
                <a:latin typeface="Calibri"/>
                <a:cs typeface="Calibri"/>
              </a:rPr>
              <a:t>similarity </a:t>
            </a:r>
            <a:r>
              <a:rPr dirty="0" sz="2700" spc="-10">
                <a:latin typeface="Calibri"/>
                <a:cs typeface="Calibri"/>
              </a:rPr>
              <a:t>b/w</a:t>
            </a:r>
            <a:r>
              <a:rPr dirty="0" sz="270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data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21941" y="3905011"/>
            <a:ext cx="1480820" cy="414655"/>
          </a:xfrm>
          <a:custGeom>
            <a:avLst/>
            <a:gdLst/>
            <a:ahLst/>
            <a:cxnLst/>
            <a:rect l="l" t="t" r="r" b="b"/>
            <a:pathLst>
              <a:path w="1480820" h="414654">
                <a:moveTo>
                  <a:pt x="1371516" y="0"/>
                </a:moveTo>
                <a:lnTo>
                  <a:pt x="1367330" y="13729"/>
                </a:lnTo>
                <a:lnTo>
                  <a:pt x="1386360" y="23597"/>
                </a:lnTo>
                <a:lnTo>
                  <a:pt x="1402930" y="37965"/>
                </a:lnTo>
                <a:lnTo>
                  <a:pt x="1428694" y="80200"/>
                </a:lnTo>
                <a:lnTo>
                  <a:pt x="1444328" y="137587"/>
                </a:lnTo>
                <a:lnTo>
                  <a:pt x="1449539" y="207280"/>
                </a:lnTo>
                <a:lnTo>
                  <a:pt x="1448237" y="243587"/>
                </a:lnTo>
                <a:lnTo>
                  <a:pt x="1437814" y="307001"/>
                </a:lnTo>
                <a:lnTo>
                  <a:pt x="1417042" y="357441"/>
                </a:lnTo>
                <a:lnTo>
                  <a:pt x="1386360" y="390634"/>
                </a:lnTo>
                <a:lnTo>
                  <a:pt x="1367330" y="400497"/>
                </a:lnTo>
                <a:lnTo>
                  <a:pt x="1371516" y="414227"/>
                </a:lnTo>
                <a:lnTo>
                  <a:pt x="1417769" y="389572"/>
                </a:lnTo>
                <a:lnTo>
                  <a:pt x="1452050" y="343067"/>
                </a:lnTo>
                <a:lnTo>
                  <a:pt x="1473273" y="280364"/>
                </a:lnTo>
                <a:lnTo>
                  <a:pt x="1480347" y="207112"/>
                </a:lnTo>
                <a:lnTo>
                  <a:pt x="1478579" y="169169"/>
                </a:lnTo>
                <a:lnTo>
                  <a:pt x="1464430" y="101192"/>
                </a:lnTo>
                <a:lnTo>
                  <a:pt x="1436406" y="45175"/>
                </a:lnTo>
                <a:lnTo>
                  <a:pt x="1396139" y="9595"/>
                </a:lnTo>
                <a:lnTo>
                  <a:pt x="1371516" y="0"/>
                </a:lnTo>
                <a:close/>
              </a:path>
              <a:path w="1480820" h="414654">
                <a:moveTo>
                  <a:pt x="108830" y="0"/>
                </a:moveTo>
                <a:lnTo>
                  <a:pt x="62576" y="24654"/>
                </a:lnTo>
                <a:lnTo>
                  <a:pt x="28295" y="71159"/>
                </a:lnTo>
                <a:lnTo>
                  <a:pt x="7073" y="133862"/>
                </a:lnTo>
                <a:lnTo>
                  <a:pt x="0" y="207112"/>
                </a:lnTo>
                <a:lnTo>
                  <a:pt x="1768" y="245057"/>
                </a:lnTo>
                <a:lnTo>
                  <a:pt x="15915" y="313034"/>
                </a:lnTo>
                <a:lnTo>
                  <a:pt x="43939" y="369051"/>
                </a:lnTo>
                <a:lnTo>
                  <a:pt x="84207" y="404630"/>
                </a:lnTo>
                <a:lnTo>
                  <a:pt x="108830" y="414227"/>
                </a:lnTo>
                <a:lnTo>
                  <a:pt x="113016" y="400497"/>
                </a:lnTo>
                <a:lnTo>
                  <a:pt x="93986" y="390634"/>
                </a:lnTo>
                <a:lnTo>
                  <a:pt x="77415" y="376282"/>
                </a:lnTo>
                <a:lnTo>
                  <a:pt x="51652" y="334110"/>
                </a:lnTo>
                <a:lnTo>
                  <a:pt x="36018" y="276827"/>
                </a:lnTo>
                <a:lnTo>
                  <a:pt x="30812" y="207112"/>
                </a:lnTo>
                <a:lnTo>
                  <a:pt x="32109" y="170895"/>
                </a:lnTo>
                <a:lnTo>
                  <a:pt x="42532" y="107355"/>
                </a:lnTo>
                <a:lnTo>
                  <a:pt x="63304" y="56833"/>
                </a:lnTo>
                <a:lnTo>
                  <a:pt x="93986" y="23597"/>
                </a:lnTo>
                <a:lnTo>
                  <a:pt x="113016" y="13729"/>
                </a:lnTo>
                <a:lnTo>
                  <a:pt x="108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26055" y="3953274"/>
            <a:ext cx="922655" cy="318135"/>
          </a:xfrm>
          <a:custGeom>
            <a:avLst/>
            <a:gdLst/>
            <a:ahLst/>
            <a:cxnLst/>
            <a:rect l="l" t="t" r="r" b="b"/>
            <a:pathLst>
              <a:path w="922654" h="318135">
                <a:moveTo>
                  <a:pt x="820912" y="0"/>
                </a:moveTo>
                <a:lnTo>
                  <a:pt x="816392" y="12891"/>
                </a:lnTo>
                <a:lnTo>
                  <a:pt x="834778" y="20871"/>
                </a:lnTo>
                <a:lnTo>
                  <a:pt x="850590" y="31916"/>
                </a:lnTo>
                <a:lnTo>
                  <a:pt x="874491" y="63205"/>
                </a:lnTo>
                <a:lnTo>
                  <a:pt x="888556" y="105418"/>
                </a:lnTo>
                <a:lnTo>
                  <a:pt x="893244" y="157218"/>
                </a:lnTo>
                <a:lnTo>
                  <a:pt x="892067" y="185231"/>
                </a:lnTo>
                <a:lnTo>
                  <a:pt x="882648" y="233535"/>
                </a:lnTo>
                <a:lnTo>
                  <a:pt x="863749" y="271259"/>
                </a:lnTo>
                <a:lnTo>
                  <a:pt x="834992" y="296709"/>
                </a:lnTo>
                <a:lnTo>
                  <a:pt x="816894" y="304725"/>
                </a:lnTo>
                <a:lnTo>
                  <a:pt x="820912" y="317616"/>
                </a:lnTo>
                <a:lnTo>
                  <a:pt x="864236" y="297295"/>
                </a:lnTo>
                <a:lnTo>
                  <a:pt x="896090" y="262114"/>
                </a:lnTo>
                <a:lnTo>
                  <a:pt x="915679" y="215002"/>
                </a:lnTo>
                <a:lnTo>
                  <a:pt x="922209" y="158892"/>
                </a:lnTo>
                <a:lnTo>
                  <a:pt x="920571" y="129774"/>
                </a:lnTo>
                <a:lnTo>
                  <a:pt x="907470" y="78163"/>
                </a:lnTo>
                <a:lnTo>
                  <a:pt x="881487" y="36148"/>
                </a:lnTo>
                <a:lnTo>
                  <a:pt x="843940" y="8313"/>
                </a:lnTo>
                <a:lnTo>
                  <a:pt x="820912" y="0"/>
                </a:lnTo>
                <a:close/>
              </a:path>
              <a:path w="922654" h="318135">
                <a:moveTo>
                  <a:pt x="101295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0" y="309313"/>
                </a:lnTo>
                <a:lnTo>
                  <a:pt x="101295" y="317616"/>
                </a:lnTo>
                <a:lnTo>
                  <a:pt x="105313" y="304725"/>
                </a:lnTo>
                <a:lnTo>
                  <a:pt x="87215" y="296709"/>
                </a:lnTo>
                <a:lnTo>
                  <a:pt x="71597" y="285553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4" y="157218"/>
                </a:lnTo>
                <a:lnTo>
                  <a:pt x="30142" y="130119"/>
                </a:lnTo>
                <a:lnTo>
                  <a:pt x="39560" y="83113"/>
                </a:lnTo>
                <a:lnTo>
                  <a:pt x="58491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53531" y="3853688"/>
            <a:ext cx="418274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3091815" algn="l"/>
                <a:tab pos="3484245" algn="l"/>
              </a:tabLst>
            </a:pPr>
            <a:r>
              <a:rPr dirty="0" sz="2700" spc="-15">
                <a:latin typeface="Calibri"/>
                <a:cs typeface="Calibri"/>
              </a:rPr>
              <a:t>Kernel </a:t>
            </a:r>
            <a:r>
              <a:rPr dirty="0" sz="2700" spc="-10">
                <a:latin typeface="Calibri"/>
                <a:cs typeface="Calibri"/>
              </a:rPr>
              <a:t>matrix</a:t>
            </a:r>
            <a:r>
              <a:rPr dirty="0" sz="2700" spc="25">
                <a:latin typeface="Calibri"/>
                <a:cs typeface="Calibri"/>
              </a:rPr>
              <a:t> </a:t>
            </a:r>
            <a:r>
              <a:rPr dirty="0" sz="2700">
                <a:latin typeface="Cambria Math"/>
                <a:cs typeface="Cambria Math"/>
              </a:rPr>
              <a:t>𝑲</a:t>
            </a:r>
            <a:r>
              <a:rPr dirty="0" sz="2700" spc="15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=	𝐾	</a:t>
            </a:r>
            <a:r>
              <a:rPr dirty="0" sz="2700" spc="50">
                <a:latin typeface="Cambria Math"/>
                <a:cs typeface="Cambria Math"/>
              </a:rPr>
              <a:t>𝐺,</a:t>
            </a:r>
            <a:r>
              <a:rPr dirty="0" sz="2700" spc="-240">
                <a:latin typeface="Cambria Math"/>
                <a:cs typeface="Cambria Math"/>
              </a:rPr>
              <a:t> </a:t>
            </a:r>
            <a:r>
              <a:rPr dirty="0" sz="2700" spc="100">
                <a:latin typeface="Cambria Math"/>
                <a:cs typeface="Cambria Math"/>
              </a:rPr>
              <a:t>𝐺</a:t>
            </a:r>
            <a:r>
              <a:rPr dirty="0" baseline="27777" sz="3000" spc="150">
                <a:latin typeface="Cambria Math"/>
                <a:cs typeface="Cambria Math"/>
              </a:rPr>
              <a:t>-</a:t>
            </a:r>
            <a:endParaRPr baseline="27777" sz="3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19740" y="3853688"/>
            <a:ext cx="27451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6111" sz="3000" spc="262">
                <a:latin typeface="Cambria Math"/>
                <a:cs typeface="Cambria Math"/>
              </a:rPr>
              <a:t>8,8</a:t>
            </a:r>
            <a:r>
              <a:rPr dirty="0" baseline="-20833" sz="2400" spc="262">
                <a:latin typeface="Cambria Math"/>
                <a:cs typeface="Cambria Math"/>
              </a:rPr>
              <a:t>! </a:t>
            </a:r>
            <a:r>
              <a:rPr dirty="0" sz="2700" spc="-15">
                <a:latin typeface="Calibri"/>
                <a:cs typeface="Calibri"/>
              </a:rPr>
              <a:t>must </a:t>
            </a:r>
            <a:r>
              <a:rPr dirty="0" sz="2700" spc="-25">
                <a:latin typeface="Calibri"/>
                <a:cs typeface="Calibri"/>
              </a:rPr>
              <a:t>always</a:t>
            </a:r>
            <a:r>
              <a:rPr dirty="0" sz="2700" spc="-90">
                <a:latin typeface="Calibri"/>
                <a:cs typeface="Calibri"/>
              </a:rPr>
              <a:t> </a:t>
            </a:r>
            <a:r>
              <a:rPr dirty="0" sz="2700" spc="-5">
                <a:latin typeface="Calibri"/>
                <a:cs typeface="Calibri"/>
              </a:rPr>
              <a:t>be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20752" y="5388374"/>
            <a:ext cx="922655" cy="318135"/>
          </a:xfrm>
          <a:custGeom>
            <a:avLst/>
            <a:gdLst/>
            <a:ahLst/>
            <a:cxnLst/>
            <a:rect l="l" t="t" r="r" b="b"/>
            <a:pathLst>
              <a:path w="922655" h="318135">
                <a:moveTo>
                  <a:pt x="820914" y="0"/>
                </a:moveTo>
                <a:lnTo>
                  <a:pt x="816392" y="12891"/>
                </a:lnTo>
                <a:lnTo>
                  <a:pt x="834778" y="20871"/>
                </a:lnTo>
                <a:lnTo>
                  <a:pt x="850590" y="31916"/>
                </a:lnTo>
                <a:lnTo>
                  <a:pt x="874491" y="63205"/>
                </a:lnTo>
                <a:lnTo>
                  <a:pt x="888556" y="105418"/>
                </a:lnTo>
                <a:lnTo>
                  <a:pt x="893244" y="157218"/>
                </a:lnTo>
                <a:lnTo>
                  <a:pt x="892067" y="185231"/>
                </a:lnTo>
                <a:lnTo>
                  <a:pt x="882648" y="233535"/>
                </a:lnTo>
                <a:lnTo>
                  <a:pt x="863749" y="271259"/>
                </a:lnTo>
                <a:lnTo>
                  <a:pt x="834993" y="296709"/>
                </a:lnTo>
                <a:lnTo>
                  <a:pt x="816895" y="304725"/>
                </a:lnTo>
                <a:lnTo>
                  <a:pt x="820914" y="317617"/>
                </a:lnTo>
                <a:lnTo>
                  <a:pt x="864236" y="297295"/>
                </a:lnTo>
                <a:lnTo>
                  <a:pt x="896090" y="262113"/>
                </a:lnTo>
                <a:lnTo>
                  <a:pt x="915679" y="215002"/>
                </a:lnTo>
                <a:lnTo>
                  <a:pt x="922209" y="158892"/>
                </a:lnTo>
                <a:lnTo>
                  <a:pt x="920571" y="129775"/>
                </a:lnTo>
                <a:lnTo>
                  <a:pt x="907470" y="78163"/>
                </a:lnTo>
                <a:lnTo>
                  <a:pt x="881487" y="36148"/>
                </a:lnTo>
                <a:lnTo>
                  <a:pt x="843940" y="8313"/>
                </a:lnTo>
                <a:lnTo>
                  <a:pt x="820914" y="0"/>
                </a:lnTo>
                <a:close/>
              </a:path>
              <a:path w="922655" h="318135">
                <a:moveTo>
                  <a:pt x="101296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1" y="309313"/>
                </a:lnTo>
                <a:lnTo>
                  <a:pt x="101296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4" y="157218"/>
                </a:lnTo>
                <a:lnTo>
                  <a:pt x="30142" y="130120"/>
                </a:lnTo>
                <a:lnTo>
                  <a:pt x="39560" y="83113"/>
                </a:lnTo>
                <a:lnTo>
                  <a:pt x="58491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74165" y="5388374"/>
            <a:ext cx="434340" cy="318135"/>
          </a:xfrm>
          <a:custGeom>
            <a:avLst/>
            <a:gdLst/>
            <a:ahLst/>
            <a:cxnLst/>
            <a:rect l="l" t="t" r="r" b="b"/>
            <a:pathLst>
              <a:path w="434339" h="318135">
                <a:moveTo>
                  <a:pt x="332599" y="0"/>
                </a:moveTo>
                <a:lnTo>
                  <a:pt x="328077" y="12891"/>
                </a:lnTo>
                <a:lnTo>
                  <a:pt x="346463" y="20871"/>
                </a:lnTo>
                <a:lnTo>
                  <a:pt x="362275" y="31916"/>
                </a:lnTo>
                <a:lnTo>
                  <a:pt x="386176" y="63205"/>
                </a:lnTo>
                <a:lnTo>
                  <a:pt x="400241" y="105418"/>
                </a:lnTo>
                <a:lnTo>
                  <a:pt x="404929" y="157218"/>
                </a:lnTo>
                <a:lnTo>
                  <a:pt x="403752" y="185231"/>
                </a:lnTo>
                <a:lnTo>
                  <a:pt x="394333" y="233535"/>
                </a:lnTo>
                <a:lnTo>
                  <a:pt x="375434" y="271259"/>
                </a:lnTo>
                <a:lnTo>
                  <a:pt x="346678" y="296709"/>
                </a:lnTo>
                <a:lnTo>
                  <a:pt x="328580" y="304725"/>
                </a:lnTo>
                <a:lnTo>
                  <a:pt x="332599" y="317617"/>
                </a:lnTo>
                <a:lnTo>
                  <a:pt x="375921" y="297295"/>
                </a:lnTo>
                <a:lnTo>
                  <a:pt x="407775" y="262113"/>
                </a:lnTo>
                <a:lnTo>
                  <a:pt x="427364" y="215002"/>
                </a:lnTo>
                <a:lnTo>
                  <a:pt x="433894" y="158892"/>
                </a:lnTo>
                <a:lnTo>
                  <a:pt x="432256" y="129775"/>
                </a:lnTo>
                <a:lnTo>
                  <a:pt x="419155" y="78163"/>
                </a:lnTo>
                <a:lnTo>
                  <a:pt x="393172" y="36148"/>
                </a:lnTo>
                <a:lnTo>
                  <a:pt x="355625" y="8313"/>
                </a:lnTo>
                <a:lnTo>
                  <a:pt x="332599" y="0"/>
                </a:lnTo>
                <a:close/>
              </a:path>
              <a:path w="434339" h="318135">
                <a:moveTo>
                  <a:pt x="101295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0" y="309313"/>
                </a:lnTo>
                <a:lnTo>
                  <a:pt x="101295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4" y="157218"/>
                </a:lnTo>
                <a:lnTo>
                  <a:pt x="30142" y="130120"/>
                </a:lnTo>
                <a:lnTo>
                  <a:pt x="39560" y="83113"/>
                </a:lnTo>
                <a:lnTo>
                  <a:pt x="58491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86787" y="5388374"/>
            <a:ext cx="564515" cy="318135"/>
          </a:xfrm>
          <a:custGeom>
            <a:avLst/>
            <a:gdLst/>
            <a:ahLst/>
            <a:cxnLst/>
            <a:rect l="l" t="t" r="r" b="b"/>
            <a:pathLst>
              <a:path w="564514" h="318135">
                <a:moveTo>
                  <a:pt x="462964" y="0"/>
                </a:moveTo>
                <a:lnTo>
                  <a:pt x="458443" y="12891"/>
                </a:lnTo>
                <a:lnTo>
                  <a:pt x="476829" y="20871"/>
                </a:lnTo>
                <a:lnTo>
                  <a:pt x="492640" y="31916"/>
                </a:lnTo>
                <a:lnTo>
                  <a:pt x="516542" y="63205"/>
                </a:lnTo>
                <a:lnTo>
                  <a:pt x="530606" y="105418"/>
                </a:lnTo>
                <a:lnTo>
                  <a:pt x="535294" y="157218"/>
                </a:lnTo>
                <a:lnTo>
                  <a:pt x="534117" y="185231"/>
                </a:lnTo>
                <a:lnTo>
                  <a:pt x="524699" y="233535"/>
                </a:lnTo>
                <a:lnTo>
                  <a:pt x="505799" y="271259"/>
                </a:lnTo>
                <a:lnTo>
                  <a:pt x="477043" y="296709"/>
                </a:lnTo>
                <a:lnTo>
                  <a:pt x="458944" y="304725"/>
                </a:lnTo>
                <a:lnTo>
                  <a:pt x="462964" y="317617"/>
                </a:lnTo>
                <a:lnTo>
                  <a:pt x="506287" y="297295"/>
                </a:lnTo>
                <a:lnTo>
                  <a:pt x="538140" y="262113"/>
                </a:lnTo>
                <a:lnTo>
                  <a:pt x="557730" y="215002"/>
                </a:lnTo>
                <a:lnTo>
                  <a:pt x="564259" y="158892"/>
                </a:lnTo>
                <a:lnTo>
                  <a:pt x="562622" y="129775"/>
                </a:lnTo>
                <a:lnTo>
                  <a:pt x="549520" y="78163"/>
                </a:lnTo>
                <a:lnTo>
                  <a:pt x="523537" y="36148"/>
                </a:lnTo>
                <a:lnTo>
                  <a:pt x="485991" y="8313"/>
                </a:lnTo>
                <a:lnTo>
                  <a:pt x="462964" y="0"/>
                </a:lnTo>
                <a:close/>
              </a:path>
              <a:path w="564514" h="318135">
                <a:moveTo>
                  <a:pt x="101295" y="0"/>
                </a:moveTo>
                <a:lnTo>
                  <a:pt x="58077" y="20363"/>
                </a:lnTo>
                <a:lnTo>
                  <a:pt x="26202" y="55670"/>
                </a:lnTo>
                <a:lnTo>
                  <a:pt x="6550" y="102865"/>
                </a:lnTo>
                <a:lnTo>
                  <a:pt x="0" y="158892"/>
                </a:lnTo>
                <a:lnTo>
                  <a:pt x="1632" y="188072"/>
                </a:lnTo>
                <a:lnTo>
                  <a:pt x="14691" y="239683"/>
                </a:lnTo>
                <a:lnTo>
                  <a:pt x="40612" y="281562"/>
                </a:lnTo>
                <a:lnTo>
                  <a:pt x="78200" y="309313"/>
                </a:lnTo>
                <a:lnTo>
                  <a:pt x="101295" y="317617"/>
                </a:lnTo>
                <a:lnTo>
                  <a:pt x="105314" y="304725"/>
                </a:lnTo>
                <a:lnTo>
                  <a:pt x="87216" y="296709"/>
                </a:lnTo>
                <a:lnTo>
                  <a:pt x="71597" y="285554"/>
                </a:lnTo>
                <a:lnTo>
                  <a:pt x="47801" y="253826"/>
                </a:lnTo>
                <a:lnTo>
                  <a:pt x="33674" y="210670"/>
                </a:lnTo>
                <a:lnTo>
                  <a:pt x="28964" y="157218"/>
                </a:lnTo>
                <a:lnTo>
                  <a:pt x="30142" y="130120"/>
                </a:lnTo>
                <a:lnTo>
                  <a:pt x="39560" y="83113"/>
                </a:lnTo>
                <a:lnTo>
                  <a:pt x="58491" y="46027"/>
                </a:lnTo>
                <a:lnTo>
                  <a:pt x="87498" y="20871"/>
                </a:lnTo>
                <a:lnTo>
                  <a:pt x="105816" y="12891"/>
                </a:lnTo>
                <a:lnTo>
                  <a:pt x="1012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53531" y="4289552"/>
            <a:ext cx="7706359" cy="23393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86385">
              <a:lnSpc>
                <a:spcPct val="100000"/>
              </a:lnSpc>
              <a:spcBef>
                <a:spcPts val="770"/>
              </a:spcBef>
            </a:pPr>
            <a:r>
              <a:rPr dirty="0" sz="2700" spc="-10">
                <a:latin typeface="Calibri"/>
                <a:cs typeface="Calibri"/>
              </a:rPr>
              <a:t>positive semidefinite </a:t>
            </a:r>
            <a:r>
              <a:rPr dirty="0" sz="2400" spc="-5">
                <a:latin typeface="Calibri"/>
                <a:cs typeface="Calibri"/>
              </a:rPr>
              <a:t>(i.e., </a:t>
            </a:r>
            <a:r>
              <a:rPr dirty="0" sz="2400">
                <a:latin typeface="Calibri"/>
                <a:cs typeface="Calibri"/>
              </a:rPr>
              <a:t>has </a:t>
            </a:r>
            <a:r>
              <a:rPr dirty="0" sz="2400" spc="-10">
                <a:latin typeface="Calibri"/>
                <a:cs typeface="Calibri"/>
              </a:rPr>
              <a:t>positive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eigenvals)</a:t>
            </a:r>
            <a:endParaRPr sz="24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700" spc="-15">
                <a:latin typeface="Calibri"/>
                <a:cs typeface="Calibri"/>
              </a:rPr>
              <a:t>There </a:t>
            </a:r>
            <a:r>
              <a:rPr dirty="0" sz="2700" spc="-20">
                <a:latin typeface="Calibri"/>
                <a:cs typeface="Calibri"/>
              </a:rPr>
              <a:t>exists </a:t>
            </a:r>
            <a:r>
              <a:rPr dirty="0" sz="2700">
                <a:latin typeface="Calibri"/>
                <a:cs typeface="Calibri"/>
              </a:rPr>
              <a:t>a </a:t>
            </a:r>
            <a:r>
              <a:rPr dirty="0" sz="2700" spc="-25">
                <a:latin typeface="Calibri"/>
                <a:cs typeface="Calibri"/>
              </a:rPr>
              <a:t>feature </a:t>
            </a:r>
            <a:r>
              <a:rPr dirty="0" sz="2700" spc="-20">
                <a:latin typeface="Calibri"/>
                <a:cs typeface="Calibri"/>
              </a:rPr>
              <a:t>representation </a:t>
            </a:r>
            <a:r>
              <a:rPr dirty="0" sz="2700" spc="-80">
                <a:latin typeface="Cambria Math"/>
                <a:cs typeface="Cambria Math"/>
              </a:rPr>
              <a:t>𝜙</a:t>
            </a:r>
            <a:r>
              <a:rPr dirty="0" sz="2700" spc="-80">
                <a:latin typeface="Calibri"/>
                <a:cs typeface="Calibri"/>
              </a:rPr>
              <a:t>(</a:t>
            </a:r>
            <a:r>
              <a:rPr dirty="0" sz="2700" spc="-80">
                <a:latin typeface="Cambria Math"/>
                <a:cs typeface="Cambria Math"/>
              </a:rPr>
              <a:t>)) </a:t>
            </a:r>
            <a:r>
              <a:rPr dirty="0" sz="2700" spc="-5">
                <a:latin typeface="Cambria Math"/>
                <a:cs typeface="Cambria Math"/>
              </a:rPr>
              <a:t>such</a:t>
            </a:r>
            <a:r>
              <a:rPr dirty="0" sz="2700" spc="130">
                <a:latin typeface="Cambria Math"/>
                <a:cs typeface="Cambria Math"/>
              </a:rPr>
              <a:t> </a:t>
            </a:r>
            <a:r>
              <a:rPr dirty="0" sz="2700" spc="-5">
                <a:latin typeface="Cambria Math"/>
                <a:cs typeface="Cambria Math"/>
              </a:rPr>
              <a:t>that</a:t>
            </a:r>
            <a:endParaRPr sz="2700">
              <a:latin typeface="Cambria Math"/>
              <a:cs typeface="Cambria Math"/>
            </a:endParaRPr>
          </a:p>
          <a:p>
            <a:pPr marL="286385">
              <a:lnSpc>
                <a:spcPct val="100000"/>
              </a:lnSpc>
              <a:spcBef>
                <a:spcPts val="45"/>
              </a:spcBef>
              <a:tabLst>
                <a:tab pos="678815" algn="l"/>
                <a:tab pos="1614170" algn="l"/>
                <a:tab pos="2332355" algn="l"/>
                <a:tab pos="2684145" algn="l"/>
                <a:tab pos="3244850" algn="l"/>
              </a:tabLst>
            </a:pPr>
            <a:r>
              <a:rPr dirty="0" sz="2700">
                <a:latin typeface="Cambria Math"/>
                <a:cs typeface="Cambria Math"/>
              </a:rPr>
              <a:t>𝐾	</a:t>
            </a:r>
            <a:r>
              <a:rPr dirty="0" sz="2700" spc="50">
                <a:latin typeface="Cambria Math"/>
                <a:cs typeface="Cambria Math"/>
              </a:rPr>
              <a:t>𝐺,</a:t>
            </a:r>
            <a:r>
              <a:rPr dirty="0" sz="2700" spc="-150">
                <a:latin typeface="Cambria Math"/>
                <a:cs typeface="Cambria Math"/>
              </a:rPr>
              <a:t> </a:t>
            </a:r>
            <a:r>
              <a:rPr dirty="0" sz="2700" spc="100">
                <a:latin typeface="Cambria Math"/>
                <a:cs typeface="Cambria Math"/>
              </a:rPr>
              <a:t>𝐺</a:t>
            </a:r>
            <a:r>
              <a:rPr dirty="0" baseline="27777" sz="3000" spc="150">
                <a:latin typeface="Cambria Math"/>
                <a:cs typeface="Cambria Math"/>
              </a:rPr>
              <a:t>-	</a:t>
            </a:r>
            <a:r>
              <a:rPr dirty="0" sz="2700">
                <a:latin typeface="Cambria Math"/>
                <a:cs typeface="Cambria Math"/>
              </a:rPr>
              <a:t>=</a:t>
            </a:r>
            <a:r>
              <a:rPr dirty="0" sz="2700" spc="0">
                <a:latin typeface="Cambria Math"/>
                <a:cs typeface="Cambria Math"/>
              </a:rPr>
              <a:t> </a:t>
            </a:r>
            <a:r>
              <a:rPr dirty="0" sz="2700">
                <a:latin typeface="Cambria Math"/>
                <a:cs typeface="Cambria Math"/>
              </a:rPr>
              <a:t>𝜙	G	</a:t>
            </a:r>
            <a:r>
              <a:rPr dirty="0" baseline="27777" sz="3000" spc="37">
                <a:latin typeface="Cambria Math"/>
                <a:cs typeface="Cambria Math"/>
              </a:rPr>
              <a:t>O</a:t>
            </a:r>
            <a:r>
              <a:rPr dirty="0" sz="2700" spc="25">
                <a:latin typeface="Cambria Math"/>
                <a:cs typeface="Cambria Math"/>
              </a:rPr>
              <a:t>𝜙	</a:t>
            </a:r>
            <a:r>
              <a:rPr dirty="0" sz="2700" spc="100">
                <a:latin typeface="Cambria Math"/>
                <a:cs typeface="Cambria Math"/>
              </a:rPr>
              <a:t>𝐺</a:t>
            </a:r>
            <a:r>
              <a:rPr dirty="0" baseline="27777" sz="3000" spc="150">
                <a:latin typeface="Cambria Math"/>
                <a:cs typeface="Cambria Math"/>
              </a:rPr>
              <a:t>-</a:t>
            </a:r>
            <a:endParaRPr baseline="27777" sz="3000">
              <a:latin typeface="Cambria Math"/>
              <a:cs typeface="Cambria Math"/>
            </a:endParaRPr>
          </a:p>
          <a:p>
            <a:pPr marL="287020" marR="5080" indent="-274320">
              <a:lnSpc>
                <a:spcPts val="3190"/>
              </a:lnSpc>
              <a:spcBef>
                <a:spcPts val="81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700" spc="-5">
                <a:latin typeface="Calibri"/>
                <a:cs typeface="Calibri"/>
              </a:rPr>
              <a:t>Once the </a:t>
            </a:r>
            <a:r>
              <a:rPr dirty="0" sz="2700" spc="-25">
                <a:latin typeface="Calibri"/>
                <a:cs typeface="Calibri"/>
              </a:rPr>
              <a:t>kernel </a:t>
            </a:r>
            <a:r>
              <a:rPr dirty="0" sz="2700">
                <a:latin typeface="Calibri"/>
                <a:cs typeface="Calibri"/>
              </a:rPr>
              <a:t>is </a:t>
            </a:r>
            <a:r>
              <a:rPr dirty="0" sz="2700" spc="-10">
                <a:latin typeface="Calibri"/>
                <a:cs typeface="Calibri"/>
              </a:rPr>
              <a:t>defined, </a:t>
            </a:r>
            <a:r>
              <a:rPr dirty="0" sz="2700" spc="-15">
                <a:latin typeface="Calibri"/>
                <a:cs typeface="Calibri"/>
              </a:rPr>
              <a:t>off-the-shelf </a:t>
            </a:r>
            <a:r>
              <a:rPr dirty="0" sz="2700">
                <a:latin typeface="Calibri"/>
                <a:cs typeface="Calibri"/>
              </a:rPr>
              <a:t>ML </a:t>
            </a:r>
            <a:r>
              <a:rPr dirty="0" sz="2700" spc="-5">
                <a:latin typeface="Calibri"/>
                <a:cs typeface="Calibri"/>
              </a:rPr>
              <a:t>model,  </a:t>
            </a:r>
            <a:r>
              <a:rPr dirty="0" sz="2700" spc="-10">
                <a:latin typeface="Calibri"/>
                <a:cs typeface="Calibri"/>
              </a:rPr>
              <a:t>such </a:t>
            </a:r>
            <a:r>
              <a:rPr dirty="0" sz="2700" spc="-5">
                <a:latin typeface="Calibri"/>
                <a:cs typeface="Calibri"/>
              </a:rPr>
              <a:t>as </a:t>
            </a:r>
            <a:r>
              <a:rPr dirty="0" sz="2700" spc="-25">
                <a:solidFill>
                  <a:srgbClr val="008000"/>
                </a:solidFill>
                <a:latin typeface="Calibri"/>
                <a:cs typeface="Calibri"/>
              </a:rPr>
              <a:t>kernel </a:t>
            </a:r>
            <a:r>
              <a:rPr dirty="0" sz="2700" spc="-10">
                <a:solidFill>
                  <a:srgbClr val="008000"/>
                </a:solidFill>
                <a:latin typeface="Calibri"/>
                <a:cs typeface="Calibri"/>
              </a:rPr>
              <a:t>SVM</a:t>
            </a:r>
            <a:r>
              <a:rPr dirty="0" sz="2700" spc="-10">
                <a:latin typeface="Calibri"/>
                <a:cs typeface="Calibri"/>
              </a:rPr>
              <a:t>, </a:t>
            </a:r>
            <a:r>
              <a:rPr dirty="0" sz="2700" spc="-15">
                <a:latin typeface="Calibri"/>
                <a:cs typeface="Calibri"/>
              </a:rPr>
              <a:t>can </a:t>
            </a:r>
            <a:r>
              <a:rPr dirty="0" sz="2700" spc="-5">
                <a:latin typeface="Calibri"/>
                <a:cs typeface="Calibri"/>
              </a:rPr>
              <a:t>be </a:t>
            </a:r>
            <a:r>
              <a:rPr dirty="0" sz="2700" spc="-10">
                <a:latin typeface="Calibri"/>
                <a:cs typeface="Calibri"/>
              </a:rPr>
              <a:t>used </a:t>
            </a:r>
            <a:r>
              <a:rPr dirty="0" sz="2700" spc="-20">
                <a:latin typeface="Calibri"/>
                <a:cs typeface="Calibri"/>
              </a:rPr>
              <a:t>to </a:t>
            </a:r>
            <a:r>
              <a:rPr dirty="0" sz="2700" spc="-25">
                <a:latin typeface="Calibri"/>
                <a:cs typeface="Calibri"/>
              </a:rPr>
              <a:t>make</a:t>
            </a:r>
            <a:r>
              <a:rPr dirty="0" sz="2700" spc="80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predictions.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03822" y="6723724"/>
            <a:ext cx="16891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44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872983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52665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/>
              <a:t>Graph </a:t>
            </a:r>
            <a:r>
              <a:rPr dirty="0" spc="-10"/>
              <a:t>Kernels</a:t>
            </a:r>
            <a:r>
              <a:rPr dirty="0" spc="-10" b="0">
                <a:latin typeface="Calibri"/>
                <a:cs typeface="Calibri"/>
              </a:rPr>
              <a:t>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Measure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similarity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between  two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graphs: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3822" y="6723724"/>
            <a:ext cx="16891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44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332227"/>
            <a:ext cx="7245984" cy="324358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solidFill>
                  <a:srgbClr val="6BB76D"/>
                </a:solidFill>
                <a:latin typeface="Calibri"/>
                <a:cs typeface="Calibri"/>
              </a:rPr>
              <a:t>Graphlet Kernel</a:t>
            </a:r>
            <a:r>
              <a:rPr dirty="0" sz="2800" spc="-65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BB76D"/>
                </a:solidFill>
                <a:latin typeface="Calibri"/>
                <a:cs typeface="Calibri"/>
              </a:rPr>
              <a:t>[1]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5">
                <a:solidFill>
                  <a:srgbClr val="6BB76D"/>
                </a:solidFill>
                <a:latin typeface="Calibri"/>
                <a:cs typeface="Calibri"/>
              </a:rPr>
              <a:t>Weisfeiler-Lehman </a:t>
            </a:r>
            <a:r>
              <a:rPr dirty="0" sz="2800" spc="-15">
                <a:solidFill>
                  <a:srgbClr val="6BB76D"/>
                </a:solidFill>
                <a:latin typeface="Calibri"/>
                <a:cs typeface="Calibri"/>
              </a:rPr>
              <a:t>Kernel</a:t>
            </a:r>
            <a:r>
              <a:rPr dirty="0" sz="2800" spc="5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6BB76D"/>
                </a:solidFill>
                <a:latin typeface="Calibri"/>
                <a:cs typeface="Calibri"/>
              </a:rPr>
              <a:t>[2]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Other </a:t>
            </a:r>
            <a:r>
              <a:rPr dirty="0" sz="2800" spc="-20">
                <a:latin typeface="Calibri"/>
                <a:cs typeface="Calibri"/>
              </a:rPr>
              <a:t>kernels are </a:t>
            </a:r>
            <a:r>
              <a:rPr dirty="0" sz="2800" spc="-5">
                <a:latin typeface="Calibri"/>
                <a:cs typeface="Calibri"/>
              </a:rPr>
              <a:t>also </a:t>
            </a:r>
            <a:r>
              <a:rPr dirty="0" sz="2800" spc="-10">
                <a:latin typeface="Calibri"/>
                <a:cs typeface="Calibri"/>
              </a:rPr>
              <a:t>proposed </a:t>
            </a:r>
            <a:r>
              <a:rPr dirty="0" sz="2800" spc="-5">
                <a:latin typeface="Calibri"/>
                <a:cs typeface="Calibri"/>
              </a:rPr>
              <a:t>in the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literature</a:t>
            </a:r>
            <a:endParaRPr sz="2800">
              <a:latin typeface="Calibri"/>
              <a:cs typeface="Calibri"/>
            </a:endParaRPr>
          </a:p>
          <a:p>
            <a:pPr marL="287020">
              <a:lnSpc>
                <a:spcPct val="100000"/>
              </a:lnSpc>
              <a:spcBef>
                <a:spcPts val="35"/>
              </a:spcBef>
            </a:pPr>
            <a:r>
              <a:rPr dirty="0" sz="2400" spc="-10">
                <a:latin typeface="Calibri"/>
                <a:cs typeface="Calibri"/>
              </a:rPr>
              <a:t>(beyond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scope </a:t>
            </a:r>
            <a:r>
              <a:rPr dirty="0" sz="2400" spc="-5">
                <a:latin typeface="Calibri"/>
                <a:cs typeface="Calibri"/>
              </a:rPr>
              <a:t>of this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lecture)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9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Random-walk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kernel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15">
                <a:latin typeface="Calibri"/>
                <a:cs typeface="Calibri"/>
              </a:rPr>
              <a:t>Shortest-path graph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kernel</a:t>
            </a:r>
            <a:endParaRPr sz="24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620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400" spc="-5">
                <a:latin typeface="Calibri"/>
                <a:cs typeface="Calibri"/>
              </a:rPr>
              <a:t>And </a:t>
            </a:r>
            <a:r>
              <a:rPr dirty="0" sz="2400" spc="-15">
                <a:latin typeface="Calibri"/>
                <a:cs typeface="Calibri"/>
              </a:rPr>
              <a:t>many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more…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868" y="6099047"/>
            <a:ext cx="7785734" cy="358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4470" indent="-191770">
              <a:lnSpc>
                <a:spcPts val="1310"/>
              </a:lnSpc>
              <a:spcBef>
                <a:spcPts val="100"/>
              </a:spcBef>
              <a:buAutoNum type="arabicPlain"/>
              <a:tabLst>
                <a:tab pos="205104" algn="l"/>
              </a:tabLst>
            </a:pPr>
            <a:r>
              <a:rPr dirty="0" sz="1100" spc="-5">
                <a:latin typeface="Arial"/>
                <a:cs typeface="Arial"/>
              </a:rPr>
              <a:t>Shervashidze, </a:t>
            </a:r>
            <a:r>
              <a:rPr dirty="0" sz="1100">
                <a:latin typeface="Arial"/>
                <a:cs typeface="Arial"/>
              </a:rPr>
              <a:t>Nino, et al. </a:t>
            </a:r>
            <a:r>
              <a:rPr dirty="0" sz="1100" spc="-5">
                <a:latin typeface="Arial"/>
                <a:cs typeface="Arial"/>
              </a:rPr>
              <a:t>"Efficient graphlet kernels for large graph comparison." Artificial Intelligence </a:t>
            </a:r>
            <a:r>
              <a:rPr dirty="0" sz="1100">
                <a:latin typeface="Arial"/>
                <a:cs typeface="Arial"/>
              </a:rPr>
              <a:t>and </a:t>
            </a:r>
            <a:r>
              <a:rPr dirty="0" sz="1100" spc="-5">
                <a:latin typeface="Arial"/>
                <a:cs typeface="Arial"/>
              </a:rPr>
              <a:t>Statistics.</a:t>
            </a:r>
            <a:r>
              <a:rPr dirty="0" sz="1100" spc="204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2009.</a:t>
            </a:r>
            <a:endParaRPr sz="1100">
              <a:latin typeface="Arial"/>
              <a:cs typeface="Arial"/>
            </a:endParaRPr>
          </a:p>
          <a:p>
            <a:pPr marL="204470" indent="-191770">
              <a:lnSpc>
                <a:spcPts val="1310"/>
              </a:lnSpc>
              <a:buAutoNum type="arabicPlain"/>
              <a:tabLst>
                <a:tab pos="205104" algn="l"/>
              </a:tabLst>
            </a:pPr>
            <a:r>
              <a:rPr dirty="0" sz="1100" spc="-5">
                <a:latin typeface="Arial"/>
                <a:cs typeface="Arial"/>
              </a:rPr>
              <a:t>Shervashidze, </a:t>
            </a:r>
            <a:r>
              <a:rPr dirty="0" sz="1100">
                <a:latin typeface="Arial"/>
                <a:cs typeface="Arial"/>
              </a:rPr>
              <a:t>Nino, et al. </a:t>
            </a:r>
            <a:r>
              <a:rPr dirty="0" sz="1100" spc="-5">
                <a:latin typeface="Arial"/>
                <a:cs typeface="Arial"/>
              </a:rPr>
              <a:t>"Weisfeiler-lehman graph kernels." Journal </a:t>
            </a:r>
            <a:r>
              <a:rPr dirty="0" sz="1100">
                <a:latin typeface="Arial"/>
                <a:cs typeface="Arial"/>
              </a:rPr>
              <a:t>of </a:t>
            </a:r>
            <a:r>
              <a:rPr dirty="0" sz="1100" spc="-5">
                <a:latin typeface="Arial"/>
                <a:cs typeface="Arial"/>
              </a:rPr>
              <a:t>Machine Learning Research 12.9</a:t>
            </a:r>
            <a:r>
              <a:rPr dirty="0" sz="1100" spc="210">
                <a:latin typeface="Arial"/>
                <a:cs typeface="Arial"/>
              </a:rPr>
              <a:t> </a:t>
            </a:r>
            <a:r>
              <a:rPr dirty="0" sz="1100" spc="-5">
                <a:latin typeface="Arial"/>
                <a:cs typeface="Arial"/>
              </a:rPr>
              <a:t>(2011).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5778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17720" y="1463572"/>
            <a:ext cx="539750" cy="376555"/>
          </a:xfrm>
          <a:custGeom>
            <a:avLst/>
            <a:gdLst/>
            <a:ahLst/>
            <a:cxnLst/>
            <a:rect l="l" t="t" r="r" b="b"/>
            <a:pathLst>
              <a:path w="539750" h="376555">
                <a:moveTo>
                  <a:pt x="419267" y="0"/>
                </a:moveTo>
                <a:lnTo>
                  <a:pt x="413909" y="15279"/>
                </a:lnTo>
                <a:lnTo>
                  <a:pt x="435700" y="24736"/>
                </a:lnTo>
                <a:lnTo>
                  <a:pt x="454440" y="37826"/>
                </a:lnTo>
                <a:lnTo>
                  <a:pt x="482767" y="74909"/>
                </a:lnTo>
                <a:lnTo>
                  <a:pt x="499436" y="124940"/>
                </a:lnTo>
                <a:lnTo>
                  <a:pt x="504992" y="186331"/>
                </a:lnTo>
                <a:lnTo>
                  <a:pt x="503597" y="219533"/>
                </a:lnTo>
                <a:lnTo>
                  <a:pt x="492435" y="276782"/>
                </a:lnTo>
                <a:lnTo>
                  <a:pt x="470036" y="321493"/>
                </a:lnTo>
                <a:lnTo>
                  <a:pt x="435954" y="351655"/>
                </a:lnTo>
                <a:lnTo>
                  <a:pt x="414505" y="361156"/>
                </a:lnTo>
                <a:lnTo>
                  <a:pt x="419267" y="376435"/>
                </a:lnTo>
                <a:lnTo>
                  <a:pt x="470613" y="352349"/>
                </a:lnTo>
                <a:lnTo>
                  <a:pt x="508365" y="310653"/>
                </a:lnTo>
                <a:lnTo>
                  <a:pt x="531582" y="254818"/>
                </a:lnTo>
                <a:lnTo>
                  <a:pt x="539322" y="188316"/>
                </a:lnTo>
                <a:lnTo>
                  <a:pt x="537381" y="153807"/>
                </a:lnTo>
                <a:lnTo>
                  <a:pt x="521853" y="92638"/>
                </a:lnTo>
                <a:lnTo>
                  <a:pt x="491058" y="42843"/>
                </a:lnTo>
                <a:lnTo>
                  <a:pt x="446558" y="9853"/>
                </a:lnTo>
                <a:lnTo>
                  <a:pt x="419267" y="0"/>
                </a:lnTo>
                <a:close/>
              </a:path>
              <a:path w="539750" h="376555">
                <a:moveTo>
                  <a:pt x="120055" y="0"/>
                </a:moveTo>
                <a:lnTo>
                  <a:pt x="68833" y="24134"/>
                </a:lnTo>
                <a:lnTo>
                  <a:pt x="31056" y="65980"/>
                </a:lnTo>
                <a:lnTo>
                  <a:pt x="7764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3" y="366594"/>
                </a:lnTo>
                <a:lnTo>
                  <a:pt x="120055" y="376435"/>
                </a:lnTo>
                <a:lnTo>
                  <a:pt x="124818" y="361156"/>
                </a:lnTo>
                <a:lnTo>
                  <a:pt x="103368" y="351655"/>
                </a:lnTo>
                <a:lnTo>
                  <a:pt x="84857" y="338435"/>
                </a:lnTo>
                <a:lnTo>
                  <a:pt x="56654" y="300831"/>
                </a:lnTo>
                <a:lnTo>
                  <a:pt x="39911" y="249683"/>
                </a:lnTo>
                <a:lnTo>
                  <a:pt x="34330" y="186331"/>
                </a:lnTo>
                <a:lnTo>
                  <a:pt x="35725" y="154216"/>
                </a:lnTo>
                <a:lnTo>
                  <a:pt x="46887" y="98504"/>
                </a:lnTo>
                <a:lnTo>
                  <a:pt x="69323" y="54551"/>
                </a:lnTo>
                <a:lnTo>
                  <a:pt x="103702" y="24736"/>
                </a:lnTo>
                <a:lnTo>
                  <a:pt x="125413" y="15279"/>
                </a:lnTo>
                <a:lnTo>
                  <a:pt x="120055" y="0"/>
                </a:lnTo>
                <a:close/>
              </a:path>
            </a:pathLst>
          </a:custGeom>
          <a:solidFill>
            <a:srgbClr val="60B5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70179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6431915" algn="l"/>
              </a:tabLst>
            </a:pPr>
            <a:r>
              <a:rPr dirty="0" spc="-5"/>
              <a:t>G</a:t>
            </a:r>
            <a:r>
              <a:rPr dirty="0"/>
              <a:t>o</a:t>
            </a:r>
            <a:r>
              <a:rPr dirty="0" spc="-10"/>
              <a:t>a</a:t>
            </a:r>
            <a:r>
              <a:rPr dirty="0" spc="0"/>
              <a:t>l</a:t>
            </a:r>
            <a:r>
              <a:rPr dirty="0" b="0">
                <a:latin typeface="Calibri"/>
                <a:cs typeface="Calibri"/>
              </a:rPr>
              <a:t>:</a:t>
            </a:r>
            <a:r>
              <a:rPr dirty="0" spc="0" b="0">
                <a:latin typeface="Calibri"/>
                <a:cs typeface="Calibri"/>
              </a:rPr>
              <a:t> D</a:t>
            </a:r>
            <a:r>
              <a:rPr dirty="0" spc="-5" b="0">
                <a:latin typeface="Calibri"/>
                <a:cs typeface="Calibri"/>
              </a:rPr>
              <a:t>es</a:t>
            </a:r>
            <a:r>
              <a:rPr dirty="0" b="0">
                <a:latin typeface="Calibri"/>
                <a:cs typeface="Calibri"/>
              </a:rPr>
              <a:t>ign</a:t>
            </a:r>
            <a:r>
              <a:rPr dirty="0" spc="0" b="0">
                <a:latin typeface="Calibri"/>
                <a:cs typeface="Calibri"/>
              </a:rPr>
              <a:t> g</a:t>
            </a:r>
            <a:r>
              <a:rPr dirty="0" spc="-70" b="0">
                <a:latin typeface="Calibri"/>
                <a:cs typeface="Calibri"/>
              </a:rPr>
              <a:t>r</a:t>
            </a:r>
            <a:r>
              <a:rPr dirty="0" b="0">
                <a:latin typeface="Calibri"/>
                <a:cs typeface="Calibri"/>
              </a:rPr>
              <a:t>a</a:t>
            </a:r>
            <a:r>
              <a:rPr dirty="0" spc="0" b="0">
                <a:latin typeface="Calibri"/>
                <a:cs typeface="Calibri"/>
              </a:rPr>
              <a:t>p</a:t>
            </a:r>
            <a:r>
              <a:rPr dirty="0" b="0">
                <a:latin typeface="Calibri"/>
                <a:cs typeface="Calibri"/>
              </a:rPr>
              <a:t>h</a:t>
            </a:r>
            <a:r>
              <a:rPr dirty="0" spc="0" b="0">
                <a:latin typeface="Calibri"/>
                <a:cs typeface="Calibri"/>
              </a:rPr>
              <a:t> </a:t>
            </a:r>
            <a:r>
              <a:rPr dirty="0" spc="-85" b="0">
                <a:latin typeface="Calibri"/>
                <a:cs typeface="Calibri"/>
              </a:rPr>
              <a:t>f</a:t>
            </a:r>
            <a:r>
              <a:rPr dirty="0" spc="-5" b="0">
                <a:latin typeface="Calibri"/>
                <a:cs typeface="Calibri"/>
              </a:rPr>
              <a:t>e</a:t>
            </a:r>
            <a:r>
              <a:rPr dirty="0" spc="-25" b="0">
                <a:latin typeface="Calibri"/>
                <a:cs typeface="Calibri"/>
              </a:rPr>
              <a:t>a</a:t>
            </a:r>
            <a:r>
              <a:rPr dirty="0" b="0">
                <a:latin typeface="Calibri"/>
                <a:cs typeface="Calibri"/>
              </a:rPr>
              <a:t>t</a:t>
            </a:r>
            <a:r>
              <a:rPr dirty="0" spc="0" b="0">
                <a:latin typeface="Calibri"/>
                <a:cs typeface="Calibri"/>
              </a:rPr>
              <a:t>u</a:t>
            </a:r>
            <a:r>
              <a:rPr dirty="0" spc="-50" b="0">
                <a:latin typeface="Calibri"/>
                <a:cs typeface="Calibri"/>
              </a:rPr>
              <a:t>r</a:t>
            </a:r>
            <a:r>
              <a:rPr dirty="0" b="0">
                <a:latin typeface="Calibri"/>
                <a:cs typeface="Calibri"/>
              </a:rPr>
              <a:t>e</a:t>
            </a:r>
            <a:r>
              <a:rPr dirty="0" spc="-5" b="0">
                <a:latin typeface="Calibri"/>
                <a:cs typeface="Calibri"/>
              </a:rPr>
              <a:t> </a:t>
            </a:r>
            <a:r>
              <a:rPr dirty="0" spc="-30" b="0">
                <a:latin typeface="Calibri"/>
                <a:cs typeface="Calibri"/>
              </a:rPr>
              <a:t>v</a:t>
            </a:r>
            <a:r>
              <a:rPr dirty="0" spc="-5" b="0">
                <a:latin typeface="Calibri"/>
                <a:cs typeface="Calibri"/>
              </a:rPr>
              <a:t>ec</a:t>
            </a:r>
            <a:r>
              <a:rPr dirty="0" spc="-30" b="0">
                <a:latin typeface="Calibri"/>
                <a:cs typeface="Calibri"/>
              </a:rPr>
              <a:t>t</a:t>
            </a:r>
            <a:r>
              <a:rPr dirty="0" b="0">
                <a:latin typeface="Calibri"/>
                <a:cs typeface="Calibri"/>
              </a:rPr>
              <a:t>or</a:t>
            </a:r>
            <a:r>
              <a:rPr dirty="0" spc="-10" b="0">
                <a:latin typeface="Calibri"/>
                <a:cs typeface="Calibri"/>
              </a:rPr>
              <a:t> </a:t>
            </a:r>
            <a:r>
              <a:rPr dirty="0" b="0">
                <a:latin typeface="Cambria Math"/>
                <a:cs typeface="Cambria Math"/>
              </a:rPr>
              <a:t>𝜙	𝐺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8108" y="1720015"/>
            <a:ext cx="8058150" cy="4084320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9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30" b="1">
                <a:latin typeface="Calibri"/>
                <a:cs typeface="Calibri"/>
              </a:rPr>
              <a:t>Key </a:t>
            </a:r>
            <a:r>
              <a:rPr dirty="0" sz="3200" spc="-5" b="1">
                <a:latin typeface="Calibri"/>
                <a:cs typeface="Calibri"/>
              </a:rPr>
              <a:t>idea</a:t>
            </a:r>
            <a:r>
              <a:rPr dirty="0" sz="3200" spc="-5">
                <a:latin typeface="Calibri"/>
                <a:cs typeface="Calibri"/>
              </a:rPr>
              <a:t>: </a:t>
            </a:r>
            <a:r>
              <a:rPr dirty="0" sz="3200" spc="-25">
                <a:solidFill>
                  <a:srgbClr val="008000"/>
                </a:solidFill>
                <a:latin typeface="Calibri"/>
                <a:cs typeface="Calibri"/>
              </a:rPr>
              <a:t>Bag-of-Words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(BoW)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</a:t>
            </a:r>
            <a:r>
              <a:rPr dirty="0" sz="3200" spc="5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lvl="1" marL="625475" marR="310515" indent="-274320">
              <a:lnSpc>
                <a:spcPts val="3310"/>
              </a:lnSpc>
              <a:spcBef>
                <a:spcPts val="9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Recall: </a:t>
            </a:r>
            <a:r>
              <a:rPr dirty="0" sz="2800" spc="-5">
                <a:latin typeface="Calibri"/>
                <a:cs typeface="Calibri"/>
              </a:rPr>
              <a:t>BoW simply uses the </a:t>
            </a:r>
            <a:r>
              <a:rPr dirty="0" sz="2800" spc="-20">
                <a:latin typeface="Calibri"/>
                <a:cs typeface="Calibri"/>
              </a:rPr>
              <a:t>word </a:t>
            </a:r>
            <a:r>
              <a:rPr dirty="0" sz="2800" spc="-10">
                <a:latin typeface="Calibri"/>
                <a:cs typeface="Calibri"/>
              </a:rPr>
              <a:t>counts </a:t>
            </a:r>
            <a:r>
              <a:rPr dirty="0" sz="2800" spc="-5">
                <a:latin typeface="Calibri"/>
                <a:cs typeface="Calibri"/>
              </a:rPr>
              <a:t>as  </a:t>
            </a:r>
            <a:r>
              <a:rPr dirty="0" sz="2800" spc="-25">
                <a:latin typeface="Calibri"/>
                <a:cs typeface="Calibri"/>
              </a:rPr>
              <a:t>features for </a:t>
            </a:r>
            <a:r>
              <a:rPr dirty="0" sz="2800" spc="-10">
                <a:latin typeface="Calibri"/>
                <a:cs typeface="Calibri"/>
              </a:rPr>
              <a:t>documents </a:t>
            </a:r>
            <a:r>
              <a:rPr dirty="0" sz="2800">
                <a:latin typeface="Calibri"/>
                <a:cs typeface="Calibri"/>
              </a:rPr>
              <a:t>(no </a:t>
            </a:r>
            <a:r>
              <a:rPr dirty="0" sz="2800" spc="-10">
                <a:latin typeface="Calibri"/>
                <a:cs typeface="Calibri"/>
              </a:rPr>
              <a:t>ordering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considered).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3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>
                <a:latin typeface="Calibri"/>
                <a:cs typeface="Calibri"/>
              </a:rPr>
              <a:t>Naïve </a:t>
            </a:r>
            <a:r>
              <a:rPr dirty="0" sz="2800" spc="-15">
                <a:latin typeface="Calibri"/>
                <a:cs typeface="Calibri"/>
              </a:rPr>
              <a:t>extension to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graph: </a:t>
            </a:r>
            <a:r>
              <a:rPr dirty="0" sz="2800" spc="-30">
                <a:solidFill>
                  <a:srgbClr val="C00000"/>
                </a:solidFill>
                <a:latin typeface="Calibri"/>
                <a:cs typeface="Calibri"/>
              </a:rPr>
              <a:t>Regard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nodes as</a:t>
            </a:r>
            <a:r>
              <a:rPr dirty="0" sz="2800" spc="1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C00000"/>
                </a:solidFill>
                <a:latin typeface="Calibri"/>
                <a:cs typeface="Calibri"/>
              </a:rPr>
              <a:t>words.</a:t>
            </a:r>
            <a:endParaRPr sz="2800">
              <a:latin typeface="Calibri"/>
              <a:cs typeface="Calibri"/>
            </a:endParaRPr>
          </a:p>
          <a:p>
            <a:pPr lvl="1" marL="625475" marR="605790" indent="-274320">
              <a:lnSpc>
                <a:spcPct val="101400"/>
              </a:lnSpc>
              <a:spcBef>
                <a:spcPts val="57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Since both </a:t>
            </a:r>
            <a:r>
              <a:rPr dirty="0" sz="2800" spc="-15">
                <a:latin typeface="Calibri"/>
                <a:cs typeface="Calibri"/>
              </a:rPr>
              <a:t>graphs </a:t>
            </a:r>
            <a:r>
              <a:rPr dirty="0" sz="2800" spc="-25">
                <a:latin typeface="Calibri"/>
                <a:cs typeface="Calibri"/>
              </a:rPr>
              <a:t>have </a:t>
            </a:r>
            <a:r>
              <a:rPr dirty="0" sz="2800">
                <a:solidFill>
                  <a:srgbClr val="FF0000"/>
                </a:solidFill>
                <a:latin typeface="Calibri"/>
                <a:cs typeface="Calibri"/>
              </a:rPr>
              <a:t>4 </a:t>
            </a:r>
            <a:r>
              <a:rPr dirty="0" sz="2800" spc="-15">
                <a:solidFill>
                  <a:srgbClr val="FF0000"/>
                </a:solidFill>
                <a:latin typeface="Calibri"/>
                <a:cs typeface="Calibri"/>
              </a:rPr>
              <a:t>red </a:t>
            </a:r>
            <a:r>
              <a:rPr dirty="0" sz="2800" spc="-5">
                <a:solidFill>
                  <a:srgbClr val="FF0000"/>
                </a:solidFill>
                <a:latin typeface="Calibri"/>
                <a:cs typeface="Calibri"/>
              </a:rPr>
              <a:t>nodes</a:t>
            </a:r>
            <a:r>
              <a:rPr dirty="0" sz="2800" spc="-5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get </a:t>
            </a:r>
            <a:r>
              <a:rPr dirty="0" sz="2800" spc="-130">
                <a:latin typeface="Calibri"/>
                <a:cs typeface="Calibri"/>
              </a:rPr>
              <a:t>the  </a:t>
            </a:r>
            <a:r>
              <a:rPr dirty="0" sz="2800" spc="-5">
                <a:latin typeface="Calibri"/>
                <a:cs typeface="Calibri"/>
              </a:rPr>
              <a:t>same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800" spc="-15">
                <a:latin typeface="Calibri"/>
                <a:cs typeface="Calibri"/>
              </a:rPr>
              <a:t>vector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25">
                <a:latin typeface="Calibri"/>
                <a:cs typeface="Calibri"/>
              </a:rPr>
              <a:t>different</a:t>
            </a:r>
            <a:r>
              <a:rPr dirty="0" sz="2800" spc="10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graphs…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50">
              <a:latin typeface="Times New Roman"/>
              <a:cs typeface="Times New Roman"/>
            </a:endParaRPr>
          </a:p>
          <a:p>
            <a:pPr marL="2286635">
              <a:lnSpc>
                <a:spcPct val="100000"/>
              </a:lnSpc>
              <a:spcBef>
                <a:spcPts val="5"/>
              </a:spcBef>
              <a:tabLst>
                <a:tab pos="3499485" algn="l"/>
              </a:tabLst>
            </a:pPr>
            <a:r>
              <a:rPr dirty="0" sz="3600" spc="30">
                <a:latin typeface="Cambria Math"/>
                <a:cs typeface="Cambria Math"/>
              </a:rPr>
              <a:t>𝜙(	</a:t>
            </a:r>
            <a:r>
              <a:rPr dirty="0" sz="3600">
                <a:latin typeface="Cambria Math"/>
                <a:cs typeface="Cambria Math"/>
              </a:rPr>
              <a:t>) </a:t>
            </a:r>
            <a:r>
              <a:rPr dirty="0" sz="3600">
                <a:latin typeface="Arial"/>
                <a:cs typeface="Arial"/>
              </a:rPr>
              <a:t>=</a:t>
            </a:r>
            <a:r>
              <a:rPr dirty="0" sz="3600" spc="100">
                <a:latin typeface="Arial"/>
                <a:cs typeface="Arial"/>
              </a:rPr>
              <a:t> </a:t>
            </a:r>
            <a:r>
              <a:rPr dirty="0" sz="3600">
                <a:latin typeface="Cambria Math"/>
                <a:cs typeface="Cambria Math"/>
              </a:rPr>
              <a:t>𝜙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92162" y="5355931"/>
            <a:ext cx="999490" cy="423545"/>
          </a:xfrm>
          <a:custGeom>
            <a:avLst/>
            <a:gdLst/>
            <a:ahLst/>
            <a:cxnLst/>
            <a:rect l="l" t="t" r="r" b="b"/>
            <a:pathLst>
              <a:path w="999489" h="423545">
                <a:moveTo>
                  <a:pt x="864151" y="0"/>
                </a:moveTo>
                <a:lnTo>
                  <a:pt x="858123" y="17189"/>
                </a:lnTo>
                <a:lnTo>
                  <a:pt x="882638" y="27828"/>
                </a:lnTo>
                <a:lnTo>
                  <a:pt x="903720" y="42555"/>
                </a:lnTo>
                <a:lnTo>
                  <a:pt x="935588" y="84273"/>
                </a:lnTo>
                <a:lnTo>
                  <a:pt x="954341" y="140558"/>
                </a:lnTo>
                <a:lnTo>
                  <a:pt x="960592" y="209623"/>
                </a:lnTo>
                <a:lnTo>
                  <a:pt x="959022" y="246975"/>
                </a:lnTo>
                <a:lnTo>
                  <a:pt x="946465" y="311380"/>
                </a:lnTo>
                <a:lnTo>
                  <a:pt x="921267" y="361679"/>
                </a:lnTo>
                <a:lnTo>
                  <a:pt x="882925" y="395612"/>
                </a:lnTo>
                <a:lnTo>
                  <a:pt x="858794" y="406300"/>
                </a:lnTo>
                <a:lnTo>
                  <a:pt x="864151" y="423490"/>
                </a:lnTo>
                <a:lnTo>
                  <a:pt x="921915" y="396394"/>
                </a:lnTo>
                <a:lnTo>
                  <a:pt x="964387" y="349485"/>
                </a:lnTo>
                <a:lnTo>
                  <a:pt x="990506" y="286670"/>
                </a:lnTo>
                <a:lnTo>
                  <a:pt x="999213" y="211856"/>
                </a:lnTo>
                <a:lnTo>
                  <a:pt x="997029" y="173032"/>
                </a:lnTo>
                <a:lnTo>
                  <a:pt x="979560" y="104218"/>
                </a:lnTo>
                <a:lnTo>
                  <a:pt x="944916" y="48199"/>
                </a:lnTo>
                <a:lnTo>
                  <a:pt x="894854" y="11085"/>
                </a:lnTo>
                <a:lnTo>
                  <a:pt x="864151" y="0"/>
                </a:lnTo>
                <a:close/>
              </a:path>
              <a:path w="999489" h="423545">
                <a:moveTo>
                  <a:pt x="135060" y="0"/>
                </a:moveTo>
                <a:lnTo>
                  <a:pt x="77436" y="27151"/>
                </a:lnTo>
                <a:lnTo>
                  <a:pt x="34936" y="74227"/>
                </a:lnTo>
                <a:lnTo>
                  <a:pt x="8733" y="137153"/>
                </a:lnTo>
                <a:lnTo>
                  <a:pt x="0" y="211856"/>
                </a:lnTo>
                <a:lnTo>
                  <a:pt x="2176" y="250763"/>
                </a:lnTo>
                <a:lnTo>
                  <a:pt x="19588" y="319577"/>
                </a:lnTo>
                <a:lnTo>
                  <a:pt x="54148" y="375416"/>
                </a:lnTo>
                <a:lnTo>
                  <a:pt x="104267" y="412418"/>
                </a:lnTo>
                <a:lnTo>
                  <a:pt x="135060" y="423490"/>
                </a:lnTo>
                <a:lnTo>
                  <a:pt x="140418" y="406300"/>
                </a:lnTo>
                <a:lnTo>
                  <a:pt x="116287" y="395612"/>
                </a:lnTo>
                <a:lnTo>
                  <a:pt x="95462" y="380739"/>
                </a:lnTo>
                <a:lnTo>
                  <a:pt x="63734" y="338434"/>
                </a:lnTo>
                <a:lnTo>
                  <a:pt x="44898" y="280894"/>
                </a:lnTo>
                <a:lnTo>
                  <a:pt x="38620" y="209623"/>
                </a:lnTo>
                <a:lnTo>
                  <a:pt x="40190" y="173493"/>
                </a:lnTo>
                <a:lnTo>
                  <a:pt x="52747" y="110818"/>
                </a:lnTo>
                <a:lnTo>
                  <a:pt x="77987" y="61370"/>
                </a:lnTo>
                <a:lnTo>
                  <a:pt x="116663" y="27828"/>
                </a:lnTo>
                <a:lnTo>
                  <a:pt x="141088" y="17189"/>
                </a:lnTo>
                <a:lnTo>
                  <a:pt x="1350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17527" y="5457591"/>
            <a:ext cx="5080" cy="318770"/>
          </a:xfrm>
          <a:custGeom>
            <a:avLst/>
            <a:gdLst/>
            <a:ahLst/>
            <a:cxnLst/>
            <a:rect l="l" t="t" r="r" b="b"/>
            <a:pathLst>
              <a:path w="5079" h="318770">
                <a:moveTo>
                  <a:pt x="4881" y="0"/>
                </a:moveTo>
                <a:lnTo>
                  <a:pt x="0" y="31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82178" y="5844619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5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66112" y="5403126"/>
            <a:ext cx="379095" cy="391795"/>
          </a:xfrm>
          <a:custGeom>
            <a:avLst/>
            <a:gdLst/>
            <a:ahLst/>
            <a:cxnLst/>
            <a:rect l="l" t="t" r="r" b="b"/>
            <a:pathLst>
              <a:path w="379095" h="391795">
                <a:moveTo>
                  <a:pt x="379027" y="3915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92674" y="5452202"/>
            <a:ext cx="0" cy="321945"/>
          </a:xfrm>
          <a:custGeom>
            <a:avLst/>
            <a:gdLst/>
            <a:ahLst/>
            <a:cxnLst/>
            <a:rect l="l" t="t" r="r" b="b"/>
            <a:pathLst>
              <a:path w="0" h="321945">
                <a:moveTo>
                  <a:pt x="1" y="32182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450301" y="577596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1"/>
                </a:lnTo>
                <a:lnTo>
                  <a:pt x="67226" y="141188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450301" y="577596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55182" y="531640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55182" y="531640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25449" y="531101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2"/>
                </a:lnTo>
                <a:lnTo>
                  <a:pt x="19690" y="120511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25449" y="531101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25449" y="577402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25449" y="577402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51781" y="5387070"/>
            <a:ext cx="5080" cy="340360"/>
          </a:xfrm>
          <a:custGeom>
            <a:avLst/>
            <a:gdLst/>
            <a:ahLst/>
            <a:cxnLst/>
            <a:rect l="l" t="t" r="r" b="b"/>
            <a:pathLst>
              <a:path w="5079" h="340360">
                <a:moveTo>
                  <a:pt x="4958" y="0"/>
                </a:moveTo>
                <a:lnTo>
                  <a:pt x="0" y="34020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517446" y="5800635"/>
            <a:ext cx="345440" cy="0"/>
          </a:xfrm>
          <a:custGeom>
            <a:avLst/>
            <a:gdLst/>
            <a:ahLst/>
            <a:cxnLst/>
            <a:rect l="l" t="t" r="r" b="b"/>
            <a:pathLst>
              <a:path w="345439" h="0">
                <a:moveTo>
                  <a:pt x="0" y="1"/>
                </a:moveTo>
                <a:lnTo>
                  <a:pt x="34489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01130" y="5328872"/>
            <a:ext cx="385445" cy="418465"/>
          </a:xfrm>
          <a:custGeom>
            <a:avLst/>
            <a:gdLst/>
            <a:ahLst/>
            <a:cxnLst/>
            <a:rect l="l" t="t" r="r" b="b"/>
            <a:pathLst>
              <a:path w="385445" h="418464">
                <a:moveTo>
                  <a:pt x="384988" y="41842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34400" y="5381313"/>
            <a:ext cx="0" cy="344170"/>
          </a:xfrm>
          <a:custGeom>
            <a:avLst/>
            <a:gdLst/>
            <a:ahLst/>
            <a:cxnLst/>
            <a:rect l="l" t="t" r="r" b="b"/>
            <a:pathLst>
              <a:path w="0" h="344170">
                <a:moveTo>
                  <a:pt x="1" y="34388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83498" y="5727274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68282" y="0"/>
                </a:moveTo>
                <a:lnTo>
                  <a:pt x="41704" y="5928"/>
                </a:lnTo>
                <a:lnTo>
                  <a:pt x="19999" y="22094"/>
                </a:lnTo>
                <a:lnTo>
                  <a:pt x="5366" y="46072"/>
                </a:lnTo>
                <a:lnTo>
                  <a:pt x="0" y="75434"/>
                </a:lnTo>
                <a:lnTo>
                  <a:pt x="5366" y="104797"/>
                </a:lnTo>
                <a:lnTo>
                  <a:pt x="19999" y="128774"/>
                </a:lnTo>
                <a:lnTo>
                  <a:pt x="41704" y="144941"/>
                </a:lnTo>
                <a:lnTo>
                  <a:pt x="68282" y="150869"/>
                </a:lnTo>
                <a:lnTo>
                  <a:pt x="94861" y="144941"/>
                </a:lnTo>
                <a:lnTo>
                  <a:pt x="116565" y="128774"/>
                </a:lnTo>
                <a:lnTo>
                  <a:pt x="131199" y="104797"/>
                </a:lnTo>
                <a:lnTo>
                  <a:pt x="136565" y="75434"/>
                </a:lnTo>
                <a:lnTo>
                  <a:pt x="131199" y="46072"/>
                </a:lnTo>
                <a:lnTo>
                  <a:pt x="116565" y="22094"/>
                </a:lnTo>
                <a:lnTo>
                  <a:pt x="94861" y="5928"/>
                </a:lnTo>
                <a:lnTo>
                  <a:pt x="682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383498" y="5727274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0" y="75434"/>
                </a:moveTo>
                <a:lnTo>
                  <a:pt x="5366" y="46071"/>
                </a:lnTo>
                <a:lnTo>
                  <a:pt x="19999" y="22094"/>
                </a:lnTo>
                <a:lnTo>
                  <a:pt x="41704" y="5928"/>
                </a:lnTo>
                <a:lnTo>
                  <a:pt x="68283" y="0"/>
                </a:lnTo>
                <a:lnTo>
                  <a:pt x="94861" y="5928"/>
                </a:lnTo>
                <a:lnTo>
                  <a:pt x="116566" y="22094"/>
                </a:lnTo>
                <a:lnTo>
                  <a:pt x="131199" y="46071"/>
                </a:lnTo>
                <a:lnTo>
                  <a:pt x="136566" y="75434"/>
                </a:lnTo>
                <a:lnTo>
                  <a:pt x="131199" y="104797"/>
                </a:lnTo>
                <a:lnTo>
                  <a:pt x="116566" y="128774"/>
                </a:lnTo>
                <a:lnTo>
                  <a:pt x="94861" y="144940"/>
                </a:lnTo>
                <a:lnTo>
                  <a:pt x="68283" y="150869"/>
                </a:lnTo>
                <a:lnTo>
                  <a:pt x="41704" y="144940"/>
                </a:lnTo>
                <a:lnTo>
                  <a:pt x="19999" y="128774"/>
                </a:lnTo>
                <a:lnTo>
                  <a:pt x="5366" y="104797"/>
                </a:lnTo>
                <a:lnTo>
                  <a:pt x="0" y="7543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88456" y="5236202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68282" y="0"/>
                </a:moveTo>
                <a:lnTo>
                  <a:pt x="41703" y="5928"/>
                </a:lnTo>
                <a:lnTo>
                  <a:pt x="19999" y="22094"/>
                </a:lnTo>
                <a:lnTo>
                  <a:pt x="5365" y="46071"/>
                </a:lnTo>
                <a:lnTo>
                  <a:pt x="0" y="75434"/>
                </a:lnTo>
                <a:lnTo>
                  <a:pt x="5365" y="104796"/>
                </a:lnTo>
                <a:lnTo>
                  <a:pt x="19999" y="128774"/>
                </a:lnTo>
                <a:lnTo>
                  <a:pt x="41703" y="144940"/>
                </a:lnTo>
                <a:lnTo>
                  <a:pt x="68282" y="150868"/>
                </a:lnTo>
                <a:lnTo>
                  <a:pt x="94861" y="144940"/>
                </a:lnTo>
                <a:lnTo>
                  <a:pt x="116565" y="128774"/>
                </a:lnTo>
                <a:lnTo>
                  <a:pt x="131199" y="104796"/>
                </a:lnTo>
                <a:lnTo>
                  <a:pt x="136565" y="75434"/>
                </a:lnTo>
                <a:lnTo>
                  <a:pt x="131199" y="46071"/>
                </a:lnTo>
                <a:lnTo>
                  <a:pt x="116565" y="22094"/>
                </a:lnTo>
                <a:lnTo>
                  <a:pt x="94861" y="5928"/>
                </a:lnTo>
                <a:lnTo>
                  <a:pt x="682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88456" y="5236202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0" y="75434"/>
                </a:moveTo>
                <a:lnTo>
                  <a:pt x="5366" y="46071"/>
                </a:lnTo>
                <a:lnTo>
                  <a:pt x="19999" y="22094"/>
                </a:lnTo>
                <a:lnTo>
                  <a:pt x="41704" y="5928"/>
                </a:lnTo>
                <a:lnTo>
                  <a:pt x="68283" y="0"/>
                </a:lnTo>
                <a:lnTo>
                  <a:pt x="94861" y="5928"/>
                </a:lnTo>
                <a:lnTo>
                  <a:pt x="116566" y="22094"/>
                </a:lnTo>
                <a:lnTo>
                  <a:pt x="131199" y="46071"/>
                </a:lnTo>
                <a:lnTo>
                  <a:pt x="136566" y="75434"/>
                </a:lnTo>
                <a:lnTo>
                  <a:pt x="131199" y="104797"/>
                </a:lnTo>
                <a:lnTo>
                  <a:pt x="116566" y="128774"/>
                </a:lnTo>
                <a:lnTo>
                  <a:pt x="94861" y="144940"/>
                </a:lnTo>
                <a:lnTo>
                  <a:pt x="68283" y="150869"/>
                </a:lnTo>
                <a:lnTo>
                  <a:pt x="41704" y="144940"/>
                </a:lnTo>
                <a:lnTo>
                  <a:pt x="19999" y="128774"/>
                </a:lnTo>
                <a:lnTo>
                  <a:pt x="5366" y="104797"/>
                </a:lnTo>
                <a:lnTo>
                  <a:pt x="0" y="7543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66117" y="5230444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68282" y="0"/>
                </a:moveTo>
                <a:lnTo>
                  <a:pt x="41704" y="5928"/>
                </a:lnTo>
                <a:lnTo>
                  <a:pt x="19999" y="22094"/>
                </a:lnTo>
                <a:lnTo>
                  <a:pt x="5366" y="46071"/>
                </a:lnTo>
                <a:lnTo>
                  <a:pt x="0" y="75434"/>
                </a:lnTo>
                <a:lnTo>
                  <a:pt x="5366" y="104796"/>
                </a:lnTo>
                <a:lnTo>
                  <a:pt x="19999" y="128774"/>
                </a:lnTo>
                <a:lnTo>
                  <a:pt x="41704" y="144940"/>
                </a:lnTo>
                <a:lnTo>
                  <a:pt x="68282" y="150868"/>
                </a:lnTo>
                <a:lnTo>
                  <a:pt x="94862" y="144940"/>
                </a:lnTo>
                <a:lnTo>
                  <a:pt x="116567" y="128774"/>
                </a:lnTo>
                <a:lnTo>
                  <a:pt x="131200" y="104796"/>
                </a:lnTo>
                <a:lnTo>
                  <a:pt x="136566" y="75434"/>
                </a:lnTo>
                <a:lnTo>
                  <a:pt x="131200" y="46071"/>
                </a:lnTo>
                <a:lnTo>
                  <a:pt x="116567" y="22094"/>
                </a:lnTo>
                <a:lnTo>
                  <a:pt x="94862" y="5928"/>
                </a:lnTo>
                <a:lnTo>
                  <a:pt x="682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66117" y="5230444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0" y="75434"/>
                </a:moveTo>
                <a:lnTo>
                  <a:pt x="5366" y="46071"/>
                </a:lnTo>
                <a:lnTo>
                  <a:pt x="19999" y="22094"/>
                </a:lnTo>
                <a:lnTo>
                  <a:pt x="41704" y="5928"/>
                </a:lnTo>
                <a:lnTo>
                  <a:pt x="68283" y="0"/>
                </a:lnTo>
                <a:lnTo>
                  <a:pt x="94861" y="5928"/>
                </a:lnTo>
                <a:lnTo>
                  <a:pt x="116566" y="22094"/>
                </a:lnTo>
                <a:lnTo>
                  <a:pt x="131199" y="46071"/>
                </a:lnTo>
                <a:lnTo>
                  <a:pt x="136566" y="75434"/>
                </a:lnTo>
                <a:lnTo>
                  <a:pt x="131199" y="104797"/>
                </a:lnTo>
                <a:lnTo>
                  <a:pt x="116566" y="128774"/>
                </a:lnTo>
                <a:lnTo>
                  <a:pt x="94861" y="144940"/>
                </a:lnTo>
                <a:lnTo>
                  <a:pt x="68283" y="150869"/>
                </a:lnTo>
                <a:lnTo>
                  <a:pt x="41704" y="144940"/>
                </a:lnTo>
                <a:lnTo>
                  <a:pt x="19999" y="128774"/>
                </a:lnTo>
                <a:lnTo>
                  <a:pt x="5366" y="104797"/>
                </a:lnTo>
                <a:lnTo>
                  <a:pt x="0" y="7543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66117" y="5725202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68282" y="0"/>
                </a:moveTo>
                <a:lnTo>
                  <a:pt x="41704" y="5928"/>
                </a:lnTo>
                <a:lnTo>
                  <a:pt x="19999" y="22094"/>
                </a:lnTo>
                <a:lnTo>
                  <a:pt x="5366" y="46071"/>
                </a:lnTo>
                <a:lnTo>
                  <a:pt x="0" y="75434"/>
                </a:lnTo>
                <a:lnTo>
                  <a:pt x="5366" y="104796"/>
                </a:lnTo>
                <a:lnTo>
                  <a:pt x="19999" y="128774"/>
                </a:lnTo>
                <a:lnTo>
                  <a:pt x="41704" y="144940"/>
                </a:lnTo>
                <a:lnTo>
                  <a:pt x="68282" y="150869"/>
                </a:lnTo>
                <a:lnTo>
                  <a:pt x="94862" y="144940"/>
                </a:lnTo>
                <a:lnTo>
                  <a:pt x="116567" y="128774"/>
                </a:lnTo>
                <a:lnTo>
                  <a:pt x="131200" y="104796"/>
                </a:lnTo>
                <a:lnTo>
                  <a:pt x="136566" y="75434"/>
                </a:lnTo>
                <a:lnTo>
                  <a:pt x="131200" y="46071"/>
                </a:lnTo>
                <a:lnTo>
                  <a:pt x="116567" y="22094"/>
                </a:lnTo>
                <a:lnTo>
                  <a:pt x="94862" y="5928"/>
                </a:lnTo>
                <a:lnTo>
                  <a:pt x="682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66117" y="5725202"/>
            <a:ext cx="137160" cy="151130"/>
          </a:xfrm>
          <a:custGeom>
            <a:avLst/>
            <a:gdLst/>
            <a:ahLst/>
            <a:cxnLst/>
            <a:rect l="l" t="t" r="r" b="b"/>
            <a:pathLst>
              <a:path w="137160" h="151129">
                <a:moveTo>
                  <a:pt x="0" y="75434"/>
                </a:moveTo>
                <a:lnTo>
                  <a:pt x="5366" y="46071"/>
                </a:lnTo>
                <a:lnTo>
                  <a:pt x="19999" y="22094"/>
                </a:lnTo>
                <a:lnTo>
                  <a:pt x="41704" y="5928"/>
                </a:lnTo>
                <a:lnTo>
                  <a:pt x="68283" y="0"/>
                </a:lnTo>
                <a:lnTo>
                  <a:pt x="94861" y="5928"/>
                </a:lnTo>
                <a:lnTo>
                  <a:pt x="116566" y="22094"/>
                </a:lnTo>
                <a:lnTo>
                  <a:pt x="131199" y="46071"/>
                </a:lnTo>
                <a:lnTo>
                  <a:pt x="136566" y="75434"/>
                </a:lnTo>
                <a:lnTo>
                  <a:pt x="131199" y="104797"/>
                </a:lnTo>
                <a:lnTo>
                  <a:pt x="116566" y="128774"/>
                </a:lnTo>
                <a:lnTo>
                  <a:pt x="94861" y="144940"/>
                </a:lnTo>
                <a:lnTo>
                  <a:pt x="68283" y="150869"/>
                </a:lnTo>
                <a:lnTo>
                  <a:pt x="41704" y="144940"/>
                </a:lnTo>
                <a:lnTo>
                  <a:pt x="19999" y="128774"/>
                </a:lnTo>
                <a:lnTo>
                  <a:pt x="5366" y="104797"/>
                </a:lnTo>
                <a:lnTo>
                  <a:pt x="0" y="7543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23840" y="5305878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 h="0">
                <a:moveTo>
                  <a:pt x="34227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702235" y="6723724"/>
            <a:ext cx="1695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46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5778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17410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E66C7D"/>
                </a:solidFill>
                <a:latin typeface="Calibri"/>
                <a:cs typeface="Calibri"/>
              </a:rPr>
              <a:t>What </a:t>
            </a:r>
            <a:r>
              <a:rPr dirty="0" b="0">
                <a:solidFill>
                  <a:srgbClr val="E66C7D"/>
                </a:solidFill>
                <a:latin typeface="Calibri"/>
                <a:cs typeface="Calibri"/>
              </a:rPr>
              <a:t>if </a:t>
            </a:r>
            <a:r>
              <a:rPr dirty="0" spc="-15" b="0">
                <a:solidFill>
                  <a:srgbClr val="E66C7D"/>
                </a:solidFill>
                <a:latin typeface="Calibri"/>
                <a:cs typeface="Calibri"/>
              </a:rPr>
              <a:t>we </a:t>
            </a:r>
            <a:r>
              <a:rPr dirty="0" spc="-5" b="0">
                <a:solidFill>
                  <a:srgbClr val="E66C7D"/>
                </a:solidFill>
                <a:latin typeface="Calibri"/>
                <a:cs typeface="Calibri"/>
              </a:rPr>
              <a:t>use Bag </a:t>
            </a:r>
            <a:r>
              <a:rPr dirty="0" b="0">
                <a:solidFill>
                  <a:srgbClr val="E66C7D"/>
                </a:solidFill>
                <a:latin typeface="Calibri"/>
                <a:cs typeface="Calibri"/>
              </a:rPr>
              <a:t>of </a:t>
            </a:r>
            <a:r>
              <a:rPr dirty="0" spc="-5">
                <a:solidFill>
                  <a:srgbClr val="E66C7D"/>
                </a:solidFill>
              </a:rPr>
              <a:t>node</a:t>
            </a:r>
            <a:r>
              <a:rPr dirty="0" spc="10">
                <a:solidFill>
                  <a:srgbClr val="E66C7D"/>
                </a:solidFill>
              </a:rPr>
              <a:t> </a:t>
            </a:r>
            <a:r>
              <a:rPr dirty="0" spc="-10">
                <a:solidFill>
                  <a:srgbClr val="E66C7D"/>
                </a:solidFill>
              </a:rPr>
              <a:t>degrees</a:t>
            </a:r>
            <a:r>
              <a:rPr dirty="0" spc="-10" b="0">
                <a:solidFill>
                  <a:srgbClr val="E66C7D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108" y="1844547"/>
            <a:ext cx="34321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  <a:tab pos="2580640" algn="l"/>
              </a:tabLst>
            </a:pPr>
            <a:r>
              <a:rPr dirty="0" sz="2800">
                <a:latin typeface="Calibri"/>
                <a:cs typeface="Calibri"/>
              </a:rPr>
              <a:t>D</a:t>
            </a:r>
            <a:r>
              <a:rPr dirty="0" sz="2800" spc="-10">
                <a:latin typeface="Calibri"/>
                <a:cs typeface="Calibri"/>
              </a:rPr>
              <a:t>e</a:t>
            </a:r>
            <a:r>
              <a:rPr dirty="0" sz="2800" spc="-5">
                <a:latin typeface="Calibri"/>
                <a:cs typeface="Calibri"/>
              </a:rPr>
              <a:t>g</a:t>
            </a:r>
            <a:r>
              <a:rPr dirty="0" sz="2800" spc="0">
                <a:latin typeface="Calibri"/>
                <a:cs typeface="Calibri"/>
              </a:rPr>
              <a:t>1</a:t>
            </a:r>
            <a:r>
              <a:rPr dirty="0" sz="2800">
                <a:latin typeface="Calibri"/>
                <a:cs typeface="Calibri"/>
              </a:rPr>
              <a:t>:	D</a:t>
            </a:r>
            <a:r>
              <a:rPr dirty="0" sz="2800" spc="-10">
                <a:latin typeface="Calibri"/>
                <a:cs typeface="Calibri"/>
              </a:rPr>
              <a:t>e</a:t>
            </a:r>
            <a:r>
              <a:rPr dirty="0" sz="2800" spc="-5">
                <a:latin typeface="Calibri"/>
                <a:cs typeface="Calibri"/>
              </a:rPr>
              <a:t>g</a:t>
            </a:r>
            <a:r>
              <a:rPr dirty="0" sz="2800" spc="0">
                <a:latin typeface="Calibri"/>
                <a:cs typeface="Calibri"/>
              </a:rPr>
              <a:t>2</a:t>
            </a:r>
            <a:r>
              <a:rPr dirty="0" sz="2800">
                <a:latin typeface="Calibri"/>
                <a:cs typeface="Calibri"/>
              </a:rPr>
              <a:t>:	D</a:t>
            </a:r>
            <a:r>
              <a:rPr dirty="0" sz="2800" spc="-10">
                <a:latin typeface="Calibri"/>
                <a:cs typeface="Calibri"/>
              </a:rPr>
              <a:t>e</a:t>
            </a:r>
            <a:r>
              <a:rPr dirty="0" sz="2800" spc="-5">
                <a:latin typeface="Calibri"/>
                <a:cs typeface="Calibri"/>
              </a:rPr>
              <a:t>g</a:t>
            </a:r>
            <a:r>
              <a:rPr dirty="0" sz="2800" spc="0">
                <a:latin typeface="Calibri"/>
                <a:cs typeface="Calibri"/>
              </a:rPr>
              <a:t>3</a:t>
            </a:r>
            <a:r>
              <a:rPr dirty="0" sz="280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4701540"/>
            <a:ext cx="7699375" cy="1973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Both </a:t>
            </a:r>
            <a:r>
              <a:rPr dirty="0" sz="3200" spc="-15">
                <a:latin typeface="Calibri"/>
                <a:cs typeface="Calibri"/>
              </a:rPr>
              <a:t>Graphlet Kernel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-25">
                <a:latin typeface="Calibri"/>
                <a:cs typeface="Calibri"/>
              </a:rPr>
              <a:t>Weisfeiler-Lehman  </a:t>
            </a:r>
            <a:r>
              <a:rPr dirty="0" sz="3200">
                <a:latin typeface="Calibri"/>
                <a:cs typeface="Calibri"/>
              </a:rPr>
              <a:t>(WL) </a:t>
            </a:r>
            <a:r>
              <a:rPr dirty="0" sz="3200" spc="-15">
                <a:latin typeface="Calibri"/>
                <a:cs typeface="Calibri"/>
              </a:rPr>
              <a:t>Kernel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Bag-of-* </a:t>
            </a:r>
            <a:r>
              <a:rPr dirty="0" sz="3200" spc="-15">
                <a:latin typeface="Calibri"/>
                <a:cs typeface="Calibri"/>
              </a:rPr>
              <a:t>representation </a:t>
            </a:r>
            <a:r>
              <a:rPr dirty="0" sz="3200">
                <a:latin typeface="Calibri"/>
                <a:cs typeface="Calibri"/>
              </a:rPr>
              <a:t>of  </a:t>
            </a:r>
            <a:r>
              <a:rPr dirty="0" sz="3200" spc="-15">
                <a:latin typeface="Calibri"/>
                <a:cs typeface="Calibri"/>
              </a:rPr>
              <a:t>graph, where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*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15">
                <a:latin typeface="Calibri"/>
                <a:cs typeface="Calibri"/>
              </a:rPr>
              <a:t>more sophisticated </a:t>
            </a:r>
            <a:r>
              <a:rPr dirty="0" sz="3200">
                <a:latin typeface="Calibri"/>
                <a:cs typeface="Calibri"/>
              </a:rPr>
              <a:t>than  </a:t>
            </a:r>
            <a:r>
              <a:rPr dirty="0" sz="3200" spc="-5">
                <a:latin typeface="Calibri"/>
                <a:cs typeface="Calibri"/>
              </a:rPr>
              <a:t>node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degrees!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2092" y="2655422"/>
            <a:ext cx="5080" cy="318770"/>
          </a:xfrm>
          <a:custGeom>
            <a:avLst/>
            <a:gdLst/>
            <a:ahLst/>
            <a:cxnLst/>
            <a:rect l="l" t="t" r="r" b="b"/>
            <a:pathLst>
              <a:path w="5080" h="318769">
                <a:moveTo>
                  <a:pt x="4881" y="0"/>
                </a:moveTo>
                <a:lnTo>
                  <a:pt x="0" y="31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66742" y="3042451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5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50677" y="2600959"/>
            <a:ext cx="379095" cy="391795"/>
          </a:xfrm>
          <a:custGeom>
            <a:avLst/>
            <a:gdLst/>
            <a:ahLst/>
            <a:cxnLst/>
            <a:rect l="l" t="t" r="r" b="b"/>
            <a:pathLst>
              <a:path w="379094" h="391794">
                <a:moveTo>
                  <a:pt x="379027" y="3915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77239" y="2650035"/>
            <a:ext cx="0" cy="321945"/>
          </a:xfrm>
          <a:custGeom>
            <a:avLst/>
            <a:gdLst/>
            <a:ahLst/>
            <a:cxnLst/>
            <a:rect l="l" t="t" r="r" b="b"/>
            <a:pathLst>
              <a:path w="0" h="321944">
                <a:moveTo>
                  <a:pt x="1" y="32182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34866" y="297379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7" y="135641"/>
                </a:lnTo>
                <a:lnTo>
                  <a:pt x="67224" y="141189"/>
                </a:lnTo>
                <a:lnTo>
                  <a:pt x="93392" y="135641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34866" y="297379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39747" y="251423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39747" y="251423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10014" y="250884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10014" y="250884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10014" y="297185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10014" y="297185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95987" y="2679678"/>
            <a:ext cx="5080" cy="318770"/>
          </a:xfrm>
          <a:custGeom>
            <a:avLst/>
            <a:gdLst/>
            <a:ahLst/>
            <a:cxnLst/>
            <a:rect l="l" t="t" r="r" b="b"/>
            <a:pathLst>
              <a:path w="5079" h="318769">
                <a:moveTo>
                  <a:pt x="4881" y="0"/>
                </a:moveTo>
                <a:lnTo>
                  <a:pt x="0" y="31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060634" y="3066707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3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44569" y="2625214"/>
            <a:ext cx="379095" cy="391795"/>
          </a:xfrm>
          <a:custGeom>
            <a:avLst/>
            <a:gdLst/>
            <a:ahLst/>
            <a:cxnLst/>
            <a:rect l="l" t="t" r="r" b="b"/>
            <a:pathLst>
              <a:path w="379095" h="391794">
                <a:moveTo>
                  <a:pt x="379010" y="3915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471111" y="2674291"/>
            <a:ext cx="0" cy="321945"/>
          </a:xfrm>
          <a:custGeom>
            <a:avLst/>
            <a:gdLst/>
            <a:ahLst/>
            <a:cxnLst/>
            <a:rect l="l" t="t" r="r" b="b"/>
            <a:pathLst>
              <a:path w="0" h="321944">
                <a:moveTo>
                  <a:pt x="1" y="32182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28764" y="2998053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2" y="0"/>
                </a:moveTo>
                <a:lnTo>
                  <a:pt x="41056" y="5547"/>
                </a:lnTo>
                <a:lnTo>
                  <a:pt x="19688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8" y="120512"/>
                </a:lnTo>
                <a:lnTo>
                  <a:pt x="41056" y="135642"/>
                </a:lnTo>
                <a:lnTo>
                  <a:pt x="67222" y="141189"/>
                </a:lnTo>
                <a:lnTo>
                  <a:pt x="93389" y="135642"/>
                </a:lnTo>
                <a:lnTo>
                  <a:pt x="114756" y="120512"/>
                </a:lnTo>
                <a:lnTo>
                  <a:pt x="129163" y="98073"/>
                </a:lnTo>
                <a:lnTo>
                  <a:pt x="134446" y="70595"/>
                </a:lnTo>
                <a:lnTo>
                  <a:pt x="129163" y="43116"/>
                </a:lnTo>
                <a:lnTo>
                  <a:pt x="114756" y="20676"/>
                </a:lnTo>
                <a:lnTo>
                  <a:pt x="93389" y="5547"/>
                </a:lnTo>
                <a:lnTo>
                  <a:pt x="67222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28764" y="2998053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89" y="20676"/>
                </a:lnTo>
                <a:lnTo>
                  <a:pt x="41056" y="5547"/>
                </a:lnTo>
                <a:lnTo>
                  <a:pt x="67223" y="0"/>
                </a:lnTo>
                <a:lnTo>
                  <a:pt x="93389" y="5547"/>
                </a:lnTo>
                <a:lnTo>
                  <a:pt x="114756" y="20676"/>
                </a:lnTo>
                <a:lnTo>
                  <a:pt x="129163" y="43115"/>
                </a:lnTo>
                <a:lnTo>
                  <a:pt x="134446" y="70594"/>
                </a:lnTo>
                <a:lnTo>
                  <a:pt x="129163" y="98073"/>
                </a:lnTo>
                <a:lnTo>
                  <a:pt x="114756" y="120512"/>
                </a:lnTo>
                <a:lnTo>
                  <a:pt x="93389" y="135641"/>
                </a:lnTo>
                <a:lnTo>
                  <a:pt x="67223" y="141189"/>
                </a:lnTo>
                <a:lnTo>
                  <a:pt x="41056" y="135641"/>
                </a:lnTo>
                <a:lnTo>
                  <a:pt x="19689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33644" y="253849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3" y="0"/>
                </a:moveTo>
                <a:lnTo>
                  <a:pt x="41056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6" y="135640"/>
                </a:lnTo>
                <a:lnTo>
                  <a:pt x="67223" y="141188"/>
                </a:lnTo>
                <a:lnTo>
                  <a:pt x="93389" y="135640"/>
                </a:lnTo>
                <a:lnTo>
                  <a:pt x="114757" y="120512"/>
                </a:lnTo>
                <a:lnTo>
                  <a:pt x="129163" y="98073"/>
                </a:lnTo>
                <a:lnTo>
                  <a:pt x="134446" y="70594"/>
                </a:lnTo>
                <a:lnTo>
                  <a:pt x="129163" y="43115"/>
                </a:lnTo>
                <a:lnTo>
                  <a:pt x="114757" y="20676"/>
                </a:lnTo>
                <a:lnTo>
                  <a:pt x="93389" y="5547"/>
                </a:lnTo>
                <a:lnTo>
                  <a:pt x="67223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33644" y="253849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89" y="20676"/>
                </a:lnTo>
                <a:lnTo>
                  <a:pt x="41056" y="5547"/>
                </a:lnTo>
                <a:lnTo>
                  <a:pt x="67223" y="0"/>
                </a:lnTo>
                <a:lnTo>
                  <a:pt x="93389" y="5547"/>
                </a:lnTo>
                <a:lnTo>
                  <a:pt x="114756" y="20676"/>
                </a:lnTo>
                <a:lnTo>
                  <a:pt x="129163" y="43115"/>
                </a:lnTo>
                <a:lnTo>
                  <a:pt x="134446" y="70594"/>
                </a:lnTo>
                <a:lnTo>
                  <a:pt x="129163" y="98073"/>
                </a:lnTo>
                <a:lnTo>
                  <a:pt x="114756" y="120512"/>
                </a:lnTo>
                <a:lnTo>
                  <a:pt x="93389" y="135641"/>
                </a:lnTo>
                <a:lnTo>
                  <a:pt x="67223" y="141189"/>
                </a:lnTo>
                <a:lnTo>
                  <a:pt x="41056" y="135641"/>
                </a:lnTo>
                <a:lnTo>
                  <a:pt x="19689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03890" y="253310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2" y="0"/>
                </a:moveTo>
                <a:lnTo>
                  <a:pt x="41056" y="5547"/>
                </a:lnTo>
                <a:lnTo>
                  <a:pt x="19688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8" y="120512"/>
                </a:lnTo>
                <a:lnTo>
                  <a:pt x="41056" y="135642"/>
                </a:lnTo>
                <a:lnTo>
                  <a:pt x="67222" y="141189"/>
                </a:lnTo>
                <a:lnTo>
                  <a:pt x="93389" y="135642"/>
                </a:lnTo>
                <a:lnTo>
                  <a:pt x="114756" y="120512"/>
                </a:lnTo>
                <a:lnTo>
                  <a:pt x="129163" y="98073"/>
                </a:lnTo>
                <a:lnTo>
                  <a:pt x="134446" y="70595"/>
                </a:lnTo>
                <a:lnTo>
                  <a:pt x="129163" y="43116"/>
                </a:lnTo>
                <a:lnTo>
                  <a:pt x="114756" y="20676"/>
                </a:lnTo>
                <a:lnTo>
                  <a:pt x="93389" y="5547"/>
                </a:lnTo>
                <a:lnTo>
                  <a:pt x="6722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403890" y="253310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89" y="20676"/>
                </a:lnTo>
                <a:lnTo>
                  <a:pt x="41056" y="5547"/>
                </a:lnTo>
                <a:lnTo>
                  <a:pt x="67223" y="0"/>
                </a:lnTo>
                <a:lnTo>
                  <a:pt x="93389" y="5547"/>
                </a:lnTo>
                <a:lnTo>
                  <a:pt x="114756" y="20676"/>
                </a:lnTo>
                <a:lnTo>
                  <a:pt x="129163" y="43115"/>
                </a:lnTo>
                <a:lnTo>
                  <a:pt x="134446" y="70594"/>
                </a:lnTo>
                <a:lnTo>
                  <a:pt x="129163" y="98073"/>
                </a:lnTo>
                <a:lnTo>
                  <a:pt x="114756" y="120512"/>
                </a:lnTo>
                <a:lnTo>
                  <a:pt x="93389" y="135641"/>
                </a:lnTo>
                <a:lnTo>
                  <a:pt x="67223" y="141189"/>
                </a:lnTo>
                <a:lnTo>
                  <a:pt x="41056" y="135641"/>
                </a:lnTo>
                <a:lnTo>
                  <a:pt x="19689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569293" y="203660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569293" y="203660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863282" y="204162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863282" y="204162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02092" y="3798422"/>
            <a:ext cx="5080" cy="318770"/>
          </a:xfrm>
          <a:custGeom>
            <a:avLst/>
            <a:gdLst/>
            <a:ahLst/>
            <a:cxnLst/>
            <a:rect l="l" t="t" r="r" b="b"/>
            <a:pathLst>
              <a:path w="5080" h="318770">
                <a:moveTo>
                  <a:pt x="4881" y="0"/>
                </a:moveTo>
                <a:lnTo>
                  <a:pt x="0" y="31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66742" y="4185451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5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450677" y="3743959"/>
            <a:ext cx="379095" cy="391795"/>
          </a:xfrm>
          <a:custGeom>
            <a:avLst/>
            <a:gdLst/>
            <a:ahLst/>
            <a:cxnLst/>
            <a:rect l="l" t="t" r="r" b="b"/>
            <a:pathLst>
              <a:path w="379094" h="391795">
                <a:moveTo>
                  <a:pt x="379027" y="3915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877239" y="3793035"/>
            <a:ext cx="0" cy="321945"/>
          </a:xfrm>
          <a:custGeom>
            <a:avLst/>
            <a:gdLst/>
            <a:ahLst/>
            <a:cxnLst/>
            <a:rect l="l" t="t" r="r" b="b"/>
            <a:pathLst>
              <a:path w="0" h="321945">
                <a:moveTo>
                  <a:pt x="1" y="32182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34866" y="411679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7" y="135641"/>
                </a:lnTo>
                <a:lnTo>
                  <a:pt x="67224" y="141189"/>
                </a:lnTo>
                <a:lnTo>
                  <a:pt x="93392" y="135641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334866" y="411679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339747" y="365723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339747" y="365723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810014" y="365184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810014" y="365184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810014" y="411485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810014" y="411485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64540" y="2459227"/>
            <a:ext cx="3077845" cy="174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5550" algn="l"/>
              </a:tabLst>
            </a:pPr>
            <a:r>
              <a:rPr dirty="0" sz="3600" spc="30">
                <a:latin typeface="Cambria Math"/>
                <a:cs typeface="Cambria Math"/>
              </a:rPr>
              <a:t>𝜙(	</a:t>
            </a:r>
            <a:r>
              <a:rPr dirty="0" sz="3600">
                <a:latin typeface="Cambria Math"/>
                <a:cs typeface="Cambria Math"/>
              </a:rPr>
              <a:t>) </a:t>
            </a:r>
            <a:r>
              <a:rPr dirty="0" sz="3600">
                <a:latin typeface="Arial"/>
                <a:cs typeface="Arial"/>
              </a:rPr>
              <a:t>=</a:t>
            </a:r>
            <a:r>
              <a:rPr dirty="0" sz="3600" spc="110">
                <a:latin typeface="Arial"/>
                <a:cs typeface="Arial"/>
              </a:rPr>
              <a:t> </a:t>
            </a:r>
            <a:r>
              <a:rPr dirty="0" sz="3200" spc="-5">
                <a:latin typeface="Arial"/>
                <a:cs typeface="Arial"/>
              </a:rPr>
              <a:t>count(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225550" algn="l"/>
              </a:tabLst>
            </a:pPr>
            <a:r>
              <a:rPr dirty="0" sz="3600" spc="30">
                <a:latin typeface="Cambria Math"/>
                <a:cs typeface="Cambria Math"/>
              </a:rPr>
              <a:t>𝜙(	</a:t>
            </a:r>
            <a:r>
              <a:rPr dirty="0" sz="3600">
                <a:latin typeface="Cambria Math"/>
                <a:cs typeface="Cambria Math"/>
              </a:rPr>
              <a:t>) </a:t>
            </a:r>
            <a:r>
              <a:rPr dirty="0" sz="3600">
                <a:latin typeface="Arial"/>
                <a:cs typeface="Arial"/>
              </a:rPr>
              <a:t>=</a:t>
            </a:r>
            <a:r>
              <a:rPr dirty="0" sz="3600" spc="110">
                <a:latin typeface="Arial"/>
                <a:cs typeface="Arial"/>
              </a:rPr>
              <a:t> </a:t>
            </a:r>
            <a:r>
              <a:rPr dirty="0" sz="3200" spc="-5">
                <a:latin typeface="Arial"/>
                <a:cs typeface="Arial"/>
              </a:rPr>
              <a:t>count(</a:t>
            </a:r>
            <a:endParaRPr sz="3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961514" y="3836499"/>
            <a:ext cx="5080" cy="318770"/>
          </a:xfrm>
          <a:custGeom>
            <a:avLst/>
            <a:gdLst/>
            <a:ahLst/>
            <a:cxnLst/>
            <a:rect l="l" t="t" r="r" b="b"/>
            <a:pathLst>
              <a:path w="5079" h="318770">
                <a:moveTo>
                  <a:pt x="4881" y="0"/>
                </a:moveTo>
                <a:lnTo>
                  <a:pt x="0" y="31837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26165" y="4223528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5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010099" y="3782036"/>
            <a:ext cx="379095" cy="391795"/>
          </a:xfrm>
          <a:custGeom>
            <a:avLst/>
            <a:gdLst/>
            <a:ahLst/>
            <a:cxnLst/>
            <a:rect l="l" t="t" r="r" b="b"/>
            <a:pathLst>
              <a:path w="379095" h="391795">
                <a:moveTo>
                  <a:pt x="379027" y="39157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36661" y="3831111"/>
            <a:ext cx="0" cy="321945"/>
          </a:xfrm>
          <a:custGeom>
            <a:avLst/>
            <a:gdLst/>
            <a:ahLst/>
            <a:cxnLst/>
            <a:rect l="l" t="t" r="r" b="b"/>
            <a:pathLst>
              <a:path w="0" h="321945">
                <a:moveTo>
                  <a:pt x="1" y="32182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894288" y="415487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894288" y="415487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899170" y="369531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7" y="135642"/>
                </a:lnTo>
                <a:lnTo>
                  <a:pt x="67224" y="141189"/>
                </a:lnTo>
                <a:lnTo>
                  <a:pt x="93392" y="135642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5"/>
                </a:lnTo>
                <a:lnTo>
                  <a:pt x="129168" y="43116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899170" y="369531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369437" y="3689922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7" y="135640"/>
                </a:lnTo>
                <a:lnTo>
                  <a:pt x="67224" y="141188"/>
                </a:lnTo>
                <a:lnTo>
                  <a:pt x="93392" y="135640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369437" y="3689922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369437" y="415293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7" y="135642"/>
                </a:lnTo>
                <a:lnTo>
                  <a:pt x="67224" y="141189"/>
                </a:lnTo>
                <a:lnTo>
                  <a:pt x="93392" y="135642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5"/>
                </a:lnTo>
                <a:lnTo>
                  <a:pt x="129168" y="43116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69437" y="415293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466741" y="3742387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 h="0">
                <a:moveTo>
                  <a:pt x="34227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023442" y="3760516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 h="0">
                <a:moveTo>
                  <a:pt x="34227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141466" y="202282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141466" y="202282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793794" y="3126719"/>
            <a:ext cx="426720" cy="504190"/>
          </a:xfrm>
          <a:custGeom>
            <a:avLst/>
            <a:gdLst/>
            <a:ahLst/>
            <a:cxnLst/>
            <a:rect l="l" t="t" r="r" b="b"/>
            <a:pathLst>
              <a:path w="426720" h="504189">
                <a:moveTo>
                  <a:pt x="11734" y="160404"/>
                </a:moveTo>
                <a:lnTo>
                  <a:pt x="0" y="192647"/>
                </a:lnTo>
                <a:lnTo>
                  <a:pt x="153835" y="248639"/>
                </a:lnTo>
                <a:lnTo>
                  <a:pt x="153835" y="503994"/>
                </a:lnTo>
                <a:lnTo>
                  <a:pt x="188146" y="503994"/>
                </a:lnTo>
                <a:lnTo>
                  <a:pt x="188146" y="261127"/>
                </a:lnTo>
                <a:lnTo>
                  <a:pt x="288466" y="261127"/>
                </a:lnTo>
                <a:lnTo>
                  <a:pt x="272608" y="255355"/>
                </a:lnTo>
                <a:lnTo>
                  <a:pt x="272608" y="242865"/>
                </a:lnTo>
                <a:lnTo>
                  <a:pt x="238296" y="242865"/>
                </a:lnTo>
                <a:lnTo>
                  <a:pt x="188146" y="224613"/>
                </a:lnTo>
                <a:lnTo>
                  <a:pt x="188146" y="212125"/>
                </a:lnTo>
                <a:lnTo>
                  <a:pt x="153835" y="212125"/>
                </a:lnTo>
                <a:lnTo>
                  <a:pt x="11734" y="160404"/>
                </a:lnTo>
                <a:close/>
              </a:path>
              <a:path w="426720" h="504189">
                <a:moveTo>
                  <a:pt x="288466" y="261127"/>
                </a:moveTo>
                <a:lnTo>
                  <a:pt x="188146" y="261127"/>
                </a:lnTo>
                <a:lnTo>
                  <a:pt x="238296" y="279379"/>
                </a:lnTo>
                <a:lnTo>
                  <a:pt x="238296" y="503994"/>
                </a:lnTo>
                <a:lnTo>
                  <a:pt x="272608" y="503994"/>
                </a:lnTo>
                <a:lnTo>
                  <a:pt x="272608" y="291868"/>
                </a:lnTo>
                <a:lnTo>
                  <a:pt x="372928" y="291868"/>
                </a:lnTo>
                <a:lnTo>
                  <a:pt x="288466" y="261127"/>
                </a:lnTo>
                <a:close/>
              </a:path>
              <a:path w="426720" h="504189">
                <a:moveTo>
                  <a:pt x="372928" y="291868"/>
                </a:moveTo>
                <a:lnTo>
                  <a:pt x="272608" y="291868"/>
                </a:lnTo>
                <a:lnTo>
                  <a:pt x="414707" y="343588"/>
                </a:lnTo>
                <a:lnTo>
                  <a:pt x="426443" y="311346"/>
                </a:lnTo>
                <a:lnTo>
                  <a:pt x="372928" y="291868"/>
                </a:lnTo>
                <a:close/>
              </a:path>
              <a:path w="426720" h="504189">
                <a:moveTo>
                  <a:pt x="272608" y="0"/>
                </a:moveTo>
                <a:lnTo>
                  <a:pt x="238296" y="0"/>
                </a:lnTo>
                <a:lnTo>
                  <a:pt x="238296" y="242865"/>
                </a:lnTo>
                <a:lnTo>
                  <a:pt x="272608" y="242865"/>
                </a:lnTo>
                <a:lnTo>
                  <a:pt x="272608" y="0"/>
                </a:lnTo>
                <a:close/>
              </a:path>
              <a:path w="426720" h="504189">
                <a:moveTo>
                  <a:pt x="188146" y="0"/>
                </a:moveTo>
                <a:lnTo>
                  <a:pt x="153835" y="0"/>
                </a:lnTo>
                <a:lnTo>
                  <a:pt x="153835" y="212125"/>
                </a:lnTo>
                <a:lnTo>
                  <a:pt x="188146" y="212125"/>
                </a:lnTo>
                <a:lnTo>
                  <a:pt x="18814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793794" y="3126719"/>
            <a:ext cx="426720" cy="504190"/>
          </a:xfrm>
          <a:custGeom>
            <a:avLst/>
            <a:gdLst/>
            <a:ahLst/>
            <a:cxnLst/>
            <a:rect l="l" t="t" r="r" b="b"/>
            <a:pathLst>
              <a:path w="426720" h="504189">
                <a:moveTo>
                  <a:pt x="272608" y="0"/>
                </a:moveTo>
                <a:lnTo>
                  <a:pt x="272608" y="255354"/>
                </a:lnTo>
                <a:lnTo>
                  <a:pt x="426443" y="311346"/>
                </a:lnTo>
                <a:lnTo>
                  <a:pt x="414707" y="343588"/>
                </a:lnTo>
                <a:lnTo>
                  <a:pt x="272608" y="291868"/>
                </a:lnTo>
                <a:lnTo>
                  <a:pt x="272608" y="503994"/>
                </a:lnTo>
                <a:lnTo>
                  <a:pt x="238296" y="503994"/>
                </a:lnTo>
                <a:lnTo>
                  <a:pt x="238296" y="279380"/>
                </a:lnTo>
                <a:lnTo>
                  <a:pt x="188146" y="261127"/>
                </a:lnTo>
                <a:lnTo>
                  <a:pt x="188146" y="503994"/>
                </a:lnTo>
                <a:lnTo>
                  <a:pt x="153834" y="503994"/>
                </a:lnTo>
                <a:lnTo>
                  <a:pt x="153834" y="248639"/>
                </a:lnTo>
                <a:lnTo>
                  <a:pt x="0" y="192647"/>
                </a:lnTo>
                <a:lnTo>
                  <a:pt x="11735" y="160405"/>
                </a:lnTo>
                <a:lnTo>
                  <a:pt x="153834" y="212125"/>
                </a:lnTo>
                <a:lnTo>
                  <a:pt x="153834" y="0"/>
                </a:lnTo>
                <a:lnTo>
                  <a:pt x="188146" y="0"/>
                </a:lnTo>
                <a:lnTo>
                  <a:pt x="188146" y="224613"/>
                </a:lnTo>
                <a:lnTo>
                  <a:pt x="238296" y="242866"/>
                </a:lnTo>
                <a:lnTo>
                  <a:pt x="238296" y="0"/>
                </a:lnTo>
                <a:lnTo>
                  <a:pt x="272608" y="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4717636" y="2351080"/>
            <a:ext cx="4182745" cy="183959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3200">
                <a:latin typeface="Arial"/>
                <a:cs typeface="Arial"/>
              </a:rPr>
              <a:t>) = </a:t>
            </a:r>
            <a:r>
              <a:rPr dirty="0" sz="3200" spc="-5">
                <a:latin typeface="Arial"/>
                <a:cs typeface="Arial"/>
              </a:rPr>
              <a:t>[1, 2,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 spc="-5">
                <a:latin typeface="Arial"/>
                <a:cs typeface="Arial"/>
              </a:rPr>
              <a:t>1]</a:t>
            </a:r>
            <a:endParaRPr sz="3200">
              <a:latin typeface="Arial"/>
              <a:cs typeface="Arial"/>
            </a:endParaRPr>
          </a:p>
          <a:p>
            <a:pPr marL="1607820" marR="5080">
              <a:lnSpc>
                <a:spcPts val="2090"/>
              </a:lnSpc>
              <a:spcBef>
                <a:spcPts val="83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Obtains </a:t>
            </a:r>
            <a:r>
              <a:rPr dirty="0" sz="1800" spc="-10">
                <a:solidFill>
                  <a:srgbClr val="008000"/>
                </a:solidFill>
                <a:latin typeface="Arial"/>
                <a:cs typeface="Arial"/>
              </a:rPr>
              <a:t>different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features  for </a:t>
            </a:r>
            <a:r>
              <a:rPr dirty="0" sz="1800" spc="-10">
                <a:solidFill>
                  <a:srgbClr val="008000"/>
                </a:solidFill>
                <a:latin typeface="Arial"/>
                <a:cs typeface="Arial"/>
              </a:rPr>
              <a:t>different</a:t>
            </a:r>
            <a:r>
              <a:rPr dirty="0" sz="1800" spc="-5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graphs!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3200">
                <a:latin typeface="Arial"/>
                <a:cs typeface="Arial"/>
              </a:rPr>
              <a:t>) = </a:t>
            </a:r>
            <a:r>
              <a:rPr dirty="0" sz="3200" spc="-5">
                <a:latin typeface="Arial"/>
                <a:cs typeface="Arial"/>
              </a:rPr>
              <a:t>[0, 2,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 spc="-5">
                <a:latin typeface="Arial"/>
                <a:cs typeface="Arial"/>
              </a:rPr>
              <a:t>2]</a:t>
            </a:r>
            <a:endParaRPr sz="32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486830" y="232734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486830" y="232734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933204" y="232676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7030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933204" y="232676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703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400464" y="232772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2"/>
                </a:lnTo>
                <a:lnTo>
                  <a:pt x="19690" y="120511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400464" y="232772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403934" y="2998053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6"/>
                </a:lnTo>
                <a:lnTo>
                  <a:pt x="0" y="70595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5"/>
                </a:lnTo>
                <a:lnTo>
                  <a:pt x="129169" y="43116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403934" y="2998053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702235" y="6723724"/>
            <a:ext cx="16954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46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4013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95896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30">
                <a:solidFill>
                  <a:srgbClr val="E66C7D"/>
                </a:solidFill>
              </a:rPr>
              <a:t>Key </a:t>
            </a:r>
            <a:r>
              <a:rPr dirty="0" spc="-5">
                <a:solidFill>
                  <a:srgbClr val="E66C7D"/>
                </a:solidFill>
              </a:rPr>
              <a:t>idea</a:t>
            </a:r>
            <a:r>
              <a:rPr dirty="0" spc="-5" b="0">
                <a:solidFill>
                  <a:srgbClr val="E66C7D"/>
                </a:solidFill>
                <a:latin typeface="Calibri"/>
                <a:cs typeface="Calibri"/>
              </a:rPr>
              <a:t>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Count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number of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different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graphlets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a</a:t>
            </a:r>
            <a:r>
              <a:rPr dirty="0" spc="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18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923539"/>
            <a:ext cx="7244080" cy="279400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87020" marR="683260" indent="-27432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0" b="1">
                <a:latin typeface="Calibri"/>
                <a:cs typeface="Calibri"/>
              </a:rPr>
              <a:t>Note: </a:t>
            </a:r>
            <a:r>
              <a:rPr dirty="0" sz="2800" spc="-10">
                <a:latin typeface="Calibri"/>
                <a:cs typeface="Calibri"/>
              </a:rPr>
              <a:t>Definition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graphlets here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80">
                <a:latin typeface="Calibri"/>
                <a:cs typeface="Calibri"/>
              </a:rPr>
              <a:t>slightly 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10">
                <a:latin typeface="Calibri"/>
                <a:cs typeface="Calibri"/>
              </a:rPr>
              <a:t>node-level </a:t>
            </a:r>
            <a:r>
              <a:rPr dirty="0" sz="2800" spc="-20">
                <a:latin typeface="Calibri"/>
                <a:cs typeface="Calibri"/>
              </a:rPr>
              <a:t>features.</a:t>
            </a:r>
            <a:endParaRPr sz="2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20">
                <a:latin typeface="Calibri"/>
                <a:cs typeface="Calibri"/>
              </a:rPr>
              <a:t>differences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are:</a:t>
            </a:r>
            <a:endParaRPr sz="2800">
              <a:latin typeface="Calibri"/>
              <a:cs typeface="Calibri"/>
            </a:endParaRPr>
          </a:p>
          <a:p>
            <a:pPr lvl="1" marL="552450" marR="5080" indent="-228600">
              <a:lnSpc>
                <a:spcPct val="100000"/>
              </a:lnSpc>
              <a:spcBef>
                <a:spcPts val="53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000" spc="-5">
                <a:latin typeface="Calibri"/>
                <a:cs typeface="Calibri"/>
              </a:rPr>
              <a:t>Nodes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10">
                <a:latin typeface="Calibri"/>
                <a:cs typeface="Calibri"/>
              </a:rPr>
              <a:t>graphlets here </a:t>
            </a:r>
            <a:r>
              <a:rPr dirty="0" sz="2000" spc="-5">
                <a:latin typeface="Calibri"/>
                <a:cs typeface="Calibri"/>
              </a:rPr>
              <a:t>do 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not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need 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to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be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connected </a:t>
            </a:r>
            <a:r>
              <a:rPr dirty="0" sz="2000" spc="-10">
                <a:latin typeface="Calibri"/>
                <a:cs typeface="Calibri"/>
              </a:rPr>
              <a:t>(allows </a:t>
            </a:r>
            <a:r>
              <a:rPr dirty="0" sz="2000" spc="-140">
                <a:latin typeface="Calibri"/>
                <a:cs typeface="Calibri"/>
              </a:rPr>
              <a:t>for  </a:t>
            </a:r>
            <a:r>
              <a:rPr dirty="0" sz="2000" spc="-5">
                <a:latin typeface="Calibri"/>
                <a:cs typeface="Calibri"/>
              </a:rPr>
              <a:t>isolated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nodes)</a:t>
            </a:r>
            <a:endParaRPr sz="20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50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graphlets here are </a:t>
            </a:r>
            <a:r>
              <a:rPr dirty="0" sz="2000" spc="-5">
                <a:latin typeface="Calibri"/>
                <a:cs typeface="Calibri"/>
              </a:rPr>
              <a:t>not </a:t>
            </a:r>
            <a:r>
              <a:rPr dirty="0" sz="2000" spc="-10">
                <a:latin typeface="Calibri"/>
                <a:cs typeface="Calibri"/>
              </a:rPr>
              <a:t>rooted.</a:t>
            </a:r>
            <a:endParaRPr sz="2000">
              <a:latin typeface="Calibri"/>
              <a:cs typeface="Calibri"/>
            </a:endParaRPr>
          </a:p>
          <a:p>
            <a:pPr lvl="1" marL="552450" indent="-228600">
              <a:lnSpc>
                <a:spcPct val="100000"/>
              </a:lnSpc>
              <a:spcBef>
                <a:spcPts val="405"/>
              </a:spcBef>
              <a:buClr>
                <a:srgbClr val="E66C7D"/>
              </a:buClr>
              <a:buFont typeface="Malgun Gothic"/>
              <a:buChar char="▪"/>
              <a:tabLst>
                <a:tab pos="552450" algn="l"/>
              </a:tabLst>
            </a:pPr>
            <a:r>
              <a:rPr dirty="0" sz="2000" spc="-10">
                <a:latin typeface="Calibri"/>
                <a:cs typeface="Calibri"/>
              </a:rPr>
              <a:t>Examples </a:t>
            </a:r>
            <a:r>
              <a:rPr dirty="0" sz="2000">
                <a:latin typeface="Calibri"/>
                <a:cs typeface="Calibri"/>
              </a:rPr>
              <a:t>in </a:t>
            </a:r>
            <a:r>
              <a:rPr dirty="0" sz="2000" spc="-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next </a:t>
            </a:r>
            <a:r>
              <a:rPr dirty="0" sz="2000" spc="-5">
                <a:latin typeface="Calibri"/>
                <a:cs typeface="Calibri"/>
              </a:rPr>
              <a:t>slide </a:t>
            </a:r>
            <a:r>
              <a:rPr dirty="0" sz="2000" spc="-10">
                <a:latin typeface="Calibri"/>
                <a:cs typeface="Calibri"/>
              </a:rPr>
              <a:t>illustrate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this.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4013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03020"/>
            <a:ext cx="7865745" cy="1092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pc="-10"/>
              <a:t>Let </a:t>
            </a:r>
            <a:r>
              <a:rPr dirty="0" b="0">
                <a:latin typeface="Cambria Math"/>
                <a:cs typeface="Cambria Math"/>
              </a:rPr>
              <a:t>𝓖</a:t>
            </a:r>
            <a:r>
              <a:rPr dirty="0" baseline="-15700" sz="3450" b="0">
                <a:latin typeface="Cambria Math"/>
                <a:cs typeface="Cambria Math"/>
              </a:rPr>
              <a:t>𝒌 </a:t>
            </a:r>
            <a:r>
              <a:rPr dirty="0" sz="3200" b="0">
                <a:latin typeface="Cambria Math"/>
                <a:cs typeface="Cambria Math"/>
              </a:rPr>
              <a:t>= (𝒈</a:t>
            </a:r>
            <a:r>
              <a:rPr dirty="0" baseline="-15700" sz="3450" b="0">
                <a:latin typeface="Cambria Math"/>
                <a:cs typeface="Cambria Math"/>
              </a:rPr>
              <a:t>𝟏, </a:t>
            </a:r>
            <a:r>
              <a:rPr dirty="0" sz="3200" spc="25" b="0">
                <a:latin typeface="Cambria Math"/>
                <a:cs typeface="Cambria Math"/>
              </a:rPr>
              <a:t>𝒈</a:t>
            </a:r>
            <a:r>
              <a:rPr dirty="0" baseline="-15700" sz="3450" spc="37" b="0">
                <a:latin typeface="Cambria Math"/>
                <a:cs typeface="Cambria Math"/>
              </a:rPr>
              <a:t>𝟐</a:t>
            </a:r>
            <a:r>
              <a:rPr dirty="0" sz="3200" spc="25" b="0">
                <a:latin typeface="Cambria Math"/>
                <a:cs typeface="Cambria Math"/>
              </a:rPr>
              <a:t>, </a:t>
            </a:r>
            <a:r>
              <a:rPr dirty="0" sz="3200" b="0">
                <a:latin typeface="Cambria Math"/>
                <a:cs typeface="Cambria Math"/>
              </a:rPr>
              <a:t>… , </a:t>
            </a:r>
            <a:r>
              <a:rPr dirty="0" sz="3200" spc="30" b="0">
                <a:latin typeface="Cambria Math"/>
                <a:cs typeface="Cambria Math"/>
              </a:rPr>
              <a:t>𝒈</a:t>
            </a:r>
            <a:r>
              <a:rPr dirty="0" baseline="-15700" sz="3450" spc="44" b="0">
                <a:latin typeface="Cambria Math"/>
                <a:cs typeface="Cambria Math"/>
              </a:rPr>
              <a:t>𝒏</a:t>
            </a:r>
            <a:r>
              <a:rPr dirty="0" baseline="-33625" sz="2850" spc="44" b="0">
                <a:latin typeface="Cambria Math"/>
                <a:cs typeface="Cambria Math"/>
              </a:rPr>
              <a:t>𝒌</a:t>
            </a:r>
            <a:r>
              <a:rPr dirty="0" sz="3200" spc="30" b="0">
                <a:latin typeface="Cambria Math"/>
                <a:cs typeface="Cambria Math"/>
              </a:rPr>
              <a:t>) </a:t>
            </a:r>
            <a:r>
              <a:rPr dirty="0" sz="3200" spc="-5"/>
              <a:t>be </a:t>
            </a:r>
            <a:r>
              <a:rPr dirty="0" sz="3200"/>
              <a:t>a </a:t>
            </a:r>
            <a:r>
              <a:rPr dirty="0" sz="3200" spc="-10"/>
              <a:t>list </a:t>
            </a:r>
            <a:r>
              <a:rPr dirty="0" sz="3200"/>
              <a:t>of </a:t>
            </a:r>
            <a:r>
              <a:rPr dirty="0" sz="3200" spc="-15"/>
              <a:t>graphlets  </a:t>
            </a:r>
            <a:r>
              <a:rPr dirty="0" sz="3200"/>
              <a:t>of </a:t>
            </a:r>
            <a:r>
              <a:rPr dirty="0" sz="3200" spc="-20"/>
              <a:t>size</a:t>
            </a:r>
            <a:r>
              <a:rPr dirty="0" sz="3200" spc="-85"/>
              <a:t> </a:t>
            </a:r>
            <a:r>
              <a:rPr dirty="0" sz="3200" b="0">
                <a:latin typeface="Cambria Math"/>
                <a:cs typeface="Cambria Math"/>
              </a:rPr>
              <a:t>𝒌</a:t>
            </a:r>
            <a:r>
              <a:rPr dirty="0" sz="3200"/>
              <a:t>.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2454147"/>
            <a:ext cx="50673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𝑘  = 3 </a:t>
            </a:r>
            <a:r>
              <a:rPr dirty="0" sz="2800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there are </a:t>
            </a:r>
            <a:r>
              <a:rPr dirty="0" sz="2800">
                <a:latin typeface="Calibri"/>
                <a:cs typeface="Calibri"/>
              </a:rPr>
              <a:t>4</a:t>
            </a:r>
            <a:r>
              <a:rPr dirty="0" sz="2800" spc="-165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graphlets.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6563" y="3990339"/>
            <a:ext cx="52482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𝑘  = 4 </a:t>
            </a:r>
            <a:r>
              <a:rPr dirty="0" sz="2800">
                <a:latin typeface="Calibri"/>
                <a:cs typeface="Calibri"/>
              </a:rPr>
              <a:t>, </a:t>
            </a:r>
            <a:r>
              <a:rPr dirty="0" sz="2800" spc="-15">
                <a:latin typeface="Calibri"/>
                <a:cs typeface="Calibri"/>
              </a:rPr>
              <a:t>there are </a:t>
            </a:r>
            <a:r>
              <a:rPr dirty="0" sz="2800">
                <a:latin typeface="Calibri"/>
                <a:cs typeface="Calibri"/>
              </a:rPr>
              <a:t>11</a:t>
            </a:r>
            <a:r>
              <a:rPr dirty="0" sz="2800" spc="-160">
                <a:latin typeface="Calibri"/>
                <a:cs typeface="Calibri"/>
              </a:rPr>
              <a:t> </a:t>
            </a:r>
            <a:r>
              <a:rPr dirty="0" sz="2800" spc="-70">
                <a:latin typeface="Calibri"/>
                <a:cs typeface="Calibri"/>
              </a:rPr>
              <a:t>graphlets.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58570" y="3428992"/>
            <a:ext cx="187325" cy="382270"/>
          </a:xfrm>
          <a:custGeom>
            <a:avLst/>
            <a:gdLst/>
            <a:ahLst/>
            <a:cxnLst/>
            <a:rect l="l" t="t" r="r" b="b"/>
            <a:pathLst>
              <a:path w="187325" h="382270">
                <a:moveTo>
                  <a:pt x="186891" y="0"/>
                </a:moveTo>
                <a:lnTo>
                  <a:pt x="0" y="38164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23221" y="3879291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5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40533" y="3428993"/>
            <a:ext cx="193675" cy="379730"/>
          </a:xfrm>
          <a:custGeom>
            <a:avLst/>
            <a:gdLst/>
            <a:ahLst/>
            <a:cxnLst/>
            <a:rect l="l" t="t" r="r" b="b"/>
            <a:pathLst>
              <a:path w="193675" h="379729">
                <a:moveTo>
                  <a:pt x="193185" y="37970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91344" y="381063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6"/>
                </a:lnTo>
                <a:lnTo>
                  <a:pt x="0" y="70595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5"/>
                </a:lnTo>
                <a:lnTo>
                  <a:pt x="129169" y="43116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91344" y="381063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25771" y="330848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625771" y="330848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66492" y="380869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2"/>
                </a:lnTo>
                <a:lnTo>
                  <a:pt x="19690" y="120511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66492" y="380869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76341" y="3417684"/>
            <a:ext cx="187325" cy="382270"/>
          </a:xfrm>
          <a:custGeom>
            <a:avLst/>
            <a:gdLst/>
            <a:ahLst/>
            <a:cxnLst/>
            <a:rect l="l" t="t" r="r" b="b"/>
            <a:pathLst>
              <a:path w="187325" h="382270">
                <a:moveTo>
                  <a:pt x="186891" y="0"/>
                </a:moveTo>
                <a:lnTo>
                  <a:pt x="0" y="38164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09116" y="379932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709116" y="379932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43543" y="329717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5"/>
                </a:lnTo>
                <a:lnTo>
                  <a:pt x="129169" y="43116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43543" y="3297171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84263" y="379738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84263" y="379738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576409" y="3433103"/>
            <a:ext cx="187325" cy="382270"/>
          </a:xfrm>
          <a:custGeom>
            <a:avLst/>
            <a:gdLst/>
            <a:ahLst/>
            <a:cxnLst/>
            <a:rect l="l" t="t" r="r" b="b"/>
            <a:pathLst>
              <a:path w="187325" h="382270">
                <a:moveTo>
                  <a:pt x="186891" y="0"/>
                </a:moveTo>
                <a:lnTo>
                  <a:pt x="0" y="38164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58372" y="3433102"/>
            <a:ext cx="193675" cy="379730"/>
          </a:xfrm>
          <a:custGeom>
            <a:avLst/>
            <a:gdLst/>
            <a:ahLst/>
            <a:cxnLst/>
            <a:rect l="l" t="t" r="r" b="b"/>
            <a:pathLst>
              <a:path w="193675" h="379729">
                <a:moveTo>
                  <a:pt x="193185" y="37970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509183" y="381474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7" y="135640"/>
                </a:lnTo>
                <a:lnTo>
                  <a:pt x="67224" y="141188"/>
                </a:lnTo>
                <a:lnTo>
                  <a:pt x="93392" y="135640"/>
                </a:lnTo>
                <a:lnTo>
                  <a:pt x="114761" y="120511"/>
                </a:lnTo>
                <a:lnTo>
                  <a:pt x="129168" y="98072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09183" y="381474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43610" y="331259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5"/>
                </a:lnTo>
                <a:lnTo>
                  <a:pt x="129169" y="43116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43610" y="331259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984331" y="381280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84331" y="381280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19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940468" y="381277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40468" y="381277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74895" y="331061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174895" y="331061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415616" y="3810836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415616" y="3810836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4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596762" y="2901188"/>
            <a:ext cx="25539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8550" algn="l"/>
                <a:tab pos="2313305" algn="l"/>
              </a:tabLst>
            </a:pPr>
            <a:r>
              <a:rPr dirty="0" baseline="1543" sz="2700" spc="-157">
                <a:latin typeface="Cambria Math"/>
                <a:cs typeface="Cambria Math"/>
              </a:rPr>
              <a:t>𝑔</a:t>
            </a:r>
            <a:r>
              <a:rPr dirty="0" baseline="-12820" sz="1950" spc="562">
                <a:latin typeface="Cambria Math"/>
                <a:cs typeface="Cambria Math"/>
              </a:rPr>
              <a:t>!</a:t>
            </a:r>
            <a:r>
              <a:rPr dirty="0" baseline="-12820" sz="1950">
                <a:latin typeface="Cambria Math"/>
                <a:cs typeface="Cambria Math"/>
              </a:rPr>
              <a:t>	</a:t>
            </a:r>
            <a:r>
              <a:rPr dirty="0" sz="1800" spc="-65">
                <a:latin typeface="Cambria Math"/>
                <a:cs typeface="Cambria Math"/>
              </a:rPr>
              <a:t>𝑔</a:t>
            </a:r>
            <a:r>
              <a:rPr dirty="0" baseline="-14957" sz="1950" spc="352">
                <a:latin typeface="Cambria Math"/>
                <a:cs typeface="Cambria Math"/>
              </a:rPr>
              <a:t>"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baseline="1543" sz="2700" spc="-97">
                <a:latin typeface="Cambria Math"/>
                <a:cs typeface="Cambria Math"/>
              </a:rPr>
              <a:t>𝑔</a:t>
            </a:r>
            <a:r>
              <a:rPr dirty="0" baseline="-12820" sz="1950" spc="-82">
                <a:latin typeface="Cambria Math"/>
                <a:cs typeface="Cambria Math"/>
              </a:rPr>
              <a:t>#</a:t>
            </a:r>
            <a:endParaRPr baseline="-12820" sz="19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09602" y="2882900"/>
            <a:ext cx="253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latin typeface="Cambria Math"/>
                <a:cs typeface="Cambria Math"/>
              </a:rPr>
              <a:t>𝑔</a:t>
            </a:r>
            <a:r>
              <a:rPr dirty="0" baseline="-17094" sz="1950" spc="127">
                <a:latin typeface="Cambria Math"/>
                <a:cs typeface="Cambria Math"/>
              </a:rPr>
              <a:t>$</a:t>
            </a:r>
            <a:endParaRPr baseline="-17094" sz="195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200343" y="4578779"/>
            <a:ext cx="6565900" cy="850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00343" y="5507812"/>
            <a:ext cx="5486400" cy="888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765483" y="6125971"/>
            <a:ext cx="2136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7F7F7F"/>
                </a:solidFill>
                <a:latin typeface="Corbel"/>
                <a:cs typeface="Corbel"/>
              </a:rPr>
              <a:t>Shervashidze </a:t>
            </a:r>
            <a:r>
              <a:rPr dirty="0" sz="1200" i="1">
                <a:solidFill>
                  <a:srgbClr val="7F7F7F"/>
                </a:solidFill>
                <a:latin typeface="Corbel"/>
                <a:cs typeface="Corbel"/>
              </a:rPr>
              <a:t>et </a:t>
            </a:r>
            <a:r>
              <a:rPr dirty="0" sz="1200" spc="-5" i="1">
                <a:solidFill>
                  <a:srgbClr val="7F7F7F"/>
                </a:solidFill>
                <a:latin typeface="Corbel"/>
                <a:cs typeface="Corbel"/>
              </a:rPr>
              <a:t>al.</a:t>
            </a:r>
            <a:r>
              <a:rPr dirty="0" sz="1200" spc="-5">
                <a:solidFill>
                  <a:srgbClr val="7F7F7F"/>
                </a:solidFill>
                <a:latin typeface="Corbel"/>
                <a:cs typeface="Corbel"/>
              </a:rPr>
              <a:t>, </a:t>
            </a:r>
            <a:r>
              <a:rPr dirty="0" sz="1200" spc="-20">
                <a:solidFill>
                  <a:srgbClr val="7F7F7F"/>
                </a:solidFill>
                <a:latin typeface="Corbel"/>
                <a:cs typeface="Corbel"/>
              </a:rPr>
              <a:t>AISTATS</a:t>
            </a:r>
            <a:r>
              <a:rPr dirty="0" sz="1200" spc="-110">
                <a:solidFill>
                  <a:srgbClr val="7F7F7F"/>
                </a:solidFill>
                <a:latin typeface="Corbel"/>
                <a:cs typeface="Corbel"/>
              </a:rPr>
              <a:t> </a:t>
            </a:r>
            <a:r>
              <a:rPr dirty="0" sz="1200" spc="-10">
                <a:solidFill>
                  <a:srgbClr val="7F7F7F"/>
                </a:solidFill>
                <a:latin typeface="Corbel"/>
                <a:cs typeface="Corbel"/>
              </a:rPr>
              <a:t>2011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5"/>
              </a:rPr>
              <a:t>http://cs224w.stanford.edu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8702235" y="6723724"/>
            <a:ext cx="17018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49</a:t>
            </a:fld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4013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350125" cy="1528445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2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Given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spc="60" b="0">
                <a:latin typeface="Cambria Math"/>
                <a:cs typeface="Cambria Math"/>
              </a:rPr>
              <a:t>𝐺</a:t>
            </a:r>
            <a:r>
              <a:rPr dirty="0" spc="60" b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graphlet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list </a:t>
            </a:r>
            <a:r>
              <a:rPr dirty="0" spc="425" b="0">
                <a:solidFill>
                  <a:srgbClr val="E66C7D"/>
                </a:solidFill>
                <a:latin typeface="Cambria Math"/>
                <a:cs typeface="Cambria Math"/>
              </a:rPr>
              <a:t>𝒢</a:t>
            </a:r>
            <a:r>
              <a:rPr dirty="0" baseline="-15700" sz="3450" spc="637" b="0">
                <a:solidFill>
                  <a:srgbClr val="E66C7D"/>
                </a:solidFill>
                <a:latin typeface="Cambria Math"/>
                <a:cs typeface="Cambria Math"/>
              </a:rPr>
              <a:t>. </a:t>
            </a:r>
            <a:r>
              <a:rPr dirty="0" sz="3200" b="0">
                <a:solidFill>
                  <a:srgbClr val="E66C7D"/>
                </a:solidFill>
                <a:latin typeface="Cambria Math"/>
                <a:cs typeface="Cambria Math"/>
              </a:rPr>
              <a:t>=  </a:t>
            </a:r>
            <a:r>
              <a:rPr dirty="0" sz="3200" spc="50" b="0">
                <a:solidFill>
                  <a:srgbClr val="E66C7D"/>
                </a:solidFill>
                <a:latin typeface="Cambria Math"/>
                <a:cs typeface="Cambria Math"/>
              </a:rPr>
              <a:t>(𝑔</a:t>
            </a:r>
            <a:r>
              <a:rPr dirty="0" baseline="-15700" sz="3450" spc="75" b="0">
                <a:solidFill>
                  <a:srgbClr val="E66C7D"/>
                </a:solidFill>
                <a:latin typeface="Cambria Math"/>
                <a:cs typeface="Cambria Math"/>
              </a:rPr>
              <a:t>), </a:t>
            </a:r>
            <a:r>
              <a:rPr dirty="0" sz="3200" spc="105" b="0">
                <a:solidFill>
                  <a:srgbClr val="E66C7D"/>
                </a:solidFill>
                <a:latin typeface="Cambria Math"/>
                <a:cs typeface="Cambria Math"/>
              </a:rPr>
              <a:t>𝑔</a:t>
            </a:r>
            <a:r>
              <a:rPr dirty="0" baseline="-15700" sz="3450" spc="157" b="0">
                <a:solidFill>
                  <a:srgbClr val="E66C7D"/>
                </a:solidFill>
                <a:latin typeface="Cambria Math"/>
                <a:cs typeface="Cambria Math"/>
              </a:rPr>
              <a:t>*</a:t>
            </a:r>
            <a:r>
              <a:rPr dirty="0" sz="3200" spc="105" b="0">
                <a:solidFill>
                  <a:srgbClr val="E66C7D"/>
                </a:solidFill>
                <a:latin typeface="Cambria Math"/>
                <a:cs typeface="Cambria Math"/>
              </a:rPr>
              <a:t>, </a:t>
            </a:r>
            <a:r>
              <a:rPr dirty="0" sz="3200" b="0">
                <a:solidFill>
                  <a:srgbClr val="E66C7D"/>
                </a:solidFill>
                <a:latin typeface="Cambria Math"/>
                <a:cs typeface="Cambria Math"/>
              </a:rPr>
              <a:t>… , </a:t>
            </a:r>
            <a:r>
              <a:rPr dirty="0" sz="3200" spc="175" b="0">
                <a:solidFill>
                  <a:srgbClr val="E66C7D"/>
                </a:solidFill>
                <a:latin typeface="Cambria Math"/>
                <a:cs typeface="Cambria Math"/>
              </a:rPr>
              <a:t>𝑔</a:t>
            </a:r>
            <a:r>
              <a:rPr dirty="0" baseline="-15700" sz="3450" spc="262" b="0">
                <a:solidFill>
                  <a:srgbClr val="E66C7D"/>
                </a:solidFill>
                <a:latin typeface="Cambria Math"/>
                <a:cs typeface="Cambria Math"/>
              </a:rPr>
              <a:t>/</a:t>
            </a:r>
            <a:r>
              <a:rPr dirty="0" baseline="-33625" sz="2850" spc="262" b="0">
                <a:solidFill>
                  <a:srgbClr val="E66C7D"/>
                </a:solidFill>
                <a:latin typeface="Cambria Math"/>
                <a:cs typeface="Cambria Math"/>
              </a:rPr>
              <a:t>"</a:t>
            </a:r>
            <a:r>
              <a:rPr dirty="0" sz="3200" spc="175" b="0">
                <a:solidFill>
                  <a:srgbClr val="E66C7D"/>
                </a:solidFill>
                <a:latin typeface="Cambria Math"/>
                <a:cs typeface="Cambria Math"/>
              </a:rPr>
              <a:t>)</a:t>
            </a:r>
            <a:r>
              <a:rPr dirty="0" sz="3200" spc="175" b="0">
                <a:solidFill>
                  <a:srgbClr val="E66C7D"/>
                </a:solidFill>
                <a:latin typeface="Calibri"/>
                <a:cs typeface="Calibri"/>
              </a:rPr>
              <a:t>,</a:t>
            </a:r>
            <a:r>
              <a:rPr dirty="0" sz="3200" spc="-480" b="0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define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graphlet count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260"/>
              </a:spcBef>
            </a:pP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vector </a:t>
            </a:r>
            <a:r>
              <a:rPr dirty="0" spc="105" b="0">
                <a:solidFill>
                  <a:srgbClr val="6BB76D"/>
                </a:solidFill>
                <a:latin typeface="Cambria Math"/>
                <a:cs typeface="Cambria Math"/>
              </a:rPr>
              <a:t>𝒇</a:t>
            </a:r>
            <a:r>
              <a:rPr dirty="0" baseline="-15700" sz="3450" spc="157" b="0">
                <a:solidFill>
                  <a:srgbClr val="6BB76D"/>
                </a:solidFill>
                <a:latin typeface="Cambria Math"/>
                <a:cs typeface="Cambria Math"/>
              </a:rPr>
              <a:t>0  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∈ </a:t>
            </a:r>
            <a:r>
              <a:rPr dirty="0" sz="3200" spc="275" b="0">
                <a:solidFill>
                  <a:srgbClr val="000000"/>
                </a:solidFill>
                <a:latin typeface="Cambria Math"/>
                <a:cs typeface="Cambria Math"/>
              </a:rPr>
              <a:t>ℝ</a:t>
            </a:r>
            <a:r>
              <a:rPr dirty="0" baseline="28985" sz="3450" spc="412" b="0">
                <a:solidFill>
                  <a:srgbClr val="000000"/>
                </a:solidFill>
                <a:latin typeface="Cambria Math"/>
                <a:cs typeface="Cambria Math"/>
              </a:rPr>
              <a:t>/</a:t>
            </a:r>
            <a:r>
              <a:rPr dirty="0" baseline="19005" sz="2850" spc="412" b="0">
                <a:solidFill>
                  <a:srgbClr val="000000"/>
                </a:solidFill>
                <a:latin typeface="Cambria Math"/>
                <a:cs typeface="Cambria Math"/>
              </a:rPr>
              <a:t>"</a:t>
            </a:r>
            <a:r>
              <a:rPr dirty="0" baseline="19005" sz="2850" spc="-179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18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49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233" y="3343147"/>
            <a:ext cx="69932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200">
                <a:solidFill>
                  <a:srgbClr val="6BB76D"/>
                </a:solidFill>
                <a:latin typeface="Cambria Math"/>
                <a:cs typeface="Cambria Math"/>
              </a:rPr>
              <a:t>(𝒇</a:t>
            </a:r>
            <a:r>
              <a:rPr dirty="0" baseline="-14957" sz="3900" spc="300">
                <a:solidFill>
                  <a:srgbClr val="6BB76D"/>
                </a:solidFill>
                <a:latin typeface="Cambria Math"/>
                <a:cs typeface="Cambria Math"/>
              </a:rPr>
              <a:t>!</a:t>
            </a:r>
            <a:r>
              <a:rPr dirty="0" sz="3600" spc="200">
                <a:solidFill>
                  <a:srgbClr val="6BB76D"/>
                </a:solidFill>
                <a:latin typeface="Cambria Math"/>
                <a:cs typeface="Cambria Math"/>
              </a:rPr>
              <a:t>)</a:t>
            </a:r>
            <a:r>
              <a:rPr dirty="0" baseline="-14957" sz="3900" spc="300">
                <a:solidFill>
                  <a:srgbClr val="6BB76D"/>
                </a:solidFill>
                <a:latin typeface="Cambria Math"/>
                <a:cs typeface="Cambria Math"/>
              </a:rPr>
              <a:t>"</a:t>
            </a:r>
            <a:r>
              <a:rPr dirty="0" sz="3600" spc="200">
                <a:solidFill>
                  <a:srgbClr val="6BB76D"/>
                </a:solidFill>
                <a:latin typeface="Cambria Math"/>
                <a:cs typeface="Cambria Math"/>
              </a:rPr>
              <a:t>= </a:t>
            </a:r>
            <a:r>
              <a:rPr dirty="0" sz="3600" spc="-65">
                <a:solidFill>
                  <a:srgbClr val="6BB76D"/>
                </a:solidFill>
                <a:latin typeface="Cambria Math"/>
                <a:cs typeface="Cambria Math"/>
              </a:rPr>
              <a:t>#(</a:t>
            </a:r>
            <a:r>
              <a:rPr dirty="0" sz="3600" spc="-65">
                <a:solidFill>
                  <a:srgbClr val="E66C7D"/>
                </a:solidFill>
                <a:latin typeface="Cambria Math"/>
                <a:cs typeface="Cambria Math"/>
              </a:rPr>
              <a:t>𝑔</a:t>
            </a:r>
            <a:r>
              <a:rPr dirty="0" baseline="-14957" sz="3900" spc="-97">
                <a:solidFill>
                  <a:srgbClr val="E66C7D"/>
                </a:solidFill>
                <a:latin typeface="Cambria Math"/>
                <a:cs typeface="Cambria Math"/>
              </a:rPr>
              <a:t>"  </a:t>
            </a:r>
            <a:r>
              <a:rPr dirty="0" sz="3600">
                <a:solidFill>
                  <a:srgbClr val="6BB76D"/>
                </a:solidFill>
                <a:latin typeface="Cambria Math"/>
                <a:cs typeface="Cambria Math"/>
              </a:rPr>
              <a:t>⊆ </a:t>
            </a:r>
            <a:r>
              <a:rPr dirty="0" sz="3600" spc="75">
                <a:solidFill>
                  <a:srgbClr val="60B5CC"/>
                </a:solidFill>
                <a:latin typeface="Cambria Math"/>
                <a:cs typeface="Cambria Math"/>
              </a:rPr>
              <a:t>𝐺</a:t>
            </a:r>
            <a:r>
              <a:rPr dirty="0" sz="3600" spc="75">
                <a:solidFill>
                  <a:srgbClr val="6BB76D"/>
                </a:solidFill>
                <a:latin typeface="Cambria Math"/>
                <a:cs typeface="Cambria Math"/>
              </a:rPr>
              <a:t>) </a:t>
            </a:r>
            <a:r>
              <a:rPr dirty="0" sz="3600" spc="-25">
                <a:solidFill>
                  <a:srgbClr val="6BB76D"/>
                </a:solidFill>
                <a:latin typeface="Calibri"/>
                <a:cs typeface="Calibri"/>
              </a:rPr>
              <a:t>for </a:t>
            </a:r>
            <a:r>
              <a:rPr dirty="0" sz="3600">
                <a:solidFill>
                  <a:srgbClr val="E66C7D"/>
                </a:solidFill>
                <a:latin typeface="Cambria Math"/>
                <a:cs typeface="Cambria Math"/>
              </a:rPr>
              <a:t>𝑖 = </a:t>
            </a:r>
            <a:r>
              <a:rPr dirty="0" sz="3600" spc="-10">
                <a:solidFill>
                  <a:srgbClr val="E66C7D"/>
                </a:solidFill>
                <a:latin typeface="Cambria Math"/>
                <a:cs typeface="Cambria Math"/>
              </a:rPr>
              <a:t>1,2, </a:t>
            </a:r>
            <a:r>
              <a:rPr dirty="0" sz="3600">
                <a:solidFill>
                  <a:srgbClr val="E66C7D"/>
                </a:solidFill>
                <a:latin typeface="Cambria Math"/>
                <a:cs typeface="Cambria Math"/>
              </a:rPr>
              <a:t>… ,</a:t>
            </a:r>
            <a:r>
              <a:rPr dirty="0" sz="3600" spc="185">
                <a:solidFill>
                  <a:srgbClr val="E66C7D"/>
                </a:solidFill>
                <a:latin typeface="Cambria Math"/>
                <a:cs typeface="Cambria Math"/>
              </a:rPr>
              <a:t> </a:t>
            </a:r>
            <a:r>
              <a:rPr dirty="0" sz="3600" spc="35">
                <a:solidFill>
                  <a:srgbClr val="E66C7D"/>
                </a:solidFill>
                <a:latin typeface="Cambria Math"/>
                <a:cs typeface="Cambria Math"/>
              </a:rPr>
              <a:t>𝑛</a:t>
            </a:r>
            <a:r>
              <a:rPr dirty="0" baseline="-14957" sz="3900" spc="52">
                <a:solidFill>
                  <a:srgbClr val="E66C7D"/>
                </a:solidFill>
                <a:latin typeface="Cambria Math"/>
                <a:cs typeface="Cambria Math"/>
              </a:rPr>
              <a:t>#</a:t>
            </a:r>
            <a:r>
              <a:rPr dirty="0" sz="3600" spc="35"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440131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33305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Example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𝑘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dirty="0" spc="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3.</a:t>
            </a:r>
          </a:p>
        </p:txBody>
      </p:sp>
      <p:sp>
        <p:nvSpPr>
          <p:cNvPr id="4" name="object 4"/>
          <p:cNvSpPr/>
          <p:nvPr/>
        </p:nvSpPr>
        <p:spPr>
          <a:xfrm>
            <a:off x="4144204" y="2197445"/>
            <a:ext cx="187325" cy="382270"/>
          </a:xfrm>
          <a:custGeom>
            <a:avLst/>
            <a:gdLst/>
            <a:ahLst/>
            <a:cxnLst/>
            <a:rect l="l" t="t" r="r" b="b"/>
            <a:pathLst>
              <a:path w="187325" h="382269">
                <a:moveTo>
                  <a:pt x="186891" y="0"/>
                </a:moveTo>
                <a:lnTo>
                  <a:pt x="0" y="38164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08853" y="2647744"/>
            <a:ext cx="339725" cy="0"/>
          </a:xfrm>
          <a:custGeom>
            <a:avLst/>
            <a:gdLst/>
            <a:ahLst/>
            <a:cxnLst/>
            <a:rect l="l" t="t" r="r" b="b"/>
            <a:pathLst>
              <a:path w="339725" h="0">
                <a:moveTo>
                  <a:pt x="0" y="1"/>
                </a:moveTo>
                <a:lnTo>
                  <a:pt x="339554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26167" y="2197444"/>
            <a:ext cx="193675" cy="379730"/>
          </a:xfrm>
          <a:custGeom>
            <a:avLst/>
            <a:gdLst/>
            <a:ahLst/>
            <a:cxnLst/>
            <a:rect l="l" t="t" r="r" b="b"/>
            <a:pathLst>
              <a:path w="193675" h="379730">
                <a:moveTo>
                  <a:pt x="193185" y="37970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76978" y="257908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5"/>
                </a:lnTo>
                <a:lnTo>
                  <a:pt x="129168" y="43116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076978" y="257908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311405" y="2076932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11405" y="2076932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52125" y="257715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1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552125" y="2577150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529700" y="2151681"/>
            <a:ext cx="187325" cy="382270"/>
          </a:xfrm>
          <a:custGeom>
            <a:avLst/>
            <a:gdLst/>
            <a:ahLst/>
            <a:cxnLst/>
            <a:rect l="l" t="t" r="r" b="b"/>
            <a:pathLst>
              <a:path w="187325" h="382269">
                <a:moveTo>
                  <a:pt x="186891" y="0"/>
                </a:moveTo>
                <a:lnTo>
                  <a:pt x="0" y="38164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27105" y="252395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2"/>
                </a:lnTo>
                <a:lnTo>
                  <a:pt x="19690" y="120511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427105" y="252395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61532" y="202179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6"/>
                </a:lnTo>
                <a:lnTo>
                  <a:pt x="0" y="70595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5"/>
                </a:lnTo>
                <a:lnTo>
                  <a:pt x="129169" y="43116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661532" y="2021799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02254" y="2522016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4" y="0"/>
                </a:moveTo>
                <a:lnTo>
                  <a:pt x="41057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7" y="135641"/>
                </a:lnTo>
                <a:lnTo>
                  <a:pt x="67224" y="141189"/>
                </a:lnTo>
                <a:lnTo>
                  <a:pt x="93392" y="135641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4"/>
                </a:lnTo>
                <a:lnTo>
                  <a:pt x="129168" y="43115"/>
                </a:lnTo>
                <a:lnTo>
                  <a:pt x="114761" y="20676"/>
                </a:lnTo>
                <a:lnTo>
                  <a:pt x="93392" y="5547"/>
                </a:lnTo>
                <a:lnTo>
                  <a:pt x="6722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02254" y="2522016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294398" y="2157731"/>
            <a:ext cx="187325" cy="382270"/>
          </a:xfrm>
          <a:custGeom>
            <a:avLst/>
            <a:gdLst/>
            <a:ahLst/>
            <a:cxnLst/>
            <a:rect l="l" t="t" r="r" b="b"/>
            <a:pathLst>
              <a:path w="187325" h="382269">
                <a:moveTo>
                  <a:pt x="186891" y="0"/>
                </a:moveTo>
                <a:lnTo>
                  <a:pt x="0" y="381645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576361" y="2157730"/>
            <a:ext cx="193675" cy="379730"/>
          </a:xfrm>
          <a:custGeom>
            <a:avLst/>
            <a:gdLst/>
            <a:ahLst/>
            <a:cxnLst/>
            <a:rect l="l" t="t" r="r" b="b"/>
            <a:pathLst>
              <a:path w="193675" h="379730">
                <a:moveTo>
                  <a:pt x="193185" y="37970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27172" y="2539376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2"/>
                </a:lnTo>
                <a:lnTo>
                  <a:pt x="19689" y="120511"/>
                </a:lnTo>
                <a:lnTo>
                  <a:pt x="41058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227172" y="2539376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61599" y="203721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6"/>
                </a:lnTo>
                <a:lnTo>
                  <a:pt x="0" y="70595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5"/>
                </a:lnTo>
                <a:lnTo>
                  <a:pt x="129169" y="43116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461599" y="2037218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702320" y="253743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3"/>
                </a:lnTo>
                <a:lnTo>
                  <a:pt x="19690" y="120512"/>
                </a:lnTo>
                <a:lnTo>
                  <a:pt x="41059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702320" y="253743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58458" y="253740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9" y="5547"/>
                </a:lnTo>
                <a:lnTo>
                  <a:pt x="19690" y="20676"/>
                </a:lnTo>
                <a:lnTo>
                  <a:pt x="5283" y="43115"/>
                </a:lnTo>
                <a:lnTo>
                  <a:pt x="0" y="70594"/>
                </a:lnTo>
                <a:lnTo>
                  <a:pt x="5283" y="98072"/>
                </a:lnTo>
                <a:lnTo>
                  <a:pt x="19690" y="120511"/>
                </a:lnTo>
                <a:lnTo>
                  <a:pt x="41059" y="135640"/>
                </a:lnTo>
                <a:lnTo>
                  <a:pt x="67226" y="141188"/>
                </a:lnTo>
                <a:lnTo>
                  <a:pt x="93393" y="135640"/>
                </a:lnTo>
                <a:lnTo>
                  <a:pt x="114762" y="120511"/>
                </a:lnTo>
                <a:lnTo>
                  <a:pt x="129169" y="98072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658458" y="2537405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92886" y="203524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6"/>
                </a:lnTo>
                <a:lnTo>
                  <a:pt x="0" y="70595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2"/>
                </a:lnTo>
                <a:lnTo>
                  <a:pt x="67226" y="141189"/>
                </a:lnTo>
                <a:lnTo>
                  <a:pt x="93393" y="135642"/>
                </a:lnTo>
                <a:lnTo>
                  <a:pt x="114761" y="120512"/>
                </a:lnTo>
                <a:lnTo>
                  <a:pt x="129168" y="98073"/>
                </a:lnTo>
                <a:lnTo>
                  <a:pt x="134451" y="70595"/>
                </a:lnTo>
                <a:lnTo>
                  <a:pt x="129168" y="43116"/>
                </a:lnTo>
                <a:lnTo>
                  <a:pt x="114761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92886" y="2035247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133607" y="253546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67226" y="0"/>
                </a:moveTo>
                <a:lnTo>
                  <a:pt x="41058" y="5547"/>
                </a:lnTo>
                <a:lnTo>
                  <a:pt x="19689" y="20676"/>
                </a:lnTo>
                <a:lnTo>
                  <a:pt x="5282" y="43115"/>
                </a:lnTo>
                <a:lnTo>
                  <a:pt x="0" y="70594"/>
                </a:lnTo>
                <a:lnTo>
                  <a:pt x="5282" y="98073"/>
                </a:lnTo>
                <a:lnTo>
                  <a:pt x="19689" y="120512"/>
                </a:lnTo>
                <a:lnTo>
                  <a:pt x="41058" y="135641"/>
                </a:lnTo>
                <a:lnTo>
                  <a:pt x="67226" y="141189"/>
                </a:lnTo>
                <a:lnTo>
                  <a:pt x="93393" y="135641"/>
                </a:lnTo>
                <a:lnTo>
                  <a:pt x="114762" y="120512"/>
                </a:lnTo>
                <a:lnTo>
                  <a:pt x="129169" y="98073"/>
                </a:lnTo>
                <a:lnTo>
                  <a:pt x="134452" y="70594"/>
                </a:lnTo>
                <a:lnTo>
                  <a:pt x="129169" y="43115"/>
                </a:lnTo>
                <a:lnTo>
                  <a:pt x="114762" y="20676"/>
                </a:lnTo>
                <a:lnTo>
                  <a:pt x="93393" y="5547"/>
                </a:lnTo>
                <a:lnTo>
                  <a:pt x="6722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133607" y="2535464"/>
            <a:ext cx="134620" cy="141605"/>
          </a:xfrm>
          <a:custGeom>
            <a:avLst/>
            <a:gdLst/>
            <a:ahLst/>
            <a:cxnLst/>
            <a:rect l="l" t="t" r="r" b="b"/>
            <a:pathLst>
              <a:path w="134620" h="141605">
                <a:moveTo>
                  <a:pt x="0" y="70594"/>
                </a:moveTo>
                <a:lnTo>
                  <a:pt x="5282" y="43115"/>
                </a:lnTo>
                <a:lnTo>
                  <a:pt x="19690" y="20676"/>
                </a:lnTo>
                <a:lnTo>
                  <a:pt x="41058" y="5547"/>
                </a:lnTo>
                <a:lnTo>
                  <a:pt x="67226" y="0"/>
                </a:lnTo>
                <a:lnTo>
                  <a:pt x="93393" y="5547"/>
                </a:lnTo>
                <a:lnTo>
                  <a:pt x="114761" y="20676"/>
                </a:lnTo>
                <a:lnTo>
                  <a:pt x="129169" y="43115"/>
                </a:lnTo>
                <a:lnTo>
                  <a:pt x="134452" y="70594"/>
                </a:lnTo>
                <a:lnTo>
                  <a:pt x="129169" y="98073"/>
                </a:lnTo>
                <a:lnTo>
                  <a:pt x="114761" y="120512"/>
                </a:lnTo>
                <a:lnTo>
                  <a:pt x="93393" y="135641"/>
                </a:lnTo>
                <a:lnTo>
                  <a:pt x="67226" y="141189"/>
                </a:lnTo>
                <a:lnTo>
                  <a:pt x="41058" y="135641"/>
                </a:lnTo>
                <a:lnTo>
                  <a:pt x="19690" y="120512"/>
                </a:lnTo>
                <a:lnTo>
                  <a:pt x="5282" y="98073"/>
                </a:lnTo>
                <a:lnTo>
                  <a:pt x="0" y="70594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322498" y="1468627"/>
            <a:ext cx="3263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45">
                <a:latin typeface="Cambria Math"/>
                <a:cs typeface="Cambria Math"/>
              </a:rPr>
              <a:t>𝑔</a:t>
            </a:r>
            <a:r>
              <a:rPr dirty="0" baseline="-15432" sz="2700" spc="-112">
                <a:latin typeface="Cambria Math"/>
                <a:cs typeface="Cambria Math"/>
              </a:rPr>
              <a:t>#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08813" y="1474724"/>
            <a:ext cx="333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latin typeface="Cambria Math"/>
                <a:cs typeface="Cambria Math"/>
              </a:rPr>
              <a:t>𝑔</a:t>
            </a:r>
            <a:r>
              <a:rPr dirty="0" baseline="-15432" sz="2700" spc="52">
                <a:latin typeface="Cambria Math"/>
                <a:cs typeface="Cambria Math"/>
              </a:rPr>
              <a:t>3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23262" y="1468627"/>
            <a:ext cx="333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latin typeface="Cambria Math"/>
                <a:cs typeface="Cambria Math"/>
              </a:rPr>
              <a:t>𝑔</a:t>
            </a:r>
            <a:r>
              <a:rPr dirty="0" baseline="-15432" sz="2700" spc="37">
                <a:latin typeface="Cambria Math"/>
                <a:cs typeface="Cambria Math"/>
              </a:rPr>
              <a:t>C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35211" y="1459483"/>
            <a:ext cx="333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90">
                <a:latin typeface="Cambria Math"/>
                <a:cs typeface="Cambria Math"/>
              </a:rPr>
              <a:t>𝑔</a:t>
            </a:r>
            <a:r>
              <a:rPr dirty="0" baseline="-15432" sz="2700" spc="-465">
                <a:latin typeface="Cambria Math"/>
                <a:cs typeface="Cambria Math"/>
              </a:rPr>
              <a:t>&lt;</a:t>
            </a:r>
            <a:endParaRPr baseline="-15432" sz="27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92482" y="2806700"/>
            <a:ext cx="2178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mbria Math"/>
                <a:cs typeface="Cambria Math"/>
              </a:rPr>
              <a:t>𝐺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923133" y="3182691"/>
            <a:ext cx="193675" cy="127635"/>
          </a:xfrm>
          <a:custGeom>
            <a:avLst/>
            <a:gdLst/>
            <a:ahLst/>
            <a:cxnLst/>
            <a:rect l="l" t="t" r="r" b="b"/>
            <a:pathLst>
              <a:path w="193675" h="127635">
                <a:moveTo>
                  <a:pt x="0" y="0"/>
                </a:moveTo>
                <a:lnTo>
                  <a:pt x="193623" y="12704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173801" y="3006341"/>
            <a:ext cx="0" cy="255270"/>
          </a:xfrm>
          <a:custGeom>
            <a:avLst/>
            <a:gdLst/>
            <a:ahLst/>
            <a:cxnLst/>
            <a:rect l="l" t="t" r="r" b="b"/>
            <a:pathLst>
              <a:path w="0" h="255270">
                <a:moveTo>
                  <a:pt x="1" y="25486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923133" y="2988772"/>
            <a:ext cx="209550" cy="123189"/>
          </a:xfrm>
          <a:custGeom>
            <a:avLst/>
            <a:gdLst/>
            <a:ahLst/>
            <a:cxnLst/>
            <a:rect l="l" t="t" r="r" b="b"/>
            <a:pathLst>
              <a:path w="209550" h="123189">
                <a:moveTo>
                  <a:pt x="209193" y="0"/>
                </a:moveTo>
                <a:lnTo>
                  <a:pt x="0" y="12255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116755" y="3259274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0" y="86140"/>
                </a:lnTo>
                <a:lnTo>
                  <a:pt x="35826" y="96954"/>
                </a:lnTo>
                <a:lnTo>
                  <a:pt x="58660" y="100919"/>
                </a:lnTo>
                <a:lnTo>
                  <a:pt x="81492" y="96954"/>
                </a:lnTo>
                <a:lnTo>
                  <a:pt x="100138" y="86140"/>
                </a:lnTo>
                <a:lnTo>
                  <a:pt x="112709" y="70101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16755" y="3259275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22994" y="3096550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822994" y="3096551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115144" y="2902631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115144" y="2902632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232462" y="2951058"/>
            <a:ext cx="247015" cy="2540"/>
          </a:xfrm>
          <a:custGeom>
            <a:avLst/>
            <a:gdLst/>
            <a:ahLst/>
            <a:cxnLst/>
            <a:rect l="l" t="t" r="r" b="b"/>
            <a:pathLst>
              <a:path w="247014" h="2539">
                <a:moveTo>
                  <a:pt x="-14287" y="1016"/>
                </a:moveTo>
                <a:lnTo>
                  <a:pt x="261113" y="1016"/>
                </a:lnTo>
              </a:path>
            </a:pathLst>
          </a:custGeom>
          <a:ln w="306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479264" y="3256745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8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58" y="100919"/>
                </a:lnTo>
                <a:lnTo>
                  <a:pt x="81491" y="96953"/>
                </a:lnTo>
                <a:lnTo>
                  <a:pt x="100137" y="86139"/>
                </a:lnTo>
                <a:lnTo>
                  <a:pt x="112708" y="70100"/>
                </a:lnTo>
                <a:lnTo>
                  <a:pt x="117318" y="50459"/>
                </a:lnTo>
                <a:lnTo>
                  <a:pt x="112708" y="30818"/>
                </a:lnTo>
                <a:lnTo>
                  <a:pt x="100137" y="14779"/>
                </a:lnTo>
                <a:lnTo>
                  <a:pt x="81491" y="3965"/>
                </a:lnTo>
                <a:lnTo>
                  <a:pt x="586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479264" y="3256745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479287" y="290059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1" y="86140"/>
                </a:lnTo>
                <a:lnTo>
                  <a:pt x="35827" y="96954"/>
                </a:lnTo>
                <a:lnTo>
                  <a:pt x="58660" y="100919"/>
                </a:lnTo>
                <a:lnTo>
                  <a:pt x="81492" y="96954"/>
                </a:lnTo>
                <a:lnTo>
                  <a:pt x="100138" y="86140"/>
                </a:lnTo>
                <a:lnTo>
                  <a:pt x="112709" y="70101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479287" y="290059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537924" y="3001518"/>
            <a:ext cx="635" cy="255270"/>
          </a:xfrm>
          <a:custGeom>
            <a:avLst/>
            <a:gdLst/>
            <a:ahLst/>
            <a:cxnLst/>
            <a:rect l="l" t="t" r="r" b="b"/>
            <a:pathLst>
              <a:path w="635" h="255270">
                <a:moveTo>
                  <a:pt x="0" y="255228"/>
                </a:moveTo>
                <a:lnTo>
                  <a:pt x="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093853" y="6009132"/>
            <a:ext cx="148399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105">
                <a:solidFill>
                  <a:srgbClr val="6BB76D"/>
                </a:solidFill>
                <a:latin typeface="Cambria Math"/>
                <a:cs typeface="Cambria Math"/>
              </a:rPr>
              <a:t>𝒇</a:t>
            </a:r>
            <a:r>
              <a:rPr dirty="0" baseline="-15700" sz="3450" spc="157">
                <a:solidFill>
                  <a:srgbClr val="6BB76D"/>
                </a:solidFill>
                <a:latin typeface="Cambria Math"/>
                <a:cs typeface="Cambria Math"/>
              </a:rPr>
              <a:t>0 </a:t>
            </a:r>
            <a:r>
              <a:rPr dirty="0" sz="3200">
                <a:latin typeface="Cambria Math"/>
                <a:cs typeface="Cambria Math"/>
              </a:rPr>
              <a:t>=</a:t>
            </a:r>
            <a:r>
              <a:rPr dirty="0" sz="3200" spc="300">
                <a:latin typeface="Cambria Math"/>
                <a:cs typeface="Cambria Math"/>
              </a:rPr>
              <a:t> </a:t>
            </a:r>
            <a:r>
              <a:rPr dirty="0" sz="3200" spc="-5">
                <a:latin typeface="Cambria Math"/>
                <a:cs typeface="Cambria Math"/>
              </a:rPr>
              <a:t>(1,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454591" y="6009132"/>
            <a:ext cx="3346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3,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65855" y="6009132"/>
            <a:ext cx="3346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6,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877116" y="6009132"/>
            <a:ext cx="60896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mbria Math"/>
                <a:cs typeface="Cambria Math"/>
              </a:rPr>
              <a:t>0</a:t>
            </a:r>
            <a:r>
              <a:rPr dirty="0" sz="3200" spc="-5">
                <a:latin typeface="Cambria Math"/>
                <a:cs typeface="Cambria Math"/>
              </a:rPr>
              <a:t>)</a:t>
            </a:r>
            <a:r>
              <a:rPr dirty="0" baseline="27777" sz="3450" spc="322">
                <a:latin typeface="Cambria Math"/>
                <a:cs typeface="Cambria Math"/>
              </a:rPr>
              <a:t>1</a:t>
            </a:r>
            <a:endParaRPr baseline="27777" sz="3450">
              <a:latin typeface="Cambria Math"/>
              <a:cs typeface="Cambria Math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180806" y="4094830"/>
            <a:ext cx="398145" cy="288925"/>
          </a:xfrm>
          <a:custGeom>
            <a:avLst/>
            <a:gdLst/>
            <a:ahLst/>
            <a:cxnLst/>
            <a:rect l="l" t="t" r="r" b="b"/>
            <a:pathLst>
              <a:path w="398144" h="288925">
                <a:moveTo>
                  <a:pt x="0" y="0"/>
                </a:moveTo>
                <a:lnTo>
                  <a:pt x="397662" y="28833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695629" y="3694595"/>
            <a:ext cx="0" cy="578485"/>
          </a:xfrm>
          <a:custGeom>
            <a:avLst/>
            <a:gdLst/>
            <a:ahLst/>
            <a:cxnLst/>
            <a:rect l="l" t="t" r="r" b="b"/>
            <a:pathLst>
              <a:path w="0" h="578485">
                <a:moveTo>
                  <a:pt x="1" y="57843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180805" y="3654722"/>
            <a:ext cx="429895" cy="278765"/>
          </a:xfrm>
          <a:custGeom>
            <a:avLst/>
            <a:gdLst/>
            <a:ahLst/>
            <a:cxnLst/>
            <a:rect l="l" t="t" r="r" b="b"/>
            <a:pathLst>
              <a:path w="429894" h="278764">
                <a:moveTo>
                  <a:pt x="429638" y="0"/>
                </a:moveTo>
                <a:lnTo>
                  <a:pt x="0" y="27815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578466" y="4268642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0"/>
                </a:moveTo>
                <a:lnTo>
                  <a:pt x="73580" y="8999"/>
                </a:lnTo>
                <a:lnTo>
                  <a:pt x="35286" y="33542"/>
                </a:lnTo>
                <a:lnTo>
                  <a:pt x="9467" y="69943"/>
                </a:lnTo>
                <a:lnTo>
                  <a:pt x="0" y="114519"/>
                </a:lnTo>
                <a:lnTo>
                  <a:pt x="9467" y="159095"/>
                </a:lnTo>
                <a:lnTo>
                  <a:pt x="35286" y="195497"/>
                </a:lnTo>
                <a:lnTo>
                  <a:pt x="73580" y="220039"/>
                </a:lnTo>
                <a:lnTo>
                  <a:pt x="120474" y="229039"/>
                </a:lnTo>
                <a:lnTo>
                  <a:pt x="167368" y="220039"/>
                </a:lnTo>
                <a:lnTo>
                  <a:pt x="205662" y="195497"/>
                </a:lnTo>
                <a:lnTo>
                  <a:pt x="231481" y="159095"/>
                </a:lnTo>
                <a:lnTo>
                  <a:pt x="240949" y="114519"/>
                </a:lnTo>
                <a:lnTo>
                  <a:pt x="231481" y="69943"/>
                </a:lnTo>
                <a:lnTo>
                  <a:pt x="205662" y="33542"/>
                </a:lnTo>
                <a:lnTo>
                  <a:pt x="167368" y="8999"/>
                </a:lnTo>
                <a:lnTo>
                  <a:pt x="1204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78466" y="4268642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229040"/>
                </a:moveTo>
                <a:lnTo>
                  <a:pt x="73580" y="220040"/>
                </a:lnTo>
                <a:lnTo>
                  <a:pt x="35286" y="195497"/>
                </a:lnTo>
                <a:lnTo>
                  <a:pt x="9467" y="159096"/>
                </a:lnTo>
                <a:lnTo>
                  <a:pt x="0" y="114520"/>
                </a:lnTo>
                <a:lnTo>
                  <a:pt x="9467" y="69943"/>
                </a:lnTo>
                <a:lnTo>
                  <a:pt x="35286" y="33542"/>
                </a:lnTo>
                <a:lnTo>
                  <a:pt x="73580" y="8999"/>
                </a:lnTo>
                <a:lnTo>
                  <a:pt x="120474" y="0"/>
                </a:lnTo>
                <a:lnTo>
                  <a:pt x="167368" y="8999"/>
                </a:lnTo>
                <a:lnTo>
                  <a:pt x="205662" y="33542"/>
                </a:lnTo>
                <a:lnTo>
                  <a:pt x="231481" y="69943"/>
                </a:lnTo>
                <a:lnTo>
                  <a:pt x="240949" y="114520"/>
                </a:lnTo>
                <a:lnTo>
                  <a:pt x="231481" y="159096"/>
                </a:lnTo>
                <a:lnTo>
                  <a:pt x="205662" y="195497"/>
                </a:lnTo>
                <a:lnTo>
                  <a:pt x="167368" y="220040"/>
                </a:lnTo>
                <a:lnTo>
                  <a:pt x="120474" y="2290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75142" y="3899331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0"/>
                </a:moveTo>
                <a:lnTo>
                  <a:pt x="73580" y="8999"/>
                </a:lnTo>
                <a:lnTo>
                  <a:pt x="35286" y="33542"/>
                </a:lnTo>
                <a:lnTo>
                  <a:pt x="9467" y="69944"/>
                </a:lnTo>
                <a:lnTo>
                  <a:pt x="0" y="114520"/>
                </a:lnTo>
                <a:lnTo>
                  <a:pt x="9467" y="159097"/>
                </a:lnTo>
                <a:lnTo>
                  <a:pt x="35286" y="195498"/>
                </a:lnTo>
                <a:lnTo>
                  <a:pt x="73580" y="220041"/>
                </a:lnTo>
                <a:lnTo>
                  <a:pt x="120474" y="229040"/>
                </a:lnTo>
                <a:lnTo>
                  <a:pt x="167368" y="220041"/>
                </a:lnTo>
                <a:lnTo>
                  <a:pt x="205662" y="195498"/>
                </a:lnTo>
                <a:lnTo>
                  <a:pt x="231481" y="159097"/>
                </a:lnTo>
                <a:lnTo>
                  <a:pt x="240949" y="114520"/>
                </a:lnTo>
                <a:lnTo>
                  <a:pt x="231481" y="69944"/>
                </a:lnTo>
                <a:lnTo>
                  <a:pt x="205662" y="33542"/>
                </a:lnTo>
                <a:lnTo>
                  <a:pt x="167368" y="8999"/>
                </a:lnTo>
                <a:lnTo>
                  <a:pt x="1204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975142" y="3899332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229040"/>
                </a:moveTo>
                <a:lnTo>
                  <a:pt x="73580" y="220040"/>
                </a:lnTo>
                <a:lnTo>
                  <a:pt x="35286" y="195497"/>
                </a:lnTo>
                <a:lnTo>
                  <a:pt x="9467" y="159096"/>
                </a:lnTo>
                <a:lnTo>
                  <a:pt x="0" y="114520"/>
                </a:lnTo>
                <a:lnTo>
                  <a:pt x="9467" y="69943"/>
                </a:lnTo>
                <a:lnTo>
                  <a:pt x="35286" y="33542"/>
                </a:lnTo>
                <a:lnTo>
                  <a:pt x="73580" y="8999"/>
                </a:lnTo>
                <a:lnTo>
                  <a:pt x="120474" y="0"/>
                </a:lnTo>
                <a:lnTo>
                  <a:pt x="167368" y="8999"/>
                </a:lnTo>
                <a:lnTo>
                  <a:pt x="205662" y="33542"/>
                </a:lnTo>
                <a:lnTo>
                  <a:pt x="231481" y="69943"/>
                </a:lnTo>
                <a:lnTo>
                  <a:pt x="240949" y="114520"/>
                </a:lnTo>
                <a:lnTo>
                  <a:pt x="231481" y="159096"/>
                </a:lnTo>
                <a:lnTo>
                  <a:pt x="205662" y="195497"/>
                </a:lnTo>
                <a:lnTo>
                  <a:pt x="167368" y="220040"/>
                </a:lnTo>
                <a:lnTo>
                  <a:pt x="120474" y="2290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75155" y="3459223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0"/>
                </a:moveTo>
                <a:lnTo>
                  <a:pt x="73580" y="8999"/>
                </a:lnTo>
                <a:lnTo>
                  <a:pt x="35286" y="33542"/>
                </a:lnTo>
                <a:lnTo>
                  <a:pt x="9467" y="69943"/>
                </a:lnTo>
                <a:lnTo>
                  <a:pt x="0" y="114519"/>
                </a:lnTo>
                <a:lnTo>
                  <a:pt x="9467" y="159095"/>
                </a:lnTo>
                <a:lnTo>
                  <a:pt x="35286" y="195497"/>
                </a:lnTo>
                <a:lnTo>
                  <a:pt x="73580" y="220039"/>
                </a:lnTo>
                <a:lnTo>
                  <a:pt x="120474" y="229039"/>
                </a:lnTo>
                <a:lnTo>
                  <a:pt x="167368" y="220039"/>
                </a:lnTo>
                <a:lnTo>
                  <a:pt x="205662" y="195497"/>
                </a:lnTo>
                <a:lnTo>
                  <a:pt x="231481" y="159095"/>
                </a:lnTo>
                <a:lnTo>
                  <a:pt x="240949" y="114519"/>
                </a:lnTo>
                <a:lnTo>
                  <a:pt x="231481" y="69943"/>
                </a:lnTo>
                <a:lnTo>
                  <a:pt x="205662" y="33542"/>
                </a:lnTo>
                <a:lnTo>
                  <a:pt x="167368" y="8999"/>
                </a:lnTo>
                <a:lnTo>
                  <a:pt x="1204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575155" y="3459222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229040"/>
                </a:moveTo>
                <a:lnTo>
                  <a:pt x="73580" y="220040"/>
                </a:lnTo>
                <a:lnTo>
                  <a:pt x="35286" y="195497"/>
                </a:lnTo>
                <a:lnTo>
                  <a:pt x="9467" y="159096"/>
                </a:lnTo>
                <a:lnTo>
                  <a:pt x="0" y="114520"/>
                </a:lnTo>
                <a:lnTo>
                  <a:pt x="9467" y="69943"/>
                </a:lnTo>
                <a:lnTo>
                  <a:pt x="35286" y="33542"/>
                </a:lnTo>
                <a:lnTo>
                  <a:pt x="73580" y="8999"/>
                </a:lnTo>
                <a:lnTo>
                  <a:pt x="120474" y="0"/>
                </a:lnTo>
                <a:lnTo>
                  <a:pt x="167368" y="8999"/>
                </a:lnTo>
                <a:lnTo>
                  <a:pt x="205662" y="33542"/>
                </a:lnTo>
                <a:lnTo>
                  <a:pt x="231481" y="69943"/>
                </a:lnTo>
                <a:lnTo>
                  <a:pt x="240949" y="114520"/>
                </a:lnTo>
                <a:lnTo>
                  <a:pt x="231481" y="159096"/>
                </a:lnTo>
                <a:lnTo>
                  <a:pt x="205662" y="195497"/>
                </a:lnTo>
                <a:lnTo>
                  <a:pt x="167368" y="220040"/>
                </a:lnTo>
                <a:lnTo>
                  <a:pt x="120474" y="2290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16106" y="3569129"/>
            <a:ext cx="507365" cy="5080"/>
          </a:xfrm>
          <a:custGeom>
            <a:avLst/>
            <a:gdLst/>
            <a:ahLst/>
            <a:cxnLst/>
            <a:rect l="l" t="t" r="r" b="b"/>
            <a:pathLst>
              <a:path w="507364" h="5079">
                <a:moveTo>
                  <a:pt x="506928" y="0"/>
                </a:moveTo>
                <a:lnTo>
                  <a:pt x="0" y="461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2322983" y="4262902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0"/>
                </a:moveTo>
                <a:lnTo>
                  <a:pt x="73580" y="8999"/>
                </a:lnTo>
                <a:lnTo>
                  <a:pt x="35286" y="33542"/>
                </a:lnTo>
                <a:lnTo>
                  <a:pt x="9467" y="69943"/>
                </a:lnTo>
                <a:lnTo>
                  <a:pt x="0" y="114519"/>
                </a:lnTo>
                <a:lnTo>
                  <a:pt x="9467" y="159095"/>
                </a:lnTo>
                <a:lnTo>
                  <a:pt x="35286" y="195497"/>
                </a:lnTo>
                <a:lnTo>
                  <a:pt x="73580" y="220039"/>
                </a:lnTo>
                <a:lnTo>
                  <a:pt x="120474" y="229039"/>
                </a:lnTo>
                <a:lnTo>
                  <a:pt x="167368" y="220039"/>
                </a:lnTo>
                <a:lnTo>
                  <a:pt x="205662" y="195497"/>
                </a:lnTo>
                <a:lnTo>
                  <a:pt x="231480" y="159095"/>
                </a:lnTo>
                <a:lnTo>
                  <a:pt x="240948" y="114519"/>
                </a:lnTo>
                <a:lnTo>
                  <a:pt x="231480" y="69943"/>
                </a:lnTo>
                <a:lnTo>
                  <a:pt x="205662" y="33542"/>
                </a:lnTo>
                <a:lnTo>
                  <a:pt x="167368" y="8999"/>
                </a:lnTo>
                <a:lnTo>
                  <a:pt x="1204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322983" y="4262901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229040"/>
                </a:moveTo>
                <a:lnTo>
                  <a:pt x="73580" y="220040"/>
                </a:lnTo>
                <a:lnTo>
                  <a:pt x="35286" y="195497"/>
                </a:lnTo>
                <a:lnTo>
                  <a:pt x="9467" y="159096"/>
                </a:lnTo>
                <a:lnTo>
                  <a:pt x="0" y="114520"/>
                </a:lnTo>
                <a:lnTo>
                  <a:pt x="9467" y="69943"/>
                </a:lnTo>
                <a:lnTo>
                  <a:pt x="35286" y="33542"/>
                </a:lnTo>
                <a:lnTo>
                  <a:pt x="73580" y="8999"/>
                </a:lnTo>
                <a:lnTo>
                  <a:pt x="120474" y="0"/>
                </a:lnTo>
                <a:lnTo>
                  <a:pt x="167368" y="8999"/>
                </a:lnTo>
                <a:lnTo>
                  <a:pt x="205662" y="33542"/>
                </a:lnTo>
                <a:lnTo>
                  <a:pt x="231481" y="69943"/>
                </a:lnTo>
                <a:lnTo>
                  <a:pt x="240949" y="114520"/>
                </a:lnTo>
                <a:lnTo>
                  <a:pt x="231481" y="159096"/>
                </a:lnTo>
                <a:lnTo>
                  <a:pt x="205662" y="195497"/>
                </a:lnTo>
                <a:lnTo>
                  <a:pt x="167368" y="220040"/>
                </a:lnTo>
                <a:lnTo>
                  <a:pt x="120474" y="2290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2323031" y="3454608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0"/>
                </a:moveTo>
                <a:lnTo>
                  <a:pt x="73580" y="8999"/>
                </a:lnTo>
                <a:lnTo>
                  <a:pt x="35286" y="33542"/>
                </a:lnTo>
                <a:lnTo>
                  <a:pt x="9467" y="69943"/>
                </a:lnTo>
                <a:lnTo>
                  <a:pt x="0" y="114519"/>
                </a:lnTo>
                <a:lnTo>
                  <a:pt x="9467" y="159096"/>
                </a:lnTo>
                <a:lnTo>
                  <a:pt x="35286" y="195498"/>
                </a:lnTo>
                <a:lnTo>
                  <a:pt x="73580" y="220041"/>
                </a:lnTo>
                <a:lnTo>
                  <a:pt x="120474" y="229040"/>
                </a:lnTo>
                <a:lnTo>
                  <a:pt x="167369" y="220041"/>
                </a:lnTo>
                <a:lnTo>
                  <a:pt x="205663" y="195498"/>
                </a:lnTo>
                <a:lnTo>
                  <a:pt x="231482" y="159096"/>
                </a:lnTo>
                <a:lnTo>
                  <a:pt x="240949" y="114519"/>
                </a:lnTo>
                <a:lnTo>
                  <a:pt x="231482" y="69943"/>
                </a:lnTo>
                <a:lnTo>
                  <a:pt x="205663" y="33542"/>
                </a:lnTo>
                <a:lnTo>
                  <a:pt x="167369" y="8999"/>
                </a:lnTo>
                <a:lnTo>
                  <a:pt x="12047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323031" y="3454608"/>
            <a:ext cx="241300" cy="229235"/>
          </a:xfrm>
          <a:custGeom>
            <a:avLst/>
            <a:gdLst/>
            <a:ahLst/>
            <a:cxnLst/>
            <a:rect l="l" t="t" r="r" b="b"/>
            <a:pathLst>
              <a:path w="241300" h="229235">
                <a:moveTo>
                  <a:pt x="120474" y="229040"/>
                </a:moveTo>
                <a:lnTo>
                  <a:pt x="73580" y="220040"/>
                </a:lnTo>
                <a:lnTo>
                  <a:pt x="35286" y="195497"/>
                </a:lnTo>
                <a:lnTo>
                  <a:pt x="9467" y="159096"/>
                </a:lnTo>
                <a:lnTo>
                  <a:pt x="0" y="114520"/>
                </a:lnTo>
                <a:lnTo>
                  <a:pt x="9467" y="69943"/>
                </a:lnTo>
                <a:lnTo>
                  <a:pt x="35286" y="33542"/>
                </a:lnTo>
                <a:lnTo>
                  <a:pt x="73580" y="8999"/>
                </a:lnTo>
                <a:lnTo>
                  <a:pt x="120474" y="0"/>
                </a:lnTo>
                <a:lnTo>
                  <a:pt x="167368" y="8999"/>
                </a:lnTo>
                <a:lnTo>
                  <a:pt x="205662" y="33542"/>
                </a:lnTo>
                <a:lnTo>
                  <a:pt x="231481" y="69943"/>
                </a:lnTo>
                <a:lnTo>
                  <a:pt x="240949" y="114520"/>
                </a:lnTo>
                <a:lnTo>
                  <a:pt x="231481" y="159096"/>
                </a:lnTo>
                <a:lnTo>
                  <a:pt x="205662" y="195497"/>
                </a:lnTo>
                <a:lnTo>
                  <a:pt x="167368" y="220040"/>
                </a:lnTo>
                <a:lnTo>
                  <a:pt x="120474" y="2290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443459" y="3683649"/>
            <a:ext cx="635" cy="579755"/>
          </a:xfrm>
          <a:custGeom>
            <a:avLst/>
            <a:gdLst/>
            <a:ahLst/>
            <a:cxnLst/>
            <a:rect l="l" t="t" r="r" b="b"/>
            <a:pathLst>
              <a:path w="635" h="579754">
                <a:moveTo>
                  <a:pt x="0" y="579253"/>
                </a:moveTo>
                <a:lnTo>
                  <a:pt x="4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33913" y="2912294"/>
            <a:ext cx="807555" cy="30685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189380" y="3187743"/>
            <a:ext cx="193675" cy="127635"/>
          </a:xfrm>
          <a:custGeom>
            <a:avLst/>
            <a:gdLst/>
            <a:ahLst/>
            <a:cxnLst/>
            <a:rect l="l" t="t" r="r" b="b"/>
            <a:pathLst>
              <a:path w="193675" h="127635">
                <a:moveTo>
                  <a:pt x="0" y="0"/>
                </a:moveTo>
                <a:lnTo>
                  <a:pt x="193623" y="1270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440048" y="3011393"/>
            <a:ext cx="0" cy="255270"/>
          </a:xfrm>
          <a:custGeom>
            <a:avLst/>
            <a:gdLst/>
            <a:ahLst/>
            <a:cxnLst/>
            <a:rect l="l" t="t" r="r" b="b"/>
            <a:pathLst>
              <a:path w="0" h="255270">
                <a:moveTo>
                  <a:pt x="1" y="25486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189380" y="2993824"/>
            <a:ext cx="209550" cy="123189"/>
          </a:xfrm>
          <a:custGeom>
            <a:avLst/>
            <a:gdLst/>
            <a:ahLst/>
            <a:cxnLst/>
            <a:rect l="l" t="t" r="r" b="b"/>
            <a:pathLst>
              <a:path w="209550" h="123189">
                <a:moveTo>
                  <a:pt x="209193" y="0"/>
                </a:moveTo>
                <a:lnTo>
                  <a:pt x="0" y="1225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383002" y="3264326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383002" y="326432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089241" y="3101602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089241" y="310160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381391" y="2907684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8" y="0"/>
                </a:moveTo>
                <a:lnTo>
                  <a:pt x="35826" y="3965"/>
                </a:lnTo>
                <a:lnTo>
                  <a:pt x="17180" y="14778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58" y="100919"/>
                </a:lnTo>
                <a:lnTo>
                  <a:pt x="81491" y="96953"/>
                </a:lnTo>
                <a:lnTo>
                  <a:pt x="100137" y="86139"/>
                </a:lnTo>
                <a:lnTo>
                  <a:pt x="112708" y="70100"/>
                </a:lnTo>
                <a:lnTo>
                  <a:pt x="117318" y="50459"/>
                </a:lnTo>
                <a:lnTo>
                  <a:pt x="112708" y="30818"/>
                </a:lnTo>
                <a:lnTo>
                  <a:pt x="100137" y="14778"/>
                </a:lnTo>
                <a:lnTo>
                  <a:pt x="81491" y="3965"/>
                </a:lnTo>
                <a:lnTo>
                  <a:pt x="5865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381391" y="2907684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498709" y="2956110"/>
            <a:ext cx="247015" cy="2540"/>
          </a:xfrm>
          <a:custGeom>
            <a:avLst/>
            <a:gdLst/>
            <a:ahLst/>
            <a:cxnLst/>
            <a:rect l="l" t="t" r="r" b="b"/>
            <a:pathLst>
              <a:path w="247014" h="2539">
                <a:moveTo>
                  <a:pt x="-14287" y="1016"/>
                </a:moveTo>
                <a:lnTo>
                  <a:pt x="261113" y="1016"/>
                </a:lnTo>
              </a:path>
            </a:pathLst>
          </a:custGeom>
          <a:ln w="3060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45510" y="326179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1" y="86139"/>
                </a:lnTo>
                <a:lnTo>
                  <a:pt x="35827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745510" y="326179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745534" y="2905649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1" y="86140"/>
                </a:lnTo>
                <a:lnTo>
                  <a:pt x="35827" y="96954"/>
                </a:lnTo>
                <a:lnTo>
                  <a:pt x="58660" y="100919"/>
                </a:lnTo>
                <a:lnTo>
                  <a:pt x="81492" y="96954"/>
                </a:lnTo>
                <a:lnTo>
                  <a:pt x="100138" y="86140"/>
                </a:lnTo>
                <a:lnTo>
                  <a:pt x="112709" y="70101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745534" y="2905649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804171" y="3006570"/>
            <a:ext cx="635" cy="255270"/>
          </a:xfrm>
          <a:custGeom>
            <a:avLst/>
            <a:gdLst/>
            <a:ahLst/>
            <a:cxnLst/>
            <a:rect l="l" t="t" r="r" b="b"/>
            <a:pathLst>
              <a:path w="635" h="255270">
                <a:moveTo>
                  <a:pt x="0" y="255228"/>
                </a:moveTo>
                <a:lnTo>
                  <a:pt x="24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176565" y="3710129"/>
            <a:ext cx="193675" cy="127635"/>
          </a:xfrm>
          <a:custGeom>
            <a:avLst/>
            <a:gdLst/>
            <a:ahLst/>
            <a:cxnLst/>
            <a:rect l="l" t="t" r="r" b="b"/>
            <a:pathLst>
              <a:path w="193675" h="127635">
                <a:moveTo>
                  <a:pt x="0" y="0"/>
                </a:moveTo>
                <a:lnTo>
                  <a:pt x="193623" y="1270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427234" y="3533780"/>
            <a:ext cx="0" cy="255270"/>
          </a:xfrm>
          <a:custGeom>
            <a:avLst/>
            <a:gdLst/>
            <a:ahLst/>
            <a:cxnLst/>
            <a:rect l="l" t="t" r="r" b="b"/>
            <a:pathLst>
              <a:path w="0" h="255270">
                <a:moveTo>
                  <a:pt x="1" y="25486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176565" y="3516210"/>
            <a:ext cx="209550" cy="123189"/>
          </a:xfrm>
          <a:custGeom>
            <a:avLst/>
            <a:gdLst/>
            <a:ahLst/>
            <a:cxnLst/>
            <a:rect l="l" t="t" r="r" b="b"/>
            <a:pathLst>
              <a:path w="209550" h="123189">
                <a:moveTo>
                  <a:pt x="209193" y="0"/>
                </a:moveTo>
                <a:lnTo>
                  <a:pt x="0" y="1225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370188" y="378671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1" y="86140"/>
                </a:lnTo>
                <a:lnTo>
                  <a:pt x="35827" y="96954"/>
                </a:lnTo>
                <a:lnTo>
                  <a:pt x="58660" y="100919"/>
                </a:lnTo>
                <a:lnTo>
                  <a:pt x="81492" y="96954"/>
                </a:lnTo>
                <a:lnTo>
                  <a:pt x="100138" y="86140"/>
                </a:lnTo>
                <a:lnTo>
                  <a:pt x="112709" y="70101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370188" y="378671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076427" y="3623989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1" y="86140"/>
                </a:lnTo>
                <a:lnTo>
                  <a:pt x="35827" y="96954"/>
                </a:lnTo>
                <a:lnTo>
                  <a:pt x="58660" y="100919"/>
                </a:lnTo>
                <a:lnTo>
                  <a:pt x="81492" y="96954"/>
                </a:lnTo>
                <a:lnTo>
                  <a:pt x="100138" y="86140"/>
                </a:lnTo>
                <a:lnTo>
                  <a:pt x="112709" y="70101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076427" y="3623989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368576" y="3430070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8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58" y="100919"/>
                </a:lnTo>
                <a:lnTo>
                  <a:pt x="81492" y="96953"/>
                </a:lnTo>
                <a:lnTo>
                  <a:pt x="100137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7" y="14779"/>
                </a:lnTo>
                <a:lnTo>
                  <a:pt x="81492" y="3965"/>
                </a:lnTo>
                <a:lnTo>
                  <a:pt x="5865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368576" y="3430070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485895" y="3478496"/>
            <a:ext cx="247015" cy="2540"/>
          </a:xfrm>
          <a:custGeom>
            <a:avLst/>
            <a:gdLst/>
            <a:ahLst/>
            <a:cxnLst/>
            <a:rect l="l" t="t" r="r" b="b"/>
            <a:pathLst>
              <a:path w="247014" h="2539">
                <a:moveTo>
                  <a:pt x="-14287" y="1016"/>
                </a:moveTo>
                <a:lnTo>
                  <a:pt x="261113" y="1016"/>
                </a:lnTo>
              </a:path>
            </a:pathLst>
          </a:custGeom>
          <a:ln w="3060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732697" y="378418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8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0" y="86140"/>
                </a:lnTo>
                <a:lnTo>
                  <a:pt x="35826" y="96954"/>
                </a:lnTo>
                <a:lnTo>
                  <a:pt x="58658" y="100919"/>
                </a:lnTo>
                <a:lnTo>
                  <a:pt x="81491" y="96954"/>
                </a:lnTo>
                <a:lnTo>
                  <a:pt x="100137" y="86140"/>
                </a:lnTo>
                <a:lnTo>
                  <a:pt x="112708" y="70101"/>
                </a:lnTo>
                <a:lnTo>
                  <a:pt x="117318" y="50459"/>
                </a:lnTo>
                <a:lnTo>
                  <a:pt x="112708" y="30818"/>
                </a:lnTo>
                <a:lnTo>
                  <a:pt x="100137" y="14779"/>
                </a:lnTo>
                <a:lnTo>
                  <a:pt x="81491" y="3965"/>
                </a:lnTo>
                <a:lnTo>
                  <a:pt x="586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732697" y="378418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732720" y="342803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8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1" y="86139"/>
                </a:lnTo>
                <a:lnTo>
                  <a:pt x="35827" y="96952"/>
                </a:lnTo>
                <a:lnTo>
                  <a:pt x="58660" y="100918"/>
                </a:lnTo>
                <a:lnTo>
                  <a:pt x="81492" y="96952"/>
                </a:lnTo>
                <a:lnTo>
                  <a:pt x="100138" y="86139"/>
                </a:lnTo>
                <a:lnTo>
                  <a:pt x="112710" y="70100"/>
                </a:lnTo>
                <a:lnTo>
                  <a:pt x="117320" y="50459"/>
                </a:lnTo>
                <a:lnTo>
                  <a:pt x="112710" y="30818"/>
                </a:lnTo>
                <a:lnTo>
                  <a:pt x="100138" y="14778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5732720" y="3428036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791357" y="3528956"/>
            <a:ext cx="635" cy="255270"/>
          </a:xfrm>
          <a:custGeom>
            <a:avLst/>
            <a:gdLst/>
            <a:ahLst/>
            <a:cxnLst/>
            <a:rect l="l" t="t" r="r" b="b"/>
            <a:pathLst>
              <a:path w="635" h="255270">
                <a:moveTo>
                  <a:pt x="0" y="255228"/>
                </a:moveTo>
                <a:lnTo>
                  <a:pt x="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176541" y="4230977"/>
            <a:ext cx="193675" cy="127635"/>
          </a:xfrm>
          <a:custGeom>
            <a:avLst/>
            <a:gdLst/>
            <a:ahLst/>
            <a:cxnLst/>
            <a:rect l="l" t="t" r="r" b="b"/>
            <a:pathLst>
              <a:path w="193675" h="127635">
                <a:moveTo>
                  <a:pt x="0" y="0"/>
                </a:moveTo>
                <a:lnTo>
                  <a:pt x="193623" y="1270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427211" y="4054627"/>
            <a:ext cx="0" cy="255270"/>
          </a:xfrm>
          <a:custGeom>
            <a:avLst/>
            <a:gdLst/>
            <a:ahLst/>
            <a:cxnLst/>
            <a:rect l="l" t="t" r="r" b="b"/>
            <a:pathLst>
              <a:path w="0" h="255270">
                <a:moveTo>
                  <a:pt x="1" y="25486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176541" y="4037058"/>
            <a:ext cx="209550" cy="123189"/>
          </a:xfrm>
          <a:custGeom>
            <a:avLst/>
            <a:gdLst/>
            <a:ahLst/>
            <a:cxnLst/>
            <a:rect l="l" t="t" r="r" b="b"/>
            <a:pathLst>
              <a:path w="209550" h="123189">
                <a:moveTo>
                  <a:pt x="209193" y="0"/>
                </a:moveTo>
                <a:lnTo>
                  <a:pt x="0" y="122558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370164" y="4307560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1" y="86139"/>
                </a:lnTo>
                <a:lnTo>
                  <a:pt x="35827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370164" y="4307560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076403" y="4144836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7" y="3965"/>
                </a:lnTo>
                <a:lnTo>
                  <a:pt x="17181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1" y="86139"/>
                </a:lnTo>
                <a:lnTo>
                  <a:pt x="35827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076403" y="4144836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368552" y="3950917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60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60" y="100919"/>
                </a:lnTo>
                <a:lnTo>
                  <a:pt x="81492" y="96953"/>
                </a:lnTo>
                <a:lnTo>
                  <a:pt x="100138" y="86139"/>
                </a:lnTo>
                <a:lnTo>
                  <a:pt x="112709" y="70100"/>
                </a:lnTo>
                <a:lnTo>
                  <a:pt x="117318" y="50459"/>
                </a:lnTo>
                <a:lnTo>
                  <a:pt x="112709" y="30818"/>
                </a:lnTo>
                <a:lnTo>
                  <a:pt x="100138" y="14779"/>
                </a:lnTo>
                <a:lnTo>
                  <a:pt x="81492" y="3965"/>
                </a:lnTo>
                <a:lnTo>
                  <a:pt x="5866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368552" y="3950918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485871" y="3999344"/>
            <a:ext cx="247015" cy="2540"/>
          </a:xfrm>
          <a:custGeom>
            <a:avLst/>
            <a:gdLst/>
            <a:ahLst/>
            <a:cxnLst/>
            <a:rect l="l" t="t" r="r" b="b"/>
            <a:pathLst>
              <a:path w="247014" h="2539">
                <a:moveTo>
                  <a:pt x="-14287" y="1016"/>
                </a:moveTo>
                <a:lnTo>
                  <a:pt x="261113" y="1016"/>
                </a:lnTo>
              </a:path>
            </a:pathLst>
          </a:custGeom>
          <a:ln w="3060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732673" y="4305030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8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0"/>
                </a:lnTo>
                <a:lnTo>
                  <a:pt x="17180" y="86139"/>
                </a:lnTo>
                <a:lnTo>
                  <a:pt x="35826" y="96953"/>
                </a:lnTo>
                <a:lnTo>
                  <a:pt x="58658" y="100919"/>
                </a:lnTo>
                <a:lnTo>
                  <a:pt x="81491" y="96953"/>
                </a:lnTo>
                <a:lnTo>
                  <a:pt x="100137" y="86139"/>
                </a:lnTo>
                <a:lnTo>
                  <a:pt x="112708" y="70100"/>
                </a:lnTo>
                <a:lnTo>
                  <a:pt x="117318" y="50459"/>
                </a:lnTo>
                <a:lnTo>
                  <a:pt x="112708" y="30818"/>
                </a:lnTo>
                <a:lnTo>
                  <a:pt x="100137" y="14779"/>
                </a:lnTo>
                <a:lnTo>
                  <a:pt x="81491" y="3965"/>
                </a:lnTo>
                <a:lnTo>
                  <a:pt x="586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732673" y="4305031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732697" y="394888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8" y="0"/>
                </a:moveTo>
                <a:lnTo>
                  <a:pt x="35826" y="3965"/>
                </a:lnTo>
                <a:lnTo>
                  <a:pt x="17180" y="14779"/>
                </a:lnTo>
                <a:lnTo>
                  <a:pt x="4609" y="30818"/>
                </a:lnTo>
                <a:lnTo>
                  <a:pt x="0" y="50459"/>
                </a:lnTo>
                <a:lnTo>
                  <a:pt x="4609" y="70101"/>
                </a:lnTo>
                <a:lnTo>
                  <a:pt x="17180" y="86140"/>
                </a:lnTo>
                <a:lnTo>
                  <a:pt x="35826" y="96954"/>
                </a:lnTo>
                <a:lnTo>
                  <a:pt x="58658" y="100919"/>
                </a:lnTo>
                <a:lnTo>
                  <a:pt x="81491" y="96954"/>
                </a:lnTo>
                <a:lnTo>
                  <a:pt x="100137" y="86140"/>
                </a:lnTo>
                <a:lnTo>
                  <a:pt x="112708" y="70101"/>
                </a:lnTo>
                <a:lnTo>
                  <a:pt x="117318" y="50459"/>
                </a:lnTo>
                <a:lnTo>
                  <a:pt x="112708" y="30818"/>
                </a:lnTo>
                <a:lnTo>
                  <a:pt x="100137" y="14779"/>
                </a:lnTo>
                <a:lnTo>
                  <a:pt x="81491" y="3965"/>
                </a:lnTo>
                <a:lnTo>
                  <a:pt x="58658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732697" y="3948883"/>
            <a:ext cx="117475" cy="100965"/>
          </a:xfrm>
          <a:custGeom>
            <a:avLst/>
            <a:gdLst/>
            <a:ahLst/>
            <a:cxnLst/>
            <a:rect l="l" t="t" r="r" b="b"/>
            <a:pathLst>
              <a:path w="117475" h="100964">
                <a:moveTo>
                  <a:pt x="58659" y="100919"/>
                </a:moveTo>
                <a:lnTo>
                  <a:pt x="35826" y="96953"/>
                </a:lnTo>
                <a:lnTo>
                  <a:pt x="17180" y="86139"/>
                </a:lnTo>
                <a:lnTo>
                  <a:pt x="4609" y="70100"/>
                </a:lnTo>
                <a:lnTo>
                  <a:pt x="0" y="50459"/>
                </a:lnTo>
                <a:lnTo>
                  <a:pt x="4609" y="30818"/>
                </a:lnTo>
                <a:lnTo>
                  <a:pt x="17180" y="14779"/>
                </a:lnTo>
                <a:lnTo>
                  <a:pt x="35826" y="3965"/>
                </a:lnTo>
                <a:lnTo>
                  <a:pt x="58659" y="0"/>
                </a:lnTo>
                <a:lnTo>
                  <a:pt x="81492" y="3965"/>
                </a:lnTo>
                <a:lnTo>
                  <a:pt x="100138" y="14779"/>
                </a:lnTo>
                <a:lnTo>
                  <a:pt x="112709" y="30818"/>
                </a:lnTo>
                <a:lnTo>
                  <a:pt x="117319" y="50459"/>
                </a:lnTo>
                <a:lnTo>
                  <a:pt x="112709" y="70100"/>
                </a:lnTo>
                <a:lnTo>
                  <a:pt x="100138" y="86139"/>
                </a:lnTo>
                <a:lnTo>
                  <a:pt x="81492" y="96953"/>
                </a:lnTo>
                <a:lnTo>
                  <a:pt x="58659" y="100919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791333" y="4049803"/>
            <a:ext cx="635" cy="255270"/>
          </a:xfrm>
          <a:custGeom>
            <a:avLst/>
            <a:gdLst/>
            <a:ahLst/>
            <a:cxnLst/>
            <a:rect l="l" t="t" r="r" b="b"/>
            <a:pathLst>
              <a:path w="635" h="255270">
                <a:moveTo>
                  <a:pt x="0" y="255228"/>
                </a:moveTo>
                <a:lnTo>
                  <a:pt x="2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20" name="object 1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4"/>
              </a:rPr>
              <a:t>http://cs224w.stanford.edu</a:t>
            </a:r>
          </a:p>
        </p:txBody>
      </p:sp>
      <p:sp>
        <p:nvSpPr>
          <p:cNvPr id="121" name="object 121"/>
          <p:cNvSpPr txBox="1"/>
          <p:nvPr/>
        </p:nvSpPr>
        <p:spPr>
          <a:xfrm>
            <a:off x="8719697" y="6723724"/>
            <a:ext cx="14097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 spc="0">
                <a:solidFill>
                  <a:srgbClr val="3F3F3F"/>
                </a:solidFill>
                <a:latin typeface="Corbel"/>
                <a:cs typeface="Corbel"/>
              </a:rPr>
              <a:t>50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831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15544" y="2504972"/>
            <a:ext cx="1095375" cy="376555"/>
          </a:xfrm>
          <a:custGeom>
            <a:avLst/>
            <a:gdLst/>
            <a:ahLst/>
            <a:cxnLst/>
            <a:rect l="l" t="t" r="r" b="b"/>
            <a:pathLst>
              <a:path w="1095375" h="376555">
                <a:moveTo>
                  <a:pt x="974764" y="0"/>
                </a:moveTo>
                <a:lnTo>
                  <a:pt x="969406" y="15279"/>
                </a:lnTo>
                <a:lnTo>
                  <a:pt x="991197" y="24736"/>
                </a:lnTo>
                <a:lnTo>
                  <a:pt x="1009937" y="37826"/>
                </a:lnTo>
                <a:lnTo>
                  <a:pt x="1038264" y="74909"/>
                </a:lnTo>
                <a:lnTo>
                  <a:pt x="1054933" y="124940"/>
                </a:lnTo>
                <a:lnTo>
                  <a:pt x="1060489" y="186331"/>
                </a:lnTo>
                <a:lnTo>
                  <a:pt x="1059094" y="219533"/>
                </a:lnTo>
                <a:lnTo>
                  <a:pt x="1047932" y="276782"/>
                </a:lnTo>
                <a:lnTo>
                  <a:pt x="1025533" y="321493"/>
                </a:lnTo>
                <a:lnTo>
                  <a:pt x="991451" y="351655"/>
                </a:lnTo>
                <a:lnTo>
                  <a:pt x="970001" y="361156"/>
                </a:lnTo>
                <a:lnTo>
                  <a:pt x="974764" y="376435"/>
                </a:lnTo>
                <a:lnTo>
                  <a:pt x="1026109" y="352349"/>
                </a:lnTo>
                <a:lnTo>
                  <a:pt x="1063862" y="310653"/>
                </a:lnTo>
                <a:lnTo>
                  <a:pt x="1087079" y="254818"/>
                </a:lnTo>
                <a:lnTo>
                  <a:pt x="1094818" y="188316"/>
                </a:lnTo>
                <a:lnTo>
                  <a:pt x="1092877" y="153807"/>
                </a:lnTo>
                <a:lnTo>
                  <a:pt x="1077350" y="92638"/>
                </a:lnTo>
                <a:lnTo>
                  <a:pt x="1046555" y="42843"/>
                </a:lnTo>
                <a:lnTo>
                  <a:pt x="1002055" y="9853"/>
                </a:lnTo>
                <a:lnTo>
                  <a:pt x="974764" y="0"/>
                </a:lnTo>
                <a:close/>
              </a:path>
              <a:path w="1095375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7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930515" cy="1555750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Given two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graphs,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𝐺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60" b="0">
                <a:solidFill>
                  <a:srgbClr val="000000"/>
                </a:solidFill>
                <a:latin typeface="Cambria Math"/>
                <a:cs typeface="Cambria Math"/>
              </a:rPr>
              <a:t>𝐺</a:t>
            </a:r>
            <a:r>
              <a:rPr dirty="0" baseline="28985" sz="3450" spc="89" b="0">
                <a:solidFill>
                  <a:srgbClr val="000000"/>
                </a:solidFill>
                <a:latin typeface="Cambria Math"/>
                <a:cs typeface="Cambria Math"/>
              </a:rPr>
              <a:t>"</a:t>
            </a:r>
            <a:r>
              <a:rPr dirty="0" sz="3200" spc="60" b="0">
                <a:solidFill>
                  <a:srgbClr val="000000"/>
                </a:solidFill>
                <a:latin typeface="Calibri"/>
                <a:cs typeface="Calibri"/>
              </a:rPr>
              <a:t>,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graphlet </a:t>
            </a:r>
            <a:r>
              <a:rPr dirty="0" sz="3200" spc="-25" b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is  </a:t>
            </a:r>
            <a:r>
              <a:rPr dirty="0" sz="3200" spc="-10" b="0">
                <a:solidFill>
                  <a:srgbClr val="000000"/>
                </a:solidFill>
                <a:latin typeface="Calibri"/>
                <a:cs typeface="Calibri"/>
              </a:rPr>
              <a:t>computed</a:t>
            </a:r>
            <a:r>
              <a:rPr dirty="0" sz="320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as</a:t>
            </a:r>
            <a:endParaRPr sz="3200">
              <a:latin typeface="Calibri"/>
              <a:cs typeface="Calibri"/>
            </a:endParaRPr>
          </a:p>
          <a:p>
            <a:pPr marL="2265045">
              <a:lnSpc>
                <a:spcPct val="100000"/>
              </a:lnSpc>
              <a:spcBef>
                <a:spcPts val="455"/>
              </a:spcBef>
              <a:tabLst>
                <a:tab pos="2729865" algn="l"/>
                <a:tab pos="3840479" algn="l"/>
              </a:tabLst>
            </a:pP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𝐾	</a:t>
            </a:r>
            <a:r>
              <a:rPr dirty="0" spc="60" b="0">
                <a:solidFill>
                  <a:srgbClr val="000000"/>
                </a:solidFill>
                <a:latin typeface="Cambria Math"/>
                <a:cs typeface="Cambria Math"/>
              </a:rPr>
              <a:t>𝐺,</a:t>
            </a:r>
            <a:r>
              <a:rPr dirty="0" spc="-16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pc="50" b="0">
                <a:solidFill>
                  <a:srgbClr val="000000"/>
                </a:solidFill>
                <a:latin typeface="Cambria Math"/>
                <a:cs typeface="Cambria Math"/>
              </a:rPr>
              <a:t>𝐺</a:t>
            </a:r>
            <a:r>
              <a:rPr dirty="0" baseline="28985" sz="3450" spc="75" b="0">
                <a:solidFill>
                  <a:srgbClr val="000000"/>
                </a:solidFill>
                <a:latin typeface="Cambria Math"/>
                <a:cs typeface="Cambria Math"/>
              </a:rPr>
              <a:t>"	</a:t>
            </a:r>
            <a:r>
              <a:rPr dirty="0" sz="3200" b="0">
                <a:solidFill>
                  <a:srgbClr val="000000"/>
                </a:solidFill>
                <a:latin typeface="Cambria Math"/>
                <a:cs typeface="Cambria Math"/>
              </a:rPr>
              <a:t>=</a:t>
            </a:r>
            <a:r>
              <a:rPr dirty="0" sz="3200" spc="105" b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dirty="0" sz="3200" spc="125" b="0">
                <a:solidFill>
                  <a:srgbClr val="000000"/>
                </a:solidFill>
                <a:latin typeface="Cambria Math"/>
                <a:cs typeface="Cambria Math"/>
              </a:rPr>
              <a:t>𝒇</a:t>
            </a:r>
            <a:r>
              <a:rPr dirty="0" baseline="-15700" sz="3450" spc="187" b="0">
                <a:solidFill>
                  <a:srgbClr val="000000"/>
                </a:solidFill>
                <a:latin typeface="Cambria Math"/>
                <a:cs typeface="Cambria Math"/>
              </a:rPr>
              <a:t>0</a:t>
            </a:r>
            <a:r>
              <a:rPr dirty="0" baseline="37439" sz="3450" spc="187" b="0">
                <a:solidFill>
                  <a:srgbClr val="000000"/>
                </a:solidFill>
                <a:latin typeface="Cambria Math"/>
                <a:cs typeface="Cambria Math"/>
              </a:rPr>
              <a:t>1</a:t>
            </a:r>
            <a:r>
              <a:rPr dirty="0" sz="3200" spc="125" b="0">
                <a:solidFill>
                  <a:srgbClr val="000000"/>
                </a:solidFill>
                <a:latin typeface="Cambria Math"/>
                <a:cs typeface="Cambria Math"/>
              </a:rPr>
              <a:t>𝒇</a:t>
            </a:r>
            <a:r>
              <a:rPr dirty="0" baseline="-19323" sz="3450" spc="187" b="0">
                <a:solidFill>
                  <a:srgbClr val="000000"/>
                </a:solidFill>
                <a:latin typeface="Cambria Math"/>
                <a:cs typeface="Cambria Math"/>
              </a:rPr>
              <a:t>0</a:t>
            </a:r>
            <a:r>
              <a:rPr dirty="0" baseline="1461" sz="2850" spc="187" b="0">
                <a:solidFill>
                  <a:srgbClr val="000000"/>
                </a:solidFill>
                <a:latin typeface="Cambria Math"/>
                <a:cs typeface="Cambria Math"/>
              </a:rPr>
              <a:t>#</a:t>
            </a:r>
            <a:endParaRPr baseline="1461" sz="28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3366516"/>
            <a:ext cx="7890509" cy="149161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32740" marR="5080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E66C7D"/>
                </a:solidFill>
                <a:latin typeface="Calibri"/>
                <a:cs typeface="Calibri"/>
              </a:rPr>
              <a:t>Problem</a:t>
            </a:r>
            <a:r>
              <a:rPr dirty="0" sz="3200" spc="-10">
                <a:solidFill>
                  <a:srgbClr val="E66C7D"/>
                </a:solidFill>
                <a:latin typeface="Calibri"/>
                <a:cs typeface="Calibri"/>
              </a:rPr>
              <a:t>: </a:t>
            </a:r>
            <a:r>
              <a:rPr dirty="0" sz="3200">
                <a:latin typeface="Calibri"/>
                <a:cs typeface="Calibri"/>
              </a:rPr>
              <a:t>if </a:t>
            </a:r>
            <a:r>
              <a:rPr dirty="0" sz="3200">
                <a:latin typeface="Cambria Math"/>
                <a:cs typeface="Cambria Math"/>
              </a:rPr>
              <a:t>𝐺 </a:t>
            </a:r>
            <a:r>
              <a:rPr dirty="0" sz="3200">
                <a:latin typeface="Calibri"/>
                <a:cs typeface="Calibri"/>
              </a:rPr>
              <a:t>and </a:t>
            </a:r>
            <a:r>
              <a:rPr dirty="0" sz="3200" spc="50">
                <a:latin typeface="Cambria Math"/>
                <a:cs typeface="Cambria Math"/>
              </a:rPr>
              <a:t>𝐺</a:t>
            </a:r>
            <a:r>
              <a:rPr dirty="0" baseline="27777" sz="3450" spc="75">
                <a:latin typeface="Cambria Math"/>
                <a:cs typeface="Cambria Math"/>
              </a:rPr>
              <a:t>"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 spc="-25">
                <a:latin typeface="Calibri"/>
                <a:cs typeface="Calibri"/>
              </a:rPr>
              <a:t>different </a:t>
            </a:r>
            <a:r>
              <a:rPr dirty="0" sz="3200" spc="-15">
                <a:latin typeface="Calibri"/>
                <a:cs typeface="Calibri"/>
              </a:rPr>
              <a:t>sizes, </a:t>
            </a:r>
            <a:r>
              <a:rPr dirty="0" sz="3200" spc="-10">
                <a:latin typeface="Calibri"/>
                <a:cs typeface="Calibri"/>
              </a:rPr>
              <a:t>that  </a:t>
            </a:r>
            <a:r>
              <a:rPr dirty="0" sz="3200" spc="-5">
                <a:latin typeface="Calibri"/>
                <a:cs typeface="Calibri"/>
              </a:rPr>
              <a:t>will </a:t>
            </a:r>
            <a:r>
              <a:rPr dirty="0" sz="3200" spc="-15">
                <a:latin typeface="Calibri"/>
                <a:cs typeface="Calibri"/>
              </a:rPr>
              <a:t>greatly </a:t>
            </a:r>
            <a:r>
              <a:rPr dirty="0" sz="3200" spc="-35">
                <a:latin typeface="Calibri"/>
                <a:cs typeface="Calibri"/>
              </a:rPr>
              <a:t>skew </a:t>
            </a:r>
            <a:r>
              <a:rPr dirty="0" sz="3200">
                <a:latin typeface="Calibri"/>
                <a:cs typeface="Calibri"/>
              </a:rPr>
              <a:t>the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value.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79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E66C7D"/>
                </a:solidFill>
                <a:latin typeface="Calibri"/>
                <a:cs typeface="Calibri"/>
              </a:rPr>
              <a:t>Solution</a:t>
            </a:r>
            <a:r>
              <a:rPr dirty="0" sz="3200" spc="-5">
                <a:solidFill>
                  <a:srgbClr val="E66C7D"/>
                </a:solidFill>
                <a:latin typeface="Calibri"/>
                <a:cs typeface="Calibri"/>
              </a:rPr>
              <a:t>: </a:t>
            </a:r>
            <a:r>
              <a:rPr dirty="0" sz="3200" spc="-10">
                <a:latin typeface="Calibri"/>
                <a:cs typeface="Calibri"/>
              </a:rPr>
              <a:t>normalize </a:t>
            </a:r>
            <a:r>
              <a:rPr dirty="0" sz="3200" spc="-5">
                <a:latin typeface="Calibri"/>
                <a:cs typeface="Calibri"/>
              </a:rPr>
              <a:t>each </a:t>
            </a:r>
            <a:r>
              <a:rPr dirty="0" sz="3200" spc="-25">
                <a:latin typeface="Calibri"/>
                <a:cs typeface="Calibri"/>
              </a:rPr>
              <a:t>feature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vector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92811" y="5443076"/>
            <a:ext cx="956944" cy="329565"/>
          </a:xfrm>
          <a:custGeom>
            <a:avLst/>
            <a:gdLst/>
            <a:ahLst/>
            <a:cxnLst/>
            <a:rect l="l" t="t" r="r" b="b"/>
            <a:pathLst>
              <a:path w="956945" h="329564">
                <a:moveTo>
                  <a:pt x="851696" y="0"/>
                </a:moveTo>
                <a:lnTo>
                  <a:pt x="847008" y="13369"/>
                </a:lnTo>
                <a:lnTo>
                  <a:pt x="866075" y="21644"/>
                </a:lnTo>
                <a:lnTo>
                  <a:pt x="882472" y="33098"/>
                </a:lnTo>
                <a:lnTo>
                  <a:pt x="907258" y="65545"/>
                </a:lnTo>
                <a:lnTo>
                  <a:pt x="921843" y="109323"/>
                </a:lnTo>
                <a:lnTo>
                  <a:pt x="926705" y="163041"/>
                </a:lnTo>
                <a:lnTo>
                  <a:pt x="925484" y="192092"/>
                </a:lnTo>
                <a:lnTo>
                  <a:pt x="915717" y="242185"/>
                </a:lnTo>
                <a:lnTo>
                  <a:pt x="896119" y="281306"/>
                </a:lnTo>
                <a:lnTo>
                  <a:pt x="866297" y="307699"/>
                </a:lnTo>
                <a:lnTo>
                  <a:pt x="847529" y="316011"/>
                </a:lnTo>
                <a:lnTo>
                  <a:pt x="851696" y="329381"/>
                </a:lnTo>
                <a:lnTo>
                  <a:pt x="896623" y="308306"/>
                </a:lnTo>
                <a:lnTo>
                  <a:pt x="929657" y="271822"/>
                </a:lnTo>
                <a:lnTo>
                  <a:pt x="949972" y="222966"/>
                </a:lnTo>
                <a:lnTo>
                  <a:pt x="956744" y="164777"/>
                </a:lnTo>
                <a:lnTo>
                  <a:pt x="955046" y="134582"/>
                </a:lnTo>
                <a:lnTo>
                  <a:pt x="941459" y="81059"/>
                </a:lnTo>
                <a:lnTo>
                  <a:pt x="914513" y="37488"/>
                </a:lnTo>
                <a:lnTo>
                  <a:pt x="875575" y="8621"/>
                </a:lnTo>
                <a:lnTo>
                  <a:pt x="851696" y="0"/>
                </a:lnTo>
                <a:close/>
              </a:path>
              <a:path w="956945" h="329564">
                <a:moveTo>
                  <a:pt x="105046" y="0"/>
                </a:moveTo>
                <a:lnTo>
                  <a:pt x="60228" y="21117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6" y="320770"/>
                </a:lnTo>
                <a:lnTo>
                  <a:pt x="105046" y="329381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5" y="13369"/>
                </a:lnTo>
                <a:lnTo>
                  <a:pt x="1050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90411" y="5340603"/>
            <a:ext cx="19907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8465" algn="l"/>
                <a:tab pos="1388745" algn="l"/>
              </a:tabLst>
            </a:pPr>
            <a:r>
              <a:rPr dirty="0" sz="2800">
                <a:latin typeface="Cambria Math"/>
                <a:cs typeface="Cambria Math"/>
              </a:rPr>
              <a:t>𝐾	</a:t>
            </a:r>
            <a:r>
              <a:rPr dirty="0" sz="2800" spc="50">
                <a:latin typeface="Cambria Math"/>
                <a:cs typeface="Cambria Math"/>
              </a:rPr>
              <a:t>𝐺,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 spc="100">
                <a:latin typeface="Cambria Math"/>
                <a:cs typeface="Cambria Math"/>
              </a:rPr>
              <a:t>𝐺</a:t>
            </a:r>
            <a:r>
              <a:rPr dirty="0" baseline="29166" sz="3000" spc="150">
                <a:latin typeface="Cambria Math"/>
                <a:cs typeface="Cambria Math"/>
              </a:rPr>
              <a:t>-	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𝒉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6244" y="5515355"/>
            <a:ext cx="1917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2204" y="5172964"/>
            <a:ext cx="4337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40">
                <a:latin typeface="Cambria Math"/>
                <a:cs typeface="Cambria Math"/>
              </a:rPr>
              <a:t>O</a:t>
            </a:r>
            <a:r>
              <a:rPr dirty="0" baseline="-25793" sz="4200" spc="60">
                <a:latin typeface="Cambria Math"/>
                <a:cs typeface="Cambria Math"/>
              </a:rPr>
              <a:t>𝒉</a:t>
            </a:r>
            <a:endParaRPr baseline="-25793" sz="42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60637" y="5533644"/>
            <a:ext cx="1917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41865" y="5477255"/>
            <a:ext cx="1174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229">
                <a:latin typeface="Cambria Math"/>
                <a:cs typeface="Cambria Math"/>
              </a:rPr>
              <a:t>!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2544" y="5494020"/>
            <a:ext cx="1917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200">
                <a:latin typeface="Cambria Math"/>
                <a:cs typeface="Cambria Math"/>
              </a:rPr>
              <a:t>8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7119" y="5319267"/>
            <a:ext cx="81153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2765" algn="l"/>
              </a:tabLst>
            </a:pPr>
            <a:r>
              <a:rPr dirty="0" sz="2800">
                <a:latin typeface="Cambria Math"/>
                <a:cs typeface="Cambria Math"/>
              </a:rPr>
              <a:t>𝒉	=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64373" y="5586657"/>
            <a:ext cx="1358900" cy="0"/>
          </a:xfrm>
          <a:custGeom>
            <a:avLst/>
            <a:gdLst/>
            <a:ahLst/>
            <a:cxnLst/>
            <a:rect l="l" t="t" r="r" b="b"/>
            <a:pathLst>
              <a:path w="1358900" h="0">
                <a:moveTo>
                  <a:pt x="0" y="0"/>
                </a:moveTo>
                <a:lnTo>
                  <a:pt x="13589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933004" y="5051044"/>
            <a:ext cx="3917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mbria Math"/>
                <a:cs typeface="Cambria Math"/>
              </a:rPr>
              <a:t>𝒇</a:t>
            </a:r>
            <a:r>
              <a:rPr dirty="0" baseline="-16666" sz="3000" spc="300">
                <a:latin typeface="Cambria Math"/>
                <a:cs typeface="Cambria Math"/>
              </a:rPr>
              <a:t>8</a:t>
            </a:r>
            <a:endParaRPr baseline="-16666" sz="3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706997" y="6723724"/>
            <a:ext cx="16637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52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51229" y="5557011"/>
            <a:ext cx="13855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40">
                <a:latin typeface="Cambria Math"/>
                <a:cs typeface="Cambria Math"/>
              </a:rPr>
              <a:t>Sum(𝒇</a:t>
            </a:r>
            <a:r>
              <a:rPr dirty="0" baseline="-16666" sz="3000" spc="60">
                <a:latin typeface="Cambria Math"/>
                <a:cs typeface="Cambria Math"/>
              </a:rPr>
              <a:t>8</a:t>
            </a:r>
            <a:r>
              <a:rPr dirty="0" sz="2800" spc="40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38313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6649" y="1376172"/>
            <a:ext cx="7430134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C00000"/>
                </a:solidFill>
              </a:rPr>
              <a:t>Limitations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Counting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graphlets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pc="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C00000"/>
                </a:solidFill>
                <a:latin typeface="Calibri"/>
                <a:cs typeface="Calibri"/>
              </a:rPr>
              <a:t>expensive!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06997" y="6723724"/>
            <a:ext cx="16637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52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6649" y="1857756"/>
            <a:ext cx="8472170" cy="478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Counting </a:t>
            </a:r>
            <a:r>
              <a:rPr dirty="0" sz="3200" spc="-15">
                <a:latin typeface="Calibri"/>
                <a:cs typeface="Calibri"/>
              </a:rPr>
              <a:t>size-</a:t>
            </a:r>
            <a:r>
              <a:rPr dirty="0" sz="3200" spc="-15">
                <a:latin typeface="Cambria Math"/>
                <a:cs typeface="Cambria Math"/>
              </a:rPr>
              <a:t>𝑘 </a:t>
            </a:r>
            <a:r>
              <a:rPr dirty="0" sz="3200" spc="-15">
                <a:latin typeface="Calibri"/>
                <a:cs typeface="Calibri"/>
              </a:rPr>
              <a:t>graphlets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5">
                <a:latin typeface="Calibri"/>
                <a:cs typeface="Calibri"/>
              </a:rPr>
              <a:t>with </a:t>
            </a:r>
            <a:r>
              <a:rPr dirty="0" sz="3200" spc="-25">
                <a:latin typeface="Calibri"/>
                <a:cs typeface="Calibri"/>
              </a:rPr>
              <a:t>size</a:t>
            </a:r>
            <a:r>
              <a:rPr dirty="0" sz="3200" spc="215">
                <a:latin typeface="Calibri"/>
                <a:cs typeface="Calibri"/>
              </a:rPr>
              <a:t> </a:t>
            </a:r>
            <a:r>
              <a:rPr dirty="0" sz="3200">
                <a:latin typeface="Cambria Math"/>
                <a:cs typeface="Cambria Math"/>
              </a:rPr>
              <a:t>𝑛</a:t>
            </a:r>
            <a:endParaRPr sz="3200">
              <a:latin typeface="Cambria Math"/>
              <a:cs typeface="Cambria Math"/>
            </a:endParaRPr>
          </a:p>
          <a:p>
            <a:pPr marL="332740">
              <a:lnSpc>
                <a:spcPts val="3815"/>
              </a:lnSpc>
              <a:spcBef>
                <a:spcPts val="165"/>
              </a:spcBef>
            </a:pPr>
            <a:r>
              <a:rPr dirty="0" sz="3200" spc="-5">
                <a:latin typeface="Calibri"/>
                <a:cs typeface="Calibri"/>
              </a:rPr>
              <a:t>by </a:t>
            </a:r>
            <a:r>
              <a:rPr dirty="0" sz="3200" spc="-10">
                <a:latin typeface="Calibri"/>
                <a:cs typeface="Calibri"/>
              </a:rPr>
              <a:t>enumeration </a:t>
            </a:r>
            <a:r>
              <a:rPr dirty="0" sz="3200" spc="-35">
                <a:latin typeface="Calibri"/>
                <a:cs typeface="Calibri"/>
              </a:rPr>
              <a:t>takes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365">
                <a:latin typeface="Cambria Math"/>
                <a:cs typeface="Cambria Math"/>
              </a:rPr>
              <a:t>𝑛</a:t>
            </a:r>
            <a:r>
              <a:rPr dirty="0" baseline="28985" sz="3450" spc="547">
                <a:latin typeface="Cambria Math"/>
                <a:cs typeface="Cambria Math"/>
              </a:rPr>
              <a:t>.</a:t>
            </a:r>
            <a:r>
              <a:rPr dirty="0" sz="3200" spc="365">
                <a:latin typeface="Cambria Math"/>
                <a:cs typeface="Cambria Math"/>
              </a:rPr>
              <a:t>.</a:t>
            </a:r>
            <a:endParaRPr sz="3200">
              <a:latin typeface="Cambria Math"/>
              <a:cs typeface="Cambria Math"/>
            </a:endParaRPr>
          </a:p>
          <a:p>
            <a:pPr marL="332740" marR="5080" indent="-320040">
              <a:lnSpc>
                <a:spcPts val="382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This is </a:t>
            </a:r>
            <a:r>
              <a:rPr dirty="0" sz="3200" spc="-10">
                <a:latin typeface="Calibri"/>
                <a:cs typeface="Calibri"/>
              </a:rPr>
              <a:t>unavoidable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30">
                <a:latin typeface="Calibri"/>
                <a:cs typeface="Calibri"/>
              </a:rPr>
              <a:t>worst-case </a:t>
            </a:r>
            <a:r>
              <a:rPr dirty="0" sz="3200" spc="-5">
                <a:latin typeface="Calibri"/>
                <a:cs typeface="Calibri"/>
              </a:rPr>
              <a:t>since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8000"/>
                </a:solidFill>
                <a:latin typeface="Calibri"/>
                <a:cs typeface="Calibri"/>
              </a:rPr>
              <a:t>subgraph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isomorphism </a:t>
            </a:r>
            <a:r>
              <a:rPr dirty="0" sz="3200" spc="-20">
                <a:solidFill>
                  <a:srgbClr val="008000"/>
                </a:solidFill>
                <a:latin typeface="Calibri"/>
                <a:cs typeface="Calibri"/>
              </a:rPr>
              <a:t>test </a:t>
            </a:r>
            <a:r>
              <a:rPr dirty="0" sz="3200" spc="5">
                <a:latin typeface="Calibri"/>
                <a:cs typeface="Calibri"/>
              </a:rPr>
              <a:t>(judging </a:t>
            </a:r>
            <a:r>
              <a:rPr dirty="0" sz="3200" spc="-5">
                <a:latin typeface="Calibri"/>
                <a:cs typeface="Calibri"/>
              </a:rPr>
              <a:t>whether</a:t>
            </a:r>
            <a:r>
              <a:rPr dirty="0" sz="3200" spc="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ts val="3750"/>
              </a:lnSpc>
            </a:pP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10">
                <a:latin typeface="Calibri"/>
                <a:cs typeface="Calibri"/>
              </a:rPr>
              <a:t>subgraph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5">
                <a:latin typeface="Calibri"/>
                <a:cs typeface="Calibri"/>
              </a:rPr>
              <a:t>another </a:t>
            </a:r>
            <a:r>
              <a:rPr dirty="0" sz="3200" spc="-15">
                <a:latin typeface="Calibri"/>
                <a:cs typeface="Calibri"/>
              </a:rPr>
              <a:t>graph) </a:t>
            </a:r>
            <a:r>
              <a:rPr dirty="0" sz="3200">
                <a:latin typeface="Calibri"/>
                <a:cs typeface="Calibri"/>
              </a:rPr>
              <a:t>is</a:t>
            </a:r>
            <a:r>
              <a:rPr dirty="0" sz="3200" spc="60"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NP-hard</a:t>
            </a:r>
            <a:r>
              <a:rPr dirty="0" sz="3200" spc="-2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829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008000"/>
                </a:solidFill>
                <a:latin typeface="Calibri"/>
                <a:cs typeface="Calibri"/>
              </a:rPr>
              <a:t>If a </a:t>
            </a:r>
            <a:r>
              <a:rPr dirty="0" sz="3200" spc="-40">
                <a:solidFill>
                  <a:srgbClr val="008000"/>
                </a:solidFill>
                <a:latin typeface="Calibri"/>
                <a:cs typeface="Calibri"/>
              </a:rPr>
              <a:t>graph’s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node </a:t>
            </a:r>
            <a:r>
              <a:rPr dirty="0" sz="3200" spc="-15">
                <a:solidFill>
                  <a:srgbClr val="008000"/>
                </a:solidFill>
                <a:latin typeface="Calibri"/>
                <a:cs typeface="Calibri"/>
              </a:rPr>
              <a:t>degree </a:t>
            </a:r>
            <a:r>
              <a:rPr dirty="0" sz="3200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bounded by </a:t>
            </a:r>
            <a:r>
              <a:rPr dirty="0" sz="3200" spc="40">
                <a:solidFill>
                  <a:srgbClr val="008000"/>
                </a:solidFill>
                <a:latin typeface="Cambria Math"/>
                <a:cs typeface="Cambria Math"/>
              </a:rPr>
              <a:t>𝑑</a:t>
            </a:r>
            <a:r>
              <a:rPr dirty="0" sz="3200" spc="40">
                <a:latin typeface="Calibri"/>
                <a:cs typeface="Calibri"/>
              </a:rPr>
              <a:t>,</a:t>
            </a:r>
            <a:r>
              <a:rPr dirty="0" sz="3200" spc="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an</a:t>
            </a:r>
            <a:endParaRPr sz="3200">
              <a:latin typeface="Calibri"/>
              <a:cs typeface="Calibri"/>
            </a:endParaRPr>
          </a:p>
          <a:p>
            <a:pPr marL="332740" marR="1143000">
              <a:lnSpc>
                <a:spcPts val="3910"/>
              </a:lnSpc>
              <a:spcBef>
                <a:spcPts val="114"/>
              </a:spcBef>
            </a:pPr>
            <a:r>
              <a:rPr dirty="0" sz="3200" spc="250">
                <a:latin typeface="Cambria Math"/>
                <a:cs typeface="Cambria Math"/>
              </a:rPr>
              <a:t>𝑂(𝑛𝑑</a:t>
            </a:r>
            <a:r>
              <a:rPr dirty="0" baseline="28985" sz="3450" spc="375">
                <a:latin typeface="Cambria Math"/>
                <a:cs typeface="Cambria Math"/>
              </a:rPr>
              <a:t>.2)</a:t>
            </a:r>
            <a:r>
              <a:rPr dirty="0" sz="3200" spc="250">
                <a:latin typeface="Cambria Math"/>
                <a:cs typeface="Cambria Math"/>
              </a:rPr>
              <a:t>) </a:t>
            </a:r>
            <a:r>
              <a:rPr dirty="0" sz="3200" spc="-5">
                <a:latin typeface="Calibri"/>
                <a:cs typeface="Calibri"/>
              </a:rPr>
              <a:t>algorithm </a:t>
            </a:r>
            <a:r>
              <a:rPr dirty="0" sz="3200" spc="-20">
                <a:latin typeface="Calibri"/>
                <a:cs typeface="Calibri"/>
              </a:rPr>
              <a:t>exists </a:t>
            </a:r>
            <a:r>
              <a:rPr dirty="0" sz="3200" spc="-15">
                <a:latin typeface="Calibri"/>
                <a:cs typeface="Calibri"/>
              </a:rPr>
              <a:t>to count </a:t>
            </a:r>
            <a:r>
              <a:rPr dirty="0" sz="3200">
                <a:latin typeface="Calibri"/>
                <a:cs typeface="Calibri"/>
              </a:rPr>
              <a:t>all</a:t>
            </a:r>
            <a:r>
              <a:rPr dirty="0" sz="3200" spc="-1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  </a:t>
            </a:r>
            <a:r>
              <a:rPr dirty="0" sz="3200" spc="-15">
                <a:latin typeface="Calibri"/>
                <a:cs typeface="Calibri"/>
              </a:rPr>
              <a:t>graphlets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25">
                <a:latin typeface="Calibri"/>
                <a:cs typeface="Calibri"/>
              </a:rPr>
              <a:t>size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35">
                <a:latin typeface="Cambria Math"/>
                <a:cs typeface="Cambria Math"/>
              </a:rPr>
              <a:t>𝑘</a:t>
            </a:r>
            <a:r>
              <a:rPr dirty="0" sz="3200" spc="35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dirty="0" sz="3300" spc="-5" b="1">
                <a:latin typeface="Calibri"/>
                <a:cs typeface="Calibri"/>
              </a:rPr>
              <a:t>Can </a:t>
            </a:r>
            <a:r>
              <a:rPr dirty="0" sz="3300" spc="-15" b="1">
                <a:latin typeface="Calibri"/>
                <a:cs typeface="Calibri"/>
              </a:rPr>
              <a:t>we </a:t>
            </a:r>
            <a:r>
              <a:rPr dirty="0" sz="3300" spc="-5" b="1">
                <a:latin typeface="Calibri"/>
                <a:cs typeface="Calibri"/>
              </a:rPr>
              <a:t>design </a:t>
            </a:r>
            <a:r>
              <a:rPr dirty="0" sz="3300" b="1">
                <a:latin typeface="Calibri"/>
                <a:cs typeface="Calibri"/>
              </a:rPr>
              <a:t>a </a:t>
            </a:r>
            <a:r>
              <a:rPr dirty="0" sz="3300" spc="-15" b="1">
                <a:latin typeface="Calibri"/>
                <a:cs typeface="Calibri"/>
              </a:rPr>
              <a:t>more </a:t>
            </a:r>
            <a:r>
              <a:rPr dirty="0" sz="3300" spc="-10" b="1">
                <a:latin typeface="Calibri"/>
                <a:cs typeface="Calibri"/>
              </a:rPr>
              <a:t>efficient </a:t>
            </a:r>
            <a:r>
              <a:rPr dirty="0" sz="3300" spc="-20" b="1">
                <a:latin typeface="Calibri"/>
                <a:cs typeface="Calibri"/>
              </a:rPr>
              <a:t>graph</a:t>
            </a:r>
            <a:r>
              <a:rPr dirty="0" sz="3300" spc="85" b="1">
                <a:latin typeface="Calibri"/>
                <a:cs typeface="Calibri"/>
              </a:rPr>
              <a:t> </a:t>
            </a:r>
            <a:r>
              <a:rPr dirty="0" sz="3300" spc="-15" b="1">
                <a:latin typeface="Calibri"/>
                <a:cs typeface="Calibri"/>
              </a:rPr>
              <a:t>kernel?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630326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46952" y="1946172"/>
            <a:ext cx="539750" cy="376555"/>
          </a:xfrm>
          <a:custGeom>
            <a:avLst/>
            <a:gdLst/>
            <a:ahLst/>
            <a:cxnLst/>
            <a:rect l="l" t="t" r="r" b="b"/>
            <a:pathLst>
              <a:path w="539750" h="376555">
                <a:moveTo>
                  <a:pt x="419266" y="0"/>
                </a:moveTo>
                <a:lnTo>
                  <a:pt x="413908" y="15279"/>
                </a:lnTo>
                <a:lnTo>
                  <a:pt x="435699" y="24736"/>
                </a:lnTo>
                <a:lnTo>
                  <a:pt x="454439" y="37826"/>
                </a:lnTo>
                <a:lnTo>
                  <a:pt x="482766" y="74909"/>
                </a:lnTo>
                <a:lnTo>
                  <a:pt x="499435" y="124940"/>
                </a:lnTo>
                <a:lnTo>
                  <a:pt x="504991" y="186331"/>
                </a:lnTo>
                <a:lnTo>
                  <a:pt x="503596" y="219533"/>
                </a:lnTo>
                <a:lnTo>
                  <a:pt x="492434" y="276782"/>
                </a:lnTo>
                <a:lnTo>
                  <a:pt x="470035" y="321493"/>
                </a:lnTo>
                <a:lnTo>
                  <a:pt x="435953" y="351655"/>
                </a:lnTo>
                <a:lnTo>
                  <a:pt x="414503" y="361156"/>
                </a:lnTo>
                <a:lnTo>
                  <a:pt x="419266" y="376435"/>
                </a:lnTo>
                <a:lnTo>
                  <a:pt x="470611" y="352349"/>
                </a:lnTo>
                <a:lnTo>
                  <a:pt x="508364" y="310653"/>
                </a:lnTo>
                <a:lnTo>
                  <a:pt x="531581" y="254818"/>
                </a:lnTo>
                <a:lnTo>
                  <a:pt x="539320" y="188316"/>
                </a:lnTo>
                <a:lnTo>
                  <a:pt x="537379" y="153807"/>
                </a:lnTo>
                <a:lnTo>
                  <a:pt x="521852" y="92638"/>
                </a:lnTo>
                <a:lnTo>
                  <a:pt x="491057" y="42843"/>
                </a:lnTo>
                <a:lnTo>
                  <a:pt x="446557" y="9853"/>
                </a:lnTo>
                <a:lnTo>
                  <a:pt x="419266" y="0"/>
                </a:lnTo>
                <a:close/>
              </a:path>
              <a:path w="539750" h="376555">
                <a:moveTo>
                  <a:pt x="120054" y="0"/>
                </a:moveTo>
                <a:lnTo>
                  <a:pt x="68832" y="24134"/>
                </a:lnTo>
                <a:lnTo>
                  <a:pt x="31055" y="65980"/>
                </a:lnTo>
                <a:lnTo>
                  <a:pt x="7763" y="121914"/>
                </a:lnTo>
                <a:lnTo>
                  <a:pt x="0" y="188316"/>
                </a:lnTo>
                <a:lnTo>
                  <a:pt x="1934" y="222900"/>
                </a:lnTo>
                <a:lnTo>
                  <a:pt x="17412" y="284069"/>
                </a:lnTo>
                <a:lnTo>
                  <a:pt x="48133" y="333702"/>
                </a:lnTo>
                <a:lnTo>
                  <a:pt x="92682" y="366594"/>
                </a:lnTo>
                <a:lnTo>
                  <a:pt x="120054" y="376435"/>
                </a:lnTo>
                <a:lnTo>
                  <a:pt x="124816" y="361156"/>
                </a:lnTo>
                <a:lnTo>
                  <a:pt x="103366" y="351655"/>
                </a:lnTo>
                <a:lnTo>
                  <a:pt x="84856" y="338434"/>
                </a:lnTo>
                <a:lnTo>
                  <a:pt x="56653" y="300831"/>
                </a:lnTo>
                <a:lnTo>
                  <a:pt x="39910" y="249683"/>
                </a:lnTo>
                <a:lnTo>
                  <a:pt x="34329" y="186331"/>
                </a:lnTo>
                <a:lnTo>
                  <a:pt x="35724" y="154216"/>
                </a:lnTo>
                <a:lnTo>
                  <a:pt x="46886" y="98504"/>
                </a:lnTo>
                <a:lnTo>
                  <a:pt x="69322" y="54551"/>
                </a:lnTo>
                <a:lnTo>
                  <a:pt x="103702" y="24736"/>
                </a:lnTo>
                <a:lnTo>
                  <a:pt x="125412" y="15279"/>
                </a:lnTo>
                <a:lnTo>
                  <a:pt x="120054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671309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  <a:tab pos="2561590" algn="l"/>
              </a:tabLst>
            </a:pPr>
            <a:r>
              <a:rPr dirty="0" spc="-5">
                <a:solidFill>
                  <a:srgbClr val="6BB76D"/>
                </a:solidFill>
              </a:rPr>
              <a:t>Goal</a:t>
            </a:r>
            <a:r>
              <a:rPr dirty="0" spc="-5" b="0">
                <a:solidFill>
                  <a:srgbClr val="6BB76D"/>
                </a:solidFill>
                <a:latin typeface="Calibri"/>
                <a:cs typeface="Calibri"/>
              </a:rPr>
              <a:t>: design </a:t>
            </a:r>
            <a:r>
              <a:rPr dirty="0" b="0">
                <a:solidFill>
                  <a:srgbClr val="6BB76D"/>
                </a:solidFill>
                <a:latin typeface="Calibri"/>
                <a:cs typeface="Calibri"/>
              </a:rPr>
              <a:t>an </a:t>
            </a:r>
            <a:r>
              <a:rPr dirty="0" spc="-15" b="0">
                <a:solidFill>
                  <a:srgbClr val="6BB76D"/>
                </a:solidFill>
                <a:latin typeface="Calibri"/>
                <a:cs typeface="Calibri"/>
              </a:rPr>
              <a:t>efficient graph </a:t>
            </a:r>
            <a:r>
              <a:rPr dirty="0" spc="-25" b="0">
                <a:solidFill>
                  <a:srgbClr val="6BB76D"/>
                </a:solidFill>
                <a:latin typeface="Calibri"/>
                <a:cs typeface="Calibri"/>
              </a:rPr>
              <a:t>feature  </a:t>
            </a:r>
            <a:r>
              <a:rPr dirty="0" spc="-10" b="0">
                <a:solidFill>
                  <a:srgbClr val="6BB76D"/>
                </a:solidFill>
                <a:latin typeface="Calibri"/>
                <a:cs typeface="Calibri"/>
              </a:rPr>
              <a:t>descriptor</a:t>
            </a:r>
            <a:r>
              <a:rPr dirty="0" spc="5" b="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6BB76D"/>
                </a:solidFill>
                <a:latin typeface="Cambria Math"/>
                <a:cs typeface="Cambria Math"/>
              </a:rPr>
              <a:t>𝜙	𝐺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Jure Leskovec, Stanford CS224W: Machine Learning with Graphs,</a:t>
            </a:r>
            <a:r>
              <a:rPr dirty="0" spc="85"/>
              <a:t> </a:t>
            </a:r>
            <a:r>
              <a:rPr dirty="0" spc="-5">
                <a:hlinkClick r:id="rId3"/>
              </a:rPr>
              <a:t>http://cs224w.stanford.edu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06997" y="6723724"/>
            <a:ext cx="16637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52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108" y="2327148"/>
            <a:ext cx="7749540" cy="358140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143129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Idea</a:t>
            </a:r>
            <a:r>
              <a:rPr dirty="0" sz="3200" spc="-5">
                <a:solidFill>
                  <a:srgbClr val="60B5CC"/>
                </a:solidFill>
                <a:latin typeface="Calibri"/>
                <a:cs typeface="Calibri"/>
              </a:rPr>
              <a:t>: </a:t>
            </a:r>
            <a:r>
              <a:rPr dirty="0" sz="3200" spc="-5">
                <a:latin typeface="Calibri"/>
                <a:cs typeface="Calibri"/>
              </a:rPr>
              <a:t>use neighborhood </a:t>
            </a:r>
            <a:r>
              <a:rPr dirty="0" sz="3200" spc="-15">
                <a:latin typeface="Calibri"/>
                <a:cs typeface="Calibri"/>
              </a:rPr>
              <a:t>structure to  </a:t>
            </a:r>
            <a:r>
              <a:rPr dirty="0" sz="3200" spc="-20">
                <a:latin typeface="Calibri"/>
                <a:cs typeface="Calibri"/>
              </a:rPr>
              <a:t>iteratively </a:t>
            </a:r>
            <a:r>
              <a:rPr dirty="0" sz="3200" spc="-5">
                <a:latin typeface="Calibri"/>
                <a:cs typeface="Calibri"/>
              </a:rPr>
              <a:t>enrich </a:t>
            </a:r>
            <a:r>
              <a:rPr dirty="0" sz="3200">
                <a:latin typeface="Calibri"/>
                <a:cs typeface="Calibri"/>
              </a:rPr>
              <a:t>node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vocabulary.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ct val="99600"/>
              </a:lnSpc>
              <a:spcBef>
                <a:spcPts val="65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20">
                <a:latin typeface="Calibri"/>
                <a:cs typeface="Calibri"/>
              </a:rPr>
              <a:t>Generalized </a:t>
            </a:r>
            <a:r>
              <a:rPr dirty="0" sz="2800" spc="-15">
                <a:latin typeface="Calibri"/>
                <a:cs typeface="Calibri"/>
              </a:rPr>
              <a:t>version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b="1">
                <a:latin typeface="Calibri"/>
                <a:cs typeface="Calibri"/>
              </a:rPr>
              <a:t>Bag </a:t>
            </a:r>
            <a:r>
              <a:rPr dirty="0" sz="2800" spc="-5" b="1">
                <a:latin typeface="Calibri"/>
                <a:cs typeface="Calibri"/>
              </a:rPr>
              <a:t>of node </a:t>
            </a:r>
            <a:r>
              <a:rPr dirty="0" sz="2800" spc="-10" b="1">
                <a:latin typeface="Calibri"/>
                <a:cs typeface="Calibri"/>
              </a:rPr>
              <a:t>degrees </a:t>
            </a:r>
            <a:r>
              <a:rPr dirty="0" sz="2800" spc="-75">
                <a:latin typeface="Calibri"/>
                <a:cs typeface="Calibri"/>
              </a:rPr>
              <a:t>since 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0">
                <a:latin typeface="Calibri"/>
                <a:cs typeface="Calibri"/>
              </a:rPr>
              <a:t>degrees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5">
                <a:latin typeface="Calibri"/>
                <a:cs typeface="Calibri"/>
              </a:rPr>
              <a:t>one-hop neighborhood  </a:t>
            </a:r>
            <a:r>
              <a:rPr dirty="0" sz="2800" spc="-15">
                <a:latin typeface="Calibri"/>
                <a:cs typeface="Calibri"/>
              </a:rPr>
              <a:t>information.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Algorithm </a:t>
            </a:r>
            <a:r>
              <a:rPr dirty="0" sz="3200" spc="-15" b="1">
                <a:latin typeface="Calibri"/>
                <a:cs typeface="Calibri"/>
              </a:rPr>
              <a:t>to </a:t>
            </a:r>
            <a:r>
              <a:rPr dirty="0" sz="3200" spc="-10" b="1">
                <a:latin typeface="Calibri"/>
                <a:cs typeface="Calibri"/>
              </a:rPr>
              <a:t>achieve</a:t>
            </a:r>
            <a:r>
              <a:rPr dirty="0" sz="3200" spc="-20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this</a:t>
            </a:r>
            <a:r>
              <a:rPr dirty="0" sz="3200" spc="-5"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  <a:p>
            <a:pPr marL="2368550">
              <a:lnSpc>
                <a:spcPct val="100000"/>
              </a:lnSpc>
              <a:spcBef>
                <a:spcPts val="975"/>
              </a:spcBef>
            </a:pPr>
            <a:r>
              <a:rPr dirty="0" sz="4000" spc="-5" b="1">
                <a:solidFill>
                  <a:srgbClr val="60B5CC"/>
                </a:solidFill>
                <a:latin typeface="Calibri"/>
                <a:cs typeface="Calibri"/>
              </a:rPr>
              <a:t>Color</a:t>
            </a:r>
            <a:r>
              <a:rPr dirty="0" sz="4000" spc="-7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4000" spc="-15" b="1">
                <a:solidFill>
                  <a:srgbClr val="60B5CC"/>
                </a:solidFill>
                <a:latin typeface="Calibri"/>
                <a:cs typeface="Calibri"/>
              </a:rPr>
              <a:t>refinement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4294632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306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E66C7D"/>
                </a:solidFill>
              </a:rPr>
              <a:t>Given: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b="0">
                <a:solidFill>
                  <a:srgbClr val="000000"/>
                </a:solidFill>
                <a:latin typeface="Cambria Math"/>
                <a:cs typeface="Cambria Math"/>
              </a:rPr>
              <a:t>𝐺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set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nodes</a:t>
            </a:r>
            <a:r>
              <a:rPr dirty="0" spc="1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40" b="0">
                <a:solidFill>
                  <a:srgbClr val="000000"/>
                </a:solidFill>
                <a:latin typeface="Cambria Math"/>
                <a:cs typeface="Cambria Math"/>
              </a:rPr>
              <a:t>𝑉.</a:t>
            </a:r>
          </a:p>
        </p:txBody>
      </p:sp>
      <p:sp>
        <p:nvSpPr>
          <p:cNvPr id="4" name="object 4"/>
          <p:cNvSpPr/>
          <p:nvPr/>
        </p:nvSpPr>
        <p:spPr>
          <a:xfrm>
            <a:off x="4576036" y="2006138"/>
            <a:ext cx="319405" cy="235585"/>
          </a:xfrm>
          <a:custGeom>
            <a:avLst/>
            <a:gdLst/>
            <a:ahLst/>
            <a:cxnLst/>
            <a:rect l="l" t="t" r="r" b="b"/>
            <a:pathLst>
              <a:path w="319404" h="235585">
                <a:moveTo>
                  <a:pt x="244309" y="0"/>
                </a:moveTo>
                <a:lnTo>
                  <a:pt x="240960" y="9549"/>
                </a:lnTo>
                <a:lnTo>
                  <a:pt x="254579" y="15459"/>
                </a:lnTo>
                <a:lnTo>
                  <a:pt x="266292" y="23641"/>
                </a:lnTo>
                <a:lnTo>
                  <a:pt x="290074" y="61565"/>
                </a:lnTo>
                <a:lnTo>
                  <a:pt x="297887" y="116457"/>
                </a:lnTo>
                <a:lnTo>
                  <a:pt x="297015" y="137208"/>
                </a:lnTo>
                <a:lnTo>
                  <a:pt x="283935" y="188018"/>
                </a:lnTo>
                <a:lnTo>
                  <a:pt x="254739" y="219784"/>
                </a:lnTo>
                <a:lnTo>
                  <a:pt x="241333" y="225722"/>
                </a:lnTo>
                <a:lnTo>
                  <a:pt x="244309" y="235272"/>
                </a:lnTo>
                <a:lnTo>
                  <a:pt x="289259" y="208563"/>
                </a:lnTo>
                <a:lnTo>
                  <a:pt x="314506" y="159260"/>
                </a:lnTo>
                <a:lnTo>
                  <a:pt x="319344" y="117697"/>
                </a:lnTo>
                <a:lnTo>
                  <a:pt x="318130" y="96129"/>
                </a:lnTo>
                <a:lnTo>
                  <a:pt x="308425" y="57898"/>
                </a:lnTo>
                <a:lnTo>
                  <a:pt x="276322" y="15083"/>
                </a:lnTo>
                <a:lnTo>
                  <a:pt x="261366" y="6158"/>
                </a:lnTo>
                <a:lnTo>
                  <a:pt x="244309" y="0"/>
                </a:lnTo>
                <a:close/>
              </a:path>
              <a:path w="31940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56563" y="1957323"/>
            <a:ext cx="38646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Assign an </a:t>
            </a:r>
            <a:r>
              <a:rPr dirty="0" sz="2800" spc="-10">
                <a:latin typeface="Calibri"/>
                <a:cs typeface="Calibri"/>
              </a:rPr>
              <a:t>initial color </a:t>
            </a:r>
            <a:r>
              <a:rPr dirty="0" sz="2800">
                <a:latin typeface="Cambria Math"/>
                <a:cs typeface="Cambria Math"/>
              </a:rPr>
              <a:t>𝑐</a:t>
            </a:r>
            <a:r>
              <a:rPr dirty="0" sz="2800" spc="375">
                <a:latin typeface="Cambria Math"/>
                <a:cs typeface="Cambria Math"/>
              </a:rPr>
              <a:t> </a:t>
            </a:r>
            <a:r>
              <a:rPr dirty="0" baseline="27777" sz="3000" spc="300">
                <a:latin typeface="Cambria Math"/>
                <a:cs typeface="Cambria Math"/>
              </a:rPr>
              <a:t>,</a:t>
            </a:r>
            <a:endParaRPr baseline="27777" sz="3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66029" y="20603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1" y="33099"/>
                </a:lnTo>
                <a:lnTo>
                  <a:pt x="387257" y="65547"/>
                </a:lnTo>
                <a:lnTo>
                  <a:pt x="401843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2"/>
                </a:lnTo>
                <a:lnTo>
                  <a:pt x="376622" y="308307"/>
                </a:lnTo>
                <a:lnTo>
                  <a:pt x="409656" y="271823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4" y="8622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69649" y="1957323"/>
            <a:ext cx="27203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134" algn="l"/>
              </a:tabLst>
            </a:pPr>
            <a:r>
              <a:rPr dirty="0" sz="2800">
                <a:latin typeface="Cambria Math"/>
                <a:cs typeface="Cambria Math"/>
              </a:rPr>
              <a:t>𝑣	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 node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30">
                <a:latin typeface="Cambria Math"/>
                <a:cs typeface="Cambria Math"/>
              </a:rPr>
              <a:t>𝑣</a:t>
            </a:r>
            <a:r>
              <a:rPr dirty="0" sz="2800" spc="3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12212" y="3187238"/>
            <a:ext cx="673100" cy="235585"/>
          </a:xfrm>
          <a:custGeom>
            <a:avLst/>
            <a:gdLst/>
            <a:ahLst/>
            <a:cxnLst/>
            <a:rect l="l" t="t" r="r" b="b"/>
            <a:pathLst>
              <a:path w="673100" h="235585">
                <a:moveTo>
                  <a:pt x="598004" y="0"/>
                </a:moveTo>
                <a:lnTo>
                  <a:pt x="594655" y="9549"/>
                </a:lnTo>
                <a:lnTo>
                  <a:pt x="608274" y="15459"/>
                </a:lnTo>
                <a:lnTo>
                  <a:pt x="619987" y="23641"/>
                </a:lnTo>
                <a:lnTo>
                  <a:pt x="643769" y="61565"/>
                </a:lnTo>
                <a:lnTo>
                  <a:pt x="651582" y="116457"/>
                </a:lnTo>
                <a:lnTo>
                  <a:pt x="650710" y="137208"/>
                </a:lnTo>
                <a:lnTo>
                  <a:pt x="637630" y="188018"/>
                </a:lnTo>
                <a:lnTo>
                  <a:pt x="608434" y="219784"/>
                </a:lnTo>
                <a:lnTo>
                  <a:pt x="595028" y="225722"/>
                </a:lnTo>
                <a:lnTo>
                  <a:pt x="598004" y="235272"/>
                </a:lnTo>
                <a:lnTo>
                  <a:pt x="642954" y="208563"/>
                </a:lnTo>
                <a:lnTo>
                  <a:pt x="668201" y="159260"/>
                </a:lnTo>
                <a:lnTo>
                  <a:pt x="673039" y="117697"/>
                </a:lnTo>
                <a:lnTo>
                  <a:pt x="671825" y="96129"/>
                </a:lnTo>
                <a:lnTo>
                  <a:pt x="662120" y="57898"/>
                </a:lnTo>
                <a:lnTo>
                  <a:pt x="630018" y="15083"/>
                </a:lnTo>
                <a:lnTo>
                  <a:pt x="615061" y="6158"/>
                </a:lnTo>
                <a:lnTo>
                  <a:pt x="598004" y="0"/>
                </a:lnTo>
                <a:close/>
              </a:path>
              <a:path w="673100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3" y="220218"/>
                </a:lnTo>
                <a:lnTo>
                  <a:pt x="75034" y="235272"/>
                </a:lnTo>
                <a:lnTo>
                  <a:pt x="78011" y="225722"/>
                </a:lnTo>
                <a:lnTo>
                  <a:pt x="64604" y="219784"/>
                </a:lnTo>
                <a:lnTo>
                  <a:pt x="53035" y="211521"/>
                </a:lnTo>
                <a:lnTo>
                  <a:pt x="29304" y="172988"/>
                </a:lnTo>
                <a:lnTo>
                  <a:pt x="21456" y="116457"/>
                </a:lnTo>
                <a:lnTo>
                  <a:pt x="22328" y="96385"/>
                </a:lnTo>
                <a:lnTo>
                  <a:pt x="35408" y="46818"/>
                </a:lnTo>
                <a:lnTo>
                  <a:pt x="64813" y="15459"/>
                </a:lnTo>
                <a:lnTo>
                  <a:pt x="78383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55899" y="32414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80" h="329564">
                <a:moveTo>
                  <a:pt x="331696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2" y="33099"/>
                </a:lnTo>
                <a:lnTo>
                  <a:pt x="387258" y="65547"/>
                </a:lnTo>
                <a:lnTo>
                  <a:pt x="401843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6" y="329382"/>
                </a:lnTo>
                <a:lnTo>
                  <a:pt x="376623" y="308307"/>
                </a:lnTo>
                <a:lnTo>
                  <a:pt x="409656" y="271821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5" y="8622"/>
                </a:lnTo>
                <a:lnTo>
                  <a:pt x="331696" y="0"/>
                </a:lnTo>
                <a:close/>
              </a:path>
              <a:path w="436880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3" y="195038"/>
                </a:lnTo>
                <a:lnTo>
                  <a:pt x="15236" y="248560"/>
                </a:lnTo>
                <a:lnTo>
                  <a:pt x="42116" y="291990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59" y="134940"/>
                </a:lnTo>
                <a:lnTo>
                  <a:pt x="41026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6BB76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57474" y="3112915"/>
            <a:ext cx="4077069" cy="60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906894" y="3409188"/>
            <a:ext cx="814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55">
                <a:solidFill>
                  <a:srgbClr val="6BB76D"/>
                </a:solidFill>
                <a:latin typeface="Cambria Math"/>
                <a:cs typeface="Cambria Math"/>
              </a:rPr>
              <a:t>"∈$</a:t>
            </a:r>
            <a:r>
              <a:rPr dirty="0" sz="2000" spc="405">
                <a:solidFill>
                  <a:srgbClr val="6BB76D"/>
                </a:solidFill>
                <a:latin typeface="Cambria Math"/>
                <a:cs typeface="Cambria Math"/>
              </a:rPr>
              <a:t> </a:t>
            </a:r>
            <a:r>
              <a:rPr dirty="0" sz="2000" spc="550">
                <a:solidFill>
                  <a:srgbClr val="6BB76D"/>
                </a:solidFill>
                <a:latin typeface="Cambria Math"/>
                <a:cs typeface="Cambria Math"/>
              </a:rPr>
              <a:t>!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6563" y="2219451"/>
            <a:ext cx="7353934" cy="1372870"/>
          </a:xfrm>
          <a:prstGeom prst="rect">
            <a:avLst/>
          </a:prstGeom>
        </p:spPr>
        <p:txBody>
          <a:bodyPr wrap="square" lIns="0" tIns="259715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204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Iteratively </a:t>
            </a:r>
            <a:r>
              <a:rPr dirty="0" sz="2800" spc="-15">
                <a:latin typeface="Calibri"/>
                <a:cs typeface="Calibri"/>
              </a:rPr>
              <a:t>refine </a:t>
            </a: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spc="-15">
                <a:latin typeface="Calibri"/>
                <a:cs typeface="Calibri"/>
              </a:rPr>
              <a:t>colors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by</a:t>
            </a:r>
            <a:endParaRPr sz="2800">
              <a:latin typeface="Calibri"/>
              <a:cs typeface="Calibri"/>
            </a:endParaRPr>
          </a:p>
          <a:p>
            <a:pPr marL="252095">
              <a:lnSpc>
                <a:spcPct val="100000"/>
              </a:lnSpc>
              <a:spcBef>
                <a:spcPts val="1945"/>
              </a:spcBef>
              <a:tabLst>
                <a:tab pos="1315085" algn="l"/>
                <a:tab pos="1765935" algn="l"/>
                <a:tab pos="3394710" algn="l"/>
                <a:tab pos="4118610" algn="l"/>
                <a:tab pos="4470400" algn="l"/>
                <a:tab pos="4740275" algn="l"/>
                <a:tab pos="5463540" algn="l"/>
                <a:tab pos="7267575" algn="l"/>
              </a:tabLst>
            </a:pPr>
            <a:r>
              <a:rPr dirty="0" sz="2800">
                <a:solidFill>
                  <a:srgbClr val="6BB76D"/>
                </a:solidFill>
                <a:latin typeface="Cambria Math"/>
                <a:cs typeface="Cambria Math"/>
              </a:rPr>
              <a:t>𝑐 </a:t>
            </a:r>
            <a:r>
              <a:rPr dirty="0" sz="2800" spc="-250">
                <a:solidFill>
                  <a:srgbClr val="6BB76D"/>
                </a:solidFill>
                <a:latin typeface="Cambria Math"/>
                <a:cs typeface="Cambria Math"/>
              </a:rPr>
              <a:t> </a:t>
            </a:r>
            <a:r>
              <a:rPr dirty="0" baseline="29166" sz="3000" spc="225">
                <a:solidFill>
                  <a:srgbClr val="6BB76D"/>
                </a:solidFill>
                <a:latin typeface="Cambria Math"/>
                <a:cs typeface="Cambria Math"/>
              </a:rPr>
              <a:t>P</a:t>
            </a:r>
            <a:r>
              <a:rPr dirty="0" baseline="29166" sz="3000" spc="254">
                <a:solidFill>
                  <a:srgbClr val="6BB76D"/>
                </a:solidFill>
                <a:latin typeface="Cambria Math"/>
                <a:cs typeface="Cambria Math"/>
              </a:rPr>
              <a:t>Q</a:t>
            </a:r>
            <a:r>
              <a:rPr dirty="0" baseline="29166" sz="3000" spc="1110">
                <a:solidFill>
                  <a:srgbClr val="6BB76D"/>
                </a:solidFill>
                <a:latin typeface="Cambria Math"/>
                <a:cs typeface="Cambria Math"/>
              </a:rPr>
              <a:t>.</a:t>
            </a:r>
            <a:r>
              <a:rPr dirty="0" baseline="29166" sz="3000">
                <a:solidFill>
                  <a:srgbClr val="6BB76D"/>
                </a:solidFill>
                <a:latin typeface="Cambria Math"/>
                <a:cs typeface="Cambria Math"/>
              </a:rPr>
              <a:t>	</a:t>
            </a:r>
            <a:r>
              <a:rPr dirty="0" sz="2800">
                <a:solidFill>
                  <a:srgbClr val="6BB76D"/>
                </a:solidFill>
                <a:latin typeface="Cambria Math"/>
                <a:cs typeface="Cambria Math"/>
              </a:rPr>
              <a:t>𝑣	=</a:t>
            </a:r>
            <a:r>
              <a:rPr dirty="0" sz="2800" spc="150">
                <a:solidFill>
                  <a:srgbClr val="6BB76D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E66C7D"/>
                </a:solidFill>
                <a:latin typeface="Cambria Math"/>
                <a:cs typeface="Cambria Math"/>
              </a:rPr>
              <a:t>H</a:t>
            </a:r>
            <a:r>
              <a:rPr dirty="0" sz="2800" spc="-45">
                <a:solidFill>
                  <a:srgbClr val="E66C7D"/>
                </a:solidFill>
                <a:latin typeface="Cambria Math"/>
                <a:cs typeface="Cambria Math"/>
              </a:rPr>
              <a:t>A</a:t>
            </a:r>
            <a:r>
              <a:rPr dirty="0" sz="2800" spc="-5">
                <a:solidFill>
                  <a:srgbClr val="E66C7D"/>
                </a:solidFill>
                <a:latin typeface="Cambria Math"/>
                <a:cs typeface="Cambria Math"/>
              </a:rPr>
              <a:t>S</a:t>
            </a:r>
            <a:r>
              <a:rPr dirty="0" sz="2800">
                <a:solidFill>
                  <a:srgbClr val="E66C7D"/>
                </a:solidFill>
                <a:latin typeface="Cambria Math"/>
                <a:cs typeface="Cambria Math"/>
              </a:rPr>
              <a:t>H	</a:t>
            </a:r>
            <a:r>
              <a:rPr dirty="0" sz="2800">
                <a:solidFill>
                  <a:srgbClr val="6BB76D"/>
                </a:solidFill>
                <a:latin typeface="Cambria Math"/>
                <a:cs typeface="Cambria Math"/>
              </a:rPr>
              <a:t>𝑐 </a:t>
            </a:r>
            <a:r>
              <a:rPr dirty="0" sz="2800" spc="-250">
                <a:solidFill>
                  <a:srgbClr val="6BB76D"/>
                </a:solidFill>
                <a:latin typeface="Cambria Math"/>
                <a:cs typeface="Cambria Math"/>
              </a:rPr>
              <a:t> </a:t>
            </a:r>
            <a:r>
              <a:rPr dirty="0" baseline="29166" sz="3000" spc="97">
                <a:solidFill>
                  <a:srgbClr val="6BB76D"/>
                </a:solidFill>
                <a:latin typeface="Cambria Math"/>
                <a:cs typeface="Cambria Math"/>
              </a:rPr>
              <a:t>P</a:t>
            </a:r>
            <a:r>
              <a:rPr dirty="0" baseline="29166" sz="3000">
                <a:solidFill>
                  <a:srgbClr val="6BB76D"/>
                </a:solidFill>
                <a:latin typeface="Cambria Math"/>
                <a:cs typeface="Cambria Math"/>
              </a:rPr>
              <a:t>	</a:t>
            </a:r>
            <a:r>
              <a:rPr dirty="0" sz="2800">
                <a:solidFill>
                  <a:srgbClr val="6BB76D"/>
                </a:solidFill>
                <a:latin typeface="Cambria Math"/>
                <a:cs typeface="Cambria Math"/>
              </a:rPr>
              <a:t>𝑣	,	𝑐 </a:t>
            </a:r>
            <a:r>
              <a:rPr dirty="0" sz="2800" spc="-250">
                <a:solidFill>
                  <a:srgbClr val="6BB76D"/>
                </a:solidFill>
                <a:latin typeface="Cambria Math"/>
                <a:cs typeface="Cambria Math"/>
              </a:rPr>
              <a:t> </a:t>
            </a:r>
            <a:r>
              <a:rPr dirty="0" baseline="29166" sz="3000" spc="97">
                <a:solidFill>
                  <a:srgbClr val="6BB76D"/>
                </a:solidFill>
                <a:latin typeface="Cambria Math"/>
                <a:cs typeface="Cambria Math"/>
              </a:rPr>
              <a:t>P</a:t>
            </a:r>
            <a:r>
              <a:rPr dirty="0" baseline="29166" sz="3000">
                <a:solidFill>
                  <a:srgbClr val="6BB76D"/>
                </a:solidFill>
                <a:latin typeface="Cambria Math"/>
                <a:cs typeface="Cambria Math"/>
              </a:rPr>
              <a:t>	</a:t>
            </a:r>
            <a:r>
              <a:rPr dirty="0" sz="2800">
                <a:solidFill>
                  <a:srgbClr val="6BB76D"/>
                </a:solidFill>
                <a:latin typeface="Cambria Math"/>
                <a:cs typeface="Cambria Math"/>
              </a:rPr>
              <a:t>𝑢	,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92771" y="4368339"/>
            <a:ext cx="363855" cy="235585"/>
          </a:xfrm>
          <a:custGeom>
            <a:avLst/>
            <a:gdLst/>
            <a:ahLst/>
            <a:cxnLst/>
            <a:rect l="l" t="t" r="r" b="b"/>
            <a:pathLst>
              <a:path w="363854" h="235585">
                <a:moveTo>
                  <a:pt x="288695" y="0"/>
                </a:moveTo>
                <a:lnTo>
                  <a:pt x="285347" y="9549"/>
                </a:lnTo>
                <a:lnTo>
                  <a:pt x="298966" y="15459"/>
                </a:lnTo>
                <a:lnTo>
                  <a:pt x="310678" y="23641"/>
                </a:lnTo>
                <a:lnTo>
                  <a:pt x="334460" y="61565"/>
                </a:lnTo>
                <a:lnTo>
                  <a:pt x="342273" y="116457"/>
                </a:lnTo>
                <a:lnTo>
                  <a:pt x="341401" y="137208"/>
                </a:lnTo>
                <a:lnTo>
                  <a:pt x="328320" y="188019"/>
                </a:lnTo>
                <a:lnTo>
                  <a:pt x="299124" y="219784"/>
                </a:lnTo>
                <a:lnTo>
                  <a:pt x="285718" y="225722"/>
                </a:lnTo>
                <a:lnTo>
                  <a:pt x="288695" y="235272"/>
                </a:lnTo>
                <a:lnTo>
                  <a:pt x="333646" y="208563"/>
                </a:lnTo>
                <a:lnTo>
                  <a:pt x="358892" y="159260"/>
                </a:lnTo>
                <a:lnTo>
                  <a:pt x="363729" y="117697"/>
                </a:lnTo>
                <a:lnTo>
                  <a:pt x="362516" y="96129"/>
                </a:lnTo>
                <a:lnTo>
                  <a:pt x="352811" y="57898"/>
                </a:lnTo>
                <a:lnTo>
                  <a:pt x="320708" y="15083"/>
                </a:lnTo>
                <a:lnTo>
                  <a:pt x="305752" y="6158"/>
                </a:lnTo>
                <a:lnTo>
                  <a:pt x="288695" y="0"/>
                </a:lnTo>
                <a:close/>
              </a:path>
              <a:path w="363854" h="235585">
                <a:moveTo>
                  <a:pt x="75034" y="0"/>
                </a:moveTo>
                <a:lnTo>
                  <a:pt x="30164" y="26776"/>
                </a:lnTo>
                <a:lnTo>
                  <a:pt x="4852" y="76196"/>
                </a:lnTo>
                <a:lnTo>
                  <a:pt x="0" y="117697"/>
                </a:lnTo>
                <a:lnTo>
                  <a:pt x="1209" y="139312"/>
                </a:lnTo>
                <a:lnTo>
                  <a:pt x="10882" y="177542"/>
                </a:lnTo>
                <a:lnTo>
                  <a:pt x="42942" y="220218"/>
                </a:lnTo>
                <a:lnTo>
                  <a:pt x="75034" y="235272"/>
                </a:lnTo>
                <a:lnTo>
                  <a:pt x="78009" y="225722"/>
                </a:lnTo>
                <a:lnTo>
                  <a:pt x="64603" y="219784"/>
                </a:lnTo>
                <a:lnTo>
                  <a:pt x="53034" y="211521"/>
                </a:lnTo>
                <a:lnTo>
                  <a:pt x="29303" y="172989"/>
                </a:lnTo>
                <a:lnTo>
                  <a:pt x="21455" y="116457"/>
                </a:lnTo>
                <a:lnTo>
                  <a:pt x="22327" y="96385"/>
                </a:lnTo>
                <a:lnTo>
                  <a:pt x="35407" y="46818"/>
                </a:lnTo>
                <a:lnTo>
                  <a:pt x="64813" y="15459"/>
                </a:lnTo>
                <a:lnTo>
                  <a:pt x="78381" y="9549"/>
                </a:lnTo>
                <a:lnTo>
                  <a:pt x="7503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827150" y="4422573"/>
            <a:ext cx="436880" cy="329565"/>
          </a:xfrm>
          <a:custGeom>
            <a:avLst/>
            <a:gdLst/>
            <a:ahLst/>
            <a:cxnLst/>
            <a:rect l="l" t="t" r="r" b="b"/>
            <a:pathLst>
              <a:path w="436879" h="329564">
                <a:moveTo>
                  <a:pt x="331694" y="0"/>
                </a:moveTo>
                <a:lnTo>
                  <a:pt x="327007" y="13370"/>
                </a:lnTo>
                <a:lnTo>
                  <a:pt x="346074" y="21645"/>
                </a:lnTo>
                <a:lnTo>
                  <a:pt x="362471" y="33099"/>
                </a:lnTo>
                <a:lnTo>
                  <a:pt x="387257" y="65547"/>
                </a:lnTo>
                <a:lnTo>
                  <a:pt x="401842" y="109324"/>
                </a:lnTo>
                <a:lnTo>
                  <a:pt x="406704" y="163041"/>
                </a:lnTo>
                <a:lnTo>
                  <a:pt x="405483" y="192092"/>
                </a:lnTo>
                <a:lnTo>
                  <a:pt x="395716" y="242185"/>
                </a:lnTo>
                <a:lnTo>
                  <a:pt x="376118" y="281307"/>
                </a:lnTo>
                <a:lnTo>
                  <a:pt x="346296" y="307699"/>
                </a:lnTo>
                <a:lnTo>
                  <a:pt x="327527" y="316011"/>
                </a:lnTo>
                <a:lnTo>
                  <a:pt x="331694" y="329382"/>
                </a:lnTo>
                <a:lnTo>
                  <a:pt x="376622" y="308307"/>
                </a:lnTo>
                <a:lnTo>
                  <a:pt x="409656" y="271823"/>
                </a:lnTo>
                <a:lnTo>
                  <a:pt x="429971" y="222966"/>
                </a:lnTo>
                <a:lnTo>
                  <a:pt x="436742" y="164777"/>
                </a:lnTo>
                <a:lnTo>
                  <a:pt x="435044" y="134581"/>
                </a:lnTo>
                <a:lnTo>
                  <a:pt x="421458" y="81059"/>
                </a:lnTo>
                <a:lnTo>
                  <a:pt x="394512" y="37488"/>
                </a:lnTo>
                <a:lnTo>
                  <a:pt x="355574" y="8622"/>
                </a:lnTo>
                <a:lnTo>
                  <a:pt x="331694" y="0"/>
                </a:lnTo>
                <a:close/>
              </a:path>
              <a:path w="436879" h="329564">
                <a:moveTo>
                  <a:pt x="105048" y="0"/>
                </a:moveTo>
                <a:lnTo>
                  <a:pt x="60228" y="21118"/>
                </a:lnTo>
                <a:lnTo>
                  <a:pt x="27172" y="57732"/>
                </a:lnTo>
                <a:lnTo>
                  <a:pt x="6793" y="106676"/>
                </a:lnTo>
                <a:lnTo>
                  <a:pt x="0" y="164777"/>
                </a:lnTo>
                <a:lnTo>
                  <a:pt x="1692" y="195038"/>
                </a:lnTo>
                <a:lnTo>
                  <a:pt x="15236" y="248561"/>
                </a:lnTo>
                <a:lnTo>
                  <a:pt x="42116" y="291991"/>
                </a:lnTo>
                <a:lnTo>
                  <a:pt x="81097" y="320771"/>
                </a:lnTo>
                <a:lnTo>
                  <a:pt x="105048" y="329382"/>
                </a:lnTo>
                <a:lnTo>
                  <a:pt x="109214" y="316011"/>
                </a:lnTo>
                <a:lnTo>
                  <a:pt x="90446" y="307699"/>
                </a:lnTo>
                <a:lnTo>
                  <a:pt x="74249" y="296130"/>
                </a:lnTo>
                <a:lnTo>
                  <a:pt x="49571" y="263227"/>
                </a:lnTo>
                <a:lnTo>
                  <a:pt x="34921" y="218473"/>
                </a:lnTo>
                <a:lnTo>
                  <a:pt x="30038" y="163041"/>
                </a:lnTo>
                <a:lnTo>
                  <a:pt x="31258" y="134940"/>
                </a:lnTo>
                <a:lnTo>
                  <a:pt x="41025" y="86193"/>
                </a:lnTo>
                <a:lnTo>
                  <a:pt x="60657" y="47733"/>
                </a:lnTo>
                <a:lnTo>
                  <a:pt x="90739" y="21645"/>
                </a:lnTo>
                <a:lnTo>
                  <a:pt x="109735" y="13370"/>
                </a:lnTo>
                <a:lnTo>
                  <a:pt x="10504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56563" y="3684234"/>
            <a:ext cx="7494270" cy="152082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005"/>
              </a:spcBef>
            </a:pPr>
            <a:r>
              <a:rPr dirty="0" sz="2600" spc="-10">
                <a:latin typeface="Calibri"/>
                <a:cs typeface="Calibri"/>
              </a:rPr>
              <a:t>where </a:t>
            </a:r>
            <a:r>
              <a:rPr dirty="0" sz="2600" spc="-5">
                <a:solidFill>
                  <a:srgbClr val="E66C7D"/>
                </a:solidFill>
                <a:latin typeface="Calibri"/>
                <a:cs typeface="Calibri"/>
              </a:rPr>
              <a:t>HASH </a:t>
            </a:r>
            <a:r>
              <a:rPr dirty="0" sz="2600" spc="-10">
                <a:latin typeface="Calibri"/>
                <a:cs typeface="Calibri"/>
              </a:rPr>
              <a:t>maps </a:t>
            </a:r>
            <a:r>
              <a:rPr dirty="0" sz="2600" spc="-25">
                <a:latin typeface="Calibri"/>
                <a:cs typeface="Calibri"/>
              </a:rPr>
              <a:t>different </a:t>
            </a:r>
            <a:r>
              <a:rPr dirty="0" sz="2600" spc="-5">
                <a:latin typeface="Calibri"/>
                <a:cs typeface="Calibri"/>
              </a:rPr>
              <a:t>inputs </a:t>
            </a:r>
            <a:r>
              <a:rPr dirty="0" sz="2600" spc="-15">
                <a:latin typeface="Calibri"/>
                <a:cs typeface="Calibri"/>
              </a:rPr>
              <a:t>to </a:t>
            </a:r>
            <a:r>
              <a:rPr dirty="0" sz="2600" spc="-25">
                <a:latin typeface="Calibri"/>
                <a:cs typeface="Calibri"/>
              </a:rPr>
              <a:t>different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colors.</a:t>
            </a:r>
            <a:endParaRPr sz="26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975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  <a:tab pos="5986780" algn="l"/>
              </a:tabLst>
            </a:pPr>
            <a:r>
              <a:rPr dirty="0" sz="2800" spc="-10">
                <a:latin typeface="Calibri"/>
                <a:cs typeface="Calibri"/>
              </a:rPr>
              <a:t>After </a:t>
            </a:r>
            <a:r>
              <a:rPr dirty="0" sz="2800">
                <a:latin typeface="Cambria Math"/>
                <a:cs typeface="Cambria Math"/>
              </a:rPr>
              <a:t>𝐾 </a:t>
            </a:r>
            <a:r>
              <a:rPr dirty="0" sz="2800" spc="-20">
                <a:latin typeface="Calibri"/>
                <a:cs typeface="Calibri"/>
              </a:rPr>
              <a:t>steps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0">
                <a:latin typeface="Calibri"/>
                <a:cs typeface="Calibri"/>
              </a:rPr>
              <a:t>color </a:t>
            </a:r>
            <a:r>
              <a:rPr dirty="0" sz="2800" spc="-15">
                <a:latin typeface="Calibri"/>
                <a:cs typeface="Calibri"/>
              </a:rPr>
              <a:t>refinement,</a:t>
            </a:r>
            <a:r>
              <a:rPr dirty="0" sz="2800" spc="185"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𝑐</a:t>
            </a:r>
            <a:r>
              <a:rPr dirty="0" sz="2800" spc="37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3000" spc="284">
                <a:solidFill>
                  <a:srgbClr val="C00000"/>
                </a:solidFill>
                <a:latin typeface="Cambria Math"/>
                <a:cs typeface="Cambria Math"/>
              </a:rPr>
              <a:t>R	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𝑣</a:t>
            </a:r>
            <a:endParaRPr sz="2800">
              <a:latin typeface="Cambria Math"/>
              <a:cs typeface="Cambria Math"/>
            </a:endParaRPr>
          </a:p>
          <a:p>
            <a:pPr marL="287020">
              <a:lnSpc>
                <a:spcPct val="100000"/>
              </a:lnSpc>
              <a:spcBef>
                <a:spcPts val="45"/>
              </a:spcBef>
            </a:pP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summarizes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the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structure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of </a:t>
            </a:r>
            <a:r>
              <a:rPr dirty="0" sz="2800" spc="5">
                <a:solidFill>
                  <a:srgbClr val="C00000"/>
                </a:solidFill>
                <a:latin typeface="Cambria Math"/>
                <a:cs typeface="Cambria Math"/>
              </a:rPr>
              <a:t>𝐾</a:t>
            </a:r>
            <a:r>
              <a:rPr dirty="0" sz="2800" spc="5">
                <a:solidFill>
                  <a:srgbClr val="C00000"/>
                </a:solidFill>
                <a:latin typeface="Calibri"/>
                <a:cs typeface="Calibri"/>
              </a:rPr>
              <a:t>-hop</a:t>
            </a:r>
            <a:r>
              <a:rPr dirty="0" sz="280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neighborhood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4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266444"/>
            <a:ext cx="777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E66C7D"/>
                </a:solidFill>
              </a:rPr>
              <a:t>Example </a:t>
            </a:r>
            <a:r>
              <a:rPr dirty="0">
                <a:solidFill>
                  <a:srgbClr val="E66C7D"/>
                </a:solidFill>
              </a:rPr>
              <a:t>of </a:t>
            </a:r>
            <a:r>
              <a:rPr dirty="0" spc="-5">
                <a:solidFill>
                  <a:srgbClr val="E66C7D"/>
                </a:solidFill>
              </a:rPr>
              <a:t>color </a:t>
            </a:r>
            <a:r>
              <a:rPr dirty="0" spc="-15">
                <a:solidFill>
                  <a:srgbClr val="E66C7D"/>
                </a:solidFill>
              </a:rPr>
              <a:t>refinement </a:t>
            </a:r>
            <a:r>
              <a:rPr dirty="0" spc="-10">
                <a:solidFill>
                  <a:srgbClr val="E66C7D"/>
                </a:solidFill>
              </a:rPr>
              <a:t>given two</a:t>
            </a:r>
            <a:r>
              <a:rPr dirty="0" spc="25">
                <a:solidFill>
                  <a:srgbClr val="E66C7D"/>
                </a:solidFill>
              </a:rPr>
              <a:t> </a:t>
            </a:r>
            <a:r>
              <a:rPr dirty="0" spc="-20">
                <a:solidFill>
                  <a:srgbClr val="E66C7D"/>
                </a:solidFill>
              </a:rPr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563" y="1838451"/>
            <a:ext cx="304165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Assign </a:t>
            </a:r>
            <a:r>
              <a:rPr dirty="0" sz="2800" spc="-10">
                <a:latin typeface="Calibri"/>
                <a:cs typeface="Calibri"/>
              </a:rPr>
              <a:t>initial</a:t>
            </a:r>
            <a:r>
              <a:rPr dirty="0" sz="2800" spc="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976" y="341375"/>
            <a:ext cx="5032248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22390" y="239930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22390" y="239930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97341" y="241147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39243" y="2384530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2"/>
                </a:lnTo>
                <a:lnTo>
                  <a:pt x="0" y="145942"/>
                </a:lnTo>
                <a:lnTo>
                  <a:pt x="7341" y="192071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1"/>
                </a:lnTo>
                <a:lnTo>
                  <a:pt x="288016" y="145942"/>
                </a:lnTo>
                <a:lnTo>
                  <a:pt x="280675" y="99812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39243" y="2384530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90365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90365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465317" y="29936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22390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22390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64545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64545" y="359308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56563" y="3575376"/>
            <a:ext cx="4508500" cy="77279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320"/>
              </a:spcBef>
              <a:tabLst>
                <a:tab pos="1695450" algn="l"/>
              </a:tabLst>
            </a:pPr>
            <a:r>
              <a:rPr dirty="0" sz="1600">
                <a:latin typeface="Arial"/>
                <a:cs typeface="Arial"/>
              </a:rPr>
              <a:t>1	1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384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Aggregate </a:t>
            </a:r>
            <a:r>
              <a:rPr dirty="0" sz="2800" spc="-5">
                <a:latin typeface="Calibri"/>
                <a:cs typeface="Calibri"/>
              </a:rPr>
              <a:t>neighboring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10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60861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9" y="263727"/>
                </a:lnTo>
                <a:lnTo>
                  <a:pt x="98491" y="284445"/>
                </a:lnTo>
                <a:lnTo>
                  <a:pt x="144009" y="291885"/>
                </a:lnTo>
                <a:lnTo>
                  <a:pt x="189526" y="284445"/>
                </a:lnTo>
                <a:lnTo>
                  <a:pt x="229058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60861" y="298308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35814" y="29936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36203" y="2648450"/>
            <a:ext cx="228600" cy="377825"/>
          </a:xfrm>
          <a:custGeom>
            <a:avLst/>
            <a:gdLst/>
            <a:ahLst/>
            <a:cxnLst/>
            <a:rect l="l" t="t" r="r" b="b"/>
            <a:pathLst>
              <a:path w="228600" h="377825">
                <a:moveTo>
                  <a:pt x="228366" y="0"/>
                </a:moveTo>
                <a:lnTo>
                  <a:pt x="0" y="3773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36203" y="3232224"/>
            <a:ext cx="228600" cy="403860"/>
          </a:xfrm>
          <a:custGeom>
            <a:avLst/>
            <a:gdLst/>
            <a:ahLst/>
            <a:cxnLst/>
            <a:rect l="l" t="t" r="r" b="b"/>
            <a:pathLst>
              <a:path w="228600" h="403860">
                <a:moveTo>
                  <a:pt x="0" y="0"/>
                </a:moveTo>
                <a:lnTo>
                  <a:pt x="228366" y="4036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18016" y="2530472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785081" y="2633670"/>
            <a:ext cx="308610" cy="401320"/>
          </a:xfrm>
          <a:custGeom>
            <a:avLst/>
            <a:gdLst/>
            <a:ahLst/>
            <a:cxnLst/>
            <a:rect l="l" t="t" r="r" b="b"/>
            <a:pathLst>
              <a:path w="308610" h="401319">
                <a:moveTo>
                  <a:pt x="308443" y="4009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68227" y="2648450"/>
            <a:ext cx="993140" cy="480695"/>
          </a:xfrm>
          <a:custGeom>
            <a:avLst/>
            <a:gdLst/>
            <a:ahLst/>
            <a:cxnLst/>
            <a:rect l="l" t="t" r="r" b="b"/>
            <a:pathLst>
              <a:path w="993139" h="480694">
                <a:moveTo>
                  <a:pt x="992634" y="48057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678381" y="3129027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0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78382" y="3129026"/>
            <a:ext cx="928369" cy="507365"/>
          </a:xfrm>
          <a:custGeom>
            <a:avLst/>
            <a:gdLst/>
            <a:ahLst/>
            <a:cxnLst/>
            <a:rect l="l" t="t" r="r" b="b"/>
            <a:pathLst>
              <a:path w="928369" h="507364">
                <a:moveTo>
                  <a:pt x="928342" y="50680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10280" y="237070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10280" y="237070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614194" y="2396235"/>
            <a:ext cx="341884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2475" algn="l"/>
              </a:tabLst>
            </a:pPr>
            <a:r>
              <a:rPr dirty="0" sz="1600">
                <a:latin typeface="Arial"/>
                <a:cs typeface="Arial"/>
              </a:rPr>
              <a:t>1	</a:t>
            </a:r>
            <a:r>
              <a:rPr dirty="0" baseline="3472" sz="2400">
                <a:latin typeface="Arial"/>
                <a:cs typeface="Arial"/>
              </a:rPr>
              <a:t>1</a:t>
            </a:r>
            <a:endParaRPr baseline="3472"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572581" y="2355650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6"/>
                </a:lnTo>
                <a:lnTo>
                  <a:pt x="29546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72581" y="2355650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656664" y="23688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50864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350864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434947" y="29784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810280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810280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894363" y="36001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599488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99488" y="3586891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683570" y="3600196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127272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127272" y="29654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7211354" y="297840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12289" y="2624523"/>
            <a:ext cx="243204" cy="384810"/>
          </a:xfrm>
          <a:custGeom>
            <a:avLst/>
            <a:gdLst/>
            <a:ahLst/>
            <a:cxnLst/>
            <a:rect l="l" t="t" r="r" b="b"/>
            <a:pathLst>
              <a:path w="243204" h="384810">
                <a:moveTo>
                  <a:pt x="242845" y="0"/>
                </a:moveTo>
                <a:lnTo>
                  <a:pt x="0" y="3844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12288" y="3219254"/>
            <a:ext cx="243204" cy="411480"/>
          </a:xfrm>
          <a:custGeom>
            <a:avLst/>
            <a:gdLst/>
            <a:ahLst/>
            <a:cxnLst/>
            <a:rect l="l" t="t" r="r" b="b"/>
            <a:pathLst>
              <a:path w="243204" h="411479">
                <a:moveTo>
                  <a:pt x="0" y="0"/>
                </a:moveTo>
                <a:lnTo>
                  <a:pt x="242845" y="411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124648" y="2504332"/>
            <a:ext cx="448309" cy="0"/>
          </a:xfrm>
          <a:custGeom>
            <a:avLst/>
            <a:gdLst/>
            <a:ahLst/>
            <a:cxnLst/>
            <a:rect l="l" t="t" r="r" b="b"/>
            <a:pathLst>
              <a:path w="448309" h="0">
                <a:moveTo>
                  <a:pt x="447933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834005" y="2609466"/>
            <a:ext cx="328295" cy="408940"/>
          </a:xfrm>
          <a:custGeom>
            <a:avLst/>
            <a:gdLst/>
            <a:ahLst/>
            <a:cxnLst/>
            <a:rect l="l" t="t" r="r" b="b"/>
            <a:pathLst>
              <a:path w="328295" h="408939">
                <a:moveTo>
                  <a:pt x="327998" y="4084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657142" y="2609466"/>
            <a:ext cx="960755" cy="504825"/>
          </a:xfrm>
          <a:custGeom>
            <a:avLst/>
            <a:gdLst/>
            <a:ahLst/>
            <a:cxnLst/>
            <a:rect l="l" t="t" r="r" b="b"/>
            <a:pathLst>
              <a:path w="960754" h="504825">
                <a:moveTo>
                  <a:pt x="960292" y="0"/>
                </a:moveTo>
                <a:lnTo>
                  <a:pt x="0" y="5046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657141" y="3114121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59" h="0">
                <a:moveTo>
                  <a:pt x="147013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860913" y="3219254"/>
            <a:ext cx="311785" cy="411480"/>
          </a:xfrm>
          <a:custGeom>
            <a:avLst/>
            <a:gdLst/>
            <a:ahLst/>
            <a:cxnLst/>
            <a:rect l="l" t="t" r="r" b="b"/>
            <a:pathLst>
              <a:path w="311784" h="411479">
                <a:moveTo>
                  <a:pt x="0" y="411185"/>
                </a:moveTo>
                <a:lnTo>
                  <a:pt x="3112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1738459" y="4786067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5">
                <a:moveTo>
                  <a:pt x="451194" y="0"/>
                </a:moveTo>
                <a:lnTo>
                  <a:pt x="378008" y="1687"/>
                </a:lnTo>
                <a:lnTo>
                  <a:pt x="308581" y="6574"/>
                </a:lnTo>
                <a:lnTo>
                  <a:pt x="243844" y="14393"/>
                </a:lnTo>
                <a:lnTo>
                  <a:pt x="184724" y="24880"/>
                </a:lnTo>
                <a:lnTo>
                  <a:pt x="132151" y="37769"/>
                </a:lnTo>
                <a:lnTo>
                  <a:pt x="87054" y="52795"/>
                </a:lnTo>
                <a:lnTo>
                  <a:pt x="50361" y="69691"/>
                </a:lnTo>
                <a:lnTo>
                  <a:pt x="5905" y="108036"/>
                </a:lnTo>
                <a:lnTo>
                  <a:pt x="0" y="128953"/>
                </a:lnTo>
                <a:lnTo>
                  <a:pt x="5905" y="149870"/>
                </a:lnTo>
                <a:lnTo>
                  <a:pt x="50361" y="188215"/>
                </a:lnTo>
                <a:lnTo>
                  <a:pt x="87054" y="205111"/>
                </a:lnTo>
                <a:lnTo>
                  <a:pt x="132151" y="220137"/>
                </a:lnTo>
                <a:lnTo>
                  <a:pt x="184724" y="233026"/>
                </a:lnTo>
                <a:lnTo>
                  <a:pt x="243844" y="243514"/>
                </a:lnTo>
                <a:lnTo>
                  <a:pt x="308581" y="251333"/>
                </a:lnTo>
                <a:lnTo>
                  <a:pt x="378008" y="256219"/>
                </a:lnTo>
                <a:lnTo>
                  <a:pt x="451194" y="257907"/>
                </a:lnTo>
                <a:lnTo>
                  <a:pt x="524380" y="256219"/>
                </a:lnTo>
                <a:lnTo>
                  <a:pt x="593806" y="251333"/>
                </a:lnTo>
                <a:lnTo>
                  <a:pt x="658544" y="243514"/>
                </a:lnTo>
                <a:lnTo>
                  <a:pt x="717664" y="233026"/>
                </a:lnTo>
                <a:lnTo>
                  <a:pt x="770237" y="220137"/>
                </a:lnTo>
                <a:lnTo>
                  <a:pt x="815334" y="205111"/>
                </a:lnTo>
                <a:lnTo>
                  <a:pt x="852027" y="188215"/>
                </a:lnTo>
                <a:lnTo>
                  <a:pt x="896484" y="149870"/>
                </a:lnTo>
                <a:lnTo>
                  <a:pt x="902389" y="128953"/>
                </a:lnTo>
                <a:lnTo>
                  <a:pt x="896484" y="108036"/>
                </a:lnTo>
                <a:lnTo>
                  <a:pt x="852027" y="69691"/>
                </a:lnTo>
                <a:lnTo>
                  <a:pt x="815334" y="52795"/>
                </a:lnTo>
                <a:lnTo>
                  <a:pt x="770237" y="37769"/>
                </a:lnTo>
                <a:lnTo>
                  <a:pt x="717664" y="24880"/>
                </a:lnTo>
                <a:lnTo>
                  <a:pt x="658544" y="14393"/>
                </a:lnTo>
                <a:lnTo>
                  <a:pt x="593806" y="6574"/>
                </a:lnTo>
                <a:lnTo>
                  <a:pt x="524380" y="1687"/>
                </a:lnTo>
                <a:lnTo>
                  <a:pt x="45119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738459" y="4786067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5">
                <a:moveTo>
                  <a:pt x="0" y="128954"/>
                </a:moveTo>
                <a:lnTo>
                  <a:pt x="23002" y="88194"/>
                </a:lnTo>
                <a:lnTo>
                  <a:pt x="87054" y="52795"/>
                </a:lnTo>
                <a:lnTo>
                  <a:pt x="132151" y="37769"/>
                </a:lnTo>
                <a:lnTo>
                  <a:pt x="184724" y="24880"/>
                </a:lnTo>
                <a:lnTo>
                  <a:pt x="243844" y="14393"/>
                </a:lnTo>
                <a:lnTo>
                  <a:pt x="308582" y="6574"/>
                </a:lnTo>
                <a:lnTo>
                  <a:pt x="378008" y="1687"/>
                </a:lnTo>
                <a:lnTo>
                  <a:pt x="451194" y="0"/>
                </a:lnTo>
                <a:lnTo>
                  <a:pt x="524380" y="1687"/>
                </a:lnTo>
                <a:lnTo>
                  <a:pt x="593806" y="6574"/>
                </a:lnTo>
                <a:lnTo>
                  <a:pt x="658544" y="14393"/>
                </a:lnTo>
                <a:lnTo>
                  <a:pt x="717664" y="24880"/>
                </a:lnTo>
                <a:lnTo>
                  <a:pt x="770237" y="37769"/>
                </a:lnTo>
                <a:lnTo>
                  <a:pt x="815334" y="52795"/>
                </a:lnTo>
                <a:lnTo>
                  <a:pt x="852027" y="69692"/>
                </a:lnTo>
                <a:lnTo>
                  <a:pt x="896483" y="108036"/>
                </a:lnTo>
                <a:lnTo>
                  <a:pt x="902389" y="128954"/>
                </a:lnTo>
                <a:lnTo>
                  <a:pt x="896483" y="149871"/>
                </a:lnTo>
                <a:lnTo>
                  <a:pt x="852027" y="188215"/>
                </a:lnTo>
                <a:lnTo>
                  <a:pt x="815334" y="205112"/>
                </a:lnTo>
                <a:lnTo>
                  <a:pt x="770237" y="220138"/>
                </a:lnTo>
                <a:lnTo>
                  <a:pt x="717664" y="233027"/>
                </a:lnTo>
                <a:lnTo>
                  <a:pt x="658544" y="243514"/>
                </a:lnTo>
                <a:lnTo>
                  <a:pt x="593806" y="251333"/>
                </a:lnTo>
                <a:lnTo>
                  <a:pt x="524380" y="256220"/>
                </a:lnTo>
                <a:lnTo>
                  <a:pt x="451194" y="257908"/>
                </a:lnTo>
                <a:lnTo>
                  <a:pt x="378008" y="256220"/>
                </a:lnTo>
                <a:lnTo>
                  <a:pt x="308582" y="251333"/>
                </a:lnTo>
                <a:lnTo>
                  <a:pt x="243844" y="243514"/>
                </a:lnTo>
                <a:lnTo>
                  <a:pt x="184724" y="233027"/>
                </a:lnTo>
                <a:lnTo>
                  <a:pt x="132151" y="220138"/>
                </a:lnTo>
                <a:lnTo>
                  <a:pt x="87054" y="205112"/>
                </a:lnTo>
                <a:lnTo>
                  <a:pt x="50361" y="188215"/>
                </a:lnTo>
                <a:lnTo>
                  <a:pt x="5905" y="149871"/>
                </a:lnTo>
                <a:lnTo>
                  <a:pt x="0" y="12895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1998550" y="4812284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035828" y="4771751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362028" y="0"/>
                </a:moveTo>
                <a:lnTo>
                  <a:pt x="296953" y="2277"/>
                </a:lnTo>
                <a:lnTo>
                  <a:pt x="235705" y="8843"/>
                </a:lnTo>
                <a:lnTo>
                  <a:pt x="179306" y="19299"/>
                </a:lnTo>
                <a:lnTo>
                  <a:pt x="128778" y="33244"/>
                </a:lnTo>
                <a:lnTo>
                  <a:pt x="85144" y="50281"/>
                </a:lnTo>
                <a:lnTo>
                  <a:pt x="49427" y="70010"/>
                </a:lnTo>
                <a:lnTo>
                  <a:pt x="5832" y="115946"/>
                </a:lnTo>
                <a:lnTo>
                  <a:pt x="0" y="141356"/>
                </a:lnTo>
                <a:lnTo>
                  <a:pt x="5832" y="166764"/>
                </a:lnTo>
                <a:lnTo>
                  <a:pt x="49427" y="212700"/>
                </a:lnTo>
                <a:lnTo>
                  <a:pt x="85144" y="232429"/>
                </a:lnTo>
                <a:lnTo>
                  <a:pt x="128778" y="249466"/>
                </a:lnTo>
                <a:lnTo>
                  <a:pt x="179306" y="263412"/>
                </a:lnTo>
                <a:lnTo>
                  <a:pt x="235705" y="273868"/>
                </a:lnTo>
                <a:lnTo>
                  <a:pt x="296953" y="280434"/>
                </a:lnTo>
                <a:lnTo>
                  <a:pt x="362028" y="282712"/>
                </a:lnTo>
                <a:lnTo>
                  <a:pt x="427104" y="280434"/>
                </a:lnTo>
                <a:lnTo>
                  <a:pt x="488352" y="273868"/>
                </a:lnTo>
                <a:lnTo>
                  <a:pt x="544751" y="263412"/>
                </a:lnTo>
                <a:lnTo>
                  <a:pt x="595279" y="249466"/>
                </a:lnTo>
                <a:lnTo>
                  <a:pt x="638913" y="232429"/>
                </a:lnTo>
                <a:lnTo>
                  <a:pt x="674630" y="212700"/>
                </a:lnTo>
                <a:lnTo>
                  <a:pt x="718224" y="166764"/>
                </a:lnTo>
                <a:lnTo>
                  <a:pt x="724057" y="141356"/>
                </a:lnTo>
                <a:lnTo>
                  <a:pt x="718224" y="115946"/>
                </a:lnTo>
                <a:lnTo>
                  <a:pt x="674630" y="70010"/>
                </a:lnTo>
                <a:lnTo>
                  <a:pt x="638913" y="50281"/>
                </a:lnTo>
                <a:lnTo>
                  <a:pt x="595279" y="33244"/>
                </a:lnTo>
                <a:lnTo>
                  <a:pt x="544751" y="19299"/>
                </a:lnTo>
                <a:lnTo>
                  <a:pt x="488352" y="8843"/>
                </a:lnTo>
                <a:lnTo>
                  <a:pt x="427104" y="2277"/>
                </a:lnTo>
                <a:lnTo>
                  <a:pt x="36202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35828" y="4771751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0" y="141356"/>
                </a:moveTo>
                <a:lnTo>
                  <a:pt x="22649" y="92032"/>
                </a:lnTo>
                <a:lnTo>
                  <a:pt x="85144" y="50282"/>
                </a:lnTo>
                <a:lnTo>
                  <a:pt x="128778" y="33245"/>
                </a:lnTo>
                <a:lnTo>
                  <a:pt x="179305" y="19299"/>
                </a:lnTo>
                <a:lnTo>
                  <a:pt x="235705" y="8843"/>
                </a:lnTo>
                <a:lnTo>
                  <a:pt x="296953" y="2277"/>
                </a:lnTo>
                <a:lnTo>
                  <a:pt x="362028" y="0"/>
                </a:lnTo>
                <a:lnTo>
                  <a:pt x="427103" y="2277"/>
                </a:lnTo>
                <a:lnTo>
                  <a:pt x="488351" y="8843"/>
                </a:lnTo>
                <a:lnTo>
                  <a:pt x="544751" y="19299"/>
                </a:lnTo>
                <a:lnTo>
                  <a:pt x="595278" y="33245"/>
                </a:lnTo>
                <a:lnTo>
                  <a:pt x="638912" y="50282"/>
                </a:lnTo>
                <a:lnTo>
                  <a:pt x="674629" y="70010"/>
                </a:lnTo>
                <a:lnTo>
                  <a:pt x="718224" y="115947"/>
                </a:lnTo>
                <a:lnTo>
                  <a:pt x="724057" y="141356"/>
                </a:lnTo>
                <a:lnTo>
                  <a:pt x="718224" y="166764"/>
                </a:lnTo>
                <a:lnTo>
                  <a:pt x="674629" y="212701"/>
                </a:lnTo>
                <a:lnTo>
                  <a:pt x="638912" y="232429"/>
                </a:lnTo>
                <a:lnTo>
                  <a:pt x="595278" y="249466"/>
                </a:lnTo>
                <a:lnTo>
                  <a:pt x="544751" y="263412"/>
                </a:lnTo>
                <a:lnTo>
                  <a:pt x="488351" y="273868"/>
                </a:lnTo>
                <a:lnTo>
                  <a:pt x="427103" y="280434"/>
                </a:lnTo>
                <a:lnTo>
                  <a:pt x="362028" y="282712"/>
                </a:lnTo>
                <a:lnTo>
                  <a:pt x="296953" y="280434"/>
                </a:lnTo>
                <a:lnTo>
                  <a:pt x="235705" y="273868"/>
                </a:lnTo>
                <a:lnTo>
                  <a:pt x="179305" y="263412"/>
                </a:lnTo>
                <a:lnTo>
                  <a:pt x="128778" y="249466"/>
                </a:lnTo>
                <a:lnTo>
                  <a:pt x="85144" y="232429"/>
                </a:lnTo>
                <a:lnTo>
                  <a:pt x="49427" y="212701"/>
                </a:lnTo>
                <a:lnTo>
                  <a:pt x="5832" y="16676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3243171" y="4809235"/>
            <a:ext cx="310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22112" y="535149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486270" y="0"/>
                </a:moveTo>
                <a:lnTo>
                  <a:pt x="414413" y="1532"/>
                </a:lnTo>
                <a:lnTo>
                  <a:pt x="345829" y="5984"/>
                </a:lnTo>
                <a:lnTo>
                  <a:pt x="281271" y="13137"/>
                </a:lnTo>
                <a:lnTo>
                  <a:pt x="221491" y="22773"/>
                </a:lnTo>
                <a:lnTo>
                  <a:pt x="167241" y="34672"/>
                </a:lnTo>
                <a:lnTo>
                  <a:pt x="119274" y="48615"/>
                </a:lnTo>
                <a:lnTo>
                  <a:pt x="78341" y="64385"/>
                </a:lnTo>
                <a:lnTo>
                  <a:pt x="20588" y="100530"/>
                </a:lnTo>
                <a:lnTo>
                  <a:pt x="0" y="141356"/>
                </a:lnTo>
                <a:lnTo>
                  <a:pt x="5272" y="162244"/>
                </a:lnTo>
                <a:lnTo>
                  <a:pt x="45195" y="200947"/>
                </a:lnTo>
                <a:lnTo>
                  <a:pt x="119274" y="234095"/>
                </a:lnTo>
                <a:lnTo>
                  <a:pt x="167241" y="248039"/>
                </a:lnTo>
                <a:lnTo>
                  <a:pt x="221491" y="259938"/>
                </a:lnTo>
                <a:lnTo>
                  <a:pt x="281271" y="269573"/>
                </a:lnTo>
                <a:lnTo>
                  <a:pt x="345829" y="276726"/>
                </a:lnTo>
                <a:lnTo>
                  <a:pt x="414413" y="281179"/>
                </a:lnTo>
                <a:lnTo>
                  <a:pt x="486270" y="282711"/>
                </a:lnTo>
                <a:lnTo>
                  <a:pt x="558128" y="281179"/>
                </a:lnTo>
                <a:lnTo>
                  <a:pt x="626712" y="276726"/>
                </a:lnTo>
                <a:lnTo>
                  <a:pt x="691270" y="269573"/>
                </a:lnTo>
                <a:lnTo>
                  <a:pt x="751050" y="259938"/>
                </a:lnTo>
                <a:lnTo>
                  <a:pt x="805300" y="248039"/>
                </a:lnTo>
                <a:lnTo>
                  <a:pt x="853268" y="234095"/>
                </a:lnTo>
                <a:lnTo>
                  <a:pt x="894201" y="218325"/>
                </a:lnTo>
                <a:lnTo>
                  <a:pt x="951954" y="182181"/>
                </a:lnTo>
                <a:lnTo>
                  <a:pt x="972542" y="141356"/>
                </a:lnTo>
                <a:lnTo>
                  <a:pt x="967269" y="120467"/>
                </a:lnTo>
                <a:lnTo>
                  <a:pt x="927347" y="81763"/>
                </a:lnTo>
                <a:lnTo>
                  <a:pt x="853268" y="48615"/>
                </a:lnTo>
                <a:lnTo>
                  <a:pt x="805300" y="34672"/>
                </a:lnTo>
                <a:lnTo>
                  <a:pt x="751050" y="22773"/>
                </a:lnTo>
                <a:lnTo>
                  <a:pt x="691270" y="13137"/>
                </a:lnTo>
                <a:lnTo>
                  <a:pt x="626712" y="5984"/>
                </a:lnTo>
                <a:lnTo>
                  <a:pt x="558128" y="1532"/>
                </a:lnTo>
                <a:lnTo>
                  <a:pt x="48627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022112" y="535149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0" y="141356"/>
                </a:moveTo>
                <a:lnTo>
                  <a:pt x="20588" y="100530"/>
                </a:lnTo>
                <a:lnTo>
                  <a:pt x="78341" y="64386"/>
                </a:lnTo>
                <a:lnTo>
                  <a:pt x="119274" y="48616"/>
                </a:lnTo>
                <a:lnTo>
                  <a:pt x="167241" y="34672"/>
                </a:lnTo>
                <a:lnTo>
                  <a:pt x="221491" y="22773"/>
                </a:lnTo>
                <a:lnTo>
                  <a:pt x="281271" y="13137"/>
                </a:lnTo>
                <a:lnTo>
                  <a:pt x="345829" y="5984"/>
                </a:lnTo>
                <a:lnTo>
                  <a:pt x="414413" y="1532"/>
                </a:lnTo>
                <a:lnTo>
                  <a:pt x="486271" y="0"/>
                </a:lnTo>
                <a:lnTo>
                  <a:pt x="558128" y="1532"/>
                </a:lnTo>
                <a:lnTo>
                  <a:pt x="626712" y="5984"/>
                </a:lnTo>
                <a:lnTo>
                  <a:pt x="691270" y="13137"/>
                </a:lnTo>
                <a:lnTo>
                  <a:pt x="751050" y="22773"/>
                </a:lnTo>
                <a:lnTo>
                  <a:pt x="805300" y="34672"/>
                </a:lnTo>
                <a:lnTo>
                  <a:pt x="853268" y="48616"/>
                </a:lnTo>
                <a:lnTo>
                  <a:pt x="894200" y="64386"/>
                </a:lnTo>
                <a:lnTo>
                  <a:pt x="951953" y="100530"/>
                </a:lnTo>
                <a:lnTo>
                  <a:pt x="972542" y="141356"/>
                </a:lnTo>
                <a:lnTo>
                  <a:pt x="967269" y="162244"/>
                </a:lnTo>
                <a:lnTo>
                  <a:pt x="927346" y="200948"/>
                </a:lnTo>
                <a:lnTo>
                  <a:pt x="853268" y="234095"/>
                </a:lnTo>
                <a:lnTo>
                  <a:pt x="805300" y="248039"/>
                </a:lnTo>
                <a:lnTo>
                  <a:pt x="751050" y="259938"/>
                </a:lnTo>
                <a:lnTo>
                  <a:pt x="691270" y="269574"/>
                </a:lnTo>
                <a:lnTo>
                  <a:pt x="626712" y="276727"/>
                </a:lnTo>
                <a:lnTo>
                  <a:pt x="558128" y="281179"/>
                </a:lnTo>
                <a:lnTo>
                  <a:pt x="486271" y="282712"/>
                </a:lnTo>
                <a:lnTo>
                  <a:pt x="414413" y="281179"/>
                </a:lnTo>
                <a:lnTo>
                  <a:pt x="345829" y="276727"/>
                </a:lnTo>
                <a:lnTo>
                  <a:pt x="281271" y="269574"/>
                </a:lnTo>
                <a:lnTo>
                  <a:pt x="221491" y="259938"/>
                </a:lnTo>
                <a:lnTo>
                  <a:pt x="167241" y="248039"/>
                </a:lnTo>
                <a:lnTo>
                  <a:pt x="119274" y="234095"/>
                </a:lnTo>
                <a:lnTo>
                  <a:pt x="78341" y="218325"/>
                </a:lnTo>
                <a:lnTo>
                  <a:pt x="20588" y="182181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1280862" y="5388355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979654" y="5988375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304665" y="0"/>
                </a:moveTo>
                <a:lnTo>
                  <a:pt x="243264" y="2871"/>
                </a:lnTo>
                <a:lnTo>
                  <a:pt x="186075" y="11108"/>
                </a:lnTo>
                <a:lnTo>
                  <a:pt x="134323" y="24141"/>
                </a:lnTo>
                <a:lnTo>
                  <a:pt x="89234" y="41402"/>
                </a:lnTo>
                <a:lnTo>
                  <a:pt x="52031" y="62322"/>
                </a:lnTo>
                <a:lnTo>
                  <a:pt x="6189" y="112867"/>
                </a:lnTo>
                <a:lnTo>
                  <a:pt x="0" y="141356"/>
                </a:lnTo>
                <a:lnTo>
                  <a:pt x="6189" y="169844"/>
                </a:lnTo>
                <a:lnTo>
                  <a:pt x="52031" y="220389"/>
                </a:lnTo>
                <a:lnTo>
                  <a:pt x="89234" y="241309"/>
                </a:lnTo>
                <a:lnTo>
                  <a:pt x="134323" y="258570"/>
                </a:lnTo>
                <a:lnTo>
                  <a:pt x="186075" y="271603"/>
                </a:lnTo>
                <a:lnTo>
                  <a:pt x="243264" y="279840"/>
                </a:lnTo>
                <a:lnTo>
                  <a:pt x="304665" y="282712"/>
                </a:lnTo>
                <a:lnTo>
                  <a:pt x="366066" y="279840"/>
                </a:lnTo>
                <a:lnTo>
                  <a:pt x="423255" y="271603"/>
                </a:lnTo>
                <a:lnTo>
                  <a:pt x="475006" y="258570"/>
                </a:lnTo>
                <a:lnTo>
                  <a:pt x="520096" y="241309"/>
                </a:lnTo>
                <a:lnTo>
                  <a:pt x="557298" y="220389"/>
                </a:lnTo>
                <a:lnTo>
                  <a:pt x="603141" y="169844"/>
                </a:lnTo>
                <a:lnTo>
                  <a:pt x="609330" y="141356"/>
                </a:lnTo>
                <a:lnTo>
                  <a:pt x="603141" y="112867"/>
                </a:lnTo>
                <a:lnTo>
                  <a:pt x="557298" y="62322"/>
                </a:lnTo>
                <a:lnTo>
                  <a:pt x="520096" y="41402"/>
                </a:lnTo>
                <a:lnTo>
                  <a:pt x="475006" y="24141"/>
                </a:lnTo>
                <a:lnTo>
                  <a:pt x="423255" y="11108"/>
                </a:lnTo>
                <a:lnTo>
                  <a:pt x="366066" y="2871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1979654" y="5988375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0" y="141356"/>
                </a:moveTo>
                <a:lnTo>
                  <a:pt x="23942" y="86333"/>
                </a:lnTo>
                <a:lnTo>
                  <a:pt x="89234" y="41402"/>
                </a:lnTo>
                <a:lnTo>
                  <a:pt x="134324" y="24141"/>
                </a:lnTo>
                <a:lnTo>
                  <a:pt x="186075" y="11108"/>
                </a:lnTo>
                <a:lnTo>
                  <a:pt x="243264" y="2871"/>
                </a:lnTo>
                <a:lnTo>
                  <a:pt x="304665" y="0"/>
                </a:lnTo>
                <a:lnTo>
                  <a:pt x="366066" y="2871"/>
                </a:lnTo>
                <a:lnTo>
                  <a:pt x="423255" y="11108"/>
                </a:lnTo>
                <a:lnTo>
                  <a:pt x="475006" y="24141"/>
                </a:lnTo>
                <a:lnTo>
                  <a:pt x="520096" y="41402"/>
                </a:lnTo>
                <a:lnTo>
                  <a:pt x="557298" y="62322"/>
                </a:lnTo>
                <a:lnTo>
                  <a:pt x="603141" y="112867"/>
                </a:lnTo>
                <a:lnTo>
                  <a:pt x="609331" y="141356"/>
                </a:lnTo>
                <a:lnTo>
                  <a:pt x="603141" y="169844"/>
                </a:lnTo>
                <a:lnTo>
                  <a:pt x="557298" y="220389"/>
                </a:lnTo>
                <a:lnTo>
                  <a:pt x="520096" y="241309"/>
                </a:lnTo>
                <a:lnTo>
                  <a:pt x="475006" y="258570"/>
                </a:lnTo>
                <a:lnTo>
                  <a:pt x="423255" y="271603"/>
                </a:lnTo>
                <a:lnTo>
                  <a:pt x="366066" y="279840"/>
                </a:lnTo>
                <a:lnTo>
                  <a:pt x="304665" y="282712"/>
                </a:lnTo>
                <a:lnTo>
                  <a:pt x="243264" y="279840"/>
                </a:lnTo>
                <a:lnTo>
                  <a:pt x="186075" y="271603"/>
                </a:lnTo>
                <a:lnTo>
                  <a:pt x="134324" y="258570"/>
                </a:lnTo>
                <a:lnTo>
                  <a:pt x="89234" y="241309"/>
                </a:lnTo>
                <a:lnTo>
                  <a:pt x="52032" y="220389"/>
                </a:lnTo>
                <a:lnTo>
                  <a:pt x="6189" y="16984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166051" y="6025388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059135" y="5942324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297357" y="0"/>
                </a:moveTo>
                <a:lnTo>
                  <a:pt x="237429" y="3150"/>
                </a:lnTo>
                <a:lnTo>
                  <a:pt x="181612" y="12186"/>
                </a:lnTo>
                <a:lnTo>
                  <a:pt x="131102" y="26483"/>
                </a:lnTo>
                <a:lnTo>
                  <a:pt x="87094" y="45419"/>
                </a:lnTo>
                <a:lnTo>
                  <a:pt x="50784" y="68369"/>
                </a:lnTo>
                <a:lnTo>
                  <a:pt x="6041" y="123818"/>
                </a:lnTo>
                <a:lnTo>
                  <a:pt x="0" y="155070"/>
                </a:lnTo>
                <a:lnTo>
                  <a:pt x="6041" y="186322"/>
                </a:lnTo>
                <a:lnTo>
                  <a:pt x="50784" y="241771"/>
                </a:lnTo>
                <a:lnTo>
                  <a:pt x="87094" y="264721"/>
                </a:lnTo>
                <a:lnTo>
                  <a:pt x="131102" y="283657"/>
                </a:lnTo>
                <a:lnTo>
                  <a:pt x="181612" y="297954"/>
                </a:lnTo>
                <a:lnTo>
                  <a:pt x="237429" y="306990"/>
                </a:lnTo>
                <a:lnTo>
                  <a:pt x="297357" y="310140"/>
                </a:lnTo>
                <a:lnTo>
                  <a:pt x="357285" y="306990"/>
                </a:lnTo>
                <a:lnTo>
                  <a:pt x="413102" y="297954"/>
                </a:lnTo>
                <a:lnTo>
                  <a:pt x="463613" y="283657"/>
                </a:lnTo>
                <a:lnTo>
                  <a:pt x="507621" y="264721"/>
                </a:lnTo>
                <a:lnTo>
                  <a:pt x="543931" y="241771"/>
                </a:lnTo>
                <a:lnTo>
                  <a:pt x="588674" y="186322"/>
                </a:lnTo>
                <a:lnTo>
                  <a:pt x="594715" y="155070"/>
                </a:lnTo>
                <a:lnTo>
                  <a:pt x="588674" y="123818"/>
                </a:lnTo>
                <a:lnTo>
                  <a:pt x="543931" y="68369"/>
                </a:lnTo>
                <a:lnTo>
                  <a:pt x="507621" y="45419"/>
                </a:lnTo>
                <a:lnTo>
                  <a:pt x="463613" y="26483"/>
                </a:lnTo>
                <a:lnTo>
                  <a:pt x="413102" y="12186"/>
                </a:lnTo>
                <a:lnTo>
                  <a:pt x="357285" y="3150"/>
                </a:lnTo>
                <a:lnTo>
                  <a:pt x="29735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059135" y="5942324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0" y="155070"/>
                </a:moveTo>
                <a:lnTo>
                  <a:pt x="23367" y="94710"/>
                </a:lnTo>
                <a:lnTo>
                  <a:pt x="87094" y="45419"/>
                </a:lnTo>
                <a:lnTo>
                  <a:pt x="131102" y="26483"/>
                </a:lnTo>
                <a:lnTo>
                  <a:pt x="181612" y="12186"/>
                </a:lnTo>
                <a:lnTo>
                  <a:pt x="237429" y="3150"/>
                </a:lnTo>
                <a:lnTo>
                  <a:pt x="297358" y="0"/>
                </a:lnTo>
                <a:lnTo>
                  <a:pt x="357286" y="3150"/>
                </a:lnTo>
                <a:lnTo>
                  <a:pt x="413103" y="12186"/>
                </a:lnTo>
                <a:lnTo>
                  <a:pt x="463613" y="26483"/>
                </a:lnTo>
                <a:lnTo>
                  <a:pt x="507621" y="45419"/>
                </a:lnTo>
                <a:lnTo>
                  <a:pt x="543931" y="68369"/>
                </a:lnTo>
                <a:lnTo>
                  <a:pt x="588674" y="123818"/>
                </a:lnTo>
                <a:lnTo>
                  <a:pt x="594716" y="155070"/>
                </a:lnTo>
                <a:lnTo>
                  <a:pt x="588674" y="186322"/>
                </a:lnTo>
                <a:lnTo>
                  <a:pt x="543931" y="241771"/>
                </a:lnTo>
                <a:lnTo>
                  <a:pt x="507621" y="264721"/>
                </a:lnTo>
                <a:lnTo>
                  <a:pt x="463613" y="283657"/>
                </a:lnTo>
                <a:lnTo>
                  <a:pt x="413103" y="297954"/>
                </a:lnTo>
                <a:lnTo>
                  <a:pt x="357286" y="306990"/>
                </a:lnTo>
                <a:lnTo>
                  <a:pt x="297358" y="310141"/>
                </a:lnTo>
                <a:lnTo>
                  <a:pt x="237429" y="306990"/>
                </a:lnTo>
                <a:lnTo>
                  <a:pt x="181612" y="297954"/>
                </a:lnTo>
                <a:lnTo>
                  <a:pt x="131102" y="283657"/>
                </a:lnTo>
                <a:lnTo>
                  <a:pt x="87094" y="264721"/>
                </a:lnTo>
                <a:lnTo>
                  <a:pt x="50784" y="241771"/>
                </a:lnTo>
                <a:lnTo>
                  <a:pt x="6041" y="186322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3238224" y="5991859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617269" y="5362581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434971" y="0"/>
                </a:moveTo>
                <a:lnTo>
                  <a:pt x="364416" y="2029"/>
                </a:lnTo>
                <a:lnTo>
                  <a:pt x="297486" y="7905"/>
                </a:lnTo>
                <a:lnTo>
                  <a:pt x="235076" y="17308"/>
                </a:lnTo>
                <a:lnTo>
                  <a:pt x="178082" y="29919"/>
                </a:lnTo>
                <a:lnTo>
                  <a:pt x="127400" y="45419"/>
                </a:lnTo>
                <a:lnTo>
                  <a:pt x="83924" y="63488"/>
                </a:lnTo>
                <a:lnTo>
                  <a:pt x="48550" y="83807"/>
                </a:lnTo>
                <a:lnTo>
                  <a:pt x="5693" y="129917"/>
                </a:lnTo>
                <a:lnTo>
                  <a:pt x="0" y="155070"/>
                </a:lnTo>
                <a:lnTo>
                  <a:pt x="5693" y="180224"/>
                </a:lnTo>
                <a:lnTo>
                  <a:pt x="48550" y="226334"/>
                </a:lnTo>
                <a:lnTo>
                  <a:pt x="83924" y="246653"/>
                </a:lnTo>
                <a:lnTo>
                  <a:pt x="127400" y="264722"/>
                </a:lnTo>
                <a:lnTo>
                  <a:pt x="178082" y="280221"/>
                </a:lnTo>
                <a:lnTo>
                  <a:pt x="235076" y="292832"/>
                </a:lnTo>
                <a:lnTo>
                  <a:pt x="297486" y="302236"/>
                </a:lnTo>
                <a:lnTo>
                  <a:pt x="364416" y="308112"/>
                </a:lnTo>
                <a:lnTo>
                  <a:pt x="434971" y="310141"/>
                </a:lnTo>
                <a:lnTo>
                  <a:pt x="505525" y="308112"/>
                </a:lnTo>
                <a:lnTo>
                  <a:pt x="572455" y="302236"/>
                </a:lnTo>
                <a:lnTo>
                  <a:pt x="634865" y="292832"/>
                </a:lnTo>
                <a:lnTo>
                  <a:pt x="691860" y="280221"/>
                </a:lnTo>
                <a:lnTo>
                  <a:pt x="742542" y="264722"/>
                </a:lnTo>
                <a:lnTo>
                  <a:pt x="786019" y="246653"/>
                </a:lnTo>
                <a:lnTo>
                  <a:pt x="821392" y="226334"/>
                </a:lnTo>
                <a:lnTo>
                  <a:pt x="864250" y="180224"/>
                </a:lnTo>
                <a:lnTo>
                  <a:pt x="869943" y="155070"/>
                </a:lnTo>
                <a:lnTo>
                  <a:pt x="864250" y="129917"/>
                </a:lnTo>
                <a:lnTo>
                  <a:pt x="821392" y="83807"/>
                </a:lnTo>
                <a:lnTo>
                  <a:pt x="786019" y="63488"/>
                </a:lnTo>
                <a:lnTo>
                  <a:pt x="742542" y="45419"/>
                </a:lnTo>
                <a:lnTo>
                  <a:pt x="691860" y="29919"/>
                </a:lnTo>
                <a:lnTo>
                  <a:pt x="634865" y="17308"/>
                </a:lnTo>
                <a:lnTo>
                  <a:pt x="572455" y="7905"/>
                </a:lnTo>
                <a:lnTo>
                  <a:pt x="505525" y="2029"/>
                </a:lnTo>
                <a:lnTo>
                  <a:pt x="43497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617269" y="5362581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0" y="155070"/>
                </a:moveTo>
                <a:lnTo>
                  <a:pt x="22175" y="106056"/>
                </a:lnTo>
                <a:lnTo>
                  <a:pt x="83924" y="63487"/>
                </a:lnTo>
                <a:lnTo>
                  <a:pt x="127400" y="45419"/>
                </a:lnTo>
                <a:lnTo>
                  <a:pt x="178082" y="29919"/>
                </a:lnTo>
                <a:lnTo>
                  <a:pt x="235077" y="17308"/>
                </a:lnTo>
                <a:lnTo>
                  <a:pt x="297486" y="7905"/>
                </a:lnTo>
                <a:lnTo>
                  <a:pt x="364416" y="2029"/>
                </a:lnTo>
                <a:lnTo>
                  <a:pt x="434971" y="0"/>
                </a:lnTo>
                <a:lnTo>
                  <a:pt x="505526" y="2029"/>
                </a:lnTo>
                <a:lnTo>
                  <a:pt x="572456" y="7905"/>
                </a:lnTo>
                <a:lnTo>
                  <a:pt x="634865" y="17308"/>
                </a:lnTo>
                <a:lnTo>
                  <a:pt x="691860" y="29919"/>
                </a:lnTo>
                <a:lnTo>
                  <a:pt x="742542" y="45419"/>
                </a:lnTo>
                <a:lnTo>
                  <a:pt x="786018" y="63487"/>
                </a:lnTo>
                <a:lnTo>
                  <a:pt x="821392" y="83806"/>
                </a:lnTo>
                <a:lnTo>
                  <a:pt x="864249" y="129917"/>
                </a:lnTo>
                <a:lnTo>
                  <a:pt x="869943" y="155070"/>
                </a:lnTo>
                <a:lnTo>
                  <a:pt x="864249" y="180223"/>
                </a:lnTo>
                <a:lnTo>
                  <a:pt x="821392" y="226334"/>
                </a:lnTo>
                <a:lnTo>
                  <a:pt x="786018" y="246653"/>
                </a:lnTo>
                <a:lnTo>
                  <a:pt x="742542" y="264721"/>
                </a:lnTo>
                <a:lnTo>
                  <a:pt x="691860" y="280221"/>
                </a:lnTo>
                <a:lnTo>
                  <a:pt x="634865" y="292832"/>
                </a:lnTo>
                <a:lnTo>
                  <a:pt x="572456" y="302235"/>
                </a:lnTo>
                <a:lnTo>
                  <a:pt x="505526" y="308111"/>
                </a:lnTo>
                <a:lnTo>
                  <a:pt x="434971" y="310141"/>
                </a:lnTo>
                <a:lnTo>
                  <a:pt x="364416" y="308111"/>
                </a:lnTo>
                <a:lnTo>
                  <a:pt x="297486" y="302235"/>
                </a:lnTo>
                <a:lnTo>
                  <a:pt x="235077" y="292832"/>
                </a:lnTo>
                <a:lnTo>
                  <a:pt x="178082" y="280221"/>
                </a:lnTo>
                <a:lnTo>
                  <a:pt x="127400" y="264721"/>
                </a:lnTo>
                <a:lnTo>
                  <a:pt x="83924" y="246653"/>
                </a:lnTo>
                <a:lnTo>
                  <a:pt x="48550" y="226334"/>
                </a:lnTo>
                <a:lnTo>
                  <a:pt x="5693" y="180223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3861137" y="5412740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654746" y="5006205"/>
            <a:ext cx="215900" cy="356870"/>
          </a:xfrm>
          <a:custGeom>
            <a:avLst/>
            <a:gdLst/>
            <a:ahLst/>
            <a:cxnLst/>
            <a:rect l="l" t="t" r="r" b="b"/>
            <a:pathLst>
              <a:path w="215900" h="356870">
                <a:moveTo>
                  <a:pt x="215866" y="0"/>
                </a:moveTo>
                <a:lnTo>
                  <a:pt x="0" y="3563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1508382" y="5634204"/>
            <a:ext cx="560705" cy="395605"/>
          </a:xfrm>
          <a:custGeom>
            <a:avLst/>
            <a:gdLst/>
            <a:ahLst/>
            <a:cxnLst/>
            <a:rect l="l" t="t" r="r" b="b"/>
            <a:pathLst>
              <a:path w="560705" h="395604">
                <a:moveTo>
                  <a:pt x="0" y="0"/>
                </a:moveTo>
                <a:lnTo>
                  <a:pt x="560505" y="39557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2647857" y="4913109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3879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653850" y="5013061"/>
            <a:ext cx="398780" cy="349885"/>
          </a:xfrm>
          <a:custGeom>
            <a:avLst/>
            <a:gdLst/>
            <a:ahLst/>
            <a:cxnLst/>
            <a:rect l="l" t="t" r="r" b="b"/>
            <a:pathLst>
              <a:path w="398779" h="349885">
                <a:moveTo>
                  <a:pt x="398392" y="34952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508697" y="5006204"/>
            <a:ext cx="1236345" cy="401955"/>
          </a:xfrm>
          <a:custGeom>
            <a:avLst/>
            <a:gdLst/>
            <a:ahLst/>
            <a:cxnLst/>
            <a:rect l="l" t="t" r="r" b="b"/>
            <a:pathLst>
              <a:path w="1236345" h="401954">
                <a:moveTo>
                  <a:pt x="1235972" y="40179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994652" y="5492849"/>
            <a:ext cx="1623060" cy="25400"/>
          </a:xfrm>
          <a:custGeom>
            <a:avLst/>
            <a:gdLst/>
            <a:ahLst/>
            <a:cxnLst/>
            <a:rect l="l" t="t" r="r" b="b"/>
            <a:pathLst>
              <a:path w="1623060" h="25400">
                <a:moveTo>
                  <a:pt x="1622617" y="2480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852228" y="5592803"/>
            <a:ext cx="1294130" cy="394970"/>
          </a:xfrm>
          <a:custGeom>
            <a:avLst/>
            <a:gdLst/>
            <a:ahLst/>
            <a:cxnLst/>
            <a:rect l="l" t="t" r="r" b="b"/>
            <a:pathLst>
              <a:path w="1294130" h="394970">
                <a:moveTo>
                  <a:pt x="1294000" y="3949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698880" y="4674939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380856" y="0"/>
                </a:moveTo>
                <a:lnTo>
                  <a:pt x="312397" y="2454"/>
                </a:lnTo>
                <a:lnTo>
                  <a:pt x="247963" y="9531"/>
                </a:lnTo>
                <a:lnTo>
                  <a:pt x="188630" y="20800"/>
                </a:lnTo>
                <a:lnTo>
                  <a:pt x="135475" y="35831"/>
                </a:lnTo>
                <a:lnTo>
                  <a:pt x="89572" y="54193"/>
                </a:lnTo>
                <a:lnTo>
                  <a:pt x="51998" y="75456"/>
                </a:lnTo>
                <a:lnTo>
                  <a:pt x="6136" y="124965"/>
                </a:lnTo>
                <a:lnTo>
                  <a:pt x="0" y="152350"/>
                </a:lnTo>
                <a:lnTo>
                  <a:pt x="6136" y="179735"/>
                </a:lnTo>
                <a:lnTo>
                  <a:pt x="51998" y="229245"/>
                </a:lnTo>
                <a:lnTo>
                  <a:pt x="89572" y="250508"/>
                </a:lnTo>
                <a:lnTo>
                  <a:pt x="135475" y="268870"/>
                </a:lnTo>
                <a:lnTo>
                  <a:pt x="188630" y="283901"/>
                </a:lnTo>
                <a:lnTo>
                  <a:pt x="247963" y="295170"/>
                </a:lnTo>
                <a:lnTo>
                  <a:pt x="312397" y="302247"/>
                </a:lnTo>
                <a:lnTo>
                  <a:pt x="380856" y="304702"/>
                </a:lnTo>
                <a:lnTo>
                  <a:pt x="449316" y="302247"/>
                </a:lnTo>
                <a:lnTo>
                  <a:pt x="513750" y="295170"/>
                </a:lnTo>
                <a:lnTo>
                  <a:pt x="573082" y="283901"/>
                </a:lnTo>
                <a:lnTo>
                  <a:pt x="626238" y="268870"/>
                </a:lnTo>
                <a:lnTo>
                  <a:pt x="672141" y="250508"/>
                </a:lnTo>
                <a:lnTo>
                  <a:pt x="709716" y="229245"/>
                </a:lnTo>
                <a:lnTo>
                  <a:pt x="755578" y="179735"/>
                </a:lnTo>
                <a:lnTo>
                  <a:pt x="761714" y="152350"/>
                </a:lnTo>
                <a:lnTo>
                  <a:pt x="755578" y="124965"/>
                </a:lnTo>
                <a:lnTo>
                  <a:pt x="709716" y="75456"/>
                </a:lnTo>
                <a:lnTo>
                  <a:pt x="672141" y="54193"/>
                </a:lnTo>
                <a:lnTo>
                  <a:pt x="626238" y="35831"/>
                </a:lnTo>
                <a:lnTo>
                  <a:pt x="573082" y="20800"/>
                </a:lnTo>
                <a:lnTo>
                  <a:pt x="513750" y="9531"/>
                </a:lnTo>
                <a:lnTo>
                  <a:pt x="449316" y="2454"/>
                </a:lnTo>
                <a:lnTo>
                  <a:pt x="3808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698880" y="4674939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351"/>
                </a:moveTo>
                <a:lnTo>
                  <a:pt x="23827" y="99190"/>
                </a:lnTo>
                <a:lnTo>
                  <a:pt x="89572" y="54193"/>
                </a:lnTo>
                <a:lnTo>
                  <a:pt x="135475" y="35831"/>
                </a:lnTo>
                <a:lnTo>
                  <a:pt x="188631" y="20800"/>
                </a:lnTo>
                <a:lnTo>
                  <a:pt x="247963" y="9531"/>
                </a:lnTo>
                <a:lnTo>
                  <a:pt x="312397" y="2454"/>
                </a:lnTo>
                <a:lnTo>
                  <a:pt x="380857" y="0"/>
                </a:lnTo>
                <a:lnTo>
                  <a:pt x="449316" y="2454"/>
                </a:lnTo>
                <a:lnTo>
                  <a:pt x="513750" y="9531"/>
                </a:lnTo>
                <a:lnTo>
                  <a:pt x="573082" y="20800"/>
                </a:lnTo>
                <a:lnTo>
                  <a:pt x="626238" y="35831"/>
                </a:lnTo>
                <a:lnTo>
                  <a:pt x="672141" y="54193"/>
                </a:lnTo>
                <a:lnTo>
                  <a:pt x="709715" y="75456"/>
                </a:lnTo>
                <a:lnTo>
                  <a:pt x="755577" y="124965"/>
                </a:lnTo>
                <a:lnTo>
                  <a:pt x="761714" y="152351"/>
                </a:lnTo>
                <a:lnTo>
                  <a:pt x="755577" y="179736"/>
                </a:lnTo>
                <a:lnTo>
                  <a:pt x="709715" y="229245"/>
                </a:lnTo>
                <a:lnTo>
                  <a:pt x="672141" y="250508"/>
                </a:lnTo>
                <a:lnTo>
                  <a:pt x="626238" y="268870"/>
                </a:lnTo>
                <a:lnTo>
                  <a:pt x="573082" y="283901"/>
                </a:lnTo>
                <a:lnTo>
                  <a:pt x="513750" y="295170"/>
                </a:lnTo>
                <a:lnTo>
                  <a:pt x="449316" y="302247"/>
                </a:lnTo>
                <a:lnTo>
                  <a:pt x="380857" y="304702"/>
                </a:lnTo>
                <a:lnTo>
                  <a:pt x="312397" y="302247"/>
                </a:lnTo>
                <a:lnTo>
                  <a:pt x="247963" y="295170"/>
                </a:lnTo>
                <a:lnTo>
                  <a:pt x="188631" y="283901"/>
                </a:lnTo>
                <a:lnTo>
                  <a:pt x="135475" y="268870"/>
                </a:lnTo>
                <a:lnTo>
                  <a:pt x="89572" y="250508"/>
                </a:lnTo>
                <a:lnTo>
                  <a:pt x="51998" y="229245"/>
                </a:lnTo>
                <a:lnTo>
                  <a:pt x="6136" y="179736"/>
                </a:lnTo>
                <a:lnTo>
                  <a:pt x="0" y="152351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925050" y="4723891"/>
            <a:ext cx="310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854522" y="4658217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446201" y="0"/>
                </a:moveTo>
                <a:lnTo>
                  <a:pt x="380265" y="1758"/>
                </a:lnTo>
                <a:lnTo>
                  <a:pt x="317332" y="6866"/>
                </a:lnTo>
                <a:lnTo>
                  <a:pt x="258094" y="15073"/>
                </a:lnTo>
                <a:lnTo>
                  <a:pt x="203240" y="26127"/>
                </a:lnTo>
                <a:lnTo>
                  <a:pt x="153460" y="39779"/>
                </a:lnTo>
                <a:lnTo>
                  <a:pt x="109445" y="55777"/>
                </a:lnTo>
                <a:lnTo>
                  <a:pt x="71885" y="73870"/>
                </a:lnTo>
                <a:lnTo>
                  <a:pt x="18891" y="115339"/>
                </a:lnTo>
                <a:lnTo>
                  <a:pt x="0" y="162178"/>
                </a:lnTo>
                <a:lnTo>
                  <a:pt x="4837" y="186144"/>
                </a:lnTo>
                <a:lnTo>
                  <a:pt x="41471" y="230549"/>
                </a:lnTo>
                <a:lnTo>
                  <a:pt x="109445" y="268580"/>
                </a:lnTo>
                <a:lnTo>
                  <a:pt x="153460" y="284578"/>
                </a:lnTo>
                <a:lnTo>
                  <a:pt x="203240" y="298230"/>
                </a:lnTo>
                <a:lnTo>
                  <a:pt x="258094" y="309284"/>
                </a:lnTo>
                <a:lnTo>
                  <a:pt x="317332" y="317491"/>
                </a:lnTo>
                <a:lnTo>
                  <a:pt x="380265" y="322599"/>
                </a:lnTo>
                <a:lnTo>
                  <a:pt x="446201" y="324357"/>
                </a:lnTo>
                <a:lnTo>
                  <a:pt x="512138" y="322599"/>
                </a:lnTo>
                <a:lnTo>
                  <a:pt x="575070" y="317491"/>
                </a:lnTo>
                <a:lnTo>
                  <a:pt x="634309" y="309284"/>
                </a:lnTo>
                <a:lnTo>
                  <a:pt x="689163" y="298230"/>
                </a:lnTo>
                <a:lnTo>
                  <a:pt x="738943" y="284578"/>
                </a:lnTo>
                <a:lnTo>
                  <a:pt x="782957" y="268580"/>
                </a:lnTo>
                <a:lnTo>
                  <a:pt x="820517" y="250487"/>
                </a:lnTo>
                <a:lnTo>
                  <a:pt x="873511" y="209018"/>
                </a:lnTo>
                <a:lnTo>
                  <a:pt x="892403" y="162178"/>
                </a:lnTo>
                <a:lnTo>
                  <a:pt x="887565" y="138213"/>
                </a:lnTo>
                <a:lnTo>
                  <a:pt x="850932" y="93808"/>
                </a:lnTo>
                <a:lnTo>
                  <a:pt x="782957" y="55777"/>
                </a:lnTo>
                <a:lnTo>
                  <a:pt x="738943" y="39779"/>
                </a:lnTo>
                <a:lnTo>
                  <a:pt x="689163" y="26127"/>
                </a:lnTo>
                <a:lnTo>
                  <a:pt x="634309" y="15073"/>
                </a:lnTo>
                <a:lnTo>
                  <a:pt x="575070" y="6866"/>
                </a:lnTo>
                <a:lnTo>
                  <a:pt x="512138" y="1758"/>
                </a:lnTo>
                <a:lnTo>
                  <a:pt x="4462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854522" y="4658217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0" y="162179"/>
                </a:moveTo>
                <a:lnTo>
                  <a:pt x="18891" y="115339"/>
                </a:lnTo>
                <a:lnTo>
                  <a:pt x="71885" y="73870"/>
                </a:lnTo>
                <a:lnTo>
                  <a:pt x="109445" y="55777"/>
                </a:lnTo>
                <a:lnTo>
                  <a:pt x="153460" y="39779"/>
                </a:lnTo>
                <a:lnTo>
                  <a:pt x="203240" y="26128"/>
                </a:lnTo>
                <a:lnTo>
                  <a:pt x="258094" y="15073"/>
                </a:lnTo>
                <a:lnTo>
                  <a:pt x="317332" y="6866"/>
                </a:lnTo>
                <a:lnTo>
                  <a:pt x="380265" y="1758"/>
                </a:lnTo>
                <a:lnTo>
                  <a:pt x="446202" y="0"/>
                </a:lnTo>
                <a:lnTo>
                  <a:pt x="512138" y="1758"/>
                </a:lnTo>
                <a:lnTo>
                  <a:pt x="575071" y="6866"/>
                </a:lnTo>
                <a:lnTo>
                  <a:pt x="634309" y="15073"/>
                </a:lnTo>
                <a:lnTo>
                  <a:pt x="689163" y="26128"/>
                </a:lnTo>
                <a:lnTo>
                  <a:pt x="738943" y="39779"/>
                </a:lnTo>
                <a:lnTo>
                  <a:pt x="782958" y="55777"/>
                </a:lnTo>
                <a:lnTo>
                  <a:pt x="820518" y="73870"/>
                </a:lnTo>
                <a:lnTo>
                  <a:pt x="873512" y="115339"/>
                </a:lnTo>
                <a:lnTo>
                  <a:pt x="892404" y="162179"/>
                </a:lnTo>
                <a:lnTo>
                  <a:pt x="887566" y="186144"/>
                </a:lnTo>
                <a:lnTo>
                  <a:pt x="850932" y="230549"/>
                </a:lnTo>
                <a:lnTo>
                  <a:pt x="782958" y="268580"/>
                </a:lnTo>
                <a:lnTo>
                  <a:pt x="738943" y="284578"/>
                </a:lnTo>
                <a:lnTo>
                  <a:pt x="689163" y="298229"/>
                </a:lnTo>
                <a:lnTo>
                  <a:pt x="634309" y="309284"/>
                </a:lnTo>
                <a:lnTo>
                  <a:pt x="575071" y="317491"/>
                </a:lnTo>
                <a:lnTo>
                  <a:pt x="512138" y="322599"/>
                </a:lnTo>
                <a:lnTo>
                  <a:pt x="446202" y="324358"/>
                </a:lnTo>
                <a:lnTo>
                  <a:pt x="380265" y="322599"/>
                </a:lnTo>
                <a:lnTo>
                  <a:pt x="317332" y="317491"/>
                </a:lnTo>
                <a:lnTo>
                  <a:pt x="258094" y="309284"/>
                </a:lnTo>
                <a:lnTo>
                  <a:pt x="203240" y="298229"/>
                </a:lnTo>
                <a:lnTo>
                  <a:pt x="153460" y="284578"/>
                </a:lnTo>
                <a:lnTo>
                  <a:pt x="109445" y="268580"/>
                </a:lnTo>
                <a:lnTo>
                  <a:pt x="71885" y="250487"/>
                </a:lnTo>
                <a:lnTo>
                  <a:pt x="18891" y="209018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7109621" y="4714747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5067635" y="5335404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498050" y="0"/>
                </a:moveTo>
                <a:lnTo>
                  <a:pt x="430468" y="1415"/>
                </a:lnTo>
                <a:lnTo>
                  <a:pt x="365648" y="5539"/>
                </a:lnTo>
                <a:lnTo>
                  <a:pt x="304186" y="12186"/>
                </a:lnTo>
                <a:lnTo>
                  <a:pt x="246674" y="21171"/>
                </a:lnTo>
                <a:lnTo>
                  <a:pt x="193706" y="32310"/>
                </a:lnTo>
                <a:lnTo>
                  <a:pt x="145875" y="45419"/>
                </a:lnTo>
                <a:lnTo>
                  <a:pt x="103774" y="60311"/>
                </a:lnTo>
                <a:lnTo>
                  <a:pt x="67998" y="76803"/>
                </a:lnTo>
                <a:lnTo>
                  <a:pt x="17790" y="113846"/>
                </a:lnTo>
                <a:lnTo>
                  <a:pt x="0" y="155070"/>
                </a:lnTo>
                <a:lnTo>
                  <a:pt x="4546" y="176112"/>
                </a:lnTo>
                <a:lnTo>
                  <a:pt x="39139" y="215430"/>
                </a:lnTo>
                <a:lnTo>
                  <a:pt x="103774" y="249829"/>
                </a:lnTo>
                <a:lnTo>
                  <a:pt x="145875" y="264721"/>
                </a:lnTo>
                <a:lnTo>
                  <a:pt x="193706" y="277830"/>
                </a:lnTo>
                <a:lnTo>
                  <a:pt x="246674" y="288969"/>
                </a:lnTo>
                <a:lnTo>
                  <a:pt x="304186" y="297954"/>
                </a:lnTo>
                <a:lnTo>
                  <a:pt x="365648" y="304601"/>
                </a:lnTo>
                <a:lnTo>
                  <a:pt x="430468" y="308725"/>
                </a:lnTo>
                <a:lnTo>
                  <a:pt x="498050" y="310141"/>
                </a:lnTo>
                <a:lnTo>
                  <a:pt x="565633" y="308725"/>
                </a:lnTo>
                <a:lnTo>
                  <a:pt x="630452" y="304601"/>
                </a:lnTo>
                <a:lnTo>
                  <a:pt x="691914" y="297954"/>
                </a:lnTo>
                <a:lnTo>
                  <a:pt x="749426" y="288969"/>
                </a:lnTo>
                <a:lnTo>
                  <a:pt x="802394" y="277830"/>
                </a:lnTo>
                <a:lnTo>
                  <a:pt x="850225" y="264721"/>
                </a:lnTo>
                <a:lnTo>
                  <a:pt x="892326" y="249829"/>
                </a:lnTo>
                <a:lnTo>
                  <a:pt x="928103" y="233337"/>
                </a:lnTo>
                <a:lnTo>
                  <a:pt x="978310" y="196294"/>
                </a:lnTo>
                <a:lnTo>
                  <a:pt x="996101" y="155070"/>
                </a:lnTo>
                <a:lnTo>
                  <a:pt x="991555" y="134028"/>
                </a:lnTo>
                <a:lnTo>
                  <a:pt x="956962" y="94710"/>
                </a:lnTo>
                <a:lnTo>
                  <a:pt x="892326" y="60311"/>
                </a:lnTo>
                <a:lnTo>
                  <a:pt x="850225" y="45419"/>
                </a:lnTo>
                <a:lnTo>
                  <a:pt x="802394" y="32310"/>
                </a:lnTo>
                <a:lnTo>
                  <a:pt x="749426" y="21171"/>
                </a:lnTo>
                <a:lnTo>
                  <a:pt x="691914" y="12186"/>
                </a:lnTo>
                <a:lnTo>
                  <a:pt x="630452" y="5539"/>
                </a:lnTo>
                <a:lnTo>
                  <a:pt x="565633" y="1415"/>
                </a:lnTo>
                <a:lnTo>
                  <a:pt x="4980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067635" y="5335404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0" y="155070"/>
                </a:moveTo>
                <a:lnTo>
                  <a:pt x="17790" y="113846"/>
                </a:lnTo>
                <a:lnTo>
                  <a:pt x="67998" y="76803"/>
                </a:lnTo>
                <a:lnTo>
                  <a:pt x="103775" y="60311"/>
                </a:lnTo>
                <a:lnTo>
                  <a:pt x="145875" y="45419"/>
                </a:lnTo>
                <a:lnTo>
                  <a:pt x="193706" y="32310"/>
                </a:lnTo>
                <a:lnTo>
                  <a:pt x="246675" y="21171"/>
                </a:lnTo>
                <a:lnTo>
                  <a:pt x="304187" y="12186"/>
                </a:lnTo>
                <a:lnTo>
                  <a:pt x="365649" y="5539"/>
                </a:lnTo>
                <a:lnTo>
                  <a:pt x="430468" y="1415"/>
                </a:lnTo>
                <a:lnTo>
                  <a:pt x="498051" y="0"/>
                </a:lnTo>
                <a:lnTo>
                  <a:pt x="565633" y="1415"/>
                </a:lnTo>
                <a:lnTo>
                  <a:pt x="630452" y="5539"/>
                </a:lnTo>
                <a:lnTo>
                  <a:pt x="691914" y="12186"/>
                </a:lnTo>
                <a:lnTo>
                  <a:pt x="749426" y="21171"/>
                </a:lnTo>
                <a:lnTo>
                  <a:pt x="802395" y="32310"/>
                </a:lnTo>
                <a:lnTo>
                  <a:pt x="850226" y="45419"/>
                </a:lnTo>
                <a:lnTo>
                  <a:pt x="892326" y="60311"/>
                </a:lnTo>
                <a:lnTo>
                  <a:pt x="928103" y="76803"/>
                </a:lnTo>
                <a:lnTo>
                  <a:pt x="978311" y="113846"/>
                </a:lnTo>
                <a:lnTo>
                  <a:pt x="996102" y="155070"/>
                </a:lnTo>
                <a:lnTo>
                  <a:pt x="991555" y="176112"/>
                </a:lnTo>
                <a:lnTo>
                  <a:pt x="956962" y="215430"/>
                </a:lnTo>
                <a:lnTo>
                  <a:pt x="892326" y="249829"/>
                </a:lnTo>
                <a:lnTo>
                  <a:pt x="850226" y="264721"/>
                </a:lnTo>
                <a:lnTo>
                  <a:pt x="802395" y="277830"/>
                </a:lnTo>
                <a:lnTo>
                  <a:pt x="749426" y="288969"/>
                </a:lnTo>
                <a:lnTo>
                  <a:pt x="691914" y="297954"/>
                </a:lnTo>
                <a:lnTo>
                  <a:pt x="630452" y="304601"/>
                </a:lnTo>
                <a:lnTo>
                  <a:pt x="565633" y="308725"/>
                </a:lnTo>
                <a:lnTo>
                  <a:pt x="498051" y="310141"/>
                </a:lnTo>
                <a:lnTo>
                  <a:pt x="430468" y="308725"/>
                </a:lnTo>
                <a:lnTo>
                  <a:pt x="365649" y="304601"/>
                </a:lnTo>
                <a:lnTo>
                  <a:pt x="304187" y="297954"/>
                </a:lnTo>
                <a:lnTo>
                  <a:pt x="246675" y="288969"/>
                </a:lnTo>
                <a:lnTo>
                  <a:pt x="193706" y="277830"/>
                </a:lnTo>
                <a:lnTo>
                  <a:pt x="145875" y="264721"/>
                </a:lnTo>
                <a:lnTo>
                  <a:pt x="103775" y="249829"/>
                </a:lnTo>
                <a:lnTo>
                  <a:pt x="67998" y="233337"/>
                </a:lnTo>
                <a:lnTo>
                  <a:pt x="17790" y="196294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338164" y="5385308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020789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4" y="0"/>
                </a:moveTo>
                <a:lnTo>
                  <a:pt x="243263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09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1"/>
                </a:lnTo>
                <a:lnTo>
                  <a:pt x="89234" y="264721"/>
                </a:lnTo>
                <a:lnTo>
                  <a:pt x="134323" y="283657"/>
                </a:lnTo>
                <a:lnTo>
                  <a:pt x="186075" y="297954"/>
                </a:lnTo>
                <a:lnTo>
                  <a:pt x="243263" y="306990"/>
                </a:lnTo>
                <a:lnTo>
                  <a:pt x="304664" y="310140"/>
                </a:lnTo>
                <a:lnTo>
                  <a:pt x="366064" y="306990"/>
                </a:lnTo>
                <a:lnTo>
                  <a:pt x="423253" y="297954"/>
                </a:lnTo>
                <a:lnTo>
                  <a:pt x="475005" y="283657"/>
                </a:lnTo>
                <a:lnTo>
                  <a:pt x="520095" y="264721"/>
                </a:lnTo>
                <a:lnTo>
                  <a:pt x="557297" y="241771"/>
                </a:lnTo>
                <a:lnTo>
                  <a:pt x="585387" y="215430"/>
                </a:lnTo>
                <a:lnTo>
                  <a:pt x="609329" y="155070"/>
                </a:lnTo>
                <a:lnTo>
                  <a:pt x="603139" y="123818"/>
                </a:lnTo>
                <a:lnTo>
                  <a:pt x="557297" y="68369"/>
                </a:lnTo>
                <a:lnTo>
                  <a:pt x="520095" y="45419"/>
                </a:lnTo>
                <a:lnTo>
                  <a:pt x="475005" y="26483"/>
                </a:lnTo>
                <a:lnTo>
                  <a:pt x="423253" y="12186"/>
                </a:lnTo>
                <a:lnTo>
                  <a:pt x="366064" y="3150"/>
                </a:lnTo>
                <a:lnTo>
                  <a:pt x="30466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020789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3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5" y="3150"/>
                </a:lnTo>
                <a:lnTo>
                  <a:pt x="423254" y="12186"/>
                </a:lnTo>
                <a:lnTo>
                  <a:pt x="475006" y="26483"/>
                </a:lnTo>
                <a:lnTo>
                  <a:pt x="520095" y="45419"/>
                </a:lnTo>
                <a:lnTo>
                  <a:pt x="557298" y="68369"/>
                </a:lnTo>
                <a:lnTo>
                  <a:pt x="585387" y="94710"/>
                </a:lnTo>
                <a:lnTo>
                  <a:pt x="609330" y="155070"/>
                </a:lnTo>
                <a:lnTo>
                  <a:pt x="603140" y="186322"/>
                </a:lnTo>
                <a:lnTo>
                  <a:pt x="557298" y="241771"/>
                </a:lnTo>
                <a:lnTo>
                  <a:pt x="520095" y="264721"/>
                </a:lnTo>
                <a:lnTo>
                  <a:pt x="475006" y="283657"/>
                </a:lnTo>
                <a:lnTo>
                  <a:pt x="423254" y="297954"/>
                </a:lnTo>
                <a:lnTo>
                  <a:pt x="366065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3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6207184" y="6077203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877764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09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1"/>
                </a:lnTo>
                <a:lnTo>
                  <a:pt x="89234" y="264721"/>
                </a:lnTo>
                <a:lnTo>
                  <a:pt x="134323" y="283657"/>
                </a:lnTo>
                <a:lnTo>
                  <a:pt x="186075" y="297954"/>
                </a:lnTo>
                <a:lnTo>
                  <a:pt x="243264" y="306990"/>
                </a:lnTo>
                <a:lnTo>
                  <a:pt x="304665" y="310140"/>
                </a:lnTo>
                <a:lnTo>
                  <a:pt x="366066" y="306990"/>
                </a:lnTo>
                <a:lnTo>
                  <a:pt x="423255" y="297954"/>
                </a:lnTo>
                <a:lnTo>
                  <a:pt x="475006" y="283657"/>
                </a:lnTo>
                <a:lnTo>
                  <a:pt x="520096" y="264721"/>
                </a:lnTo>
                <a:lnTo>
                  <a:pt x="557298" y="241771"/>
                </a:lnTo>
                <a:lnTo>
                  <a:pt x="585388" y="215430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6" y="45419"/>
                </a:lnTo>
                <a:lnTo>
                  <a:pt x="475006" y="26483"/>
                </a:lnTo>
                <a:lnTo>
                  <a:pt x="423255" y="12186"/>
                </a:lnTo>
                <a:lnTo>
                  <a:pt x="366066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877764" y="602554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4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6" y="3150"/>
                </a:lnTo>
                <a:lnTo>
                  <a:pt x="423255" y="12186"/>
                </a:lnTo>
                <a:lnTo>
                  <a:pt x="475006" y="26483"/>
                </a:lnTo>
                <a:lnTo>
                  <a:pt x="520096" y="45419"/>
                </a:lnTo>
                <a:lnTo>
                  <a:pt x="557298" y="68369"/>
                </a:lnTo>
                <a:lnTo>
                  <a:pt x="585388" y="94710"/>
                </a:lnTo>
                <a:lnTo>
                  <a:pt x="609331" y="155070"/>
                </a:lnTo>
                <a:lnTo>
                  <a:pt x="603141" y="186322"/>
                </a:lnTo>
                <a:lnTo>
                  <a:pt x="557298" y="241771"/>
                </a:lnTo>
                <a:lnTo>
                  <a:pt x="520096" y="264721"/>
                </a:lnTo>
                <a:lnTo>
                  <a:pt x="475006" y="283657"/>
                </a:lnTo>
                <a:lnTo>
                  <a:pt x="423255" y="297954"/>
                </a:lnTo>
                <a:lnTo>
                  <a:pt x="366066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4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7064161" y="6077203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541685" y="5348359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422699" y="0"/>
                </a:moveTo>
                <a:lnTo>
                  <a:pt x="354135" y="2122"/>
                </a:lnTo>
                <a:lnTo>
                  <a:pt x="289093" y="8267"/>
                </a:lnTo>
                <a:lnTo>
                  <a:pt x="228444" y="18102"/>
                </a:lnTo>
                <a:lnTo>
                  <a:pt x="173058" y="31291"/>
                </a:lnTo>
                <a:lnTo>
                  <a:pt x="123805" y="47501"/>
                </a:lnTo>
                <a:lnTo>
                  <a:pt x="81556" y="66398"/>
                </a:lnTo>
                <a:lnTo>
                  <a:pt x="47180" y="87648"/>
                </a:lnTo>
                <a:lnTo>
                  <a:pt x="5532" y="135872"/>
                </a:lnTo>
                <a:lnTo>
                  <a:pt x="0" y="162179"/>
                </a:lnTo>
                <a:lnTo>
                  <a:pt x="5532" y="188485"/>
                </a:lnTo>
                <a:lnTo>
                  <a:pt x="47180" y="236710"/>
                </a:lnTo>
                <a:lnTo>
                  <a:pt x="81556" y="257960"/>
                </a:lnTo>
                <a:lnTo>
                  <a:pt x="123805" y="276857"/>
                </a:lnTo>
                <a:lnTo>
                  <a:pt x="173058" y="293067"/>
                </a:lnTo>
                <a:lnTo>
                  <a:pt x="228444" y="306256"/>
                </a:lnTo>
                <a:lnTo>
                  <a:pt x="289093" y="316090"/>
                </a:lnTo>
                <a:lnTo>
                  <a:pt x="354135" y="322236"/>
                </a:lnTo>
                <a:lnTo>
                  <a:pt x="422699" y="324359"/>
                </a:lnTo>
                <a:lnTo>
                  <a:pt x="491263" y="322236"/>
                </a:lnTo>
                <a:lnTo>
                  <a:pt x="556304" y="316090"/>
                </a:lnTo>
                <a:lnTo>
                  <a:pt x="616953" y="306256"/>
                </a:lnTo>
                <a:lnTo>
                  <a:pt x="672339" y="293067"/>
                </a:lnTo>
                <a:lnTo>
                  <a:pt x="721592" y="276857"/>
                </a:lnTo>
                <a:lnTo>
                  <a:pt x="763841" y="257960"/>
                </a:lnTo>
                <a:lnTo>
                  <a:pt x="798217" y="236710"/>
                </a:lnTo>
                <a:lnTo>
                  <a:pt x="839865" y="188485"/>
                </a:lnTo>
                <a:lnTo>
                  <a:pt x="845398" y="162179"/>
                </a:lnTo>
                <a:lnTo>
                  <a:pt x="839865" y="135872"/>
                </a:lnTo>
                <a:lnTo>
                  <a:pt x="798217" y="87648"/>
                </a:lnTo>
                <a:lnTo>
                  <a:pt x="763841" y="66398"/>
                </a:lnTo>
                <a:lnTo>
                  <a:pt x="721592" y="47501"/>
                </a:lnTo>
                <a:lnTo>
                  <a:pt x="672339" y="31291"/>
                </a:lnTo>
                <a:lnTo>
                  <a:pt x="616953" y="18102"/>
                </a:lnTo>
                <a:lnTo>
                  <a:pt x="556304" y="8267"/>
                </a:lnTo>
                <a:lnTo>
                  <a:pt x="491263" y="2122"/>
                </a:lnTo>
                <a:lnTo>
                  <a:pt x="4226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541685" y="5348359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0" y="162179"/>
                </a:moveTo>
                <a:lnTo>
                  <a:pt x="21549" y="110918"/>
                </a:lnTo>
                <a:lnTo>
                  <a:pt x="81556" y="66398"/>
                </a:lnTo>
                <a:lnTo>
                  <a:pt x="123805" y="47501"/>
                </a:lnTo>
                <a:lnTo>
                  <a:pt x="173058" y="31291"/>
                </a:lnTo>
                <a:lnTo>
                  <a:pt x="228444" y="18102"/>
                </a:lnTo>
                <a:lnTo>
                  <a:pt x="289093" y="8268"/>
                </a:lnTo>
                <a:lnTo>
                  <a:pt x="354135" y="2122"/>
                </a:lnTo>
                <a:lnTo>
                  <a:pt x="422699" y="0"/>
                </a:lnTo>
                <a:lnTo>
                  <a:pt x="491262" y="2122"/>
                </a:lnTo>
                <a:lnTo>
                  <a:pt x="556304" y="8268"/>
                </a:lnTo>
                <a:lnTo>
                  <a:pt x="616953" y="18102"/>
                </a:lnTo>
                <a:lnTo>
                  <a:pt x="672339" y="31291"/>
                </a:lnTo>
                <a:lnTo>
                  <a:pt x="721592" y="47501"/>
                </a:lnTo>
                <a:lnTo>
                  <a:pt x="763841" y="66398"/>
                </a:lnTo>
                <a:lnTo>
                  <a:pt x="798217" y="87648"/>
                </a:lnTo>
                <a:lnTo>
                  <a:pt x="839865" y="135873"/>
                </a:lnTo>
                <a:lnTo>
                  <a:pt x="845398" y="162179"/>
                </a:lnTo>
                <a:lnTo>
                  <a:pt x="839865" y="188485"/>
                </a:lnTo>
                <a:lnTo>
                  <a:pt x="798217" y="236710"/>
                </a:lnTo>
                <a:lnTo>
                  <a:pt x="763841" y="257960"/>
                </a:lnTo>
                <a:lnTo>
                  <a:pt x="721592" y="276857"/>
                </a:lnTo>
                <a:lnTo>
                  <a:pt x="672339" y="293067"/>
                </a:lnTo>
                <a:lnTo>
                  <a:pt x="616953" y="306256"/>
                </a:lnTo>
                <a:lnTo>
                  <a:pt x="556304" y="316090"/>
                </a:lnTo>
                <a:lnTo>
                  <a:pt x="491262" y="322236"/>
                </a:lnTo>
                <a:lnTo>
                  <a:pt x="422699" y="324359"/>
                </a:lnTo>
                <a:lnTo>
                  <a:pt x="354135" y="322236"/>
                </a:lnTo>
                <a:lnTo>
                  <a:pt x="289093" y="316090"/>
                </a:lnTo>
                <a:lnTo>
                  <a:pt x="228444" y="306256"/>
                </a:lnTo>
                <a:lnTo>
                  <a:pt x="173058" y="293067"/>
                </a:lnTo>
                <a:lnTo>
                  <a:pt x="123805" y="276857"/>
                </a:lnTo>
                <a:lnTo>
                  <a:pt x="81556" y="257960"/>
                </a:lnTo>
                <a:lnTo>
                  <a:pt x="47180" y="236710"/>
                </a:lnTo>
                <a:lnTo>
                  <a:pt x="5532" y="188485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7773281" y="5406644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5565686" y="4935018"/>
            <a:ext cx="245110" cy="400685"/>
          </a:xfrm>
          <a:custGeom>
            <a:avLst/>
            <a:gdLst/>
            <a:ahLst/>
            <a:cxnLst/>
            <a:rect l="l" t="t" r="r" b="b"/>
            <a:pathLst>
              <a:path w="245110" h="400685">
                <a:moveTo>
                  <a:pt x="244744" y="0"/>
                </a:moveTo>
                <a:lnTo>
                  <a:pt x="0" y="4003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565686" y="5645545"/>
            <a:ext cx="544830" cy="425450"/>
          </a:xfrm>
          <a:custGeom>
            <a:avLst/>
            <a:gdLst/>
            <a:ahLst/>
            <a:cxnLst/>
            <a:rect l="l" t="t" r="r" b="b"/>
            <a:pathLst>
              <a:path w="544829" h="425450">
                <a:moveTo>
                  <a:pt x="0" y="0"/>
                </a:moveTo>
                <a:lnTo>
                  <a:pt x="544337" y="42542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467586" y="4820396"/>
            <a:ext cx="387350" cy="3175"/>
          </a:xfrm>
          <a:custGeom>
            <a:avLst/>
            <a:gdLst/>
            <a:ahLst/>
            <a:cxnLst/>
            <a:rect l="l" t="t" r="r" b="b"/>
            <a:pathLst>
              <a:path w="387350" h="3175">
                <a:moveTo>
                  <a:pt x="386936" y="0"/>
                </a:moveTo>
                <a:lnTo>
                  <a:pt x="0" y="29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616236" y="4935074"/>
            <a:ext cx="348615" cy="413384"/>
          </a:xfrm>
          <a:custGeom>
            <a:avLst/>
            <a:gdLst/>
            <a:ahLst/>
            <a:cxnLst/>
            <a:rect l="l" t="t" r="r" b="b"/>
            <a:pathLst>
              <a:path w="348615" h="413385">
                <a:moveTo>
                  <a:pt x="348148" y="41328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917860" y="4935074"/>
            <a:ext cx="1067435" cy="445770"/>
          </a:xfrm>
          <a:custGeom>
            <a:avLst/>
            <a:gdLst/>
            <a:ahLst/>
            <a:cxnLst/>
            <a:rect l="l" t="t" r="r" b="b"/>
            <a:pathLst>
              <a:path w="1067434" h="445770">
                <a:moveTo>
                  <a:pt x="0" y="445748"/>
                </a:moveTo>
                <a:lnTo>
                  <a:pt x="10673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63736" y="5490474"/>
            <a:ext cx="1478280" cy="20320"/>
          </a:xfrm>
          <a:custGeom>
            <a:avLst/>
            <a:gdLst/>
            <a:ahLst/>
            <a:cxnLst/>
            <a:rect l="l" t="t" r="r" b="b"/>
            <a:pathLst>
              <a:path w="1478279" h="20320">
                <a:moveTo>
                  <a:pt x="1477949" y="20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397861" y="5672718"/>
            <a:ext cx="567055" cy="398780"/>
          </a:xfrm>
          <a:custGeom>
            <a:avLst/>
            <a:gdLst/>
            <a:ahLst/>
            <a:cxnLst/>
            <a:rect l="l" t="t" r="r" b="b"/>
            <a:pathLst>
              <a:path w="567054" h="398779">
                <a:moveTo>
                  <a:pt x="0" y="398249"/>
                </a:moveTo>
                <a:lnTo>
                  <a:pt x="56652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266444"/>
            <a:ext cx="777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E66C7D"/>
                </a:solidFill>
              </a:rPr>
              <a:t>Example </a:t>
            </a:r>
            <a:r>
              <a:rPr dirty="0">
                <a:solidFill>
                  <a:srgbClr val="E66C7D"/>
                </a:solidFill>
              </a:rPr>
              <a:t>of </a:t>
            </a:r>
            <a:r>
              <a:rPr dirty="0" spc="-5">
                <a:solidFill>
                  <a:srgbClr val="E66C7D"/>
                </a:solidFill>
              </a:rPr>
              <a:t>color </a:t>
            </a:r>
            <a:r>
              <a:rPr dirty="0" spc="-15">
                <a:solidFill>
                  <a:srgbClr val="E66C7D"/>
                </a:solidFill>
              </a:rPr>
              <a:t>refinement </a:t>
            </a:r>
            <a:r>
              <a:rPr dirty="0" spc="-10">
                <a:solidFill>
                  <a:srgbClr val="E66C7D"/>
                </a:solidFill>
              </a:rPr>
              <a:t>given two</a:t>
            </a:r>
            <a:r>
              <a:rPr dirty="0" spc="25">
                <a:solidFill>
                  <a:srgbClr val="E66C7D"/>
                </a:solidFill>
              </a:rPr>
              <a:t> </a:t>
            </a:r>
            <a:r>
              <a:rPr dirty="0" spc="-20">
                <a:solidFill>
                  <a:srgbClr val="E66C7D"/>
                </a:solidFill>
              </a:rPr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563" y="1838451"/>
            <a:ext cx="28848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Aggregated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3895851"/>
            <a:ext cx="36487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Hash </a:t>
            </a:r>
            <a:r>
              <a:rPr dirty="0" sz="2800" spc="-20">
                <a:latin typeface="Calibri"/>
                <a:cs typeface="Calibri"/>
              </a:rPr>
              <a:t>aggregated </a:t>
            </a:r>
            <a:r>
              <a:rPr dirty="0" sz="2800" spc="-110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9976" y="341375"/>
            <a:ext cx="5035296" cy="521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01081" y="463817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01081" y="463817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76032" y="464870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7934" y="462339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17934" y="4623399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92885" y="463346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69055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90" h="292100">
                <a:moveTo>
                  <a:pt x="144008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2"/>
                </a:lnTo>
                <a:lnTo>
                  <a:pt x="0" y="145942"/>
                </a:lnTo>
                <a:lnTo>
                  <a:pt x="7341" y="192071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8" y="291885"/>
                </a:lnTo>
                <a:lnTo>
                  <a:pt x="189526" y="284445"/>
                </a:lnTo>
                <a:lnTo>
                  <a:pt x="229058" y="263727"/>
                </a:lnTo>
                <a:lnTo>
                  <a:pt x="260232" y="232134"/>
                </a:lnTo>
                <a:lnTo>
                  <a:pt x="280675" y="192071"/>
                </a:lnTo>
                <a:lnTo>
                  <a:pt x="288017" y="145942"/>
                </a:lnTo>
                <a:lnTo>
                  <a:pt x="280675" y="99812"/>
                </a:lnTo>
                <a:lnTo>
                  <a:pt x="260232" y="59750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69055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90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244008" y="52339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01081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2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2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01081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76032" y="58435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43236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2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8" y="263727"/>
                </a:lnTo>
                <a:lnTo>
                  <a:pt x="98490" y="284445"/>
                </a:lnTo>
                <a:lnTo>
                  <a:pt x="144007" y="291885"/>
                </a:lnTo>
                <a:lnTo>
                  <a:pt x="189525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2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43236" y="583195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18187" y="58435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39552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0"/>
                </a:lnTo>
                <a:lnTo>
                  <a:pt x="7341" y="99812"/>
                </a:lnTo>
                <a:lnTo>
                  <a:pt x="0" y="145942"/>
                </a:lnTo>
                <a:lnTo>
                  <a:pt x="7341" y="192071"/>
                </a:lnTo>
                <a:lnTo>
                  <a:pt x="27785" y="232134"/>
                </a:lnTo>
                <a:lnTo>
                  <a:pt x="58959" y="263727"/>
                </a:lnTo>
                <a:lnTo>
                  <a:pt x="98491" y="284445"/>
                </a:lnTo>
                <a:lnTo>
                  <a:pt x="144009" y="291885"/>
                </a:lnTo>
                <a:lnTo>
                  <a:pt x="189526" y="284445"/>
                </a:lnTo>
                <a:lnTo>
                  <a:pt x="229058" y="263727"/>
                </a:lnTo>
                <a:lnTo>
                  <a:pt x="260231" y="232134"/>
                </a:lnTo>
                <a:lnTo>
                  <a:pt x="280675" y="192071"/>
                </a:lnTo>
                <a:lnTo>
                  <a:pt x="288016" y="145942"/>
                </a:lnTo>
                <a:lnTo>
                  <a:pt x="280675" y="99812"/>
                </a:lnTo>
                <a:lnTo>
                  <a:pt x="260231" y="59750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39552" y="522195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2914505" y="5233923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14894" y="4887319"/>
            <a:ext cx="228600" cy="377825"/>
          </a:xfrm>
          <a:custGeom>
            <a:avLst/>
            <a:gdLst/>
            <a:ahLst/>
            <a:cxnLst/>
            <a:rect l="l" t="t" r="r" b="b"/>
            <a:pathLst>
              <a:path w="228600" h="377825">
                <a:moveTo>
                  <a:pt x="228366" y="0"/>
                </a:moveTo>
                <a:lnTo>
                  <a:pt x="0" y="3773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414894" y="5471095"/>
            <a:ext cx="228600" cy="403860"/>
          </a:xfrm>
          <a:custGeom>
            <a:avLst/>
            <a:gdLst/>
            <a:ahLst/>
            <a:cxnLst/>
            <a:rect l="l" t="t" r="r" b="b"/>
            <a:pathLst>
              <a:path w="228600" h="403860">
                <a:moveTo>
                  <a:pt x="0" y="0"/>
                </a:moveTo>
                <a:lnTo>
                  <a:pt x="228366" y="4036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96707" y="4769342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63772" y="4872540"/>
            <a:ext cx="308610" cy="401320"/>
          </a:xfrm>
          <a:custGeom>
            <a:avLst/>
            <a:gdLst/>
            <a:ahLst/>
            <a:cxnLst/>
            <a:rect l="l" t="t" r="r" b="b"/>
            <a:pathLst>
              <a:path w="308610" h="401320">
                <a:moveTo>
                  <a:pt x="308443" y="4009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46918" y="4887320"/>
            <a:ext cx="993140" cy="480695"/>
          </a:xfrm>
          <a:custGeom>
            <a:avLst/>
            <a:gdLst/>
            <a:ahLst/>
            <a:cxnLst/>
            <a:rect l="l" t="t" r="r" b="b"/>
            <a:pathLst>
              <a:path w="993139" h="480695">
                <a:moveTo>
                  <a:pt x="992634" y="48057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57072" y="5367897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0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57072" y="5367897"/>
            <a:ext cx="928369" cy="507365"/>
          </a:xfrm>
          <a:custGeom>
            <a:avLst/>
            <a:gdLst/>
            <a:ahLst/>
            <a:cxnLst/>
            <a:rect l="l" t="t" r="r" b="b"/>
            <a:pathLst>
              <a:path w="928369" h="507364">
                <a:moveTo>
                  <a:pt x="928342" y="50680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20330" y="458705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6"/>
                </a:lnTo>
                <a:lnTo>
                  <a:pt x="29546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20330" y="458705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404413" y="459994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82631" y="457199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82631" y="457199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166714" y="458470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860914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7"/>
                </a:lnTo>
                <a:lnTo>
                  <a:pt x="29547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7" y="236492"/>
                </a:lnTo>
                <a:lnTo>
                  <a:pt x="62697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860914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944997" y="519734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20330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20330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404413" y="58160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09538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09538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193620" y="5816091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37322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37322" y="518178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721404" y="519734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122339" y="4840870"/>
            <a:ext cx="243204" cy="384810"/>
          </a:xfrm>
          <a:custGeom>
            <a:avLst/>
            <a:gdLst/>
            <a:ahLst/>
            <a:cxnLst/>
            <a:rect l="l" t="t" r="r" b="b"/>
            <a:pathLst>
              <a:path w="243204" h="384810">
                <a:moveTo>
                  <a:pt x="242845" y="0"/>
                </a:moveTo>
                <a:lnTo>
                  <a:pt x="0" y="3844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122338" y="5435601"/>
            <a:ext cx="243204" cy="411480"/>
          </a:xfrm>
          <a:custGeom>
            <a:avLst/>
            <a:gdLst/>
            <a:ahLst/>
            <a:cxnLst/>
            <a:rect l="l" t="t" r="r" b="b"/>
            <a:pathLst>
              <a:path w="243204" h="411479">
                <a:moveTo>
                  <a:pt x="0" y="0"/>
                </a:moveTo>
                <a:lnTo>
                  <a:pt x="242845" y="411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34698" y="4720677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 h="0">
                <a:moveTo>
                  <a:pt x="447933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344055" y="4825813"/>
            <a:ext cx="328295" cy="408940"/>
          </a:xfrm>
          <a:custGeom>
            <a:avLst/>
            <a:gdLst/>
            <a:ahLst/>
            <a:cxnLst/>
            <a:rect l="l" t="t" r="r" b="b"/>
            <a:pathLst>
              <a:path w="328295" h="408939">
                <a:moveTo>
                  <a:pt x="327998" y="4084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67192" y="4825813"/>
            <a:ext cx="960755" cy="504825"/>
          </a:xfrm>
          <a:custGeom>
            <a:avLst/>
            <a:gdLst/>
            <a:ahLst/>
            <a:cxnLst/>
            <a:rect l="l" t="t" r="r" b="b"/>
            <a:pathLst>
              <a:path w="960754" h="504825">
                <a:moveTo>
                  <a:pt x="960292" y="0"/>
                </a:moveTo>
                <a:lnTo>
                  <a:pt x="0" y="5046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67192" y="5330466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60" h="0">
                <a:moveTo>
                  <a:pt x="147013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370963" y="5435600"/>
            <a:ext cx="311785" cy="411480"/>
          </a:xfrm>
          <a:custGeom>
            <a:avLst/>
            <a:gdLst/>
            <a:ahLst/>
            <a:cxnLst/>
            <a:rect l="l" t="t" r="r" b="b"/>
            <a:pathLst>
              <a:path w="311785" h="411479">
                <a:moveTo>
                  <a:pt x="0" y="411185"/>
                </a:moveTo>
                <a:lnTo>
                  <a:pt x="3112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62139" y="4820906"/>
            <a:ext cx="2277110" cy="1275715"/>
          </a:xfrm>
          <a:custGeom>
            <a:avLst/>
            <a:gdLst/>
            <a:ahLst/>
            <a:cxnLst/>
            <a:rect l="l" t="t" r="r" b="b"/>
            <a:pathLst>
              <a:path w="2277109" h="1275714">
                <a:moveTo>
                  <a:pt x="0" y="0"/>
                </a:moveTo>
                <a:lnTo>
                  <a:pt x="2277061" y="0"/>
                </a:lnTo>
                <a:lnTo>
                  <a:pt x="2277061" y="1275335"/>
                </a:lnTo>
                <a:lnTo>
                  <a:pt x="0" y="127533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563001" y="4439411"/>
            <a:ext cx="12401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Hash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6713349" y="4930592"/>
          <a:ext cx="1581785" cy="95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3654"/>
                <a:gridCol w="542078"/>
                <a:gridCol w="305679"/>
              </a:tblGrid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1,1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64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64"/>
                        </a:lnSpc>
                      </a:pPr>
                      <a:r>
                        <a:rPr dirty="0" sz="160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95"/>
                        </a:lnSpc>
                      </a:pPr>
                      <a:r>
                        <a:rPr dirty="0" sz="1600" spc="-35">
                          <a:latin typeface="Arial"/>
                          <a:cs typeface="Arial"/>
                        </a:rPr>
                        <a:t>1,11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95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95"/>
                        </a:lnSpc>
                      </a:pPr>
                      <a:r>
                        <a:rPr dirty="0" sz="16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41300">
                <a:tc>
                  <a:txBody>
                    <a:bodyPr/>
                    <a:lstStyle/>
                    <a:p>
                      <a:pPr marL="31750">
                        <a:lnSpc>
                          <a:spcPts val="1810"/>
                        </a:lnSpc>
                      </a:pPr>
                      <a:r>
                        <a:rPr dirty="0" sz="1600" spc="-55">
                          <a:latin typeface="Arial"/>
                          <a:cs typeface="Arial"/>
                        </a:rPr>
                        <a:t>1,111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80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800"/>
                        </a:lnSpc>
                      </a:pPr>
                      <a:r>
                        <a:rPr dirty="0" sz="1600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80"/>
                        </a:lnSpc>
                      </a:pPr>
                      <a:r>
                        <a:rPr dirty="0" sz="1600" spc="-65">
                          <a:latin typeface="Arial"/>
                          <a:cs typeface="Arial"/>
                        </a:rPr>
                        <a:t>1,1111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80"/>
                        </a:lnSpc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--&gt;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780"/>
                        </a:lnSpc>
                      </a:pPr>
                      <a:r>
                        <a:rPr dirty="0" sz="160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9" name="object 59"/>
          <p:cNvSpPr/>
          <p:nvPr/>
        </p:nvSpPr>
        <p:spPr>
          <a:xfrm>
            <a:off x="1751338" y="2377718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4">
                <a:moveTo>
                  <a:pt x="451194" y="0"/>
                </a:moveTo>
                <a:lnTo>
                  <a:pt x="378008" y="1687"/>
                </a:lnTo>
                <a:lnTo>
                  <a:pt x="308581" y="6574"/>
                </a:lnTo>
                <a:lnTo>
                  <a:pt x="243844" y="14393"/>
                </a:lnTo>
                <a:lnTo>
                  <a:pt x="184724" y="24880"/>
                </a:lnTo>
                <a:lnTo>
                  <a:pt x="132151" y="37769"/>
                </a:lnTo>
                <a:lnTo>
                  <a:pt x="87054" y="52795"/>
                </a:lnTo>
                <a:lnTo>
                  <a:pt x="50361" y="69691"/>
                </a:lnTo>
                <a:lnTo>
                  <a:pt x="5905" y="108036"/>
                </a:lnTo>
                <a:lnTo>
                  <a:pt x="0" y="128953"/>
                </a:lnTo>
                <a:lnTo>
                  <a:pt x="5905" y="149870"/>
                </a:lnTo>
                <a:lnTo>
                  <a:pt x="50361" y="188215"/>
                </a:lnTo>
                <a:lnTo>
                  <a:pt x="87054" y="205112"/>
                </a:lnTo>
                <a:lnTo>
                  <a:pt x="132151" y="220138"/>
                </a:lnTo>
                <a:lnTo>
                  <a:pt x="184724" y="233027"/>
                </a:lnTo>
                <a:lnTo>
                  <a:pt x="243844" y="243514"/>
                </a:lnTo>
                <a:lnTo>
                  <a:pt x="308581" y="251333"/>
                </a:lnTo>
                <a:lnTo>
                  <a:pt x="378008" y="256220"/>
                </a:lnTo>
                <a:lnTo>
                  <a:pt x="451194" y="257907"/>
                </a:lnTo>
                <a:lnTo>
                  <a:pt x="524380" y="256220"/>
                </a:lnTo>
                <a:lnTo>
                  <a:pt x="593806" y="251333"/>
                </a:lnTo>
                <a:lnTo>
                  <a:pt x="658544" y="243514"/>
                </a:lnTo>
                <a:lnTo>
                  <a:pt x="717664" y="233027"/>
                </a:lnTo>
                <a:lnTo>
                  <a:pt x="770237" y="220138"/>
                </a:lnTo>
                <a:lnTo>
                  <a:pt x="815334" y="205112"/>
                </a:lnTo>
                <a:lnTo>
                  <a:pt x="852027" y="188215"/>
                </a:lnTo>
                <a:lnTo>
                  <a:pt x="896484" y="149870"/>
                </a:lnTo>
                <a:lnTo>
                  <a:pt x="902389" y="128953"/>
                </a:lnTo>
                <a:lnTo>
                  <a:pt x="896484" y="108036"/>
                </a:lnTo>
                <a:lnTo>
                  <a:pt x="852027" y="69691"/>
                </a:lnTo>
                <a:lnTo>
                  <a:pt x="815334" y="52795"/>
                </a:lnTo>
                <a:lnTo>
                  <a:pt x="770237" y="37769"/>
                </a:lnTo>
                <a:lnTo>
                  <a:pt x="717664" y="24880"/>
                </a:lnTo>
                <a:lnTo>
                  <a:pt x="658544" y="14393"/>
                </a:lnTo>
                <a:lnTo>
                  <a:pt x="593806" y="6574"/>
                </a:lnTo>
                <a:lnTo>
                  <a:pt x="524380" y="1687"/>
                </a:lnTo>
                <a:lnTo>
                  <a:pt x="45119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51338" y="2377718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4">
                <a:moveTo>
                  <a:pt x="0" y="128954"/>
                </a:moveTo>
                <a:lnTo>
                  <a:pt x="23002" y="88194"/>
                </a:lnTo>
                <a:lnTo>
                  <a:pt x="87054" y="52795"/>
                </a:lnTo>
                <a:lnTo>
                  <a:pt x="132151" y="37769"/>
                </a:lnTo>
                <a:lnTo>
                  <a:pt x="184724" y="24880"/>
                </a:lnTo>
                <a:lnTo>
                  <a:pt x="243844" y="14393"/>
                </a:lnTo>
                <a:lnTo>
                  <a:pt x="308582" y="6574"/>
                </a:lnTo>
                <a:lnTo>
                  <a:pt x="378008" y="1687"/>
                </a:lnTo>
                <a:lnTo>
                  <a:pt x="451194" y="0"/>
                </a:lnTo>
                <a:lnTo>
                  <a:pt x="524380" y="1687"/>
                </a:lnTo>
                <a:lnTo>
                  <a:pt x="593806" y="6574"/>
                </a:lnTo>
                <a:lnTo>
                  <a:pt x="658544" y="14393"/>
                </a:lnTo>
                <a:lnTo>
                  <a:pt x="717664" y="24880"/>
                </a:lnTo>
                <a:lnTo>
                  <a:pt x="770237" y="37769"/>
                </a:lnTo>
                <a:lnTo>
                  <a:pt x="815334" y="52795"/>
                </a:lnTo>
                <a:lnTo>
                  <a:pt x="852027" y="69692"/>
                </a:lnTo>
                <a:lnTo>
                  <a:pt x="896483" y="108036"/>
                </a:lnTo>
                <a:lnTo>
                  <a:pt x="902389" y="128954"/>
                </a:lnTo>
                <a:lnTo>
                  <a:pt x="896483" y="149871"/>
                </a:lnTo>
                <a:lnTo>
                  <a:pt x="852027" y="188215"/>
                </a:lnTo>
                <a:lnTo>
                  <a:pt x="815334" y="205112"/>
                </a:lnTo>
                <a:lnTo>
                  <a:pt x="770237" y="220138"/>
                </a:lnTo>
                <a:lnTo>
                  <a:pt x="717664" y="233027"/>
                </a:lnTo>
                <a:lnTo>
                  <a:pt x="658544" y="243514"/>
                </a:lnTo>
                <a:lnTo>
                  <a:pt x="593806" y="251333"/>
                </a:lnTo>
                <a:lnTo>
                  <a:pt x="524380" y="256220"/>
                </a:lnTo>
                <a:lnTo>
                  <a:pt x="451194" y="257908"/>
                </a:lnTo>
                <a:lnTo>
                  <a:pt x="378008" y="256220"/>
                </a:lnTo>
                <a:lnTo>
                  <a:pt x="308582" y="251333"/>
                </a:lnTo>
                <a:lnTo>
                  <a:pt x="243844" y="243514"/>
                </a:lnTo>
                <a:lnTo>
                  <a:pt x="184724" y="233027"/>
                </a:lnTo>
                <a:lnTo>
                  <a:pt x="132151" y="220138"/>
                </a:lnTo>
                <a:lnTo>
                  <a:pt x="87054" y="205112"/>
                </a:lnTo>
                <a:lnTo>
                  <a:pt x="50361" y="188215"/>
                </a:lnTo>
                <a:lnTo>
                  <a:pt x="5905" y="149871"/>
                </a:lnTo>
                <a:lnTo>
                  <a:pt x="0" y="12895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48707" y="2363402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362028" y="0"/>
                </a:moveTo>
                <a:lnTo>
                  <a:pt x="296953" y="2277"/>
                </a:lnTo>
                <a:lnTo>
                  <a:pt x="235705" y="8843"/>
                </a:lnTo>
                <a:lnTo>
                  <a:pt x="179306" y="19299"/>
                </a:lnTo>
                <a:lnTo>
                  <a:pt x="128778" y="33245"/>
                </a:lnTo>
                <a:lnTo>
                  <a:pt x="85144" y="50282"/>
                </a:lnTo>
                <a:lnTo>
                  <a:pt x="49427" y="70011"/>
                </a:lnTo>
                <a:lnTo>
                  <a:pt x="5832" y="115947"/>
                </a:lnTo>
                <a:lnTo>
                  <a:pt x="0" y="141356"/>
                </a:lnTo>
                <a:lnTo>
                  <a:pt x="5832" y="166765"/>
                </a:lnTo>
                <a:lnTo>
                  <a:pt x="49427" y="212701"/>
                </a:lnTo>
                <a:lnTo>
                  <a:pt x="85144" y="232430"/>
                </a:lnTo>
                <a:lnTo>
                  <a:pt x="128778" y="249467"/>
                </a:lnTo>
                <a:lnTo>
                  <a:pt x="179306" y="263413"/>
                </a:lnTo>
                <a:lnTo>
                  <a:pt x="235705" y="273868"/>
                </a:lnTo>
                <a:lnTo>
                  <a:pt x="296953" y="280434"/>
                </a:lnTo>
                <a:lnTo>
                  <a:pt x="362028" y="282712"/>
                </a:lnTo>
                <a:lnTo>
                  <a:pt x="427104" y="280434"/>
                </a:lnTo>
                <a:lnTo>
                  <a:pt x="488352" y="273868"/>
                </a:lnTo>
                <a:lnTo>
                  <a:pt x="544751" y="263413"/>
                </a:lnTo>
                <a:lnTo>
                  <a:pt x="595279" y="249467"/>
                </a:lnTo>
                <a:lnTo>
                  <a:pt x="638913" y="232430"/>
                </a:lnTo>
                <a:lnTo>
                  <a:pt x="674630" y="212701"/>
                </a:lnTo>
                <a:lnTo>
                  <a:pt x="718224" y="166765"/>
                </a:lnTo>
                <a:lnTo>
                  <a:pt x="724057" y="141356"/>
                </a:lnTo>
                <a:lnTo>
                  <a:pt x="718224" y="115947"/>
                </a:lnTo>
                <a:lnTo>
                  <a:pt x="674630" y="70011"/>
                </a:lnTo>
                <a:lnTo>
                  <a:pt x="638913" y="50282"/>
                </a:lnTo>
                <a:lnTo>
                  <a:pt x="595279" y="33245"/>
                </a:lnTo>
                <a:lnTo>
                  <a:pt x="544751" y="19299"/>
                </a:lnTo>
                <a:lnTo>
                  <a:pt x="488352" y="8843"/>
                </a:lnTo>
                <a:lnTo>
                  <a:pt x="427104" y="2277"/>
                </a:lnTo>
                <a:lnTo>
                  <a:pt x="36202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48707" y="2363402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0" y="141356"/>
                </a:moveTo>
                <a:lnTo>
                  <a:pt x="22649" y="92032"/>
                </a:lnTo>
                <a:lnTo>
                  <a:pt x="85144" y="50282"/>
                </a:lnTo>
                <a:lnTo>
                  <a:pt x="128778" y="33245"/>
                </a:lnTo>
                <a:lnTo>
                  <a:pt x="179305" y="19299"/>
                </a:lnTo>
                <a:lnTo>
                  <a:pt x="235705" y="8843"/>
                </a:lnTo>
                <a:lnTo>
                  <a:pt x="296953" y="2277"/>
                </a:lnTo>
                <a:lnTo>
                  <a:pt x="362028" y="0"/>
                </a:lnTo>
                <a:lnTo>
                  <a:pt x="427103" y="2277"/>
                </a:lnTo>
                <a:lnTo>
                  <a:pt x="488351" y="8843"/>
                </a:lnTo>
                <a:lnTo>
                  <a:pt x="544751" y="19299"/>
                </a:lnTo>
                <a:lnTo>
                  <a:pt x="595278" y="33245"/>
                </a:lnTo>
                <a:lnTo>
                  <a:pt x="638912" y="50282"/>
                </a:lnTo>
                <a:lnTo>
                  <a:pt x="674629" y="70010"/>
                </a:lnTo>
                <a:lnTo>
                  <a:pt x="718224" y="115947"/>
                </a:lnTo>
                <a:lnTo>
                  <a:pt x="724057" y="141356"/>
                </a:lnTo>
                <a:lnTo>
                  <a:pt x="718224" y="166764"/>
                </a:lnTo>
                <a:lnTo>
                  <a:pt x="674629" y="212701"/>
                </a:lnTo>
                <a:lnTo>
                  <a:pt x="638912" y="232429"/>
                </a:lnTo>
                <a:lnTo>
                  <a:pt x="595278" y="249466"/>
                </a:lnTo>
                <a:lnTo>
                  <a:pt x="544751" y="263412"/>
                </a:lnTo>
                <a:lnTo>
                  <a:pt x="488351" y="273868"/>
                </a:lnTo>
                <a:lnTo>
                  <a:pt x="427103" y="280434"/>
                </a:lnTo>
                <a:lnTo>
                  <a:pt x="362028" y="282712"/>
                </a:lnTo>
                <a:lnTo>
                  <a:pt x="296953" y="280434"/>
                </a:lnTo>
                <a:lnTo>
                  <a:pt x="235705" y="273868"/>
                </a:lnTo>
                <a:lnTo>
                  <a:pt x="179305" y="263412"/>
                </a:lnTo>
                <a:lnTo>
                  <a:pt x="128778" y="249466"/>
                </a:lnTo>
                <a:lnTo>
                  <a:pt x="85144" y="232429"/>
                </a:lnTo>
                <a:lnTo>
                  <a:pt x="49427" y="212701"/>
                </a:lnTo>
                <a:lnTo>
                  <a:pt x="5832" y="16676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2011429" y="2401316"/>
            <a:ext cx="1555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6665" algn="l"/>
              </a:tabLst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	</a:t>
            </a: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34990" y="294314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486270" y="0"/>
                </a:moveTo>
                <a:lnTo>
                  <a:pt x="414413" y="1532"/>
                </a:lnTo>
                <a:lnTo>
                  <a:pt x="345829" y="5984"/>
                </a:lnTo>
                <a:lnTo>
                  <a:pt x="281271" y="13138"/>
                </a:lnTo>
                <a:lnTo>
                  <a:pt x="221491" y="22773"/>
                </a:lnTo>
                <a:lnTo>
                  <a:pt x="167241" y="34672"/>
                </a:lnTo>
                <a:lnTo>
                  <a:pt x="119274" y="48616"/>
                </a:lnTo>
                <a:lnTo>
                  <a:pt x="78341" y="64386"/>
                </a:lnTo>
                <a:lnTo>
                  <a:pt x="20588" y="100530"/>
                </a:lnTo>
                <a:lnTo>
                  <a:pt x="0" y="141356"/>
                </a:lnTo>
                <a:lnTo>
                  <a:pt x="5272" y="162244"/>
                </a:lnTo>
                <a:lnTo>
                  <a:pt x="45195" y="200948"/>
                </a:lnTo>
                <a:lnTo>
                  <a:pt x="119274" y="234096"/>
                </a:lnTo>
                <a:lnTo>
                  <a:pt x="167241" y="248040"/>
                </a:lnTo>
                <a:lnTo>
                  <a:pt x="221491" y="259938"/>
                </a:lnTo>
                <a:lnTo>
                  <a:pt x="281271" y="269574"/>
                </a:lnTo>
                <a:lnTo>
                  <a:pt x="345829" y="276727"/>
                </a:lnTo>
                <a:lnTo>
                  <a:pt x="414413" y="281179"/>
                </a:lnTo>
                <a:lnTo>
                  <a:pt x="486270" y="282712"/>
                </a:lnTo>
                <a:lnTo>
                  <a:pt x="558128" y="281179"/>
                </a:lnTo>
                <a:lnTo>
                  <a:pt x="626712" y="276727"/>
                </a:lnTo>
                <a:lnTo>
                  <a:pt x="691270" y="269574"/>
                </a:lnTo>
                <a:lnTo>
                  <a:pt x="751050" y="259938"/>
                </a:lnTo>
                <a:lnTo>
                  <a:pt x="805300" y="248040"/>
                </a:lnTo>
                <a:lnTo>
                  <a:pt x="853268" y="234096"/>
                </a:lnTo>
                <a:lnTo>
                  <a:pt x="894201" y="218326"/>
                </a:lnTo>
                <a:lnTo>
                  <a:pt x="951954" y="182181"/>
                </a:lnTo>
                <a:lnTo>
                  <a:pt x="972542" y="141356"/>
                </a:lnTo>
                <a:lnTo>
                  <a:pt x="967270" y="120467"/>
                </a:lnTo>
                <a:lnTo>
                  <a:pt x="927347" y="81764"/>
                </a:lnTo>
                <a:lnTo>
                  <a:pt x="853268" y="48616"/>
                </a:lnTo>
                <a:lnTo>
                  <a:pt x="805300" y="34672"/>
                </a:lnTo>
                <a:lnTo>
                  <a:pt x="751050" y="22773"/>
                </a:lnTo>
                <a:lnTo>
                  <a:pt x="691270" y="13138"/>
                </a:lnTo>
                <a:lnTo>
                  <a:pt x="626712" y="5984"/>
                </a:lnTo>
                <a:lnTo>
                  <a:pt x="558128" y="1532"/>
                </a:lnTo>
                <a:lnTo>
                  <a:pt x="48627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034990" y="2943143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0" y="141356"/>
                </a:moveTo>
                <a:lnTo>
                  <a:pt x="20588" y="100530"/>
                </a:lnTo>
                <a:lnTo>
                  <a:pt x="78341" y="64386"/>
                </a:lnTo>
                <a:lnTo>
                  <a:pt x="119274" y="48616"/>
                </a:lnTo>
                <a:lnTo>
                  <a:pt x="167241" y="34672"/>
                </a:lnTo>
                <a:lnTo>
                  <a:pt x="221491" y="22773"/>
                </a:lnTo>
                <a:lnTo>
                  <a:pt x="281271" y="13137"/>
                </a:lnTo>
                <a:lnTo>
                  <a:pt x="345829" y="5984"/>
                </a:lnTo>
                <a:lnTo>
                  <a:pt x="414413" y="1532"/>
                </a:lnTo>
                <a:lnTo>
                  <a:pt x="486271" y="0"/>
                </a:lnTo>
                <a:lnTo>
                  <a:pt x="558128" y="1532"/>
                </a:lnTo>
                <a:lnTo>
                  <a:pt x="626712" y="5984"/>
                </a:lnTo>
                <a:lnTo>
                  <a:pt x="691270" y="13137"/>
                </a:lnTo>
                <a:lnTo>
                  <a:pt x="751050" y="22773"/>
                </a:lnTo>
                <a:lnTo>
                  <a:pt x="805300" y="34672"/>
                </a:lnTo>
                <a:lnTo>
                  <a:pt x="853268" y="48616"/>
                </a:lnTo>
                <a:lnTo>
                  <a:pt x="894200" y="64386"/>
                </a:lnTo>
                <a:lnTo>
                  <a:pt x="951953" y="100530"/>
                </a:lnTo>
                <a:lnTo>
                  <a:pt x="972542" y="141356"/>
                </a:lnTo>
                <a:lnTo>
                  <a:pt x="967269" y="162244"/>
                </a:lnTo>
                <a:lnTo>
                  <a:pt x="927346" y="200948"/>
                </a:lnTo>
                <a:lnTo>
                  <a:pt x="853268" y="234095"/>
                </a:lnTo>
                <a:lnTo>
                  <a:pt x="805300" y="248039"/>
                </a:lnTo>
                <a:lnTo>
                  <a:pt x="751050" y="259938"/>
                </a:lnTo>
                <a:lnTo>
                  <a:pt x="691270" y="269574"/>
                </a:lnTo>
                <a:lnTo>
                  <a:pt x="626712" y="276727"/>
                </a:lnTo>
                <a:lnTo>
                  <a:pt x="558128" y="281179"/>
                </a:lnTo>
                <a:lnTo>
                  <a:pt x="486271" y="282712"/>
                </a:lnTo>
                <a:lnTo>
                  <a:pt x="414413" y="281179"/>
                </a:lnTo>
                <a:lnTo>
                  <a:pt x="345829" y="276727"/>
                </a:lnTo>
                <a:lnTo>
                  <a:pt x="281271" y="269574"/>
                </a:lnTo>
                <a:lnTo>
                  <a:pt x="221491" y="259938"/>
                </a:lnTo>
                <a:lnTo>
                  <a:pt x="167241" y="248039"/>
                </a:lnTo>
                <a:lnTo>
                  <a:pt x="119274" y="234095"/>
                </a:lnTo>
                <a:lnTo>
                  <a:pt x="78341" y="218325"/>
                </a:lnTo>
                <a:lnTo>
                  <a:pt x="20588" y="182181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1293741" y="2980435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1992533" y="3580027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304665" y="0"/>
                </a:moveTo>
                <a:lnTo>
                  <a:pt x="243264" y="2871"/>
                </a:lnTo>
                <a:lnTo>
                  <a:pt x="186075" y="11108"/>
                </a:lnTo>
                <a:lnTo>
                  <a:pt x="134323" y="24141"/>
                </a:lnTo>
                <a:lnTo>
                  <a:pt x="89234" y="41402"/>
                </a:lnTo>
                <a:lnTo>
                  <a:pt x="52031" y="62322"/>
                </a:lnTo>
                <a:lnTo>
                  <a:pt x="6189" y="112867"/>
                </a:lnTo>
                <a:lnTo>
                  <a:pt x="0" y="141356"/>
                </a:lnTo>
                <a:lnTo>
                  <a:pt x="6189" y="169844"/>
                </a:lnTo>
                <a:lnTo>
                  <a:pt x="52031" y="220389"/>
                </a:lnTo>
                <a:lnTo>
                  <a:pt x="89234" y="241309"/>
                </a:lnTo>
                <a:lnTo>
                  <a:pt x="134323" y="258570"/>
                </a:lnTo>
                <a:lnTo>
                  <a:pt x="186075" y="271603"/>
                </a:lnTo>
                <a:lnTo>
                  <a:pt x="243264" y="279840"/>
                </a:lnTo>
                <a:lnTo>
                  <a:pt x="304665" y="282712"/>
                </a:lnTo>
                <a:lnTo>
                  <a:pt x="366066" y="279840"/>
                </a:lnTo>
                <a:lnTo>
                  <a:pt x="423255" y="271603"/>
                </a:lnTo>
                <a:lnTo>
                  <a:pt x="475006" y="258570"/>
                </a:lnTo>
                <a:lnTo>
                  <a:pt x="520096" y="241309"/>
                </a:lnTo>
                <a:lnTo>
                  <a:pt x="557298" y="220389"/>
                </a:lnTo>
                <a:lnTo>
                  <a:pt x="603141" y="169844"/>
                </a:lnTo>
                <a:lnTo>
                  <a:pt x="609330" y="141356"/>
                </a:lnTo>
                <a:lnTo>
                  <a:pt x="603141" y="112867"/>
                </a:lnTo>
                <a:lnTo>
                  <a:pt x="557298" y="62322"/>
                </a:lnTo>
                <a:lnTo>
                  <a:pt x="520096" y="41402"/>
                </a:lnTo>
                <a:lnTo>
                  <a:pt x="475006" y="24141"/>
                </a:lnTo>
                <a:lnTo>
                  <a:pt x="423255" y="11108"/>
                </a:lnTo>
                <a:lnTo>
                  <a:pt x="366066" y="2871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992533" y="3580027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0" y="141356"/>
                </a:moveTo>
                <a:lnTo>
                  <a:pt x="23942" y="86333"/>
                </a:lnTo>
                <a:lnTo>
                  <a:pt x="89234" y="41402"/>
                </a:lnTo>
                <a:lnTo>
                  <a:pt x="134324" y="24141"/>
                </a:lnTo>
                <a:lnTo>
                  <a:pt x="186075" y="11108"/>
                </a:lnTo>
                <a:lnTo>
                  <a:pt x="243264" y="2871"/>
                </a:lnTo>
                <a:lnTo>
                  <a:pt x="304665" y="0"/>
                </a:lnTo>
                <a:lnTo>
                  <a:pt x="366066" y="2871"/>
                </a:lnTo>
                <a:lnTo>
                  <a:pt x="423255" y="11108"/>
                </a:lnTo>
                <a:lnTo>
                  <a:pt x="475006" y="24141"/>
                </a:lnTo>
                <a:lnTo>
                  <a:pt x="520096" y="41402"/>
                </a:lnTo>
                <a:lnTo>
                  <a:pt x="557298" y="62322"/>
                </a:lnTo>
                <a:lnTo>
                  <a:pt x="603141" y="112867"/>
                </a:lnTo>
                <a:lnTo>
                  <a:pt x="609331" y="141356"/>
                </a:lnTo>
                <a:lnTo>
                  <a:pt x="603141" y="169844"/>
                </a:lnTo>
                <a:lnTo>
                  <a:pt x="557298" y="220389"/>
                </a:lnTo>
                <a:lnTo>
                  <a:pt x="520096" y="241309"/>
                </a:lnTo>
                <a:lnTo>
                  <a:pt x="475006" y="258570"/>
                </a:lnTo>
                <a:lnTo>
                  <a:pt x="423255" y="271603"/>
                </a:lnTo>
                <a:lnTo>
                  <a:pt x="366066" y="279840"/>
                </a:lnTo>
                <a:lnTo>
                  <a:pt x="304665" y="282712"/>
                </a:lnTo>
                <a:lnTo>
                  <a:pt x="243264" y="279840"/>
                </a:lnTo>
                <a:lnTo>
                  <a:pt x="186075" y="271603"/>
                </a:lnTo>
                <a:lnTo>
                  <a:pt x="134324" y="258570"/>
                </a:lnTo>
                <a:lnTo>
                  <a:pt x="89234" y="241309"/>
                </a:lnTo>
                <a:lnTo>
                  <a:pt x="52032" y="220389"/>
                </a:lnTo>
                <a:lnTo>
                  <a:pt x="6189" y="16984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2178930" y="3617467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3072014" y="3533975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297357" y="0"/>
                </a:moveTo>
                <a:lnTo>
                  <a:pt x="237429" y="3150"/>
                </a:lnTo>
                <a:lnTo>
                  <a:pt x="181612" y="12186"/>
                </a:lnTo>
                <a:lnTo>
                  <a:pt x="131102" y="26483"/>
                </a:lnTo>
                <a:lnTo>
                  <a:pt x="87094" y="45418"/>
                </a:lnTo>
                <a:lnTo>
                  <a:pt x="50784" y="68368"/>
                </a:lnTo>
                <a:lnTo>
                  <a:pt x="6041" y="123817"/>
                </a:lnTo>
                <a:lnTo>
                  <a:pt x="0" y="155069"/>
                </a:lnTo>
                <a:lnTo>
                  <a:pt x="6041" y="186321"/>
                </a:lnTo>
                <a:lnTo>
                  <a:pt x="50784" y="241771"/>
                </a:lnTo>
                <a:lnTo>
                  <a:pt x="87094" y="264721"/>
                </a:lnTo>
                <a:lnTo>
                  <a:pt x="131102" y="283656"/>
                </a:lnTo>
                <a:lnTo>
                  <a:pt x="181612" y="297954"/>
                </a:lnTo>
                <a:lnTo>
                  <a:pt x="237429" y="306989"/>
                </a:lnTo>
                <a:lnTo>
                  <a:pt x="297357" y="310140"/>
                </a:lnTo>
                <a:lnTo>
                  <a:pt x="357285" y="306989"/>
                </a:lnTo>
                <a:lnTo>
                  <a:pt x="413102" y="297954"/>
                </a:lnTo>
                <a:lnTo>
                  <a:pt x="463613" y="283656"/>
                </a:lnTo>
                <a:lnTo>
                  <a:pt x="507621" y="264721"/>
                </a:lnTo>
                <a:lnTo>
                  <a:pt x="543931" y="241771"/>
                </a:lnTo>
                <a:lnTo>
                  <a:pt x="588674" y="186321"/>
                </a:lnTo>
                <a:lnTo>
                  <a:pt x="594715" y="155069"/>
                </a:lnTo>
                <a:lnTo>
                  <a:pt x="588674" y="123817"/>
                </a:lnTo>
                <a:lnTo>
                  <a:pt x="543931" y="68368"/>
                </a:lnTo>
                <a:lnTo>
                  <a:pt x="507621" y="45418"/>
                </a:lnTo>
                <a:lnTo>
                  <a:pt x="463613" y="26483"/>
                </a:lnTo>
                <a:lnTo>
                  <a:pt x="413102" y="12186"/>
                </a:lnTo>
                <a:lnTo>
                  <a:pt x="357285" y="3150"/>
                </a:lnTo>
                <a:lnTo>
                  <a:pt x="29735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072014" y="3533975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0" y="155070"/>
                </a:moveTo>
                <a:lnTo>
                  <a:pt x="23367" y="94710"/>
                </a:lnTo>
                <a:lnTo>
                  <a:pt x="87094" y="45419"/>
                </a:lnTo>
                <a:lnTo>
                  <a:pt x="131102" y="26483"/>
                </a:lnTo>
                <a:lnTo>
                  <a:pt x="181612" y="12186"/>
                </a:lnTo>
                <a:lnTo>
                  <a:pt x="237429" y="3150"/>
                </a:lnTo>
                <a:lnTo>
                  <a:pt x="297358" y="0"/>
                </a:lnTo>
                <a:lnTo>
                  <a:pt x="357286" y="3150"/>
                </a:lnTo>
                <a:lnTo>
                  <a:pt x="413103" y="12186"/>
                </a:lnTo>
                <a:lnTo>
                  <a:pt x="463613" y="26483"/>
                </a:lnTo>
                <a:lnTo>
                  <a:pt x="507621" y="45419"/>
                </a:lnTo>
                <a:lnTo>
                  <a:pt x="543931" y="68369"/>
                </a:lnTo>
                <a:lnTo>
                  <a:pt x="588674" y="123818"/>
                </a:lnTo>
                <a:lnTo>
                  <a:pt x="594716" y="155070"/>
                </a:lnTo>
                <a:lnTo>
                  <a:pt x="588674" y="186322"/>
                </a:lnTo>
                <a:lnTo>
                  <a:pt x="543931" y="241771"/>
                </a:lnTo>
                <a:lnTo>
                  <a:pt x="507621" y="264721"/>
                </a:lnTo>
                <a:lnTo>
                  <a:pt x="463613" y="283657"/>
                </a:lnTo>
                <a:lnTo>
                  <a:pt x="413103" y="297954"/>
                </a:lnTo>
                <a:lnTo>
                  <a:pt x="357286" y="306990"/>
                </a:lnTo>
                <a:lnTo>
                  <a:pt x="297358" y="310141"/>
                </a:lnTo>
                <a:lnTo>
                  <a:pt x="237429" y="306990"/>
                </a:lnTo>
                <a:lnTo>
                  <a:pt x="181612" y="297954"/>
                </a:lnTo>
                <a:lnTo>
                  <a:pt x="131102" y="283657"/>
                </a:lnTo>
                <a:lnTo>
                  <a:pt x="87094" y="264721"/>
                </a:lnTo>
                <a:lnTo>
                  <a:pt x="50784" y="241771"/>
                </a:lnTo>
                <a:lnTo>
                  <a:pt x="6041" y="186322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3251103" y="3583940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3630148" y="2954233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434971" y="0"/>
                </a:moveTo>
                <a:lnTo>
                  <a:pt x="364416" y="2029"/>
                </a:lnTo>
                <a:lnTo>
                  <a:pt x="297486" y="7905"/>
                </a:lnTo>
                <a:lnTo>
                  <a:pt x="235076" y="17308"/>
                </a:lnTo>
                <a:lnTo>
                  <a:pt x="178082" y="29919"/>
                </a:lnTo>
                <a:lnTo>
                  <a:pt x="127400" y="45418"/>
                </a:lnTo>
                <a:lnTo>
                  <a:pt x="83924" y="63487"/>
                </a:lnTo>
                <a:lnTo>
                  <a:pt x="48550" y="83806"/>
                </a:lnTo>
                <a:lnTo>
                  <a:pt x="5693" y="129916"/>
                </a:lnTo>
                <a:lnTo>
                  <a:pt x="0" y="155069"/>
                </a:lnTo>
                <a:lnTo>
                  <a:pt x="5693" y="180222"/>
                </a:lnTo>
                <a:lnTo>
                  <a:pt x="48550" y="226333"/>
                </a:lnTo>
                <a:lnTo>
                  <a:pt x="83924" y="246652"/>
                </a:lnTo>
                <a:lnTo>
                  <a:pt x="127400" y="264721"/>
                </a:lnTo>
                <a:lnTo>
                  <a:pt x="178082" y="280220"/>
                </a:lnTo>
                <a:lnTo>
                  <a:pt x="235076" y="292831"/>
                </a:lnTo>
                <a:lnTo>
                  <a:pt x="297486" y="302234"/>
                </a:lnTo>
                <a:lnTo>
                  <a:pt x="364416" y="308110"/>
                </a:lnTo>
                <a:lnTo>
                  <a:pt x="434971" y="310140"/>
                </a:lnTo>
                <a:lnTo>
                  <a:pt x="505525" y="308110"/>
                </a:lnTo>
                <a:lnTo>
                  <a:pt x="572455" y="302234"/>
                </a:lnTo>
                <a:lnTo>
                  <a:pt x="634865" y="292831"/>
                </a:lnTo>
                <a:lnTo>
                  <a:pt x="691859" y="280220"/>
                </a:lnTo>
                <a:lnTo>
                  <a:pt x="742542" y="264721"/>
                </a:lnTo>
                <a:lnTo>
                  <a:pt x="786018" y="246652"/>
                </a:lnTo>
                <a:lnTo>
                  <a:pt x="821391" y="226333"/>
                </a:lnTo>
                <a:lnTo>
                  <a:pt x="864249" y="180222"/>
                </a:lnTo>
                <a:lnTo>
                  <a:pt x="869942" y="155069"/>
                </a:lnTo>
                <a:lnTo>
                  <a:pt x="864249" y="129916"/>
                </a:lnTo>
                <a:lnTo>
                  <a:pt x="821391" y="83806"/>
                </a:lnTo>
                <a:lnTo>
                  <a:pt x="786018" y="63487"/>
                </a:lnTo>
                <a:lnTo>
                  <a:pt x="742542" y="45418"/>
                </a:lnTo>
                <a:lnTo>
                  <a:pt x="691859" y="29919"/>
                </a:lnTo>
                <a:lnTo>
                  <a:pt x="634865" y="17308"/>
                </a:lnTo>
                <a:lnTo>
                  <a:pt x="572455" y="7905"/>
                </a:lnTo>
                <a:lnTo>
                  <a:pt x="505525" y="2029"/>
                </a:lnTo>
                <a:lnTo>
                  <a:pt x="43497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630148" y="2954233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0" y="155070"/>
                </a:moveTo>
                <a:lnTo>
                  <a:pt x="22175" y="106056"/>
                </a:lnTo>
                <a:lnTo>
                  <a:pt x="83924" y="63487"/>
                </a:lnTo>
                <a:lnTo>
                  <a:pt x="127400" y="45419"/>
                </a:lnTo>
                <a:lnTo>
                  <a:pt x="178082" y="29919"/>
                </a:lnTo>
                <a:lnTo>
                  <a:pt x="235077" y="17308"/>
                </a:lnTo>
                <a:lnTo>
                  <a:pt x="297486" y="7905"/>
                </a:lnTo>
                <a:lnTo>
                  <a:pt x="364416" y="2029"/>
                </a:lnTo>
                <a:lnTo>
                  <a:pt x="434971" y="0"/>
                </a:lnTo>
                <a:lnTo>
                  <a:pt x="505526" y="2029"/>
                </a:lnTo>
                <a:lnTo>
                  <a:pt x="572456" y="7905"/>
                </a:lnTo>
                <a:lnTo>
                  <a:pt x="634865" y="17308"/>
                </a:lnTo>
                <a:lnTo>
                  <a:pt x="691860" y="29919"/>
                </a:lnTo>
                <a:lnTo>
                  <a:pt x="742542" y="45419"/>
                </a:lnTo>
                <a:lnTo>
                  <a:pt x="786018" y="63487"/>
                </a:lnTo>
                <a:lnTo>
                  <a:pt x="821392" y="83806"/>
                </a:lnTo>
                <a:lnTo>
                  <a:pt x="864249" y="129917"/>
                </a:lnTo>
                <a:lnTo>
                  <a:pt x="869943" y="155070"/>
                </a:lnTo>
                <a:lnTo>
                  <a:pt x="864249" y="180223"/>
                </a:lnTo>
                <a:lnTo>
                  <a:pt x="821392" y="226334"/>
                </a:lnTo>
                <a:lnTo>
                  <a:pt x="786018" y="246653"/>
                </a:lnTo>
                <a:lnTo>
                  <a:pt x="742542" y="264721"/>
                </a:lnTo>
                <a:lnTo>
                  <a:pt x="691860" y="280221"/>
                </a:lnTo>
                <a:lnTo>
                  <a:pt x="634865" y="292832"/>
                </a:lnTo>
                <a:lnTo>
                  <a:pt x="572456" y="302235"/>
                </a:lnTo>
                <a:lnTo>
                  <a:pt x="505526" y="308111"/>
                </a:lnTo>
                <a:lnTo>
                  <a:pt x="434971" y="310141"/>
                </a:lnTo>
                <a:lnTo>
                  <a:pt x="364416" y="308111"/>
                </a:lnTo>
                <a:lnTo>
                  <a:pt x="297486" y="302235"/>
                </a:lnTo>
                <a:lnTo>
                  <a:pt x="235077" y="292832"/>
                </a:lnTo>
                <a:lnTo>
                  <a:pt x="178082" y="280221"/>
                </a:lnTo>
                <a:lnTo>
                  <a:pt x="127400" y="264721"/>
                </a:lnTo>
                <a:lnTo>
                  <a:pt x="83924" y="246653"/>
                </a:lnTo>
                <a:lnTo>
                  <a:pt x="48550" y="226334"/>
                </a:lnTo>
                <a:lnTo>
                  <a:pt x="5693" y="180223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3874017" y="3004820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1667625" y="2597856"/>
            <a:ext cx="215900" cy="356870"/>
          </a:xfrm>
          <a:custGeom>
            <a:avLst/>
            <a:gdLst/>
            <a:ahLst/>
            <a:cxnLst/>
            <a:rect l="l" t="t" r="r" b="b"/>
            <a:pathLst>
              <a:path w="215900" h="356869">
                <a:moveTo>
                  <a:pt x="215866" y="0"/>
                </a:moveTo>
                <a:lnTo>
                  <a:pt x="0" y="3563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521261" y="3225855"/>
            <a:ext cx="560705" cy="395605"/>
          </a:xfrm>
          <a:custGeom>
            <a:avLst/>
            <a:gdLst/>
            <a:ahLst/>
            <a:cxnLst/>
            <a:rect l="l" t="t" r="r" b="b"/>
            <a:pathLst>
              <a:path w="560705" h="395604">
                <a:moveTo>
                  <a:pt x="0" y="0"/>
                </a:moveTo>
                <a:lnTo>
                  <a:pt x="560505" y="39557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2660736" y="2504760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3879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666729" y="2604713"/>
            <a:ext cx="398780" cy="349885"/>
          </a:xfrm>
          <a:custGeom>
            <a:avLst/>
            <a:gdLst/>
            <a:ahLst/>
            <a:cxnLst/>
            <a:rect l="l" t="t" r="r" b="b"/>
            <a:pathLst>
              <a:path w="398779" h="349885">
                <a:moveTo>
                  <a:pt x="398392" y="34952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521576" y="2597856"/>
            <a:ext cx="1236345" cy="401955"/>
          </a:xfrm>
          <a:custGeom>
            <a:avLst/>
            <a:gdLst/>
            <a:ahLst/>
            <a:cxnLst/>
            <a:rect l="l" t="t" r="r" b="b"/>
            <a:pathLst>
              <a:path w="1236345" h="401955">
                <a:moveTo>
                  <a:pt x="1235972" y="40179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2007531" y="3084500"/>
            <a:ext cx="1623060" cy="25400"/>
          </a:xfrm>
          <a:custGeom>
            <a:avLst/>
            <a:gdLst/>
            <a:ahLst/>
            <a:cxnLst/>
            <a:rect l="l" t="t" r="r" b="b"/>
            <a:pathLst>
              <a:path w="1623060" h="25400">
                <a:moveTo>
                  <a:pt x="1622617" y="2480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865107" y="3184454"/>
            <a:ext cx="1294130" cy="394970"/>
          </a:xfrm>
          <a:custGeom>
            <a:avLst/>
            <a:gdLst/>
            <a:ahLst/>
            <a:cxnLst/>
            <a:rect l="l" t="t" r="r" b="b"/>
            <a:pathLst>
              <a:path w="1294130" h="394970">
                <a:moveTo>
                  <a:pt x="1294000" y="3949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711759" y="226659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380856" y="0"/>
                </a:moveTo>
                <a:lnTo>
                  <a:pt x="312397" y="2454"/>
                </a:lnTo>
                <a:lnTo>
                  <a:pt x="247963" y="9531"/>
                </a:lnTo>
                <a:lnTo>
                  <a:pt x="188630" y="20800"/>
                </a:lnTo>
                <a:lnTo>
                  <a:pt x="135475" y="35831"/>
                </a:lnTo>
                <a:lnTo>
                  <a:pt x="89572" y="54193"/>
                </a:lnTo>
                <a:lnTo>
                  <a:pt x="51998" y="75457"/>
                </a:lnTo>
                <a:lnTo>
                  <a:pt x="6136" y="124966"/>
                </a:lnTo>
                <a:lnTo>
                  <a:pt x="0" y="152351"/>
                </a:lnTo>
                <a:lnTo>
                  <a:pt x="6136" y="179737"/>
                </a:lnTo>
                <a:lnTo>
                  <a:pt x="51998" y="229246"/>
                </a:lnTo>
                <a:lnTo>
                  <a:pt x="89572" y="250509"/>
                </a:lnTo>
                <a:lnTo>
                  <a:pt x="135475" y="268871"/>
                </a:lnTo>
                <a:lnTo>
                  <a:pt x="188630" y="283902"/>
                </a:lnTo>
                <a:lnTo>
                  <a:pt x="247963" y="295170"/>
                </a:lnTo>
                <a:lnTo>
                  <a:pt x="312397" y="302247"/>
                </a:lnTo>
                <a:lnTo>
                  <a:pt x="380856" y="304702"/>
                </a:lnTo>
                <a:lnTo>
                  <a:pt x="449315" y="302247"/>
                </a:lnTo>
                <a:lnTo>
                  <a:pt x="513749" y="295170"/>
                </a:lnTo>
                <a:lnTo>
                  <a:pt x="573082" y="283902"/>
                </a:lnTo>
                <a:lnTo>
                  <a:pt x="626238" y="268871"/>
                </a:lnTo>
                <a:lnTo>
                  <a:pt x="672141" y="250509"/>
                </a:lnTo>
                <a:lnTo>
                  <a:pt x="709715" y="229246"/>
                </a:lnTo>
                <a:lnTo>
                  <a:pt x="755578" y="179737"/>
                </a:lnTo>
                <a:lnTo>
                  <a:pt x="761714" y="152351"/>
                </a:lnTo>
                <a:lnTo>
                  <a:pt x="755578" y="124966"/>
                </a:lnTo>
                <a:lnTo>
                  <a:pt x="709715" y="75457"/>
                </a:lnTo>
                <a:lnTo>
                  <a:pt x="672141" y="54193"/>
                </a:lnTo>
                <a:lnTo>
                  <a:pt x="626238" y="35831"/>
                </a:lnTo>
                <a:lnTo>
                  <a:pt x="573082" y="20800"/>
                </a:lnTo>
                <a:lnTo>
                  <a:pt x="513749" y="9531"/>
                </a:lnTo>
                <a:lnTo>
                  <a:pt x="449315" y="2454"/>
                </a:lnTo>
                <a:lnTo>
                  <a:pt x="3808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5711759" y="226659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351"/>
                </a:moveTo>
                <a:lnTo>
                  <a:pt x="23827" y="99190"/>
                </a:lnTo>
                <a:lnTo>
                  <a:pt x="89572" y="54193"/>
                </a:lnTo>
                <a:lnTo>
                  <a:pt x="135475" y="35831"/>
                </a:lnTo>
                <a:lnTo>
                  <a:pt x="188631" y="20800"/>
                </a:lnTo>
                <a:lnTo>
                  <a:pt x="247963" y="9531"/>
                </a:lnTo>
                <a:lnTo>
                  <a:pt x="312397" y="2454"/>
                </a:lnTo>
                <a:lnTo>
                  <a:pt x="380857" y="0"/>
                </a:lnTo>
                <a:lnTo>
                  <a:pt x="449316" y="2454"/>
                </a:lnTo>
                <a:lnTo>
                  <a:pt x="513750" y="9531"/>
                </a:lnTo>
                <a:lnTo>
                  <a:pt x="573082" y="20800"/>
                </a:lnTo>
                <a:lnTo>
                  <a:pt x="626238" y="35831"/>
                </a:lnTo>
                <a:lnTo>
                  <a:pt x="672141" y="54193"/>
                </a:lnTo>
                <a:lnTo>
                  <a:pt x="709715" y="75456"/>
                </a:lnTo>
                <a:lnTo>
                  <a:pt x="755577" y="124965"/>
                </a:lnTo>
                <a:lnTo>
                  <a:pt x="761714" y="152351"/>
                </a:lnTo>
                <a:lnTo>
                  <a:pt x="755577" y="179736"/>
                </a:lnTo>
                <a:lnTo>
                  <a:pt x="709715" y="229245"/>
                </a:lnTo>
                <a:lnTo>
                  <a:pt x="672141" y="250508"/>
                </a:lnTo>
                <a:lnTo>
                  <a:pt x="626238" y="268870"/>
                </a:lnTo>
                <a:lnTo>
                  <a:pt x="573082" y="283901"/>
                </a:lnTo>
                <a:lnTo>
                  <a:pt x="513750" y="295170"/>
                </a:lnTo>
                <a:lnTo>
                  <a:pt x="449316" y="302247"/>
                </a:lnTo>
                <a:lnTo>
                  <a:pt x="380857" y="304702"/>
                </a:lnTo>
                <a:lnTo>
                  <a:pt x="312397" y="302247"/>
                </a:lnTo>
                <a:lnTo>
                  <a:pt x="247963" y="295170"/>
                </a:lnTo>
                <a:lnTo>
                  <a:pt x="188631" y="283901"/>
                </a:lnTo>
                <a:lnTo>
                  <a:pt x="135475" y="268870"/>
                </a:lnTo>
                <a:lnTo>
                  <a:pt x="89572" y="250508"/>
                </a:lnTo>
                <a:lnTo>
                  <a:pt x="51998" y="229245"/>
                </a:lnTo>
                <a:lnTo>
                  <a:pt x="6136" y="179736"/>
                </a:lnTo>
                <a:lnTo>
                  <a:pt x="0" y="152351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867401" y="2249868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446201" y="0"/>
                </a:moveTo>
                <a:lnTo>
                  <a:pt x="380265" y="1758"/>
                </a:lnTo>
                <a:lnTo>
                  <a:pt x="317333" y="6866"/>
                </a:lnTo>
                <a:lnTo>
                  <a:pt x="258094" y="15073"/>
                </a:lnTo>
                <a:lnTo>
                  <a:pt x="203240" y="26128"/>
                </a:lnTo>
                <a:lnTo>
                  <a:pt x="153461" y="39780"/>
                </a:lnTo>
                <a:lnTo>
                  <a:pt x="109446" y="55778"/>
                </a:lnTo>
                <a:lnTo>
                  <a:pt x="71886" y="73871"/>
                </a:lnTo>
                <a:lnTo>
                  <a:pt x="18891" y="115339"/>
                </a:lnTo>
                <a:lnTo>
                  <a:pt x="0" y="162179"/>
                </a:lnTo>
                <a:lnTo>
                  <a:pt x="4837" y="186144"/>
                </a:lnTo>
                <a:lnTo>
                  <a:pt x="41471" y="230549"/>
                </a:lnTo>
                <a:lnTo>
                  <a:pt x="109446" y="268580"/>
                </a:lnTo>
                <a:lnTo>
                  <a:pt x="153461" y="284578"/>
                </a:lnTo>
                <a:lnTo>
                  <a:pt x="203240" y="298230"/>
                </a:lnTo>
                <a:lnTo>
                  <a:pt x="258094" y="309284"/>
                </a:lnTo>
                <a:lnTo>
                  <a:pt x="317333" y="317491"/>
                </a:lnTo>
                <a:lnTo>
                  <a:pt x="380265" y="322599"/>
                </a:lnTo>
                <a:lnTo>
                  <a:pt x="446201" y="324358"/>
                </a:lnTo>
                <a:lnTo>
                  <a:pt x="512138" y="322599"/>
                </a:lnTo>
                <a:lnTo>
                  <a:pt x="575070" y="317491"/>
                </a:lnTo>
                <a:lnTo>
                  <a:pt x="634309" y="309284"/>
                </a:lnTo>
                <a:lnTo>
                  <a:pt x="689163" y="298230"/>
                </a:lnTo>
                <a:lnTo>
                  <a:pt x="738943" y="284578"/>
                </a:lnTo>
                <a:lnTo>
                  <a:pt x="782957" y="268580"/>
                </a:lnTo>
                <a:lnTo>
                  <a:pt x="820517" y="250487"/>
                </a:lnTo>
                <a:lnTo>
                  <a:pt x="873511" y="209018"/>
                </a:lnTo>
                <a:lnTo>
                  <a:pt x="892403" y="162179"/>
                </a:lnTo>
                <a:lnTo>
                  <a:pt x="887565" y="138213"/>
                </a:lnTo>
                <a:lnTo>
                  <a:pt x="850932" y="93808"/>
                </a:lnTo>
                <a:lnTo>
                  <a:pt x="782957" y="55778"/>
                </a:lnTo>
                <a:lnTo>
                  <a:pt x="738943" y="39780"/>
                </a:lnTo>
                <a:lnTo>
                  <a:pt x="689163" y="26128"/>
                </a:lnTo>
                <a:lnTo>
                  <a:pt x="634309" y="15073"/>
                </a:lnTo>
                <a:lnTo>
                  <a:pt x="575070" y="6866"/>
                </a:lnTo>
                <a:lnTo>
                  <a:pt x="512138" y="1758"/>
                </a:lnTo>
                <a:lnTo>
                  <a:pt x="4462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867401" y="2249868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0" y="162179"/>
                </a:moveTo>
                <a:lnTo>
                  <a:pt x="18891" y="115339"/>
                </a:lnTo>
                <a:lnTo>
                  <a:pt x="71885" y="73870"/>
                </a:lnTo>
                <a:lnTo>
                  <a:pt x="109445" y="55777"/>
                </a:lnTo>
                <a:lnTo>
                  <a:pt x="153460" y="39779"/>
                </a:lnTo>
                <a:lnTo>
                  <a:pt x="203240" y="26128"/>
                </a:lnTo>
                <a:lnTo>
                  <a:pt x="258094" y="15073"/>
                </a:lnTo>
                <a:lnTo>
                  <a:pt x="317332" y="6866"/>
                </a:lnTo>
                <a:lnTo>
                  <a:pt x="380265" y="1758"/>
                </a:lnTo>
                <a:lnTo>
                  <a:pt x="446202" y="0"/>
                </a:lnTo>
                <a:lnTo>
                  <a:pt x="512138" y="1758"/>
                </a:lnTo>
                <a:lnTo>
                  <a:pt x="575071" y="6866"/>
                </a:lnTo>
                <a:lnTo>
                  <a:pt x="634309" y="15073"/>
                </a:lnTo>
                <a:lnTo>
                  <a:pt x="689163" y="26128"/>
                </a:lnTo>
                <a:lnTo>
                  <a:pt x="738943" y="39779"/>
                </a:lnTo>
                <a:lnTo>
                  <a:pt x="782958" y="55777"/>
                </a:lnTo>
                <a:lnTo>
                  <a:pt x="820518" y="73870"/>
                </a:lnTo>
                <a:lnTo>
                  <a:pt x="873512" y="115339"/>
                </a:lnTo>
                <a:lnTo>
                  <a:pt x="892404" y="162179"/>
                </a:lnTo>
                <a:lnTo>
                  <a:pt x="887566" y="186144"/>
                </a:lnTo>
                <a:lnTo>
                  <a:pt x="850932" y="230549"/>
                </a:lnTo>
                <a:lnTo>
                  <a:pt x="782958" y="268580"/>
                </a:lnTo>
                <a:lnTo>
                  <a:pt x="738943" y="284578"/>
                </a:lnTo>
                <a:lnTo>
                  <a:pt x="689163" y="298229"/>
                </a:lnTo>
                <a:lnTo>
                  <a:pt x="634309" y="309284"/>
                </a:lnTo>
                <a:lnTo>
                  <a:pt x="575071" y="317491"/>
                </a:lnTo>
                <a:lnTo>
                  <a:pt x="512138" y="322599"/>
                </a:lnTo>
                <a:lnTo>
                  <a:pt x="446202" y="324358"/>
                </a:lnTo>
                <a:lnTo>
                  <a:pt x="380265" y="322599"/>
                </a:lnTo>
                <a:lnTo>
                  <a:pt x="317332" y="317491"/>
                </a:lnTo>
                <a:lnTo>
                  <a:pt x="258094" y="309284"/>
                </a:lnTo>
                <a:lnTo>
                  <a:pt x="203240" y="298229"/>
                </a:lnTo>
                <a:lnTo>
                  <a:pt x="153460" y="284578"/>
                </a:lnTo>
                <a:lnTo>
                  <a:pt x="109445" y="268580"/>
                </a:lnTo>
                <a:lnTo>
                  <a:pt x="71885" y="250487"/>
                </a:lnTo>
                <a:lnTo>
                  <a:pt x="18891" y="209018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 txBox="1"/>
          <p:nvPr/>
        </p:nvSpPr>
        <p:spPr>
          <a:xfrm>
            <a:off x="5937929" y="2315971"/>
            <a:ext cx="15678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6975" algn="l"/>
              </a:tabLst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1	</a:t>
            </a:r>
            <a:r>
              <a:rPr dirty="0" baseline="2314" sz="1800" spc="-7">
                <a:latin typeface="Arial"/>
                <a:cs typeface="Arial"/>
              </a:rPr>
              <a:t>1</a:t>
            </a:r>
            <a:r>
              <a:rPr dirty="0" baseline="2314" sz="1800">
                <a:latin typeface="Arial"/>
                <a:cs typeface="Arial"/>
              </a:rPr>
              <a:t>,</a:t>
            </a:r>
            <a:r>
              <a:rPr dirty="0" baseline="2314" sz="1800" spc="-142">
                <a:latin typeface="Arial"/>
                <a:cs typeface="Arial"/>
              </a:rPr>
              <a:t>11</a:t>
            </a:r>
            <a:r>
              <a:rPr dirty="0" baseline="2314" sz="1800">
                <a:latin typeface="Arial"/>
                <a:cs typeface="Arial"/>
              </a:rPr>
              <a:t>1</a:t>
            </a:r>
            <a:endParaRPr baseline="2314" sz="18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080514" y="2927055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498050" y="0"/>
                </a:moveTo>
                <a:lnTo>
                  <a:pt x="430468" y="1415"/>
                </a:lnTo>
                <a:lnTo>
                  <a:pt x="365648" y="5539"/>
                </a:lnTo>
                <a:lnTo>
                  <a:pt x="304186" y="12186"/>
                </a:lnTo>
                <a:lnTo>
                  <a:pt x="246674" y="21171"/>
                </a:lnTo>
                <a:lnTo>
                  <a:pt x="193706" y="32311"/>
                </a:lnTo>
                <a:lnTo>
                  <a:pt x="145875" y="45419"/>
                </a:lnTo>
                <a:lnTo>
                  <a:pt x="103774" y="60311"/>
                </a:lnTo>
                <a:lnTo>
                  <a:pt x="67998" y="76803"/>
                </a:lnTo>
                <a:lnTo>
                  <a:pt x="17790" y="113847"/>
                </a:lnTo>
                <a:lnTo>
                  <a:pt x="0" y="155070"/>
                </a:lnTo>
                <a:lnTo>
                  <a:pt x="4546" y="176113"/>
                </a:lnTo>
                <a:lnTo>
                  <a:pt x="39139" y="215431"/>
                </a:lnTo>
                <a:lnTo>
                  <a:pt x="103774" y="249830"/>
                </a:lnTo>
                <a:lnTo>
                  <a:pt x="145875" y="264722"/>
                </a:lnTo>
                <a:lnTo>
                  <a:pt x="193706" y="277830"/>
                </a:lnTo>
                <a:lnTo>
                  <a:pt x="246674" y="288970"/>
                </a:lnTo>
                <a:lnTo>
                  <a:pt x="304186" y="297955"/>
                </a:lnTo>
                <a:lnTo>
                  <a:pt x="365648" y="304602"/>
                </a:lnTo>
                <a:lnTo>
                  <a:pt x="430468" y="308726"/>
                </a:lnTo>
                <a:lnTo>
                  <a:pt x="498050" y="310141"/>
                </a:lnTo>
                <a:lnTo>
                  <a:pt x="565633" y="308726"/>
                </a:lnTo>
                <a:lnTo>
                  <a:pt x="630452" y="304602"/>
                </a:lnTo>
                <a:lnTo>
                  <a:pt x="691914" y="297955"/>
                </a:lnTo>
                <a:lnTo>
                  <a:pt x="749426" y="288970"/>
                </a:lnTo>
                <a:lnTo>
                  <a:pt x="802394" y="277830"/>
                </a:lnTo>
                <a:lnTo>
                  <a:pt x="850225" y="264722"/>
                </a:lnTo>
                <a:lnTo>
                  <a:pt x="892326" y="249830"/>
                </a:lnTo>
                <a:lnTo>
                  <a:pt x="928103" y="233338"/>
                </a:lnTo>
                <a:lnTo>
                  <a:pt x="978310" y="196294"/>
                </a:lnTo>
                <a:lnTo>
                  <a:pt x="996101" y="155070"/>
                </a:lnTo>
                <a:lnTo>
                  <a:pt x="991555" y="134028"/>
                </a:lnTo>
                <a:lnTo>
                  <a:pt x="956962" y="94710"/>
                </a:lnTo>
                <a:lnTo>
                  <a:pt x="892326" y="60311"/>
                </a:lnTo>
                <a:lnTo>
                  <a:pt x="850225" y="45419"/>
                </a:lnTo>
                <a:lnTo>
                  <a:pt x="802394" y="32311"/>
                </a:lnTo>
                <a:lnTo>
                  <a:pt x="749426" y="21171"/>
                </a:lnTo>
                <a:lnTo>
                  <a:pt x="691914" y="12186"/>
                </a:lnTo>
                <a:lnTo>
                  <a:pt x="630452" y="5539"/>
                </a:lnTo>
                <a:lnTo>
                  <a:pt x="565633" y="1415"/>
                </a:lnTo>
                <a:lnTo>
                  <a:pt x="4980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080514" y="2927055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0" y="155070"/>
                </a:moveTo>
                <a:lnTo>
                  <a:pt x="17790" y="113846"/>
                </a:lnTo>
                <a:lnTo>
                  <a:pt x="67998" y="76803"/>
                </a:lnTo>
                <a:lnTo>
                  <a:pt x="103775" y="60311"/>
                </a:lnTo>
                <a:lnTo>
                  <a:pt x="145875" y="45419"/>
                </a:lnTo>
                <a:lnTo>
                  <a:pt x="193706" y="32310"/>
                </a:lnTo>
                <a:lnTo>
                  <a:pt x="246675" y="21171"/>
                </a:lnTo>
                <a:lnTo>
                  <a:pt x="304187" y="12186"/>
                </a:lnTo>
                <a:lnTo>
                  <a:pt x="365649" y="5539"/>
                </a:lnTo>
                <a:lnTo>
                  <a:pt x="430468" y="1415"/>
                </a:lnTo>
                <a:lnTo>
                  <a:pt x="498051" y="0"/>
                </a:lnTo>
                <a:lnTo>
                  <a:pt x="565633" y="1415"/>
                </a:lnTo>
                <a:lnTo>
                  <a:pt x="630452" y="5539"/>
                </a:lnTo>
                <a:lnTo>
                  <a:pt x="691914" y="12186"/>
                </a:lnTo>
                <a:lnTo>
                  <a:pt x="749426" y="21171"/>
                </a:lnTo>
                <a:lnTo>
                  <a:pt x="802395" y="32310"/>
                </a:lnTo>
                <a:lnTo>
                  <a:pt x="850226" y="45419"/>
                </a:lnTo>
                <a:lnTo>
                  <a:pt x="892326" y="60311"/>
                </a:lnTo>
                <a:lnTo>
                  <a:pt x="928103" y="76803"/>
                </a:lnTo>
                <a:lnTo>
                  <a:pt x="978311" y="113846"/>
                </a:lnTo>
                <a:lnTo>
                  <a:pt x="996102" y="155070"/>
                </a:lnTo>
                <a:lnTo>
                  <a:pt x="991555" y="176112"/>
                </a:lnTo>
                <a:lnTo>
                  <a:pt x="956962" y="215430"/>
                </a:lnTo>
                <a:lnTo>
                  <a:pt x="892326" y="249829"/>
                </a:lnTo>
                <a:lnTo>
                  <a:pt x="850226" y="264721"/>
                </a:lnTo>
                <a:lnTo>
                  <a:pt x="802395" y="277830"/>
                </a:lnTo>
                <a:lnTo>
                  <a:pt x="749426" y="288969"/>
                </a:lnTo>
                <a:lnTo>
                  <a:pt x="691914" y="297954"/>
                </a:lnTo>
                <a:lnTo>
                  <a:pt x="630452" y="304601"/>
                </a:lnTo>
                <a:lnTo>
                  <a:pt x="565633" y="308725"/>
                </a:lnTo>
                <a:lnTo>
                  <a:pt x="498051" y="310141"/>
                </a:lnTo>
                <a:lnTo>
                  <a:pt x="430468" y="308725"/>
                </a:lnTo>
                <a:lnTo>
                  <a:pt x="365649" y="304601"/>
                </a:lnTo>
                <a:lnTo>
                  <a:pt x="304187" y="297954"/>
                </a:lnTo>
                <a:lnTo>
                  <a:pt x="246675" y="288969"/>
                </a:lnTo>
                <a:lnTo>
                  <a:pt x="193706" y="277830"/>
                </a:lnTo>
                <a:lnTo>
                  <a:pt x="145875" y="264721"/>
                </a:lnTo>
                <a:lnTo>
                  <a:pt x="103775" y="249829"/>
                </a:lnTo>
                <a:lnTo>
                  <a:pt x="67998" y="233337"/>
                </a:lnTo>
                <a:lnTo>
                  <a:pt x="17790" y="196294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5351043" y="2977388"/>
            <a:ext cx="4559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033668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4" y="0"/>
                </a:moveTo>
                <a:lnTo>
                  <a:pt x="243263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2"/>
                </a:lnTo>
                <a:lnTo>
                  <a:pt x="89234" y="264722"/>
                </a:lnTo>
                <a:lnTo>
                  <a:pt x="134323" y="283657"/>
                </a:lnTo>
                <a:lnTo>
                  <a:pt x="186075" y="297955"/>
                </a:lnTo>
                <a:lnTo>
                  <a:pt x="243263" y="306991"/>
                </a:lnTo>
                <a:lnTo>
                  <a:pt x="304664" y="310141"/>
                </a:lnTo>
                <a:lnTo>
                  <a:pt x="366064" y="306991"/>
                </a:lnTo>
                <a:lnTo>
                  <a:pt x="423253" y="297955"/>
                </a:lnTo>
                <a:lnTo>
                  <a:pt x="475005" y="283657"/>
                </a:lnTo>
                <a:lnTo>
                  <a:pt x="520095" y="264722"/>
                </a:lnTo>
                <a:lnTo>
                  <a:pt x="557297" y="241772"/>
                </a:lnTo>
                <a:lnTo>
                  <a:pt x="585387" y="215431"/>
                </a:lnTo>
                <a:lnTo>
                  <a:pt x="609329" y="155070"/>
                </a:lnTo>
                <a:lnTo>
                  <a:pt x="603139" y="123818"/>
                </a:lnTo>
                <a:lnTo>
                  <a:pt x="557297" y="68369"/>
                </a:lnTo>
                <a:lnTo>
                  <a:pt x="520095" y="45419"/>
                </a:lnTo>
                <a:lnTo>
                  <a:pt x="475005" y="26483"/>
                </a:lnTo>
                <a:lnTo>
                  <a:pt x="423253" y="12186"/>
                </a:lnTo>
                <a:lnTo>
                  <a:pt x="366064" y="3150"/>
                </a:lnTo>
                <a:lnTo>
                  <a:pt x="30466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033668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3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5" y="3150"/>
                </a:lnTo>
                <a:lnTo>
                  <a:pt x="423254" y="12186"/>
                </a:lnTo>
                <a:lnTo>
                  <a:pt x="475006" y="26483"/>
                </a:lnTo>
                <a:lnTo>
                  <a:pt x="520095" y="45419"/>
                </a:lnTo>
                <a:lnTo>
                  <a:pt x="557298" y="68369"/>
                </a:lnTo>
                <a:lnTo>
                  <a:pt x="585387" y="94710"/>
                </a:lnTo>
                <a:lnTo>
                  <a:pt x="609330" y="155070"/>
                </a:lnTo>
                <a:lnTo>
                  <a:pt x="603140" y="186322"/>
                </a:lnTo>
                <a:lnTo>
                  <a:pt x="557298" y="241771"/>
                </a:lnTo>
                <a:lnTo>
                  <a:pt x="520095" y="264721"/>
                </a:lnTo>
                <a:lnTo>
                  <a:pt x="475006" y="283657"/>
                </a:lnTo>
                <a:lnTo>
                  <a:pt x="423254" y="297954"/>
                </a:lnTo>
                <a:lnTo>
                  <a:pt x="366065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3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 txBox="1"/>
          <p:nvPr/>
        </p:nvSpPr>
        <p:spPr>
          <a:xfrm>
            <a:off x="6220063" y="3669284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890643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2"/>
                </a:lnTo>
                <a:lnTo>
                  <a:pt x="89234" y="264722"/>
                </a:lnTo>
                <a:lnTo>
                  <a:pt x="134323" y="283657"/>
                </a:lnTo>
                <a:lnTo>
                  <a:pt x="186075" y="297955"/>
                </a:lnTo>
                <a:lnTo>
                  <a:pt x="243264" y="306991"/>
                </a:lnTo>
                <a:lnTo>
                  <a:pt x="304665" y="310141"/>
                </a:lnTo>
                <a:lnTo>
                  <a:pt x="366066" y="306991"/>
                </a:lnTo>
                <a:lnTo>
                  <a:pt x="423255" y="297955"/>
                </a:lnTo>
                <a:lnTo>
                  <a:pt x="475006" y="283657"/>
                </a:lnTo>
                <a:lnTo>
                  <a:pt x="520096" y="264722"/>
                </a:lnTo>
                <a:lnTo>
                  <a:pt x="557298" y="241772"/>
                </a:lnTo>
                <a:lnTo>
                  <a:pt x="585388" y="215431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6" y="45419"/>
                </a:lnTo>
                <a:lnTo>
                  <a:pt x="475006" y="26483"/>
                </a:lnTo>
                <a:lnTo>
                  <a:pt x="423255" y="12186"/>
                </a:lnTo>
                <a:lnTo>
                  <a:pt x="366066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890643" y="361719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4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6" y="3150"/>
                </a:lnTo>
                <a:lnTo>
                  <a:pt x="423255" y="12186"/>
                </a:lnTo>
                <a:lnTo>
                  <a:pt x="475006" y="26483"/>
                </a:lnTo>
                <a:lnTo>
                  <a:pt x="520096" y="45419"/>
                </a:lnTo>
                <a:lnTo>
                  <a:pt x="557298" y="68369"/>
                </a:lnTo>
                <a:lnTo>
                  <a:pt x="585388" y="94710"/>
                </a:lnTo>
                <a:lnTo>
                  <a:pt x="609331" y="155070"/>
                </a:lnTo>
                <a:lnTo>
                  <a:pt x="603141" y="186322"/>
                </a:lnTo>
                <a:lnTo>
                  <a:pt x="557298" y="241771"/>
                </a:lnTo>
                <a:lnTo>
                  <a:pt x="520096" y="264721"/>
                </a:lnTo>
                <a:lnTo>
                  <a:pt x="475006" y="283657"/>
                </a:lnTo>
                <a:lnTo>
                  <a:pt x="423255" y="297954"/>
                </a:lnTo>
                <a:lnTo>
                  <a:pt x="366066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4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7077040" y="3669284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,1</a:t>
            </a:r>
            <a:endParaRPr sz="12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554564" y="2940010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422699" y="0"/>
                </a:moveTo>
                <a:lnTo>
                  <a:pt x="354135" y="2122"/>
                </a:lnTo>
                <a:lnTo>
                  <a:pt x="289093" y="8268"/>
                </a:lnTo>
                <a:lnTo>
                  <a:pt x="228444" y="18102"/>
                </a:lnTo>
                <a:lnTo>
                  <a:pt x="173058" y="31291"/>
                </a:lnTo>
                <a:lnTo>
                  <a:pt x="123805" y="47501"/>
                </a:lnTo>
                <a:lnTo>
                  <a:pt x="81556" y="66398"/>
                </a:lnTo>
                <a:lnTo>
                  <a:pt x="47180" y="87649"/>
                </a:lnTo>
                <a:lnTo>
                  <a:pt x="5532" y="135873"/>
                </a:lnTo>
                <a:lnTo>
                  <a:pt x="0" y="162180"/>
                </a:lnTo>
                <a:lnTo>
                  <a:pt x="5532" y="188486"/>
                </a:lnTo>
                <a:lnTo>
                  <a:pt x="47180" y="236710"/>
                </a:lnTo>
                <a:lnTo>
                  <a:pt x="81556" y="257961"/>
                </a:lnTo>
                <a:lnTo>
                  <a:pt x="123805" y="276858"/>
                </a:lnTo>
                <a:lnTo>
                  <a:pt x="173058" y="293068"/>
                </a:lnTo>
                <a:lnTo>
                  <a:pt x="228444" y="306257"/>
                </a:lnTo>
                <a:lnTo>
                  <a:pt x="289093" y="316091"/>
                </a:lnTo>
                <a:lnTo>
                  <a:pt x="354135" y="322236"/>
                </a:lnTo>
                <a:lnTo>
                  <a:pt x="422699" y="324359"/>
                </a:lnTo>
                <a:lnTo>
                  <a:pt x="491263" y="322236"/>
                </a:lnTo>
                <a:lnTo>
                  <a:pt x="556304" y="316091"/>
                </a:lnTo>
                <a:lnTo>
                  <a:pt x="616953" y="306257"/>
                </a:lnTo>
                <a:lnTo>
                  <a:pt x="672339" y="293068"/>
                </a:lnTo>
                <a:lnTo>
                  <a:pt x="721592" y="276858"/>
                </a:lnTo>
                <a:lnTo>
                  <a:pt x="763841" y="257961"/>
                </a:lnTo>
                <a:lnTo>
                  <a:pt x="798217" y="236710"/>
                </a:lnTo>
                <a:lnTo>
                  <a:pt x="839865" y="188486"/>
                </a:lnTo>
                <a:lnTo>
                  <a:pt x="845398" y="162180"/>
                </a:lnTo>
                <a:lnTo>
                  <a:pt x="839865" y="135873"/>
                </a:lnTo>
                <a:lnTo>
                  <a:pt x="798217" y="87649"/>
                </a:lnTo>
                <a:lnTo>
                  <a:pt x="763841" y="66398"/>
                </a:lnTo>
                <a:lnTo>
                  <a:pt x="721592" y="47501"/>
                </a:lnTo>
                <a:lnTo>
                  <a:pt x="672339" y="31291"/>
                </a:lnTo>
                <a:lnTo>
                  <a:pt x="616953" y="18102"/>
                </a:lnTo>
                <a:lnTo>
                  <a:pt x="556304" y="8268"/>
                </a:lnTo>
                <a:lnTo>
                  <a:pt x="491263" y="2122"/>
                </a:lnTo>
                <a:lnTo>
                  <a:pt x="4226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7554564" y="2940010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0" y="162179"/>
                </a:moveTo>
                <a:lnTo>
                  <a:pt x="21549" y="110918"/>
                </a:lnTo>
                <a:lnTo>
                  <a:pt x="81556" y="66398"/>
                </a:lnTo>
                <a:lnTo>
                  <a:pt x="123805" y="47501"/>
                </a:lnTo>
                <a:lnTo>
                  <a:pt x="173058" y="31291"/>
                </a:lnTo>
                <a:lnTo>
                  <a:pt x="228444" y="18102"/>
                </a:lnTo>
                <a:lnTo>
                  <a:pt x="289093" y="8268"/>
                </a:lnTo>
                <a:lnTo>
                  <a:pt x="354135" y="2122"/>
                </a:lnTo>
                <a:lnTo>
                  <a:pt x="422699" y="0"/>
                </a:lnTo>
                <a:lnTo>
                  <a:pt x="491262" y="2122"/>
                </a:lnTo>
                <a:lnTo>
                  <a:pt x="556304" y="8268"/>
                </a:lnTo>
                <a:lnTo>
                  <a:pt x="616953" y="18102"/>
                </a:lnTo>
                <a:lnTo>
                  <a:pt x="672339" y="31291"/>
                </a:lnTo>
                <a:lnTo>
                  <a:pt x="721592" y="47501"/>
                </a:lnTo>
                <a:lnTo>
                  <a:pt x="763841" y="66398"/>
                </a:lnTo>
                <a:lnTo>
                  <a:pt x="798217" y="87648"/>
                </a:lnTo>
                <a:lnTo>
                  <a:pt x="839865" y="135873"/>
                </a:lnTo>
                <a:lnTo>
                  <a:pt x="845398" y="162179"/>
                </a:lnTo>
                <a:lnTo>
                  <a:pt x="839865" y="188485"/>
                </a:lnTo>
                <a:lnTo>
                  <a:pt x="798217" y="236710"/>
                </a:lnTo>
                <a:lnTo>
                  <a:pt x="763841" y="257960"/>
                </a:lnTo>
                <a:lnTo>
                  <a:pt x="721592" y="276857"/>
                </a:lnTo>
                <a:lnTo>
                  <a:pt x="672339" y="293067"/>
                </a:lnTo>
                <a:lnTo>
                  <a:pt x="616953" y="306256"/>
                </a:lnTo>
                <a:lnTo>
                  <a:pt x="556304" y="316090"/>
                </a:lnTo>
                <a:lnTo>
                  <a:pt x="491262" y="322236"/>
                </a:lnTo>
                <a:lnTo>
                  <a:pt x="422699" y="324359"/>
                </a:lnTo>
                <a:lnTo>
                  <a:pt x="354135" y="322236"/>
                </a:lnTo>
                <a:lnTo>
                  <a:pt x="289093" y="316090"/>
                </a:lnTo>
                <a:lnTo>
                  <a:pt x="228444" y="306256"/>
                </a:lnTo>
                <a:lnTo>
                  <a:pt x="173058" y="293067"/>
                </a:lnTo>
                <a:lnTo>
                  <a:pt x="123805" y="276857"/>
                </a:lnTo>
                <a:lnTo>
                  <a:pt x="81556" y="257960"/>
                </a:lnTo>
                <a:lnTo>
                  <a:pt x="47180" y="236710"/>
                </a:lnTo>
                <a:lnTo>
                  <a:pt x="5532" y="188485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 txBox="1"/>
          <p:nvPr/>
        </p:nvSpPr>
        <p:spPr>
          <a:xfrm>
            <a:off x="7786160" y="2998723"/>
            <a:ext cx="3829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1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95">
                <a:latin typeface="Arial"/>
                <a:cs typeface="Arial"/>
              </a:rPr>
              <a:t>11</a:t>
            </a:r>
            <a:r>
              <a:rPr dirty="0" sz="120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578565" y="2526668"/>
            <a:ext cx="245110" cy="400685"/>
          </a:xfrm>
          <a:custGeom>
            <a:avLst/>
            <a:gdLst/>
            <a:ahLst/>
            <a:cxnLst/>
            <a:rect l="l" t="t" r="r" b="b"/>
            <a:pathLst>
              <a:path w="245110" h="400685">
                <a:moveTo>
                  <a:pt x="244744" y="0"/>
                </a:moveTo>
                <a:lnTo>
                  <a:pt x="0" y="4003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578565" y="3237196"/>
            <a:ext cx="544830" cy="425450"/>
          </a:xfrm>
          <a:custGeom>
            <a:avLst/>
            <a:gdLst/>
            <a:ahLst/>
            <a:cxnLst/>
            <a:rect l="l" t="t" r="r" b="b"/>
            <a:pathLst>
              <a:path w="544829" h="425450">
                <a:moveTo>
                  <a:pt x="0" y="0"/>
                </a:moveTo>
                <a:lnTo>
                  <a:pt x="544337" y="42542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480465" y="2412047"/>
            <a:ext cx="387350" cy="3175"/>
          </a:xfrm>
          <a:custGeom>
            <a:avLst/>
            <a:gdLst/>
            <a:ahLst/>
            <a:cxnLst/>
            <a:rect l="l" t="t" r="r" b="b"/>
            <a:pathLst>
              <a:path w="387350" h="3175">
                <a:moveTo>
                  <a:pt x="386936" y="0"/>
                </a:moveTo>
                <a:lnTo>
                  <a:pt x="0" y="29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629115" y="2526725"/>
            <a:ext cx="348615" cy="413384"/>
          </a:xfrm>
          <a:custGeom>
            <a:avLst/>
            <a:gdLst/>
            <a:ahLst/>
            <a:cxnLst/>
            <a:rect l="l" t="t" r="r" b="b"/>
            <a:pathLst>
              <a:path w="348615" h="413385">
                <a:moveTo>
                  <a:pt x="348148" y="41328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930739" y="2526726"/>
            <a:ext cx="1067435" cy="445770"/>
          </a:xfrm>
          <a:custGeom>
            <a:avLst/>
            <a:gdLst/>
            <a:ahLst/>
            <a:cxnLst/>
            <a:rect l="l" t="t" r="r" b="b"/>
            <a:pathLst>
              <a:path w="1067434" h="445769">
                <a:moveTo>
                  <a:pt x="0" y="445748"/>
                </a:moveTo>
                <a:lnTo>
                  <a:pt x="10673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076615" y="3082125"/>
            <a:ext cx="1478280" cy="20320"/>
          </a:xfrm>
          <a:custGeom>
            <a:avLst/>
            <a:gdLst/>
            <a:ahLst/>
            <a:cxnLst/>
            <a:rect l="l" t="t" r="r" b="b"/>
            <a:pathLst>
              <a:path w="1478279" h="20319">
                <a:moveTo>
                  <a:pt x="1477949" y="20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7410740" y="3264370"/>
            <a:ext cx="567055" cy="398780"/>
          </a:xfrm>
          <a:custGeom>
            <a:avLst/>
            <a:gdLst/>
            <a:ahLst/>
            <a:cxnLst/>
            <a:rect l="l" t="t" r="r" b="b"/>
            <a:pathLst>
              <a:path w="567054" h="398779">
                <a:moveTo>
                  <a:pt x="0" y="398249"/>
                </a:moveTo>
                <a:lnTo>
                  <a:pt x="56652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08" name="object 108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109" name="object 10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266444"/>
            <a:ext cx="777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E66C7D"/>
                </a:solidFill>
              </a:rPr>
              <a:t>Example </a:t>
            </a:r>
            <a:r>
              <a:rPr dirty="0">
                <a:solidFill>
                  <a:srgbClr val="E66C7D"/>
                </a:solidFill>
              </a:rPr>
              <a:t>of </a:t>
            </a:r>
            <a:r>
              <a:rPr dirty="0" spc="-5">
                <a:solidFill>
                  <a:srgbClr val="E66C7D"/>
                </a:solidFill>
              </a:rPr>
              <a:t>color </a:t>
            </a:r>
            <a:r>
              <a:rPr dirty="0" spc="-15">
                <a:solidFill>
                  <a:srgbClr val="E66C7D"/>
                </a:solidFill>
              </a:rPr>
              <a:t>refinement </a:t>
            </a:r>
            <a:r>
              <a:rPr dirty="0" spc="-10">
                <a:solidFill>
                  <a:srgbClr val="E66C7D"/>
                </a:solidFill>
              </a:rPr>
              <a:t>given two</a:t>
            </a:r>
            <a:r>
              <a:rPr dirty="0" spc="25">
                <a:solidFill>
                  <a:srgbClr val="E66C7D"/>
                </a:solidFill>
              </a:rPr>
              <a:t> </a:t>
            </a:r>
            <a:r>
              <a:rPr dirty="0" spc="-20">
                <a:solidFill>
                  <a:srgbClr val="E66C7D"/>
                </a:solidFill>
              </a:rPr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563" y="1838451"/>
            <a:ext cx="28848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Aggregated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976" y="341375"/>
            <a:ext cx="5029200" cy="5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30418" y="4673902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5">
                <a:moveTo>
                  <a:pt x="451194" y="0"/>
                </a:moveTo>
                <a:lnTo>
                  <a:pt x="378008" y="1687"/>
                </a:lnTo>
                <a:lnTo>
                  <a:pt x="308581" y="6574"/>
                </a:lnTo>
                <a:lnTo>
                  <a:pt x="243844" y="14393"/>
                </a:lnTo>
                <a:lnTo>
                  <a:pt x="184724" y="24880"/>
                </a:lnTo>
                <a:lnTo>
                  <a:pt x="132151" y="37769"/>
                </a:lnTo>
                <a:lnTo>
                  <a:pt x="87054" y="52795"/>
                </a:lnTo>
                <a:lnTo>
                  <a:pt x="50361" y="69691"/>
                </a:lnTo>
                <a:lnTo>
                  <a:pt x="5905" y="108036"/>
                </a:lnTo>
                <a:lnTo>
                  <a:pt x="0" y="128953"/>
                </a:lnTo>
                <a:lnTo>
                  <a:pt x="5905" y="149870"/>
                </a:lnTo>
                <a:lnTo>
                  <a:pt x="50361" y="188215"/>
                </a:lnTo>
                <a:lnTo>
                  <a:pt x="87054" y="205111"/>
                </a:lnTo>
                <a:lnTo>
                  <a:pt x="132151" y="220137"/>
                </a:lnTo>
                <a:lnTo>
                  <a:pt x="184724" y="233026"/>
                </a:lnTo>
                <a:lnTo>
                  <a:pt x="243844" y="243514"/>
                </a:lnTo>
                <a:lnTo>
                  <a:pt x="308581" y="251333"/>
                </a:lnTo>
                <a:lnTo>
                  <a:pt x="378008" y="256219"/>
                </a:lnTo>
                <a:lnTo>
                  <a:pt x="451194" y="257907"/>
                </a:lnTo>
                <a:lnTo>
                  <a:pt x="524380" y="256219"/>
                </a:lnTo>
                <a:lnTo>
                  <a:pt x="593806" y="251333"/>
                </a:lnTo>
                <a:lnTo>
                  <a:pt x="658544" y="243514"/>
                </a:lnTo>
                <a:lnTo>
                  <a:pt x="717663" y="233026"/>
                </a:lnTo>
                <a:lnTo>
                  <a:pt x="770236" y="220137"/>
                </a:lnTo>
                <a:lnTo>
                  <a:pt x="815334" y="205111"/>
                </a:lnTo>
                <a:lnTo>
                  <a:pt x="852026" y="188215"/>
                </a:lnTo>
                <a:lnTo>
                  <a:pt x="896482" y="149870"/>
                </a:lnTo>
                <a:lnTo>
                  <a:pt x="902388" y="128953"/>
                </a:lnTo>
                <a:lnTo>
                  <a:pt x="896482" y="108036"/>
                </a:lnTo>
                <a:lnTo>
                  <a:pt x="852026" y="69691"/>
                </a:lnTo>
                <a:lnTo>
                  <a:pt x="815334" y="52795"/>
                </a:lnTo>
                <a:lnTo>
                  <a:pt x="770236" y="37769"/>
                </a:lnTo>
                <a:lnTo>
                  <a:pt x="717663" y="24880"/>
                </a:lnTo>
                <a:lnTo>
                  <a:pt x="658544" y="14393"/>
                </a:lnTo>
                <a:lnTo>
                  <a:pt x="593806" y="6574"/>
                </a:lnTo>
                <a:lnTo>
                  <a:pt x="524380" y="1687"/>
                </a:lnTo>
                <a:lnTo>
                  <a:pt x="45119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30418" y="4673902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5">
                <a:moveTo>
                  <a:pt x="0" y="128954"/>
                </a:moveTo>
                <a:lnTo>
                  <a:pt x="23002" y="88194"/>
                </a:lnTo>
                <a:lnTo>
                  <a:pt x="87054" y="52795"/>
                </a:lnTo>
                <a:lnTo>
                  <a:pt x="132151" y="37769"/>
                </a:lnTo>
                <a:lnTo>
                  <a:pt x="184724" y="24880"/>
                </a:lnTo>
                <a:lnTo>
                  <a:pt x="243844" y="14393"/>
                </a:lnTo>
                <a:lnTo>
                  <a:pt x="308582" y="6574"/>
                </a:lnTo>
                <a:lnTo>
                  <a:pt x="378008" y="1687"/>
                </a:lnTo>
                <a:lnTo>
                  <a:pt x="451194" y="0"/>
                </a:lnTo>
                <a:lnTo>
                  <a:pt x="524380" y="1687"/>
                </a:lnTo>
                <a:lnTo>
                  <a:pt x="593806" y="6574"/>
                </a:lnTo>
                <a:lnTo>
                  <a:pt x="658544" y="14393"/>
                </a:lnTo>
                <a:lnTo>
                  <a:pt x="717664" y="24880"/>
                </a:lnTo>
                <a:lnTo>
                  <a:pt x="770237" y="37769"/>
                </a:lnTo>
                <a:lnTo>
                  <a:pt x="815334" y="52795"/>
                </a:lnTo>
                <a:lnTo>
                  <a:pt x="852027" y="69692"/>
                </a:lnTo>
                <a:lnTo>
                  <a:pt x="896483" y="108036"/>
                </a:lnTo>
                <a:lnTo>
                  <a:pt x="902389" y="128954"/>
                </a:lnTo>
                <a:lnTo>
                  <a:pt x="896483" y="149871"/>
                </a:lnTo>
                <a:lnTo>
                  <a:pt x="852027" y="188215"/>
                </a:lnTo>
                <a:lnTo>
                  <a:pt x="815334" y="205112"/>
                </a:lnTo>
                <a:lnTo>
                  <a:pt x="770237" y="220138"/>
                </a:lnTo>
                <a:lnTo>
                  <a:pt x="717664" y="233027"/>
                </a:lnTo>
                <a:lnTo>
                  <a:pt x="658544" y="243514"/>
                </a:lnTo>
                <a:lnTo>
                  <a:pt x="593806" y="251333"/>
                </a:lnTo>
                <a:lnTo>
                  <a:pt x="524380" y="256220"/>
                </a:lnTo>
                <a:lnTo>
                  <a:pt x="451194" y="257908"/>
                </a:lnTo>
                <a:lnTo>
                  <a:pt x="378008" y="256220"/>
                </a:lnTo>
                <a:lnTo>
                  <a:pt x="308582" y="251333"/>
                </a:lnTo>
                <a:lnTo>
                  <a:pt x="243844" y="243514"/>
                </a:lnTo>
                <a:lnTo>
                  <a:pt x="184724" y="233027"/>
                </a:lnTo>
                <a:lnTo>
                  <a:pt x="132151" y="220138"/>
                </a:lnTo>
                <a:lnTo>
                  <a:pt x="87054" y="205112"/>
                </a:lnTo>
                <a:lnTo>
                  <a:pt x="50361" y="188215"/>
                </a:lnTo>
                <a:lnTo>
                  <a:pt x="5905" y="149871"/>
                </a:lnTo>
                <a:lnTo>
                  <a:pt x="0" y="12895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79206" y="4699508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27786" y="4659586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362028" y="0"/>
                </a:moveTo>
                <a:lnTo>
                  <a:pt x="296953" y="2277"/>
                </a:lnTo>
                <a:lnTo>
                  <a:pt x="235705" y="8843"/>
                </a:lnTo>
                <a:lnTo>
                  <a:pt x="179306" y="19299"/>
                </a:lnTo>
                <a:lnTo>
                  <a:pt x="128778" y="33244"/>
                </a:lnTo>
                <a:lnTo>
                  <a:pt x="85144" y="50281"/>
                </a:lnTo>
                <a:lnTo>
                  <a:pt x="49427" y="70010"/>
                </a:lnTo>
                <a:lnTo>
                  <a:pt x="5832" y="115946"/>
                </a:lnTo>
                <a:lnTo>
                  <a:pt x="0" y="141356"/>
                </a:lnTo>
                <a:lnTo>
                  <a:pt x="5832" y="166764"/>
                </a:lnTo>
                <a:lnTo>
                  <a:pt x="49427" y="212700"/>
                </a:lnTo>
                <a:lnTo>
                  <a:pt x="85144" y="232429"/>
                </a:lnTo>
                <a:lnTo>
                  <a:pt x="128778" y="249466"/>
                </a:lnTo>
                <a:lnTo>
                  <a:pt x="179306" y="263412"/>
                </a:lnTo>
                <a:lnTo>
                  <a:pt x="235705" y="273868"/>
                </a:lnTo>
                <a:lnTo>
                  <a:pt x="296953" y="280434"/>
                </a:lnTo>
                <a:lnTo>
                  <a:pt x="362028" y="282712"/>
                </a:lnTo>
                <a:lnTo>
                  <a:pt x="427103" y="280434"/>
                </a:lnTo>
                <a:lnTo>
                  <a:pt x="488352" y="273868"/>
                </a:lnTo>
                <a:lnTo>
                  <a:pt x="544751" y="263412"/>
                </a:lnTo>
                <a:lnTo>
                  <a:pt x="595279" y="249466"/>
                </a:lnTo>
                <a:lnTo>
                  <a:pt x="638912" y="232429"/>
                </a:lnTo>
                <a:lnTo>
                  <a:pt x="674629" y="212700"/>
                </a:lnTo>
                <a:lnTo>
                  <a:pt x="718224" y="166764"/>
                </a:lnTo>
                <a:lnTo>
                  <a:pt x="724057" y="141356"/>
                </a:lnTo>
                <a:lnTo>
                  <a:pt x="718224" y="115946"/>
                </a:lnTo>
                <a:lnTo>
                  <a:pt x="674629" y="70010"/>
                </a:lnTo>
                <a:lnTo>
                  <a:pt x="638912" y="50281"/>
                </a:lnTo>
                <a:lnTo>
                  <a:pt x="595279" y="33244"/>
                </a:lnTo>
                <a:lnTo>
                  <a:pt x="544751" y="19299"/>
                </a:lnTo>
                <a:lnTo>
                  <a:pt x="488352" y="8843"/>
                </a:lnTo>
                <a:lnTo>
                  <a:pt x="427103" y="2277"/>
                </a:lnTo>
                <a:lnTo>
                  <a:pt x="36202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27786" y="4659586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0" y="141356"/>
                </a:moveTo>
                <a:lnTo>
                  <a:pt x="22649" y="92032"/>
                </a:lnTo>
                <a:lnTo>
                  <a:pt x="85144" y="50282"/>
                </a:lnTo>
                <a:lnTo>
                  <a:pt x="128778" y="33245"/>
                </a:lnTo>
                <a:lnTo>
                  <a:pt x="179305" y="19299"/>
                </a:lnTo>
                <a:lnTo>
                  <a:pt x="235705" y="8843"/>
                </a:lnTo>
                <a:lnTo>
                  <a:pt x="296953" y="2277"/>
                </a:lnTo>
                <a:lnTo>
                  <a:pt x="362028" y="0"/>
                </a:lnTo>
                <a:lnTo>
                  <a:pt x="427103" y="2277"/>
                </a:lnTo>
                <a:lnTo>
                  <a:pt x="488351" y="8843"/>
                </a:lnTo>
                <a:lnTo>
                  <a:pt x="544751" y="19299"/>
                </a:lnTo>
                <a:lnTo>
                  <a:pt x="595278" y="33245"/>
                </a:lnTo>
                <a:lnTo>
                  <a:pt x="638912" y="50282"/>
                </a:lnTo>
                <a:lnTo>
                  <a:pt x="674629" y="70010"/>
                </a:lnTo>
                <a:lnTo>
                  <a:pt x="718224" y="115947"/>
                </a:lnTo>
                <a:lnTo>
                  <a:pt x="724057" y="141356"/>
                </a:lnTo>
                <a:lnTo>
                  <a:pt x="718224" y="166764"/>
                </a:lnTo>
                <a:lnTo>
                  <a:pt x="674629" y="212701"/>
                </a:lnTo>
                <a:lnTo>
                  <a:pt x="638912" y="232429"/>
                </a:lnTo>
                <a:lnTo>
                  <a:pt x="595278" y="249466"/>
                </a:lnTo>
                <a:lnTo>
                  <a:pt x="544751" y="263412"/>
                </a:lnTo>
                <a:lnTo>
                  <a:pt x="488351" y="273868"/>
                </a:lnTo>
                <a:lnTo>
                  <a:pt x="427103" y="280434"/>
                </a:lnTo>
                <a:lnTo>
                  <a:pt x="362028" y="282712"/>
                </a:lnTo>
                <a:lnTo>
                  <a:pt x="296953" y="280434"/>
                </a:lnTo>
                <a:lnTo>
                  <a:pt x="235705" y="273868"/>
                </a:lnTo>
                <a:lnTo>
                  <a:pt x="179305" y="263412"/>
                </a:lnTo>
                <a:lnTo>
                  <a:pt x="128778" y="249466"/>
                </a:lnTo>
                <a:lnTo>
                  <a:pt x="85144" y="232429"/>
                </a:lnTo>
                <a:lnTo>
                  <a:pt x="49427" y="212701"/>
                </a:lnTo>
                <a:lnTo>
                  <a:pt x="5832" y="16676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29478" y="4696459"/>
            <a:ext cx="321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069" y="5239327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486271" y="0"/>
                </a:moveTo>
                <a:lnTo>
                  <a:pt x="414413" y="1532"/>
                </a:lnTo>
                <a:lnTo>
                  <a:pt x="345829" y="5984"/>
                </a:lnTo>
                <a:lnTo>
                  <a:pt x="281271" y="13137"/>
                </a:lnTo>
                <a:lnTo>
                  <a:pt x="221491" y="22773"/>
                </a:lnTo>
                <a:lnTo>
                  <a:pt x="167241" y="34672"/>
                </a:lnTo>
                <a:lnTo>
                  <a:pt x="119274" y="48615"/>
                </a:lnTo>
                <a:lnTo>
                  <a:pt x="78341" y="64385"/>
                </a:lnTo>
                <a:lnTo>
                  <a:pt x="20588" y="100530"/>
                </a:lnTo>
                <a:lnTo>
                  <a:pt x="0" y="141356"/>
                </a:lnTo>
                <a:lnTo>
                  <a:pt x="5272" y="162244"/>
                </a:lnTo>
                <a:lnTo>
                  <a:pt x="45195" y="200947"/>
                </a:lnTo>
                <a:lnTo>
                  <a:pt x="119274" y="234095"/>
                </a:lnTo>
                <a:lnTo>
                  <a:pt x="167241" y="248039"/>
                </a:lnTo>
                <a:lnTo>
                  <a:pt x="221491" y="259938"/>
                </a:lnTo>
                <a:lnTo>
                  <a:pt x="281271" y="269574"/>
                </a:lnTo>
                <a:lnTo>
                  <a:pt x="345829" y="276727"/>
                </a:lnTo>
                <a:lnTo>
                  <a:pt x="414413" y="281179"/>
                </a:lnTo>
                <a:lnTo>
                  <a:pt x="486271" y="282712"/>
                </a:lnTo>
                <a:lnTo>
                  <a:pt x="558128" y="281179"/>
                </a:lnTo>
                <a:lnTo>
                  <a:pt x="626712" y="276727"/>
                </a:lnTo>
                <a:lnTo>
                  <a:pt x="691270" y="269574"/>
                </a:lnTo>
                <a:lnTo>
                  <a:pt x="751050" y="259938"/>
                </a:lnTo>
                <a:lnTo>
                  <a:pt x="805300" y="248039"/>
                </a:lnTo>
                <a:lnTo>
                  <a:pt x="853267" y="234095"/>
                </a:lnTo>
                <a:lnTo>
                  <a:pt x="894200" y="218325"/>
                </a:lnTo>
                <a:lnTo>
                  <a:pt x="951953" y="182181"/>
                </a:lnTo>
                <a:lnTo>
                  <a:pt x="972541" y="141356"/>
                </a:lnTo>
                <a:lnTo>
                  <a:pt x="967269" y="120467"/>
                </a:lnTo>
                <a:lnTo>
                  <a:pt x="927346" y="81763"/>
                </a:lnTo>
                <a:lnTo>
                  <a:pt x="853267" y="48615"/>
                </a:lnTo>
                <a:lnTo>
                  <a:pt x="805300" y="34672"/>
                </a:lnTo>
                <a:lnTo>
                  <a:pt x="751050" y="22773"/>
                </a:lnTo>
                <a:lnTo>
                  <a:pt x="691270" y="13137"/>
                </a:lnTo>
                <a:lnTo>
                  <a:pt x="626712" y="5984"/>
                </a:lnTo>
                <a:lnTo>
                  <a:pt x="558128" y="1532"/>
                </a:lnTo>
                <a:lnTo>
                  <a:pt x="48627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069" y="5239327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0" y="141356"/>
                </a:moveTo>
                <a:lnTo>
                  <a:pt x="20588" y="100530"/>
                </a:lnTo>
                <a:lnTo>
                  <a:pt x="78341" y="64386"/>
                </a:lnTo>
                <a:lnTo>
                  <a:pt x="119274" y="48616"/>
                </a:lnTo>
                <a:lnTo>
                  <a:pt x="167241" y="34672"/>
                </a:lnTo>
                <a:lnTo>
                  <a:pt x="221491" y="22773"/>
                </a:lnTo>
                <a:lnTo>
                  <a:pt x="281271" y="13137"/>
                </a:lnTo>
                <a:lnTo>
                  <a:pt x="345829" y="5984"/>
                </a:lnTo>
                <a:lnTo>
                  <a:pt x="414413" y="1532"/>
                </a:lnTo>
                <a:lnTo>
                  <a:pt x="486271" y="0"/>
                </a:lnTo>
                <a:lnTo>
                  <a:pt x="558128" y="1532"/>
                </a:lnTo>
                <a:lnTo>
                  <a:pt x="626712" y="5984"/>
                </a:lnTo>
                <a:lnTo>
                  <a:pt x="691270" y="13137"/>
                </a:lnTo>
                <a:lnTo>
                  <a:pt x="751050" y="22773"/>
                </a:lnTo>
                <a:lnTo>
                  <a:pt x="805300" y="34672"/>
                </a:lnTo>
                <a:lnTo>
                  <a:pt x="853268" y="48616"/>
                </a:lnTo>
                <a:lnTo>
                  <a:pt x="894200" y="64386"/>
                </a:lnTo>
                <a:lnTo>
                  <a:pt x="951953" y="100530"/>
                </a:lnTo>
                <a:lnTo>
                  <a:pt x="972542" y="141356"/>
                </a:lnTo>
                <a:lnTo>
                  <a:pt x="967269" y="162244"/>
                </a:lnTo>
                <a:lnTo>
                  <a:pt x="927346" y="200948"/>
                </a:lnTo>
                <a:lnTo>
                  <a:pt x="853268" y="234095"/>
                </a:lnTo>
                <a:lnTo>
                  <a:pt x="805300" y="248039"/>
                </a:lnTo>
                <a:lnTo>
                  <a:pt x="751050" y="259938"/>
                </a:lnTo>
                <a:lnTo>
                  <a:pt x="691270" y="269574"/>
                </a:lnTo>
                <a:lnTo>
                  <a:pt x="626712" y="276727"/>
                </a:lnTo>
                <a:lnTo>
                  <a:pt x="558128" y="281179"/>
                </a:lnTo>
                <a:lnTo>
                  <a:pt x="486271" y="282712"/>
                </a:lnTo>
                <a:lnTo>
                  <a:pt x="414413" y="281179"/>
                </a:lnTo>
                <a:lnTo>
                  <a:pt x="345829" y="276727"/>
                </a:lnTo>
                <a:lnTo>
                  <a:pt x="281271" y="269574"/>
                </a:lnTo>
                <a:lnTo>
                  <a:pt x="221491" y="259938"/>
                </a:lnTo>
                <a:lnTo>
                  <a:pt x="167241" y="248039"/>
                </a:lnTo>
                <a:lnTo>
                  <a:pt x="119274" y="234095"/>
                </a:lnTo>
                <a:lnTo>
                  <a:pt x="78341" y="218325"/>
                </a:lnTo>
                <a:lnTo>
                  <a:pt x="20588" y="182181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55865" y="5275579"/>
            <a:ext cx="4895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5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22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871611" y="5876210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304665" y="0"/>
                </a:moveTo>
                <a:lnTo>
                  <a:pt x="243264" y="2871"/>
                </a:lnTo>
                <a:lnTo>
                  <a:pt x="186076" y="11108"/>
                </a:lnTo>
                <a:lnTo>
                  <a:pt x="134324" y="24141"/>
                </a:lnTo>
                <a:lnTo>
                  <a:pt x="89234" y="41402"/>
                </a:lnTo>
                <a:lnTo>
                  <a:pt x="52032" y="62322"/>
                </a:lnTo>
                <a:lnTo>
                  <a:pt x="6189" y="112867"/>
                </a:lnTo>
                <a:lnTo>
                  <a:pt x="0" y="141355"/>
                </a:lnTo>
                <a:lnTo>
                  <a:pt x="6189" y="169844"/>
                </a:lnTo>
                <a:lnTo>
                  <a:pt x="52032" y="220389"/>
                </a:lnTo>
                <a:lnTo>
                  <a:pt x="89234" y="241309"/>
                </a:lnTo>
                <a:lnTo>
                  <a:pt x="134324" y="258570"/>
                </a:lnTo>
                <a:lnTo>
                  <a:pt x="186076" y="271603"/>
                </a:lnTo>
                <a:lnTo>
                  <a:pt x="243264" y="279840"/>
                </a:lnTo>
                <a:lnTo>
                  <a:pt x="304665" y="282712"/>
                </a:lnTo>
                <a:lnTo>
                  <a:pt x="366066" y="279840"/>
                </a:lnTo>
                <a:lnTo>
                  <a:pt x="423255" y="271603"/>
                </a:lnTo>
                <a:lnTo>
                  <a:pt x="475006" y="258570"/>
                </a:lnTo>
                <a:lnTo>
                  <a:pt x="520096" y="241309"/>
                </a:lnTo>
                <a:lnTo>
                  <a:pt x="557298" y="220389"/>
                </a:lnTo>
                <a:lnTo>
                  <a:pt x="603141" y="169844"/>
                </a:lnTo>
                <a:lnTo>
                  <a:pt x="609330" y="141355"/>
                </a:lnTo>
                <a:lnTo>
                  <a:pt x="603141" y="112867"/>
                </a:lnTo>
                <a:lnTo>
                  <a:pt x="557298" y="62322"/>
                </a:lnTo>
                <a:lnTo>
                  <a:pt x="520096" y="41402"/>
                </a:lnTo>
                <a:lnTo>
                  <a:pt x="475006" y="24141"/>
                </a:lnTo>
                <a:lnTo>
                  <a:pt x="423255" y="11108"/>
                </a:lnTo>
                <a:lnTo>
                  <a:pt x="366066" y="2871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71611" y="5876210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0" y="141356"/>
                </a:moveTo>
                <a:lnTo>
                  <a:pt x="23942" y="86333"/>
                </a:lnTo>
                <a:lnTo>
                  <a:pt x="89234" y="41402"/>
                </a:lnTo>
                <a:lnTo>
                  <a:pt x="134324" y="24141"/>
                </a:lnTo>
                <a:lnTo>
                  <a:pt x="186075" y="11108"/>
                </a:lnTo>
                <a:lnTo>
                  <a:pt x="243264" y="2871"/>
                </a:lnTo>
                <a:lnTo>
                  <a:pt x="304665" y="0"/>
                </a:lnTo>
                <a:lnTo>
                  <a:pt x="366066" y="2871"/>
                </a:lnTo>
                <a:lnTo>
                  <a:pt x="423255" y="11108"/>
                </a:lnTo>
                <a:lnTo>
                  <a:pt x="475006" y="24141"/>
                </a:lnTo>
                <a:lnTo>
                  <a:pt x="520096" y="41402"/>
                </a:lnTo>
                <a:lnTo>
                  <a:pt x="557298" y="62322"/>
                </a:lnTo>
                <a:lnTo>
                  <a:pt x="603141" y="112867"/>
                </a:lnTo>
                <a:lnTo>
                  <a:pt x="609331" y="141356"/>
                </a:lnTo>
                <a:lnTo>
                  <a:pt x="603141" y="169844"/>
                </a:lnTo>
                <a:lnTo>
                  <a:pt x="557298" y="220389"/>
                </a:lnTo>
                <a:lnTo>
                  <a:pt x="520096" y="241309"/>
                </a:lnTo>
                <a:lnTo>
                  <a:pt x="475006" y="258570"/>
                </a:lnTo>
                <a:lnTo>
                  <a:pt x="423255" y="271603"/>
                </a:lnTo>
                <a:lnTo>
                  <a:pt x="366066" y="279840"/>
                </a:lnTo>
                <a:lnTo>
                  <a:pt x="304665" y="282712"/>
                </a:lnTo>
                <a:lnTo>
                  <a:pt x="243264" y="279840"/>
                </a:lnTo>
                <a:lnTo>
                  <a:pt x="186075" y="271603"/>
                </a:lnTo>
                <a:lnTo>
                  <a:pt x="134324" y="258570"/>
                </a:lnTo>
                <a:lnTo>
                  <a:pt x="89234" y="241309"/>
                </a:lnTo>
                <a:lnTo>
                  <a:pt x="52032" y="220389"/>
                </a:lnTo>
                <a:lnTo>
                  <a:pt x="6189" y="16984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058008" y="5912611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51092" y="5830158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297357" y="0"/>
                </a:moveTo>
                <a:lnTo>
                  <a:pt x="237429" y="3150"/>
                </a:lnTo>
                <a:lnTo>
                  <a:pt x="181612" y="12186"/>
                </a:lnTo>
                <a:lnTo>
                  <a:pt x="131102" y="26483"/>
                </a:lnTo>
                <a:lnTo>
                  <a:pt x="87094" y="45419"/>
                </a:lnTo>
                <a:lnTo>
                  <a:pt x="50784" y="68369"/>
                </a:lnTo>
                <a:lnTo>
                  <a:pt x="6041" y="123818"/>
                </a:lnTo>
                <a:lnTo>
                  <a:pt x="0" y="155070"/>
                </a:lnTo>
                <a:lnTo>
                  <a:pt x="6041" y="186322"/>
                </a:lnTo>
                <a:lnTo>
                  <a:pt x="50784" y="241771"/>
                </a:lnTo>
                <a:lnTo>
                  <a:pt x="87094" y="264721"/>
                </a:lnTo>
                <a:lnTo>
                  <a:pt x="131102" y="283657"/>
                </a:lnTo>
                <a:lnTo>
                  <a:pt x="181612" y="297954"/>
                </a:lnTo>
                <a:lnTo>
                  <a:pt x="237429" y="306990"/>
                </a:lnTo>
                <a:lnTo>
                  <a:pt x="297357" y="310140"/>
                </a:lnTo>
                <a:lnTo>
                  <a:pt x="357285" y="306990"/>
                </a:lnTo>
                <a:lnTo>
                  <a:pt x="413103" y="297954"/>
                </a:lnTo>
                <a:lnTo>
                  <a:pt x="463613" y="283657"/>
                </a:lnTo>
                <a:lnTo>
                  <a:pt x="507622" y="264721"/>
                </a:lnTo>
                <a:lnTo>
                  <a:pt x="543932" y="241771"/>
                </a:lnTo>
                <a:lnTo>
                  <a:pt x="588675" y="186322"/>
                </a:lnTo>
                <a:lnTo>
                  <a:pt x="594716" y="155070"/>
                </a:lnTo>
                <a:lnTo>
                  <a:pt x="588675" y="123818"/>
                </a:lnTo>
                <a:lnTo>
                  <a:pt x="543932" y="68369"/>
                </a:lnTo>
                <a:lnTo>
                  <a:pt x="507622" y="45419"/>
                </a:lnTo>
                <a:lnTo>
                  <a:pt x="463613" y="26483"/>
                </a:lnTo>
                <a:lnTo>
                  <a:pt x="413103" y="12186"/>
                </a:lnTo>
                <a:lnTo>
                  <a:pt x="357285" y="3150"/>
                </a:lnTo>
                <a:lnTo>
                  <a:pt x="29735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51092" y="5830158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0" y="155070"/>
                </a:moveTo>
                <a:lnTo>
                  <a:pt x="23367" y="94710"/>
                </a:lnTo>
                <a:lnTo>
                  <a:pt x="87094" y="45419"/>
                </a:lnTo>
                <a:lnTo>
                  <a:pt x="131102" y="26483"/>
                </a:lnTo>
                <a:lnTo>
                  <a:pt x="181612" y="12186"/>
                </a:lnTo>
                <a:lnTo>
                  <a:pt x="237429" y="3150"/>
                </a:lnTo>
                <a:lnTo>
                  <a:pt x="297358" y="0"/>
                </a:lnTo>
                <a:lnTo>
                  <a:pt x="357286" y="3150"/>
                </a:lnTo>
                <a:lnTo>
                  <a:pt x="413103" y="12186"/>
                </a:lnTo>
                <a:lnTo>
                  <a:pt x="463613" y="26483"/>
                </a:lnTo>
                <a:lnTo>
                  <a:pt x="507621" y="45419"/>
                </a:lnTo>
                <a:lnTo>
                  <a:pt x="543931" y="68369"/>
                </a:lnTo>
                <a:lnTo>
                  <a:pt x="588674" y="123818"/>
                </a:lnTo>
                <a:lnTo>
                  <a:pt x="594716" y="155070"/>
                </a:lnTo>
                <a:lnTo>
                  <a:pt x="588674" y="186322"/>
                </a:lnTo>
                <a:lnTo>
                  <a:pt x="543931" y="241771"/>
                </a:lnTo>
                <a:lnTo>
                  <a:pt x="507621" y="264721"/>
                </a:lnTo>
                <a:lnTo>
                  <a:pt x="463613" y="283657"/>
                </a:lnTo>
                <a:lnTo>
                  <a:pt x="413103" y="297954"/>
                </a:lnTo>
                <a:lnTo>
                  <a:pt x="357286" y="306990"/>
                </a:lnTo>
                <a:lnTo>
                  <a:pt x="297358" y="310141"/>
                </a:lnTo>
                <a:lnTo>
                  <a:pt x="237429" y="306990"/>
                </a:lnTo>
                <a:lnTo>
                  <a:pt x="181612" y="297954"/>
                </a:lnTo>
                <a:lnTo>
                  <a:pt x="131102" y="283657"/>
                </a:lnTo>
                <a:lnTo>
                  <a:pt x="87094" y="264721"/>
                </a:lnTo>
                <a:lnTo>
                  <a:pt x="50784" y="241771"/>
                </a:lnTo>
                <a:lnTo>
                  <a:pt x="6041" y="186322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130181" y="5882132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09228" y="5250417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434971" y="0"/>
                </a:moveTo>
                <a:lnTo>
                  <a:pt x="364416" y="2029"/>
                </a:lnTo>
                <a:lnTo>
                  <a:pt x="297486" y="7905"/>
                </a:lnTo>
                <a:lnTo>
                  <a:pt x="235076" y="17308"/>
                </a:lnTo>
                <a:lnTo>
                  <a:pt x="178082" y="29919"/>
                </a:lnTo>
                <a:lnTo>
                  <a:pt x="127400" y="45418"/>
                </a:lnTo>
                <a:lnTo>
                  <a:pt x="83924" y="63487"/>
                </a:lnTo>
                <a:lnTo>
                  <a:pt x="48550" y="83806"/>
                </a:lnTo>
                <a:lnTo>
                  <a:pt x="5693" y="129916"/>
                </a:lnTo>
                <a:lnTo>
                  <a:pt x="0" y="155069"/>
                </a:lnTo>
                <a:lnTo>
                  <a:pt x="5693" y="180222"/>
                </a:lnTo>
                <a:lnTo>
                  <a:pt x="48550" y="226333"/>
                </a:lnTo>
                <a:lnTo>
                  <a:pt x="83924" y="246652"/>
                </a:lnTo>
                <a:lnTo>
                  <a:pt x="127400" y="264721"/>
                </a:lnTo>
                <a:lnTo>
                  <a:pt x="178082" y="280220"/>
                </a:lnTo>
                <a:lnTo>
                  <a:pt x="235076" y="292831"/>
                </a:lnTo>
                <a:lnTo>
                  <a:pt x="297486" y="302234"/>
                </a:lnTo>
                <a:lnTo>
                  <a:pt x="364416" y="308110"/>
                </a:lnTo>
                <a:lnTo>
                  <a:pt x="434971" y="310140"/>
                </a:lnTo>
                <a:lnTo>
                  <a:pt x="505525" y="308110"/>
                </a:lnTo>
                <a:lnTo>
                  <a:pt x="572455" y="302234"/>
                </a:lnTo>
                <a:lnTo>
                  <a:pt x="634865" y="292831"/>
                </a:lnTo>
                <a:lnTo>
                  <a:pt x="691859" y="280220"/>
                </a:lnTo>
                <a:lnTo>
                  <a:pt x="742542" y="264721"/>
                </a:lnTo>
                <a:lnTo>
                  <a:pt x="786018" y="246652"/>
                </a:lnTo>
                <a:lnTo>
                  <a:pt x="821391" y="226333"/>
                </a:lnTo>
                <a:lnTo>
                  <a:pt x="864249" y="180222"/>
                </a:lnTo>
                <a:lnTo>
                  <a:pt x="869942" y="155069"/>
                </a:lnTo>
                <a:lnTo>
                  <a:pt x="864249" y="129916"/>
                </a:lnTo>
                <a:lnTo>
                  <a:pt x="821391" y="83806"/>
                </a:lnTo>
                <a:lnTo>
                  <a:pt x="786018" y="63487"/>
                </a:lnTo>
                <a:lnTo>
                  <a:pt x="742542" y="45418"/>
                </a:lnTo>
                <a:lnTo>
                  <a:pt x="691859" y="29919"/>
                </a:lnTo>
                <a:lnTo>
                  <a:pt x="634865" y="17308"/>
                </a:lnTo>
                <a:lnTo>
                  <a:pt x="572455" y="7905"/>
                </a:lnTo>
                <a:lnTo>
                  <a:pt x="505525" y="2029"/>
                </a:lnTo>
                <a:lnTo>
                  <a:pt x="43497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09228" y="5250417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0" y="155070"/>
                </a:moveTo>
                <a:lnTo>
                  <a:pt x="22175" y="106056"/>
                </a:lnTo>
                <a:lnTo>
                  <a:pt x="83924" y="63487"/>
                </a:lnTo>
                <a:lnTo>
                  <a:pt x="127400" y="45419"/>
                </a:lnTo>
                <a:lnTo>
                  <a:pt x="178082" y="29919"/>
                </a:lnTo>
                <a:lnTo>
                  <a:pt x="235077" y="17308"/>
                </a:lnTo>
                <a:lnTo>
                  <a:pt x="297486" y="7905"/>
                </a:lnTo>
                <a:lnTo>
                  <a:pt x="364416" y="2029"/>
                </a:lnTo>
                <a:lnTo>
                  <a:pt x="434971" y="0"/>
                </a:lnTo>
                <a:lnTo>
                  <a:pt x="505526" y="2029"/>
                </a:lnTo>
                <a:lnTo>
                  <a:pt x="572456" y="7905"/>
                </a:lnTo>
                <a:lnTo>
                  <a:pt x="634865" y="17308"/>
                </a:lnTo>
                <a:lnTo>
                  <a:pt x="691860" y="29919"/>
                </a:lnTo>
                <a:lnTo>
                  <a:pt x="742542" y="45419"/>
                </a:lnTo>
                <a:lnTo>
                  <a:pt x="786018" y="63487"/>
                </a:lnTo>
                <a:lnTo>
                  <a:pt x="821392" y="83806"/>
                </a:lnTo>
                <a:lnTo>
                  <a:pt x="864249" y="129917"/>
                </a:lnTo>
                <a:lnTo>
                  <a:pt x="869943" y="155070"/>
                </a:lnTo>
                <a:lnTo>
                  <a:pt x="864249" y="180223"/>
                </a:lnTo>
                <a:lnTo>
                  <a:pt x="821392" y="226334"/>
                </a:lnTo>
                <a:lnTo>
                  <a:pt x="786018" y="246653"/>
                </a:lnTo>
                <a:lnTo>
                  <a:pt x="742542" y="264721"/>
                </a:lnTo>
                <a:lnTo>
                  <a:pt x="691860" y="280221"/>
                </a:lnTo>
                <a:lnTo>
                  <a:pt x="634865" y="292832"/>
                </a:lnTo>
                <a:lnTo>
                  <a:pt x="572456" y="302235"/>
                </a:lnTo>
                <a:lnTo>
                  <a:pt x="505526" y="308111"/>
                </a:lnTo>
                <a:lnTo>
                  <a:pt x="434971" y="310141"/>
                </a:lnTo>
                <a:lnTo>
                  <a:pt x="364416" y="308111"/>
                </a:lnTo>
                <a:lnTo>
                  <a:pt x="297486" y="302235"/>
                </a:lnTo>
                <a:lnTo>
                  <a:pt x="235077" y="292832"/>
                </a:lnTo>
                <a:lnTo>
                  <a:pt x="178082" y="280221"/>
                </a:lnTo>
                <a:lnTo>
                  <a:pt x="127400" y="264721"/>
                </a:lnTo>
                <a:lnTo>
                  <a:pt x="83924" y="246653"/>
                </a:lnTo>
                <a:lnTo>
                  <a:pt x="48550" y="226334"/>
                </a:lnTo>
                <a:lnTo>
                  <a:pt x="5693" y="180223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741793" y="5299964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546703" y="4894040"/>
            <a:ext cx="215900" cy="356870"/>
          </a:xfrm>
          <a:custGeom>
            <a:avLst/>
            <a:gdLst/>
            <a:ahLst/>
            <a:cxnLst/>
            <a:rect l="l" t="t" r="r" b="b"/>
            <a:pathLst>
              <a:path w="215900" h="356870">
                <a:moveTo>
                  <a:pt x="215866" y="0"/>
                </a:moveTo>
                <a:lnTo>
                  <a:pt x="0" y="3563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00341" y="5522040"/>
            <a:ext cx="560705" cy="395605"/>
          </a:xfrm>
          <a:custGeom>
            <a:avLst/>
            <a:gdLst/>
            <a:ahLst/>
            <a:cxnLst/>
            <a:rect l="l" t="t" r="r" b="b"/>
            <a:pathLst>
              <a:path w="560705" h="395604">
                <a:moveTo>
                  <a:pt x="0" y="0"/>
                </a:moveTo>
                <a:lnTo>
                  <a:pt x="560505" y="39557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39815" y="4800944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3879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545807" y="4900897"/>
            <a:ext cx="398780" cy="349885"/>
          </a:xfrm>
          <a:custGeom>
            <a:avLst/>
            <a:gdLst/>
            <a:ahLst/>
            <a:cxnLst/>
            <a:rect l="l" t="t" r="r" b="b"/>
            <a:pathLst>
              <a:path w="398779" h="349885">
                <a:moveTo>
                  <a:pt x="398392" y="34952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00655" y="4894040"/>
            <a:ext cx="1236345" cy="401955"/>
          </a:xfrm>
          <a:custGeom>
            <a:avLst/>
            <a:gdLst/>
            <a:ahLst/>
            <a:cxnLst/>
            <a:rect l="l" t="t" r="r" b="b"/>
            <a:pathLst>
              <a:path w="1236345" h="401954">
                <a:moveTo>
                  <a:pt x="1235972" y="40179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86611" y="5380684"/>
            <a:ext cx="1623060" cy="25400"/>
          </a:xfrm>
          <a:custGeom>
            <a:avLst/>
            <a:gdLst/>
            <a:ahLst/>
            <a:cxnLst/>
            <a:rect l="l" t="t" r="r" b="b"/>
            <a:pathLst>
              <a:path w="1623060" h="25400">
                <a:moveTo>
                  <a:pt x="1622617" y="2480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744185" y="5480637"/>
            <a:ext cx="1294130" cy="394970"/>
          </a:xfrm>
          <a:custGeom>
            <a:avLst/>
            <a:gdLst/>
            <a:ahLst/>
            <a:cxnLst/>
            <a:rect l="l" t="t" r="r" b="b"/>
            <a:pathLst>
              <a:path w="1294130" h="394970">
                <a:moveTo>
                  <a:pt x="1294000" y="3949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62447" y="450093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380856" y="0"/>
                </a:moveTo>
                <a:lnTo>
                  <a:pt x="312397" y="2454"/>
                </a:lnTo>
                <a:lnTo>
                  <a:pt x="247963" y="9531"/>
                </a:lnTo>
                <a:lnTo>
                  <a:pt x="188630" y="20800"/>
                </a:lnTo>
                <a:lnTo>
                  <a:pt x="135475" y="35831"/>
                </a:lnTo>
                <a:lnTo>
                  <a:pt x="89572" y="54193"/>
                </a:lnTo>
                <a:lnTo>
                  <a:pt x="51998" y="75456"/>
                </a:lnTo>
                <a:lnTo>
                  <a:pt x="6136" y="124965"/>
                </a:lnTo>
                <a:lnTo>
                  <a:pt x="0" y="152350"/>
                </a:lnTo>
                <a:lnTo>
                  <a:pt x="6136" y="179735"/>
                </a:lnTo>
                <a:lnTo>
                  <a:pt x="51998" y="229245"/>
                </a:lnTo>
                <a:lnTo>
                  <a:pt x="89572" y="250508"/>
                </a:lnTo>
                <a:lnTo>
                  <a:pt x="135475" y="268870"/>
                </a:lnTo>
                <a:lnTo>
                  <a:pt x="188630" y="283901"/>
                </a:lnTo>
                <a:lnTo>
                  <a:pt x="247963" y="295170"/>
                </a:lnTo>
                <a:lnTo>
                  <a:pt x="312397" y="302247"/>
                </a:lnTo>
                <a:lnTo>
                  <a:pt x="380856" y="304702"/>
                </a:lnTo>
                <a:lnTo>
                  <a:pt x="449315" y="302247"/>
                </a:lnTo>
                <a:lnTo>
                  <a:pt x="513749" y="295170"/>
                </a:lnTo>
                <a:lnTo>
                  <a:pt x="573082" y="283901"/>
                </a:lnTo>
                <a:lnTo>
                  <a:pt x="626238" y="268870"/>
                </a:lnTo>
                <a:lnTo>
                  <a:pt x="672141" y="250508"/>
                </a:lnTo>
                <a:lnTo>
                  <a:pt x="709715" y="229245"/>
                </a:lnTo>
                <a:lnTo>
                  <a:pt x="755578" y="179735"/>
                </a:lnTo>
                <a:lnTo>
                  <a:pt x="761714" y="152350"/>
                </a:lnTo>
                <a:lnTo>
                  <a:pt x="755578" y="124965"/>
                </a:lnTo>
                <a:lnTo>
                  <a:pt x="709715" y="75456"/>
                </a:lnTo>
                <a:lnTo>
                  <a:pt x="672141" y="54193"/>
                </a:lnTo>
                <a:lnTo>
                  <a:pt x="626238" y="35831"/>
                </a:lnTo>
                <a:lnTo>
                  <a:pt x="573082" y="20800"/>
                </a:lnTo>
                <a:lnTo>
                  <a:pt x="513749" y="9531"/>
                </a:lnTo>
                <a:lnTo>
                  <a:pt x="449315" y="2454"/>
                </a:lnTo>
                <a:lnTo>
                  <a:pt x="3808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62447" y="4500930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351"/>
                </a:moveTo>
                <a:lnTo>
                  <a:pt x="23827" y="99190"/>
                </a:lnTo>
                <a:lnTo>
                  <a:pt x="89572" y="54193"/>
                </a:lnTo>
                <a:lnTo>
                  <a:pt x="135475" y="35831"/>
                </a:lnTo>
                <a:lnTo>
                  <a:pt x="188631" y="20800"/>
                </a:lnTo>
                <a:lnTo>
                  <a:pt x="247963" y="9531"/>
                </a:lnTo>
                <a:lnTo>
                  <a:pt x="312397" y="2454"/>
                </a:lnTo>
                <a:lnTo>
                  <a:pt x="380857" y="0"/>
                </a:lnTo>
                <a:lnTo>
                  <a:pt x="449316" y="2454"/>
                </a:lnTo>
                <a:lnTo>
                  <a:pt x="513750" y="9531"/>
                </a:lnTo>
                <a:lnTo>
                  <a:pt x="573082" y="20800"/>
                </a:lnTo>
                <a:lnTo>
                  <a:pt x="626238" y="35831"/>
                </a:lnTo>
                <a:lnTo>
                  <a:pt x="672141" y="54193"/>
                </a:lnTo>
                <a:lnTo>
                  <a:pt x="709715" y="75456"/>
                </a:lnTo>
                <a:lnTo>
                  <a:pt x="755577" y="124965"/>
                </a:lnTo>
                <a:lnTo>
                  <a:pt x="761714" y="152351"/>
                </a:lnTo>
                <a:lnTo>
                  <a:pt x="755577" y="179736"/>
                </a:lnTo>
                <a:lnTo>
                  <a:pt x="709715" y="229245"/>
                </a:lnTo>
                <a:lnTo>
                  <a:pt x="672141" y="250508"/>
                </a:lnTo>
                <a:lnTo>
                  <a:pt x="626238" y="268870"/>
                </a:lnTo>
                <a:lnTo>
                  <a:pt x="573082" y="283901"/>
                </a:lnTo>
                <a:lnTo>
                  <a:pt x="513750" y="295170"/>
                </a:lnTo>
                <a:lnTo>
                  <a:pt x="449316" y="302247"/>
                </a:lnTo>
                <a:lnTo>
                  <a:pt x="380857" y="304702"/>
                </a:lnTo>
                <a:lnTo>
                  <a:pt x="312397" y="302247"/>
                </a:lnTo>
                <a:lnTo>
                  <a:pt x="247963" y="295170"/>
                </a:lnTo>
                <a:lnTo>
                  <a:pt x="188631" y="283901"/>
                </a:lnTo>
                <a:lnTo>
                  <a:pt x="135475" y="268870"/>
                </a:lnTo>
                <a:lnTo>
                  <a:pt x="89572" y="250508"/>
                </a:lnTo>
                <a:lnTo>
                  <a:pt x="51998" y="229245"/>
                </a:lnTo>
                <a:lnTo>
                  <a:pt x="6136" y="179736"/>
                </a:lnTo>
                <a:lnTo>
                  <a:pt x="0" y="152351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982966" y="4550155"/>
            <a:ext cx="321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918090" y="4484208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446201" y="0"/>
                </a:moveTo>
                <a:lnTo>
                  <a:pt x="380265" y="1758"/>
                </a:lnTo>
                <a:lnTo>
                  <a:pt x="317332" y="6866"/>
                </a:lnTo>
                <a:lnTo>
                  <a:pt x="258094" y="15073"/>
                </a:lnTo>
                <a:lnTo>
                  <a:pt x="203240" y="26127"/>
                </a:lnTo>
                <a:lnTo>
                  <a:pt x="153460" y="39779"/>
                </a:lnTo>
                <a:lnTo>
                  <a:pt x="109445" y="55777"/>
                </a:lnTo>
                <a:lnTo>
                  <a:pt x="71885" y="73870"/>
                </a:lnTo>
                <a:lnTo>
                  <a:pt x="18891" y="115339"/>
                </a:lnTo>
                <a:lnTo>
                  <a:pt x="0" y="162178"/>
                </a:lnTo>
                <a:lnTo>
                  <a:pt x="4837" y="186144"/>
                </a:lnTo>
                <a:lnTo>
                  <a:pt x="41471" y="230549"/>
                </a:lnTo>
                <a:lnTo>
                  <a:pt x="109445" y="268580"/>
                </a:lnTo>
                <a:lnTo>
                  <a:pt x="153460" y="284578"/>
                </a:lnTo>
                <a:lnTo>
                  <a:pt x="203240" y="298230"/>
                </a:lnTo>
                <a:lnTo>
                  <a:pt x="258094" y="309284"/>
                </a:lnTo>
                <a:lnTo>
                  <a:pt x="317332" y="317491"/>
                </a:lnTo>
                <a:lnTo>
                  <a:pt x="380265" y="322599"/>
                </a:lnTo>
                <a:lnTo>
                  <a:pt x="446201" y="324357"/>
                </a:lnTo>
                <a:lnTo>
                  <a:pt x="512138" y="322599"/>
                </a:lnTo>
                <a:lnTo>
                  <a:pt x="575070" y="317491"/>
                </a:lnTo>
                <a:lnTo>
                  <a:pt x="634309" y="309284"/>
                </a:lnTo>
                <a:lnTo>
                  <a:pt x="689163" y="298230"/>
                </a:lnTo>
                <a:lnTo>
                  <a:pt x="738943" y="284578"/>
                </a:lnTo>
                <a:lnTo>
                  <a:pt x="782957" y="268580"/>
                </a:lnTo>
                <a:lnTo>
                  <a:pt x="820517" y="250487"/>
                </a:lnTo>
                <a:lnTo>
                  <a:pt x="873511" y="209018"/>
                </a:lnTo>
                <a:lnTo>
                  <a:pt x="892403" y="162178"/>
                </a:lnTo>
                <a:lnTo>
                  <a:pt x="887565" y="138213"/>
                </a:lnTo>
                <a:lnTo>
                  <a:pt x="850932" y="93808"/>
                </a:lnTo>
                <a:lnTo>
                  <a:pt x="782957" y="55777"/>
                </a:lnTo>
                <a:lnTo>
                  <a:pt x="738943" y="39779"/>
                </a:lnTo>
                <a:lnTo>
                  <a:pt x="689163" y="26127"/>
                </a:lnTo>
                <a:lnTo>
                  <a:pt x="634309" y="15073"/>
                </a:lnTo>
                <a:lnTo>
                  <a:pt x="575070" y="6866"/>
                </a:lnTo>
                <a:lnTo>
                  <a:pt x="512138" y="1758"/>
                </a:lnTo>
                <a:lnTo>
                  <a:pt x="4462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18090" y="4484208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0" y="162179"/>
                </a:moveTo>
                <a:lnTo>
                  <a:pt x="18891" y="115339"/>
                </a:lnTo>
                <a:lnTo>
                  <a:pt x="71885" y="73870"/>
                </a:lnTo>
                <a:lnTo>
                  <a:pt x="109445" y="55777"/>
                </a:lnTo>
                <a:lnTo>
                  <a:pt x="153460" y="39779"/>
                </a:lnTo>
                <a:lnTo>
                  <a:pt x="203240" y="26128"/>
                </a:lnTo>
                <a:lnTo>
                  <a:pt x="258094" y="15073"/>
                </a:lnTo>
                <a:lnTo>
                  <a:pt x="317332" y="6866"/>
                </a:lnTo>
                <a:lnTo>
                  <a:pt x="380265" y="1758"/>
                </a:lnTo>
                <a:lnTo>
                  <a:pt x="446202" y="0"/>
                </a:lnTo>
                <a:lnTo>
                  <a:pt x="512138" y="1758"/>
                </a:lnTo>
                <a:lnTo>
                  <a:pt x="575071" y="6866"/>
                </a:lnTo>
                <a:lnTo>
                  <a:pt x="634309" y="15073"/>
                </a:lnTo>
                <a:lnTo>
                  <a:pt x="689163" y="26128"/>
                </a:lnTo>
                <a:lnTo>
                  <a:pt x="738943" y="39779"/>
                </a:lnTo>
                <a:lnTo>
                  <a:pt x="782958" y="55777"/>
                </a:lnTo>
                <a:lnTo>
                  <a:pt x="820518" y="73870"/>
                </a:lnTo>
                <a:lnTo>
                  <a:pt x="873512" y="115339"/>
                </a:lnTo>
                <a:lnTo>
                  <a:pt x="892404" y="162179"/>
                </a:lnTo>
                <a:lnTo>
                  <a:pt x="887566" y="186144"/>
                </a:lnTo>
                <a:lnTo>
                  <a:pt x="850932" y="230549"/>
                </a:lnTo>
                <a:lnTo>
                  <a:pt x="782958" y="268580"/>
                </a:lnTo>
                <a:lnTo>
                  <a:pt x="738943" y="284578"/>
                </a:lnTo>
                <a:lnTo>
                  <a:pt x="689163" y="298229"/>
                </a:lnTo>
                <a:lnTo>
                  <a:pt x="634309" y="309284"/>
                </a:lnTo>
                <a:lnTo>
                  <a:pt x="575071" y="317491"/>
                </a:lnTo>
                <a:lnTo>
                  <a:pt x="512138" y="322599"/>
                </a:lnTo>
                <a:lnTo>
                  <a:pt x="446202" y="324358"/>
                </a:lnTo>
                <a:lnTo>
                  <a:pt x="380265" y="322599"/>
                </a:lnTo>
                <a:lnTo>
                  <a:pt x="317332" y="317491"/>
                </a:lnTo>
                <a:lnTo>
                  <a:pt x="258094" y="309284"/>
                </a:lnTo>
                <a:lnTo>
                  <a:pt x="203240" y="298229"/>
                </a:lnTo>
                <a:lnTo>
                  <a:pt x="153460" y="284578"/>
                </a:lnTo>
                <a:lnTo>
                  <a:pt x="109445" y="268580"/>
                </a:lnTo>
                <a:lnTo>
                  <a:pt x="71885" y="250487"/>
                </a:lnTo>
                <a:lnTo>
                  <a:pt x="18891" y="209018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7161885" y="4541011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131201" y="5161395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498052" y="0"/>
                </a:moveTo>
                <a:lnTo>
                  <a:pt x="430469" y="1415"/>
                </a:lnTo>
                <a:lnTo>
                  <a:pt x="365650" y="5539"/>
                </a:lnTo>
                <a:lnTo>
                  <a:pt x="304187" y="12186"/>
                </a:lnTo>
                <a:lnTo>
                  <a:pt x="246675" y="21171"/>
                </a:lnTo>
                <a:lnTo>
                  <a:pt x="193707" y="32310"/>
                </a:lnTo>
                <a:lnTo>
                  <a:pt x="145876" y="45419"/>
                </a:lnTo>
                <a:lnTo>
                  <a:pt x="103775" y="60311"/>
                </a:lnTo>
                <a:lnTo>
                  <a:pt x="67998" y="76803"/>
                </a:lnTo>
                <a:lnTo>
                  <a:pt x="17790" y="113846"/>
                </a:lnTo>
                <a:lnTo>
                  <a:pt x="0" y="155070"/>
                </a:lnTo>
                <a:lnTo>
                  <a:pt x="4546" y="176112"/>
                </a:lnTo>
                <a:lnTo>
                  <a:pt x="39139" y="215431"/>
                </a:lnTo>
                <a:lnTo>
                  <a:pt x="103775" y="249829"/>
                </a:lnTo>
                <a:lnTo>
                  <a:pt x="145876" y="264722"/>
                </a:lnTo>
                <a:lnTo>
                  <a:pt x="193707" y="277830"/>
                </a:lnTo>
                <a:lnTo>
                  <a:pt x="246675" y="288969"/>
                </a:lnTo>
                <a:lnTo>
                  <a:pt x="304187" y="297955"/>
                </a:lnTo>
                <a:lnTo>
                  <a:pt x="365650" y="304602"/>
                </a:lnTo>
                <a:lnTo>
                  <a:pt x="430469" y="308725"/>
                </a:lnTo>
                <a:lnTo>
                  <a:pt x="498052" y="310141"/>
                </a:lnTo>
                <a:lnTo>
                  <a:pt x="565634" y="308725"/>
                </a:lnTo>
                <a:lnTo>
                  <a:pt x="630453" y="304602"/>
                </a:lnTo>
                <a:lnTo>
                  <a:pt x="691915" y="297955"/>
                </a:lnTo>
                <a:lnTo>
                  <a:pt x="749427" y="288969"/>
                </a:lnTo>
                <a:lnTo>
                  <a:pt x="802395" y="277830"/>
                </a:lnTo>
                <a:lnTo>
                  <a:pt x="850227" y="264722"/>
                </a:lnTo>
                <a:lnTo>
                  <a:pt x="892327" y="249829"/>
                </a:lnTo>
                <a:lnTo>
                  <a:pt x="928104" y="233337"/>
                </a:lnTo>
                <a:lnTo>
                  <a:pt x="978312" y="196294"/>
                </a:lnTo>
                <a:lnTo>
                  <a:pt x="996102" y="155070"/>
                </a:lnTo>
                <a:lnTo>
                  <a:pt x="991556" y="134028"/>
                </a:lnTo>
                <a:lnTo>
                  <a:pt x="956963" y="94710"/>
                </a:lnTo>
                <a:lnTo>
                  <a:pt x="892327" y="60311"/>
                </a:lnTo>
                <a:lnTo>
                  <a:pt x="850227" y="45419"/>
                </a:lnTo>
                <a:lnTo>
                  <a:pt x="802395" y="32310"/>
                </a:lnTo>
                <a:lnTo>
                  <a:pt x="749427" y="21171"/>
                </a:lnTo>
                <a:lnTo>
                  <a:pt x="691915" y="12186"/>
                </a:lnTo>
                <a:lnTo>
                  <a:pt x="630453" y="5539"/>
                </a:lnTo>
                <a:lnTo>
                  <a:pt x="565634" y="1415"/>
                </a:lnTo>
                <a:lnTo>
                  <a:pt x="49805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131201" y="5161395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0" y="155070"/>
                </a:moveTo>
                <a:lnTo>
                  <a:pt x="17790" y="113846"/>
                </a:lnTo>
                <a:lnTo>
                  <a:pt x="67998" y="76803"/>
                </a:lnTo>
                <a:lnTo>
                  <a:pt x="103775" y="60311"/>
                </a:lnTo>
                <a:lnTo>
                  <a:pt x="145875" y="45419"/>
                </a:lnTo>
                <a:lnTo>
                  <a:pt x="193706" y="32310"/>
                </a:lnTo>
                <a:lnTo>
                  <a:pt x="246675" y="21171"/>
                </a:lnTo>
                <a:lnTo>
                  <a:pt x="304187" y="12186"/>
                </a:lnTo>
                <a:lnTo>
                  <a:pt x="365649" y="5539"/>
                </a:lnTo>
                <a:lnTo>
                  <a:pt x="430468" y="1415"/>
                </a:lnTo>
                <a:lnTo>
                  <a:pt x="498051" y="0"/>
                </a:lnTo>
                <a:lnTo>
                  <a:pt x="565633" y="1415"/>
                </a:lnTo>
                <a:lnTo>
                  <a:pt x="630452" y="5539"/>
                </a:lnTo>
                <a:lnTo>
                  <a:pt x="691914" y="12186"/>
                </a:lnTo>
                <a:lnTo>
                  <a:pt x="749426" y="21171"/>
                </a:lnTo>
                <a:lnTo>
                  <a:pt x="802395" y="32310"/>
                </a:lnTo>
                <a:lnTo>
                  <a:pt x="850226" y="45419"/>
                </a:lnTo>
                <a:lnTo>
                  <a:pt x="892326" y="60311"/>
                </a:lnTo>
                <a:lnTo>
                  <a:pt x="928103" y="76803"/>
                </a:lnTo>
                <a:lnTo>
                  <a:pt x="978311" y="113846"/>
                </a:lnTo>
                <a:lnTo>
                  <a:pt x="996102" y="155070"/>
                </a:lnTo>
                <a:lnTo>
                  <a:pt x="991555" y="176112"/>
                </a:lnTo>
                <a:lnTo>
                  <a:pt x="956962" y="215430"/>
                </a:lnTo>
                <a:lnTo>
                  <a:pt x="892326" y="249829"/>
                </a:lnTo>
                <a:lnTo>
                  <a:pt x="850226" y="264721"/>
                </a:lnTo>
                <a:lnTo>
                  <a:pt x="802395" y="277830"/>
                </a:lnTo>
                <a:lnTo>
                  <a:pt x="749426" y="288969"/>
                </a:lnTo>
                <a:lnTo>
                  <a:pt x="691914" y="297954"/>
                </a:lnTo>
                <a:lnTo>
                  <a:pt x="630452" y="304601"/>
                </a:lnTo>
                <a:lnTo>
                  <a:pt x="565633" y="308725"/>
                </a:lnTo>
                <a:lnTo>
                  <a:pt x="498051" y="310141"/>
                </a:lnTo>
                <a:lnTo>
                  <a:pt x="430468" y="308725"/>
                </a:lnTo>
                <a:lnTo>
                  <a:pt x="365649" y="304601"/>
                </a:lnTo>
                <a:lnTo>
                  <a:pt x="304187" y="297954"/>
                </a:lnTo>
                <a:lnTo>
                  <a:pt x="246675" y="288969"/>
                </a:lnTo>
                <a:lnTo>
                  <a:pt x="193706" y="277830"/>
                </a:lnTo>
                <a:lnTo>
                  <a:pt x="145875" y="264721"/>
                </a:lnTo>
                <a:lnTo>
                  <a:pt x="103775" y="249829"/>
                </a:lnTo>
                <a:lnTo>
                  <a:pt x="67998" y="233337"/>
                </a:lnTo>
                <a:lnTo>
                  <a:pt x="17790" y="196294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384778" y="5211571"/>
            <a:ext cx="4895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5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084355" y="585153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6" y="12186"/>
                </a:lnTo>
                <a:lnTo>
                  <a:pt x="134324" y="26483"/>
                </a:lnTo>
                <a:lnTo>
                  <a:pt x="89234" y="45419"/>
                </a:lnTo>
                <a:lnTo>
                  <a:pt x="52032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2" y="241771"/>
                </a:lnTo>
                <a:lnTo>
                  <a:pt x="89234" y="264721"/>
                </a:lnTo>
                <a:lnTo>
                  <a:pt x="134324" y="283657"/>
                </a:lnTo>
                <a:lnTo>
                  <a:pt x="186076" y="297954"/>
                </a:lnTo>
                <a:lnTo>
                  <a:pt x="243264" y="306990"/>
                </a:lnTo>
                <a:lnTo>
                  <a:pt x="304665" y="310140"/>
                </a:lnTo>
                <a:lnTo>
                  <a:pt x="366066" y="306990"/>
                </a:lnTo>
                <a:lnTo>
                  <a:pt x="423255" y="297954"/>
                </a:lnTo>
                <a:lnTo>
                  <a:pt x="475006" y="283657"/>
                </a:lnTo>
                <a:lnTo>
                  <a:pt x="520096" y="264721"/>
                </a:lnTo>
                <a:lnTo>
                  <a:pt x="557298" y="241771"/>
                </a:lnTo>
                <a:lnTo>
                  <a:pt x="585388" y="215430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6" y="45419"/>
                </a:lnTo>
                <a:lnTo>
                  <a:pt x="475006" y="26483"/>
                </a:lnTo>
                <a:lnTo>
                  <a:pt x="423255" y="12186"/>
                </a:lnTo>
                <a:lnTo>
                  <a:pt x="366066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84355" y="585153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3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5" y="3150"/>
                </a:lnTo>
                <a:lnTo>
                  <a:pt x="423254" y="12186"/>
                </a:lnTo>
                <a:lnTo>
                  <a:pt x="475006" y="26483"/>
                </a:lnTo>
                <a:lnTo>
                  <a:pt x="520095" y="45419"/>
                </a:lnTo>
                <a:lnTo>
                  <a:pt x="557298" y="68369"/>
                </a:lnTo>
                <a:lnTo>
                  <a:pt x="585387" y="94710"/>
                </a:lnTo>
                <a:lnTo>
                  <a:pt x="609330" y="155070"/>
                </a:lnTo>
                <a:lnTo>
                  <a:pt x="603140" y="186322"/>
                </a:lnTo>
                <a:lnTo>
                  <a:pt x="557298" y="241771"/>
                </a:lnTo>
                <a:lnTo>
                  <a:pt x="520095" y="264721"/>
                </a:lnTo>
                <a:lnTo>
                  <a:pt x="475006" y="283657"/>
                </a:lnTo>
                <a:lnTo>
                  <a:pt x="423254" y="297954"/>
                </a:lnTo>
                <a:lnTo>
                  <a:pt x="366065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3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6270752" y="5903467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941332" y="585153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1"/>
                </a:lnTo>
                <a:lnTo>
                  <a:pt x="89234" y="264721"/>
                </a:lnTo>
                <a:lnTo>
                  <a:pt x="134323" y="283657"/>
                </a:lnTo>
                <a:lnTo>
                  <a:pt x="186075" y="297954"/>
                </a:lnTo>
                <a:lnTo>
                  <a:pt x="243264" y="306990"/>
                </a:lnTo>
                <a:lnTo>
                  <a:pt x="304665" y="310140"/>
                </a:lnTo>
                <a:lnTo>
                  <a:pt x="366065" y="306990"/>
                </a:lnTo>
                <a:lnTo>
                  <a:pt x="423254" y="297954"/>
                </a:lnTo>
                <a:lnTo>
                  <a:pt x="475006" y="283657"/>
                </a:lnTo>
                <a:lnTo>
                  <a:pt x="520095" y="264721"/>
                </a:lnTo>
                <a:lnTo>
                  <a:pt x="557298" y="241771"/>
                </a:lnTo>
                <a:lnTo>
                  <a:pt x="585388" y="215430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5" y="45419"/>
                </a:lnTo>
                <a:lnTo>
                  <a:pt x="475006" y="26483"/>
                </a:lnTo>
                <a:lnTo>
                  <a:pt x="423254" y="12186"/>
                </a:lnTo>
                <a:lnTo>
                  <a:pt x="366065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941332" y="5851538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4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6" y="3150"/>
                </a:lnTo>
                <a:lnTo>
                  <a:pt x="423255" y="12186"/>
                </a:lnTo>
                <a:lnTo>
                  <a:pt x="475006" y="26483"/>
                </a:lnTo>
                <a:lnTo>
                  <a:pt x="520096" y="45419"/>
                </a:lnTo>
                <a:lnTo>
                  <a:pt x="557298" y="68369"/>
                </a:lnTo>
                <a:lnTo>
                  <a:pt x="585388" y="94710"/>
                </a:lnTo>
                <a:lnTo>
                  <a:pt x="609331" y="155070"/>
                </a:lnTo>
                <a:lnTo>
                  <a:pt x="603141" y="186322"/>
                </a:lnTo>
                <a:lnTo>
                  <a:pt x="557298" y="241771"/>
                </a:lnTo>
                <a:lnTo>
                  <a:pt x="520096" y="264721"/>
                </a:lnTo>
                <a:lnTo>
                  <a:pt x="475006" y="283657"/>
                </a:lnTo>
                <a:lnTo>
                  <a:pt x="423255" y="297954"/>
                </a:lnTo>
                <a:lnTo>
                  <a:pt x="366066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4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127727" y="5903467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605252" y="5174350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422699" y="0"/>
                </a:moveTo>
                <a:lnTo>
                  <a:pt x="354135" y="2122"/>
                </a:lnTo>
                <a:lnTo>
                  <a:pt x="289093" y="8267"/>
                </a:lnTo>
                <a:lnTo>
                  <a:pt x="228444" y="18102"/>
                </a:lnTo>
                <a:lnTo>
                  <a:pt x="173058" y="31291"/>
                </a:lnTo>
                <a:lnTo>
                  <a:pt x="123805" y="47501"/>
                </a:lnTo>
                <a:lnTo>
                  <a:pt x="81556" y="66398"/>
                </a:lnTo>
                <a:lnTo>
                  <a:pt x="47180" y="87648"/>
                </a:lnTo>
                <a:lnTo>
                  <a:pt x="5532" y="135872"/>
                </a:lnTo>
                <a:lnTo>
                  <a:pt x="0" y="162178"/>
                </a:lnTo>
                <a:lnTo>
                  <a:pt x="5532" y="188485"/>
                </a:lnTo>
                <a:lnTo>
                  <a:pt x="47180" y="236709"/>
                </a:lnTo>
                <a:lnTo>
                  <a:pt x="81556" y="257960"/>
                </a:lnTo>
                <a:lnTo>
                  <a:pt x="123805" y="276857"/>
                </a:lnTo>
                <a:lnTo>
                  <a:pt x="173058" y="293067"/>
                </a:lnTo>
                <a:lnTo>
                  <a:pt x="228444" y="306256"/>
                </a:lnTo>
                <a:lnTo>
                  <a:pt x="289093" y="316091"/>
                </a:lnTo>
                <a:lnTo>
                  <a:pt x="354135" y="322236"/>
                </a:lnTo>
                <a:lnTo>
                  <a:pt x="422699" y="324359"/>
                </a:lnTo>
                <a:lnTo>
                  <a:pt x="491263" y="322236"/>
                </a:lnTo>
                <a:lnTo>
                  <a:pt x="556304" y="316091"/>
                </a:lnTo>
                <a:lnTo>
                  <a:pt x="616953" y="306256"/>
                </a:lnTo>
                <a:lnTo>
                  <a:pt x="672339" y="293067"/>
                </a:lnTo>
                <a:lnTo>
                  <a:pt x="721592" y="276857"/>
                </a:lnTo>
                <a:lnTo>
                  <a:pt x="763841" y="257960"/>
                </a:lnTo>
                <a:lnTo>
                  <a:pt x="798217" y="236709"/>
                </a:lnTo>
                <a:lnTo>
                  <a:pt x="839865" y="188485"/>
                </a:lnTo>
                <a:lnTo>
                  <a:pt x="845398" y="162178"/>
                </a:lnTo>
                <a:lnTo>
                  <a:pt x="839865" y="135872"/>
                </a:lnTo>
                <a:lnTo>
                  <a:pt x="798217" y="87648"/>
                </a:lnTo>
                <a:lnTo>
                  <a:pt x="763841" y="66398"/>
                </a:lnTo>
                <a:lnTo>
                  <a:pt x="721592" y="47501"/>
                </a:lnTo>
                <a:lnTo>
                  <a:pt x="672339" y="31291"/>
                </a:lnTo>
                <a:lnTo>
                  <a:pt x="616953" y="18102"/>
                </a:lnTo>
                <a:lnTo>
                  <a:pt x="556304" y="8267"/>
                </a:lnTo>
                <a:lnTo>
                  <a:pt x="491263" y="2122"/>
                </a:lnTo>
                <a:lnTo>
                  <a:pt x="4226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605252" y="5174350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0" y="162179"/>
                </a:moveTo>
                <a:lnTo>
                  <a:pt x="21549" y="110918"/>
                </a:lnTo>
                <a:lnTo>
                  <a:pt x="81556" y="66398"/>
                </a:lnTo>
                <a:lnTo>
                  <a:pt x="123805" y="47501"/>
                </a:lnTo>
                <a:lnTo>
                  <a:pt x="173058" y="31291"/>
                </a:lnTo>
                <a:lnTo>
                  <a:pt x="228444" y="18102"/>
                </a:lnTo>
                <a:lnTo>
                  <a:pt x="289093" y="8268"/>
                </a:lnTo>
                <a:lnTo>
                  <a:pt x="354135" y="2122"/>
                </a:lnTo>
                <a:lnTo>
                  <a:pt x="422699" y="0"/>
                </a:lnTo>
                <a:lnTo>
                  <a:pt x="491262" y="2122"/>
                </a:lnTo>
                <a:lnTo>
                  <a:pt x="556304" y="8268"/>
                </a:lnTo>
                <a:lnTo>
                  <a:pt x="616953" y="18102"/>
                </a:lnTo>
                <a:lnTo>
                  <a:pt x="672339" y="31291"/>
                </a:lnTo>
                <a:lnTo>
                  <a:pt x="721592" y="47501"/>
                </a:lnTo>
                <a:lnTo>
                  <a:pt x="763841" y="66398"/>
                </a:lnTo>
                <a:lnTo>
                  <a:pt x="798217" y="87648"/>
                </a:lnTo>
                <a:lnTo>
                  <a:pt x="839865" y="135873"/>
                </a:lnTo>
                <a:lnTo>
                  <a:pt x="845398" y="162179"/>
                </a:lnTo>
                <a:lnTo>
                  <a:pt x="839865" y="188485"/>
                </a:lnTo>
                <a:lnTo>
                  <a:pt x="798217" y="236710"/>
                </a:lnTo>
                <a:lnTo>
                  <a:pt x="763841" y="257960"/>
                </a:lnTo>
                <a:lnTo>
                  <a:pt x="721592" y="276857"/>
                </a:lnTo>
                <a:lnTo>
                  <a:pt x="672339" y="293067"/>
                </a:lnTo>
                <a:lnTo>
                  <a:pt x="616953" y="306256"/>
                </a:lnTo>
                <a:lnTo>
                  <a:pt x="556304" y="316090"/>
                </a:lnTo>
                <a:lnTo>
                  <a:pt x="491262" y="322236"/>
                </a:lnTo>
                <a:lnTo>
                  <a:pt x="422699" y="324359"/>
                </a:lnTo>
                <a:lnTo>
                  <a:pt x="354135" y="322236"/>
                </a:lnTo>
                <a:lnTo>
                  <a:pt x="289093" y="316090"/>
                </a:lnTo>
                <a:lnTo>
                  <a:pt x="228444" y="306256"/>
                </a:lnTo>
                <a:lnTo>
                  <a:pt x="173058" y="293067"/>
                </a:lnTo>
                <a:lnTo>
                  <a:pt x="123805" y="276857"/>
                </a:lnTo>
                <a:lnTo>
                  <a:pt x="81556" y="257960"/>
                </a:lnTo>
                <a:lnTo>
                  <a:pt x="47180" y="236710"/>
                </a:lnTo>
                <a:lnTo>
                  <a:pt x="5532" y="188485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825545" y="5232908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629253" y="4761009"/>
            <a:ext cx="245110" cy="400685"/>
          </a:xfrm>
          <a:custGeom>
            <a:avLst/>
            <a:gdLst/>
            <a:ahLst/>
            <a:cxnLst/>
            <a:rect l="l" t="t" r="r" b="b"/>
            <a:pathLst>
              <a:path w="245110" h="400685">
                <a:moveTo>
                  <a:pt x="244744" y="0"/>
                </a:moveTo>
                <a:lnTo>
                  <a:pt x="0" y="4003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29253" y="5471537"/>
            <a:ext cx="544830" cy="425450"/>
          </a:xfrm>
          <a:custGeom>
            <a:avLst/>
            <a:gdLst/>
            <a:ahLst/>
            <a:cxnLst/>
            <a:rect l="l" t="t" r="r" b="b"/>
            <a:pathLst>
              <a:path w="544829" h="425450">
                <a:moveTo>
                  <a:pt x="0" y="0"/>
                </a:moveTo>
                <a:lnTo>
                  <a:pt x="544337" y="42542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531154" y="4646387"/>
            <a:ext cx="387350" cy="3175"/>
          </a:xfrm>
          <a:custGeom>
            <a:avLst/>
            <a:gdLst/>
            <a:ahLst/>
            <a:cxnLst/>
            <a:rect l="l" t="t" r="r" b="b"/>
            <a:pathLst>
              <a:path w="387350" h="3175">
                <a:moveTo>
                  <a:pt x="386936" y="0"/>
                </a:moveTo>
                <a:lnTo>
                  <a:pt x="0" y="29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679804" y="4761065"/>
            <a:ext cx="348615" cy="413384"/>
          </a:xfrm>
          <a:custGeom>
            <a:avLst/>
            <a:gdLst/>
            <a:ahLst/>
            <a:cxnLst/>
            <a:rect l="l" t="t" r="r" b="b"/>
            <a:pathLst>
              <a:path w="348615" h="413385">
                <a:moveTo>
                  <a:pt x="348148" y="41328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981428" y="4761066"/>
            <a:ext cx="1067435" cy="445770"/>
          </a:xfrm>
          <a:custGeom>
            <a:avLst/>
            <a:gdLst/>
            <a:ahLst/>
            <a:cxnLst/>
            <a:rect l="l" t="t" r="r" b="b"/>
            <a:pathLst>
              <a:path w="1067434" h="445770">
                <a:moveTo>
                  <a:pt x="0" y="445748"/>
                </a:moveTo>
                <a:lnTo>
                  <a:pt x="10673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127303" y="5316465"/>
            <a:ext cx="1478280" cy="20320"/>
          </a:xfrm>
          <a:custGeom>
            <a:avLst/>
            <a:gdLst/>
            <a:ahLst/>
            <a:cxnLst/>
            <a:rect l="l" t="t" r="r" b="b"/>
            <a:pathLst>
              <a:path w="1478279" h="20320">
                <a:moveTo>
                  <a:pt x="1477949" y="20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461429" y="5498710"/>
            <a:ext cx="567055" cy="398780"/>
          </a:xfrm>
          <a:custGeom>
            <a:avLst/>
            <a:gdLst/>
            <a:ahLst/>
            <a:cxnLst/>
            <a:rect l="l" t="t" r="r" b="b"/>
            <a:pathLst>
              <a:path w="567054" h="398779">
                <a:moveTo>
                  <a:pt x="0" y="398249"/>
                </a:moveTo>
                <a:lnTo>
                  <a:pt x="56652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010926" y="2423245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0"/>
                </a:lnTo>
                <a:lnTo>
                  <a:pt x="7341" y="99813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4"/>
                </a:lnTo>
                <a:lnTo>
                  <a:pt x="58959" y="263727"/>
                </a:lnTo>
                <a:lnTo>
                  <a:pt x="98491" y="284445"/>
                </a:lnTo>
                <a:lnTo>
                  <a:pt x="144009" y="291885"/>
                </a:lnTo>
                <a:lnTo>
                  <a:pt x="189526" y="284445"/>
                </a:lnTo>
                <a:lnTo>
                  <a:pt x="229057" y="263727"/>
                </a:lnTo>
                <a:lnTo>
                  <a:pt x="260231" y="232134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3"/>
                </a:lnTo>
                <a:lnTo>
                  <a:pt x="260231" y="59750"/>
                </a:lnTo>
                <a:lnTo>
                  <a:pt x="229057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2010926" y="2423245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085878" y="243586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727779" y="240846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7"/>
                </a:lnTo>
                <a:lnTo>
                  <a:pt x="98491" y="284446"/>
                </a:lnTo>
                <a:lnTo>
                  <a:pt x="144009" y="291886"/>
                </a:lnTo>
                <a:lnTo>
                  <a:pt x="189526" y="284446"/>
                </a:lnTo>
                <a:lnTo>
                  <a:pt x="229058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727779" y="240846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2802732" y="2420620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578902" y="300701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78902" y="300701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1653853" y="301802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010926" y="361702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7"/>
                </a:lnTo>
                <a:lnTo>
                  <a:pt x="98491" y="284446"/>
                </a:lnTo>
                <a:lnTo>
                  <a:pt x="144009" y="291886"/>
                </a:lnTo>
                <a:lnTo>
                  <a:pt x="189526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010926" y="361702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753081" y="361702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7"/>
                </a:lnTo>
                <a:lnTo>
                  <a:pt x="98491" y="284446"/>
                </a:lnTo>
                <a:lnTo>
                  <a:pt x="144009" y="291886"/>
                </a:lnTo>
                <a:lnTo>
                  <a:pt x="189526" y="284446"/>
                </a:lnTo>
                <a:lnTo>
                  <a:pt x="229058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753081" y="361702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956563" y="3613694"/>
            <a:ext cx="3648710" cy="73469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141730">
              <a:lnSpc>
                <a:spcPct val="100000"/>
              </a:lnSpc>
              <a:spcBef>
                <a:spcPts val="209"/>
              </a:spcBef>
              <a:tabLst>
                <a:tab pos="1884045" algn="l"/>
              </a:tabLst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	2</a:t>
            </a:r>
            <a:endParaRPr sz="1600">
              <a:latin typeface="Arial"/>
              <a:cs typeface="Arial"/>
            </a:endParaRPr>
          </a:p>
          <a:p>
            <a:pPr marL="287020" indent="-274320">
              <a:lnSpc>
                <a:spcPct val="100000"/>
              </a:lnSpc>
              <a:spcBef>
                <a:spcPts val="19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Hash </a:t>
            </a:r>
            <a:r>
              <a:rPr dirty="0" sz="2800" spc="-20">
                <a:latin typeface="Calibri"/>
                <a:cs typeface="Calibri"/>
              </a:rPr>
              <a:t>aggregated </a:t>
            </a:r>
            <a:r>
              <a:rPr dirty="0" sz="2800" spc="-110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249399" y="300701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8" y="263727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249399" y="3007018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3324350" y="3018027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824740" y="2672384"/>
            <a:ext cx="228600" cy="377825"/>
          </a:xfrm>
          <a:custGeom>
            <a:avLst/>
            <a:gdLst/>
            <a:ahLst/>
            <a:cxnLst/>
            <a:rect l="l" t="t" r="r" b="b"/>
            <a:pathLst>
              <a:path w="228600" h="377825">
                <a:moveTo>
                  <a:pt x="228366" y="0"/>
                </a:moveTo>
                <a:lnTo>
                  <a:pt x="0" y="37737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824739" y="3256159"/>
            <a:ext cx="228600" cy="403860"/>
          </a:xfrm>
          <a:custGeom>
            <a:avLst/>
            <a:gdLst/>
            <a:ahLst/>
            <a:cxnLst/>
            <a:rect l="l" t="t" r="r" b="b"/>
            <a:pathLst>
              <a:path w="228600" h="403860">
                <a:moveTo>
                  <a:pt x="0" y="0"/>
                </a:moveTo>
                <a:lnTo>
                  <a:pt x="228366" y="4036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2306552" y="2554408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73617" y="2657605"/>
            <a:ext cx="308610" cy="401320"/>
          </a:xfrm>
          <a:custGeom>
            <a:avLst/>
            <a:gdLst/>
            <a:ahLst/>
            <a:cxnLst/>
            <a:rect l="l" t="t" r="r" b="b"/>
            <a:pathLst>
              <a:path w="308610" h="401319">
                <a:moveTo>
                  <a:pt x="308443" y="4009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2256765" y="2672384"/>
            <a:ext cx="993140" cy="480695"/>
          </a:xfrm>
          <a:custGeom>
            <a:avLst/>
            <a:gdLst/>
            <a:ahLst/>
            <a:cxnLst/>
            <a:rect l="l" t="t" r="r" b="b"/>
            <a:pathLst>
              <a:path w="993139" h="480694">
                <a:moveTo>
                  <a:pt x="992634" y="48057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1866919" y="3152961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0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1866919" y="3152962"/>
            <a:ext cx="928369" cy="507365"/>
          </a:xfrm>
          <a:custGeom>
            <a:avLst/>
            <a:gdLst/>
            <a:ahLst/>
            <a:cxnLst/>
            <a:rect l="l" t="t" r="r" b="b"/>
            <a:pathLst>
              <a:path w="928369" h="507364">
                <a:moveTo>
                  <a:pt x="928342" y="50680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221862" y="230741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6"/>
                </a:lnTo>
                <a:lnTo>
                  <a:pt x="29547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7" y="236491"/>
                </a:lnTo>
                <a:lnTo>
                  <a:pt x="62697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221862" y="230741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984162" y="229235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7"/>
                </a:lnTo>
                <a:lnTo>
                  <a:pt x="29547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7" y="236491"/>
                </a:lnTo>
                <a:lnTo>
                  <a:pt x="62697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984162" y="229235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305944" y="2320035"/>
            <a:ext cx="9010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4700" algn="l"/>
              </a:tabLst>
            </a:pPr>
            <a:r>
              <a:rPr dirty="0" sz="1600">
                <a:solidFill>
                  <a:srgbClr val="0000FF"/>
                </a:solidFill>
                <a:latin typeface="Arial"/>
                <a:cs typeface="Arial"/>
              </a:rPr>
              <a:t>3	</a:t>
            </a:r>
            <a:r>
              <a:rPr dirty="0" baseline="3472" sz="24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baseline="3472" sz="24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5762447" y="29021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4" y="289784"/>
                </a:lnTo>
                <a:lnTo>
                  <a:pt x="153137" y="297364"/>
                </a:lnTo>
                <a:lnTo>
                  <a:pt x="201541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762447" y="29021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846528" y="29174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6221862" y="352359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6"/>
                </a:lnTo>
                <a:lnTo>
                  <a:pt x="29547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7" y="236491"/>
                </a:lnTo>
                <a:lnTo>
                  <a:pt x="62697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221862" y="352359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6305944" y="353618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7011070" y="352359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6"/>
                </a:lnTo>
                <a:lnTo>
                  <a:pt x="29547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7" y="236491"/>
                </a:lnTo>
                <a:lnTo>
                  <a:pt x="62697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7011070" y="3523598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7095152" y="3536188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7538854" y="29021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1"/>
                </a:lnTo>
                <a:lnTo>
                  <a:pt x="62696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538854" y="29021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 txBox="1"/>
          <p:nvPr/>
        </p:nvSpPr>
        <p:spPr>
          <a:xfrm>
            <a:off x="7622937" y="2917444"/>
            <a:ext cx="13843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6023871" y="2561230"/>
            <a:ext cx="243204" cy="384810"/>
          </a:xfrm>
          <a:custGeom>
            <a:avLst/>
            <a:gdLst/>
            <a:ahLst/>
            <a:cxnLst/>
            <a:rect l="l" t="t" r="r" b="b"/>
            <a:pathLst>
              <a:path w="243204" h="384810">
                <a:moveTo>
                  <a:pt x="242845" y="0"/>
                </a:moveTo>
                <a:lnTo>
                  <a:pt x="0" y="3844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023870" y="3155961"/>
            <a:ext cx="243204" cy="411480"/>
          </a:xfrm>
          <a:custGeom>
            <a:avLst/>
            <a:gdLst/>
            <a:ahLst/>
            <a:cxnLst/>
            <a:rect l="l" t="t" r="r" b="b"/>
            <a:pathLst>
              <a:path w="243204" h="411479">
                <a:moveTo>
                  <a:pt x="0" y="0"/>
                </a:moveTo>
                <a:lnTo>
                  <a:pt x="242845" y="411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536229" y="2441037"/>
            <a:ext cx="448309" cy="0"/>
          </a:xfrm>
          <a:custGeom>
            <a:avLst/>
            <a:gdLst/>
            <a:ahLst/>
            <a:cxnLst/>
            <a:rect l="l" t="t" r="r" b="b"/>
            <a:pathLst>
              <a:path w="448309" h="0">
                <a:moveTo>
                  <a:pt x="447933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7245587" y="2546173"/>
            <a:ext cx="328295" cy="408940"/>
          </a:xfrm>
          <a:custGeom>
            <a:avLst/>
            <a:gdLst/>
            <a:ahLst/>
            <a:cxnLst/>
            <a:rect l="l" t="t" r="r" b="b"/>
            <a:pathLst>
              <a:path w="328295" h="408939">
                <a:moveTo>
                  <a:pt x="327998" y="4084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068724" y="2546173"/>
            <a:ext cx="960755" cy="504825"/>
          </a:xfrm>
          <a:custGeom>
            <a:avLst/>
            <a:gdLst/>
            <a:ahLst/>
            <a:cxnLst/>
            <a:rect l="l" t="t" r="r" b="b"/>
            <a:pathLst>
              <a:path w="960754" h="504825">
                <a:moveTo>
                  <a:pt x="960292" y="0"/>
                </a:moveTo>
                <a:lnTo>
                  <a:pt x="0" y="5046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068723" y="3050826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59" h="0">
                <a:moveTo>
                  <a:pt x="147013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272494" y="3155960"/>
            <a:ext cx="311785" cy="411480"/>
          </a:xfrm>
          <a:custGeom>
            <a:avLst/>
            <a:gdLst/>
            <a:ahLst/>
            <a:cxnLst/>
            <a:rect l="l" t="t" r="r" b="b"/>
            <a:pathLst>
              <a:path w="311784" h="411479">
                <a:moveTo>
                  <a:pt x="0" y="411185"/>
                </a:moveTo>
                <a:lnTo>
                  <a:pt x="3112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04" name="object 104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105" name="object 10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08" y="1266444"/>
            <a:ext cx="777875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E66C7D"/>
                </a:solidFill>
              </a:rPr>
              <a:t>Example </a:t>
            </a:r>
            <a:r>
              <a:rPr dirty="0">
                <a:solidFill>
                  <a:srgbClr val="E66C7D"/>
                </a:solidFill>
              </a:rPr>
              <a:t>of </a:t>
            </a:r>
            <a:r>
              <a:rPr dirty="0" spc="-5">
                <a:solidFill>
                  <a:srgbClr val="E66C7D"/>
                </a:solidFill>
              </a:rPr>
              <a:t>color </a:t>
            </a:r>
            <a:r>
              <a:rPr dirty="0" spc="-15">
                <a:solidFill>
                  <a:srgbClr val="E66C7D"/>
                </a:solidFill>
              </a:rPr>
              <a:t>refinement </a:t>
            </a:r>
            <a:r>
              <a:rPr dirty="0" spc="-10">
                <a:solidFill>
                  <a:srgbClr val="E66C7D"/>
                </a:solidFill>
              </a:rPr>
              <a:t>given two</a:t>
            </a:r>
            <a:r>
              <a:rPr dirty="0" spc="25">
                <a:solidFill>
                  <a:srgbClr val="E66C7D"/>
                </a:solidFill>
              </a:rPr>
              <a:t> </a:t>
            </a:r>
            <a:r>
              <a:rPr dirty="0" spc="-20">
                <a:solidFill>
                  <a:srgbClr val="E66C7D"/>
                </a:solidFill>
              </a:rPr>
              <a:t>graphs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563" y="1838451"/>
            <a:ext cx="28848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20">
                <a:latin typeface="Calibri"/>
                <a:cs typeface="Calibri"/>
              </a:rPr>
              <a:t>Aggregated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14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6563" y="3895851"/>
            <a:ext cx="36487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287020" algn="l"/>
              </a:tabLst>
            </a:pPr>
            <a:r>
              <a:rPr dirty="0" sz="2800" spc="-5">
                <a:latin typeface="Calibri"/>
                <a:cs typeface="Calibri"/>
              </a:rPr>
              <a:t>Hash </a:t>
            </a:r>
            <a:r>
              <a:rPr dirty="0" sz="2800" spc="-20">
                <a:latin typeface="Calibri"/>
                <a:cs typeface="Calibri"/>
              </a:rPr>
              <a:t>aggregated </a:t>
            </a:r>
            <a:r>
              <a:rPr dirty="0" sz="2800" spc="-110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9976" y="341375"/>
            <a:ext cx="5050536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13652" y="4638185"/>
            <a:ext cx="575945" cy="292100"/>
          </a:xfrm>
          <a:custGeom>
            <a:avLst/>
            <a:gdLst/>
            <a:ahLst/>
            <a:cxnLst/>
            <a:rect l="l" t="t" r="r" b="b"/>
            <a:pathLst>
              <a:path w="575944" h="292100">
                <a:moveTo>
                  <a:pt x="287723" y="0"/>
                </a:moveTo>
                <a:lnTo>
                  <a:pt x="229737" y="2965"/>
                </a:lnTo>
                <a:lnTo>
                  <a:pt x="175728" y="11468"/>
                </a:lnTo>
                <a:lnTo>
                  <a:pt x="126854" y="24924"/>
                </a:lnTo>
                <a:lnTo>
                  <a:pt x="84272" y="42745"/>
                </a:lnTo>
                <a:lnTo>
                  <a:pt x="49138" y="64344"/>
                </a:lnTo>
                <a:lnTo>
                  <a:pt x="5845" y="116530"/>
                </a:lnTo>
                <a:lnTo>
                  <a:pt x="0" y="145943"/>
                </a:lnTo>
                <a:lnTo>
                  <a:pt x="5845" y="175355"/>
                </a:lnTo>
                <a:lnTo>
                  <a:pt x="49138" y="227541"/>
                </a:lnTo>
                <a:lnTo>
                  <a:pt x="84272" y="249140"/>
                </a:lnTo>
                <a:lnTo>
                  <a:pt x="126854" y="266960"/>
                </a:lnTo>
                <a:lnTo>
                  <a:pt x="175728" y="280416"/>
                </a:lnTo>
                <a:lnTo>
                  <a:pt x="229737" y="288920"/>
                </a:lnTo>
                <a:lnTo>
                  <a:pt x="287723" y="291885"/>
                </a:lnTo>
                <a:lnTo>
                  <a:pt x="345710" y="288920"/>
                </a:lnTo>
                <a:lnTo>
                  <a:pt x="399719" y="280416"/>
                </a:lnTo>
                <a:lnTo>
                  <a:pt x="448593" y="266960"/>
                </a:lnTo>
                <a:lnTo>
                  <a:pt x="491175" y="249140"/>
                </a:lnTo>
                <a:lnTo>
                  <a:pt x="526309" y="227541"/>
                </a:lnTo>
                <a:lnTo>
                  <a:pt x="569602" y="175355"/>
                </a:lnTo>
                <a:lnTo>
                  <a:pt x="575448" y="145943"/>
                </a:lnTo>
                <a:lnTo>
                  <a:pt x="569602" y="116530"/>
                </a:lnTo>
                <a:lnTo>
                  <a:pt x="526309" y="64344"/>
                </a:lnTo>
                <a:lnTo>
                  <a:pt x="491175" y="42745"/>
                </a:lnTo>
                <a:lnTo>
                  <a:pt x="448593" y="24924"/>
                </a:lnTo>
                <a:lnTo>
                  <a:pt x="399719" y="11468"/>
                </a:lnTo>
                <a:lnTo>
                  <a:pt x="345710" y="2965"/>
                </a:lnTo>
                <a:lnTo>
                  <a:pt x="28772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313652" y="4638185"/>
            <a:ext cx="575945" cy="292100"/>
          </a:xfrm>
          <a:custGeom>
            <a:avLst/>
            <a:gdLst/>
            <a:ahLst/>
            <a:cxnLst/>
            <a:rect l="l" t="t" r="r" b="b"/>
            <a:pathLst>
              <a:path w="575944" h="292100">
                <a:moveTo>
                  <a:pt x="0" y="145943"/>
                </a:moveTo>
                <a:lnTo>
                  <a:pt x="22610" y="89135"/>
                </a:lnTo>
                <a:lnTo>
                  <a:pt x="84272" y="42745"/>
                </a:lnTo>
                <a:lnTo>
                  <a:pt x="126854" y="24924"/>
                </a:lnTo>
                <a:lnTo>
                  <a:pt x="175729" y="11468"/>
                </a:lnTo>
                <a:lnTo>
                  <a:pt x="229737" y="2965"/>
                </a:lnTo>
                <a:lnTo>
                  <a:pt x="287724" y="0"/>
                </a:lnTo>
                <a:lnTo>
                  <a:pt x="345711" y="2965"/>
                </a:lnTo>
                <a:lnTo>
                  <a:pt x="399719" y="11468"/>
                </a:lnTo>
                <a:lnTo>
                  <a:pt x="448593" y="24924"/>
                </a:lnTo>
                <a:lnTo>
                  <a:pt x="491176" y="42745"/>
                </a:lnTo>
                <a:lnTo>
                  <a:pt x="526310" y="64344"/>
                </a:lnTo>
                <a:lnTo>
                  <a:pt x="569603" y="116530"/>
                </a:lnTo>
                <a:lnTo>
                  <a:pt x="575449" y="145943"/>
                </a:lnTo>
                <a:lnTo>
                  <a:pt x="569603" y="175355"/>
                </a:lnTo>
                <a:lnTo>
                  <a:pt x="526310" y="227541"/>
                </a:lnTo>
                <a:lnTo>
                  <a:pt x="491176" y="249140"/>
                </a:lnTo>
                <a:lnTo>
                  <a:pt x="448593" y="266961"/>
                </a:lnTo>
                <a:lnTo>
                  <a:pt x="399719" y="280417"/>
                </a:lnTo>
                <a:lnTo>
                  <a:pt x="345711" y="288920"/>
                </a:lnTo>
                <a:lnTo>
                  <a:pt x="287724" y="291886"/>
                </a:lnTo>
                <a:lnTo>
                  <a:pt x="229737" y="288920"/>
                </a:lnTo>
                <a:lnTo>
                  <a:pt x="175729" y="280417"/>
                </a:lnTo>
                <a:lnTo>
                  <a:pt x="126854" y="266961"/>
                </a:lnTo>
                <a:lnTo>
                  <a:pt x="84272" y="249140"/>
                </a:lnTo>
                <a:lnTo>
                  <a:pt x="49138" y="227541"/>
                </a:lnTo>
                <a:lnTo>
                  <a:pt x="5845" y="175355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496855" y="4664964"/>
            <a:ext cx="1968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17935" y="462340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3"/>
                </a:lnTo>
                <a:lnTo>
                  <a:pt x="27785" y="232135"/>
                </a:lnTo>
                <a:lnTo>
                  <a:pt x="58958" y="263728"/>
                </a:lnTo>
                <a:lnTo>
                  <a:pt x="98490" y="284446"/>
                </a:lnTo>
                <a:lnTo>
                  <a:pt x="144007" y="291886"/>
                </a:lnTo>
                <a:lnTo>
                  <a:pt x="189525" y="284446"/>
                </a:lnTo>
                <a:lnTo>
                  <a:pt x="229057" y="263728"/>
                </a:lnTo>
                <a:lnTo>
                  <a:pt x="260231" y="232135"/>
                </a:lnTo>
                <a:lnTo>
                  <a:pt x="280675" y="192073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317935" y="4623404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00030" y="4649723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34A5A"/>
                </a:solidFill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8704" y="5221959"/>
            <a:ext cx="558800" cy="292100"/>
          </a:xfrm>
          <a:custGeom>
            <a:avLst/>
            <a:gdLst/>
            <a:ahLst/>
            <a:cxnLst/>
            <a:rect l="l" t="t" r="r" b="b"/>
            <a:pathLst>
              <a:path w="558800" h="292100">
                <a:moveTo>
                  <a:pt x="279184" y="0"/>
                </a:moveTo>
                <a:lnTo>
                  <a:pt x="215170" y="3854"/>
                </a:lnTo>
                <a:lnTo>
                  <a:pt x="156406" y="14833"/>
                </a:lnTo>
                <a:lnTo>
                  <a:pt x="104568" y="32062"/>
                </a:lnTo>
                <a:lnTo>
                  <a:pt x="61333" y="54663"/>
                </a:lnTo>
                <a:lnTo>
                  <a:pt x="28376" y="81761"/>
                </a:lnTo>
                <a:lnTo>
                  <a:pt x="0" y="145943"/>
                </a:lnTo>
                <a:lnTo>
                  <a:pt x="7373" y="179406"/>
                </a:lnTo>
                <a:lnTo>
                  <a:pt x="61333" y="237223"/>
                </a:lnTo>
                <a:lnTo>
                  <a:pt x="104568" y="259824"/>
                </a:lnTo>
                <a:lnTo>
                  <a:pt x="156406" y="277052"/>
                </a:lnTo>
                <a:lnTo>
                  <a:pt x="215170" y="288032"/>
                </a:lnTo>
                <a:lnTo>
                  <a:pt x="279184" y="291886"/>
                </a:lnTo>
                <a:lnTo>
                  <a:pt x="343198" y="288032"/>
                </a:lnTo>
                <a:lnTo>
                  <a:pt x="401962" y="277052"/>
                </a:lnTo>
                <a:lnTo>
                  <a:pt x="453800" y="259824"/>
                </a:lnTo>
                <a:lnTo>
                  <a:pt x="497035" y="237223"/>
                </a:lnTo>
                <a:lnTo>
                  <a:pt x="529992" y="210125"/>
                </a:lnTo>
                <a:lnTo>
                  <a:pt x="558368" y="145943"/>
                </a:lnTo>
                <a:lnTo>
                  <a:pt x="550995" y="112479"/>
                </a:lnTo>
                <a:lnTo>
                  <a:pt x="497035" y="54663"/>
                </a:lnTo>
                <a:lnTo>
                  <a:pt x="453800" y="32062"/>
                </a:lnTo>
                <a:lnTo>
                  <a:pt x="401962" y="14833"/>
                </a:lnTo>
                <a:lnTo>
                  <a:pt x="343198" y="3854"/>
                </a:lnTo>
                <a:lnTo>
                  <a:pt x="2791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8704" y="5221959"/>
            <a:ext cx="558800" cy="292100"/>
          </a:xfrm>
          <a:custGeom>
            <a:avLst/>
            <a:gdLst/>
            <a:ahLst/>
            <a:cxnLst/>
            <a:rect l="l" t="t" r="r" b="b"/>
            <a:pathLst>
              <a:path w="558800" h="292100">
                <a:moveTo>
                  <a:pt x="0" y="145943"/>
                </a:moveTo>
                <a:lnTo>
                  <a:pt x="28376" y="81760"/>
                </a:lnTo>
                <a:lnTo>
                  <a:pt x="61333" y="54663"/>
                </a:lnTo>
                <a:lnTo>
                  <a:pt x="104568" y="32062"/>
                </a:lnTo>
                <a:lnTo>
                  <a:pt x="156406" y="14833"/>
                </a:lnTo>
                <a:lnTo>
                  <a:pt x="215170" y="3854"/>
                </a:lnTo>
                <a:lnTo>
                  <a:pt x="279184" y="0"/>
                </a:lnTo>
                <a:lnTo>
                  <a:pt x="343198" y="3854"/>
                </a:lnTo>
                <a:lnTo>
                  <a:pt x="401962" y="14833"/>
                </a:lnTo>
                <a:lnTo>
                  <a:pt x="453800" y="32062"/>
                </a:lnTo>
                <a:lnTo>
                  <a:pt x="497035" y="54663"/>
                </a:lnTo>
                <a:lnTo>
                  <a:pt x="529992" y="81760"/>
                </a:lnTo>
                <a:lnTo>
                  <a:pt x="558369" y="145943"/>
                </a:lnTo>
                <a:lnTo>
                  <a:pt x="550995" y="179406"/>
                </a:lnTo>
                <a:lnTo>
                  <a:pt x="497035" y="237222"/>
                </a:lnTo>
                <a:lnTo>
                  <a:pt x="453800" y="259823"/>
                </a:lnTo>
                <a:lnTo>
                  <a:pt x="401962" y="277052"/>
                </a:lnTo>
                <a:lnTo>
                  <a:pt x="343198" y="288031"/>
                </a:lnTo>
                <a:lnTo>
                  <a:pt x="279184" y="291886"/>
                </a:lnTo>
                <a:lnTo>
                  <a:pt x="215170" y="288031"/>
                </a:lnTo>
                <a:lnTo>
                  <a:pt x="156406" y="277052"/>
                </a:lnTo>
                <a:lnTo>
                  <a:pt x="104568" y="259823"/>
                </a:lnTo>
                <a:lnTo>
                  <a:pt x="61333" y="237222"/>
                </a:lnTo>
                <a:lnTo>
                  <a:pt x="28376" y="210125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66764" y="5247132"/>
            <a:ext cx="2228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785700"/>
                </a:solidFill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01081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8"/>
                </a:lnTo>
                <a:lnTo>
                  <a:pt x="98491" y="284446"/>
                </a:lnTo>
                <a:lnTo>
                  <a:pt x="144009" y="291887"/>
                </a:lnTo>
                <a:lnTo>
                  <a:pt x="189526" y="284446"/>
                </a:lnTo>
                <a:lnTo>
                  <a:pt x="229058" y="263728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01081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683178" y="5859779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9253E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43237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8"/>
                </a:lnTo>
                <a:lnTo>
                  <a:pt x="98491" y="284446"/>
                </a:lnTo>
                <a:lnTo>
                  <a:pt x="144009" y="291887"/>
                </a:lnTo>
                <a:lnTo>
                  <a:pt x="189526" y="284446"/>
                </a:lnTo>
                <a:lnTo>
                  <a:pt x="229058" y="263728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343237" y="5831966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425334" y="5859779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9253E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39554" y="5221959"/>
            <a:ext cx="561340" cy="292100"/>
          </a:xfrm>
          <a:custGeom>
            <a:avLst/>
            <a:gdLst/>
            <a:ahLst/>
            <a:cxnLst/>
            <a:rect l="l" t="t" r="r" b="b"/>
            <a:pathLst>
              <a:path w="561339" h="292100">
                <a:moveTo>
                  <a:pt x="280478" y="0"/>
                </a:moveTo>
                <a:lnTo>
                  <a:pt x="216166" y="3854"/>
                </a:lnTo>
                <a:lnTo>
                  <a:pt x="157130" y="14833"/>
                </a:lnTo>
                <a:lnTo>
                  <a:pt x="105053" y="32062"/>
                </a:lnTo>
                <a:lnTo>
                  <a:pt x="61617" y="54663"/>
                </a:lnTo>
                <a:lnTo>
                  <a:pt x="28508" y="81761"/>
                </a:lnTo>
                <a:lnTo>
                  <a:pt x="0" y="145943"/>
                </a:lnTo>
                <a:lnTo>
                  <a:pt x="7407" y="179406"/>
                </a:lnTo>
                <a:lnTo>
                  <a:pt x="61617" y="237223"/>
                </a:lnTo>
                <a:lnTo>
                  <a:pt x="105053" y="259824"/>
                </a:lnTo>
                <a:lnTo>
                  <a:pt x="157130" y="277052"/>
                </a:lnTo>
                <a:lnTo>
                  <a:pt x="216166" y="288032"/>
                </a:lnTo>
                <a:lnTo>
                  <a:pt x="280478" y="291886"/>
                </a:lnTo>
                <a:lnTo>
                  <a:pt x="344789" y="288032"/>
                </a:lnTo>
                <a:lnTo>
                  <a:pt x="403825" y="277052"/>
                </a:lnTo>
                <a:lnTo>
                  <a:pt x="455902" y="259824"/>
                </a:lnTo>
                <a:lnTo>
                  <a:pt x="499338" y="237223"/>
                </a:lnTo>
                <a:lnTo>
                  <a:pt x="532448" y="210125"/>
                </a:lnTo>
                <a:lnTo>
                  <a:pt x="560956" y="145943"/>
                </a:lnTo>
                <a:lnTo>
                  <a:pt x="553548" y="112479"/>
                </a:lnTo>
                <a:lnTo>
                  <a:pt x="499338" y="54663"/>
                </a:lnTo>
                <a:lnTo>
                  <a:pt x="455902" y="32062"/>
                </a:lnTo>
                <a:lnTo>
                  <a:pt x="403825" y="14833"/>
                </a:lnTo>
                <a:lnTo>
                  <a:pt x="344789" y="3854"/>
                </a:lnTo>
                <a:lnTo>
                  <a:pt x="28047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39554" y="5221959"/>
            <a:ext cx="561340" cy="292100"/>
          </a:xfrm>
          <a:custGeom>
            <a:avLst/>
            <a:gdLst/>
            <a:ahLst/>
            <a:cxnLst/>
            <a:rect l="l" t="t" r="r" b="b"/>
            <a:pathLst>
              <a:path w="561339" h="292100">
                <a:moveTo>
                  <a:pt x="0" y="145943"/>
                </a:moveTo>
                <a:lnTo>
                  <a:pt x="28508" y="81760"/>
                </a:lnTo>
                <a:lnTo>
                  <a:pt x="61617" y="54663"/>
                </a:lnTo>
                <a:lnTo>
                  <a:pt x="105053" y="32062"/>
                </a:lnTo>
                <a:lnTo>
                  <a:pt x="157130" y="14833"/>
                </a:lnTo>
                <a:lnTo>
                  <a:pt x="216166" y="3854"/>
                </a:lnTo>
                <a:lnTo>
                  <a:pt x="280478" y="0"/>
                </a:lnTo>
                <a:lnTo>
                  <a:pt x="344789" y="3854"/>
                </a:lnTo>
                <a:lnTo>
                  <a:pt x="403825" y="14833"/>
                </a:lnTo>
                <a:lnTo>
                  <a:pt x="455902" y="32062"/>
                </a:lnTo>
                <a:lnTo>
                  <a:pt x="499338" y="54663"/>
                </a:lnTo>
                <a:lnTo>
                  <a:pt x="532447" y="81760"/>
                </a:lnTo>
                <a:lnTo>
                  <a:pt x="560956" y="145943"/>
                </a:lnTo>
                <a:lnTo>
                  <a:pt x="553548" y="179406"/>
                </a:lnTo>
                <a:lnTo>
                  <a:pt x="499338" y="237222"/>
                </a:lnTo>
                <a:lnTo>
                  <a:pt x="455902" y="259823"/>
                </a:lnTo>
                <a:lnTo>
                  <a:pt x="403825" y="277052"/>
                </a:lnTo>
                <a:lnTo>
                  <a:pt x="344789" y="288031"/>
                </a:lnTo>
                <a:lnTo>
                  <a:pt x="280478" y="291886"/>
                </a:lnTo>
                <a:lnTo>
                  <a:pt x="216166" y="288031"/>
                </a:lnTo>
                <a:lnTo>
                  <a:pt x="157130" y="277052"/>
                </a:lnTo>
                <a:lnTo>
                  <a:pt x="105053" y="259823"/>
                </a:lnTo>
                <a:lnTo>
                  <a:pt x="61617" y="237222"/>
                </a:lnTo>
                <a:lnTo>
                  <a:pt x="28508" y="210125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015510" y="5247132"/>
            <a:ext cx="1968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77889" y="4887324"/>
            <a:ext cx="220345" cy="334645"/>
          </a:xfrm>
          <a:custGeom>
            <a:avLst/>
            <a:gdLst/>
            <a:ahLst/>
            <a:cxnLst/>
            <a:rect l="l" t="t" r="r" b="b"/>
            <a:pathLst>
              <a:path w="220344" h="334645">
                <a:moveTo>
                  <a:pt x="220035" y="0"/>
                </a:moveTo>
                <a:lnTo>
                  <a:pt x="0" y="33463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77889" y="5513847"/>
            <a:ext cx="465455" cy="361315"/>
          </a:xfrm>
          <a:custGeom>
            <a:avLst/>
            <a:gdLst/>
            <a:ahLst/>
            <a:cxnLst/>
            <a:rect l="l" t="t" r="r" b="b"/>
            <a:pathLst>
              <a:path w="465455" h="361314">
                <a:moveTo>
                  <a:pt x="0" y="0"/>
                </a:moveTo>
                <a:lnTo>
                  <a:pt x="465372" y="36086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96708" y="4769349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63773" y="4872545"/>
            <a:ext cx="556260" cy="349885"/>
          </a:xfrm>
          <a:custGeom>
            <a:avLst/>
            <a:gdLst/>
            <a:ahLst/>
            <a:cxnLst/>
            <a:rect l="l" t="t" r="r" b="b"/>
            <a:pathLst>
              <a:path w="556260" h="349885">
                <a:moveTo>
                  <a:pt x="556260" y="34941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04828" y="4887325"/>
            <a:ext cx="1116965" cy="377825"/>
          </a:xfrm>
          <a:custGeom>
            <a:avLst/>
            <a:gdLst/>
            <a:ahLst/>
            <a:cxnLst/>
            <a:rect l="l" t="t" r="r" b="b"/>
            <a:pathLst>
              <a:path w="1116964" h="377825">
                <a:moveTo>
                  <a:pt x="1116878" y="37738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57073" y="5367902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30" h="0">
                <a:moveTo>
                  <a:pt x="138248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75303" y="5471100"/>
            <a:ext cx="945515" cy="476884"/>
          </a:xfrm>
          <a:custGeom>
            <a:avLst/>
            <a:gdLst/>
            <a:ahLst/>
            <a:cxnLst/>
            <a:rect l="l" t="t" r="r" b="b"/>
            <a:pathLst>
              <a:path w="945514" h="476885">
                <a:moveTo>
                  <a:pt x="945516" y="476587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20326" y="458705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6"/>
                </a:lnTo>
                <a:lnTo>
                  <a:pt x="29547" y="60872"/>
                </a:lnTo>
                <a:lnTo>
                  <a:pt x="7807" y="101686"/>
                </a:lnTo>
                <a:lnTo>
                  <a:pt x="0" y="148681"/>
                </a:lnTo>
                <a:lnTo>
                  <a:pt x="7807" y="195676"/>
                </a:lnTo>
                <a:lnTo>
                  <a:pt x="29547" y="236491"/>
                </a:lnTo>
                <a:lnTo>
                  <a:pt x="62697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1"/>
                </a:lnTo>
                <a:lnTo>
                  <a:pt x="298469" y="195676"/>
                </a:lnTo>
                <a:lnTo>
                  <a:pt x="306277" y="148681"/>
                </a:lnTo>
                <a:lnTo>
                  <a:pt x="298469" y="101686"/>
                </a:lnTo>
                <a:lnTo>
                  <a:pt x="276730" y="60872"/>
                </a:lnTo>
                <a:lnTo>
                  <a:pt x="243580" y="28686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20326" y="458705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411553" y="4616196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3792AA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082627" y="4571996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10" h="297814">
                <a:moveTo>
                  <a:pt x="281288" y="0"/>
                </a:moveTo>
                <a:lnTo>
                  <a:pt x="216791" y="3926"/>
                </a:lnTo>
                <a:lnTo>
                  <a:pt x="157584" y="15112"/>
                </a:lnTo>
                <a:lnTo>
                  <a:pt x="105356" y="32663"/>
                </a:lnTo>
                <a:lnTo>
                  <a:pt x="61795" y="55689"/>
                </a:lnTo>
                <a:lnTo>
                  <a:pt x="28590" y="83295"/>
                </a:lnTo>
                <a:lnTo>
                  <a:pt x="0" y="148682"/>
                </a:lnTo>
                <a:lnTo>
                  <a:pt x="7429" y="182773"/>
                </a:lnTo>
                <a:lnTo>
                  <a:pt x="61795" y="241675"/>
                </a:lnTo>
                <a:lnTo>
                  <a:pt x="105356" y="264700"/>
                </a:lnTo>
                <a:lnTo>
                  <a:pt x="157584" y="282251"/>
                </a:lnTo>
                <a:lnTo>
                  <a:pt x="216791" y="293437"/>
                </a:lnTo>
                <a:lnTo>
                  <a:pt x="281288" y="297364"/>
                </a:lnTo>
                <a:lnTo>
                  <a:pt x="345785" y="293437"/>
                </a:lnTo>
                <a:lnTo>
                  <a:pt x="404992" y="282251"/>
                </a:lnTo>
                <a:lnTo>
                  <a:pt x="457220" y="264700"/>
                </a:lnTo>
                <a:lnTo>
                  <a:pt x="500781" y="241675"/>
                </a:lnTo>
                <a:lnTo>
                  <a:pt x="533986" y="214068"/>
                </a:lnTo>
                <a:lnTo>
                  <a:pt x="562576" y="148682"/>
                </a:lnTo>
                <a:lnTo>
                  <a:pt x="555147" y="114590"/>
                </a:lnTo>
                <a:lnTo>
                  <a:pt x="500781" y="55689"/>
                </a:lnTo>
                <a:lnTo>
                  <a:pt x="457220" y="32663"/>
                </a:lnTo>
                <a:lnTo>
                  <a:pt x="404992" y="15112"/>
                </a:lnTo>
                <a:lnTo>
                  <a:pt x="345785" y="3926"/>
                </a:lnTo>
                <a:lnTo>
                  <a:pt x="2812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082627" y="4571996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10" h="297814">
                <a:moveTo>
                  <a:pt x="0" y="148682"/>
                </a:moveTo>
                <a:lnTo>
                  <a:pt x="28590" y="83295"/>
                </a:lnTo>
                <a:lnTo>
                  <a:pt x="61795" y="55689"/>
                </a:lnTo>
                <a:lnTo>
                  <a:pt x="105356" y="32663"/>
                </a:lnTo>
                <a:lnTo>
                  <a:pt x="157584" y="15112"/>
                </a:lnTo>
                <a:lnTo>
                  <a:pt x="216791" y="3926"/>
                </a:lnTo>
                <a:lnTo>
                  <a:pt x="281288" y="0"/>
                </a:lnTo>
                <a:lnTo>
                  <a:pt x="345785" y="3926"/>
                </a:lnTo>
                <a:lnTo>
                  <a:pt x="404992" y="15112"/>
                </a:lnTo>
                <a:lnTo>
                  <a:pt x="457220" y="32663"/>
                </a:lnTo>
                <a:lnTo>
                  <a:pt x="500781" y="55689"/>
                </a:lnTo>
                <a:lnTo>
                  <a:pt x="533986" y="83295"/>
                </a:lnTo>
                <a:lnTo>
                  <a:pt x="562577" y="148682"/>
                </a:lnTo>
                <a:lnTo>
                  <a:pt x="555147" y="182774"/>
                </a:lnTo>
                <a:lnTo>
                  <a:pt x="500781" y="241675"/>
                </a:lnTo>
                <a:lnTo>
                  <a:pt x="457220" y="264701"/>
                </a:lnTo>
                <a:lnTo>
                  <a:pt x="404992" y="282252"/>
                </a:lnTo>
                <a:lnTo>
                  <a:pt x="345785" y="293438"/>
                </a:lnTo>
                <a:lnTo>
                  <a:pt x="281288" y="297365"/>
                </a:lnTo>
                <a:lnTo>
                  <a:pt x="216791" y="293438"/>
                </a:lnTo>
                <a:lnTo>
                  <a:pt x="157584" y="282252"/>
                </a:lnTo>
                <a:lnTo>
                  <a:pt x="105356" y="264701"/>
                </a:lnTo>
                <a:lnTo>
                  <a:pt x="61795" y="241675"/>
                </a:lnTo>
                <a:lnTo>
                  <a:pt x="28590" y="214069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259395" y="4600955"/>
            <a:ext cx="1968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598499" y="5181784"/>
            <a:ext cx="568960" cy="297815"/>
          </a:xfrm>
          <a:custGeom>
            <a:avLst/>
            <a:gdLst/>
            <a:ahLst/>
            <a:cxnLst/>
            <a:rect l="l" t="t" r="r" b="b"/>
            <a:pathLst>
              <a:path w="568960" h="297814">
                <a:moveTo>
                  <a:pt x="284345" y="0"/>
                </a:moveTo>
                <a:lnTo>
                  <a:pt x="227039" y="3020"/>
                </a:lnTo>
                <a:lnTo>
                  <a:pt x="173665" y="11684"/>
                </a:lnTo>
                <a:lnTo>
                  <a:pt x="125365" y="25392"/>
                </a:lnTo>
                <a:lnTo>
                  <a:pt x="83282" y="43547"/>
                </a:lnTo>
                <a:lnTo>
                  <a:pt x="48561" y="65552"/>
                </a:lnTo>
                <a:lnTo>
                  <a:pt x="5776" y="118717"/>
                </a:lnTo>
                <a:lnTo>
                  <a:pt x="0" y="148682"/>
                </a:lnTo>
                <a:lnTo>
                  <a:pt x="5776" y="178647"/>
                </a:lnTo>
                <a:lnTo>
                  <a:pt x="48561" y="231812"/>
                </a:lnTo>
                <a:lnTo>
                  <a:pt x="83282" y="253816"/>
                </a:lnTo>
                <a:lnTo>
                  <a:pt x="125365" y="271972"/>
                </a:lnTo>
                <a:lnTo>
                  <a:pt x="173665" y="285681"/>
                </a:lnTo>
                <a:lnTo>
                  <a:pt x="227039" y="294344"/>
                </a:lnTo>
                <a:lnTo>
                  <a:pt x="284345" y="297365"/>
                </a:lnTo>
                <a:lnTo>
                  <a:pt x="341650" y="294344"/>
                </a:lnTo>
                <a:lnTo>
                  <a:pt x="395025" y="285681"/>
                </a:lnTo>
                <a:lnTo>
                  <a:pt x="443325" y="271972"/>
                </a:lnTo>
                <a:lnTo>
                  <a:pt x="485407" y="253816"/>
                </a:lnTo>
                <a:lnTo>
                  <a:pt x="520128" y="231812"/>
                </a:lnTo>
                <a:lnTo>
                  <a:pt x="562913" y="178647"/>
                </a:lnTo>
                <a:lnTo>
                  <a:pt x="568690" y="148682"/>
                </a:lnTo>
                <a:lnTo>
                  <a:pt x="562913" y="118717"/>
                </a:lnTo>
                <a:lnTo>
                  <a:pt x="520128" y="65552"/>
                </a:lnTo>
                <a:lnTo>
                  <a:pt x="485407" y="43547"/>
                </a:lnTo>
                <a:lnTo>
                  <a:pt x="443325" y="25392"/>
                </a:lnTo>
                <a:lnTo>
                  <a:pt x="395025" y="11684"/>
                </a:lnTo>
                <a:lnTo>
                  <a:pt x="341650" y="3020"/>
                </a:lnTo>
                <a:lnTo>
                  <a:pt x="28434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598499" y="5181784"/>
            <a:ext cx="568960" cy="297815"/>
          </a:xfrm>
          <a:custGeom>
            <a:avLst/>
            <a:gdLst/>
            <a:ahLst/>
            <a:cxnLst/>
            <a:rect l="l" t="t" r="r" b="b"/>
            <a:pathLst>
              <a:path w="568960" h="297814">
                <a:moveTo>
                  <a:pt x="0" y="148682"/>
                </a:moveTo>
                <a:lnTo>
                  <a:pt x="22345" y="90808"/>
                </a:lnTo>
                <a:lnTo>
                  <a:pt x="83282" y="43548"/>
                </a:lnTo>
                <a:lnTo>
                  <a:pt x="125365" y="25392"/>
                </a:lnTo>
                <a:lnTo>
                  <a:pt x="173665" y="11684"/>
                </a:lnTo>
                <a:lnTo>
                  <a:pt x="227039" y="3020"/>
                </a:lnTo>
                <a:lnTo>
                  <a:pt x="284345" y="0"/>
                </a:lnTo>
                <a:lnTo>
                  <a:pt x="341650" y="3020"/>
                </a:lnTo>
                <a:lnTo>
                  <a:pt x="395024" y="11684"/>
                </a:lnTo>
                <a:lnTo>
                  <a:pt x="443324" y="25392"/>
                </a:lnTo>
                <a:lnTo>
                  <a:pt x="485407" y="43548"/>
                </a:lnTo>
                <a:lnTo>
                  <a:pt x="520128" y="65552"/>
                </a:lnTo>
                <a:lnTo>
                  <a:pt x="562913" y="118717"/>
                </a:lnTo>
                <a:lnTo>
                  <a:pt x="568690" y="148682"/>
                </a:lnTo>
                <a:lnTo>
                  <a:pt x="562913" y="178647"/>
                </a:lnTo>
                <a:lnTo>
                  <a:pt x="520128" y="231812"/>
                </a:lnTo>
                <a:lnTo>
                  <a:pt x="485407" y="253816"/>
                </a:lnTo>
                <a:lnTo>
                  <a:pt x="443324" y="271972"/>
                </a:lnTo>
                <a:lnTo>
                  <a:pt x="395024" y="285680"/>
                </a:lnTo>
                <a:lnTo>
                  <a:pt x="341650" y="294344"/>
                </a:lnTo>
                <a:lnTo>
                  <a:pt x="284345" y="297365"/>
                </a:lnTo>
                <a:lnTo>
                  <a:pt x="227039" y="294344"/>
                </a:lnTo>
                <a:lnTo>
                  <a:pt x="173665" y="285680"/>
                </a:lnTo>
                <a:lnTo>
                  <a:pt x="125365" y="271972"/>
                </a:lnTo>
                <a:lnTo>
                  <a:pt x="83282" y="253816"/>
                </a:lnTo>
                <a:lnTo>
                  <a:pt x="48561" y="231812"/>
                </a:lnTo>
                <a:lnTo>
                  <a:pt x="5776" y="17864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3771719" y="5210555"/>
            <a:ext cx="2228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246172"/>
                </a:solidFill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20326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79"/>
                </a:lnTo>
                <a:lnTo>
                  <a:pt x="62697" y="28687"/>
                </a:lnTo>
                <a:lnTo>
                  <a:pt x="29547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7" y="236492"/>
                </a:lnTo>
                <a:lnTo>
                  <a:pt x="62697" y="268677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20326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411553" y="5832347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D9253E"/>
                </a:solidFill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109535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79" y="268677"/>
                </a:lnTo>
                <a:lnTo>
                  <a:pt x="276729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29" y="60872"/>
                </a:lnTo>
                <a:lnTo>
                  <a:pt x="243579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109535" y="5803237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200760" y="5832347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B48200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37317" y="5181784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10" h="297814">
                <a:moveTo>
                  <a:pt x="281288" y="0"/>
                </a:moveTo>
                <a:lnTo>
                  <a:pt x="216791" y="3926"/>
                </a:lnTo>
                <a:lnTo>
                  <a:pt x="157584" y="15112"/>
                </a:lnTo>
                <a:lnTo>
                  <a:pt x="105356" y="32663"/>
                </a:lnTo>
                <a:lnTo>
                  <a:pt x="61795" y="55689"/>
                </a:lnTo>
                <a:lnTo>
                  <a:pt x="28590" y="83295"/>
                </a:lnTo>
                <a:lnTo>
                  <a:pt x="0" y="148682"/>
                </a:lnTo>
                <a:lnTo>
                  <a:pt x="7429" y="182774"/>
                </a:lnTo>
                <a:lnTo>
                  <a:pt x="61795" y="241675"/>
                </a:lnTo>
                <a:lnTo>
                  <a:pt x="105356" y="264701"/>
                </a:lnTo>
                <a:lnTo>
                  <a:pt x="157584" y="282252"/>
                </a:lnTo>
                <a:lnTo>
                  <a:pt x="216791" y="293438"/>
                </a:lnTo>
                <a:lnTo>
                  <a:pt x="281288" y="297365"/>
                </a:lnTo>
                <a:lnTo>
                  <a:pt x="345785" y="293438"/>
                </a:lnTo>
                <a:lnTo>
                  <a:pt x="404992" y="282252"/>
                </a:lnTo>
                <a:lnTo>
                  <a:pt x="457220" y="264701"/>
                </a:lnTo>
                <a:lnTo>
                  <a:pt x="500781" y="241675"/>
                </a:lnTo>
                <a:lnTo>
                  <a:pt x="533986" y="214069"/>
                </a:lnTo>
                <a:lnTo>
                  <a:pt x="562576" y="148682"/>
                </a:lnTo>
                <a:lnTo>
                  <a:pt x="555147" y="114590"/>
                </a:lnTo>
                <a:lnTo>
                  <a:pt x="500781" y="55689"/>
                </a:lnTo>
                <a:lnTo>
                  <a:pt x="457220" y="32663"/>
                </a:lnTo>
                <a:lnTo>
                  <a:pt x="404992" y="15112"/>
                </a:lnTo>
                <a:lnTo>
                  <a:pt x="345785" y="3926"/>
                </a:lnTo>
                <a:lnTo>
                  <a:pt x="28128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37317" y="5181784"/>
            <a:ext cx="562610" cy="297815"/>
          </a:xfrm>
          <a:custGeom>
            <a:avLst/>
            <a:gdLst/>
            <a:ahLst/>
            <a:cxnLst/>
            <a:rect l="l" t="t" r="r" b="b"/>
            <a:pathLst>
              <a:path w="562610" h="297814">
                <a:moveTo>
                  <a:pt x="0" y="148682"/>
                </a:moveTo>
                <a:lnTo>
                  <a:pt x="28590" y="83295"/>
                </a:lnTo>
                <a:lnTo>
                  <a:pt x="61795" y="55689"/>
                </a:lnTo>
                <a:lnTo>
                  <a:pt x="105356" y="32663"/>
                </a:lnTo>
                <a:lnTo>
                  <a:pt x="157584" y="15112"/>
                </a:lnTo>
                <a:lnTo>
                  <a:pt x="216791" y="3926"/>
                </a:lnTo>
                <a:lnTo>
                  <a:pt x="281288" y="0"/>
                </a:lnTo>
                <a:lnTo>
                  <a:pt x="345785" y="3926"/>
                </a:lnTo>
                <a:lnTo>
                  <a:pt x="404992" y="15112"/>
                </a:lnTo>
                <a:lnTo>
                  <a:pt x="457220" y="32663"/>
                </a:lnTo>
                <a:lnTo>
                  <a:pt x="500781" y="55689"/>
                </a:lnTo>
                <a:lnTo>
                  <a:pt x="533986" y="83295"/>
                </a:lnTo>
                <a:lnTo>
                  <a:pt x="562577" y="148682"/>
                </a:lnTo>
                <a:lnTo>
                  <a:pt x="555147" y="182774"/>
                </a:lnTo>
                <a:lnTo>
                  <a:pt x="500781" y="241675"/>
                </a:lnTo>
                <a:lnTo>
                  <a:pt x="457220" y="264701"/>
                </a:lnTo>
                <a:lnTo>
                  <a:pt x="404992" y="282252"/>
                </a:lnTo>
                <a:lnTo>
                  <a:pt x="345785" y="293438"/>
                </a:lnTo>
                <a:lnTo>
                  <a:pt x="281288" y="297365"/>
                </a:lnTo>
                <a:lnTo>
                  <a:pt x="216791" y="293438"/>
                </a:lnTo>
                <a:lnTo>
                  <a:pt x="157584" y="282252"/>
                </a:lnTo>
                <a:lnTo>
                  <a:pt x="105356" y="264701"/>
                </a:lnTo>
                <a:lnTo>
                  <a:pt x="61795" y="241675"/>
                </a:lnTo>
                <a:lnTo>
                  <a:pt x="28590" y="214069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807481" y="5210555"/>
            <a:ext cx="2228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79249"/>
                </a:solidFill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882844" y="4840869"/>
            <a:ext cx="482600" cy="340995"/>
          </a:xfrm>
          <a:custGeom>
            <a:avLst/>
            <a:gdLst/>
            <a:ahLst/>
            <a:cxnLst/>
            <a:rect l="l" t="t" r="r" b="b"/>
            <a:pathLst>
              <a:path w="482600" h="340995">
                <a:moveTo>
                  <a:pt x="482336" y="0"/>
                </a:moveTo>
                <a:lnTo>
                  <a:pt x="0" y="34091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882844" y="5479148"/>
            <a:ext cx="482600" cy="367665"/>
          </a:xfrm>
          <a:custGeom>
            <a:avLst/>
            <a:gdLst/>
            <a:ahLst/>
            <a:cxnLst/>
            <a:rect l="l" t="t" r="r" b="b"/>
            <a:pathLst>
              <a:path w="482600" h="367664">
                <a:moveTo>
                  <a:pt x="0" y="0"/>
                </a:moveTo>
                <a:lnTo>
                  <a:pt x="482336" y="367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634695" y="4720677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 h="0">
                <a:moveTo>
                  <a:pt x="447932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562816" y="4825813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5" h="356235">
                <a:moveTo>
                  <a:pt x="355790" y="35597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083905" y="4825813"/>
            <a:ext cx="1081405" cy="400050"/>
          </a:xfrm>
          <a:custGeom>
            <a:avLst/>
            <a:gdLst/>
            <a:ahLst/>
            <a:cxnLst/>
            <a:rect l="l" t="t" r="r" b="b"/>
            <a:pathLst>
              <a:path w="1081404" h="400050">
                <a:moveTo>
                  <a:pt x="1081108" y="0"/>
                </a:moveTo>
                <a:lnTo>
                  <a:pt x="0" y="39951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67190" y="5330466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60" h="0">
                <a:moveTo>
                  <a:pt x="1470129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370958" y="5479147"/>
            <a:ext cx="548005" cy="367665"/>
          </a:xfrm>
          <a:custGeom>
            <a:avLst/>
            <a:gdLst/>
            <a:ahLst/>
            <a:cxnLst/>
            <a:rect l="l" t="t" r="r" b="b"/>
            <a:pathLst>
              <a:path w="548004" h="367664">
                <a:moveTo>
                  <a:pt x="0" y="367638"/>
                </a:moveTo>
                <a:lnTo>
                  <a:pt x="547649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488230" y="4495800"/>
            <a:ext cx="2343150" cy="2045335"/>
          </a:xfrm>
          <a:custGeom>
            <a:avLst/>
            <a:gdLst/>
            <a:ahLst/>
            <a:cxnLst/>
            <a:rect l="l" t="t" r="r" b="b"/>
            <a:pathLst>
              <a:path w="2343150" h="2045334">
                <a:moveTo>
                  <a:pt x="0" y="0"/>
                </a:moveTo>
                <a:lnTo>
                  <a:pt x="2342578" y="0"/>
                </a:lnTo>
                <a:lnTo>
                  <a:pt x="2342578" y="2045050"/>
                </a:lnTo>
                <a:lnTo>
                  <a:pt x="0" y="204505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7" name="object 57"/>
          <p:cNvGraphicFramePr>
            <a:graphicFrameLocks noGrp="1"/>
          </p:cNvGraphicFramePr>
          <p:nvPr/>
        </p:nvGraphicFramePr>
        <p:xfrm>
          <a:off x="6616238" y="4637289"/>
          <a:ext cx="1608455" cy="190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034"/>
                <a:gridCol w="492976"/>
                <a:gridCol w="373091"/>
              </a:tblGrid>
              <a:tr h="215900">
                <a:tc>
                  <a:txBody>
                    <a:bodyPr/>
                    <a:lstStyle/>
                    <a:p>
                      <a:pPr marL="31750">
                        <a:lnSpc>
                          <a:spcPts val="1639"/>
                        </a:lnSpc>
                      </a:pPr>
                      <a:r>
                        <a:rPr dirty="0" sz="15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639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639"/>
                        </a:lnSpc>
                      </a:pPr>
                      <a:r>
                        <a:rPr dirty="0" sz="1500">
                          <a:solidFill>
                            <a:srgbClr val="B482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dirty="0" sz="15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0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00"/>
                        </a:lnSpc>
                      </a:pPr>
                      <a:r>
                        <a:rPr dirty="0" sz="1500">
                          <a:solidFill>
                            <a:srgbClr val="D9253E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dirty="0" sz="1500" spc="-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0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00"/>
                        </a:lnSpc>
                      </a:pPr>
                      <a:r>
                        <a:rPr dirty="0" sz="1500">
                          <a:solidFill>
                            <a:srgbClr val="434A5A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dirty="0" sz="1500" spc="-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500" spc="-5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0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00"/>
                        </a:lnSpc>
                      </a:pPr>
                      <a:r>
                        <a:rPr dirty="0" sz="1500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500" spc="-5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0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00"/>
                        </a:lnSpc>
                      </a:pPr>
                      <a:r>
                        <a:rPr dirty="0" sz="1500">
                          <a:solidFill>
                            <a:srgbClr val="479249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dirty="0" sz="1500" spc="-5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0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00"/>
                        </a:lnSpc>
                      </a:pPr>
                      <a:r>
                        <a:rPr dirty="0" sz="1500" spc="-110">
                          <a:solidFill>
                            <a:srgbClr val="8A3C12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ts val="1700"/>
                        </a:lnSpc>
                      </a:pPr>
                      <a:r>
                        <a:rPr dirty="0" sz="1500" spc="-5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22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0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00"/>
                        </a:lnSpc>
                      </a:pPr>
                      <a:r>
                        <a:rPr dirty="0" sz="1500">
                          <a:solidFill>
                            <a:srgbClr val="78570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1720"/>
                        </a:lnSpc>
                      </a:pPr>
                      <a:r>
                        <a:rPr dirty="0" sz="1500" spc="-5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500" spc="-5">
                          <a:latin typeface="Arial"/>
                          <a:cs typeface="Arial"/>
                        </a:rPr>
                        <a:t>,</a:t>
                      </a:r>
                      <a:r>
                        <a:rPr dirty="0" sz="1500" spc="-5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dirty="0" sz="1500" spc="-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dirty="0" sz="1500" spc="-5">
                          <a:solidFill>
                            <a:srgbClr val="3792AA"/>
                          </a:solidFill>
                          <a:latin typeface="Arial"/>
                          <a:cs typeface="Arial"/>
                        </a:rPr>
                        <a:t>44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1720"/>
                        </a:lnSpc>
                      </a:pPr>
                      <a:r>
                        <a:rPr dirty="0" sz="1500">
                          <a:latin typeface="Arial"/>
                          <a:cs typeface="Arial"/>
                        </a:rPr>
                        <a:t>--&gt;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ts val="1720"/>
                        </a:lnSpc>
                      </a:pPr>
                      <a:r>
                        <a:rPr dirty="0" sz="1500">
                          <a:solidFill>
                            <a:srgbClr val="246172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8" name="object 58"/>
          <p:cNvSpPr/>
          <p:nvPr/>
        </p:nvSpPr>
        <p:spPr>
          <a:xfrm>
            <a:off x="1817555" y="2445525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4">
                <a:moveTo>
                  <a:pt x="451195" y="0"/>
                </a:moveTo>
                <a:lnTo>
                  <a:pt x="378009" y="1687"/>
                </a:lnTo>
                <a:lnTo>
                  <a:pt x="308582" y="6574"/>
                </a:lnTo>
                <a:lnTo>
                  <a:pt x="243845" y="14393"/>
                </a:lnTo>
                <a:lnTo>
                  <a:pt x="184725" y="24880"/>
                </a:lnTo>
                <a:lnTo>
                  <a:pt x="132152" y="37769"/>
                </a:lnTo>
                <a:lnTo>
                  <a:pt x="87054" y="52795"/>
                </a:lnTo>
                <a:lnTo>
                  <a:pt x="50361" y="69692"/>
                </a:lnTo>
                <a:lnTo>
                  <a:pt x="5905" y="108037"/>
                </a:lnTo>
                <a:lnTo>
                  <a:pt x="0" y="128954"/>
                </a:lnTo>
                <a:lnTo>
                  <a:pt x="5905" y="149871"/>
                </a:lnTo>
                <a:lnTo>
                  <a:pt x="50361" y="188216"/>
                </a:lnTo>
                <a:lnTo>
                  <a:pt x="87054" y="205112"/>
                </a:lnTo>
                <a:lnTo>
                  <a:pt x="132152" y="220138"/>
                </a:lnTo>
                <a:lnTo>
                  <a:pt x="184725" y="233027"/>
                </a:lnTo>
                <a:lnTo>
                  <a:pt x="243845" y="243514"/>
                </a:lnTo>
                <a:lnTo>
                  <a:pt x="308582" y="251333"/>
                </a:lnTo>
                <a:lnTo>
                  <a:pt x="378009" y="256220"/>
                </a:lnTo>
                <a:lnTo>
                  <a:pt x="451195" y="257907"/>
                </a:lnTo>
                <a:lnTo>
                  <a:pt x="524381" y="256220"/>
                </a:lnTo>
                <a:lnTo>
                  <a:pt x="593807" y="251333"/>
                </a:lnTo>
                <a:lnTo>
                  <a:pt x="658545" y="243514"/>
                </a:lnTo>
                <a:lnTo>
                  <a:pt x="717664" y="233027"/>
                </a:lnTo>
                <a:lnTo>
                  <a:pt x="770238" y="220138"/>
                </a:lnTo>
                <a:lnTo>
                  <a:pt x="815335" y="205112"/>
                </a:lnTo>
                <a:lnTo>
                  <a:pt x="852028" y="188216"/>
                </a:lnTo>
                <a:lnTo>
                  <a:pt x="896484" y="149871"/>
                </a:lnTo>
                <a:lnTo>
                  <a:pt x="902389" y="128954"/>
                </a:lnTo>
                <a:lnTo>
                  <a:pt x="896484" y="108037"/>
                </a:lnTo>
                <a:lnTo>
                  <a:pt x="852028" y="69692"/>
                </a:lnTo>
                <a:lnTo>
                  <a:pt x="815335" y="52795"/>
                </a:lnTo>
                <a:lnTo>
                  <a:pt x="770238" y="37769"/>
                </a:lnTo>
                <a:lnTo>
                  <a:pt x="717664" y="24880"/>
                </a:lnTo>
                <a:lnTo>
                  <a:pt x="658545" y="14393"/>
                </a:lnTo>
                <a:lnTo>
                  <a:pt x="593807" y="6574"/>
                </a:lnTo>
                <a:lnTo>
                  <a:pt x="524381" y="1687"/>
                </a:lnTo>
                <a:lnTo>
                  <a:pt x="45119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817555" y="2445525"/>
            <a:ext cx="902969" cy="258445"/>
          </a:xfrm>
          <a:custGeom>
            <a:avLst/>
            <a:gdLst/>
            <a:ahLst/>
            <a:cxnLst/>
            <a:rect l="l" t="t" r="r" b="b"/>
            <a:pathLst>
              <a:path w="902969" h="258444">
                <a:moveTo>
                  <a:pt x="0" y="128954"/>
                </a:moveTo>
                <a:lnTo>
                  <a:pt x="23002" y="88194"/>
                </a:lnTo>
                <a:lnTo>
                  <a:pt x="87054" y="52795"/>
                </a:lnTo>
                <a:lnTo>
                  <a:pt x="132151" y="37769"/>
                </a:lnTo>
                <a:lnTo>
                  <a:pt x="184724" y="24880"/>
                </a:lnTo>
                <a:lnTo>
                  <a:pt x="243844" y="14393"/>
                </a:lnTo>
                <a:lnTo>
                  <a:pt x="308582" y="6574"/>
                </a:lnTo>
                <a:lnTo>
                  <a:pt x="378008" y="1687"/>
                </a:lnTo>
                <a:lnTo>
                  <a:pt x="451194" y="0"/>
                </a:lnTo>
                <a:lnTo>
                  <a:pt x="524380" y="1687"/>
                </a:lnTo>
                <a:lnTo>
                  <a:pt x="593806" y="6574"/>
                </a:lnTo>
                <a:lnTo>
                  <a:pt x="658544" y="14393"/>
                </a:lnTo>
                <a:lnTo>
                  <a:pt x="717664" y="24880"/>
                </a:lnTo>
                <a:lnTo>
                  <a:pt x="770237" y="37769"/>
                </a:lnTo>
                <a:lnTo>
                  <a:pt x="815334" y="52795"/>
                </a:lnTo>
                <a:lnTo>
                  <a:pt x="852027" y="69692"/>
                </a:lnTo>
                <a:lnTo>
                  <a:pt x="896483" y="108036"/>
                </a:lnTo>
                <a:lnTo>
                  <a:pt x="902389" y="128954"/>
                </a:lnTo>
                <a:lnTo>
                  <a:pt x="896483" y="149871"/>
                </a:lnTo>
                <a:lnTo>
                  <a:pt x="852027" y="188215"/>
                </a:lnTo>
                <a:lnTo>
                  <a:pt x="815334" y="205112"/>
                </a:lnTo>
                <a:lnTo>
                  <a:pt x="770237" y="220138"/>
                </a:lnTo>
                <a:lnTo>
                  <a:pt x="717664" y="233027"/>
                </a:lnTo>
                <a:lnTo>
                  <a:pt x="658544" y="243514"/>
                </a:lnTo>
                <a:lnTo>
                  <a:pt x="593806" y="251333"/>
                </a:lnTo>
                <a:lnTo>
                  <a:pt x="524380" y="256220"/>
                </a:lnTo>
                <a:lnTo>
                  <a:pt x="451194" y="257908"/>
                </a:lnTo>
                <a:lnTo>
                  <a:pt x="378008" y="256220"/>
                </a:lnTo>
                <a:lnTo>
                  <a:pt x="308582" y="251333"/>
                </a:lnTo>
                <a:lnTo>
                  <a:pt x="243844" y="243514"/>
                </a:lnTo>
                <a:lnTo>
                  <a:pt x="184724" y="233027"/>
                </a:lnTo>
                <a:lnTo>
                  <a:pt x="132151" y="220138"/>
                </a:lnTo>
                <a:lnTo>
                  <a:pt x="87054" y="205112"/>
                </a:lnTo>
                <a:lnTo>
                  <a:pt x="50361" y="188215"/>
                </a:lnTo>
                <a:lnTo>
                  <a:pt x="5905" y="149871"/>
                </a:lnTo>
                <a:lnTo>
                  <a:pt x="0" y="128954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14925" y="2431210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362028" y="0"/>
                </a:moveTo>
                <a:lnTo>
                  <a:pt x="296953" y="2277"/>
                </a:lnTo>
                <a:lnTo>
                  <a:pt x="235704" y="8843"/>
                </a:lnTo>
                <a:lnTo>
                  <a:pt x="179305" y="19299"/>
                </a:lnTo>
                <a:lnTo>
                  <a:pt x="128777" y="33245"/>
                </a:lnTo>
                <a:lnTo>
                  <a:pt x="85144" y="50282"/>
                </a:lnTo>
                <a:lnTo>
                  <a:pt x="49427" y="70011"/>
                </a:lnTo>
                <a:lnTo>
                  <a:pt x="5832" y="115947"/>
                </a:lnTo>
                <a:lnTo>
                  <a:pt x="0" y="141356"/>
                </a:lnTo>
                <a:lnTo>
                  <a:pt x="5832" y="166765"/>
                </a:lnTo>
                <a:lnTo>
                  <a:pt x="49427" y="212701"/>
                </a:lnTo>
                <a:lnTo>
                  <a:pt x="85144" y="232430"/>
                </a:lnTo>
                <a:lnTo>
                  <a:pt x="128777" y="249467"/>
                </a:lnTo>
                <a:lnTo>
                  <a:pt x="179305" y="263413"/>
                </a:lnTo>
                <a:lnTo>
                  <a:pt x="235704" y="273868"/>
                </a:lnTo>
                <a:lnTo>
                  <a:pt x="296953" y="280434"/>
                </a:lnTo>
                <a:lnTo>
                  <a:pt x="362028" y="282712"/>
                </a:lnTo>
                <a:lnTo>
                  <a:pt x="427103" y="280434"/>
                </a:lnTo>
                <a:lnTo>
                  <a:pt x="488351" y="273868"/>
                </a:lnTo>
                <a:lnTo>
                  <a:pt x="544751" y="263413"/>
                </a:lnTo>
                <a:lnTo>
                  <a:pt x="595278" y="249467"/>
                </a:lnTo>
                <a:lnTo>
                  <a:pt x="638911" y="232430"/>
                </a:lnTo>
                <a:lnTo>
                  <a:pt x="674628" y="212701"/>
                </a:lnTo>
                <a:lnTo>
                  <a:pt x="718223" y="166765"/>
                </a:lnTo>
                <a:lnTo>
                  <a:pt x="724056" y="141356"/>
                </a:lnTo>
                <a:lnTo>
                  <a:pt x="718223" y="115947"/>
                </a:lnTo>
                <a:lnTo>
                  <a:pt x="674628" y="70011"/>
                </a:lnTo>
                <a:lnTo>
                  <a:pt x="638911" y="50282"/>
                </a:lnTo>
                <a:lnTo>
                  <a:pt x="595278" y="33245"/>
                </a:lnTo>
                <a:lnTo>
                  <a:pt x="544751" y="19299"/>
                </a:lnTo>
                <a:lnTo>
                  <a:pt x="488351" y="8843"/>
                </a:lnTo>
                <a:lnTo>
                  <a:pt x="427103" y="2277"/>
                </a:lnTo>
                <a:lnTo>
                  <a:pt x="36202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114925" y="2431210"/>
            <a:ext cx="724535" cy="283210"/>
          </a:xfrm>
          <a:custGeom>
            <a:avLst/>
            <a:gdLst/>
            <a:ahLst/>
            <a:cxnLst/>
            <a:rect l="l" t="t" r="r" b="b"/>
            <a:pathLst>
              <a:path w="724535" h="283210">
                <a:moveTo>
                  <a:pt x="0" y="141356"/>
                </a:moveTo>
                <a:lnTo>
                  <a:pt x="22649" y="92032"/>
                </a:lnTo>
                <a:lnTo>
                  <a:pt x="85144" y="50282"/>
                </a:lnTo>
                <a:lnTo>
                  <a:pt x="128778" y="33245"/>
                </a:lnTo>
                <a:lnTo>
                  <a:pt x="179305" y="19299"/>
                </a:lnTo>
                <a:lnTo>
                  <a:pt x="235705" y="8843"/>
                </a:lnTo>
                <a:lnTo>
                  <a:pt x="296953" y="2277"/>
                </a:lnTo>
                <a:lnTo>
                  <a:pt x="362028" y="0"/>
                </a:lnTo>
                <a:lnTo>
                  <a:pt x="427103" y="2277"/>
                </a:lnTo>
                <a:lnTo>
                  <a:pt x="488351" y="8843"/>
                </a:lnTo>
                <a:lnTo>
                  <a:pt x="544751" y="19299"/>
                </a:lnTo>
                <a:lnTo>
                  <a:pt x="595278" y="33245"/>
                </a:lnTo>
                <a:lnTo>
                  <a:pt x="638912" y="50282"/>
                </a:lnTo>
                <a:lnTo>
                  <a:pt x="674629" y="70010"/>
                </a:lnTo>
                <a:lnTo>
                  <a:pt x="718224" y="115947"/>
                </a:lnTo>
                <a:lnTo>
                  <a:pt x="724057" y="141356"/>
                </a:lnTo>
                <a:lnTo>
                  <a:pt x="718224" y="166764"/>
                </a:lnTo>
                <a:lnTo>
                  <a:pt x="674629" y="212701"/>
                </a:lnTo>
                <a:lnTo>
                  <a:pt x="638912" y="232429"/>
                </a:lnTo>
                <a:lnTo>
                  <a:pt x="595278" y="249466"/>
                </a:lnTo>
                <a:lnTo>
                  <a:pt x="544751" y="263412"/>
                </a:lnTo>
                <a:lnTo>
                  <a:pt x="488351" y="273868"/>
                </a:lnTo>
                <a:lnTo>
                  <a:pt x="427103" y="280434"/>
                </a:lnTo>
                <a:lnTo>
                  <a:pt x="362028" y="282712"/>
                </a:lnTo>
                <a:lnTo>
                  <a:pt x="296953" y="280434"/>
                </a:lnTo>
                <a:lnTo>
                  <a:pt x="235705" y="273868"/>
                </a:lnTo>
                <a:lnTo>
                  <a:pt x="179305" y="263412"/>
                </a:lnTo>
                <a:lnTo>
                  <a:pt x="128778" y="249466"/>
                </a:lnTo>
                <a:lnTo>
                  <a:pt x="85144" y="232429"/>
                </a:lnTo>
                <a:lnTo>
                  <a:pt x="49427" y="212701"/>
                </a:lnTo>
                <a:lnTo>
                  <a:pt x="5832" y="16676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066344" y="2471420"/>
            <a:ext cx="15709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2380" algn="l"/>
              </a:tabLst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	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101207" y="3010951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486270" y="0"/>
                </a:moveTo>
                <a:lnTo>
                  <a:pt x="414413" y="1532"/>
                </a:lnTo>
                <a:lnTo>
                  <a:pt x="345829" y="5984"/>
                </a:lnTo>
                <a:lnTo>
                  <a:pt x="281271" y="13138"/>
                </a:lnTo>
                <a:lnTo>
                  <a:pt x="221491" y="22773"/>
                </a:lnTo>
                <a:lnTo>
                  <a:pt x="167241" y="34672"/>
                </a:lnTo>
                <a:lnTo>
                  <a:pt x="119274" y="48616"/>
                </a:lnTo>
                <a:lnTo>
                  <a:pt x="78341" y="64386"/>
                </a:lnTo>
                <a:lnTo>
                  <a:pt x="20588" y="100530"/>
                </a:lnTo>
                <a:lnTo>
                  <a:pt x="0" y="141356"/>
                </a:lnTo>
                <a:lnTo>
                  <a:pt x="5272" y="162244"/>
                </a:lnTo>
                <a:lnTo>
                  <a:pt x="45195" y="200948"/>
                </a:lnTo>
                <a:lnTo>
                  <a:pt x="119274" y="234096"/>
                </a:lnTo>
                <a:lnTo>
                  <a:pt x="167241" y="248040"/>
                </a:lnTo>
                <a:lnTo>
                  <a:pt x="221491" y="259938"/>
                </a:lnTo>
                <a:lnTo>
                  <a:pt x="281271" y="269574"/>
                </a:lnTo>
                <a:lnTo>
                  <a:pt x="345829" y="276727"/>
                </a:lnTo>
                <a:lnTo>
                  <a:pt x="414413" y="281179"/>
                </a:lnTo>
                <a:lnTo>
                  <a:pt x="486270" y="282712"/>
                </a:lnTo>
                <a:lnTo>
                  <a:pt x="558128" y="281179"/>
                </a:lnTo>
                <a:lnTo>
                  <a:pt x="626712" y="276727"/>
                </a:lnTo>
                <a:lnTo>
                  <a:pt x="691270" y="269574"/>
                </a:lnTo>
                <a:lnTo>
                  <a:pt x="751050" y="259938"/>
                </a:lnTo>
                <a:lnTo>
                  <a:pt x="805300" y="248040"/>
                </a:lnTo>
                <a:lnTo>
                  <a:pt x="853267" y="234096"/>
                </a:lnTo>
                <a:lnTo>
                  <a:pt x="894200" y="218326"/>
                </a:lnTo>
                <a:lnTo>
                  <a:pt x="951953" y="182181"/>
                </a:lnTo>
                <a:lnTo>
                  <a:pt x="972541" y="141356"/>
                </a:lnTo>
                <a:lnTo>
                  <a:pt x="967269" y="120467"/>
                </a:lnTo>
                <a:lnTo>
                  <a:pt x="927346" y="81764"/>
                </a:lnTo>
                <a:lnTo>
                  <a:pt x="853267" y="48616"/>
                </a:lnTo>
                <a:lnTo>
                  <a:pt x="805300" y="34672"/>
                </a:lnTo>
                <a:lnTo>
                  <a:pt x="751050" y="22773"/>
                </a:lnTo>
                <a:lnTo>
                  <a:pt x="691270" y="13138"/>
                </a:lnTo>
                <a:lnTo>
                  <a:pt x="626712" y="5984"/>
                </a:lnTo>
                <a:lnTo>
                  <a:pt x="558128" y="1532"/>
                </a:lnTo>
                <a:lnTo>
                  <a:pt x="48627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101207" y="3010951"/>
            <a:ext cx="972819" cy="283210"/>
          </a:xfrm>
          <a:custGeom>
            <a:avLst/>
            <a:gdLst/>
            <a:ahLst/>
            <a:cxnLst/>
            <a:rect l="l" t="t" r="r" b="b"/>
            <a:pathLst>
              <a:path w="972819" h="283210">
                <a:moveTo>
                  <a:pt x="0" y="141356"/>
                </a:moveTo>
                <a:lnTo>
                  <a:pt x="20588" y="100530"/>
                </a:lnTo>
                <a:lnTo>
                  <a:pt x="78341" y="64386"/>
                </a:lnTo>
                <a:lnTo>
                  <a:pt x="119274" y="48616"/>
                </a:lnTo>
                <a:lnTo>
                  <a:pt x="167241" y="34672"/>
                </a:lnTo>
                <a:lnTo>
                  <a:pt x="221491" y="22773"/>
                </a:lnTo>
                <a:lnTo>
                  <a:pt x="281271" y="13137"/>
                </a:lnTo>
                <a:lnTo>
                  <a:pt x="345829" y="5984"/>
                </a:lnTo>
                <a:lnTo>
                  <a:pt x="414413" y="1532"/>
                </a:lnTo>
                <a:lnTo>
                  <a:pt x="486271" y="0"/>
                </a:lnTo>
                <a:lnTo>
                  <a:pt x="558128" y="1532"/>
                </a:lnTo>
                <a:lnTo>
                  <a:pt x="626712" y="5984"/>
                </a:lnTo>
                <a:lnTo>
                  <a:pt x="691270" y="13137"/>
                </a:lnTo>
                <a:lnTo>
                  <a:pt x="751050" y="22773"/>
                </a:lnTo>
                <a:lnTo>
                  <a:pt x="805300" y="34672"/>
                </a:lnTo>
                <a:lnTo>
                  <a:pt x="853268" y="48616"/>
                </a:lnTo>
                <a:lnTo>
                  <a:pt x="894200" y="64386"/>
                </a:lnTo>
                <a:lnTo>
                  <a:pt x="951953" y="100530"/>
                </a:lnTo>
                <a:lnTo>
                  <a:pt x="972542" y="141356"/>
                </a:lnTo>
                <a:lnTo>
                  <a:pt x="967269" y="162244"/>
                </a:lnTo>
                <a:lnTo>
                  <a:pt x="927346" y="200948"/>
                </a:lnTo>
                <a:lnTo>
                  <a:pt x="853268" y="234095"/>
                </a:lnTo>
                <a:lnTo>
                  <a:pt x="805300" y="248039"/>
                </a:lnTo>
                <a:lnTo>
                  <a:pt x="751050" y="259938"/>
                </a:lnTo>
                <a:lnTo>
                  <a:pt x="691270" y="269574"/>
                </a:lnTo>
                <a:lnTo>
                  <a:pt x="626712" y="276727"/>
                </a:lnTo>
                <a:lnTo>
                  <a:pt x="558128" y="281179"/>
                </a:lnTo>
                <a:lnTo>
                  <a:pt x="486271" y="282712"/>
                </a:lnTo>
                <a:lnTo>
                  <a:pt x="414413" y="281179"/>
                </a:lnTo>
                <a:lnTo>
                  <a:pt x="345829" y="276727"/>
                </a:lnTo>
                <a:lnTo>
                  <a:pt x="281271" y="269574"/>
                </a:lnTo>
                <a:lnTo>
                  <a:pt x="221491" y="259938"/>
                </a:lnTo>
                <a:lnTo>
                  <a:pt x="167241" y="248039"/>
                </a:lnTo>
                <a:lnTo>
                  <a:pt x="119274" y="234095"/>
                </a:lnTo>
                <a:lnTo>
                  <a:pt x="78341" y="218325"/>
                </a:lnTo>
                <a:lnTo>
                  <a:pt x="20588" y="182181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343003" y="3047492"/>
            <a:ext cx="4895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5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22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058749" y="3647835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304665" y="0"/>
                </a:moveTo>
                <a:lnTo>
                  <a:pt x="243264" y="2871"/>
                </a:lnTo>
                <a:lnTo>
                  <a:pt x="186075" y="11108"/>
                </a:lnTo>
                <a:lnTo>
                  <a:pt x="134323" y="24141"/>
                </a:lnTo>
                <a:lnTo>
                  <a:pt x="89234" y="41402"/>
                </a:lnTo>
                <a:lnTo>
                  <a:pt x="52031" y="62322"/>
                </a:lnTo>
                <a:lnTo>
                  <a:pt x="6189" y="112867"/>
                </a:lnTo>
                <a:lnTo>
                  <a:pt x="0" y="141356"/>
                </a:lnTo>
                <a:lnTo>
                  <a:pt x="6189" y="169844"/>
                </a:lnTo>
                <a:lnTo>
                  <a:pt x="52031" y="220389"/>
                </a:lnTo>
                <a:lnTo>
                  <a:pt x="89234" y="241309"/>
                </a:lnTo>
                <a:lnTo>
                  <a:pt x="134323" y="258570"/>
                </a:lnTo>
                <a:lnTo>
                  <a:pt x="186075" y="271603"/>
                </a:lnTo>
                <a:lnTo>
                  <a:pt x="243264" y="279840"/>
                </a:lnTo>
                <a:lnTo>
                  <a:pt x="304665" y="282712"/>
                </a:lnTo>
                <a:lnTo>
                  <a:pt x="366066" y="279840"/>
                </a:lnTo>
                <a:lnTo>
                  <a:pt x="423255" y="271603"/>
                </a:lnTo>
                <a:lnTo>
                  <a:pt x="475006" y="258570"/>
                </a:lnTo>
                <a:lnTo>
                  <a:pt x="520096" y="241309"/>
                </a:lnTo>
                <a:lnTo>
                  <a:pt x="557298" y="220389"/>
                </a:lnTo>
                <a:lnTo>
                  <a:pt x="603141" y="169844"/>
                </a:lnTo>
                <a:lnTo>
                  <a:pt x="609330" y="141356"/>
                </a:lnTo>
                <a:lnTo>
                  <a:pt x="603141" y="112867"/>
                </a:lnTo>
                <a:lnTo>
                  <a:pt x="557298" y="62322"/>
                </a:lnTo>
                <a:lnTo>
                  <a:pt x="520096" y="41402"/>
                </a:lnTo>
                <a:lnTo>
                  <a:pt x="475006" y="24141"/>
                </a:lnTo>
                <a:lnTo>
                  <a:pt x="423255" y="11108"/>
                </a:lnTo>
                <a:lnTo>
                  <a:pt x="366066" y="2871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2058749" y="3647835"/>
            <a:ext cx="609600" cy="283210"/>
          </a:xfrm>
          <a:custGeom>
            <a:avLst/>
            <a:gdLst/>
            <a:ahLst/>
            <a:cxnLst/>
            <a:rect l="l" t="t" r="r" b="b"/>
            <a:pathLst>
              <a:path w="609600" h="283210">
                <a:moveTo>
                  <a:pt x="0" y="141356"/>
                </a:moveTo>
                <a:lnTo>
                  <a:pt x="23942" y="86333"/>
                </a:lnTo>
                <a:lnTo>
                  <a:pt x="89234" y="41402"/>
                </a:lnTo>
                <a:lnTo>
                  <a:pt x="134324" y="24141"/>
                </a:lnTo>
                <a:lnTo>
                  <a:pt x="186075" y="11108"/>
                </a:lnTo>
                <a:lnTo>
                  <a:pt x="243264" y="2871"/>
                </a:lnTo>
                <a:lnTo>
                  <a:pt x="304665" y="0"/>
                </a:lnTo>
                <a:lnTo>
                  <a:pt x="366066" y="2871"/>
                </a:lnTo>
                <a:lnTo>
                  <a:pt x="423255" y="11108"/>
                </a:lnTo>
                <a:lnTo>
                  <a:pt x="475006" y="24141"/>
                </a:lnTo>
                <a:lnTo>
                  <a:pt x="520096" y="41402"/>
                </a:lnTo>
                <a:lnTo>
                  <a:pt x="557298" y="62322"/>
                </a:lnTo>
                <a:lnTo>
                  <a:pt x="603141" y="112867"/>
                </a:lnTo>
                <a:lnTo>
                  <a:pt x="609331" y="141356"/>
                </a:lnTo>
                <a:lnTo>
                  <a:pt x="603141" y="169844"/>
                </a:lnTo>
                <a:lnTo>
                  <a:pt x="557298" y="220389"/>
                </a:lnTo>
                <a:lnTo>
                  <a:pt x="520096" y="241309"/>
                </a:lnTo>
                <a:lnTo>
                  <a:pt x="475006" y="258570"/>
                </a:lnTo>
                <a:lnTo>
                  <a:pt x="423255" y="271603"/>
                </a:lnTo>
                <a:lnTo>
                  <a:pt x="366066" y="279840"/>
                </a:lnTo>
                <a:lnTo>
                  <a:pt x="304665" y="282712"/>
                </a:lnTo>
                <a:lnTo>
                  <a:pt x="243264" y="279840"/>
                </a:lnTo>
                <a:lnTo>
                  <a:pt x="186075" y="271603"/>
                </a:lnTo>
                <a:lnTo>
                  <a:pt x="134324" y="258570"/>
                </a:lnTo>
                <a:lnTo>
                  <a:pt x="89234" y="241309"/>
                </a:lnTo>
                <a:lnTo>
                  <a:pt x="52032" y="220389"/>
                </a:lnTo>
                <a:lnTo>
                  <a:pt x="6189" y="169844"/>
                </a:lnTo>
                <a:lnTo>
                  <a:pt x="0" y="141356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245146" y="3684523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138230" y="3601783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297357" y="0"/>
                </a:moveTo>
                <a:lnTo>
                  <a:pt x="237429" y="3150"/>
                </a:lnTo>
                <a:lnTo>
                  <a:pt x="181612" y="12186"/>
                </a:lnTo>
                <a:lnTo>
                  <a:pt x="131102" y="26483"/>
                </a:lnTo>
                <a:lnTo>
                  <a:pt x="87094" y="45418"/>
                </a:lnTo>
                <a:lnTo>
                  <a:pt x="50784" y="68368"/>
                </a:lnTo>
                <a:lnTo>
                  <a:pt x="6041" y="123817"/>
                </a:lnTo>
                <a:lnTo>
                  <a:pt x="0" y="155069"/>
                </a:lnTo>
                <a:lnTo>
                  <a:pt x="6041" y="186321"/>
                </a:lnTo>
                <a:lnTo>
                  <a:pt x="50784" y="241771"/>
                </a:lnTo>
                <a:lnTo>
                  <a:pt x="87094" y="264721"/>
                </a:lnTo>
                <a:lnTo>
                  <a:pt x="131102" y="283656"/>
                </a:lnTo>
                <a:lnTo>
                  <a:pt x="181612" y="297954"/>
                </a:lnTo>
                <a:lnTo>
                  <a:pt x="237429" y="306989"/>
                </a:lnTo>
                <a:lnTo>
                  <a:pt x="297357" y="310140"/>
                </a:lnTo>
                <a:lnTo>
                  <a:pt x="357285" y="306989"/>
                </a:lnTo>
                <a:lnTo>
                  <a:pt x="413102" y="297954"/>
                </a:lnTo>
                <a:lnTo>
                  <a:pt x="463613" y="283656"/>
                </a:lnTo>
                <a:lnTo>
                  <a:pt x="507621" y="264721"/>
                </a:lnTo>
                <a:lnTo>
                  <a:pt x="543931" y="241771"/>
                </a:lnTo>
                <a:lnTo>
                  <a:pt x="588674" y="186321"/>
                </a:lnTo>
                <a:lnTo>
                  <a:pt x="594715" y="155069"/>
                </a:lnTo>
                <a:lnTo>
                  <a:pt x="588674" y="123817"/>
                </a:lnTo>
                <a:lnTo>
                  <a:pt x="543931" y="68368"/>
                </a:lnTo>
                <a:lnTo>
                  <a:pt x="507621" y="45418"/>
                </a:lnTo>
                <a:lnTo>
                  <a:pt x="463613" y="26483"/>
                </a:lnTo>
                <a:lnTo>
                  <a:pt x="413102" y="12186"/>
                </a:lnTo>
                <a:lnTo>
                  <a:pt x="357285" y="3150"/>
                </a:lnTo>
                <a:lnTo>
                  <a:pt x="29735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138230" y="3601783"/>
            <a:ext cx="594995" cy="310515"/>
          </a:xfrm>
          <a:custGeom>
            <a:avLst/>
            <a:gdLst/>
            <a:ahLst/>
            <a:cxnLst/>
            <a:rect l="l" t="t" r="r" b="b"/>
            <a:pathLst>
              <a:path w="594995" h="310514">
                <a:moveTo>
                  <a:pt x="0" y="155070"/>
                </a:moveTo>
                <a:lnTo>
                  <a:pt x="23367" y="94710"/>
                </a:lnTo>
                <a:lnTo>
                  <a:pt x="87094" y="45419"/>
                </a:lnTo>
                <a:lnTo>
                  <a:pt x="131102" y="26483"/>
                </a:lnTo>
                <a:lnTo>
                  <a:pt x="181612" y="12186"/>
                </a:lnTo>
                <a:lnTo>
                  <a:pt x="237429" y="3150"/>
                </a:lnTo>
                <a:lnTo>
                  <a:pt x="297358" y="0"/>
                </a:lnTo>
                <a:lnTo>
                  <a:pt x="357286" y="3150"/>
                </a:lnTo>
                <a:lnTo>
                  <a:pt x="413103" y="12186"/>
                </a:lnTo>
                <a:lnTo>
                  <a:pt x="463613" y="26483"/>
                </a:lnTo>
                <a:lnTo>
                  <a:pt x="507621" y="45419"/>
                </a:lnTo>
                <a:lnTo>
                  <a:pt x="543931" y="68369"/>
                </a:lnTo>
                <a:lnTo>
                  <a:pt x="588674" y="123818"/>
                </a:lnTo>
                <a:lnTo>
                  <a:pt x="594716" y="155070"/>
                </a:lnTo>
                <a:lnTo>
                  <a:pt x="588674" y="186322"/>
                </a:lnTo>
                <a:lnTo>
                  <a:pt x="543931" y="241771"/>
                </a:lnTo>
                <a:lnTo>
                  <a:pt x="507621" y="264721"/>
                </a:lnTo>
                <a:lnTo>
                  <a:pt x="463613" y="283657"/>
                </a:lnTo>
                <a:lnTo>
                  <a:pt x="413103" y="297954"/>
                </a:lnTo>
                <a:lnTo>
                  <a:pt x="357286" y="306990"/>
                </a:lnTo>
                <a:lnTo>
                  <a:pt x="297358" y="310141"/>
                </a:lnTo>
                <a:lnTo>
                  <a:pt x="237429" y="306990"/>
                </a:lnTo>
                <a:lnTo>
                  <a:pt x="181612" y="297954"/>
                </a:lnTo>
                <a:lnTo>
                  <a:pt x="131102" y="283657"/>
                </a:lnTo>
                <a:lnTo>
                  <a:pt x="87094" y="264721"/>
                </a:lnTo>
                <a:lnTo>
                  <a:pt x="50784" y="241771"/>
                </a:lnTo>
                <a:lnTo>
                  <a:pt x="6041" y="186322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/>
          <p:nvPr/>
        </p:nvSpPr>
        <p:spPr>
          <a:xfrm>
            <a:off x="3317319" y="3654044"/>
            <a:ext cx="237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3696365" y="3022041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434972" y="0"/>
                </a:moveTo>
                <a:lnTo>
                  <a:pt x="364417" y="2029"/>
                </a:lnTo>
                <a:lnTo>
                  <a:pt x="297487" y="7905"/>
                </a:lnTo>
                <a:lnTo>
                  <a:pt x="235077" y="17308"/>
                </a:lnTo>
                <a:lnTo>
                  <a:pt x="178083" y="29919"/>
                </a:lnTo>
                <a:lnTo>
                  <a:pt x="127400" y="45419"/>
                </a:lnTo>
                <a:lnTo>
                  <a:pt x="83924" y="63487"/>
                </a:lnTo>
                <a:lnTo>
                  <a:pt x="48550" y="83806"/>
                </a:lnTo>
                <a:lnTo>
                  <a:pt x="5693" y="129917"/>
                </a:lnTo>
                <a:lnTo>
                  <a:pt x="0" y="155070"/>
                </a:lnTo>
                <a:lnTo>
                  <a:pt x="5693" y="180223"/>
                </a:lnTo>
                <a:lnTo>
                  <a:pt x="48550" y="226334"/>
                </a:lnTo>
                <a:lnTo>
                  <a:pt x="83924" y="246652"/>
                </a:lnTo>
                <a:lnTo>
                  <a:pt x="127400" y="264721"/>
                </a:lnTo>
                <a:lnTo>
                  <a:pt x="178083" y="280220"/>
                </a:lnTo>
                <a:lnTo>
                  <a:pt x="235077" y="292831"/>
                </a:lnTo>
                <a:lnTo>
                  <a:pt x="297487" y="302234"/>
                </a:lnTo>
                <a:lnTo>
                  <a:pt x="364417" y="308110"/>
                </a:lnTo>
                <a:lnTo>
                  <a:pt x="434972" y="310140"/>
                </a:lnTo>
                <a:lnTo>
                  <a:pt x="505527" y="308110"/>
                </a:lnTo>
                <a:lnTo>
                  <a:pt x="572457" y="302234"/>
                </a:lnTo>
                <a:lnTo>
                  <a:pt x="634866" y="292831"/>
                </a:lnTo>
                <a:lnTo>
                  <a:pt x="691860" y="280220"/>
                </a:lnTo>
                <a:lnTo>
                  <a:pt x="742543" y="264721"/>
                </a:lnTo>
                <a:lnTo>
                  <a:pt x="786019" y="246652"/>
                </a:lnTo>
                <a:lnTo>
                  <a:pt x="821392" y="226334"/>
                </a:lnTo>
                <a:lnTo>
                  <a:pt x="864250" y="180223"/>
                </a:lnTo>
                <a:lnTo>
                  <a:pt x="869943" y="155070"/>
                </a:lnTo>
                <a:lnTo>
                  <a:pt x="864250" y="129917"/>
                </a:lnTo>
                <a:lnTo>
                  <a:pt x="821392" y="83806"/>
                </a:lnTo>
                <a:lnTo>
                  <a:pt x="786019" y="63487"/>
                </a:lnTo>
                <a:lnTo>
                  <a:pt x="742543" y="45419"/>
                </a:lnTo>
                <a:lnTo>
                  <a:pt x="691860" y="29919"/>
                </a:lnTo>
                <a:lnTo>
                  <a:pt x="634866" y="17308"/>
                </a:lnTo>
                <a:lnTo>
                  <a:pt x="572457" y="7905"/>
                </a:lnTo>
                <a:lnTo>
                  <a:pt x="505527" y="2029"/>
                </a:lnTo>
                <a:lnTo>
                  <a:pt x="43497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696365" y="3022041"/>
            <a:ext cx="869950" cy="310515"/>
          </a:xfrm>
          <a:custGeom>
            <a:avLst/>
            <a:gdLst/>
            <a:ahLst/>
            <a:cxnLst/>
            <a:rect l="l" t="t" r="r" b="b"/>
            <a:pathLst>
              <a:path w="869950" h="310514">
                <a:moveTo>
                  <a:pt x="0" y="155070"/>
                </a:moveTo>
                <a:lnTo>
                  <a:pt x="22175" y="106056"/>
                </a:lnTo>
                <a:lnTo>
                  <a:pt x="83924" y="63487"/>
                </a:lnTo>
                <a:lnTo>
                  <a:pt x="127400" y="45419"/>
                </a:lnTo>
                <a:lnTo>
                  <a:pt x="178082" y="29919"/>
                </a:lnTo>
                <a:lnTo>
                  <a:pt x="235077" y="17308"/>
                </a:lnTo>
                <a:lnTo>
                  <a:pt x="297486" y="7905"/>
                </a:lnTo>
                <a:lnTo>
                  <a:pt x="364416" y="2029"/>
                </a:lnTo>
                <a:lnTo>
                  <a:pt x="434971" y="0"/>
                </a:lnTo>
                <a:lnTo>
                  <a:pt x="505526" y="2029"/>
                </a:lnTo>
                <a:lnTo>
                  <a:pt x="572456" y="7905"/>
                </a:lnTo>
                <a:lnTo>
                  <a:pt x="634865" y="17308"/>
                </a:lnTo>
                <a:lnTo>
                  <a:pt x="691860" y="29919"/>
                </a:lnTo>
                <a:lnTo>
                  <a:pt x="742542" y="45419"/>
                </a:lnTo>
                <a:lnTo>
                  <a:pt x="786018" y="63487"/>
                </a:lnTo>
                <a:lnTo>
                  <a:pt x="821392" y="83806"/>
                </a:lnTo>
                <a:lnTo>
                  <a:pt x="864249" y="129917"/>
                </a:lnTo>
                <a:lnTo>
                  <a:pt x="869943" y="155070"/>
                </a:lnTo>
                <a:lnTo>
                  <a:pt x="864249" y="180223"/>
                </a:lnTo>
                <a:lnTo>
                  <a:pt x="821392" y="226334"/>
                </a:lnTo>
                <a:lnTo>
                  <a:pt x="786018" y="246653"/>
                </a:lnTo>
                <a:lnTo>
                  <a:pt x="742542" y="264721"/>
                </a:lnTo>
                <a:lnTo>
                  <a:pt x="691860" y="280221"/>
                </a:lnTo>
                <a:lnTo>
                  <a:pt x="634865" y="292832"/>
                </a:lnTo>
                <a:lnTo>
                  <a:pt x="572456" y="302235"/>
                </a:lnTo>
                <a:lnTo>
                  <a:pt x="505526" y="308111"/>
                </a:lnTo>
                <a:lnTo>
                  <a:pt x="434971" y="310141"/>
                </a:lnTo>
                <a:lnTo>
                  <a:pt x="364416" y="308111"/>
                </a:lnTo>
                <a:lnTo>
                  <a:pt x="297486" y="302235"/>
                </a:lnTo>
                <a:lnTo>
                  <a:pt x="235077" y="292832"/>
                </a:lnTo>
                <a:lnTo>
                  <a:pt x="178082" y="280221"/>
                </a:lnTo>
                <a:lnTo>
                  <a:pt x="127400" y="264721"/>
                </a:lnTo>
                <a:lnTo>
                  <a:pt x="83924" y="246653"/>
                </a:lnTo>
                <a:lnTo>
                  <a:pt x="48550" y="226334"/>
                </a:lnTo>
                <a:lnTo>
                  <a:pt x="5693" y="180223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3928930" y="3071876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733841" y="2665664"/>
            <a:ext cx="215900" cy="356870"/>
          </a:xfrm>
          <a:custGeom>
            <a:avLst/>
            <a:gdLst/>
            <a:ahLst/>
            <a:cxnLst/>
            <a:rect l="l" t="t" r="r" b="b"/>
            <a:pathLst>
              <a:path w="215900" h="356869">
                <a:moveTo>
                  <a:pt x="215866" y="0"/>
                </a:moveTo>
                <a:lnTo>
                  <a:pt x="0" y="3563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587478" y="3293663"/>
            <a:ext cx="560705" cy="395605"/>
          </a:xfrm>
          <a:custGeom>
            <a:avLst/>
            <a:gdLst/>
            <a:ahLst/>
            <a:cxnLst/>
            <a:rect l="l" t="t" r="r" b="b"/>
            <a:pathLst>
              <a:path w="560705" h="395604">
                <a:moveTo>
                  <a:pt x="0" y="0"/>
                </a:moveTo>
                <a:lnTo>
                  <a:pt x="560505" y="39557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2726954" y="2572567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 h="0">
                <a:moveTo>
                  <a:pt x="38797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732945" y="2672521"/>
            <a:ext cx="398780" cy="349885"/>
          </a:xfrm>
          <a:custGeom>
            <a:avLst/>
            <a:gdLst/>
            <a:ahLst/>
            <a:cxnLst/>
            <a:rect l="l" t="t" r="r" b="b"/>
            <a:pathLst>
              <a:path w="398779" h="349885">
                <a:moveTo>
                  <a:pt x="398392" y="34952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587793" y="2665664"/>
            <a:ext cx="1236345" cy="401955"/>
          </a:xfrm>
          <a:custGeom>
            <a:avLst/>
            <a:gdLst/>
            <a:ahLst/>
            <a:cxnLst/>
            <a:rect l="l" t="t" r="r" b="b"/>
            <a:pathLst>
              <a:path w="1236345" h="401955">
                <a:moveTo>
                  <a:pt x="1235972" y="40179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2073748" y="3152307"/>
            <a:ext cx="1623060" cy="25400"/>
          </a:xfrm>
          <a:custGeom>
            <a:avLst/>
            <a:gdLst/>
            <a:ahLst/>
            <a:cxnLst/>
            <a:rect l="l" t="t" r="r" b="b"/>
            <a:pathLst>
              <a:path w="1623060" h="25400">
                <a:moveTo>
                  <a:pt x="1622617" y="2480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931323" y="3252262"/>
            <a:ext cx="1294130" cy="394970"/>
          </a:xfrm>
          <a:custGeom>
            <a:avLst/>
            <a:gdLst/>
            <a:ahLst/>
            <a:cxnLst/>
            <a:rect l="l" t="t" r="r" b="b"/>
            <a:pathLst>
              <a:path w="1294130" h="394970">
                <a:moveTo>
                  <a:pt x="1294000" y="3949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5949585" y="2272554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380856" y="0"/>
                </a:moveTo>
                <a:lnTo>
                  <a:pt x="312397" y="2454"/>
                </a:lnTo>
                <a:lnTo>
                  <a:pt x="247963" y="9531"/>
                </a:lnTo>
                <a:lnTo>
                  <a:pt x="188630" y="20800"/>
                </a:lnTo>
                <a:lnTo>
                  <a:pt x="135475" y="35831"/>
                </a:lnTo>
                <a:lnTo>
                  <a:pt x="89572" y="54193"/>
                </a:lnTo>
                <a:lnTo>
                  <a:pt x="51998" y="75457"/>
                </a:lnTo>
                <a:lnTo>
                  <a:pt x="6136" y="124966"/>
                </a:lnTo>
                <a:lnTo>
                  <a:pt x="0" y="152351"/>
                </a:lnTo>
                <a:lnTo>
                  <a:pt x="6136" y="179737"/>
                </a:lnTo>
                <a:lnTo>
                  <a:pt x="51998" y="229246"/>
                </a:lnTo>
                <a:lnTo>
                  <a:pt x="89572" y="250509"/>
                </a:lnTo>
                <a:lnTo>
                  <a:pt x="135475" y="268871"/>
                </a:lnTo>
                <a:lnTo>
                  <a:pt x="188630" y="283902"/>
                </a:lnTo>
                <a:lnTo>
                  <a:pt x="247963" y="295170"/>
                </a:lnTo>
                <a:lnTo>
                  <a:pt x="312397" y="302247"/>
                </a:lnTo>
                <a:lnTo>
                  <a:pt x="380856" y="304702"/>
                </a:lnTo>
                <a:lnTo>
                  <a:pt x="449315" y="302247"/>
                </a:lnTo>
                <a:lnTo>
                  <a:pt x="513749" y="295170"/>
                </a:lnTo>
                <a:lnTo>
                  <a:pt x="573082" y="283902"/>
                </a:lnTo>
                <a:lnTo>
                  <a:pt x="626237" y="268871"/>
                </a:lnTo>
                <a:lnTo>
                  <a:pt x="672140" y="250509"/>
                </a:lnTo>
                <a:lnTo>
                  <a:pt x="709714" y="229246"/>
                </a:lnTo>
                <a:lnTo>
                  <a:pt x="755576" y="179737"/>
                </a:lnTo>
                <a:lnTo>
                  <a:pt x="761712" y="152351"/>
                </a:lnTo>
                <a:lnTo>
                  <a:pt x="755576" y="124966"/>
                </a:lnTo>
                <a:lnTo>
                  <a:pt x="709714" y="75457"/>
                </a:lnTo>
                <a:lnTo>
                  <a:pt x="672140" y="54193"/>
                </a:lnTo>
                <a:lnTo>
                  <a:pt x="626237" y="35831"/>
                </a:lnTo>
                <a:lnTo>
                  <a:pt x="573082" y="20800"/>
                </a:lnTo>
                <a:lnTo>
                  <a:pt x="513749" y="9531"/>
                </a:lnTo>
                <a:lnTo>
                  <a:pt x="449315" y="2454"/>
                </a:lnTo>
                <a:lnTo>
                  <a:pt x="3808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949585" y="2272554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152351"/>
                </a:moveTo>
                <a:lnTo>
                  <a:pt x="23827" y="99190"/>
                </a:lnTo>
                <a:lnTo>
                  <a:pt x="89572" y="54193"/>
                </a:lnTo>
                <a:lnTo>
                  <a:pt x="135475" y="35831"/>
                </a:lnTo>
                <a:lnTo>
                  <a:pt x="188631" y="20800"/>
                </a:lnTo>
                <a:lnTo>
                  <a:pt x="247963" y="9531"/>
                </a:lnTo>
                <a:lnTo>
                  <a:pt x="312397" y="2454"/>
                </a:lnTo>
                <a:lnTo>
                  <a:pt x="380857" y="0"/>
                </a:lnTo>
                <a:lnTo>
                  <a:pt x="449316" y="2454"/>
                </a:lnTo>
                <a:lnTo>
                  <a:pt x="513750" y="9531"/>
                </a:lnTo>
                <a:lnTo>
                  <a:pt x="573082" y="20800"/>
                </a:lnTo>
                <a:lnTo>
                  <a:pt x="626238" y="35831"/>
                </a:lnTo>
                <a:lnTo>
                  <a:pt x="672141" y="54193"/>
                </a:lnTo>
                <a:lnTo>
                  <a:pt x="709715" y="75456"/>
                </a:lnTo>
                <a:lnTo>
                  <a:pt x="755577" y="124965"/>
                </a:lnTo>
                <a:lnTo>
                  <a:pt x="761714" y="152351"/>
                </a:lnTo>
                <a:lnTo>
                  <a:pt x="755577" y="179736"/>
                </a:lnTo>
                <a:lnTo>
                  <a:pt x="709715" y="229245"/>
                </a:lnTo>
                <a:lnTo>
                  <a:pt x="672141" y="250508"/>
                </a:lnTo>
                <a:lnTo>
                  <a:pt x="626238" y="268870"/>
                </a:lnTo>
                <a:lnTo>
                  <a:pt x="573082" y="283901"/>
                </a:lnTo>
                <a:lnTo>
                  <a:pt x="513750" y="295170"/>
                </a:lnTo>
                <a:lnTo>
                  <a:pt x="449316" y="302247"/>
                </a:lnTo>
                <a:lnTo>
                  <a:pt x="380857" y="304702"/>
                </a:lnTo>
                <a:lnTo>
                  <a:pt x="312397" y="302247"/>
                </a:lnTo>
                <a:lnTo>
                  <a:pt x="247963" y="295170"/>
                </a:lnTo>
                <a:lnTo>
                  <a:pt x="188631" y="283901"/>
                </a:lnTo>
                <a:lnTo>
                  <a:pt x="135475" y="268870"/>
                </a:lnTo>
                <a:lnTo>
                  <a:pt x="89572" y="250508"/>
                </a:lnTo>
                <a:lnTo>
                  <a:pt x="51998" y="229245"/>
                </a:lnTo>
                <a:lnTo>
                  <a:pt x="6136" y="179736"/>
                </a:lnTo>
                <a:lnTo>
                  <a:pt x="0" y="152351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105228" y="2255832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446201" y="0"/>
                </a:moveTo>
                <a:lnTo>
                  <a:pt x="380265" y="1758"/>
                </a:lnTo>
                <a:lnTo>
                  <a:pt x="317332" y="6866"/>
                </a:lnTo>
                <a:lnTo>
                  <a:pt x="258094" y="15073"/>
                </a:lnTo>
                <a:lnTo>
                  <a:pt x="203240" y="26128"/>
                </a:lnTo>
                <a:lnTo>
                  <a:pt x="153460" y="39780"/>
                </a:lnTo>
                <a:lnTo>
                  <a:pt x="109445" y="55778"/>
                </a:lnTo>
                <a:lnTo>
                  <a:pt x="71885" y="73871"/>
                </a:lnTo>
                <a:lnTo>
                  <a:pt x="18891" y="115339"/>
                </a:lnTo>
                <a:lnTo>
                  <a:pt x="0" y="162179"/>
                </a:lnTo>
                <a:lnTo>
                  <a:pt x="4837" y="186144"/>
                </a:lnTo>
                <a:lnTo>
                  <a:pt x="41471" y="230549"/>
                </a:lnTo>
                <a:lnTo>
                  <a:pt x="109445" y="268580"/>
                </a:lnTo>
                <a:lnTo>
                  <a:pt x="153460" y="284578"/>
                </a:lnTo>
                <a:lnTo>
                  <a:pt x="203240" y="298230"/>
                </a:lnTo>
                <a:lnTo>
                  <a:pt x="258094" y="309284"/>
                </a:lnTo>
                <a:lnTo>
                  <a:pt x="317332" y="317491"/>
                </a:lnTo>
                <a:lnTo>
                  <a:pt x="380265" y="322599"/>
                </a:lnTo>
                <a:lnTo>
                  <a:pt x="446201" y="324358"/>
                </a:lnTo>
                <a:lnTo>
                  <a:pt x="512138" y="322599"/>
                </a:lnTo>
                <a:lnTo>
                  <a:pt x="575070" y="317491"/>
                </a:lnTo>
                <a:lnTo>
                  <a:pt x="634309" y="309284"/>
                </a:lnTo>
                <a:lnTo>
                  <a:pt x="689163" y="298230"/>
                </a:lnTo>
                <a:lnTo>
                  <a:pt x="738943" y="284578"/>
                </a:lnTo>
                <a:lnTo>
                  <a:pt x="782957" y="268580"/>
                </a:lnTo>
                <a:lnTo>
                  <a:pt x="820517" y="250487"/>
                </a:lnTo>
                <a:lnTo>
                  <a:pt x="873511" y="209018"/>
                </a:lnTo>
                <a:lnTo>
                  <a:pt x="892403" y="162179"/>
                </a:lnTo>
                <a:lnTo>
                  <a:pt x="887565" y="138213"/>
                </a:lnTo>
                <a:lnTo>
                  <a:pt x="850932" y="93808"/>
                </a:lnTo>
                <a:lnTo>
                  <a:pt x="782957" y="55778"/>
                </a:lnTo>
                <a:lnTo>
                  <a:pt x="738943" y="39780"/>
                </a:lnTo>
                <a:lnTo>
                  <a:pt x="689163" y="26128"/>
                </a:lnTo>
                <a:lnTo>
                  <a:pt x="634309" y="15073"/>
                </a:lnTo>
                <a:lnTo>
                  <a:pt x="575070" y="6866"/>
                </a:lnTo>
                <a:lnTo>
                  <a:pt x="512138" y="1758"/>
                </a:lnTo>
                <a:lnTo>
                  <a:pt x="4462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105228" y="2255832"/>
            <a:ext cx="892810" cy="324485"/>
          </a:xfrm>
          <a:custGeom>
            <a:avLst/>
            <a:gdLst/>
            <a:ahLst/>
            <a:cxnLst/>
            <a:rect l="l" t="t" r="r" b="b"/>
            <a:pathLst>
              <a:path w="892809" h="324485">
                <a:moveTo>
                  <a:pt x="0" y="162179"/>
                </a:moveTo>
                <a:lnTo>
                  <a:pt x="18891" y="115339"/>
                </a:lnTo>
                <a:lnTo>
                  <a:pt x="71885" y="73870"/>
                </a:lnTo>
                <a:lnTo>
                  <a:pt x="109445" y="55777"/>
                </a:lnTo>
                <a:lnTo>
                  <a:pt x="153460" y="39779"/>
                </a:lnTo>
                <a:lnTo>
                  <a:pt x="203240" y="26128"/>
                </a:lnTo>
                <a:lnTo>
                  <a:pt x="258094" y="15073"/>
                </a:lnTo>
                <a:lnTo>
                  <a:pt x="317332" y="6866"/>
                </a:lnTo>
                <a:lnTo>
                  <a:pt x="380265" y="1758"/>
                </a:lnTo>
                <a:lnTo>
                  <a:pt x="446202" y="0"/>
                </a:lnTo>
                <a:lnTo>
                  <a:pt x="512138" y="1758"/>
                </a:lnTo>
                <a:lnTo>
                  <a:pt x="575071" y="6866"/>
                </a:lnTo>
                <a:lnTo>
                  <a:pt x="634309" y="15073"/>
                </a:lnTo>
                <a:lnTo>
                  <a:pt x="689163" y="26128"/>
                </a:lnTo>
                <a:lnTo>
                  <a:pt x="738943" y="39779"/>
                </a:lnTo>
                <a:lnTo>
                  <a:pt x="782958" y="55777"/>
                </a:lnTo>
                <a:lnTo>
                  <a:pt x="820518" y="73870"/>
                </a:lnTo>
                <a:lnTo>
                  <a:pt x="873512" y="115339"/>
                </a:lnTo>
                <a:lnTo>
                  <a:pt x="892404" y="162179"/>
                </a:lnTo>
                <a:lnTo>
                  <a:pt x="887566" y="186144"/>
                </a:lnTo>
                <a:lnTo>
                  <a:pt x="850932" y="230549"/>
                </a:lnTo>
                <a:lnTo>
                  <a:pt x="782958" y="268580"/>
                </a:lnTo>
                <a:lnTo>
                  <a:pt x="738943" y="284578"/>
                </a:lnTo>
                <a:lnTo>
                  <a:pt x="689163" y="298229"/>
                </a:lnTo>
                <a:lnTo>
                  <a:pt x="634309" y="309284"/>
                </a:lnTo>
                <a:lnTo>
                  <a:pt x="575071" y="317491"/>
                </a:lnTo>
                <a:lnTo>
                  <a:pt x="512138" y="322599"/>
                </a:lnTo>
                <a:lnTo>
                  <a:pt x="446202" y="324358"/>
                </a:lnTo>
                <a:lnTo>
                  <a:pt x="380265" y="322599"/>
                </a:lnTo>
                <a:lnTo>
                  <a:pt x="317332" y="317491"/>
                </a:lnTo>
                <a:lnTo>
                  <a:pt x="258094" y="309284"/>
                </a:lnTo>
                <a:lnTo>
                  <a:pt x="203240" y="298229"/>
                </a:lnTo>
                <a:lnTo>
                  <a:pt x="153460" y="284578"/>
                </a:lnTo>
                <a:lnTo>
                  <a:pt x="109445" y="268580"/>
                </a:lnTo>
                <a:lnTo>
                  <a:pt x="71885" y="250487"/>
                </a:lnTo>
                <a:lnTo>
                  <a:pt x="18891" y="209018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6170104" y="2322067"/>
            <a:ext cx="15849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1260" algn="l"/>
              </a:tabLst>
            </a:pP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	</a:t>
            </a:r>
            <a:r>
              <a:rPr dirty="0" baseline="2314" sz="1800" spc="-7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baseline="2314" sz="1800">
                <a:latin typeface="Arial"/>
                <a:cs typeface="Arial"/>
              </a:rPr>
              <a:t>,</a:t>
            </a:r>
            <a:r>
              <a:rPr dirty="0" baseline="2314" sz="1800" spc="-7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baseline="2314" sz="1800" spc="-7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baseline="2314" sz="18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baseline="2314" sz="1800">
              <a:latin typeface="Arial"/>
              <a:cs typeface="Arial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5318339" y="2933020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498050" y="0"/>
                </a:moveTo>
                <a:lnTo>
                  <a:pt x="430468" y="1415"/>
                </a:lnTo>
                <a:lnTo>
                  <a:pt x="365649" y="5539"/>
                </a:lnTo>
                <a:lnTo>
                  <a:pt x="304187" y="12186"/>
                </a:lnTo>
                <a:lnTo>
                  <a:pt x="246675" y="21171"/>
                </a:lnTo>
                <a:lnTo>
                  <a:pt x="193706" y="32310"/>
                </a:lnTo>
                <a:lnTo>
                  <a:pt x="145875" y="45418"/>
                </a:lnTo>
                <a:lnTo>
                  <a:pt x="103775" y="60311"/>
                </a:lnTo>
                <a:lnTo>
                  <a:pt x="67998" y="76803"/>
                </a:lnTo>
                <a:lnTo>
                  <a:pt x="17790" y="113845"/>
                </a:lnTo>
                <a:lnTo>
                  <a:pt x="0" y="155069"/>
                </a:lnTo>
                <a:lnTo>
                  <a:pt x="4546" y="176111"/>
                </a:lnTo>
                <a:lnTo>
                  <a:pt x="39139" y="215430"/>
                </a:lnTo>
                <a:lnTo>
                  <a:pt x="103775" y="249828"/>
                </a:lnTo>
                <a:lnTo>
                  <a:pt x="145875" y="264721"/>
                </a:lnTo>
                <a:lnTo>
                  <a:pt x="193706" y="277829"/>
                </a:lnTo>
                <a:lnTo>
                  <a:pt x="246675" y="288968"/>
                </a:lnTo>
                <a:lnTo>
                  <a:pt x="304187" y="297954"/>
                </a:lnTo>
                <a:lnTo>
                  <a:pt x="365649" y="304601"/>
                </a:lnTo>
                <a:lnTo>
                  <a:pt x="430468" y="308724"/>
                </a:lnTo>
                <a:lnTo>
                  <a:pt x="498050" y="310140"/>
                </a:lnTo>
                <a:lnTo>
                  <a:pt x="565633" y="308724"/>
                </a:lnTo>
                <a:lnTo>
                  <a:pt x="630452" y="304601"/>
                </a:lnTo>
                <a:lnTo>
                  <a:pt x="691915" y="297954"/>
                </a:lnTo>
                <a:lnTo>
                  <a:pt x="749426" y="288968"/>
                </a:lnTo>
                <a:lnTo>
                  <a:pt x="802395" y="277829"/>
                </a:lnTo>
                <a:lnTo>
                  <a:pt x="850226" y="264721"/>
                </a:lnTo>
                <a:lnTo>
                  <a:pt x="892326" y="249828"/>
                </a:lnTo>
                <a:lnTo>
                  <a:pt x="928103" y="233336"/>
                </a:lnTo>
                <a:lnTo>
                  <a:pt x="978310" y="196293"/>
                </a:lnTo>
                <a:lnTo>
                  <a:pt x="996101" y="155069"/>
                </a:lnTo>
                <a:lnTo>
                  <a:pt x="991555" y="134027"/>
                </a:lnTo>
                <a:lnTo>
                  <a:pt x="956962" y="94709"/>
                </a:lnTo>
                <a:lnTo>
                  <a:pt x="892326" y="60311"/>
                </a:lnTo>
                <a:lnTo>
                  <a:pt x="850226" y="45418"/>
                </a:lnTo>
                <a:lnTo>
                  <a:pt x="802395" y="32310"/>
                </a:lnTo>
                <a:lnTo>
                  <a:pt x="749426" y="21171"/>
                </a:lnTo>
                <a:lnTo>
                  <a:pt x="691915" y="12186"/>
                </a:lnTo>
                <a:lnTo>
                  <a:pt x="630452" y="5539"/>
                </a:lnTo>
                <a:lnTo>
                  <a:pt x="565633" y="1415"/>
                </a:lnTo>
                <a:lnTo>
                  <a:pt x="49805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318339" y="2933020"/>
            <a:ext cx="996315" cy="310515"/>
          </a:xfrm>
          <a:custGeom>
            <a:avLst/>
            <a:gdLst/>
            <a:ahLst/>
            <a:cxnLst/>
            <a:rect l="l" t="t" r="r" b="b"/>
            <a:pathLst>
              <a:path w="996314" h="310514">
                <a:moveTo>
                  <a:pt x="0" y="155070"/>
                </a:moveTo>
                <a:lnTo>
                  <a:pt x="17790" y="113846"/>
                </a:lnTo>
                <a:lnTo>
                  <a:pt x="67998" y="76803"/>
                </a:lnTo>
                <a:lnTo>
                  <a:pt x="103775" y="60311"/>
                </a:lnTo>
                <a:lnTo>
                  <a:pt x="145875" y="45419"/>
                </a:lnTo>
                <a:lnTo>
                  <a:pt x="193706" y="32310"/>
                </a:lnTo>
                <a:lnTo>
                  <a:pt x="246675" y="21171"/>
                </a:lnTo>
                <a:lnTo>
                  <a:pt x="304187" y="12186"/>
                </a:lnTo>
                <a:lnTo>
                  <a:pt x="365649" y="5539"/>
                </a:lnTo>
                <a:lnTo>
                  <a:pt x="430468" y="1415"/>
                </a:lnTo>
                <a:lnTo>
                  <a:pt x="498051" y="0"/>
                </a:lnTo>
                <a:lnTo>
                  <a:pt x="565633" y="1415"/>
                </a:lnTo>
                <a:lnTo>
                  <a:pt x="630452" y="5539"/>
                </a:lnTo>
                <a:lnTo>
                  <a:pt x="691914" y="12186"/>
                </a:lnTo>
                <a:lnTo>
                  <a:pt x="749426" y="21171"/>
                </a:lnTo>
                <a:lnTo>
                  <a:pt x="802395" y="32310"/>
                </a:lnTo>
                <a:lnTo>
                  <a:pt x="850226" y="45419"/>
                </a:lnTo>
                <a:lnTo>
                  <a:pt x="892326" y="60311"/>
                </a:lnTo>
                <a:lnTo>
                  <a:pt x="928103" y="76803"/>
                </a:lnTo>
                <a:lnTo>
                  <a:pt x="978311" y="113846"/>
                </a:lnTo>
                <a:lnTo>
                  <a:pt x="996102" y="155070"/>
                </a:lnTo>
                <a:lnTo>
                  <a:pt x="991555" y="176112"/>
                </a:lnTo>
                <a:lnTo>
                  <a:pt x="956962" y="215430"/>
                </a:lnTo>
                <a:lnTo>
                  <a:pt x="892326" y="249829"/>
                </a:lnTo>
                <a:lnTo>
                  <a:pt x="850226" y="264721"/>
                </a:lnTo>
                <a:lnTo>
                  <a:pt x="802395" y="277830"/>
                </a:lnTo>
                <a:lnTo>
                  <a:pt x="749426" y="288969"/>
                </a:lnTo>
                <a:lnTo>
                  <a:pt x="691914" y="297954"/>
                </a:lnTo>
                <a:lnTo>
                  <a:pt x="630452" y="304601"/>
                </a:lnTo>
                <a:lnTo>
                  <a:pt x="565633" y="308725"/>
                </a:lnTo>
                <a:lnTo>
                  <a:pt x="498051" y="310141"/>
                </a:lnTo>
                <a:lnTo>
                  <a:pt x="430468" y="308725"/>
                </a:lnTo>
                <a:lnTo>
                  <a:pt x="365649" y="304601"/>
                </a:lnTo>
                <a:lnTo>
                  <a:pt x="304187" y="297954"/>
                </a:lnTo>
                <a:lnTo>
                  <a:pt x="246675" y="288969"/>
                </a:lnTo>
                <a:lnTo>
                  <a:pt x="193706" y="277830"/>
                </a:lnTo>
                <a:lnTo>
                  <a:pt x="145875" y="264721"/>
                </a:lnTo>
                <a:lnTo>
                  <a:pt x="103775" y="249829"/>
                </a:lnTo>
                <a:lnTo>
                  <a:pt x="67998" y="233337"/>
                </a:lnTo>
                <a:lnTo>
                  <a:pt x="17790" y="196294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 txBox="1"/>
          <p:nvPr/>
        </p:nvSpPr>
        <p:spPr>
          <a:xfrm>
            <a:off x="5571915" y="2983483"/>
            <a:ext cx="48958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5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 spc="-5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44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271493" y="3623162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2"/>
                </a:lnTo>
                <a:lnTo>
                  <a:pt x="89234" y="264722"/>
                </a:lnTo>
                <a:lnTo>
                  <a:pt x="134323" y="283657"/>
                </a:lnTo>
                <a:lnTo>
                  <a:pt x="186075" y="297955"/>
                </a:lnTo>
                <a:lnTo>
                  <a:pt x="243264" y="306991"/>
                </a:lnTo>
                <a:lnTo>
                  <a:pt x="304665" y="310141"/>
                </a:lnTo>
                <a:lnTo>
                  <a:pt x="366065" y="306991"/>
                </a:lnTo>
                <a:lnTo>
                  <a:pt x="423254" y="297955"/>
                </a:lnTo>
                <a:lnTo>
                  <a:pt x="475005" y="283657"/>
                </a:lnTo>
                <a:lnTo>
                  <a:pt x="520095" y="264722"/>
                </a:lnTo>
                <a:lnTo>
                  <a:pt x="557297" y="241772"/>
                </a:lnTo>
                <a:lnTo>
                  <a:pt x="585387" y="215431"/>
                </a:lnTo>
                <a:lnTo>
                  <a:pt x="609329" y="155070"/>
                </a:lnTo>
                <a:lnTo>
                  <a:pt x="603139" y="123818"/>
                </a:lnTo>
                <a:lnTo>
                  <a:pt x="557297" y="68369"/>
                </a:lnTo>
                <a:lnTo>
                  <a:pt x="520095" y="45419"/>
                </a:lnTo>
                <a:lnTo>
                  <a:pt x="475005" y="26483"/>
                </a:lnTo>
                <a:lnTo>
                  <a:pt x="423254" y="12186"/>
                </a:lnTo>
                <a:lnTo>
                  <a:pt x="366065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271493" y="3623162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3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5" y="3150"/>
                </a:lnTo>
                <a:lnTo>
                  <a:pt x="423254" y="12186"/>
                </a:lnTo>
                <a:lnTo>
                  <a:pt x="475006" y="26483"/>
                </a:lnTo>
                <a:lnTo>
                  <a:pt x="520095" y="45419"/>
                </a:lnTo>
                <a:lnTo>
                  <a:pt x="557298" y="68369"/>
                </a:lnTo>
                <a:lnTo>
                  <a:pt x="585387" y="94710"/>
                </a:lnTo>
                <a:lnTo>
                  <a:pt x="609330" y="155070"/>
                </a:lnTo>
                <a:lnTo>
                  <a:pt x="603140" y="186322"/>
                </a:lnTo>
                <a:lnTo>
                  <a:pt x="557298" y="241771"/>
                </a:lnTo>
                <a:lnTo>
                  <a:pt x="520095" y="264721"/>
                </a:lnTo>
                <a:lnTo>
                  <a:pt x="475006" y="283657"/>
                </a:lnTo>
                <a:lnTo>
                  <a:pt x="423254" y="297954"/>
                </a:lnTo>
                <a:lnTo>
                  <a:pt x="366065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3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128469" y="3623162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304665" y="0"/>
                </a:moveTo>
                <a:lnTo>
                  <a:pt x="243264" y="3150"/>
                </a:lnTo>
                <a:lnTo>
                  <a:pt x="186075" y="12186"/>
                </a:lnTo>
                <a:lnTo>
                  <a:pt x="134323" y="26483"/>
                </a:lnTo>
                <a:lnTo>
                  <a:pt x="89234" y="45419"/>
                </a:lnTo>
                <a:lnTo>
                  <a:pt x="52031" y="68369"/>
                </a:lnTo>
                <a:lnTo>
                  <a:pt x="23942" y="94710"/>
                </a:lnTo>
                <a:lnTo>
                  <a:pt x="0" y="155070"/>
                </a:lnTo>
                <a:lnTo>
                  <a:pt x="6189" y="186322"/>
                </a:lnTo>
                <a:lnTo>
                  <a:pt x="52031" y="241772"/>
                </a:lnTo>
                <a:lnTo>
                  <a:pt x="89234" y="264722"/>
                </a:lnTo>
                <a:lnTo>
                  <a:pt x="134323" y="283657"/>
                </a:lnTo>
                <a:lnTo>
                  <a:pt x="186075" y="297955"/>
                </a:lnTo>
                <a:lnTo>
                  <a:pt x="243264" y="306991"/>
                </a:lnTo>
                <a:lnTo>
                  <a:pt x="304665" y="310141"/>
                </a:lnTo>
                <a:lnTo>
                  <a:pt x="366066" y="306991"/>
                </a:lnTo>
                <a:lnTo>
                  <a:pt x="423255" y="297955"/>
                </a:lnTo>
                <a:lnTo>
                  <a:pt x="475006" y="283657"/>
                </a:lnTo>
                <a:lnTo>
                  <a:pt x="520096" y="264722"/>
                </a:lnTo>
                <a:lnTo>
                  <a:pt x="557298" y="241772"/>
                </a:lnTo>
                <a:lnTo>
                  <a:pt x="585388" y="215431"/>
                </a:lnTo>
                <a:lnTo>
                  <a:pt x="609330" y="155070"/>
                </a:lnTo>
                <a:lnTo>
                  <a:pt x="603141" y="123818"/>
                </a:lnTo>
                <a:lnTo>
                  <a:pt x="557298" y="68369"/>
                </a:lnTo>
                <a:lnTo>
                  <a:pt x="520096" y="45419"/>
                </a:lnTo>
                <a:lnTo>
                  <a:pt x="475006" y="26483"/>
                </a:lnTo>
                <a:lnTo>
                  <a:pt x="423255" y="12186"/>
                </a:lnTo>
                <a:lnTo>
                  <a:pt x="366066" y="3150"/>
                </a:lnTo>
                <a:lnTo>
                  <a:pt x="3046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128469" y="3623162"/>
            <a:ext cx="609600" cy="310515"/>
          </a:xfrm>
          <a:custGeom>
            <a:avLst/>
            <a:gdLst/>
            <a:ahLst/>
            <a:cxnLst/>
            <a:rect l="l" t="t" r="r" b="b"/>
            <a:pathLst>
              <a:path w="609600" h="310514">
                <a:moveTo>
                  <a:pt x="0" y="155070"/>
                </a:moveTo>
                <a:lnTo>
                  <a:pt x="23942" y="94710"/>
                </a:lnTo>
                <a:lnTo>
                  <a:pt x="52032" y="68369"/>
                </a:lnTo>
                <a:lnTo>
                  <a:pt x="89234" y="45419"/>
                </a:lnTo>
                <a:lnTo>
                  <a:pt x="134324" y="26483"/>
                </a:lnTo>
                <a:lnTo>
                  <a:pt x="186075" y="12186"/>
                </a:lnTo>
                <a:lnTo>
                  <a:pt x="243264" y="3150"/>
                </a:lnTo>
                <a:lnTo>
                  <a:pt x="304665" y="0"/>
                </a:lnTo>
                <a:lnTo>
                  <a:pt x="366066" y="3150"/>
                </a:lnTo>
                <a:lnTo>
                  <a:pt x="423255" y="12186"/>
                </a:lnTo>
                <a:lnTo>
                  <a:pt x="475006" y="26483"/>
                </a:lnTo>
                <a:lnTo>
                  <a:pt x="520096" y="45419"/>
                </a:lnTo>
                <a:lnTo>
                  <a:pt x="557298" y="68369"/>
                </a:lnTo>
                <a:lnTo>
                  <a:pt x="585388" y="94710"/>
                </a:lnTo>
                <a:lnTo>
                  <a:pt x="609331" y="155070"/>
                </a:lnTo>
                <a:lnTo>
                  <a:pt x="603141" y="186322"/>
                </a:lnTo>
                <a:lnTo>
                  <a:pt x="557298" y="241771"/>
                </a:lnTo>
                <a:lnTo>
                  <a:pt x="520096" y="264721"/>
                </a:lnTo>
                <a:lnTo>
                  <a:pt x="475006" y="283657"/>
                </a:lnTo>
                <a:lnTo>
                  <a:pt x="423255" y="297954"/>
                </a:lnTo>
                <a:lnTo>
                  <a:pt x="366066" y="306990"/>
                </a:lnTo>
                <a:lnTo>
                  <a:pt x="304665" y="310141"/>
                </a:lnTo>
                <a:lnTo>
                  <a:pt x="243264" y="306990"/>
                </a:lnTo>
                <a:lnTo>
                  <a:pt x="186075" y="297954"/>
                </a:lnTo>
                <a:lnTo>
                  <a:pt x="134324" y="283657"/>
                </a:lnTo>
                <a:lnTo>
                  <a:pt x="89234" y="264721"/>
                </a:lnTo>
                <a:lnTo>
                  <a:pt x="52032" y="241771"/>
                </a:lnTo>
                <a:lnTo>
                  <a:pt x="23942" y="215430"/>
                </a:lnTo>
                <a:lnTo>
                  <a:pt x="0" y="15507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6457890" y="3675379"/>
            <a:ext cx="1300480" cy="771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9315" algn="l"/>
              </a:tabLst>
            </a:pP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 spc="-5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5	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 spc="-5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Times New Roman"/>
              <a:cs typeface="Times New Roman"/>
            </a:endParaRPr>
          </a:p>
          <a:p>
            <a:pPr marL="7302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Hash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7792391" y="2945974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422699" y="0"/>
                </a:moveTo>
                <a:lnTo>
                  <a:pt x="354135" y="2122"/>
                </a:lnTo>
                <a:lnTo>
                  <a:pt x="289093" y="8268"/>
                </a:lnTo>
                <a:lnTo>
                  <a:pt x="228444" y="18102"/>
                </a:lnTo>
                <a:lnTo>
                  <a:pt x="173058" y="31291"/>
                </a:lnTo>
                <a:lnTo>
                  <a:pt x="123805" y="47501"/>
                </a:lnTo>
                <a:lnTo>
                  <a:pt x="81556" y="66398"/>
                </a:lnTo>
                <a:lnTo>
                  <a:pt x="47180" y="87649"/>
                </a:lnTo>
                <a:lnTo>
                  <a:pt x="5532" y="135873"/>
                </a:lnTo>
                <a:lnTo>
                  <a:pt x="0" y="162180"/>
                </a:lnTo>
                <a:lnTo>
                  <a:pt x="5532" y="188486"/>
                </a:lnTo>
                <a:lnTo>
                  <a:pt x="47180" y="236710"/>
                </a:lnTo>
                <a:lnTo>
                  <a:pt x="81556" y="257961"/>
                </a:lnTo>
                <a:lnTo>
                  <a:pt x="123805" y="276858"/>
                </a:lnTo>
                <a:lnTo>
                  <a:pt x="173058" y="293068"/>
                </a:lnTo>
                <a:lnTo>
                  <a:pt x="228444" y="306257"/>
                </a:lnTo>
                <a:lnTo>
                  <a:pt x="289093" y="316091"/>
                </a:lnTo>
                <a:lnTo>
                  <a:pt x="354135" y="322236"/>
                </a:lnTo>
                <a:lnTo>
                  <a:pt x="422699" y="324359"/>
                </a:lnTo>
                <a:lnTo>
                  <a:pt x="491263" y="322236"/>
                </a:lnTo>
                <a:lnTo>
                  <a:pt x="556304" y="316091"/>
                </a:lnTo>
                <a:lnTo>
                  <a:pt x="616953" y="306257"/>
                </a:lnTo>
                <a:lnTo>
                  <a:pt x="672339" y="293068"/>
                </a:lnTo>
                <a:lnTo>
                  <a:pt x="721592" y="276858"/>
                </a:lnTo>
                <a:lnTo>
                  <a:pt x="763841" y="257961"/>
                </a:lnTo>
                <a:lnTo>
                  <a:pt x="798217" y="236710"/>
                </a:lnTo>
                <a:lnTo>
                  <a:pt x="839865" y="188486"/>
                </a:lnTo>
                <a:lnTo>
                  <a:pt x="845398" y="162180"/>
                </a:lnTo>
                <a:lnTo>
                  <a:pt x="839865" y="135873"/>
                </a:lnTo>
                <a:lnTo>
                  <a:pt x="798217" y="87649"/>
                </a:lnTo>
                <a:lnTo>
                  <a:pt x="763841" y="66398"/>
                </a:lnTo>
                <a:lnTo>
                  <a:pt x="721592" y="47501"/>
                </a:lnTo>
                <a:lnTo>
                  <a:pt x="672339" y="31291"/>
                </a:lnTo>
                <a:lnTo>
                  <a:pt x="616953" y="18102"/>
                </a:lnTo>
                <a:lnTo>
                  <a:pt x="556304" y="8268"/>
                </a:lnTo>
                <a:lnTo>
                  <a:pt x="491263" y="2122"/>
                </a:lnTo>
                <a:lnTo>
                  <a:pt x="42269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792391" y="2945974"/>
            <a:ext cx="845819" cy="324485"/>
          </a:xfrm>
          <a:custGeom>
            <a:avLst/>
            <a:gdLst/>
            <a:ahLst/>
            <a:cxnLst/>
            <a:rect l="l" t="t" r="r" b="b"/>
            <a:pathLst>
              <a:path w="845820" h="324485">
                <a:moveTo>
                  <a:pt x="0" y="162179"/>
                </a:moveTo>
                <a:lnTo>
                  <a:pt x="21549" y="110918"/>
                </a:lnTo>
                <a:lnTo>
                  <a:pt x="81556" y="66398"/>
                </a:lnTo>
                <a:lnTo>
                  <a:pt x="123805" y="47501"/>
                </a:lnTo>
                <a:lnTo>
                  <a:pt x="173058" y="31291"/>
                </a:lnTo>
                <a:lnTo>
                  <a:pt x="228444" y="18102"/>
                </a:lnTo>
                <a:lnTo>
                  <a:pt x="289093" y="8268"/>
                </a:lnTo>
                <a:lnTo>
                  <a:pt x="354135" y="2122"/>
                </a:lnTo>
                <a:lnTo>
                  <a:pt x="422699" y="0"/>
                </a:lnTo>
                <a:lnTo>
                  <a:pt x="491262" y="2122"/>
                </a:lnTo>
                <a:lnTo>
                  <a:pt x="556304" y="8268"/>
                </a:lnTo>
                <a:lnTo>
                  <a:pt x="616953" y="18102"/>
                </a:lnTo>
                <a:lnTo>
                  <a:pt x="672339" y="31291"/>
                </a:lnTo>
                <a:lnTo>
                  <a:pt x="721592" y="47501"/>
                </a:lnTo>
                <a:lnTo>
                  <a:pt x="763841" y="66398"/>
                </a:lnTo>
                <a:lnTo>
                  <a:pt x="798217" y="87648"/>
                </a:lnTo>
                <a:lnTo>
                  <a:pt x="839865" y="135873"/>
                </a:lnTo>
                <a:lnTo>
                  <a:pt x="845398" y="162179"/>
                </a:lnTo>
                <a:lnTo>
                  <a:pt x="839865" y="188485"/>
                </a:lnTo>
                <a:lnTo>
                  <a:pt x="798217" y="236710"/>
                </a:lnTo>
                <a:lnTo>
                  <a:pt x="763841" y="257960"/>
                </a:lnTo>
                <a:lnTo>
                  <a:pt x="721592" y="276857"/>
                </a:lnTo>
                <a:lnTo>
                  <a:pt x="672339" y="293067"/>
                </a:lnTo>
                <a:lnTo>
                  <a:pt x="616953" y="306256"/>
                </a:lnTo>
                <a:lnTo>
                  <a:pt x="556304" y="316090"/>
                </a:lnTo>
                <a:lnTo>
                  <a:pt x="491262" y="322236"/>
                </a:lnTo>
                <a:lnTo>
                  <a:pt x="422699" y="324359"/>
                </a:lnTo>
                <a:lnTo>
                  <a:pt x="354135" y="322236"/>
                </a:lnTo>
                <a:lnTo>
                  <a:pt x="289093" y="316090"/>
                </a:lnTo>
                <a:lnTo>
                  <a:pt x="228444" y="306256"/>
                </a:lnTo>
                <a:lnTo>
                  <a:pt x="173058" y="293067"/>
                </a:lnTo>
                <a:lnTo>
                  <a:pt x="123805" y="276857"/>
                </a:lnTo>
                <a:lnTo>
                  <a:pt x="81556" y="257960"/>
                </a:lnTo>
                <a:lnTo>
                  <a:pt x="47180" y="236710"/>
                </a:lnTo>
                <a:lnTo>
                  <a:pt x="5532" y="188485"/>
                </a:lnTo>
                <a:lnTo>
                  <a:pt x="0" y="16217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8012683" y="3004820"/>
            <a:ext cx="4057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latin typeface="Arial"/>
                <a:cs typeface="Arial"/>
              </a:rPr>
              <a:t>,</a:t>
            </a:r>
            <a:r>
              <a:rPr dirty="0" sz="1200" spc="-5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1200" spc="-5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5816390" y="2532632"/>
            <a:ext cx="245110" cy="400685"/>
          </a:xfrm>
          <a:custGeom>
            <a:avLst/>
            <a:gdLst/>
            <a:ahLst/>
            <a:cxnLst/>
            <a:rect l="l" t="t" r="r" b="b"/>
            <a:pathLst>
              <a:path w="245110" h="400685">
                <a:moveTo>
                  <a:pt x="244744" y="0"/>
                </a:moveTo>
                <a:lnTo>
                  <a:pt x="0" y="40038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816390" y="3243160"/>
            <a:ext cx="544830" cy="425450"/>
          </a:xfrm>
          <a:custGeom>
            <a:avLst/>
            <a:gdLst/>
            <a:ahLst/>
            <a:cxnLst/>
            <a:rect l="l" t="t" r="r" b="b"/>
            <a:pathLst>
              <a:path w="544829" h="425450">
                <a:moveTo>
                  <a:pt x="0" y="0"/>
                </a:moveTo>
                <a:lnTo>
                  <a:pt x="544337" y="42542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718292" y="2418011"/>
            <a:ext cx="387350" cy="3175"/>
          </a:xfrm>
          <a:custGeom>
            <a:avLst/>
            <a:gdLst/>
            <a:ahLst/>
            <a:cxnLst/>
            <a:rect l="l" t="t" r="r" b="b"/>
            <a:pathLst>
              <a:path w="387350" h="3175">
                <a:moveTo>
                  <a:pt x="386936" y="0"/>
                </a:moveTo>
                <a:lnTo>
                  <a:pt x="0" y="293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7866942" y="2532689"/>
            <a:ext cx="348615" cy="413384"/>
          </a:xfrm>
          <a:custGeom>
            <a:avLst/>
            <a:gdLst/>
            <a:ahLst/>
            <a:cxnLst/>
            <a:rect l="l" t="t" r="r" b="b"/>
            <a:pathLst>
              <a:path w="348615" h="413385">
                <a:moveTo>
                  <a:pt x="348148" y="41328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168565" y="2532690"/>
            <a:ext cx="1067435" cy="445770"/>
          </a:xfrm>
          <a:custGeom>
            <a:avLst/>
            <a:gdLst/>
            <a:ahLst/>
            <a:cxnLst/>
            <a:rect l="l" t="t" r="r" b="b"/>
            <a:pathLst>
              <a:path w="1067434" h="445769">
                <a:moveTo>
                  <a:pt x="0" y="445748"/>
                </a:moveTo>
                <a:lnTo>
                  <a:pt x="106735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314442" y="3088089"/>
            <a:ext cx="1478280" cy="20320"/>
          </a:xfrm>
          <a:custGeom>
            <a:avLst/>
            <a:gdLst/>
            <a:ahLst/>
            <a:cxnLst/>
            <a:rect l="l" t="t" r="r" b="b"/>
            <a:pathLst>
              <a:path w="1478279" h="20319">
                <a:moveTo>
                  <a:pt x="1477949" y="2006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7648566" y="3270334"/>
            <a:ext cx="567055" cy="398780"/>
          </a:xfrm>
          <a:custGeom>
            <a:avLst/>
            <a:gdLst/>
            <a:ahLst/>
            <a:cxnLst/>
            <a:rect l="l" t="t" r="r" b="b"/>
            <a:pathLst>
              <a:path w="567054" h="398779">
                <a:moveTo>
                  <a:pt x="0" y="398249"/>
                </a:moveTo>
                <a:lnTo>
                  <a:pt x="56652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106" name="object 106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107" name="object 10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/>
              <a:t>56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848258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653" rIns="0" bIns="0" rtlCol="0" vert="horz">
            <a:spAutoFit/>
          </a:bodyPr>
          <a:lstStyle/>
          <a:p>
            <a:pPr marL="495300" marR="5080">
              <a:lnSpc>
                <a:spcPts val="3790"/>
              </a:lnSpc>
              <a:spcBef>
                <a:spcPts val="265"/>
              </a:spcBef>
            </a:pPr>
            <a:r>
              <a:rPr dirty="0" spc="-10"/>
              <a:t>After </a:t>
            </a:r>
            <a:r>
              <a:rPr dirty="0" spc="-5"/>
              <a:t>color </a:t>
            </a:r>
            <a:r>
              <a:rPr dirty="0" spc="-15"/>
              <a:t>refinement, </a:t>
            </a:r>
            <a:r>
              <a:rPr dirty="0"/>
              <a:t>WL </a:t>
            </a:r>
            <a:r>
              <a:rPr dirty="0" spc="-15"/>
              <a:t>kernel counts </a:t>
            </a:r>
            <a:r>
              <a:rPr dirty="0" spc="-5"/>
              <a:t>number  </a:t>
            </a:r>
            <a:r>
              <a:rPr dirty="0"/>
              <a:t>of </a:t>
            </a:r>
            <a:r>
              <a:rPr dirty="0" spc="-5"/>
              <a:t>nodes with </a:t>
            </a:r>
            <a:r>
              <a:rPr dirty="0"/>
              <a:t>a </a:t>
            </a:r>
            <a:r>
              <a:rPr dirty="0" spc="-10"/>
              <a:t>given</a:t>
            </a:r>
            <a:r>
              <a:rPr dirty="0" spc="-75"/>
              <a:t> </a:t>
            </a:r>
            <a:r>
              <a:rPr dirty="0" spc="-50"/>
              <a:t>color.</a:t>
            </a:r>
          </a:p>
        </p:txBody>
      </p:sp>
      <p:sp>
        <p:nvSpPr>
          <p:cNvPr id="4" name="object 4"/>
          <p:cNvSpPr/>
          <p:nvPr/>
        </p:nvSpPr>
        <p:spPr>
          <a:xfrm>
            <a:off x="2066381" y="2638122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9" y="0"/>
                </a:moveTo>
                <a:lnTo>
                  <a:pt x="98491" y="7440"/>
                </a:lnTo>
                <a:lnTo>
                  <a:pt x="58959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2"/>
                </a:lnTo>
                <a:lnTo>
                  <a:pt x="27785" y="232135"/>
                </a:lnTo>
                <a:lnTo>
                  <a:pt x="58959" y="263727"/>
                </a:lnTo>
                <a:lnTo>
                  <a:pt x="98491" y="284446"/>
                </a:lnTo>
                <a:lnTo>
                  <a:pt x="144009" y="291886"/>
                </a:lnTo>
                <a:lnTo>
                  <a:pt x="189526" y="284446"/>
                </a:lnTo>
                <a:lnTo>
                  <a:pt x="229058" y="263727"/>
                </a:lnTo>
                <a:lnTo>
                  <a:pt x="260231" y="232135"/>
                </a:lnTo>
                <a:lnTo>
                  <a:pt x="280675" y="192072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8" y="28158"/>
                </a:lnTo>
                <a:lnTo>
                  <a:pt x="189526" y="7440"/>
                </a:lnTo>
                <a:lnTo>
                  <a:pt x="14400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66381" y="2638122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3"/>
                </a:lnTo>
                <a:lnTo>
                  <a:pt x="27785" y="59750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0"/>
                </a:lnTo>
                <a:lnTo>
                  <a:pt x="280675" y="99813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7"/>
                </a:lnTo>
                <a:lnTo>
                  <a:pt x="189526" y="284445"/>
                </a:lnTo>
                <a:lnTo>
                  <a:pt x="144008" y="291886"/>
                </a:lnTo>
                <a:lnTo>
                  <a:pt x="98490" y="284445"/>
                </a:lnTo>
                <a:lnTo>
                  <a:pt x="58958" y="263727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83234" y="2623342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3"/>
                </a:lnTo>
                <a:lnTo>
                  <a:pt x="27785" y="232136"/>
                </a:lnTo>
                <a:lnTo>
                  <a:pt x="58958" y="263729"/>
                </a:lnTo>
                <a:lnTo>
                  <a:pt x="98490" y="284447"/>
                </a:lnTo>
                <a:lnTo>
                  <a:pt x="144007" y="291887"/>
                </a:lnTo>
                <a:lnTo>
                  <a:pt x="189525" y="284447"/>
                </a:lnTo>
                <a:lnTo>
                  <a:pt x="229057" y="263729"/>
                </a:lnTo>
                <a:lnTo>
                  <a:pt x="260231" y="232136"/>
                </a:lnTo>
                <a:lnTo>
                  <a:pt x="280675" y="192073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83234" y="2623342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34356" y="3221897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4"/>
                </a:lnTo>
                <a:lnTo>
                  <a:pt x="7341" y="192073"/>
                </a:lnTo>
                <a:lnTo>
                  <a:pt x="27785" y="232136"/>
                </a:lnTo>
                <a:lnTo>
                  <a:pt x="58958" y="263729"/>
                </a:lnTo>
                <a:lnTo>
                  <a:pt x="98490" y="284447"/>
                </a:lnTo>
                <a:lnTo>
                  <a:pt x="144007" y="291887"/>
                </a:lnTo>
                <a:lnTo>
                  <a:pt x="189525" y="284447"/>
                </a:lnTo>
                <a:lnTo>
                  <a:pt x="229057" y="263729"/>
                </a:lnTo>
                <a:lnTo>
                  <a:pt x="260231" y="232136"/>
                </a:lnTo>
                <a:lnTo>
                  <a:pt x="280675" y="192073"/>
                </a:lnTo>
                <a:lnTo>
                  <a:pt x="288016" y="145944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34356" y="3221897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66381" y="383190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3"/>
                </a:lnTo>
                <a:lnTo>
                  <a:pt x="27785" y="232136"/>
                </a:lnTo>
                <a:lnTo>
                  <a:pt x="58958" y="263729"/>
                </a:lnTo>
                <a:lnTo>
                  <a:pt x="98490" y="284447"/>
                </a:lnTo>
                <a:lnTo>
                  <a:pt x="144007" y="291887"/>
                </a:lnTo>
                <a:lnTo>
                  <a:pt x="189525" y="284447"/>
                </a:lnTo>
                <a:lnTo>
                  <a:pt x="229057" y="263729"/>
                </a:lnTo>
                <a:lnTo>
                  <a:pt x="260231" y="232136"/>
                </a:lnTo>
                <a:lnTo>
                  <a:pt x="280675" y="192073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66381" y="383190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08536" y="383190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3"/>
                </a:lnTo>
                <a:lnTo>
                  <a:pt x="7341" y="192073"/>
                </a:lnTo>
                <a:lnTo>
                  <a:pt x="27785" y="232136"/>
                </a:lnTo>
                <a:lnTo>
                  <a:pt x="58958" y="263729"/>
                </a:lnTo>
                <a:lnTo>
                  <a:pt x="98490" y="284447"/>
                </a:lnTo>
                <a:lnTo>
                  <a:pt x="144007" y="291887"/>
                </a:lnTo>
                <a:lnTo>
                  <a:pt x="189525" y="284447"/>
                </a:lnTo>
                <a:lnTo>
                  <a:pt x="229057" y="263729"/>
                </a:lnTo>
                <a:lnTo>
                  <a:pt x="260231" y="232136"/>
                </a:lnTo>
                <a:lnTo>
                  <a:pt x="280675" y="192073"/>
                </a:lnTo>
                <a:lnTo>
                  <a:pt x="288016" y="145943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08536" y="3831903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04853" y="3221897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144007" y="0"/>
                </a:moveTo>
                <a:lnTo>
                  <a:pt x="98490" y="7440"/>
                </a:lnTo>
                <a:lnTo>
                  <a:pt x="58958" y="28158"/>
                </a:lnTo>
                <a:lnTo>
                  <a:pt x="27785" y="59751"/>
                </a:lnTo>
                <a:lnTo>
                  <a:pt x="7341" y="99814"/>
                </a:lnTo>
                <a:lnTo>
                  <a:pt x="0" y="145944"/>
                </a:lnTo>
                <a:lnTo>
                  <a:pt x="7341" y="192073"/>
                </a:lnTo>
                <a:lnTo>
                  <a:pt x="27785" y="232136"/>
                </a:lnTo>
                <a:lnTo>
                  <a:pt x="58958" y="263729"/>
                </a:lnTo>
                <a:lnTo>
                  <a:pt x="98490" y="284447"/>
                </a:lnTo>
                <a:lnTo>
                  <a:pt x="144007" y="291887"/>
                </a:lnTo>
                <a:lnTo>
                  <a:pt x="189525" y="284447"/>
                </a:lnTo>
                <a:lnTo>
                  <a:pt x="229057" y="263729"/>
                </a:lnTo>
                <a:lnTo>
                  <a:pt x="260231" y="232136"/>
                </a:lnTo>
                <a:lnTo>
                  <a:pt x="280675" y="192073"/>
                </a:lnTo>
                <a:lnTo>
                  <a:pt x="288016" y="145944"/>
                </a:lnTo>
                <a:lnTo>
                  <a:pt x="280675" y="99814"/>
                </a:lnTo>
                <a:lnTo>
                  <a:pt x="260231" y="59751"/>
                </a:lnTo>
                <a:lnTo>
                  <a:pt x="229057" y="28158"/>
                </a:lnTo>
                <a:lnTo>
                  <a:pt x="189525" y="7440"/>
                </a:lnTo>
                <a:lnTo>
                  <a:pt x="1440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04853" y="3221897"/>
            <a:ext cx="288290" cy="292100"/>
          </a:xfrm>
          <a:custGeom>
            <a:avLst/>
            <a:gdLst/>
            <a:ahLst/>
            <a:cxnLst/>
            <a:rect l="l" t="t" r="r" b="b"/>
            <a:pathLst>
              <a:path w="288289" h="292100">
                <a:moveTo>
                  <a:pt x="0" y="145943"/>
                </a:moveTo>
                <a:lnTo>
                  <a:pt x="7341" y="99814"/>
                </a:lnTo>
                <a:lnTo>
                  <a:pt x="27785" y="59751"/>
                </a:lnTo>
                <a:lnTo>
                  <a:pt x="58958" y="28158"/>
                </a:lnTo>
                <a:lnTo>
                  <a:pt x="98490" y="7440"/>
                </a:lnTo>
                <a:lnTo>
                  <a:pt x="144008" y="0"/>
                </a:lnTo>
                <a:lnTo>
                  <a:pt x="189526" y="7440"/>
                </a:lnTo>
                <a:lnTo>
                  <a:pt x="229058" y="28158"/>
                </a:lnTo>
                <a:lnTo>
                  <a:pt x="260231" y="59751"/>
                </a:lnTo>
                <a:lnTo>
                  <a:pt x="280675" y="99814"/>
                </a:lnTo>
                <a:lnTo>
                  <a:pt x="288017" y="145943"/>
                </a:lnTo>
                <a:lnTo>
                  <a:pt x="280675" y="192072"/>
                </a:lnTo>
                <a:lnTo>
                  <a:pt x="260231" y="232135"/>
                </a:lnTo>
                <a:lnTo>
                  <a:pt x="229058" y="263728"/>
                </a:lnTo>
                <a:lnTo>
                  <a:pt x="189526" y="284446"/>
                </a:lnTo>
                <a:lnTo>
                  <a:pt x="144008" y="291887"/>
                </a:lnTo>
                <a:lnTo>
                  <a:pt x="98490" y="284446"/>
                </a:lnTo>
                <a:lnTo>
                  <a:pt x="58958" y="263728"/>
                </a:lnTo>
                <a:lnTo>
                  <a:pt x="27785" y="232135"/>
                </a:lnTo>
                <a:lnTo>
                  <a:pt x="7341" y="192072"/>
                </a:lnTo>
                <a:lnTo>
                  <a:pt x="0" y="145943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80193" y="2887263"/>
            <a:ext cx="228600" cy="377825"/>
          </a:xfrm>
          <a:custGeom>
            <a:avLst/>
            <a:gdLst/>
            <a:ahLst/>
            <a:cxnLst/>
            <a:rect l="l" t="t" r="r" b="b"/>
            <a:pathLst>
              <a:path w="228600" h="377825">
                <a:moveTo>
                  <a:pt x="228366" y="0"/>
                </a:moveTo>
                <a:lnTo>
                  <a:pt x="0" y="37738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80194" y="3471039"/>
            <a:ext cx="228600" cy="403860"/>
          </a:xfrm>
          <a:custGeom>
            <a:avLst/>
            <a:gdLst/>
            <a:ahLst/>
            <a:cxnLst/>
            <a:rect l="l" t="t" r="r" b="b"/>
            <a:pathLst>
              <a:path w="228600" h="403860">
                <a:moveTo>
                  <a:pt x="0" y="0"/>
                </a:moveTo>
                <a:lnTo>
                  <a:pt x="228366" y="40361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362007" y="2769285"/>
            <a:ext cx="421640" cy="0"/>
          </a:xfrm>
          <a:custGeom>
            <a:avLst/>
            <a:gdLst/>
            <a:ahLst/>
            <a:cxnLst/>
            <a:rect l="l" t="t" r="r" b="b"/>
            <a:pathLst>
              <a:path w="421639" h="0">
                <a:moveTo>
                  <a:pt x="421227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29071" y="2872483"/>
            <a:ext cx="308610" cy="401320"/>
          </a:xfrm>
          <a:custGeom>
            <a:avLst/>
            <a:gdLst/>
            <a:ahLst/>
            <a:cxnLst/>
            <a:rect l="l" t="t" r="r" b="b"/>
            <a:pathLst>
              <a:path w="308610" h="401320">
                <a:moveTo>
                  <a:pt x="308443" y="40096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312219" y="2887263"/>
            <a:ext cx="993140" cy="480695"/>
          </a:xfrm>
          <a:custGeom>
            <a:avLst/>
            <a:gdLst/>
            <a:ahLst/>
            <a:cxnLst/>
            <a:rect l="l" t="t" r="r" b="b"/>
            <a:pathLst>
              <a:path w="993139" h="480695">
                <a:moveTo>
                  <a:pt x="992634" y="48057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22373" y="3367840"/>
            <a:ext cx="1383030" cy="0"/>
          </a:xfrm>
          <a:custGeom>
            <a:avLst/>
            <a:gdLst/>
            <a:ahLst/>
            <a:cxnLst/>
            <a:rect l="l" t="t" r="r" b="b"/>
            <a:pathLst>
              <a:path w="1383029" h="0">
                <a:moveTo>
                  <a:pt x="1382480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922372" y="3367841"/>
            <a:ext cx="928369" cy="507365"/>
          </a:xfrm>
          <a:custGeom>
            <a:avLst/>
            <a:gdLst/>
            <a:ahLst/>
            <a:cxnLst/>
            <a:rect l="l" t="t" r="r" b="b"/>
            <a:pathLst>
              <a:path w="928369" h="507364">
                <a:moveTo>
                  <a:pt x="928342" y="50680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921332" y="457851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921332" y="4578513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683633" y="456345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683633" y="4563456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461916" y="51732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153137" y="0"/>
                </a:moveTo>
                <a:lnTo>
                  <a:pt x="104734" y="7580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6" y="236492"/>
                </a:lnTo>
                <a:lnTo>
                  <a:pt x="62696" y="268678"/>
                </a:lnTo>
                <a:lnTo>
                  <a:pt x="104734" y="289785"/>
                </a:lnTo>
                <a:lnTo>
                  <a:pt x="153137" y="297365"/>
                </a:lnTo>
                <a:lnTo>
                  <a:pt x="201541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80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461916" y="51732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21332" y="5794699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153137" y="0"/>
                </a:moveTo>
                <a:lnTo>
                  <a:pt x="104734" y="7579"/>
                </a:lnTo>
                <a:lnTo>
                  <a:pt x="62696" y="28687"/>
                </a:lnTo>
                <a:lnTo>
                  <a:pt x="29546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6" y="236492"/>
                </a:lnTo>
                <a:lnTo>
                  <a:pt x="62696" y="268677"/>
                </a:lnTo>
                <a:lnTo>
                  <a:pt x="104734" y="289784"/>
                </a:lnTo>
                <a:lnTo>
                  <a:pt x="153137" y="297364"/>
                </a:lnTo>
                <a:lnTo>
                  <a:pt x="201541" y="289784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1" y="7579"/>
                </a:lnTo>
                <a:lnTo>
                  <a:pt x="15313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21332" y="5794699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10539" y="5794699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153139" y="0"/>
                </a:moveTo>
                <a:lnTo>
                  <a:pt x="104735" y="7579"/>
                </a:lnTo>
                <a:lnTo>
                  <a:pt x="62697" y="28687"/>
                </a:lnTo>
                <a:lnTo>
                  <a:pt x="29547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7"/>
                </a:lnTo>
                <a:lnTo>
                  <a:pt x="29547" y="236492"/>
                </a:lnTo>
                <a:lnTo>
                  <a:pt x="62697" y="268677"/>
                </a:lnTo>
                <a:lnTo>
                  <a:pt x="104735" y="289784"/>
                </a:lnTo>
                <a:lnTo>
                  <a:pt x="153139" y="297364"/>
                </a:lnTo>
                <a:lnTo>
                  <a:pt x="201542" y="289784"/>
                </a:lnTo>
                <a:lnTo>
                  <a:pt x="243580" y="268677"/>
                </a:lnTo>
                <a:lnTo>
                  <a:pt x="276730" y="236492"/>
                </a:lnTo>
                <a:lnTo>
                  <a:pt x="298469" y="195677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79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10539" y="5794699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5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238323" y="51732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153139" y="0"/>
                </a:moveTo>
                <a:lnTo>
                  <a:pt x="104735" y="7580"/>
                </a:lnTo>
                <a:lnTo>
                  <a:pt x="62697" y="28687"/>
                </a:lnTo>
                <a:lnTo>
                  <a:pt x="29547" y="60872"/>
                </a:lnTo>
                <a:lnTo>
                  <a:pt x="7807" y="101687"/>
                </a:lnTo>
                <a:lnTo>
                  <a:pt x="0" y="148682"/>
                </a:lnTo>
                <a:lnTo>
                  <a:pt x="7807" y="195678"/>
                </a:lnTo>
                <a:lnTo>
                  <a:pt x="29547" y="236492"/>
                </a:lnTo>
                <a:lnTo>
                  <a:pt x="62697" y="268678"/>
                </a:lnTo>
                <a:lnTo>
                  <a:pt x="104735" y="289785"/>
                </a:lnTo>
                <a:lnTo>
                  <a:pt x="153139" y="297365"/>
                </a:lnTo>
                <a:lnTo>
                  <a:pt x="201542" y="289785"/>
                </a:lnTo>
                <a:lnTo>
                  <a:pt x="243580" y="268678"/>
                </a:lnTo>
                <a:lnTo>
                  <a:pt x="276730" y="236492"/>
                </a:lnTo>
                <a:lnTo>
                  <a:pt x="298469" y="195678"/>
                </a:lnTo>
                <a:lnTo>
                  <a:pt x="306277" y="148682"/>
                </a:lnTo>
                <a:lnTo>
                  <a:pt x="298469" y="101687"/>
                </a:lnTo>
                <a:lnTo>
                  <a:pt x="276730" y="60872"/>
                </a:lnTo>
                <a:lnTo>
                  <a:pt x="243580" y="28687"/>
                </a:lnTo>
                <a:lnTo>
                  <a:pt x="201542" y="7580"/>
                </a:lnTo>
                <a:lnTo>
                  <a:pt x="15313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238323" y="5173244"/>
            <a:ext cx="306705" cy="297815"/>
          </a:xfrm>
          <a:custGeom>
            <a:avLst/>
            <a:gdLst/>
            <a:ahLst/>
            <a:cxnLst/>
            <a:rect l="l" t="t" r="r" b="b"/>
            <a:pathLst>
              <a:path w="306704" h="297814">
                <a:moveTo>
                  <a:pt x="0" y="148682"/>
                </a:moveTo>
                <a:lnTo>
                  <a:pt x="7807" y="101687"/>
                </a:lnTo>
                <a:lnTo>
                  <a:pt x="29546" y="60872"/>
                </a:lnTo>
                <a:lnTo>
                  <a:pt x="62696" y="28687"/>
                </a:lnTo>
                <a:lnTo>
                  <a:pt x="104734" y="7579"/>
                </a:lnTo>
                <a:lnTo>
                  <a:pt x="153138" y="0"/>
                </a:lnTo>
                <a:lnTo>
                  <a:pt x="201542" y="7579"/>
                </a:lnTo>
                <a:lnTo>
                  <a:pt x="243580" y="28687"/>
                </a:lnTo>
                <a:lnTo>
                  <a:pt x="276730" y="60872"/>
                </a:lnTo>
                <a:lnTo>
                  <a:pt x="298469" y="101687"/>
                </a:lnTo>
                <a:lnTo>
                  <a:pt x="306277" y="148682"/>
                </a:lnTo>
                <a:lnTo>
                  <a:pt x="298469" y="195677"/>
                </a:lnTo>
                <a:lnTo>
                  <a:pt x="276730" y="236492"/>
                </a:lnTo>
                <a:lnTo>
                  <a:pt x="243580" y="268677"/>
                </a:lnTo>
                <a:lnTo>
                  <a:pt x="201542" y="289785"/>
                </a:lnTo>
                <a:lnTo>
                  <a:pt x="153138" y="297365"/>
                </a:lnTo>
                <a:lnTo>
                  <a:pt x="104734" y="289785"/>
                </a:lnTo>
                <a:lnTo>
                  <a:pt x="62696" y="268677"/>
                </a:lnTo>
                <a:lnTo>
                  <a:pt x="29546" y="236492"/>
                </a:lnTo>
                <a:lnTo>
                  <a:pt x="7807" y="195677"/>
                </a:lnTo>
                <a:lnTo>
                  <a:pt x="0" y="148682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723339" y="4832331"/>
            <a:ext cx="243204" cy="384810"/>
          </a:xfrm>
          <a:custGeom>
            <a:avLst/>
            <a:gdLst/>
            <a:ahLst/>
            <a:cxnLst/>
            <a:rect l="l" t="t" r="r" b="b"/>
            <a:pathLst>
              <a:path w="243205" h="384810">
                <a:moveTo>
                  <a:pt x="242845" y="0"/>
                </a:moveTo>
                <a:lnTo>
                  <a:pt x="0" y="3844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723340" y="5427061"/>
            <a:ext cx="243204" cy="411480"/>
          </a:xfrm>
          <a:custGeom>
            <a:avLst/>
            <a:gdLst/>
            <a:ahLst/>
            <a:cxnLst/>
            <a:rect l="l" t="t" r="r" b="b"/>
            <a:pathLst>
              <a:path w="243205" h="411479">
                <a:moveTo>
                  <a:pt x="0" y="0"/>
                </a:moveTo>
                <a:lnTo>
                  <a:pt x="242845" y="4111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235700" y="4712139"/>
            <a:ext cx="448309" cy="0"/>
          </a:xfrm>
          <a:custGeom>
            <a:avLst/>
            <a:gdLst/>
            <a:ahLst/>
            <a:cxnLst/>
            <a:rect l="l" t="t" r="r" b="b"/>
            <a:pathLst>
              <a:path w="448310" h="0">
                <a:moveTo>
                  <a:pt x="447933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45057" y="4817273"/>
            <a:ext cx="328295" cy="408940"/>
          </a:xfrm>
          <a:custGeom>
            <a:avLst/>
            <a:gdLst/>
            <a:ahLst/>
            <a:cxnLst/>
            <a:rect l="l" t="t" r="r" b="b"/>
            <a:pathLst>
              <a:path w="328295" h="408939">
                <a:moveTo>
                  <a:pt x="327998" y="40849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68192" y="4817273"/>
            <a:ext cx="960755" cy="504825"/>
          </a:xfrm>
          <a:custGeom>
            <a:avLst/>
            <a:gdLst/>
            <a:ahLst/>
            <a:cxnLst/>
            <a:rect l="l" t="t" r="r" b="b"/>
            <a:pathLst>
              <a:path w="960755" h="504825">
                <a:moveTo>
                  <a:pt x="960292" y="0"/>
                </a:moveTo>
                <a:lnTo>
                  <a:pt x="0" y="50465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768192" y="5321928"/>
            <a:ext cx="1470660" cy="0"/>
          </a:xfrm>
          <a:custGeom>
            <a:avLst/>
            <a:gdLst/>
            <a:ahLst/>
            <a:cxnLst/>
            <a:rect l="l" t="t" r="r" b="b"/>
            <a:pathLst>
              <a:path w="1470660" h="0">
                <a:moveTo>
                  <a:pt x="1470131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2971963" y="5427062"/>
            <a:ext cx="311785" cy="411480"/>
          </a:xfrm>
          <a:custGeom>
            <a:avLst/>
            <a:gdLst/>
            <a:ahLst/>
            <a:cxnLst/>
            <a:rect l="l" t="t" r="r" b="b"/>
            <a:pathLst>
              <a:path w="311785" h="411479">
                <a:moveTo>
                  <a:pt x="0" y="411185"/>
                </a:moveTo>
                <a:lnTo>
                  <a:pt x="31121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66098" y="2678683"/>
            <a:ext cx="1165225" cy="3058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dirty="0" sz="7200" spc="140">
                <a:latin typeface="Cambria Math"/>
                <a:cs typeface="Cambria Math"/>
              </a:rPr>
              <a:t>𝜙</a:t>
            </a:r>
            <a:r>
              <a:rPr dirty="0" sz="7200">
                <a:latin typeface="Cambria Math"/>
                <a:cs typeface="Cambria Math"/>
              </a:rPr>
              <a:t>(</a:t>
            </a:r>
            <a:endParaRPr sz="7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600"/>
              </a:spcBef>
            </a:pPr>
            <a:r>
              <a:rPr dirty="0" sz="7200" spc="65">
                <a:latin typeface="Cambria Math"/>
                <a:cs typeface="Cambria Math"/>
              </a:rPr>
              <a:t>𝜙(</a:t>
            </a:r>
            <a:endParaRPr sz="72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/>
              <a:t>56</a:t>
            </a:fld>
          </a:p>
        </p:txBody>
      </p:sp>
      <p:sp>
        <p:nvSpPr>
          <p:cNvPr id="43" name="object 43"/>
          <p:cNvSpPr txBox="1"/>
          <p:nvPr/>
        </p:nvSpPr>
        <p:spPr>
          <a:xfrm>
            <a:off x="3505144" y="2678683"/>
            <a:ext cx="521334" cy="3058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</a:pPr>
            <a:r>
              <a:rPr dirty="0" sz="7200">
                <a:latin typeface="Cambria Math"/>
                <a:cs typeface="Cambria Math"/>
              </a:rPr>
              <a:t>)</a:t>
            </a:r>
            <a:endParaRPr sz="7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600"/>
              </a:spcBef>
            </a:pPr>
            <a:r>
              <a:rPr dirty="0" sz="7200">
                <a:latin typeface="Cambria Math"/>
                <a:cs typeface="Cambria Math"/>
              </a:rPr>
              <a:t>)</a:t>
            </a:r>
            <a:endParaRPr sz="72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98534" y="2504948"/>
            <a:ext cx="4265295" cy="14458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85750" marR="95885" indent="1503045">
              <a:lnSpc>
                <a:spcPct val="100800"/>
              </a:lnSpc>
              <a:spcBef>
                <a:spcPts val="75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Colors  </a:t>
            </a:r>
            <a:r>
              <a:rPr dirty="0" sz="2400" spc="-10">
                <a:latin typeface="Arial"/>
                <a:cs typeface="Arial"/>
              </a:rPr>
              <a:t>1,</a:t>
            </a:r>
            <a:r>
              <a:rPr dirty="0" sz="2400" spc="-1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008000"/>
                </a:solidFill>
                <a:latin typeface="Arial"/>
                <a:cs typeface="Arial"/>
              </a:rPr>
              <a:t>5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B48200"/>
                </a:solidFill>
                <a:latin typeface="Arial"/>
                <a:cs typeface="Arial"/>
              </a:rPr>
              <a:t>6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D9253E"/>
                </a:solidFill>
                <a:latin typeface="Arial"/>
                <a:cs typeface="Arial"/>
              </a:rPr>
              <a:t>7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434A5A"/>
                </a:solidFill>
                <a:latin typeface="Arial"/>
                <a:cs typeface="Arial"/>
              </a:rPr>
              <a:t>8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3792AA"/>
                </a:solidFill>
                <a:latin typeface="Arial"/>
                <a:cs typeface="Arial"/>
              </a:rPr>
              <a:t>9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479249"/>
                </a:solidFill>
                <a:latin typeface="Arial"/>
                <a:cs typeface="Arial"/>
              </a:rPr>
              <a:t>10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785700"/>
                </a:solidFill>
                <a:latin typeface="Arial"/>
                <a:cs typeface="Arial"/>
              </a:rPr>
              <a:t>12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246172"/>
                </a:solidFill>
                <a:latin typeface="Arial"/>
                <a:cs typeface="Arial"/>
              </a:rPr>
              <a:t>13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495"/>
              </a:lnSpc>
              <a:tabLst>
                <a:tab pos="3152140" algn="l"/>
                <a:tab pos="3574415" algn="l"/>
                <a:tab pos="3997325" algn="l"/>
              </a:tabLst>
            </a:pPr>
            <a:r>
              <a:rPr dirty="0" sz="2400">
                <a:latin typeface="Arial"/>
                <a:cs typeface="Arial"/>
              </a:rPr>
              <a:t>=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[</a:t>
            </a:r>
            <a:r>
              <a:rPr dirty="0" sz="2400">
                <a:latin typeface="Arial"/>
                <a:cs typeface="Arial"/>
              </a:rPr>
              <a:t>6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0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0,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0,	0,	2,	1]</a:t>
            </a:r>
            <a:endParaRPr sz="2400">
              <a:latin typeface="Arial"/>
              <a:cs typeface="Arial"/>
            </a:endParaRPr>
          </a:p>
          <a:p>
            <a:pPr algn="ctr" marL="332105">
              <a:lnSpc>
                <a:spcPct val="100000"/>
              </a:lnSpc>
              <a:spcBef>
                <a:spcPts val="25"/>
              </a:spcBef>
            </a:pPr>
            <a:r>
              <a:rPr dirty="0" sz="2400" spc="-5">
                <a:solidFill>
                  <a:srgbClr val="008000"/>
                </a:solidFill>
                <a:latin typeface="Arial"/>
                <a:cs typeface="Arial"/>
              </a:rPr>
              <a:t>Counts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03976" y="4717796"/>
            <a:ext cx="4265295" cy="763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Arial"/>
                <a:cs typeface="Arial"/>
              </a:rPr>
              <a:t>1,</a:t>
            </a:r>
            <a:r>
              <a:rPr dirty="0" sz="2400" spc="-1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0000FF"/>
                </a:solidFill>
                <a:latin typeface="Arial"/>
                <a:cs typeface="Arial"/>
              </a:rPr>
              <a:t>3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3792AA"/>
                </a:solidFill>
                <a:latin typeface="Arial"/>
                <a:cs typeface="Arial"/>
              </a:rPr>
              <a:t>4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008000"/>
                </a:solidFill>
                <a:latin typeface="Arial"/>
                <a:cs typeface="Arial"/>
              </a:rPr>
              <a:t>5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B48200"/>
                </a:solidFill>
                <a:latin typeface="Arial"/>
                <a:cs typeface="Arial"/>
              </a:rPr>
              <a:t>6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D9253E"/>
                </a:solidFill>
                <a:latin typeface="Arial"/>
                <a:cs typeface="Arial"/>
              </a:rPr>
              <a:t>7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434A5A"/>
                </a:solidFill>
                <a:latin typeface="Arial"/>
                <a:cs typeface="Arial"/>
              </a:rPr>
              <a:t>8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3792AA"/>
                </a:solidFill>
                <a:latin typeface="Arial"/>
                <a:cs typeface="Arial"/>
              </a:rPr>
              <a:t>9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479249"/>
                </a:solidFill>
                <a:latin typeface="Arial"/>
                <a:cs typeface="Arial"/>
              </a:rPr>
              <a:t>10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8A3C12"/>
                </a:solidFill>
                <a:latin typeface="Arial"/>
                <a:cs typeface="Arial"/>
              </a:rPr>
              <a:t>11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785700"/>
                </a:solidFill>
                <a:latin typeface="Arial"/>
                <a:cs typeface="Arial"/>
              </a:rPr>
              <a:t>12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solidFill>
                  <a:srgbClr val="246172"/>
                </a:solidFill>
                <a:latin typeface="Arial"/>
                <a:cs typeface="Arial"/>
              </a:rPr>
              <a:t>13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3152140" algn="l"/>
                <a:tab pos="3574415" algn="l"/>
                <a:tab pos="3997325" algn="l"/>
              </a:tabLst>
            </a:pPr>
            <a:r>
              <a:rPr dirty="0" sz="2400">
                <a:latin typeface="Arial"/>
                <a:cs typeface="Arial"/>
              </a:rPr>
              <a:t>=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[</a:t>
            </a:r>
            <a:r>
              <a:rPr dirty="0" sz="2400">
                <a:latin typeface="Arial"/>
                <a:cs typeface="Arial"/>
              </a:rPr>
              <a:t>6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2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0</a:t>
            </a:r>
            <a:r>
              <a:rPr dirty="0" sz="2400" spc="-5">
                <a:latin typeface="Arial"/>
                <a:cs typeface="Arial"/>
              </a:rPr>
              <a:t>,</a:t>
            </a:r>
            <a:r>
              <a:rPr dirty="0" sz="2400">
                <a:latin typeface="Arial"/>
                <a:cs typeface="Arial"/>
              </a:rPr>
              <a:t>1,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1,	1,	0,	1]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108" y="1348740"/>
            <a:ext cx="7715884" cy="99504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The WL </a:t>
            </a:r>
            <a:r>
              <a:rPr dirty="0" sz="3200" spc="-20" b="1">
                <a:solidFill>
                  <a:srgbClr val="60B5CC"/>
                </a:solidFill>
                <a:latin typeface="Calibri"/>
                <a:cs typeface="Calibri"/>
              </a:rPr>
              <a:t>kernel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value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is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computed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by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the inner  </a:t>
            </a:r>
            <a:r>
              <a:rPr dirty="0" sz="3200" spc="-10" b="1">
                <a:solidFill>
                  <a:srgbClr val="60B5CC"/>
                </a:solidFill>
                <a:latin typeface="Calibri"/>
                <a:cs typeface="Calibri"/>
              </a:rPr>
              <a:t>product </a:t>
            </a:r>
            <a:r>
              <a:rPr dirty="0" sz="3200" b="1">
                <a:solidFill>
                  <a:srgbClr val="60B5CC"/>
                </a:solidFill>
                <a:latin typeface="Calibri"/>
                <a:cs typeface="Calibri"/>
              </a:rPr>
              <a:t>of </a:t>
            </a:r>
            <a:r>
              <a:rPr dirty="0" sz="3200" spc="-5" b="1">
                <a:solidFill>
                  <a:srgbClr val="60B5CC"/>
                </a:solidFill>
                <a:latin typeface="Calibri"/>
                <a:cs typeface="Calibri"/>
              </a:rPr>
              <a:t>the color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count</a:t>
            </a:r>
            <a:r>
              <a:rPr dirty="0" sz="3200" spc="-40" b="1">
                <a:solidFill>
                  <a:srgbClr val="60B5CC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60B5CC"/>
                </a:solidFill>
                <a:latin typeface="Calibri"/>
                <a:cs typeface="Calibri"/>
              </a:rPr>
              <a:t>vectors: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6362" y="3787616"/>
            <a:ext cx="1655445" cy="635635"/>
          </a:xfrm>
          <a:custGeom>
            <a:avLst/>
            <a:gdLst/>
            <a:ahLst/>
            <a:cxnLst/>
            <a:rect l="l" t="t" r="r" b="b"/>
            <a:pathLst>
              <a:path w="1655445" h="635635">
                <a:moveTo>
                  <a:pt x="1452598" y="0"/>
                </a:moveTo>
                <a:lnTo>
                  <a:pt x="1443556" y="25784"/>
                </a:lnTo>
                <a:lnTo>
                  <a:pt x="1480328" y="41742"/>
                </a:lnTo>
                <a:lnTo>
                  <a:pt x="1511952" y="63833"/>
                </a:lnTo>
                <a:lnTo>
                  <a:pt x="1538427" y="92055"/>
                </a:lnTo>
                <a:lnTo>
                  <a:pt x="1559754" y="126410"/>
                </a:lnTo>
                <a:lnTo>
                  <a:pt x="1576162" y="166228"/>
                </a:lnTo>
                <a:lnTo>
                  <a:pt x="1587882" y="210838"/>
                </a:lnTo>
                <a:lnTo>
                  <a:pt x="1594914" y="260241"/>
                </a:lnTo>
                <a:lnTo>
                  <a:pt x="1597258" y="314436"/>
                </a:lnTo>
                <a:lnTo>
                  <a:pt x="1594904" y="370463"/>
                </a:lnTo>
                <a:lnTo>
                  <a:pt x="1587840" y="421341"/>
                </a:lnTo>
                <a:lnTo>
                  <a:pt x="1576067" y="467071"/>
                </a:lnTo>
                <a:lnTo>
                  <a:pt x="1559586" y="507652"/>
                </a:lnTo>
                <a:lnTo>
                  <a:pt x="1538270" y="542520"/>
                </a:lnTo>
                <a:lnTo>
                  <a:pt x="1511994" y="571108"/>
                </a:lnTo>
                <a:lnTo>
                  <a:pt x="1480757" y="593419"/>
                </a:lnTo>
                <a:lnTo>
                  <a:pt x="1444561" y="609451"/>
                </a:lnTo>
                <a:lnTo>
                  <a:pt x="1452598" y="635234"/>
                </a:lnTo>
                <a:lnTo>
                  <a:pt x="1498788" y="618627"/>
                </a:lnTo>
                <a:lnTo>
                  <a:pt x="1539244" y="594590"/>
                </a:lnTo>
                <a:lnTo>
                  <a:pt x="1573965" y="563124"/>
                </a:lnTo>
                <a:lnTo>
                  <a:pt x="1602952" y="524228"/>
                </a:lnTo>
                <a:lnTo>
                  <a:pt x="1625805" y="479366"/>
                </a:lnTo>
                <a:lnTo>
                  <a:pt x="1642130" y="430005"/>
                </a:lnTo>
                <a:lnTo>
                  <a:pt x="1651924" y="376145"/>
                </a:lnTo>
                <a:lnTo>
                  <a:pt x="1655189" y="317784"/>
                </a:lnTo>
                <a:lnTo>
                  <a:pt x="1651914" y="259549"/>
                </a:lnTo>
                <a:lnTo>
                  <a:pt x="1642088" y="205731"/>
                </a:lnTo>
                <a:lnTo>
                  <a:pt x="1625711" y="156328"/>
                </a:lnTo>
                <a:lnTo>
                  <a:pt x="1602784" y="111342"/>
                </a:lnTo>
                <a:lnTo>
                  <a:pt x="1573745" y="72299"/>
                </a:lnTo>
                <a:lnTo>
                  <a:pt x="1539034" y="40727"/>
                </a:lnTo>
                <a:lnTo>
                  <a:pt x="1498652" y="16628"/>
                </a:lnTo>
                <a:lnTo>
                  <a:pt x="1452598" y="0"/>
                </a:lnTo>
                <a:close/>
              </a:path>
              <a:path w="1655445" h="635635">
                <a:moveTo>
                  <a:pt x="202592" y="0"/>
                </a:moveTo>
                <a:lnTo>
                  <a:pt x="156538" y="16628"/>
                </a:lnTo>
                <a:lnTo>
                  <a:pt x="116155" y="40727"/>
                </a:lnTo>
                <a:lnTo>
                  <a:pt x="81444" y="72299"/>
                </a:lnTo>
                <a:lnTo>
                  <a:pt x="52406" y="111342"/>
                </a:lnTo>
                <a:lnTo>
                  <a:pt x="29478" y="156328"/>
                </a:lnTo>
                <a:lnTo>
                  <a:pt x="13101" y="205731"/>
                </a:lnTo>
                <a:lnTo>
                  <a:pt x="3275" y="259549"/>
                </a:lnTo>
                <a:lnTo>
                  <a:pt x="0" y="317784"/>
                </a:lnTo>
                <a:lnTo>
                  <a:pt x="3264" y="376145"/>
                </a:lnTo>
                <a:lnTo>
                  <a:pt x="13059" y="430005"/>
                </a:lnTo>
                <a:lnTo>
                  <a:pt x="29384" y="479366"/>
                </a:lnTo>
                <a:lnTo>
                  <a:pt x="52238" y="524228"/>
                </a:lnTo>
                <a:lnTo>
                  <a:pt x="81225" y="563124"/>
                </a:lnTo>
                <a:lnTo>
                  <a:pt x="115946" y="594590"/>
                </a:lnTo>
                <a:lnTo>
                  <a:pt x="156402" y="618627"/>
                </a:lnTo>
                <a:lnTo>
                  <a:pt x="202592" y="635234"/>
                </a:lnTo>
                <a:lnTo>
                  <a:pt x="210629" y="609451"/>
                </a:lnTo>
                <a:lnTo>
                  <a:pt x="174432" y="593419"/>
                </a:lnTo>
                <a:lnTo>
                  <a:pt x="143195" y="571108"/>
                </a:lnTo>
                <a:lnTo>
                  <a:pt x="116919" y="542520"/>
                </a:lnTo>
                <a:lnTo>
                  <a:pt x="95603" y="507652"/>
                </a:lnTo>
                <a:lnTo>
                  <a:pt x="79121" y="467071"/>
                </a:lnTo>
                <a:lnTo>
                  <a:pt x="67349" y="421341"/>
                </a:lnTo>
                <a:lnTo>
                  <a:pt x="60285" y="370463"/>
                </a:lnTo>
                <a:lnTo>
                  <a:pt x="57931" y="314436"/>
                </a:lnTo>
                <a:lnTo>
                  <a:pt x="60285" y="260241"/>
                </a:lnTo>
                <a:lnTo>
                  <a:pt x="67349" y="210838"/>
                </a:lnTo>
                <a:lnTo>
                  <a:pt x="79121" y="166228"/>
                </a:lnTo>
                <a:lnTo>
                  <a:pt x="95603" y="126410"/>
                </a:lnTo>
                <a:lnTo>
                  <a:pt x="116982" y="92055"/>
                </a:lnTo>
                <a:lnTo>
                  <a:pt x="143447" y="63833"/>
                </a:lnTo>
                <a:lnTo>
                  <a:pt x="174997" y="41742"/>
                </a:lnTo>
                <a:lnTo>
                  <a:pt x="211634" y="25784"/>
                </a:lnTo>
                <a:lnTo>
                  <a:pt x="2025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45393" y="2764027"/>
            <a:ext cx="4612005" cy="1437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5555"/>
              </a:lnSpc>
              <a:spcBef>
                <a:spcPts val="100"/>
              </a:spcBef>
              <a:tabLst>
                <a:tab pos="2031364" algn="l"/>
                <a:tab pos="3555365" algn="l"/>
              </a:tabLst>
            </a:pPr>
            <a:r>
              <a:rPr dirty="0" sz="5400" spc="-5">
                <a:latin typeface="Arial"/>
                <a:cs typeface="Arial"/>
              </a:rPr>
              <a:t>K(	</a:t>
            </a:r>
            <a:r>
              <a:rPr dirty="0" sz="5400">
                <a:latin typeface="Arial"/>
                <a:cs typeface="Arial"/>
              </a:rPr>
              <a:t>,	)</a:t>
            </a:r>
            <a:endParaRPr sz="5400">
              <a:latin typeface="Arial"/>
              <a:cs typeface="Arial"/>
            </a:endParaRPr>
          </a:p>
          <a:p>
            <a:pPr algn="r" marR="5080">
              <a:lnSpc>
                <a:spcPts val="5555"/>
              </a:lnSpc>
            </a:pPr>
            <a:r>
              <a:rPr dirty="0" sz="3900" spc="1590">
                <a:latin typeface="Cambria Math"/>
                <a:cs typeface="Cambria Math"/>
              </a:rPr>
              <a:t>!</a:t>
            </a:r>
            <a:r>
              <a:rPr dirty="0" baseline="-20061" sz="8100">
                <a:latin typeface="Cambria Math"/>
                <a:cs typeface="Cambria Math"/>
              </a:rPr>
              <a:t>𝜙</a:t>
            </a:r>
            <a:endParaRPr baseline="-20061" sz="81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19006" y="3787616"/>
            <a:ext cx="1655445" cy="635635"/>
          </a:xfrm>
          <a:custGeom>
            <a:avLst/>
            <a:gdLst/>
            <a:ahLst/>
            <a:cxnLst/>
            <a:rect l="l" t="t" r="r" b="b"/>
            <a:pathLst>
              <a:path w="1655445" h="635635">
                <a:moveTo>
                  <a:pt x="1452596" y="0"/>
                </a:moveTo>
                <a:lnTo>
                  <a:pt x="1443555" y="25784"/>
                </a:lnTo>
                <a:lnTo>
                  <a:pt x="1480328" y="41742"/>
                </a:lnTo>
                <a:lnTo>
                  <a:pt x="1511951" y="63833"/>
                </a:lnTo>
                <a:lnTo>
                  <a:pt x="1538426" y="92055"/>
                </a:lnTo>
                <a:lnTo>
                  <a:pt x="1559753" y="126410"/>
                </a:lnTo>
                <a:lnTo>
                  <a:pt x="1576161" y="166228"/>
                </a:lnTo>
                <a:lnTo>
                  <a:pt x="1587882" y="210838"/>
                </a:lnTo>
                <a:lnTo>
                  <a:pt x="1594914" y="260241"/>
                </a:lnTo>
                <a:lnTo>
                  <a:pt x="1597258" y="314436"/>
                </a:lnTo>
                <a:lnTo>
                  <a:pt x="1594904" y="370463"/>
                </a:lnTo>
                <a:lnTo>
                  <a:pt x="1587840" y="421341"/>
                </a:lnTo>
                <a:lnTo>
                  <a:pt x="1576067" y="467071"/>
                </a:lnTo>
                <a:lnTo>
                  <a:pt x="1559586" y="507652"/>
                </a:lnTo>
                <a:lnTo>
                  <a:pt x="1538270" y="542520"/>
                </a:lnTo>
                <a:lnTo>
                  <a:pt x="1511993" y="571108"/>
                </a:lnTo>
                <a:lnTo>
                  <a:pt x="1480757" y="593419"/>
                </a:lnTo>
                <a:lnTo>
                  <a:pt x="1444560" y="609451"/>
                </a:lnTo>
                <a:lnTo>
                  <a:pt x="1452596" y="635234"/>
                </a:lnTo>
                <a:lnTo>
                  <a:pt x="1498787" y="618627"/>
                </a:lnTo>
                <a:lnTo>
                  <a:pt x="1539242" y="594590"/>
                </a:lnTo>
                <a:lnTo>
                  <a:pt x="1573964" y="563124"/>
                </a:lnTo>
                <a:lnTo>
                  <a:pt x="1602950" y="524228"/>
                </a:lnTo>
                <a:lnTo>
                  <a:pt x="1625805" y="479366"/>
                </a:lnTo>
                <a:lnTo>
                  <a:pt x="1642130" y="430005"/>
                </a:lnTo>
                <a:lnTo>
                  <a:pt x="1651924" y="376145"/>
                </a:lnTo>
                <a:lnTo>
                  <a:pt x="1655189" y="317784"/>
                </a:lnTo>
                <a:lnTo>
                  <a:pt x="1651914" y="259549"/>
                </a:lnTo>
                <a:lnTo>
                  <a:pt x="1642088" y="205731"/>
                </a:lnTo>
                <a:lnTo>
                  <a:pt x="1625711" y="156328"/>
                </a:lnTo>
                <a:lnTo>
                  <a:pt x="1602783" y="111342"/>
                </a:lnTo>
                <a:lnTo>
                  <a:pt x="1573744" y="72299"/>
                </a:lnTo>
                <a:lnTo>
                  <a:pt x="1539033" y="40727"/>
                </a:lnTo>
                <a:lnTo>
                  <a:pt x="1498651" y="16628"/>
                </a:lnTo>
                <a:lnTo>
                  <a:pt x="1452596" y="0"/>
                </a:lnTo>
                <a:close/>
              </a:path>
              <a:path w="1655445" h="635635">
                <a:moveTo>
                  <a:pt x="202591" y="0"/>
                </a:moveTo>
                <a:lnTo>
                  <a:pt x="156537" y="16628"/>
                </a:lnTo>
                <a:lnTo>
                  <a:pt x="116155" y="40727"/>
                </a:lnTo>
                <a:lnTo>
                  <a:pt x="81444" y="72299"/>
                </a:lnTo>
                <a:lnTo>
                  <a:pt x="52406" y="111342"/>
                </a:lnTo>
                <a:lnTo>
                  <a:pt x="29478" y="156328"/>
                </a:lnTo>
                <a:lnTo>
                  <a:pt x="13101" y="205731"/>
                </a:lnTo>
                <a:lnTo>
                  <a:pt x="3275" y="259549"/>
                </a:lnTo>
                <a:lnTo>
                  <a:pt x="0" y="317784"/>
                </a:lnTo>
                <a:lnTo>
                  <a:pt x="3264" y="376145"/>
                </a:lnTo>
                <a:lnTo>
                  <a:pt x="13059" y="430005"/>
                </a:lnTo>
                <a:lnTo>
                  <a:pt x="29384" y="479366"/>
                </a:lnTo>
                <a:lnTo>
                  <a:pt x="52238" y="524228"/>
                </a:lnTo>
                <a:lnTo>
                  <a:pt x="81225" y="563124"/>
                </a:lnTo>
                <a:lnTo>
                  <a:pt x="115946" y="594590"/>
                </a:lnTo>
                <a:lnTo>
                  <a:pt x="156402" y="618627"/>
                </a:lnTo>
                <a:lnTo>
                  <a:pt x="202591" y="635234"/>
                </a:lnTo>
                <a:lnTo>
                  <a:pt x="210629" y="609451"/>
                </a:lnTo>
                <a:lnTo>
                  <a:pt x="174432" y="593419"/>
                </a:lnTo>
                <a:lnTo>
                  <a:pt x="143195" y="571108"/>
                </a:lnTo>
                <a:lnTo>
                  <a:pt x="116919" y="542520"/>
                </a:lnTo>
                <a:lnTo>
                  <a:pt x="95603" y="507652"/>
                </a:lnTo>
                <a:lnTo>
                  <a:pt x="79121" y="467071"/>
                </a:lnTo>
                <a:lnTo>
                  <a:pt x="67349" y="421341"/>
                </a:lnTo>
                <a:lnTo>
                  <a:pt x="60285" y="370463"/>
                </a:lnTo>
                <a:lnTo>
                  <a:pt x="57931" y="314436"/>
                </a:lnTo>
                <a:lnTo>
                  <a:pt x="60285" y="260241"/>
                </a:lnTo>
                <a:lnTo>
                  <a:pt x="67349" y="210838"/>
                </a:lnTo>
                <a:lnTo>
                  <a:pt x="79121" y="166228"/>
                </a:lnTo>
                <a:lnTo>
                  <a:pt x="95603" y="126410"/>
                </a:lnTo>
                <a:lnTo>
                  <a:pt x="116982" y="92055"/>
                </a:lnTo>
                <a:lnTo>
                  <a:pt x="143447" y="63833"/>
                </a:lnTo>
                <a:lnTo>
                  <a:pt x="174997" y="41742"/>
                </a:lnTo>
                <a:lnTo>
                  <a:pt x="211634" y="25784"/>
                </a:lnTo>
                <a:lnTo>
                  <a:pt x="2025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059792" y="3602228"/>
            <a:ext cx="1529080" cy="175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445"/>
              </a:lnSpc>
              <a:spcBef>
                <a:spcPts val="100"/>
              </a:spcBef>
            </a:pPr>
            <a:r>
              <a:rPr dirty="0" sz="5400">
                <a:latin typeface="Arial"/>
                <a:cs typeface="Arial"/>
              </a:rPr>
              <a:t>=</a:t>
            </a:r>
            <a:r>
              <a:rPr dirty="0" sz="5400" spc="-105">
                <a:latin typeface="Arial"/>
                <a:cs typeface="Arial"/>
              </a:rPr>
              <a:t> </a:t>
            </a:r>
            <a:r>
              <a:rPr dirty="0" sz="5400">
                <a:latin typeface="Cambria Math"/>
                <a:cs typeface="Cambria Math"/>
              </a:rPr>
              <a:t>𝜙</a:t>
            </a:r>
            <a:endParaRPr sz="5400">
              <a:latin typeface="Cambria Math"/>
              <a:cs typeface="Cambria Math"/>
            </a:endParaRPr>
          </a:p>
          <a:p>
            <a:pPr marL="12700">
              <a:lnSpc>
                <a:spcPts val="7165"/>
              </a:lnSpc>
            </a:pPr>
            <a:r>
              <a:rPr dirty="0" sz="6000">
                <a:latin typeface="Arial"/>
                <a:cs typeface="Arial"/>
              </a:rPr>
              <a:t>=</a:t>
            </a:r>
            <a:r>
              <a:rPr dirty="0" sz="6000" spc="-110">
                <a:latin typeface="Arial"/>
                <a:cs typeface="Arial"/>
              </a:rPr>
              <a:t> </a:t>
            </a:r>
            <a:r>
              <a:rPr dirty="0" sz="6000">
                <a:latin typeface="Arial"/>
                <a:cs typeface="Arial"/>
              </a:rPr>
              <a:t>49</a:t>
            </a:r>
            <a:endParaRPr sz="6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5591" y="341375"/>
            <a:ext cx="630326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63089" y="2723090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4" y="129599"/>
                </a:lnTo>
                <a:lnTo>
                  <a:pt x="173616" y="93287"/>
                </a:lnTo>
                <a:lnTo>
                  <a:pt x="166794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3089" y="2723090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595206" y="2713644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4" y="129599"/>
                </a:lnTo>
                <a:lnTo>
                  <a:pt x="173616" y="93287"/>
                </a:lnTo>
                <a:lnTo>
                  <a:pt x="166794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95206" y="2713644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02665" y="3096243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4" y="129599"/>
                </a:lnTo>
                <a:lnTo>
                  <a:pt x="173616" y="93287"/>
                </a:lnTo>
                <a:lnTo>
                  <a:pt x="166794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02665" y="3096243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63089" y="3486161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600"/>
                </a:lnTo>
                <a:lnTo>
                  <a:pt x="25425" y="159253"/>
                </a:lnTo>
                <a:lnTo>
                  <a:pt x="53018" y="179245"/>
                </a:lnTo>
                <a:lnTo>
                  <a:pt x="86808" y="186576"/>
                </a:lnTo>
                <a:lnTo>
                  <a:pt x="120597" y="179245"/>
                </a:lnTo>
                <a:lnTo>
                  <a:pt x="148190" y="159253"/>
                </a:lnTo>
                <a:lnTo>
                  <a:pt x="166794" y="129600"/>
                </a:lnTo>
                <a:lnTo>
                  <a:pt x="173616" y="93287"/>
                </a:lnTo>
                <a:lnTo>
                  <a:pt x="166794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63089" y="3486161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10459" y="3486161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7" y="0"/>
                </a:moveTo>
                <a:lnTo>
                  <a:pt x="53017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600"/>
                </a:lnTo>
                <a:lnTo>
                  <a:pt x="25425" y="159253"/>
                </a:lnTo>
                <a:lnTo>
                  <a:pt x="53017" y="179245"/>
                </a:lnTo>
                <a:lnTo>
                  <a:pt x="86807" y="186576"/>
                </a:lnTo>
                <a:lnTo>
                  <a:pt x="120596" y="179245"/>
                </a:lnTo>
                <a:lnTo>
                  <a:pt x="148189" y="159253"/>
                </a:lnTo>
                <a:lnTo>
                  <a:pt x="166793" y="129600"/>
                </a:lnTo>
                <a:lnTo>
                  <a:pt x="173615" y="93287"/>
                </a:lnTo>
                <a:lnTo>
                  <a:pt x="166793" y="56976"/>
                </a:lnTo>
                <a:lnTo>
                  <a:pt x="148189" y="27323"/>
                </a:lnTo>
                <a:lnTo>
                  <a:pt x="120596" y="7331"/>
                </a:lnTo>
                <a:lnTo>
                  <a:pt x="868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10459" y="3486161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09638" y="3096243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7" y="0"/>
                </a:moveTo>
                <a:lnTo>
                  <a:pt x="53017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7" y="179244"/>
                </a:lnTo>
                <a:lnTo>
                  <a:pt x="86807" y="186575"/>
                </a:lnTo>
                <a:lnTo>
                  <a:pt x="120596" y="179244"/>
                </a:lnTo>
                <a:lnTo>
                  <a:pt x="148189" y="159252"/>
                </a:lnTo>
                <a:lnTo>
                  <a:pt x="166793" y="129599"/>
                </a:lnTo>
                <a:lnTo>
                  <a:pt x="173615" y="93287"/>
                </a:lnTo>
                <a:lnTo>
                  <a:pt x="166793" y="56976"/>
                </a:lnTo>
                <a:lnTo>
                  <a:pt x="148189" y="27323"/>
                </a:lnTo>
                <a:lnTo>
                  <a:pt x="120596" y="7331"/>
                </a:lnTo>
                <a:lnTo>
                  <a:pt x="868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09638" y="3096243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050855" y="2882343"/>
            <a:ext cx="137795" cy="241300"/>
          </a:xfrm>
          <a:custGeom>
            <a:avLst/>
            <a:gdLst/>
            <a:ahLst/>
            <a:cxnLst/>
            <a:rect l="l" t="t" r="r" b="b"/>
            <a:pathLst>
              <a:path w="137794" h="241300">
                <a:moveTo>
                  <a:pt x="137659" y="0"/>
                </a:moveTo>
                <a:lnTo>
                  <a:pt x="0" y="2412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50855" y="3255496"/>
            <a:ext cx="137795" cy="258445"/>
          </a:xfrm>
          <a:custGeom>
            <a:avLst/>
            <a:gdLst/>
            <a:ahLst/>
            <a:cxnLst/>
            <a:rect l="l" t="t" r="r" b="b"/>
            <a:pathLst>
              <a:path w="137794" h="258445">
                <a:moveTo>
                  <a:pt x="0" y="0"/>
                </a:moveTo>
                <a:lnTo>
                  <a:pt x="137659" y="2579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41291" y="2806932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 h="0">
                <a:moveTo>
                  <a:pt x="253915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43396" y="2872896"/>
            <a:ext cx="186055" cy="256540"/>
          </a:xfrm>
          <a:custGeom>
            <a:avLst/>
            <a:gdLst/>
            <a:ahLst/>
            <a:cxnLst/>
            <a:rect l="l" t="t" r="r" b="b"/>
            <a:pathLst>
              <a:path w="186055" h="256539">
                <a:moveTo>
                  <a:pt x="185928" y="25630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311280" y="2882343"/>
            <a:ext cx="598805" cy="307340"/>
          </a:xfrm>
          <a:custGeom>
            <a:avLst/>
            <a:gdLst/>
            <a:ahLst/>
            <a:cxnLst/>
            <a:rect l="l" t="t" r="r" b="b"/>
            <a:pathLst>
              <a:path w="598805" h="307339">
                <a:moveTo>
                  <a:pt x="598358" y="307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76282" y="3189531"/>
            <a:ext cx="833755" cy="0"/>
          </a:xfrm>
          <a:custGeom>
            <a:avLst/>
            <a:gdLst/>
            <a:ahLst/>
            <a:cxnLst/>
            <a:rect l="l" t="t" r="r" b="b"/>
            <a:pathLst>
              <a:path w="833755" h="0">
                <a:moveTo>
                  <a:pt x="833356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076281" y="3189530"/>
            <a:ext cx="560070" cy="324485"/>
          </a:xfrm>
          <a:custGeom>
            <a:avLst/>
            <a:gdLst/>
            <a:ahLst/>
            <a:cxnLst/>
            <a:rect l="l" t="t" r="r" b="b"/>
            <a:pathLst>
              <a:path w="560069" h="324485">
                <a:moveTo>
                  <a:pt x="559603" y="32395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19784" y="2688984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7" y="7594"/>
                </a:lnTo>
                <a:lnTo>
                  <a:pt x="24398" y="28305"/>
                </a:lnTo>
                <a:lnTo>
                  <a:pt x="6546" y="59023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7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7" y="134256"/>
                </a:lnTo>
                <a:lnTo>
                  <a:pt x="166603" y="96639"/>
                </a:lnTo>
                <a:lnTo>
                  <a:pt x="160057" y="59023"/>
                </a:lnTo>
                <a:lnTo>
                  <a:pt x="142204" y="28305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719784" y="2688984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134446" y="267919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7" y="7594"/>
                </a:lnTo>
                <a:lnTo>
                  <a:pt x="24398" y="28304"/>
                </a:lnTo>
                <a:lnTo>
                  <a:pt x="6546" y="59022"/>
                </a:lnTo>
                <a:lnTo>
                  <a:pt x="0" y="96639"/>
                </a:lnTo>
                <a:lnTo>
                  <a:pt x="6546" y="134255"/>
                </a:lnTo>
                <a:lnTo>
                  <a:pt x="24398" y="164973"/>
                </a:lnTo>
                <a:lnTo>
                  <a:pt x="50877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7" y="134255"/>
                </a:lnTo>
                <a:lnTo>
                  <a:pt x="166603" y="96639"/>
                </a:lnTo>
                <a:lnTo>
                  <a:pt x="160057" y="59022"/>
                </a:lnTo>
                <a:lnTo>
                  <a:pt x="142204" y="28304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34446" y="267919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469880" y="3075545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6" y="7594"/>
                </a:lnTo>
                <a:lnTo>
                  <a:pt x="24398" y="28304"/>
                </a:lnTo>
                <a:lnTo>
                  <a:pt x="6546" y="59022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6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6" y="134256"/>
                </a:lnTo>
                <a:lnTo>
                  <a:pt x="166602" y="96639"/>
                </a:lnTo>
                <a:lnTo>
                  <a:pt x="160056" y="59022"/>
                </a:lnTo>
                <a:lnTo>
                  <a:pt x="142204" y="28304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469880" y="3075545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719784" y="3479473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7" y="7594"/>
                </a:lnTo>
                <a:lnTo>
                  <a:pt x="24398" y="28305"/>
                </a:lnTo>
                <a:lnTo>
                  <a:pt x="6546" y="59023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7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7" y="134256"/>
                </a:lnTo>
                <a:lnTo>
                  <a:pt x="166603" y="96639"/>
                </a:lnTo>
                <a:lnTo>
                  <a:pt x="160057" y="59023"/>
                </a:lnTo>
                <a:lnTo>
                  <a:pt x="142204" y="28305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719784" y="3479473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149083" y="3479473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7" y="7594"/>
                </a:lnTo>
                <a:lnTo>
                  <a:pt x="24398" y="28305"/>
                </a:lnTo>
                <a:lnTo>
                  <a:pt x="6546" y="59023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7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7" y="134256"/>
                </a:lnTo>
                <a:lnTo>
                  <a:pt x="166603" y="96639"/>
                </a:lnTo>
                <a:lnTo>
                  <a:pt x="160057" y="59023"/>
                </a:lnTo>
                <a:lnTo>
                  <a:pt x="142204" y="28305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149083" y="3479473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436177" y="3075545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7" y="7594"/>
                </a:lnTo>
                <a:lnTo>
                  <a:pt x="24398" y="28304"/>
                </a:lnTo>
                <a:lnTo>
                  <a:pt x="6546" y="59022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7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7" y="134256"/>
                </a:lnTo>
                <a:lnTo>
                  <a:pt x="166603" y="96639"/>
                </a:lnTo>
                <a:lnTo>
                  <a:pt x="160057" y="59022"/>
                </a:lnTo>
                <a:lnTo>
                  <a:pt x="142204" y="28304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436177" y="3075545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612085" y="2853959"/>
            <a:ext cx="132715" cy="250190"/>
          </a:xfrm>
          <a:custGeom>
            <a:avLst/>
            <a:gdLst/>
            <a:ahLst/>
            <a:cxnLst/>
            <a:rect l="l" t="t" r="r" b="b"/>
            <a:pathLst>
              <a:path w="132714" h="250189">
                <a:moveTo>
                  <a:pt x="132098" y="0"/>
                </a:moveTo>
                <a:lnTo>
                  <a:pt x="0" y="2498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612084" y="3240519"/>
            <a:ext cx="132715" cy="267335"/>
          </a:xfrm>
          <a:custGeom>
            <a:avLst/>
            <a:gdLst/>
            <a:ahLst/>
            <a:cxnLst/>
            <a:rect l="l" t="t" r="r" b="b"/>
            <a:pathLst>
              <a:path w="132714" h="267335">
                <a:moveTo>
                  <a:pt x="0" y="0"/>
                </a:moveTo>
                <a:lnTo>
                  <a:pt x="132098" y="26726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890789" y="277583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243659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276651" y="2844171"/>
            <a:ext cx="178435" cy="266065"/>
          </a:xfrm>
          <a:custGeom>
            <a:avLst/>
            <a:gdLst/>
            <a:ahLst/>
            <a:cxnLst/>
            <a:rect l="l" t="t" r="r" b="b"/>
            <a:pathLst>
              <a:path w="178435" h="266064">
                <a:moveTo>
                  <a:pt x="178418" y="26551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636483" y="2844172"/>
            <a:ext cx="522605" cy="328295"/>
          </a:xfrm>
          <a:custGeom>
            <a:avLst/>
            <a:gdLst/>
            <a:ahLst/>
            <a:cxnLst/>
            <a:rect l="l" t="t" r="r" b="b"/>
            <a:pathLst>
              <a:path w="522604" h="328294">
                <a:moveTo>
                  <a:pt x="522363" y="0"/>
                </a:moveTo>
                <a:lnTo>
                  <a:pt x="0" y="32801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636482" y="3172184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799695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291288" y="3240519"/>
            <a:ext cx="169545" cy="267335"/>
          </a:xfrm>
          <a:custGeom>
            <a:avLst/>
            <a:gdLst/>
            <a:ahLst/>
            <a:cxnLst/>
            <a:rect l="l" t="t" r="r" b="b"/>
            <a:pathLst>
              <a:path w="169545" h="267335">
                <a:moveTo>
                  <a:pt x="0" y="267260"/>
                </a:moveTo>
                <a:lnTo>
                  <a:pt x="16928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31152" y="3725222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9"/>
                </a:lnTo>
                <a:lnTo>
                  <a:pt x="6821" y="129600"/>
                </a:lnTo>
                <a:lnTo>
                  <a:pt x="25425" y="159253"/>
                </a:lnTo>
                <a:lnTo>
                  <a:pt x="53018" y="179245"/>
                </a:lnTo>
                <a:lnTo>
                  <a:pt x="86808" y="186576"/>
                </a:lnTo>
                <a:lnTo>
                  <a:pt x="120597" y="179245"/>
                </a:lnTo>
                <a:lnTo>
                  <a:pt x="148190" y="159253"/>
                </a:lnTo>
                <a:lnTo>
                  <a:pt x="166793" y="129600"/>
                </a:lnTo>
                <a:lnTo>
                  <a:pt x="173615" y="93289"/>
                </a:lnTo>
                <a:lnTo>
                  <a:pt x="166793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731152" y="3725222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163268" y="3715776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4" y="129599"/>
                </a:lnTo>
                <a:lnTo>
                  <a:pt x="173616" y="93287"/>
                </a:lnTo>
                <a:lnTo>
                  <a:pt x="166794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163268" y="3715776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70728" y="4098375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7" y="0"/>
                </a:moveTo>
                <a:lnTo>
                  <a:pt x="53017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7" y="179244"/>
                </a:lnTo>
                <a:lnTo>
                  <a:pt x="86807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3" y="129599"/>
                </a:lnTo>
                <a:lnTo>
                  <a:pt x="173615" y="93287"/>
                </a:lnTo>
                <a:lnTo>
                  <a:pt x="166793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470728" y="4098375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731152" y="4488294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3" y="129599"/>
                </a:lnTo>
                <a:lnTo>
                  <a:pt x="173615" y="93287"/>
                </a:lnTo>
                <a:lnTo>
                  <a:pt x="166793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731152" y="4488294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178520" y="4488294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4" y="129599"/>
                </a:lnTo>
                <a:lnTo>
                  <a:pt x="173616" y="93287"/>
                </a:lnTo>
                <a:lnTo>
                  <a:pt x="166794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178520" y="4488294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477699" y="4098375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86808" y="0"/>
                </a:moveTo>
                <a:lnTo>
                  <a:pt x="53018" y="7331"/>
                </a:lnTo>
                <a:lnTo>
                  <a:pt x="25425" y="27323"/>
                </a:lnTo>
                <a:lnTo>
                  <a:pt x="6821" y="56976"/>
                </a:lnTo>
                <a:lnTo>
                  <a:pt x="0" y="93287"/>
                </a:lnTo>
                <a:lnTo>
                  <a:pt x="6821" y="129599"/>
                </a:lnTo>
                <a:lnTo>
                  <a:pt x="25425" y="159252"/>
                </a:lnTo>
                <a:lnTo>
                  <a:pt x="53018" y="179244"/>
                </a:lnTo>
                <a:lnTo>
                  <a:pt x="86808" y="186575"/>
                </a:lnTo>
                <a:lnTo>
                  <a:pt x="120597" y="179244"/>
                </a:lnTo>
                <a:lnTo>
                  <a:pt x="148190" y="159252"/>
                </a:lnTo>
                <a:lnTo>
                  <a:pt x="166793" y="129599"/>
                </a:lnTo>
                <a:lnTo>
                  <a:pt x="173615" y="93287"/>
                </a:lnTo>
                <a:lnTo>
                  <a:pt x="166793" y="56976"/>
                </a:lnTo>
                <a:lnTo>
                  <a:pt x="148190" y="27323"/>
                </a:lnTo>
                <a:lnTo>
                  <a:pt x="120597" y="7331"/>
                </a:lnTo>
                <a:lnTo>
                  <a:pt x="8680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477699" y="4098375"/>
            <a:ext cx="173990" cy="186690"/>
          </a:xfrm>
          <a:custGeom>
            <a:avLst/>
            <a:gdLst/>
            <a:ahLst/>
            <a:cxnLst/>
            <a:rect l="l" t="t" r="r" b="b"/>
            <a:pathLst>
              <a:path w="173989" h="186689">
                <a:moveTo>
                  <a:pt x="0" y="93288"/>
                </a:moveTo>
                <a:lnTo>
                  <a:pt x="6821" y="56976"/>
                </a:lnTo>
                <a:lnTo>
                  <a:pt x="25425" y="27323"/>
                </a:lnTo>
                <a:lnTo>
                  <a:pt x="53018" y="7331"/>
                </a:lnTo>
                <a:lnTo>
                  <a:pt x="86808" y="0"/>
                </a:lnTo>
                <a:lnTo>
                  <a:pt x="120597" y="7331"/>
                </a:lnTo>
                <a:lnTo>
                  <a:pt x="148190" y="27323"/>
                </a:lnTo>
                <a:lnTo>
                  <a:pt x="166794" y="56976"/>
                </a:lnTo>
                <a:lnTo>
                  <a:pt x="173616" y="93288"/>
                </a:lnTo>
                <a:lnTo>
                  <a:pt x="166794" y="129599"/>
                </a:lnTo>
                <a:lnTo>
                  <a:pt x="148190" y="159252"/>
                </a:lnTo>
                <a:lnTo>
                  <a:pt x="120597" y="179244"/>
                </a:lnTo>
                <a:lnTo>
                  <a:pt x="86808" y="186576"/>
                </a:lnTo>
                <a:lnTo>
                  <a:pt x="53018" y="179244"/>
                </a:lnTo>
                <a:lnTo>
                  <a:pt x="25425" y="159252"/>
                </a:lnTo>
                <a:lnTo>
                  <a:pt x="6821" y="129599"/>
                </a:lnTo>
                <a:lnTo>
                  <a:pt x="0" y="9328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618918" y="3884475"/>
            <a:ext cx="137795" cy="241300"/>
          </a:xfrm>
          <a:custGeom>
            <a:avLst/>
            <a:gdLst/>
            <a:ahLst/>
            <a:cxnLst/>
            <a:rect l="l" t="t" r="r" b="b"/>
            <a:pathLst>
              <a:path w="137795" h="241300">
                <a:moveTo>
                  <a:pt x="137659" y="0"/>
                </a:moveTo>
                <a:lnTo>
                  <a:pt x="0" y="2412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618918" y="4257628"/>
            <a:ext cx="137795" cy="258445"/>
          </a:xfrm>
          <a:custGeom>
            <a:avLst/>
            <a:gdLst/>
            <a:ahLst/>
            <a:cxnLst/>
            <a:rect l="l" t="t" r="r" b="b"/>
            <a:pathLst>
              <a:path w="137795" h="258445">
                <a:moveTo>
                  <a:pt x="0" y="0"/>
                </a:moveTo>
                <a:lnTo>
                  <a:pt x="137659" y="2579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909353" y="3809064"/>
            <a:ext cx="254000" cy="0"/>
          </a:xfrm>
          <a:custGeom>
            <a:avLst/>
            <a:gdLst/>
            <a:ahLst/>
            <a:cxnLst/>
            <a:rect l="l" t="t" r="r" b="b"/>
            <a:pathLst>
              <a:path w="254000" h="0">
                <a:moveTo>
                  <a:pt x="253915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311458" y="3875028"/>
            <a:ext cx="186055" cy="256540"/>
          </a:xfrm>
          <a:custGeom>
            <a:avLst/>
            <a:gdLst/>
            <a:ahLst/>
            <a:cxnLst/>
            <a:rect l="l" t="t" r="r" b="b"/>
            <a:pathLst>
              <a:path w="186054" h="256539">
                <a:moveTo>
                  <a:pt x="185928" y="25630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879341" y="3884476"/>
            <a:ext cx="598805" cy="307340"/>
          </a:xfrm>
          <a:custGeom>
            <a:avLst/>
            <a:gdLst/>
            <a:ahLst/>
            <a:cxnLst/>
            <a:rect l="l" t="t" r="r" b="b"/>
            <a:pathLst>
              <a:path w="598804" h="307339">
                <a:moveTo>
                  <a:pt x="598358" y="307188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644343" y="4191662"/>
            <a:ext cx="833755" cy="0"/>
          </a:xfrm>
          <a:custGeom>
            <a:avLst/>
            <a:gdLst/>
            <a:ahLst/>
            <a:cxnLst/>
            <a:rect l="l" t="t" r="r" b="b"/>
            <a:pathLst>
              <a:path w="833754" h="0">
                <a:moveTo>
                  <a:pt x="833356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644343" y="4191663"/>
            <a:ext cx="560070" cy="324485"/>
          </a:xfrm>
          <a:custGeom>
            <a:avLst/>
            <a:gdLst/>
            <a:ahLst/>
            <a:cxnLst/>
            <a:rect l="l" t="t" r="r" b="b"/>
            <a:pathLst>
              <a:path w="560070" h="324485">
                <a:moveTo>
                  <a:pt x="559603" y="32395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361870" y="3585899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0" y="0"/>
                </a:moveTo>
                <a:lnTo>
                  <a:pt x="50876" y="7594"/>
                </a:lnTo>
                <a:lnTo>
                  <a:pt x="24398" y="28304"/>
                </a:lnTo>
                <a:lnTo>
                  <a:pt x="6546" y="59022"/>
                </a:lnTo>
                <a:lnTo>
                  <a:pt x="0" y="96639"/>
                </a:lnTo>
                <a:lnTo>
                  <a:pt x="6546" y="134255"/>
                </a:lnTo>
                <a:lnTo>
                  <a:pt x="24398" y="164973"/>
                </a:lnTo>
                <a:lnTo>
                  <a:pt x="50876" y="185684"/>
                </a:lnTo>
                <a:lnTo>
                  <a:pt x="83300" y="193278"/>
                </a:lnTo>
                <a:lnTo>
                  <a:pt x="115725" y="185684"/>
                </a:lnTo>
                <a:lnTo>
                  <a:pt x="142204" y="164973"/>
                </a:lnTo>
                <a:lnTo>
                  <a:pt x="160056" y="134255"/>
                </a:lnTo>
                <a:lnTo>
                  <a:pt x="166602" y="96639"/>
                </a:lnTo>
                <a:lnTo>
                  <a:pt x="160056" y="59022"/>
                </a:lnTo>
                <a:lnTo>
                  <a:pt x="142204" y="28304"/>
                </a:lnTo>
                <a:lnTo>
                  <a:pt x="115725" y="7594"/>
                </a:lnTo>
                <a:lnTo>
                  <a:pt x="833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361870" y="3585899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776532" y="3576111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6" y="7594"/>
                </a:lnTo>
                <a:lnTo>
                  <a:pt x="24398" y="28305"/>
                </a:lnTo>
                <a:lnTo>
                  <a:pt x="6546" y="59023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6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6" y="134256"/>
                </a:lnTo>
                <a:lnTo>
                  <a:pt x="166602" y="96639"/>
                </a:lnTo>
                <a:lnTo>
                  <a:pt x="160056" y="59023"/>
                </a:lnTo>
                <a:lnTo>
                  <a:pt x="142204" y="28305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776532" y="3576111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111965" y="397245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6" y="7594"/>
                </a:lnTo>
                <a:lnTo>
                  <a:pt x="24398" y="28305"/>
                </a:lnTo>
                <a:lnTo>
                  <a:pt x="6546" y="59023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4"/>
                </a:lnTo>
                <a:lnTo>
                  <a:pt x="50876" y="185685"/>
                </a:lnTo>
                <a:lnTo>
                  <a:pt x="83301" y="193280"/>
                </a:lnTo>
                <a:lnTo>
                  <a:pt x="115726" y="185685"/>
                </a:lnTo>
                <a:lnTo>
                  <a:pt x="142204" y="164974"/>
                </a:lnTo>
                <a:lnTo>
                  <a:pt x="160056" y="134256"/>
                </a:lnTo>
                <a:lnTo>
                  <a:pt x="166602" y="96639"/>
                </a:lnTo>
                <a:lnTo>
                  <a:pt x="160056" y="59023"/>
                </a:lnTo>
                <a:lnTo>
                  <a:pt x="142204" y="28305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111965" y="397245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361870" y="437638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0" y="0"/>
                </a:moveTo>
                <a:lnTo>
                  <a:pt x="50876" y="7594"/>
                </a:lnTo>
                <a:lnTo>
                  <a:pt x="24398" y="28304"/>
                </a:lnTo>
                <a:lnTo>
                  <a:pt x="6546" y="59022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6" y="185684"/>
                </a:lnTo>
                <a:lnTo>
                  <a:pt x="83300" y="193278"/>
                </a:lnTo>
                <a:lnTo>
                  <a:pt x="115725" y="185684"/>
                </a:lnTo>
                <a:lnTo>
                  <a:pt x="142204" y="164973"/>
                </a:lnTo>
                <a:lnTo>
                  <a:pt x="160056" y="134256"/>
                </a:lnTo>
                <a:lnTo>
                  <a:pt x="166602" y="96639"/>
                </a:lnTo>
                <a:lnTo>
                  <a:pt x="160056" y="59022"/>
                </a:lnTo>
                <a:lnTo>
                  <a:pt x="142204" y="28304"/>
                </a:lnTo>
                <a:lnTo>
                  <a:pt x="115725" y="7594"/>
                </a:lnTo>
                <a:lnTo>
                  <a:pt x="833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61870" y="437638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791168" y="437638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6" y="7594"/>
                </a:lnTo>
                <a:lnTo>
                  <a:pt x="24398" y="28304"/>
                </a:lnTo>
                <a:lnTo>
                  <a:pt x="6546" y="59022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3"/>
                </a:lnTo>
                <a:lnTo>
                  <a:pt x="50876" y="185684"/>
                </a:lnTo>
                <a:lnTo>
                  <a:pt x="83301" y="193278"/>
                </a:lnTo>
                <a:lnTo>
                  <a:pt x="115726" y="185684"/>
                </a:lnTo>
                <a:lnTo>
                  <a:pt x="142204" y="164973"/>
                </a:lnTo>
                <a:lnTo>
                  <a:pt x="160056" y="134256"/>
                </a:lnTo>
                <a:lnTo>
                  <a:pt x="166602" y="96639"/>
                </a:lnTo>
                <a:lnTo>
                  <a:pt x="160056" y="59022"/>
                </a:lnTo>
                <a:lnTo>
                  <a:pt x="142204" y="28304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791168" y="437638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078262" y="397245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83301" y="0"/>
                </a:moveTo>
                <a:lnTo>
                  <a:pt x="50876" y="7594"/>
                </a:lnTo>
                <a:lnTo>
                  <a:pt x="24398" y="28305"/>
                </a:lnTo>
                <a:lnTo>
                  <a:pt x="6546" y="59023"/>
                </a:lnTo>
                <a:lnTo>
                  <a:pt x="0" y="96639"/>
                </a:lnTo>
                <a:lnTo>
                  <a:pt x="6546" y="134256"/>
                </a:lnTo>
                <a:lnTo>
                  <a:pt x="24398" y="164974"/>
                </a:lnTo>
                <a:lnTo>
                  <a:pt x="50876" y="185685"/>
                </a:lnTo>
                <a:lnTo>
                  <a:pt x="83301" y="193280"/>
                </a:lnTo>
                <a:lnTo>
                  <a:pt x="115726" y="185685"/>
                </a:lnTo>
                <a:lnTo>
                  <a:pt x="142204" y="164974"/>
                </a:lnTo>
                <a:lnTo>
                  <a:pt x="160056" y="134256"/>
                </a:lnTo>
                <a:lnTo>
                  <a:pt x="166602" y="96639"/>
                </a:lnTo>
                <a:lnTo>
                  <a:pt x="160056" y="59023"/>
                </a:lnTo>
                <a:lnTo>
                  <a:pt x="142204" y="28305"/>
                </a:lnTo>
                <a:lnTo>
                  <a:pt x="115726" y="7594"/>
                </a:lnTo>
                <a:lnTo>
                  <a:pt x="8330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78262" y="3972458"/>
            <a:ext cx="167005" cy="193675"/>
          </a:xfrm>
          <a:custGeom>
            <a:avLst/>
            <a:gdLst/>
            <a:ahLst/>
            <a:cxnLst/>
            <a:rect l="l" t="t" r="r" b="b"/>
            <a:pathLst>
              <a:path w="167004" h="193675">
                <a:moveTo>
                  <a:pt x="0" y="96639"/>
                </a:moveTo>
                <a:lnTo>
                  <a:pt x="6546" y="59023"/>
                </a:lnTo>
                <a:lnTo>
                  <a:pt x="24398" y="28305"/>
                </a:lnTo>
                <a:lnTo>
                  <a:pt x="50876" y="7594"/>
                </a:lnTo>
                <a:lnTo>
                  <a:pt x="83301" y="0"/>
                </a:lnTo>
                <a:lnTo>
                  <a:pt x="115726" y="7594"/>
                </a:lnTo>
                <a:lnTo>
                  <a:pt x="142204" y="28305"/>
                </a:lnTo>
                <a:lnTo>
                  <a:pt x="160056" y="59023"/>
                </a:lnTo>
                <a:lnTo>
                  <a:pt x="166603" y="96639"/>
                </a:lnTo>
                <a:lnTo>
                  <a:pt x="160056" y="134255"/>
                </a:lnTo>
                <a:lnTo>
                  <a:pt x="142204" y="164973"/>
                </a:lnTo>
                <a:lnTo>
                  <a:pt x="115726" y="185684"/>
                </a:lnTo>
                <a:lnTo>
                  <a:pt x="83301" y="193279"/>
                </a:lnTo>
                <a:lnTo>
                  <a:pt x="50876" y="185684"/>
                </a:lnTo>
                <a:lnTo>
                  <a:pt x="24398" y="164973"/>
                </a:lnTo>
                <a:lnTo>
                  <a:pt x="6546" y="134255"/>
                </a:lnTo>
                <a:lnTo>
                  <a:pt x="0" y="966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254169" y="3750872"/>
            <a:ext cx="132715" cy="250190"/>
          </a:xfrm>
          <a:custGeom>
            <a:avLst/>
            <a:gdLst/>
            <a:ahLst/>
            <a:cxnLst/>
            <a:rect l="l" t="t" r="r" b="b"/>
            <a:pathLst>
              <a:path w="132714" h="250189">
                <a:moveTo>
                  <a:pt x="132098" y="0"/>
                </a:moveTo>
                <a:lnTo>
                  <a:pt x="0" y="24989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254169" y="4137432"/>
            <a:ext cx="132715" cy="267335"/>
          </a:xfrm>
          <a:custGeom>
            <a:avLst/>
            <a:gdLst/>
            <a:ahLst/>
            <a:cxnLst/>
            <a:rect l="l" t="t" r="r" b="b"/>
            <a:pathLst>
              <a:path w="132714" h="267335">
                <a:moveTo>
                  <a:pt x="0" y="0"/>
                </a:moveTo>
                <a:lnTo>
                  <a:pt x="132098" y="26726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532874" y="3672752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243659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918736" y="3741085"/>
            <a:ext cx="178435" cy="266065"/>
          </a:xfrm>
          <a:custGeom>
            <a:avLst/>
            <a:gdLst/>
            <a:ahLst/>
            <a:cxnLst/>
            <a:rect l="l" t="t" r="r" b="b"/>
            <a:pathLst>
              <a:path w="178434" h="266064">
                <a:moveTo>
                  <a:pt x="178418" y="26551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278568" y="3741085"/>
            <a:ext cx="522605" cy="328295"/>
          </a:xfrm>
          <a:custGeom>
            <a:avLst/>
            <a:gdLst/>
            <a:ahLst/>
            <a:cxnLst/>
            <a:rect l="l" t="t" r="r" b="b"/>
            <a:pathLst>
              <a:path w="522604" h="328295">
                <a:moveTo>
                  <a:pt x="522363" y="0"/>
                </a:moveTo>
                <a:lnTo>
                  <a:pt x="0" y="32801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278567" y="4069097"/>
            <a:ext cx="800100" cy="0"/>
          </a:xfrm>
          <a:custGeom>
            <a:avLst/>
            <a:gdLst/>
            <a:ahLst/>
            <a:cxnLst/>
            <a:rect l="l" t="t" r="r" b="b"/>
            <a:pathLst>
              <a:path w="800100" h="0">
                <a:moveTo>
                  <a:pt x="799695" y="0"/>
                </a:moveTo>
                <a:lnTo>
                  <a:pt x="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933372" y="4137432"/>
            <a:ext cx="169545" cy="267335"/>
          </a:xfrm>
          <a:custGeom>
            <a:avLst/>
            <a:gdLst/>
            <a:ahLst/>
            <a:cxnLst/>
            <a:rect l="l" t="t" r="r" b="b"/>
            <a:pathLst>
              <a:path w="169545" h="267335">
                <a:moveTo>
                  <a:pt x="0" y="267260"/>
                </a:moveTo>
                <a:lnTo>
                  <a:pt x="16928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85" name="object 85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714935" y="6723724"/>
            <a:ext cx="14541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60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41375"/>
            <a:ext cx="6303264" cy="432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5284" y="1275588"/>
            <a:ext cx="666750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WL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0">
                <a:solidFill>
                  <a:srgbClr val="008000"/>
                </a:solidFill>
              </a:rPr>
              <a:t>computationally</a:t>
            </a:r>
            <a:r>
              <a:rPr dirty="0">
                <a:solidFill>
                  <a:srgbClr val="008000"/>
                </a:solidFill>
              </a:rPr>
              <a:t> </a:t>
            </a:r>
            <a:r>
              <a:rPr dirty="0" spc="-10">
                <a:solidFill>
                  <a:srgbClr val="008000"/>
                </a:solidFill>
              </a:rPr>
              <a:t>efficient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5284" y="1845564"/>
            <a:ext cx="8528685" cy="4627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625475" marR="5080" indent="-274320">
              <a:lnSpc>
                <a:spcPct val="99600"/>
              </a:lnSpc>
              <a:spcBef>
                <a:spcPts val="11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600" spc="-5">
                <a:latin typeface="Calibri"/>
                <a:cs typeface="Calibri"/>
              </a:rPr>
              <a:t>The time </a:t>
            </a:r>
            <a:r>
              <a:rPr dirty="0" sz="2600" spc="-10">
                <a:latin typeface="Calibri"/>
                <a:cs typeface="Calibri"/>
              </a:rPr>
              <a:t>complexity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5">
                <a:latin typeface="Calibri"/>
                <a:cs typeface="Calibri"/>
              </a:rPr>
              <a:t>color </a:t>
            </a:r>
            <a:r>
              <a:rPr dirty="0" sz="2600" spc="-15">
                <a:latin typeface="Calibri"/>
                <a:cs typeface="Calibri"/>
              </a:rPr>
              <a:t>refinement </a:t>
            </a:r>
            <a:r>
              <a:rPr dirty="0" sz="2600" spc="-10">
                <a:latin typeface="Calibri"/>
                <a:cs typeface="Calibri"/>
              </a:rPr>
              <a:t>at </a:t>
            </a:r>
            <a:r>
              <a:rPr dirty="0" sz="2600" spc="-5">
                <a:latin typeface="Calibri"/>
                <a:cs typeface="Calibri"/>
              </a:rPr>
              <a:t>each </a:t>
            </a:r>
            <a:r>
              <a:rPr dirty="0" sz="2600" spc="-20">
                <a:latin typeface="Calibri"/>
                <a:cs typeface="Calibri"/>
              </a:rPr>
              <a:t>step </a:t>
            </a:r>
            <a:r>
              <a:rPr dirty="0" sz="2600">
                <a:latin typeface="Calibri"/>
                <a:cs typeface="Calibri"/>
              </a:rPr>
              <a:t>is  </a:t>
            </a:r>
            <a:r>
              <a:rPr dirty="0" sz="2600" spc="-5">
                <a:latin typeface="Calibri"/>
                <a:cs typeface="Calibri"/>
              </a:rPr>
              <a:t>linear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0">
                <a:latin typeface="Calibri"/>
                <a:cs typeface="Calibri"/>
              </a:rPr>
              <a:t>#(edges), </a:t>
            </a:r>
            <a:r>
              <a:rPr dirty="0" sz="2600" spc="-5">
                <a:latin typeface="Calibri"/>
                <a:cs typeface="Calibri"/>
              </a:rPr>
              <a:t>since </a:t>
            </a:r>
            <a:r>
              <a:rPr dirty="0" sz="2600">
                <a:latin typeface="Calibri"/>
                <a:cs typeface="Calibri"/>
              </a:rPr>
              <a:t>it </a:t>
            </a:r>
            <a:r>
              <a:rPr dirty="0" sz="2600" spc="-15">
                <a:latin typeface="Calibri"/>
                <a:cs typeface="Calibri"/>
              </a:rPr>
              <a:t>involves </a:t>
            </a:r>
            <a:r>
              <a:rPr dirty="0" sz="2600" spc="-10">
                <a:latin typeface="Calibri"/>
                <a:cs typeface="Calibri"/>
              </a:rPr>
              <a:t>aggregating </a:t>
            </a:r>
            <a:r>
              <a:rPr dirty="0" sz="2600" spc="-5">
                <a:latin typeface="Calibri"/>
                <a:cs typeface="Calibri"/>
              </a:rPr>
              <a:t>neighboring  </a:t>
            </a:r>
            <a:r>
              <a:rPr dirty="0" sz="2600" spc="-10">
                <a:latin typeface="Calibri"/>
                <a:cs typeface="Calibri"/>
              </a:rPr>
              <a:t>colors.</a:t>
            </a:r>
            <a:endParaRPr sz="2600">
              <a:latin typeface="Calibri"/>
              <a:cs typeface="Calibri"/>
            </a:endParaRPr>
          </a:p>
          <a:p>
            <a:pPr marL="332740" marR="351155" indent="-320040">
              <a:lnSpc>
                <a:spcPct val="101299"/>
              </a:lnSpc>
              <a:spcBef>
                <a:spcPts val="22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When computing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25">
                <a:latin typeface="Calibri"/>
                <a:cs typeface="Calibri"/>
              </a:rPr>
              <a:t>kernel </a:t>
            </a:r>
            <a:r>
              <a:rPr dirty="0" sz="3200" spc="-10">
                <a:latin typeface="Calibri"/>
                <a:cs typeface="Calibri"/>
              </a:rPr>
              <a:t>value, </a:t>
            </a:r>
            <a:r>
              <a:rPr dirty="0" sz="3200" spc="-5">
                <a:latin typeface="Calibri"/>
                <a:cs typeface="Calibri"/>
              </a:rPr>
              <a:t>only </a:t>
            </a:r>
            <a:r>
              <a:rPr dirty="0" sz="3200" spc="-20">
                <a:latin typeface="Calibri"/>
                <a:cs typeface="Calibri"/>
              </a:rPr>
              <a:t>colors  </a:t>
            </a:r>
            <a:r>
              <a:rPr dirty="0" sz="3200" spc="-10">
                <a:latin typeface="Calibri"/>
                <a:cs typeface="Calibri"/>
              </a:rPr>
              <a:t>appeared </a:t>
            </a:r>
            <a:r>
              <a:rPr dirty="0" sz="3200">
                <a:latin typeface="Calibri"/>
                <a:cs typeface="Calibri"/>
              </a:rPr>
              <a:t>in the </a:t>
            </a:r>
            <a:r>
              <a:rPr dirty="0" sz="3200" spc="-10">
                <a:latin typeface="Calibri"/>
                <a:cs typeface="Calibri"/>
              </a:rPr>
              <a:t>two </a:t>
            </a:r>
            <a:r>
              <a:rPr dirty="0" sz="3200" spc="-15">
                <a:latin typeface="Calibri"/>
                <a:cs typeface="Calibri"/>
              </a:rPr>
              <a:t>graphs </a:t>
            </a:r>
            <a:r>
              <a:rPr dirty="0" sz="3200" spc="-5">
                <a:latin typeface="Calibri"/>
                <a:cs typeface="Calibri"/>
              </a:rPr>
              <a:t>need </a:t>
            </a:r>
            <a:r>
              <a:rPr dirty="0" sz="3200" spc="-15">
                <a:latin typeface="Calibri"/>
                <a:cs typeface="Calibri"/>
              </a:rPr>
              <a:t>to </a:t>
            </a:r>
            <a:r>
              <a:rPr dirty="0" sz="3200">
                <a:latin typeface="Calibri"/>
                <a:cs typeface="Calibri"/>
              </a:rPr>
              <a:t>be</a:t>
            </a:r>
            <a:r>
              <a:rPr dirty="0" sz="3200" spc="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tracked.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Thus, </a:t>
            </a:r>
            <a:r>
              <a:rPr dirty="0" sz="2800" spc="-10">
                <a:latin typeface="Calibri"/>
                <a:cs typeface="Calibri"/>
              </a:rPr>
              <a:t>#(colors)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15">
                <a:latin typeface="Calibri"/>
                <a:cs typeface="Calibri"/>
              </a:rPr>
              <a:t>at </a:t>
            </a:r>
            <a:r>
              <a:rPr dirty="0" sz="2800" spc="-10">
                <a:latin typeface="Calibri"/>
                <a:cs typeface="Calibri"/>
              </a:rPr>
              <a:t>most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total </a:t>
            </a:r>
            <a:r>
              <a:rPr dirty="0" sz="2800" spc="-5">
                <a:latin typeface="Calibri"/>
                <a:cs typeface="Calibri"/>
              </a:rPr>
              <a:t>number of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nodes.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5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latin typeface="Calibri"/>
                <a:cs typeface="Calibri"/>
              </a:rPr>
              <a:t>Counting </a:t>
            </a:r>
            <a:r>
              <a:rPr dirty="0" sz="3200" spc="-20">
                <a:latin typeface="Calibri"/>
                <a:cs typeface="Calibri"/>
              </a:rPr>
              <a:t>colors </a:t>
            </a:r>
            <a:r>
              <a:rPr dirty="0" sz="3200" spc="-30">
                <a:latin typeface="Calibri"/>
                <a:cs typeface="Calibri"/>
              </a:rPr>
              <a:t>takes </a:t>
            </a:r>
            <a:r>
              <a:rPr dirty="0" sz="3200" spc="-10">
                <a:latin typeface="Calibri"/>
                <a:cs typeface="Calibri"/>
              </a:rPr>
              <a:t>linear-time </a:t>
            </a:r>
            <a:r>
              <a:rPr dirty="0" sz="3200" spc="-105">
                <a:latin typeface="Calibri"/>
                <a:cs typeface="Calibri"/>
              </a:rPr>
              <a:t>w.r.t.</a:t>
            </a:r>
            <a:r>
              <a:rPr dirty="0" sz="3200" spc="100">
                <a:latin typeface="Calibri"/>
                <a:cs typeface="Calibri"/>
              </a:rPr>
              <a:t> </a:t>
            </a:r>
            <a:r>
              <a:rPr dirty="0" sz="3200" spc="-5">
                <a:latin typeface="Calibri"/>
                <a:cs typeface="Calibri"/>
              </a:rPr>
              <a:t>#(nodes).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266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spc="-15">
                <a:latin typeface="Calibri"/>
                <a:cs typeface="Calibri"/>
              </a:rPr>
              <a:t>total, </a:t>
            </a:r>
            <a:r>
              <a:rPr dirty="0" sz="3200">
                <a:latin typeface="Calibri"/>
                <a:cs typeface="Calibri"/>
              </a:rPr>
              <a:t>time </a:t>
            </a:r>
            <a:r>
              <a:rPr dirty="0" sz="3200" spc="-10">
                <a:latin typeface="Calibri"/>
                <a:cs typeface="Calibri"/>
              </a:rPr>
              <a:t>complexity </a:t>
            </a: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linear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in</a:t>
            </a:r>
            <a:r>
              <a:rPr dirty="0" sz="3200" spc="2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#(edges)</a:t>
            </a:r>
            <a:r>
              <a:rPr dirty="0" sz="3200" spc="-1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6694423"/>
            <a:ext cx="3676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2/14/21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2872" y="6694423"/>
            <a:ext cx="1377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3F3F3F"/>
                </a:solidFill>
                <a:latin typeface="Corbel"/>
                <a:cs typeface="Corbel"/>
              </a:rPr>
              <a:t>61</a:t>
            </a:r>
            <a:endParaRPr sz="9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3615" y="6694423"/>
            <a:ext cx="44030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3F3F3F"/>
                </a:solidFill>
                <a:latin typeface="Corbel"/>
                <a:cs typeface="Corbel"/>
              </a:rPr>
              <a:t>Jure Leskovec, Stanford CS224W: Machine Learning with Graphs,</a:t>
            </a:r>
            <a:r>
              <a:rPr dirty="0" sz="900" spc="85">
                <a:solidFill>
                  <a:srgbClr val="3F3F3F"/>
                </a:solidFill>
                <a:latin typeface="Corbel"/>
                <a:cs typeface="Corbe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orbel"/>
                <a:cs typeface="Corbel"/>
                <a:hlinkClick r:id="rId3"/>
              </a:rPr>
              <a:t>http://cs224w.stanford.edu</a:t>
            </a:r>
            <a:endParaRPr sz="9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7946135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296924"/>
            <a:ext cx="299593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8000"/>
                </a:solidFill>
              </a:rPr>
              <a:t>Graphlet</a:t>
            </a:r>
            <a:r>
              <a:rPr dirty="0" spc="-40">
                <a:solidFill>
                  <a:srgbClr val="008000"/>
                </a:solidFill>
              </a:rPr>
              <a:t> </a:t>
            </a:r>
            <a:r>
              <a:rPr dirty="0" spc="-15">
                <a:solidFill>
                  <a:srgbClr val="008000"/>
                </a:solidFill>
              </a:rPr>
              <a:t>Kernel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18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62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4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15"/>
              <a:t>Graph </a:t>
            </a:r>
            <a:r>
              <a:rPr dirty="0" spc="-5"/>
              <a:t>is </a:t>
            </a:r>
            <a:r>
              <a:rPr dirty="0" spc="-20"/>
              <a:t>represented </a:t>
            </a:r>
            <a:r>
              <a:rPr dirty="0" spc="-5"/>
              <a:t>as</a:t>
            </a:r>
            <a:r>
              <a:rPr dirty="0" spc="110"/>
              <a:t> </a:t>
            </a:r>
            <a:r>
              <a:rPr dirty="0" spc="-15" b="1">
                <a:latin typeface="Calibri"/>
                <a:cs typeface="Calibri"/>
              </a:rPr>
              <a:t>Bag-of-graphlets</a:t>
            </a:r>
          </a:p>
          <a:p>
            <a:pPr marL="625475" indent="-274320">
              <a:lnSpc>
                <a:spcPts val="3170"/>
              </a:lnSpc>
              <a:spcBef>
                <a:spcPts val="334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10" b="1">
                <a:latin typeface="Calibri"/>
                <a:cs typeface="Calibri"/>
              </a:rPr>
              <a:t>Computationally </a:t>
            </a:r>
            <a:r>
              <a:rPr dirty="0" spc="-15" b="1">
                <a:latin typeface="Calibri"/>
                <a:cs typeface="Calibri"/>
              </a:rPr>
              <a:t>expensive</a:t>
            </a:r>
          </a:p>
          <a:p>
            <a:pPr marL="332740" marR="3188335" indent="-320040">
              <a:lnSpc>
                <a:spcPts val="365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Weisfeiler-Lehman</a:t>
            </a:r>
            <a:r>
              <a:rPr dirty="0" sz="32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Kernel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000"/>
              </a:lnSpc>
              <a:spcBef>
                <a:spcPts val="7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Apply </a:t>
            </a:r>
            <a:r>
              <a:rPr dirty="0" sz="2800">
                <a:latin typeface="Cambria Math"/>
                <a:cs typeface="Cambria Math"/>
              </a:rPr>
              <a:t>𝐾</a:t>
            </a:r>
            <a:r>
              <a:rPr dirty="0" sz="2800">
                <a:latin typeface="Calibri"/>
                <a:cs typeface="Calibri"/>
              </a:rPr>
              <a:t>-step </a:t>
            </a:r>
            <a:r>
              <a:rPr dirty="0" sz="2800" spc="-10">
                <a:latin typeface="Calibri"/>
                <a:cs typeface="Calibri"/>
              </a:rPr>
              <a:t>color </a:t>
            </a:r>
            <a:r>
              <a:rPr dirty="0" sz="2800" spc="-15">
                <a:latin typeface="Calibri"/>
                <a:cs typeface="Calibri"/>
              </a:rPr>
              <a:t>refinement </a:t>
            </a:r>
            <a:r>
              <a:rPr dirty="0" sz="2800" spc="-10">
                <a:latin typeface="Calibri"/>
                <a:cs typeface="Calibri"/>
              </a:rPr>
              <a:t>algorithm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85">
                <a:latin typeface="Calibri"/>
                <a:cs typeface="Calibri"/>
              </a:rPr>
              <a:t>enrich  </a:t>
            </a:r>
            <a:r>
              <a:rPr dirty="0" sz="2800" spc="-5">
                <a:latin typeface="Calibri"/>
                <a:cs typeface="Calibri"/>
              </a:rPr>
              <a:t>node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colors</a:t>
            </a:r>
            <a:endParaRPr sz="2800">
              <a:latin typeface="Calibri"/>
              <a:cs typeface="Calibri"/>
            </a:endParaRPr>
          </a:p>
          <a:p>
            <a:pPr lvl="2" marL="890905" marR="221615" indent="-228600">
              <a:lnSpc>
                <a:spcPts val="2620"/>
              </a:lnSpc>
              <a:spcBef>
                <a:spcPts val="59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20">
                <a:latin typeface="Calibri"/>
                <a:cs typeface="Calibri"/>
              </a:rPr>
              <a:t>Different </a:t>
            </a:r>
            <a:r>
              <a:rPr dirty="0" sz="2400" spc="-15">
                <a:latin typeface="Calibri"/>
                <a:cs typeface="Calibri"/>
              </a:rPr>
              <a:t>colors capture different </a:t>
            </a:r>
            <a:r>
              <a:rPr dirty="0" sz="2400" spc="5">
                <a:latin typeface="Cambria Math"/>
                <a:cs typeface="Cambria Math"/>
              </a:rPr>
              <a:t>𝐾</a:t>
            </a:r>
            <a:r>
              <a:rPr dirty="0" sz="2400" spc="5">
                <a:latin typeface="Calibri"/>
                <a:cs typeface="Calibri"/>
              </a:rPr>
              <a:t>-hop </a:t>
            </a:r>
            <a:r>
              <a:rPr dirty="0" sz="2400" spc="-50">
                <a:latin typeface="Calibri"/>
                <a:cs typeface="Calibri"/>
              </a:rPr>
              <a:t>neighborhood  </a:t>
            </a:r>
            <a:r>
              <a:rPr dirty="0" sz="2400" spc="-10">
                <a:latin typeface="Calibri"/>
                <a:cs typeface="Calibri"/>
              </a:rPr>
              <a:t>structures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1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 spc="-20">
                <a:latin typeface="Calibri"/>
                <a:cs typeface="Calibri"/>
              </a:rPr>
              <a:t>represented </a:t>
            </a:r>
            <a:r>
              <a:rPr dirty="0" sz="2800" spc="-5">
                <a:latin typeface="Calibri"/>
                <a:cs typeface="Calibri"/>
              </a:rPr>
              <a:t>as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Bag-of-colors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359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Computationally</a:t>
            </a:r>
            <a:r>
              <a:rPr dirty="0" sz="2800" spc="-2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efficient</a:t>
            </a:r>
            <a:endParaRPr sz="2800">
              <a:latin typeface="Calibri"/>
              <a:cs typeface="Calibri"/>
            </a:endParaRPr>
          </a:p>
          <a:p>
            <a:pPr lvl="1" marL="625475" marR="252729" indent="-274320">
              <a:lnSpc>
                <a:spcPts val="3100"/>
              </a:lnSpc>
              <a:spcBef>
                <a:spcPts val="65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Closely </a:t>
            </a:r>
            <a:r>
              <a:rPr dirty="0" sz="2800" spc="-20">
                <a:latin typeface="Calibri"/>
                <a:cs typeface="Calibri"/>
              </a:rPr>
              <a:t>related </a:t>
            </a:r>
            <a:r>
              <a:rPr dirty="0" sz="2800" spc="-15">
                <a:latin typeface="Calibri"/>
                <a:cs typeface="Calibri"/>
              </a:rPr>
              <a:t>to Graph Neural Networks </a:t>
            </a:r>
            <a:r>
              <a:rPr dirty="0" sz="2800" spc="-5">
                <a:latin typeface="Calibri"/>
                <a:cs typeface="Calibri"/>
              </a:rPr>
              <a:t>(as </a:t>
            </a:r>
            <a:r>
              <a:rPr dirty="0" sz="2800" spc="-305">
                <a:latin typeface="Calibri"/>
                <a:cs typeface="Calibri"/>
              </a:rPr>
              <a:t>we  </a:t>
            </a:r>
            <a:r>
              <a:rPr dirty="0" sz="2800" spc="-5">
                <a:latin typeface="Calibri"/>
                <a:cs typeface="Calibri"/>
              </a:rPr>
              <a:t>will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see!)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4386072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42271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25">
                <a:solidFill>
                  <a:srgbClr val="E66C7D"/>
                </a:solidFill>
              </a:rPr>
              <a:t>Traditional </a:t>
            </a:r>
            <a:r>
              <a:rPr dirty="0">
                <a:solidFill>
                  <a:srgbClr val="E66C7D"/>
                </a:solidFill>
              </a:rPr>
              <a:t>ML</a:t>
            </a:r>
            <a:r>
              <a:rPr dirty="0" spc="-65">
                <a:solidFill>
                  <a:srgbClr val="E66C7D"/>
                </a:solidFill>
              </a:rPr>
              <a:t> </a:t>
            </a:r>
            <a:r>
              <a:rPr dirty="0" spc="-5">
                <a:solidFill>
                  <a:srgbClr val="E66C7D"/>
                </a:solidFill>
              </a:rPr>
              <a:t>Pipeline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0"/>
              </a:lnSpc>
            </a:pPr>
            <a:r>
              <a:rPr dirty="0" spc="-5"/>
              <a:t>2/14/21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673615" y="6717443"/>
            <a:ext cx="47631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">
                <a:solidFill>
                  <a:srgbClr val="3F3F3F"/>
                </a:solidFill>
                <a:latin typeface="Arial"/>
                <a:cs typeface="Arial"/>
              </a:rPr>
              <a:t>Jure Leskovec, Stanford CS224W: Machine Learning with Graphs,</a:t>
            </a:r>
            <a:r>
              <a:rPr dirty="0" sz="900" spc="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Arial"/>
                <a:cs typeface="Arial"/>
                <a:hlinkClick r:id="rId3"/>
              </a:rPr>
              <a:t>http://cs224w.stanford.edu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2235" y="6723724"/>
            <a:ext cx="17018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950"/>
              </a:lnSpc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orbel"/>
                <a:cs typeface="Corbel"/>
              </a:rPr>
              <a:t>62</a:t>
            </a:fld>
            <a:endParaRPr sz="9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108" y="1920747"/>
            <a:ext cx="7807325" cy="423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Hand-crafted </a:t>
            </a:r>
            <a:r>
              <a:rPr dirty="0" sz="2800" spc="-25">
                <a:latin typeface="Calibri"/>
                <a:cs typeface="Calibri"/>
              </a:rPr>
              <a:t>feature </a:t>
            </a:r>
            <a:r>
              <a:rPr dirty="0" sz="2800">
                <a:latin typeface="Calibri"/>
                <a:cs typeface="Calibri"/>
              </a:rPr>
              <a:t>+ ML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ct val="100000"/>
              </a:lnSpc>
              <a:spcBef>
                <a:spcPts val="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E66C7D"/>
                </a:solidFill>
                <a:latin typeface="Calibri"/>
                <a:cs typeface="Calibri"/>
              </a:rPr>
              <a:t>Hand-crafted </a:t>
            </a:r>
            <a:r>
              <a:rPr dirty="0" sz="3200" spc="-20" b="1">
                <a:solidFill>
                  <a:srgbClr val="E66C7D"/>
                </a:solidFill>
                <a:latin typeface="Calibri"/>
                <a:cs typeface="Calibri"/>
              </a:rPr>
              <a:t>features for graph</a:t>
            </a:r>
            <a:r>
              <a:rPr dirty="0" sz="3200" b="1">
                <a:solidFill>
                  <a:srgbClr val="E66C7D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E66C7D"/>
                </a:solidFill>
                <a:latin typeface="Calibri"/>
                <a:cs typeface="Calibri"/>
              </a:rPr>
              <a:t>data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0" b="1">
                <a:latin typeface="Calibri"/>
                <a:cs typeface="Calibri"/>
              </a:rPr>
              <a:t>Node-level: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Node </a:t>
            </a:r>
            <a:r>
              <a:rPr dirty="0" sz="2400" spc="-10">
                <a:latin typeface="Calibri"/>
                <a:cs typeface="Calibri"/>
              </a:rPr>
              <a:t>degree, </a:t>
            </a:r>
            <a:r>
              <a:rPr dirty="0" sz="2400" spc="-25">
                <a:latin typeface="Calibri"/>
                <a:cs typeface="Calibri"/>
              </a:rPr>
              <a:t>centrality, </a:t>
            </a:r>
            <a:r>
              <a:rPr dirty="0" sz="2400" spc="-10">
                <a:latin typeface="Calibri"/>
                <a:cs typeface="Calibri"/>
              </a:rPr>
              <a:t>clustering coefficient,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 spc="-55">
                <a:latin typeface="Calibri"/>
                <a:cs typeface="Calibri"/>
              </a:rPr>
              <a:t>graphlets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Link-level: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40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Distance-based</a:t>
            </a:r>
            <a:r>
              <a:rPr dirty="0" sz="2400" spc="-20">
                <a:latin typeface="Calibri"/>
                <a:cs typeface="Calibri"/>
              </a:rPr>
              <a:t> feature</a:t>
            </a:r>
            <a:endParaRPr sz="24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52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local/global </a:t>
            </a:r>
            <a:r>
              <a:rPr dirty="0" sz="2400" spc="-5">
                <a:latin typeface="Calibri"/>
                <a:cs typeface="Calibri"/>
              </a:rPr>
              <a:t>neighborhood</a:t>
            </a:r>
            <a:r>
              <a:rPr dirty="0" sz="2400" spc="-10">
                <a:latin typeface="Calibri"/>
                <a:cs typeface="Calibri"/>
              </a:rPr>
              <a:t> overlap</a:t>
            </a:r>
            <a:endParaRPr sz="24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 b="1">
                <a:latin typeface="Calibri"/>
                <a:cs typeface="Calibri"/>
              </a:rPr>
              <a:t>Graph-level:</a:t>
            </a:r>
            <a:endParaRPr sz="2800">
              <a:latin typeface="Calibri"/>
              <a:cs typeface="Calibri"/>
            </a:endParaRPr>
          </a:p>
          <a:p>
            <a:pPr lvl="2" marL="890905" indent="-228600">
              <a:lnSpc>
                <a:spcPct val="100000"/>
              </a:lnSpc>
              <a:spcBef>
                <a:spcPts val="63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0">
                <a:latin typeface="Calibri"/>
                <a:cs typeface="Calibri"/>
              </a:rPr>
              <a:t>Graphlet </a:t>
            </a:r>
            <a:r>
              <a:rPr dirty="0" sz="2400" spc="-15">
                <a:latin typeface="Calibri"/>
                <a:cs typeface="Calibri"/>
              </a:rPr>
              <a:t>kernel, </a:t>
            </a:r>
            <a:r>
              <a:rPr dirty="0" sz="2400">
                <a:latin typeface="Calibri"/>
                <a:cs typeface="Calibri"/>
              </a:rPr>
              <a:t>WL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kernel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2026-10-20T23:41:53Z</dcterms:created>
  <dcterms:modified xsi:type="dcterms:W3CDTF">2026-10-20T23:41:53Z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2021-02-15T00:00:00Z</vt:filetime>
  </property>
  <property fmtid="{D5CDD505-2E9C-101B-9397-08002B2CF9AE}" pid="3" name="LastSaved">
    <vt:filetime>2026-10-20T00:00:00Z</vt:filetime>
  </property>
</Properties>
</file>